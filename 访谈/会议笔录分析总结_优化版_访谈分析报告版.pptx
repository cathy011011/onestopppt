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2bfe24265df438b" /><Relationship Type="http://schemas.openxmlformats.org/officeDocument/2006/relationships/extended-properties" Target="/docProps/app.xml" Id="R435e7ba95ad34c88" /><Relationship Type="http://schemas.openxmlformats.org/officeDocument/2006/relationships/officeDocument" Target="/ppt/presentation.xml" Id="R416cf63902b04c1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c36e79a46234f3b"/>
  </p:sldMasterIdLst>
  <p:notesMasterIdLst>
    <p:notesMasterId xmlns:r="http://schemas.openxmlformats.org/officeDocument/2006/relationships" r:id="R12167295fc61416f"/>
  </p:notesMasterIdLst>
  <p:sldIdLst>
    <p:sldId xmlns:r="http://schemas.openxmlformats.org/officeDocument/2006/relationships" id="256" r:id="R859378ef3a9c4b92"/>
    <p:sldId xmlns:r="http://schemas.openxmlformats.org/officeDocument/2006/relationships" id="257" r:id="R28150e77223244f5"/>
    <p:sldId xmlns:r="http://schemas.openxmlformats.org/officeDocument/2006/relationships" id="258" r:id="R32259f9eed314721"/>
    <p:sldId xmlns:r="http://schemas.openxmlformats.org/officeDocument/2006/relationships" id="259" r:id="Rfac17fd3524147c0"/>
    <p:sldId xmlns:r="http://schemas.openxmlformats.org/officeDocument/2006/relationships" id="260" r:id="R93b22096170d4c7b"/>
    <p:sldId xmlns:r="http://schemas.openxmlformats.org/officeDocument/2006/relationships" id="261" r:id="Rfb9e68d9b5f34b57"/>
    <p:sldId xmlns:r="http://schemas.openxmlformats.org/officeDocument/2006/relationships" id="262" r:id="Rb72296331bfb4986"/>
    <p:sldId xmlns:r="http://schemas.openxmlformats.org/officeDocument/2006/relationships" id="263" r:id="Rb3c5192cb4a74e99"/>
    <p:sldId xmlns:r="http://schemas.openxmlformats.org/officeDocument/2006/relationships" id="264" r:id="R0cb9886e84324972"/>
    <p:sldId xmlns:r="http://schemas.openxmlformats.org/officeDocument/2006/relationships" id="265" r:id="R266c54dbb926458d"/>
    <p:sldId xmlns:r="http://schemas.openxmlformats.org/officeDocument/2006/relationships" id="266" r:id="R2d36d597bfff4293"/>
    <p:sldId xmlns:r="http://schemas.openxmlformats.org/officeDocument/2006/relationships" id="267" r:id="R683b301a994a4492"/>
    <p:sldId xmlns:r="http://schemas.openxmlformats.org/officeDocument/2006/relationships" id="268" r:id="R57e8f2caf20c4d7f"/>
    <p:sldId xmlns:r="http://schemas.openxmlformats.org/officeDocument/2006/relationships" id="269" r:id="Re661adc029f14839"/>
    <p:sldId xmlns:r="http://schemas.openxmlformats.org/officeDocument/2006/relationships" id="270" r:id="Rae4b8a199e8447d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d25439ec1cb45f9" /><Relationship Type="http://schemas.openxmlformats.org/officeDocument/2006/relationships/slideMaster" Target="/ppt/slideMasters/slideMaster1.xml" Id="R1c36e79a46234f3b" /><Relationship Type="http://schemas.openxmlformats.org/officeDocument/2006/relationships/notesMaster" Target="/ppt/notesMasters/notesMaster1.xml" Id="R12167295fc61416f" /><Relationship Type="http://schemas.openxmlformats.org/officeDocument/2006/relationships/presProps" Target="/ppt/presProps.xml" Id="R6cf4cafab2b14088" /><Relationship Type="http://schemas.openxmlformats.org/officeDocument/2006/relationships/tableStyles" Target="/ppt/tableStyles.xml" Id="R2beaae5ca06c4241" /><Relationship Type="http://schemas.openxmlformats.org/officeDocument/2006/relationships/slide" Target="/ppt/slides/slide1.xml" Id="R859378ef3a9c4b92" /><Relationship Type="http://schemas.openxmlformats.org/officeDocument/2006/relationships/slide" Target="/ppt/slides/slide2.xml" Id="R28150e77223244f5" /><Relationship Type="http://schemas.openxmlformats.org/officeDocument/2006/relationships/slide" Target="/ppt/slides/slide3.xml" Id="R32259f9eed314721" /><Relationship Type="http://schemas.openxmlformats.org/officeDocument/2006/relationships/slide" Target="/ppt/slides/slide4.xml" Id="Rfac17fd3524147c0" /><Relationship Type="http://schemas.openxmlformats.org/officeDocument/2006/relationships/slide" Target="/ppt/slides/slide5.xml" Id="R93b22096170d4c7b" /><Relationship Type="http://schemas.openxmlformats.org/officeDocument/2006/relationships/slide" Target="/ppt/slides/slide6.xml" Id="Rfb9e68d9b5f34b57" /><Relationship Type="http://schemas.openxmlformats.org/officeDocument/2006/relationships/slide" Target="/ppt/slides/slide7.xml" Id="Rb72296331bfb4986" /><Relationship Type="http://schemas.openxmlformats.org/officeDocument/2006/relationships/slide" Target="/ppt/slides/slide8.xml" Id="Rb3c5192cb4a74e99" /><Relationship Type="http://schemas.openxmlformats.org/officeDocument/2006/relationships/slide" Target="/ppt/slides/slide9.xml" Id="R0cb9886e84324972" /><Relationship Type="http://schemas.openxmlformats.org/officeDocument/2006/relationships/slide" Target="/ppt/slides/slide10.xml" Id="R266c54dbb926458d" /><Relationship Type="http://schemas.openxmlformats.org/officeDocument/2006/relationships/slide" Target="/ppt/slides/slide11.xml" Id="R2d36d597bfff4293" /><Relationship Type="http://schemas.openxmlformats.org/officeDocument/2006/relationships/slide" Target="/ppt/slides/slide12.xml" Id="R683b301a994a4492" /><Relationship Type="http://schemas.openxmlformats.org/officeDocument/2006/relationships/slide" Target="/ppt/slides/slide13.xml" Id="R57e8f2caf20c4d7f" /><Relationship Type="http://schemas.openxmlformats.org/officeDocument/2006/relationships/slide" Target="/ppt/slides/slide14.xml" Id="Re661adc029f14839" /><Relationship Type="http://schemas.openxmlformats.org/officeDocument/2006/relationships/slide" Target="/ppt/slides/slide15.xml" Id="Rae4b8a199e8447d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a3c523497f44e0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575f0a875b449fc" /><Relationship Type="http://schemas.openxmlformats.org/officeDocument/2006/relationships/notesMaster" Target="/ppt/notesMasters/notesMaster1.xml" Id="Rbdd814565644423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e9ad22235384baa" /><Relationship Type="http://schemas.openxmlformats.org/officeDocument/2006/relationships/notesMaster" Target="/ppt/notesMasters/notesMaster1.xml" Id="R9a50a18f4b9f4b8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e134413128344fd" /><Relationship Type="http://schemas.openxmlformats.org/officeDocument/2006/relationships/notesMaster" Target="/ppt/notesMasters/notesMaster1.xml" Id="Re5970d00ae9044e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4f36bf617ae4dfe" /><Relationship Type="http://schemas.openxmlformats.org/officeDocument/2006/relationships/notesMaster" Target="/ppt/notesMasters/notesMaster1.xml" Id="R52279a6f13ef40a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3ebf935b9824464" /><Relationship Type="http://schemas.openxmlformats.org/officeDocument/2006/relationships/notesMaster" Target="/ppt/notesMasters/notesMaster1.xml" Id="Rbb8b899e40b8498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1e3813a204d4ed0" /><Relationship Type="http://schemas.openxmlformats.org/officeDocument/2006/relationships/notesMaster" Target="/ppt/notesMasters/notesMaster1.xml" Id="Ra5ce50f1258a4a1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24133d806a442b6" /><Relationship Type="http://schemas.openxmlformats.org/officeDocument/2006/relationships/notesMaster" Target="/ppt/notesMasters/notesMaster1.xml" Id="R17e1328606e44e5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71f87d1ad714ecd" /><Relationship Type="http://schemas.openxmlformats.org/officeDocument/2006/relationships/notesMaster" Target="/ppt/notesMasters/notesMaster1.xml" Id="R5ee9ce0c6169412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1e36e7fce4f4b77" /><Relationship Type="http://schemas.openxmlformats.org/officeDocument/2006/relationships/notesMaster" Target="/ppt/notesMasters/notesMaster1.xml" Id="Rda9081d1de2a4ad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58085cfea8d41c9" /><Relationship Type="http://schemas.openxmlformats.org/officeDocument/2006/relationships/notesMaster" Target="/ppt/notesMasters/notesMaster1.xml" Id="R20532feaaa96479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d894b3285e14834" /><Relationship Type="http://schemas.openxmlformats.org/officeDocument/2006/relationships/notesMaster" Target="/ppt/notesMasters/notesMaster1.xml" Id="Rdb9fd42ac822403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69a655aa32841e0" /><Relationship Type="http://schemas.openxmlformats.org/officeDocument/2006/relationships/notesMaster" Target="/ppt/notesMasters/notesMaster1.xml" Id="Rd6bd3b5816a84c8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53d94b5502140be" /><Relationship Type="http://schemas.openxmlformats.org/officeDocument/2006/relationships/notesMaster" Target="/ppt/notesMasters/notesMaster1.xml" Id="R949d1b60b44541a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660c20b15654bf3" /><Relationship Type="http://schemas.openxmlformats.org/officeDocument/2006/relationships/notesMaster" Target="/ppt/notesMasters/notesMaster1.xml" Id="R69fe80e21b5e46f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74a6b07e55742aa" /><Relationship Type="http://schemas.openxmlformats.org/officeDocument/2006/relationships/notesMaster" Target="/ppt/notesMasters/notesMaster1.xml" Id="Rd59e45d4a7ee4c3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1292793e4c4f3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7679f3366bd4c2d" /><Relationship Type="http://schemas.openxmlformats.org/officeDocument/2006/relationships/slideLayout" Target="/ppt/slideLayouts/slideLayout1.xml" Id="Rc849d461d23748a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849d461d23748a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b0bb3a9a0644b2" /><Relationship Type="http://schemas.openxmlformats.org/officeDocument/2006/relationships/notesSlide" Target="/ppt/notesSlides/notesSlide1.xml" Id="R20f82510f4f049a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e26fb398bc4f8a" /><Relationship Type="http://schemas.openxmlformats.org/officeDocument/2006/relationships/notesSlide" Target="/ppt/notesSlides/notesSlide2.xml" Id="Rf4141c62e40546b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080217644f4025" /><Relationship Type="http://schemas.openxmlformats.org/officeDocument/2006/relationships/notesSlide" Target="/ppt/notesSlides/notesSlide3.xml" Id="R484f80894f43499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78dfc54b8a4752" /><Relationship Type="http://schemas.openxmlformats.org/officeDocument/2006/relationships/notesSlide" Target="/ppt/notesSlides/notesSlide4.xml" Id="R15f0efc699a043a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244282f56e495f" /><Relationship Type="http://schemas.openxmlformats.org/officeDocument/2006/relationships/notesSlide" Target="/ppt/notesSlides/notesSlide5.xml" Id="R493b9d1930a244a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496fbe811f4d24" /><Relationship Type="http://schemas.openxmlformats.org/officeDocument/2006/relationships/notesSlide" Target="/ppt/notesSlides/notesSlide6.xml" Id="R95c2460d56b542e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2d16a9f2344412" /><Relationship Type="http://schemas.openxmlformats.org/officeDocument/2006/relationships/notesSlide" Target="/ppt/notesSlides/notesSlide7.xml" Id="Rd9041f311d7a4e9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77b7e8bcb44dd3" /><Relationship Type="http://schemas.openxmlformats.org/officeDocument/2006/relationships/notesSlide" Target="/ppt/notesSlides/notesSlide8.xml" Id="R74e0bc8fdc5c4fc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56f8e1c94841a4" /><Relationship Type="http://schemas.openxmlformats.org/officeDocument/2006/relationships/notesSlide" Target="/ppt/notesSlides/notesSlide9.xml" Id="R38f2cfc88e7049a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1d99ed738c4f37" /><Relationship Type="http://schemas.openxmlformats.org/officeDocument/2006/relationships/notesSlide" Target="/ppt/notesSlides/notesSlide10.xml" Id="R2d911dc59d1f47f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90b0572b74428b" /><Relationship Type="http://schemas.openxmlformats.org/officeDocument/2006/relationships/notesSlide" Target="/ppt/notesSlides/notesSlide11.xml" Id="R9bf544ea8b1d41e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7dab6afd4148e5" /><Relationship Type="http://schemas.openxmlformats.org/officeDocument/2006/relationships/notesSlide" Target="/ppt/notesSlides/notesSlide12.xml" Id="R8aa6b15914db436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46aa19055a451d" /><Relationship Type="http://schemas.openxmlformats.org/officeDocument/2006/relationships/notesSlide" Target="/ppt/notesSlides/notesSlide13.xml" Id="R0c35927346094da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de2c7d8e504eff" /><Relationship Type="http://schemas.openxmlformats.org/officeDocument/2006/relationships/notesSlide" Target="/ppt/notesSlides/notesSlide14.xml" Id="R819360fc93614c2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f99318c1914c66" /><Relationship Type="http://schemas.openxmlformats.org/officeDocument/2006/relationships/notesSlide" Target="/ppt/notesSlides/notesSlide15.xml" Id="R459ce323071443c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B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cover-t">
            <a:extLst xmlns:a="http://schemas.openxmlformats.org/drawingml/2006/main">
              <a:ext uri="{FF2B5EF4-FFF2-40B4-BE49-F238E27FC236}">
                <a16:creationId xmlns:a16="http://schemas.microsoft.com/office/drawing/2014/main" id="{1588CFCC-80E8-4F96-B84F-AAA0BBC01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b">
            <a:extLst xmlns:a="http://schemas.openxmlformats.org/drawingml/2006/main">
              <a:ext uri="{FF2B5EF4-FFF2-40B4-BE49-F238E27FC236}">
                <a16:creationId xmlns:a16="http://schemas.microsoft.com/office/drawing/2014/main" id="{CE63975E-0D41-41DF-BC25-7ADF60E33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04303CFB-B390-4F2D-B6DF-A8B43B257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33550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1818"/>
                </a:solidFill>
              </a:defRPr>
            </a:pPr>
            <a:r>
              <a:rPr sz="2250" b="1">
                <a:solidFill>
                  <a:srgbClr val="181818"/>
                </a:solidFill>
              </a:rPr>
              <a:t>2026 年 XXX 车型用户访谈分析深度项目报告</a:t>
            </a:r>
          </a:p>
        </p:txBody>
      </p:sp>
      <p:sp>
        <p:nvSpPr>
          <p:cNvPr id="4" name="cover-sub">
            <a:extLst xmlns:a="http://schemas.openxmlformats.org/drawingml/2006/main">
              <a:ext uri="{FF2B5EF4-FFF2-40B4-BE49-F238E27FC236}">
                <a16:creationId xmlns:a16="http://schemas.microsoft.com/office/drawing/2014/main" id="{F8676851-A09F-4389-BF1C-29DCCBFFF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B8D56"/>
                </a:solidFill>
              </a:defRPr>
            </a:pPr>
            <a:r>
              <a:rPr sz="1350" b="1">
                <a:solidFill>
                  <a:srgbClr val="4B8D56"/>
                </a:solidFill>
              </a:rPr>
              <a:t>基于用户访谈内容整理的阶段性分析结论</a:t>
            </a:r>
          </a:p>
        </p:txBody>
      </p:sp>
      <p:sp>
        <p:nvSpPr>
          <p:cNvPr id="5" name="cover-band-band">
            <a:extLst xmlns:a="http://schemas.openxmlformats.org/drawingml/2006/main">
              <a:ext uri="{FF2B5EF4-FFF2-40B4-BE49-F238E27FC236}">
                <a16:creationId xmlns:a16="http://schemas.microsoft.com/office/drawing/2014/main" id="{2C52DFF1-A084-48A0-9797-6C20A6390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4"/>
          </a:solidFill>
          <a:ln xmlns:a="http://schemas.openxmlformats.org/drawingml/2006/main" w="0">
            <a:solidFill>
              <a:srgbClr val="141414"/>
            </a:solidFill>
            <a:prstDash val="solid"/>
          </a:ln>
        </p:spPr>
      </p:sp>
      <p:sp>
        <p:nvSpPr>
          <p:cNvPr id="6" name="cover-band-text">
            <a:extLst xmlns:a="http://schemas.openxmlformats.org/drawingml/2006/main">
              <a:ext uri="{FF2B5EF4-FFF2-40B4-BE49-F238E27FC236}">
                <a16:creationId xmlns:a16="http://schemas.microsoft.com/office/drawing/2014/main" id="{16B46936-5326-4689-8193-975806ADE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7177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核心议题: 用户如何理解豪华、越野、家庭舒适与智能便利的组合关系？</a:t>
            </a:r>
          </a:p>
        </p:txBody>
      </p:sp>
      <p:sp>
        <p:nvSpPr>
          <p:cNvPr id="7" name="cover-note">
            <a:extLst xmlns:a="http://schemas.openxmlformats.org/drawingml/2006/main">
              <a:ext uri="{FF2B5EF4-FFF2-40B4-BE49-F238E27FC236}">
                <a16:creationId xmlns:a16="http://schemas.microsoft.com/office/drawing/2014/main" id="{43D21DCB-3868-4742-BE12-E80675602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24200"/>
            <a:ext cx="590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595757"/>
                </a:solidFill>
              </a:defRPr>
            </a:pPr>
            <a:r>
              <a:rPr sz="1050">
                <a:solidFill>
                  <a:srgbClr val="595757"/>
                </a:solidFill>
              </a:rPr>
              <a:t>本报告仅围绕访谈中呈现的用户画像、竞品认知、定位判断、卖点理解与生态建议展开整理。</a:t>
            </a:r>
          </a:p>
        </p:txBody>
      </p:sp>
      <p:sp>
        <p:nvSpPr>
          <p:cNvPr id="8" name="cover-meta-panel">
            <a:extLst xmlns:a="http://schemas.openxmlformats.org/drawingml/2006/main">
              <a:ext uri="{FF2B5EF4-FFF2-40B4-BE49-F238E27FC236}">
                <a16:creationId xmlns:a16="http://schemas.microsoft.com/office/drawing/2014/main" id="{D40B8229-65FF-45B3-AC1C-247C222A0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733550"/>
            <a:ext cx="32194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9" name="cover-meta-header">
            <a:extLst xmlns:a="http://schemas.openxmlformats.org/drawingml/2006/main">
              <a:ext uri="{FF2B5EF4-FFF2-40B4-BE49-F238E27FC236}">
                <a16:creationId xmlns:a16="http://schemas.microsoft.com/office/drawing/2014/main" id="{5AD3E262-52DB-4F19-935A-8AED79CE4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733550"/>
            <a:ext cx="3219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8D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over-meta-title">
            <a:extLst xmlns:a="http://schemas.openxmlformats.org/drawingml/2006/main">
              <a:ext uri="{FF2B5EF4-FFF2-40B4-BE49-F238E27FC236}">
                <a16:creationId xmlns:a16="http://schemas.microsoft.com/office/drawing/2014/main" id="{99DB84CD-4C6A-4339-A694-04E2C0530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771650"/>
            <a:ext cx="3028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访谈信息</a:t>
            </a:r>
          </a:p>
        </p:txBody>
      </p:sp>
      <p:sp>
        <p:nvSpPr>
          <p:cNvPr id="11" name="cover-meta-table-h-0">
            <a:extLst xmlns:a="http://schemas.openxmlformats.org/drawingml/2006/main">
              <a:ext uri="{FF2B5EF4-FFF2-40B4-BE49-F238E27FC236}">
                <a16:creationId xmlns:a16="http://schemas.microsoft.com/office/drawing/2014/main" id="{16B14ED3-2780-4102-81A7-A79A7B438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76450"/>
            <a:ext cx="895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8D56"/>
          </a:solidFill>
          <a:ln xmlns:a="http://schemas.openxmlformats.org/drawingml/2006/main" w="0">
            <a:solidFill>
              <a:srgbClr val="4B8D56"/>
            </a:solidFill>
            <a:prstDash val="solid"/>
          </a:ln>
        </p:spPr>
      </p:sp>
      <p:sp>
        <p:nvSpPr>
          <p:cNvPr id="12" name="cover-meta-table-ht-0">
            <a:extLst xmlns:a="http://schemas.openxmlformats.org/drawingml/2006/main">
              <a:ext uri="{FF2B5EF4-FFF2-40B4-BE49-F238E27FC236}">
                <a16:creationId xmlns:a16="http://schemas.microsoft.com/office/drawing/2014/main" id="{9C30C719-58DD-41B5-B921-63707DA8B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133600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字段</a:t>
            </a:r>
          </a:p>
        </p:txBody>
      </p:sp>
      <p:sp>
        <p:nvSpPr>
          <p:cNvPr id="13" name="cover-meta-table-h-1">
            <a:extLst xmlns:a="http://schemas.openxmlformats.org/drawingml/2006/main">
              <a:ext uri="{FF2B5EF4-FFF2-40B4-BE49-F238E27FC236}">
                <a16:creationId xmlns:a16="http://schemas.microsoft.com/office/drawing/2014/main" id="{38D85E6F-B274-4677-9942-44EC5447E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076450"/>
            <a:ext cx="2133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8D56"/>
          </a:solidFill>
          <a:ln xmlns:a="http://schemas.openxmlformats.org/drawingml/2006/main" w="0">
            <a:solidFill>
              <a:srgbClr val="4B8D56"/>
            </a:solidFill>
            <a:prstDash val="solid"/>
          </a:ln>
        </p:spPr>
      </p:sp>
      <p:sp>
        <p:nvSpPr>
          <p:cNvPr id="14" name="cover-meta-table-ht-1">
            <a:extLst xmlns:a="http://schemas.openxmlformats.org/drawingml/2006/main">
              <a:ext uri="{FF2B5EF4-FFF2-40B4-BE49-F238E27FC236}">
                <a16:creationId xmlns:a16="http://schemas.microsoft.com/office/drawing/2014/main" id="{9CE055FE-C3FC-403F-9046-22C37945D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33600"/>
            <a:ext cx="2019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内容</a:t>
            </a:r>
          </a:p>
        </p:txBody>
      </p:sp>
      <p:sp>
        <p:nvSpPr>
          <p:cNvPr id="15" name="cover-meta-table-c-0-0">
            <a:extLst xmlns:a="http://schemas.openxmlformats.org/drawingml/2006/main">
              <a:ext uri="{FF2B5EF4-FFF2-40B4-BE49-F238E27FC236}">
                <a16:creationId xmlns:a16="http://schemas.microsoft.com/office/drawing/2014/main" id="{7CE752F0-90CC-4379-9362-26A23E29B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381250"/>
            <a:ext cx="895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6" name="cover-meta-table-ct-0-0">
            <a:extLst xmlns:a="http://schemas.openxmlformats.org/drawingml/2006/main">
              <a:ext uri="{FF2B5EF4-FFF2-40B4-BE49-F238E27FC236}">
                <a16:creationId xmlns:a16="http://schemas.microsoft.com/office/drawing/2014/main" id="{32B5653F-E005-464A-91B6-EA9F1BD0D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438400"/>
            <a:ext cx="781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81818"/>
                </a:solidFill>
              </a:defRPr>
            </a:pPr>
            <a:r>
              <a:rPr sz="825" b="1">
                <a:solidFill>
                  <a:srgbClr val="181818"/>
                </a:solidFill>
              </a:rPr>
              <a:t>输入</a:t>
            </a:r>
          </a:p>
        </p:txBody>
      </p:sp>
      <p:sp>
        <p:nvSpPr>
          <p:cNvPr id="17" name="cover-meta-table-c-0-1">
            <a:extLst xmlns:a="http://schemas.openxmlformats.org/drawingml/2006/main">
              <a:ext uri="{FF2B5EF4-FFF2-40B4-BE49-F238E27FC236}">
                <a16:creationId xmlns:a16="http://schemas.microsoft.com/office/drawing/2014/main" id="{DC0F4BB2-3197-49EE-9BA9-67DD7964A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381250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8" name="cover-meta-table-ct-0-1">
            <a:extLst xmlns:a="http://schemas.openxmlformats.org/drawingml/2006/main">
              <a:ext uri="{FF2B5EF4-FFF2-40B4-BE49-F238E27FC236}">
                <a16:creationId xmlns:a16="http://schemas.microsoft.com/office/drawing/2014/main" id="{2BCE2581-F762-47E2-9ACA-1AF6FB06A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438400"/>
            <a:ext cx="2019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81818"/>
                </a:solidFill>
              </a:defRPr>
            </a:pPr>
            <a:r>
              <a:rPr sz="750" b="0">
                <a:solidFill>
                  <a:srgbClr val="181818"/>
                </a:solidFill>
              </a:rPr>
              <a:t>会议笔录分析总结_优化版(1).docx</a:t>
            </a:r>
          </a:p>
        </p:txBody>
      </p:sp>
      <p:sp>
        <p:nvSpPr>
          <p:cNvPr id="19" name="cover-meta-table-c-1-0">
            <a:extLst xmlns:a="http://schemas.openxmlformats.org/drawingml/2006/main">
              <a:ext uri="{FF2B5EF4-FFF2-40B4-BE49-F238E27FC236}">
                <a16:creationId xmlns:a16="http://schemas.microsoft.com/office/drawing/2014/main" id="{4F461B63-47C6-48F9-A9D4-AC8A753DA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43200"/>
            <a:ext cx="895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0" name="cover-meta-table-ct-1-0">
            <a:extLst xmlns:a="http://schemas.openxmlformats.org/drawingml/2006/main">
              <a:ext uri="{FF2B5EF4-FFF2-40B4-BE49-F238E27FC236}">
                <a16:creationId xmlns:a16="http://schemas.microsoft.com/office/drawing/2014/main" id="{D3A77480-330A-43A6-A396-A7DDBBD0D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800350"/>
            <a:ext cx="781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81818"/>
                </a:solidFill>
              </a:defRPr>
            </a:pPr>
            <a:r>
              <a:rPr sz="825" b="1">
                <a:solidFill>
                  <a:srgbClr val="181818"/>
                </a:solidFill>
              </a:rPr>
              <a:t>输出</a:t>
            </a:r>
          </a:p>
        </p:txBody>
      </p:sp>
      <p:sp>
        <p:nvSpPr>
          <p:cNvPr id="21" name="cover-meta-table-c-1-1">
            <a:extLst xmlns:a="http://schemas.openxmlformats.org/drawingml/2006/main">
              <a:ext uri="{FF2B5EF4-FFF2-40B4-BE49-F238E27FC236}">
                <a16:creationId xmlns:a16="http://schemas.microsoft.com/office/drawing/2014/main" id="{4E0E80B6-B329-4756-A218-611BF86BE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743200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2" name="cover-meta-table-ct-1-1">
            <a:extLst xmlns:a="http://schemas.openxmlformats.org/drawingml/2006/main">
              <a:ext uri="{FF2B5EF4-FFF2-40B4-BE49-F238E27FC236}">
                <a16:creationId xmlns:a16="http://schemas.microsoft.com/office/drawing/2014/main" id="{77C169A5-7798-4DF7-8F48-CC8AE9256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800350"/>
            <a:ext cx="2019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81818"/>
                </a:solidFill>
              </a:defRPr>
            </a:pPr>
            <a:r>
              <a:rPr sz="750" b="0">
                <a:solidFill>
                  <a:srgbClr val="181818"/>
                </a:solidFill>
              </a:rPr>
              <a:t>访谈分析报告</a:t>
            </a:r>
          </a:p>
        </p:txBody>
      </p:sp>
      <p:sp>
        <p:nvSpPr>
          <p:cNvPr id="23" name="cover-meta-table-c-2-0">
            <a:extLst xmlns:a="http://schemas.openxmlformats.org/drawingml/2006/main">
              <a:ext uri="{FF2B5EF4-FFF2-40B4-BE49-F238E27FC236}">
                <a16:creationId xmlns:a16="http://schemas.microsoft.com/office/drawing/2014/main" id="{C77B1E57-2203-4A64-921A-759698812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105150"/>
            <a:ext cx="895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4" name="cover-meta-table-ct-2-0">
            <a:extLst xmlns:a="http://schemas.openxmlformats.org/drawingml/2006/main">
              <a:ext uri="{FF2B5EF4-FFF2-40B4-BE49-F238E27FC236}">
                <a16:creationId xmlns:a16="http://schemas.microsoft.com/office/drawing/2014/main" id="{95BDC4D2-068E-4D6B-82AC-D24B6B920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162300"/>
            <a:ext cx="781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81818"/>
                </a:solidFill>
              </a:defRPr>
            </a:pPr>
            <a:r>
              <a:rPr sz="825" b="1">
                <a:solidFill>
                  <a:srgbClr val="181818"/>
                </a:solidFill>
              </a:rPr>
              <a:t>方法</a:t>
            </a:r>
          </a:p>
        </p:txBody>
      </p:sp>
      <p:sp>
        <p:nvSpPr>
          <p:cNvPr id="25" name="cover-meta-table-c-2-1">
            <a:extLst xmlns:a="http://schemas.openxmlformats.org/drawingml/2006/main">
              <a:ext uri="{FF2B5EF4-FFF2-40B4-BE49-F238E27FC236}">
                <a16:creationId xmlns:a16="http://schemas.microsoft.com/office/drawing/2014/main" id="{D955E9B2-23BA-4C00-8E9C-1BA1D3602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105150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6" name="cover-meta-table-ct-2-1">
            <a:extLst xmlns:a="http://schemas.openxmlformats.org/drawingml/2006/main">
              <a:ext uri="{FF2B5EF4-FFF2-40B4-BE49-F238E27FC236}">
                <a16:creationId xmlns:a16="http://schemas.microsoft.com/office/drawing/2014/main" id="{DD88BFFE-B12B-4813-8E8B-56D82663D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162300"/>
            <a:ext cx="2019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81818"/>
                </a:solidFill>
              </a:defRPr>
            </a:pPr>
            <a:r>
              <a:rPr sz="750" b="0">
                <a:solidFill>
                  <a:srgbClr val="181818"/>
                </a:solidFill>
              </a:rPr>
              <a:t>围绕访谈结论进行结构化整理</a:t>
            </a:r>
          </a:p>
        </p:txBody>
      </p:sp>
      <p:sp>
        <p:nvSpPr>
          <p:cNvPr id="27" name="cover-meta-table-c-3-0">
            <a:extLst xmlns:a="http://schemas.openxmlformats.org/drawingml/2006/main">
              <a:ext uri="{FF2B5EF4-FFF2-40B4-BE49-F238E27FC236}">
                <a16:creationId xmlns:a16="http://schemas.microsoft.com/office/drawing/2014/main" id="{D849C715-4CEE-4282-A0B5-3A52B54F9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467100"/>
            <a:ext cx="895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8" name="cover-meta-table-ct-3-0">
            <a:extLst xmlns:a="http://schemas.openxmlformats.org/drawingml/2006/main">
              <a:ext uri="{FF2B5EF4-FFF2-40B4-BE49-F238E27FC236}">
                <a16:creationId xmlns:a16="http://schemas.microsoft.com/office/drawing/2014/main" id="{CCCF4FA3-C4DC-40BF-8535-7C9413855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524250"/>
            <a:ext cx="781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81818"/>
                </a:solidFill>
              </a:defRPr>
            </a:pPr>
            <a:r>
              <a:rPr sz="825" b="1">
                <a:solidFill>
                  <a:srgbClr val="181818"/>
                </a:solidFill>
              </a:rPr>
              <a:t>范围</a:t>
            </a:r>
          </a:p>
        </p:txBody>
      </p:sp>
      <p:sp>
        <p:nvSpPr>
          <p:cNvPr id="29" name="cover-meta-table-c-3-1">
            <a:extLst xmlns:a="http://schemas.openxmlformats.org/drawingml/2006/main">
              <a:ext uri="{FF2B5EF4-FFF2-40B4-BE49-F238E27FC236}">
                <a16:creationId xmlns:a16="http://schemas.microsoft.com/office/drawing/2014/main" id="{9EECE256-7773-427C-8DDD-4CC85CB76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467100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30" name="cover-meta-table-ct-3-1">
            <a:extLst xmlns:a="http://schemas.openxmlformats.org/drawingml/2006/main">
              <a:ext uri="{FF2B5EF4-FFF2-40B4-BE49-F238E27FC236}">
                <a16:creationId xmlns:a16="http://schemas.microsoft.com/office/drawing/2014/main" id="{11AD46D1-F630-42F4-8269-024445B23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524250"/>
            <a:ext cx="2019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81818"/>
                </a:solidFill>
              </a:defRPr>
            </a:pPr>
            <a:r>
              <a:rPr sz="750" b="0">
                <a:solidFill>
                  <a:srgbClr val="181818"/>
                </a:solidFill>
              </a:rPr>
              <a:t>用户画像、竞品、定位、卖点、生态</a:t>
            </a:r>
          </a:p>
        </p:txBody>
      </p:sp>
      <p:sp>
        <p:nvSpPr>
          <p:cNvPr id="31" name="cover-stat-1-panel">
            <a:extLst xmlns:a="http://schemas.openxmlformats.org/drawingml/2006/main">
              <a:ext uri="{FF2B5EF4-FFF2-40B4-BE49-F238E27FC236}">
                <a16:creationId xmlns:a16="http://schemas.microsoft.com/office/drawing/2014/main" id="{F64E76F8-0A41-433D-8A54-E0612E035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48150"/>
            <a:ext cx="1962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32" name="cover-stat-1-accent">
            <a:extLst xmlns:a="http://schemas.openxmlformats.org/drawingml/2006/main">
              <a:ext uri="{FF2B5EF4-FFF2-40B4-BE49-F238E27FC236}">
                <a16:creationId xmlns:a16="http://schemas.microsoft.com/office/drawing/2014/main" id="{26E51506-8C1F-488A-878F-D73B2C783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481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8D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cover-stat-1-value">
            <a:extLst xmlns:a="http://schemas.openxmlformats.org/drawingml/2006/main">
              <a:ext uri="{FF2B5EF4-FFF2-40B4-BE49-F238E27FC236}">
                <a16:creationId xmlns:a16="http://schemas.microsoft.com/office/drawing/2014/main" id="{340E9481-4D2D-4C1C-A68A-F7B492D85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19600"/>
            <a:ext cx="1638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1818"/>
                </a:solidFill>
              </a:defRPr>
            </a:pPr>
            <a:r>
              <a:rPr sz="1500" b="1">
                <a:solidFill>
                  <a:srgbClr val="181818"/>
                </a:solidFill>
              </a:rPr>
              <a:t>用户</a:t>
            </a:r>
          </a:p>
        </p:txBody>
      </p:sp>
      <p:sp>
        <p:nvSpPr>
          <p:cNvPr id="34" name="cover-stat-1-label">
            <a:extLst xmlns:a="http://schemas.openxmlformats.org/drawingml/2006/main">
              <a:ext uri="{FF2B5EF4-FFF2-40B4-BE49-F238E27FC236}">
                <a16:creationId xmlns:a16="http://schemas.microsoft.com/office/drawing/2014/main" id="{91EED916-EF48-40E9-82BF-2F05BBDD5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781550"/>
            <a:ext cx="1638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95757"/>
                </a:solidFill>
              </a:defRPr>
            </a:pPr>
            <a:r>
              <a:rPr sz="675" b="1">
                <a:solidFill>
                  <a:srgbClr val="595757"/>
                </a:solidFill>
              </a:rPr>
              <a:t>城市/家庭/越野</a:t>
            </a:r>
          </a:p>
        </p:txBody>
      </p:sp>
      <p:sp>
        <p:nvSpPr>
          <p:cNvPr id="35" name="cover-stat-1-note">
            <a:extLst xmlns:a="http://schemas.openxmlformats.org/drawingml/2006/main">
              <a:ext uri="{FF2B5EF4-FFF2-40B4-BE49-F238E27FC236}">
                <a16:creationId xmlns:a16="http://schemas.microsoft.com/office/drawing/2014/main" id="{42C0842B-9A98-4200-97B3-27D963D9B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010150"/>
            <a:ext cx="163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>
                <a:solidFill>
                  <a:srgbClr val="717171"/>
                </a:solidFill>
              </a:defRPr>
            </a:pPr>
            <a:r>
              <a:rPr sz="675">
                <a:solidFill>
                  <a:srgbClr val="717171"/>
                </a:solidFill>
              </a:rPr>
              <a:t>访谈对象主要围绕城市精英、家庭用户和不同越野偏好人群展开。</a:t>
            </a:r>
          </a:p>
        </p:txBody>
      </p:sp>
      <p:sp>
        <p:nvSpPr>
          <p:cNvPr id="36" name="cover-stat-2-panel">
            <a:extLst xmlns:a="http://schemas.openxmlformats.org/drawingml/2006/main">
              <a:ext uri="{FF2B5EF4-FFF2-40B4-BE49-F238E27FC236}">
                <a16:creationId xmlns:a16="http://schemas.microsoft.com/office/drawing/2014/main" id="{0773609E-DC95-4C40-A2A1-200E96E04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248150"/>
            <a:ext cx="1962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37" name="cover-stat-2-accent">
            <a:extLst xmlns:a="http://schemas.openxmlformats.org/drawingml/2006/main">
              <a:ext uri="{FF2B5EF4-FFF2-40B4-BE49-F238E27FC236}">
                <a16:creationId xmlns:a16="http://schemas.microsoft.com/office/drawing/2014/main" id="{5067C7C4-6A94-4AA4-947F-E4524F7F6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2481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1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cover-stat-2-value">
            <a:extLst xmlns:a="http://schemas.openxmlformats.org/drawingml/2006/main">
              <a:ext uri="{FF2B5EF4-FFF2-40B4-BE49-F238E27FC236}">
                <a16:creationId xmlns:a16="http://schemas.microsoft.com/office/drawing/2014/main" id="{95C2266E-BF55-46A1-9900-1AB4D65D0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419600"/>
            <a:ext cx="1638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1818"/>
                </a:solidFill>
              </a:defRPr>
            </a:pPr>
            <a:r>
              <a:rPr sz="1500" b="1">
                <a:solidFill>
                  <a:srgbClr val="181818"/>
                </a:solidFill>
              </a:rPr>
              <a:t>竞品</a:t>
            </a:r>
          </a:p>
        </p:txBody>
      </p:sp>
      <p:sp>
        <p:nvSpPr>
          <p:cNvPr id="39" name="cover-stat-2-label">
            <a:extLst xmlns:a="http://schemas.openxmlformats.org/drawingml/2006/main">
              <a:ext uri="{FF2B5EF4-FFF2-40B4-BE49-F238E27FC236}">
                <a16:creationId xmlns:a16="http://schemas.microsoft.com/office/drawing/2014/main" id="{FB719CBA-8E7B-4923-8393-F7B927D70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781550"/>
            <a:ext cx="1638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95757"/>
                </a:solidFill>
              </a:defRPr>
            </a:pPr>
            <a:r>
              <a:rPr sz="675" b="1">
                <a:solidFill>
                  <a:srgbClr val="595757"/>
                </a:solidFill>
              </a:rPr>
              <a:t>理想/问界/坦克</a:t>
            </a:r>
          </a:p>
        </p:txBody>
      </p:sp>
      <p:sp>
        <p:nvSpPr>
          <p:cNvPr id="40" name="cover-stat-2-note">
            <a:extLst xmlns:a="http://schemas.openxmlformats.org/drawingml/2006/main">
              <a:ext uri="{FF2B5EF4-FFF2-40B4-BE49-F238E27FC236}">
                <a16:creationId xmlns:a16="http://schemas.microsoft.com/office/drawing/2014/main" id="{8D9CD01B-0518-4FF7-B147-D5E75EFCF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010150"/>
            <a:ext cx="163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>
                <a:solidFill>
                  <a:srgbClr val="717171"/>
                </a:solidFill>
              </a:defRPr>
            </a:pPr>
            <a:r>
              <a:rPr sz="675">
                <a:solidFill>
                  <a:srgbClr val="717171"/>
                </a:solidFill>
              </a:rPr>
              <a:t>竞品认知集中在舒适智能与越野个性的两端比较。</a:t>
            </a:r>
          </a:p>
        </p:txBody>
      </p:sp>
      <p:sp>
        <p:nvSpPr>
          <p:cNvPr id="41" name="cover-stat-3-panel">
            <a:extLst xmlns:a="http://schemas.openxmlformats.org/drawingml/2006/main">
              <a:ext uri="{FF2B5EF4-FFF2-40B4-BE49-F238E27FC236}">
                <a16:creationId xmlns:a16="http://schemas.microsoft.com/office/drawing/2014/main" id="{0F77690B-3F69-4FCE-B651-6509ADAE7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248150"/>
            <a:ext cx="1962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42" name="cover-stat-3-accent">
            <a:extLst xmlns:a="http://schemas.openxmlformats.org/drawingml/2006/main">
              <a:ext uri="{FF2B5EF4-FFF2-40B4-BE49-F238E27FC236}">
                <a16:creationId xmlns:a16="http://schemas.microsoft.com/office/drawing/2014/main" id="{BA87F16B-4002-4C12-9C5E-65FAEB5C6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2481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E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cover-stat-3-value">
            <a:extLst xmlns:a="http://schemas.openxmlformats.org/drawingml/2006/main">
              <a:ext uri="{FF2B5EF4-FFF2-40B4-BE49-F238E27FC236}">
                <a16:creationId xmlns:a16="http://schemas.microsoft.com/office/drawing/2014/main" id="{71AE12DC-3355-4102-AAC9-27FEF3B3B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419600"/>
            <a:ext cx="1638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1818"/>
                </a:solidFill>
              </a:defRPr>
            </a:pPr>
            <a:r>
              <a:rPr sz="1500" b="1">
                <a:solidFill>
                  <a:srgbClr val="181818"/>
                </a:solidFill>
              </a:rPr>
              <a:t>结论</a:t>
            </a:r>
          </a:p>
        </p:txBody>
      </p:sp>
      <p:sp>
        <p:nvSpPr>
          <p:cNvPr id="44" name="cover-stat-3-label">
            <a:extLst xmlns:a="http://schemas.openxmlformats.org/drawingml/2006/main">
              <a:ext uri="{FF2B5EF4-FFF2-40B4-BE49-F238E27FC236}">
                <a16:creationId xmlns:a16="http://schemas.microsoft.com/office/drawing/2014/main" id="{ACEF69F7-4251-4925-A466-6417B352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781550"/>
            <a:ext cx="1638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95757"/>
                </a:solidFill>
              </a:defRPr>
            </a:pPr>
            <a:r>
              <a:rPr sz="675" b="1">
                <a:solidFill>
                  <a:srgbClr val="595757"/>
                </a:solidFill>
              </a:rPr>
              <a:t>豪华越野兼得</a:t>
            </a:r>
          </a:p>
        </p:txBody>
      </p:sp>
      <p:sp>
        <p:nvSpPr>
          <p:cNvPr id="45" name="cover-stat-3-note">
            <a:extLst xmlns:a="http://schemas.openxmlformats.org/drawingml/2006/main">
              <a:ext uri="{FF2B5EF4-FFF2-40B4-BE49-F238E27FC236}">
                <a16:creationId xmlns:a16="http://schemas.microsoft.com/office/drawing/2014/main" id="{FAFF9DE1-417F-4A72-A95B-C950B1EE4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010150"/>
            <a:ext cx="163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>
                <a:solidFill>
                  <a:srgbClr val="717171"/>
                </a:solidFill>
              </a:defRPr>
            </a:pPr>
            <a:r>
              <a:rPr sz="675">
                <a:solidFill>
                  <a:srgbClr val="717171"/>
                </a:solidFill>
              </a:rPr>
              <a:t>多数判断都指向既要城市舒适，又要具备真实越野可信度。</a:t>
            </a:r>
          </a:p>
        </p:txBody>
      </p:sp>
      <p:sp>
        <p:nvSpPr>
          <p:cNvPr id="46" name="cover-range-panel">
            <a:extLst xmlns:a="http://schemas.openxmlformats.org/drawingml/2006/main">
              <a:ext uri="{FF2B5EF4-FFF2-40B4-BE49-F238E27FC236}">
                <a16:creationId xmlns:a16="http://schemas.microsoft.com/office/drawing/2014/main" id="{F7AF49C3-5FCF-4517-92D0-5072504B5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095750"/>
            <a:ext cx="32194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47" name="cover-range-header">
            <a:extLst xmlns:a="http://schemas.openxmlformats.org/drawingml/2006/main">
              <a:ext uri="{FF2B5EF4-FFF2-40B4-BE49-F238E27FC236}">
                <a16:creationId xmlns:a16="http://schemas.microsoft.com/office/drawing/2014/main" id="{729F2FA1-9D7B-4809-9290-68BA03F43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095750"/>
            <a:ext cx="3219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8D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cover-range-title">
            <a:extLst xmlns:a="http://schemas.openxmlformats.org/drawingml/2006/main">
              <a:ext uri="{FF2B5EF4-FFF2-40B4-BE49-F238E27FC236}">
                <a16:creationId xmlns:a16="http://schemas.microsoft.com/office/drawing/2014/main" id="{C2ACDBB4-EADF-478D-88AC-420CE825C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133850"/>
            <a:ext cx="3028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本次内容重点</a:t>
            </a:r>
          </a:p>
        </p:txBody>
      </p:sp>
      <p:sp>
        <p:nvSpPr>
          <p:cNvPr id="49" name="cover-range-b-dot-0">
            <a:extLst xmlns:a="http://schemas.openxmlformats.org/drawingml/2006/main">
              <a:ext uri="{FF2B5EF4-FFF2-40B4-BE49-F238E27FC236}">
                <a16:creationId xmlns:a16="http://schemas.microsoft.com/office/drawing/2014/main" id="{DEE67D37-62EC-4A4D-9C4B-9A7D9FF94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572000"/>
            <a:ext cx="57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1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cover-range-b-text-0">
            <a:extLst xmlns:a="http://schemas.openxmlformats.org/drawingml/2006/main">
              <a:ext uri="{FF2B5EF4-FFF2-40B4-BE49-F238E27FC236}">
                <a16:creationId xmlns:a16="http://schemas.microsoft.com/office/drawing/2014/main" id="{0086FF9D-525A-4E67-8ADA-B21865EDC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514850"/>
            <a:ext cx="2647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181818"/>
                </a:solidFill>
              </a:defRPr>
            </a:pPr>
            <a:r>
              <a:rPr sz="900">
                <a:solidFill>
                  <a:srgbClr val="181818"/>
                </a:solidFill>
              </a:rPr>
              <a:t>梳理用户画像与典型使用场景</a:t>
            </a:r>
          </a:p>
        </p:txBody>
      </p:sp>
      <p:sp>
        <p:nvSpPr>
          <p:cNvPr id="51" name="cover-range-b-dot-1">
            <a:extLst xmlns:a="http://schemas.openxmlformats.org/drawingml/2006/main">
              <a:ext uri="{FF2B5EF4-FFF2-40B4-BE49-F238E27FC236}">
                <a16:creationId xmlns:a16="http://schemas.microsoft.com/office/drawing/2014/main" id="{D386F3EA-9774-49D1-8F64-7D851510F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819650"/>
            <a:ext cx="57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1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cover-range-b-text-1">
            <a:extLst xmlns:a="http://schemas.openxmlformats.org/drawingml/2006/main">
              <a:ext uri="{FF2B5EF4-FFF2-40B4-BE49-F238E27FC236}">
                <a16:creationId xmlns:a16="http://schemas.microsoft.com/office/drawing/2014/main" id="{051FF09F-9F46-4E98-853A-4A93A8CCB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762500"/>
            <a:ext cx="2647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181818"/>
                </a:solidFill>
              </a:defRPr>
            </a:pPr>
            <a:r>
              <a:rPr sz="900">
                <a:solidFill>
                  <a:srgbClr val="181818"/>
                </a:solidFill>
              </a:rPr>
              <a:t>归纳竞品心智、定位判断与设计争议</a:t>
            </a:r>
          </a:p>
        </p:txBody>
      </p:sp>
      <p:sp>
        <p:nvSpPr>
          <p:cNvPr id="53" name="cover-range-b-dot-2">
            <a:extLst xmlns:a="http://schemas.openxmlformats.org/drawingml/2006/main">
              <a:ext uri="{FF2B5EF4-FFF2-40B4-BE49-F238E27FC236}">
                <a16:creationId xmlns:a16="http://schemas.microsoft.com/office/drawing/2014/main" id="{EC5E81E5-A4E5-4064-A9E3-DEFEF4BA0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067300"/>
            <a:ext cx="57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1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cover-range-b-text-2">
            <a:extLst xmlns:a="http://schemas.openxmlformats.org/drawingml/2006/main">
              <a:ext uri="{FF2B5EF4-FFF2-40B4-BE49-F238E27FC236}">
                <a16:creationId xmlns:a16="http://schemas.microsoft.com/office/drawing/2014/main" id="{E8C65218-42F0-426C-8969-DFD72E865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010150"/>
            <a:ext cx="2647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181818"/>
                </a:solidFill>
              </a:defRPr>
            </a:pPr>
            <a:r>
              <a:rPr sz="900">
                <a:solidFill>
                  <a:srgbClr val="181818"/>
                </a:solidFill>
              </a:rPr>
              <a:t>提炼卖点表达、生态方向与传播建议</a:t>
            </a:r>
          </a:p>
        </p:txBody>
      </p:sp>
      <p:sp>
        <p:nvSpPr>
          <p:cNvPr id="55" name="cover-source">
            <a:extLst xmlns:a="http://schemas.openxmlformats.org/drawingml/2006/main">
              <a:ext uri="{FF2B5EF4-FFF2-40B4-BE49-F238E27FC236}">
                <a16:creationId xmlns:a16="http://schemas.microsoft.com/office/drawing/2014/main" id="{376BF32E-5795-4339-AF06-A5A9E5F49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960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717171"/>
                </a:solidFill>
              </a:defRPr>
            </a:pPr>
            <a:r>
              <a:rPr sz="750">
                <a:solidFill>
                  <a:srgbClr val="717171"/>
                </a:solidFill>
              </a:rPr>
              <a:t>资料来源：会议笔录分析总结_优化版(1).docx，仅基于原文整理</a:t>
            </a:r>
          </a:p>
        </p:txBody>
      </p:sp>
    </p:spTree>
    <p:extLst>
      <p:ext uri="{BB962C8B-B14F-4D97-AF65-F5344CB8AC3E}">
        <p14:creationId xmlns:p14="http://schemas.microsoft.com/office/powerpoint/2010/main" val="15898360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B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top-2">
            <a:extLst xmlns:a="http://schemas.openxmlformats.org/drawingml/2006/main">
              <a:ext uri="{FF2B5EF4-FFF2-40B4-BE49-F238E27FC236}">
                <a16:creationId xmlns:a16="http://schemas.microsoft.com/office/drawing/2014/main" id="{130B3ED0-BAF9-4464-9BFB-83EEBAC78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mark-2">
            <a:extLst xmlns:a="http://schemas.openxmlformats.org/drawingml/2006/main">
              <a:ext uri="{FF2B5EF4-FFF2-40B4-BE49-F238E27FC236}">
                <a16:creationId xmlns:a16="http://schemas.microsoft.com/office/drawing/2014/main" id="{F1544E9A-DB20-4E6B-B300-8C7664319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2">
            <a:extLst xmlns:a="http://schemas.openxmlformats.org/drawingml/2006/main">
              <a:ext uri="{FF2B5EF4-FFF2-40B4-BE49-F238E27FC236}">
                <a16:creationId xmlns:a16="http://schemas.microsoft.com/office/drawing/2014/main" id="{FEE75D81-A6D1-4F14-A045-B79D6B5CE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ource-2">
            <a:extLst xmlns:a="http://schemas.openxmlformats.org/drawingml/2006/main">
              <a:ext uri="{FF2B5EF4-FFF2-40B4-BE49-F238E27FC236}">
                <a16:creationId xmlns:a16="http://schemas.microsoft.com/office/drawing/2014/main" id="{B8C7D2BC-095D-4855-8778-2A63FB068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717171"/>
                </a:solidFill>
              </a:defRPr>
            </a:pPr>
            <a:r>
              <a:rPr sz="750">
                <a:solidFill>
                  <a:srgbClr val="717171"/>
                </a:solidFill>
              </a:rPr>
              <a:t>资料来源：会议笔录分析总结_优化版(1).docx，仅基于原文整理</a:t>
            </a:r>
          </a:p>
        </p:txBody>
      </p:sp>
      <p:sp>
        <p:nvSpPr>
          <p:cNvPr id="5" name="page-2">
            <a:extLst xmlns:a="http://schemas.openxmlformats.org/drawingml/2006/main">
              <a:ext uri="{FF2B5EF4-FFF2-40B4-BE49-F238E27FC236}">
                <a16:creationId xmlns:a16="http://schemas.microsoft.com/office/drawing/2014/main" id="{0753BF48-14E6-4A66-9565-0B50B05F3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912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717171"/>
                </a:solidFill>
              </a:defRPr>
            </a:pPr>
            <a:r>
              <a:rPr sz="750">
                <a:solidFill>
                  <a:srgbClr val="717171"/>
                </a:solidFill>
              </a:rPr>
              <a:t>02</a:t>
            </a:r>
          </a:p>
        </p:txBody>
      </p:sp>
      <p:sp>
        <p:nvSpPr>
          <p:cNvPr id="6" name="title-2">
            <a:extLst xmlns:a="http://schemas.openxmlformats.org/drawingml/2006/main">
              <a:ext uri="{FF2B5EF4-FFF2-40B4-BE49-F238E27FC236}">
                <a16:creationId xmlns:a16="http://schemas.microsoft.com/office/drawing/2014/main" id="{8900FCBA-44E7-4A51-9893-2EFDDCE94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42950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1818"/>
                </a:solidFill>
              </a:defRPr>
            </a:pPr>
            <a:r>
              <a:rPr sz="2100" b="1">
                <a:solidFill>
                  <a:srgbClr val="181818"/>
                </a:solidFill>
              </a:rPr>
              <a:t>目录</a:t>
            </a:r>
          </a:p>
        </p:txBody>
      </p:sp>
      <p:sp>
        <p:nvSpPr>
          <p:cNvPr id="7" name="toc-band-band">
            <a:extLst xmlns:a="http://schemas.openxmlformats.org/drawingml/2006/main">
              <a:ext uri="{FF2B5EF4-FFF2-40B4-BE49-F238E27FC236}">
                <a16:creationId xmlns:a16="http://schemas.microsoft.com/office/drawing/2014/main" id="{E764DCCF-F5A8-44E5-B180-88E027AB1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76350"/>
            <a:ext cx="10515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8D56"/>
          </a:solidFill>
          <a:ln xmlns:a="http://schemas.openxmlformats.org/drawingml/2006/main" w="0">
            <a:solidFill>
              <a:srgbClr val="4B8D56"/>
            </a:solidFill>
            <a:prstDash val="solid"/>
          </a:ln>
        </p:spPr>
      </p:sp>
      <p:sp>
        <p:nvSpPr>
          <p:cNvPr id="8" name="toc-band-text">
            <a:extLst xmlns:a="http://schemas.openxmlformats.org/drawingml/2006/main">
              <a:ext uri="{FF2B5EF4-FFF2-40B4-BE49-F238E27FC236}">
                <a16:creationId xmlns:a16="http://schemas.microsoft.com/office/drawing/2014/main" id="{41D62C28-4035-4685-B56A-0DADE2BB4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323975"/>
            <a:ext cx="10325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阅读方式: 先总览研究设计和样本，再进入竞品对比、定位造型、卖点生态与建议收束。</a:t>
            </a:r>
          </a:p>
        </p:txBody>
      </p:sp>
      <p:sp>
        <p:nvSpPr>
          <p:cNvPr id="9" name="a-no-0">
            <a:extLst xmlns:a="http://schemas.openxmlformats.org/drawingml/2006/main">
              <a:ext uri="{FF2B5EF4-FFF2-40B4-BE49-F238E27FC236}">
                <a16:creationId xmlns:a16="http://schemas.microsoft.com/office/drawing/2014/main" id="{480F9385-F0F1-405B-B5C7-7E5395C54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764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595757"/>
                </a:solidFill>
              </a:defRPr>
            </a:pPr>
            <a:r>
              <a:rPr sz="1050">
                <a:solidFill>
                  <a:srgbClr val="595757"/>
                </a:solidFill>
              </a:rPr>
              <a:t>01</a:t>
            </a:r>
          </a:p>
        </p:txBody>
      </p:sp>
      <p:sp>
        <p:nvSpPr>
          <p:cNvPr id="10" name="a-text-0">
            <a:extLst xmlns:a="http://schemas.openxmlformats.org/drawingml/2006/main">
              <a:ext uri="{FF2B5EF4-FFF2-40B4-BE49-F238E27FC236}">
                <a16:creationId xmlns:a16="http://schemas.microsoft.com/office/drawing/2014/main" id="{C29D7EA2-CE9E-4F32-B0C1-22DB48FD3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6573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1818"/>
                </a:solidFill>
              </a:defRPr>
            </a:pPr>
            <a:r>
              <a:rPr sz="1350" b="1">
                <a:solidFill>
                  <a:srgbClr val="181818"/>
                </a:solidFill>
              </a:rPr>
              <a:t>01 项目摘要与研究设计</a:t>
            </a:r>
          </a:p>
        </p:txBody>
      </p:sp>
      <p:sp>
        <p:nvSpPr>
          <p:cNvPr id="11" name="a-line-0">
            <a:extLst xmlns:a="http://schemas.openxmlformats.org/drawingml/2006/main">
              <a:ext uri="{FF2B5EF4-FFF2-40B4-BE49-F238E27FC236}">
                <a16:creationId xmlns:a16="http://schemas.microsoft.com/office/drawing/2014/main" id="{2F610D41-1FDE-497A-B0D0-F8534B6E4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43100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a-box-0">
            <a:extLst xmlns:a="http://schemas.openxmlformats.org/drawingml/2006/main">
              <a:ext uri="{FF2B5EF4-FFF2-40B4-BE49-F238E27FC236}">
                <a16:creationId xmlns:a16="http://schemas.microsoft.com/office/drawing/2014/main" id="{63E3C425-C01A-4871-A9A6-1B2102F17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057400"/>
            <a:ext cx="3733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EB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3" name="a-desc-0">
            <a:extLst xmlns:a="http://schemas.openxmlformats.org/drawingml/2006/main">
              <a:ext uri="{FF2B5EF4-FFF2-40B4-BE49-F238E27FC236}">
                <a16:creationId xmlns:a16="http://schemas.microsoft.com/office/drawing/2014/main" id="{E57191C1-B263-4714-B3BD-94E35E7B8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114550"/>
            <a:ext cx="3467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>
                <a:solidFill>
                  <a:srgbClr val="595757"/>
                </a:solidFill>
              </a:defRPr>
            </a:pPr>
            <a:r>
              <a:rPr sz="750">
                <a:solidFill>
                  <a:srgbClr val="595757"/>
                </a:solidFill>
              </a:rPr>
              <a:t>摘要结论、设计逻辑、样本边界</a:t>
            </a:r>
          </a:p>
        </p:txBody>
      </p:sp>
      <p:sp>
        <p:nvSpPr>
          <p:cNvPr id="14" name="a-no-1">
            <a:extLst xmlns:a="http://schemas.openxmlformats.org/drawingml/2006/main">
              <a:ext uri="{FF2B5EF4-FFF2-40B4-BE49-F238E27FC236}">
                <a16:creationId xmlns:a16="http://schemas.microsoft.com/office/drawing/2014/main" id="{05030F76-3767-4385-8730-AB872030C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4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595757"/>
                </a:solidFill>
              </a:defRPr>
            </a:pPr>
            <a:r>
              <a:rPr sz="1050">
                <a:solidFill>
                  <a:srgbClr val="595757"/>
                </a:solidFill>
              </a:rPr>
              <a:t>02</a:t>
            </a:r>
          </a:p>
        </p:txBody>
      </p:sp>
      <p:sp>
        <p:nvSpPr>
          <p:cNvPr id="15" name="a-text-1">
            <a:extLst xmlns:a="http://schemas.openxmlformats.org/drawingml/2006/main">
              <a:ext uri="{FF2B5EF4-FFF2-40B4-BE49-F238E27FC236}">
                <a16:creationId xmlns:a16="http://schemas.microsoft.com/office/drawing/2014/main" id="{FC3EA92E-197E-4FE2-B741-637B1B04F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6289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1818"/>
                </a:solidFill>
              </a:defRPr>
            </a:pPr>
            <a:r>
              <a:rPr sz="1350" b="1">
                <a:solidFill>
                  <a:srgbClr val="181818"/>
                </a:solidFill>
              </a:rPr>
              <a:t>02 样本结构与用户画像</a:t>
            </a:r>
          </a:p>
        </p:txBody>
      </p:sp>
      <p:sp>
        <p:nvSpPr>
          <p:cNvPr id="16" name="a-line-1">
            <a:extLst xmlns:a="http://schemas.openxmlformats.org/drawingml/2006/main">
              <a:ext uri="{FF2B5EF4-FFF2-40B4-BE49-F238E27FC236}">
                <a16:creationId xmlns:a16="http://schemas.microsoft.com/office/drawing/2014/main" id="{E30746C3-F1BF-4D25-A8DE-809654870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14650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a-box-1">
            <a:extLst xmlns:a="http://schemas.openxmlformats.org/drawingml/2006/main">
              <a:ext uri="{FF2B5EF4-FFF2-40B4-BE49-F238E27FC236}">
                <a16:creationId xmlns:a16="http://schemas.microsoft.com/office/drawing/2014/main" id="{7865456D-4B3C-4E31-9DBB-90DF0F858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028950"/>
            <a:ext cx="3733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5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8" name="a-desc-1">
            <a:extLst xmlns:a="http://schemas.openxmlformats.org/drawingml/2006/main">
              <a:ext uri="{FF2B5EF4-FFF2-40B4-BE49-F238E27FC236}">
                <a16:creationId xmlns:a16="http://schemas.microsoft.com/office/drawing/2014/main" id="{2A13F039-944A-462B-ADB2-120616E1C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086100"/>
            <a:ext cx="3467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>
                <a:solidFill>
                  <a:srgbClr val="595757"/>
                </a:solidFill>
              </a:defRPr>
            </a:pPr>
            <a:r>
              <a:rPr sz="750">
                <a:solidFill>
                  <a:srgbClr val="595757"/>
                </a:solidFill>
              </a:rPr>
              <a:t>用户原型、需求与进入路径</a:t>
            </a:r>
          </a:p>
        </p:txBody>
      </p:sp>
      <p:sp>
        <p:nvSpPr>
          <p:cNvPr id="19" name="a-no-2">
            <a:extLst xmlns:a="http://schemas.openxmlformats.org/drawingml/2006/main">
              <a:ext uri="{FF2B5EF4-FFF2-40B4-BE49-F238E27FC236}">
                <a16:creationId xmlns:a16="http://schemas.microsoft.com/office/drawing/2014/main" id="{F8577C8D-DDE0-429F-92CD-27213E24B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195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595757"/>
                </a:solidFill>
              </a:defRPr>
            </a:pPr>
            <a:r>
              <a:rPr sz="1050">
                <a:solidFill>
                  <a:srgbClr val="595757"/>
                </a:solidFill>
              </a:rPr>
              <a:t>03</a:t>
            </a:r>
          </a:p>
        </p:txBody>
      </p:sp>
      <p:sp>
        <p:nvSpPr>
          <p:cNvPr id="20" name="a-text-2">
            <a:extLst xmlns:a="http://schemas.openxmlformats.org/drawingml/2006/main">
              <a:ext uri="{FF2B5EF4-FFF2-40B4-BE49-F238E27FC236}">
                <a16:creationId xmlns:a16="http://schemas.microsoft.com/office/drawing/2014/main" id="{3C29C29B-A971-4DBE-B714-0D34B0A06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6004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1818"/>
                </a:solidFill>
              </a:defRPr>
            </a:pPr>
            <a:r>
              <a:rPr sz="1350" b="1">
                <a:solidFill>
                  <a:srgbClr val="181818"/>
                </a:solidFill>
              </a:rPr>
              <a:t>03 竞品评价与心智对比</a:t>
            </a:r>
          </a:p>
        </p:txBody>
      </p:sp>
      <p:sp>
        <p:nvSpPr>
          <p:cNvPr id="21" name="a-line-2">
            <a:extLst xmlns:a="http://schemas.openxmlformats.org/drawingml/2006/main">
              <a:ext uri="{FF2B5EF4-FFF2-40B4-BE49-F238E27FC236}">
                <a16:creationId xmlns:a16="http://schemas.microsoft.com/office/drawing/2014/main" id="{34EDABA0-1D61-4514-922B-127257C19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86200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a-box-2">
            <a:extLst xmlns:a="http://schemas.openxmlformats.org/drawingml/2006/main">
              <a:ext uri="{FF2B5EF4-FFF2-40B4-BE49-F238E27FC236}">
                <a16:creationId xmlns:a16="http://schemas.microsoft.com/office/drawing/2014/main" id="{CBD93D69-61E1-4FDD-B562-2BAE9C2F7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000500"/>
            <a:ext cx="3733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EB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3" name="a-desc-2">
            <a:extLst xmlns:a="http://schemas.openxmlformats.org/drawingml/2006/main">
              <a:ext uri="{FF2B5EF4-FFF2-40B4-BE49-F238E27FC236}">
                <a16:creationId xmlns:a16="http://schemas.microsoft.com/office/drawing/2014/main" id="{D512122B-1190-4E41-874C-B1568D9E6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057650"/>
            <a:ext cx="3467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>
                <a:solidFill>
                  <a:srgbClr val="595757"/>
                </a:solidFill>
              </a:defRPr>
            </a:pPr>
            <a:r>
              <a:rPr sz="750">
                <a:solidFill>
                  <a:srgbClr val="595757"/>
                </a:solidFill>
              </a:rPr>
              <a:t>竞品评价、心智迁移与机会空档</a:t>
            </a:r>
          </a:p>
        </p:txBody>
      </p:sp>
      <p:sp>
        <p:nvSpPr>
          <p:cNvPr id="24" name="a-no-3">
            <a:extLst xmlns:a="http://schemas.openxmlformats.org/drawingml/2006/main">
              <a:ext uri="{FF2B5EF4-FFF2-40B4-BE49-F238E27FC236}">
                <a16:creationId xmlns:a16="http://schemas.microsoft.com/office/drawing/2014/main" id="{D0A3A2DC-7534-4EA2-8E37-7969AA7A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764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595757"/>
                </a:solidFill>
              </a:defRPr>
            </a:pPr>
            <a:r>
              <a:rPr sz="1050">
                <a:solidFill>
                  <a:srgbClr val="595757"/>
                </a:solidFill>
              </a:rPr>
              <a:t>04</a:t>
            </a:r>
          </a:p>
        </p:txBody>
      </p:sp>
      <p:sp>
        <p:nvSpPr>
          <p:cNvPr id="25" name="a-text-3">
            <a:extLst xmlns:a="http://schemas.openxmlformats.org/drawingml/2006/main">
              <a:ext uri="{FF2B5EF4-FFF2-40B4-BE49-F238E27FC236}">
                <a16:creationId xmlns:a16="http://schemas.microsoft.com/office/drawing/2014/main" id="{57EF5E7B-36C6-4B69-BEE6-AD01C1D67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6573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1818"/>
                </a:solidFill>
              </a:defRPr>
            </a:pPr>
            <a:r>
              <a:rPr sz="1350" b="1">
                <a:solidFill>
                  <a:srgbClr val="181818"/>
                </a:solidFill>
              </a:rPr>
              <a:t>04 品牌定位与造型判断</a:t>
            </a:r>
          </a:p>
        </p:txBody>
      </p:sp>
      <p:sp>
        <p:nvSpPr>
          <p:cNvPr id="26" name="a-line-3">
            <a:extLst xmlns:a="http://schemas.openxmlformats.org/drawingml/2006/main">
              <a:ext uri="{FF2B5EF4-FFF2-40B4-BE49-F238E27FC236}">
                <a16:creationId xmlns:a16="http://schemas.microsoft.com/office/drawing/2014/main" id="{E7F0A39F-6FB8-416F-8A93-6C48C0410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43100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a-box-3">
            <a:extLst xmlns:a="http://schemas.openxmlformats.org/drawingml/2006/main">
              <a:ext uri="{FF2B5EF4-FFF2-40B4-BE49-F238E27FC236}">
                <a16:creationId xmlns:a16="http://schemas.microsoft.com/office/drawing/2014/main" id="{3DABAFBD-30D7-45AC-82BD-891176205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057400"/>
            <a:ext cx="3733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5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8" name="a-desc-3">
            <a:extLst xmlns:a="http://schemas.openxmlformats.org/drawingml/2006/main">
              <a:ext uri="{FF2B5EF4-FFF2-40B4-BE49-F238E27FC236}">
                <a16:creationId xmlns:a16="http://schemas.microsoft.com/office/drawing/2014/main" id="{4F613B94-F179-4F98-A049-2886D2DB3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114550"/>
            <a:ext cx="3467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>
                <a:solidFill>
                  <a:srgbClr val="595757"/>
                </a:solidFill>
              </a:defRPr>
            </a:pPr>
            <a:r>
              <a:rPr sz="750">
                <a:solidFill>
                  <a:srgbClr val="595757"/>
                </a:solidFill>
              </a:rPr>
              <a:t>定位矩阵、造型判断与卖点转译</a:t>
            </a:r>
          </a:p>
        </p:txBody>
      </p:sp>
      <p:sp>
        <p:nvSpPr>
          <p:cNvPr id="29" name="a-no-4">
            <a:extLst xmlns:a="http://schemas.openxmlformats.org/drawingml/2006/main">
              <a:ext uri="{FF2B5EF4-FFF2-40B4-BE49-F238E27FC236}">
                <a16:creationId xmlns:a16="http://schemas.microsoft.com/office/drawing/2014/main" id="{89EC7D63-DFEE-44BE-9CB1-4AFBC8687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4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595757"/>
                </a:solidFill>
              </a:defRPr>
            </a:pPr>
            <a:r>
              <a:rPr sz="1050">
                <a:solidFill>
                  <a:srgbClr val="595757"/>
                </a:solidFill>
              </a:rPr>
              <a:t>05</a:t>
            </a:r>
          </a:p>
        </p:txBody>
      </p:sp>
      <p:sp>
        <p:nvSpPr>
          <p:cNvPr id="30" name="a-text-4">
            <a:extLst xmlns:a="http://schemas.openxmlformats.org/drawingml/2006/main">
              <a:ext uri="{FF2B5EF4-FFF2-40B4-BE49-F238E27FC236}">
                <a16:creationId xmlns:a16="http://schemas.microsoft.com/office/drawing/2014/main" id="{EEB3C233-0113-475E-86E2-4C993CA9E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6289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1818"/>
                </a:solidFill>
              </a:defRPr>
            </a:pPr>
            <a:r>
              <a:rPr sz="1350" b="1">
                <a:solidFill>
                  <a:srgbClr val="181818"/>
                </a:solidFill>
              </a:rPr>
              <a:t>05 卖点、生态与建议</a:t>
            </a:r>
          </a:p>
        </p:txBody>
      </p:sp>
      <p:sp>
        <p:nvSpPr>
          <p:cNvPr id="31" name="a-line-4">
            <a:extLst xmlns:a="http://schemas.openxmlformats.org/drawingml/2006/main">
              <a:ext uri="{FF2B5EF4-FFF2-40B4-BE49-F238E27FC236}">
                <a16:creationId xmlns:a16="http://schemas.microsoft.com/office/drawing/2014/main" id="{6438CC77-96D8-457F-B312-20BCEEB04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14650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a-box-4">
            <a:extLst xmlns:a="http://schemas.openxmlformats.org/drawingml/2006/main">
              <a:ext uri="{FF2B5EF4-FFF2-40B4-BE49-F238E27FC236}">
                <a16:creationId xmlns:a16="http://schemas.microsoft.com/office/drawing/2014/main" id="{7698C299-B242-4A2B-AEFC-82C48B711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028950"/>
            <a:ext cx="3733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EB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33" name="a-desc-4">
            <a:extLst xmlns:a="http://schemas.openxmlformats.org/drawingml/2006/main">
              <a:ext uri="{FF2B5EF4-FFF2-40B4-BE49-F238E27FC236}">
                <a16:creationId xmlns:a16="http://schemas.microsoft.com/office/drawing/2014/main" id="{B3687C81-4982-4099-B059-3FFD9DA77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086100"/>
            <a:ext cx="3467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>
                <a:solidFill>
                  <a:srgbClr val="595757"/>
                </a:solidFill>
              </a:defRPr>
            </a:pPr>
            <a:r>
              <a:rPr sz="750">
                <a:solidFill>
                  <a:srgbClr val="595757"/>
                </a:solidFill>
              </a:rPr>
              <a:t>生态产品、传播策略与动作建议</a:t>
            </a:r>
          </a:p>
        </p:txBody>
      </p:sp>
      <p:sp>
        <p:nvSpPr>
          <p:cNvPr id="34" name="toc-note-panel">
            <a:extLst xmlns:a="http://schemas.openxmlformats.org/drawingml/2006/main">
              <a:ext uri="{FF2B5EF4-FFF2-40B4-BE49-F238E27FC236}">
                <a16:creationId xmlns:a16="http://schemas.microsoft.com/office/drawing/2014/main" id="{78F2839A-119E-4098-A335-26FF678E7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19500"/>
            <a:ext cx="44767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35" name="toc-note-header">
            <a:extLst xmlns:a="http://schemas.openxmlformats.org/drawingml/2006/main">
              <a:ext uri="{FF2B5EF4-FFF2-40B4-BE49-F238E27FC236}">
                <a16:creationId xmlns:a16="http://schemas.microsoft.com/office/drawing/2014/main" id="{83ECCDB9-A70B-40A0-B385-3707FF3B6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19500"/>
            <a:ext cx="447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8D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toc-note-title">
            <a:extLst xmlns:a="http://schemas.openxmlformats.org/drawingml/2006/main">
              <a:ext uri="{FF2B5EF4-FFF2-40B4-BE49-F238E27FC236}">
                <a16:creationId xmlns:a16="http://schemas.microsoft.com/office/drawing/2014/main" id="{26DFE1C5-93F4-4BD2-BA8D-5E2C781C1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5760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阅读提示</a:t>
            </a:r>
          </a:p>
        </p:txBody>
      </p:sp>
      <p:sp>
        <p:nvSpPr>
          <p:cNvPr id="37" name="toc-note-b-dot-0">
            <a:extLst xmlns:a="http://schemas.openxmlformats.org/drawingml/2006/main">
              <a:ext uri="{FF2B5EF4-FFF2-40B4-BE49-F238E27FC236}">
                <a16:creationId xmlns:a16="http://schemas.microsoft.com/office/drawing/2014/main" id="{8A3EFC1B-334E-40F4-A405-448137BBD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95750"/>
            <a:ext cx="57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1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toc-note-b-text-0">
            <a:extLst xmlns:a="http://schemas.openxmlformats.org/drawingml/2006/main">
              <a:ext uri="{FF2B5EF4-FFF2-40B4-BE49-F238E27FC236}">
                <a16:creationId xmlns:a16="http://schemas.microsoft.com/office/drawing/2014/main" id="{CCA002B2-4DB1-4866-BD65-99CD608D6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38600"/>
            <a:ext cx="3886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181818"/>
                </a:solidFill>
              </a:defRPr>
            </a:pPr>
            <a:r>
              <a:rPr sz="900">
                <a:solidFill>
                  <a:srgbClr val="181818"/>
                </a:solidFill>
              </a:rPr>
              <a:t>先看项目摘要和样本判断，再进入竞品、定位、卖点与生态建议。</a:t>
            </a:r>
          </a:p>
        </p:txBody>
      </p:sp>
      <p:sp>
        <p:nvSpPr>
          <p:cNvPr id="39" name="toc-note-b-dot-1">
            <a:extLst xmlns:a="http://schemas.openxmlformats.org/drawingml/2006/main">
              <a:ext uri="{FF2B5EF4-FFF2-40B4-BE49-F238E27FC236}">
                <a16:creationId xmlns:a16="http://schemas.microsoft.com/office/drawing/2014/main" id="{B4B4CBB4-CF9D-40CB-A48C-8BE235FD5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362450"/>
            <a:ext cx="57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1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toc-note-b-text-1">
            <a:extLst xmlns:a="http://schemas.openxmlformats.org/drawingml/2006/main">
              <a:ext uri="{FF2B5EF4-FFF2-40B4-BE49-F238E27FC236}">
                <a16:creationId xmlns:a16="http://schemas.microsoft.com/office/drawing/2014/main" id="{F28B589D-89BF-4B80-8972-57FA74088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05300"/>
            <a:ext cx="3886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181818"/>
                </a:solidFill>
              </a:defRPr>
            </a:pPr>
            <a:r>
              <a:rPr sz="900">
                <a:solidFill>
                  <a:srgbClr val="181818"/>
                </a:solidFill>
              </a:rPr>
              <a:t>每一部分都围绕用户原话和归纳后的共识展开，不额外引入外部信息。</a:t>
            </a:r>
          </a:p>
        </p:txBody>
      </p:sp>
      <p:sp>
        <p:nvSpPr>
          <p:cNvPr id="41" name="toc-note-b-dot-2">
            <a:extLst xmlns:a="http://schemas.openxmlformats.org/drawingml/2006/main">
              <a:ext uri="{FF2B5EF4-FFF2-40B4-BE49-F238E27FC236}">
                <a16:creationId xmlns:a16="http://schemas.microsoft.com/office/drawing/2014/main" id="{A101BAEA-A15A-49AB-A055-35E619FBF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629150"/>
            <a:ext cx="57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1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toc-note-b-text-2">
            <a:extLst xmlns:a="http://schemas.openxmlformats.org/drawingml/2006/main">
              <a:ext uri="{FF2B5EF4-FFF2-40B4-BE49-F238E27FC236}">
                <a16:creationId xmlns:a16="http://schemas.microsoft.com/office/drawing/2014/main" id="{19367155-E8A8-4BB6-94CD-3F7A4E29B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72000"/>
            <a:ext cx="3886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181818"/>
                </a:solidFill>
              </a:defRPr>
            </a:pPr>
            <a:r>
              <a:rPr sz="900">
                <a:solidFill>
                  <a:srgbClr val="181818"/>
                </a:solidFill>
              </a:rPr>
              <a:t>所有结论继续保持“事实/证据 -&gt; 洞察 -&gt; 建议”的叙事顺序。</a:t>
            </a:r>
          </a:p>
        </p:txBody>
      </p:sp>
    </p:spTree>
    <p:extLst>
      <p:ext uri="{BB962C8B-B14F-4D97-AF65-F5344CB8AC3E}">
        <p14:creationId xmlns:p14="http://schemas.microsoft.com/office/powerpoint/2010/main" val="14427023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B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top-3">
            <a:extLst xmlns:a="http://schemas.openxmlformats.org/drawingml/2006/main">
              <a:ext uri="{FF2B5EF4-FFF2-40B4-BE49-F238E27FC236}">
                <a16:creationId xmlns:a16="http://schemas.microsoft.com/office/drawing/2014/main" id="{AA191A08-0F9C-4E4D-94BB-A651D590B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mark-3">
            <a:extLst xmlns:a="http://schemas.openxmlformats.org/drawingml/2006/main">
              <a:ext uri="{FF2B5EF4-FFF2-40B4-BE49-F238E27FC236}">
                <a16:creationId xmlns:a16="http://schemas.microsoft.com/office/drawing/2014/main" id="{07AEF2EA-C8C5-4012-A4D5-7BE8CA296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3">
            <a:extLst xmlns:a="http://schemas.openxmlformats.org/drawingml/2006/main">
              <a:ext uri="{FF2B5EF4-FFF2-40B4-BE49-F238E27FC236}">
                <a16:creationId xmlns:a16="http://schemas.microsoft.com/office/drawing/2014/main" id="{5FC3AB28-8210-4A06-B1E5-D2610DEA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ource-3">
            <a:extLst xmlns:a="http://schemas.openxmlformats.org/drawingml/2006/main">
              <a:ext uri="{FF2B5EF4-FFF2-40B4-BE49-F238E27FC236}">
                <a16:creationId xmlns:a16="http://schemas.microsoft.com/office/drawing/2014/main" id="{D924D29D-402A-45FA-9F43-19BE237AF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717171"/>
                </a:solidFill>
              </a:defRPr>
            </a:pPr>
            <a:r>
              <a:rPr sz="750">
                <a:solidFill>
                  <a:srgbClr val="717171"/>
                </a:solidFill>
              </a:rPr>
              <a:t>资料来源：会议笔录分析总结_优化版(1).docx，仅基于原文整理</a:t>
            </a:r>
          </a:p>
        </p:txBody>
      </p:sp>
      <p:sp>
        <p:nvSpPr>
          <p:cNvPr id="5" name="page-3">
            <a:extLst xmlns:a="http://schemas.openxmlformats.org/drawingml/2006/main">
              <a:ext uri="{FF2B5EF4-FFF2-40B4-BE49-F238E27FC236}">
                <a16:creationId xmlns:a16="http://schemas.microsoft.com/office/drawing/2014/main" id="{D327D179-CFA6-45EF-A405-C570A8E81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912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717171"/>
                </a:solidFill>
              </a:defRPr>
            </a:pPr>
            <a:r>
              <a:rPr sz="750">
                <a:solidFill>
                  <a:srgbClr val="717171"/>
                </a:solidFill>
              </a:rPr>
              <a:t>03</a:t>
            </a:r>
          </a:p>
        </p:txBody>
      </p:sp>
      <p:sp>
        <p:nvSpPr>
          <p:cNvPr id="6" name="kicker-3">
            <a:extLst xmlns:a="http://schemas.openxmlformats.org/drawingml/2006/main">
              <a:ext uri="{FF2B5EF4-FFF2-40B4-BE49-F238E27FC236}">
                <a16:creationId xmlns:a16="http://schemas.microsoft.com/office/drawing/2014/main" id="{F6FD9D6C-2BC3-4953-AA4A-3C37D3A00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77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06124"/>
                </a:solidFill>
              </a:defRPr>
            </a:pPr>
            <a:r>
              <a:rPr sz="825" b="1">
                <a:solidFill>
                  <a:srgbClr val="F06124"/>
                </a:solidFill>
              </a:rPr>
              <a:t>EXECUTIVE SUMMARY</a:t>
            </a:r>
          </a:p>
        </p:txBody>
      </p:sp>
      <p:sp>
        <p:nvSpPr>
          <p:cNvPr id="7" name="title-3">
            <a:extLst xmlns:a="http://schemas.openxmlformats.org/drawingml/2006/main">
              <a:ext uri="{FF2B5EF4-FFF2-40B4-BE49-F238E27FC236}">
                <a16:creationId xmlns:a16="http://schemas.microsoft.com/office/drawing/2014/main" id="{BD571783-E3C0-4BF8-9487-DD41BB055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1818"/>
                </a:solidFill>
              </a:defRPr>
            </a:pPr>
            <a:r>
              <a:rPr sz="2100" b="1">
                <a:solidFill>
                  <a:srgbClr val="181818"/>
                </a:solidFill>
              </a:rPr>
              <a:t>项目摘要 1/3</a:t>
            </a:r>
          </a:p>
        </p:txBody>
      </p:sp>
      <p:sp>
        <p:nvSpPr>
          <p:cNvPr id="8" name="sum-top-band">
            <a:extLst xmlns:a="http://schemas.openxmlformats.org/drawingml/2006/main">
              <a:ext uri="{FF2B5EF4-FFF2-40B4-BE49-F238E27FC236}">
                <a16:creationId xmlns:a16="http://schemas.microsoft.com/office/drawing/2014/main" id="{61B98B5F-A674-44C1-AB59-5542541B4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76350"/>
            <a:ext cx="10515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4"/>
          </a:solidFill>
          <a:ln xmlns:a="http://schemas.openxmlformats.org/drawingml/2006/main" w="0">
            <a:solidFill>
              <a:srgbClr val="141414"/>
            </a:solidFill>
            <a:prstDash val="solid"/>
          </a:ln>
        </p:spPr>
      </p:sp>
      <p:sp>
        <p:nvSpPr>
          <p:cNvPr id="9" name="sum-top-text">
            <a:extLst xmlns:a="http://schemas.openxmlformats.org/drawingml/2006/main">
              <a:ext uri="{FF2B5EF4-FFF2-40B4-BE49-F238E27FC236}">
                <a16:creationId xmlns:a16="http://schemas.microsoft.com/office/drawing/2014/main" id="{6E9CFE3E-3B8B-4EA9-82CF-2FD0AF67B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323975"/>
            <a:ext cx="10325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总括结论: 用户想要的不是更硬核的单一越野工具，而是更完整的豪华越野生活解决方案。</a:t>
            </a:r>
          </a:p>
        </p:txBody>
      </p:sp>
      <p:sp>
        <p:nvSpPr>
          <p:cNvPr id="10" name="sum-left-panel">
            <a:extLst xmlns:a="http://schemas.openxmlformats.org/drawingml/2006/main">
              <a:ext uri="{FF2B5EF4-FFF2-40B4-BE49-F238E27FC236}">
                <a16:creationId xmlns:a16="http://schemas.microsoft.com/office/drawing/2014/main" id="{07B97F27-EDB6-4770-9D35-B6D489E89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24000"/>
            <a:ext cx="3276600" cy="401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1" name="sum-left-header">
            <a:extLst xmlns:a="http://schemas.openxmlformats.org/drawingml/2006/main">
              <a:ext uri="{FF2B5EF4-FFF2-40B4-BE49-F238E27FC236}">
                <a16:creationId xmlns:a16="http://schemas.microsoft.com/office/drawing/2014/main" id="{62511C42-10BD-4AF5-A45F-8447EABA3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24000"/>
            <a:ext cx="3276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8D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um-left-title">
            <a:extLst xmlns:a="http://schemas.openxmlformats.org/drawingml/2006/main">
              <a:ext uri="{FF2B5EF4-FFF2-40B4-BE49-F238E27FC236}">
                <a16:creationId xmlns:a16="http://schemas.microsoft.com/office/drawing/2014/main" id="{F72EB7B5-2B5D-4DEA-98A2-CFC32CADC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562100"/>
            <a:ext cx="3086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核心判断</a:t>
            </a:r>
          </a:p>
        </p:txBody>
      </p:sp>
      <p:sp>
        <p:nvSpPr>
          <p:cNvPr id="13" name="sum-hero">
            <a:extLst xmlns:a="http://schemas.openxmlformats.org/drawingml/2006/main">
              <a:ext uri="{FF2B5EF4-FFF2-40B4-BE49-F238E27FC236}">
                <a16:creationId xmlns:a16="http://schemas.microsoft.com/office/drawing/2014/main" id="{0A616981-A3D7-45BE-B214-1780FE1B2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62150"/>
            <a:ext cx="2819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1818"/>
                </a:solidFill>
              </a:defRPr>
            </a:pPr>
            <a:r>
              <a:rPr sz="2250" b="1">
                <a:solidFill>
                  <a:srgbClr val="181818"/>
                </a:solidFill>
              </a:rPr>
              <a:t>用户期待的不是更硬核，而是更完整的豪华越野解法</a:t>
            </a:r>
          </a:p>
        </p:txBody>
      </p:sp>
      <p:sp>
        <p:nvSpPr>
          <p:cNvPr id="14" name="sum-l-b-dot-0">
            <a:extLst xmlns:a="http://schemas.openxmlformats.org/drawingml/2006/main">
              <a:ext uri="{FF2B5EF4-FFF2-40B4-BE49-F238E27FC236}">
                <a16:creationId xmlns:a16="http://schemas.microsoft.com/office/drawing/2014/main" id="{2AF0B296-E8A5-47B0-9E44-AC226720F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24250"/>
            <a:ext cx="57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1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um-l-b-text-0">
            <a:extLst xmlns:a="http://schemas.openxmlformats.org/drawingml/2006/main">
              <a:ext uri="{FF2B5EF4-FFF2-40B4-BE49-F238E27FC236}">
                <a16:creationId xmlns:a16="http://schemas.microsoft.com/office/drawing/2014/main" id="{9383EC10-24A7-421E-88CA-0B1C742A6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67100"/>
            <a:ext cx="2590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181818"/>
                </a:solidFill>
              </a:defRPr>
            </a:pPr>
            <a:r>
              <a:rPr sz="1050">
                <a:solidFill>
                  <a:srgbClr val="181818"/>
                </a:solidFill>
              </a:rPr>
              <a:t>目标用户由城市精英、家庭用户、轻越野用户和理想/问界增换购用户构成。</a:t>
            </a:r>
          </a:p>
        </p:txBody>
      </p:sp>
      <p:sp>
        <p:nvSpPr>
          <p:cNvPr id="16" name="sum-l-b-dot-1">
            <a:extLst xmlns:a="http://schemas.openxmlformats.org/drawingml/2006/main">
              <a:ext uri="{FF2B5EF4-FFF2-40B4-BE49-F238E27FC236}">
                <a16:creationId xmlns:a16="http://schemas.microsoft.com/office/drawing/2014/main" id="{E609C047-2280-4A58-984F-A4DC12267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86200"/>
            <a:ext cx="57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1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um-l-b-text-1">
            <a:extLst xmlns:a="http://schemas.openxmlformats.org/drawingml/2006/main">
              <a:ext uri="{FF2B5EF4-FFF2-40B4-BE49-F238E27FC236}">
                <a16:creationId xmlns:a16="http://schemas.microsoft.com/office/drawing/2014/main" id="{1499FBF0-0654-48FA-92D7-DD09706E7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29050"/>
            <a:ext cx="2590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181818"/>
                </a:solidFill>
              </a:defRPr>
            </a:pPr>
            <a:r>
              <a:rPr sz="1050">
                <a:solidFill>
                  <a:srgbClr val="181818"/>
                </a:solidFill>
              </a:rPr>
              <a:t>产品方向可概括为“西装暴徒”：科技豪华外表 + 不弱的越野性能。</a:t>
            </a:r>
          </a:p>
        </p:txBody>
      </p:sp>
      <p:sp>
        <p:nvSpPr>
          <p:cNvPr id="18" name="sum-l-b-dot-2">
            <a:extLst xmlns:a="http://schemas.openxmlformats.org/drawingml/2006/main">
              <a:ext uri="{FF2B5EF4-FFF2-40B4-BE49-F238E27FC236}">
                <a16:creationId xmlns:a16="http://schemas.microsoft.com/office/drawing/2014/main" id="{427E7C75-2A2B-4586-87F5-C4C602420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48150"/>
            <a:ext cx="57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1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um-l-b-text-2">
            <a:extLst xmlns:a="http://schemas.openxmlformats.org/drawingml/2006/main">
              <a:ext uri="{FF2B5EF4-FFF2-40B4-BE49-F238E27FC236}">
                <a16:creationId xmlns:a16="http://schemas.microsoft.com/office/drawing/2014/main" id="{2C697636-2429-45CC-8686-CA184AA10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91000"/>
            <a:ext cx="2590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181818"/>
                </a:solidFill>
              </a:defRPr>
            </a:pPr>
            <a:r>
              <a:rPr sz="1050">
                <a:solidFill>
                  <a:srgbClr val="181818"/>
                </a:solidFill>
              </a:rPr>
              <a:t>最大风险是造型偏城市化，导致用户难以一眼感知越野内核。</a:t>
            </a:r>
          </a:p>
        </p:txBody>
      </p:sp>
      <p:sp>
        <p:nvSpPr>
          <p:cNvPr id="20" name="sum-right-h-0">
            <a:extLst xmlns:a="http://schemas.openxmlformats.org/drawingml/2006/main">
              <a:ext uri="{FF2B5EF4-FFF2-40B4-BE49-F238E27FC236}">
                <a16:creationId xmlns:a16="http://schemas.microsoft.com/office/drawing/2014/main" id="{F018289B-6DEB-429A-B226-96BDA5AFA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524000"/>
            <a:ext cx="1047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8D56"/>
          </a:solidFill>
          <a:ln xmlns:a="http://schemas.openxmlformats.org/drawingml/2006/main" w="0">
            <a:solidFill>
              <a:srgbClr val="4B8D56"/>
            </a:solidFill>
            <a:prstDash val="solid"/>
          </a:ln>
        </p:spPr>
      </p:sp>
      <p:sp>
        <p:nvSpPr>
          <p:cNvPr id="21" name="sum-right-ht-0">
            <a:extLst xmlns:a="http://schemas.openxmlformats.org/drawingml/2006/main">
              <a:ext uri="{FF2B5EF4-FFF2-40B4-BE49-F238E27FC236}">
                <a16:creationId xmlns:a16="http://schemas.microsoft.com/office/drawing/2014/main" id="{F127AE73-615E-4415-B33E-2970FFCD8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58115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维度</a:t>
            </a:r>
          </a:p>
        </p:txBody>
      </p:sp>
      <p:sp>
        <p:nvSpPr>
          <p:cNvPr id="22" name="sum-right-h-1">
            <a:extLst xmlns:a="http://schemas.openxmlformats.org/drawingml/2006/main">
              <a:ext uri="{FF2B5EF4-FFF2-40B4-BE49-F238E27FC236}">
                <a16:creationId xmlns:a16="http://schemas.microsoft.com/office/drawing/2014/main" id="{EB9C7273-3CE4-47E3-B530-C2C948620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524000"/>
            <a:ext cx="2781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8D56"/>
          </a:solidFill>
          <a:ln xmlns:a="http://schemas.openxmlformats.org/drawingml/2006/main" w="0">
            <a:solidFill>
              <a:srgbClr val="4B8D56"/>
            </a:solidFill>
            <a:prstDash val="solid"/>
          </a:ln>
        </p:spPr>
      </p:sp>
      <p:sp>
        <p:nvSpPr>
          <p:cNvPr id="23" name="sum-right-ht-1">
            <a:extLst xmlns:a="http://schemas.openxmlformats.org/drawingml/2006/main">
              <a:ext uri="{FF2B5EF4-FFF2-40B4-BE49-F238E27FC236}">
                <a16:creationId xmlns:a16="http://schemas.microsoft.com/office/drawing/2014/main" id="{C2986F56-4C4F-4C75-99B1-F288730E9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5811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观察</a:t>
            </a:r>
          </a:p>
        </p:txBody>
      </p:sp>
      <p:sp>
        <p:nvSpPr>
          <p:cNvPr id="24" name="sum-right-h-2">
            <a:extLst xmlns:a="http://schemas.openxmlformats.org/drawingml/2006/main">
              <a:ext uri="{FF2B5EF4-FFF2-40B4-BE49-F238E27FC236}">
                <a16:creationId xmlns:a16="http://schemas.microsoft.com/office/drawing/2014/main" id="{752585D1-91DC-4152-9147-25F3D45D4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524000"/>
            <a:ext cx="3162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8D56"/>
          </a:solidFill>
          <a:ln xmlns:a="http://schemas.openxmlformats.org/drawingml/2006/main" w="0">
            <a:solidFill>
              <a:srgbClr val="4B8D56"/>
            </a:solidFill>
            <a:prstDash val="solid"/>
          </a:ln>
        </p:spPr>
      </p:sp>
      <p:sp>
        <p:nvSpPr>
          <p:cNvPr id="25" name="sum-right-ht-2">
            <a:extLst xmlns:a="http://schemas.openxmlformats.org/drawingml/2006/main">
              <a:ext uri="{FF2B5EF4-FFF2-40B4-BE49-F238E27FC236}">
                <a16:creationId xmlns:a16="http://schemas.microsoft.com/office/drawing/2014/main" id="{72599D8A-E5C4-4E3E-AF19-6EBA77177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58115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商务含义</a:t>
            </a:r>
          </a:p>
        </p:txBody>
      </p:sp>
      <p:sp>
        <p:nvSpPr>
          <p:cNvPr id="26" name="sum-right-c-0-0">
            <a:extLst xmlns:a="http://schemas.openxmlformats.org/drawingml/2006/main">
              <a:ext uri="{FF2B5EF4-FFF2-40B4-BE49-F238E27FC236}">
                <a16:creationId xmlns:a16="http://schemas.microsoft.com/office/drawing/2014/main" id="{E7AFA13E-A6EF-4E9A-9911-D8D799DF6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28800"/>
            <a:ext cx="1047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7" name="sum-right-ct-0-0">
            <a:extLst xmlns:a="http://schemas.openxmlformats.org/drawingml/2006/main">
              <a:ext uri="{FF2B5EF4-FFF2-40B4-BE49-F238E27FC236}">
                <a16:creationId xmlns:a16="http://schemas.microsoft.com/office/drawing/2014/main" id="{89682A0D-AA8B-4EE4-9A58-13571C634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885950"/>
            <a:ext cx="933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81818"/>
                </a:solidFill>
              </a:defRPr>
            </a:pPr>
            <a:r>
              <a:rPr sz="825" b="1">
                <a:solidFill>
                  <a:srgbClr val="181818"/>
                </a:solidFill>
              </a:rPr>
              <a:t>用户期待</a:t>
            </a:r>
          </a:p>
        </p:txBody>
      </p:sp>
      <p:sp>
        <p:nvSpPr>
          <p:cNvPr id="28" name="sum-right-c-0-1">
            <a:extLst xmlns:a="http://schemas.openxmlformats.org/drawingml/2006/main">
              <a:ext uri="{FF2B5EF4-FFF2-40B4-BE49-F238E27FC236}">
                <a16:creationId xmlns:a16="http://schemas.microsoft.com/office/drawing/2014/main" id="{372AA831-2BF1-447A-A1CE-4BE0E721C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828800"/>
            <a:ext cx="27813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9" name="sum-right-ct-0-1">
            <a:extLst xmlns:a="http://schemas.openxmlformats.org/drawingml/2006/main">
              <a:ext uri="{FF2B5EF4-FFF2-40B4-BE49-F238E27FC236}">
                <a16:creationId xmlns:a16="http://schemas.microsoft.com/office/drawing/2014/main" id="{A80145BC-D3E8-4169-A0B3-A71AE703C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88595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81818"/>
                </a:solidFill>
              </a:defRPr>
            </a:pPr>
            <a:r>
              <a:rPr sz="750" b="0">
                <a:solidFill>
                  <a:srgbClr val="181818"/>
                </a:solidFill>
              </a:rPr>
              <a:t>城市可用、家庭舒适、智能先进、空间充裕、具备户外能力且外观有个性。</a:t>
            </a:r>
          </a:p>
        </p:txBody>
      </p:sp>
      <p:sp>
        <p:nvSpPr>
          <p:cNvPr id="30" name="sum-right-c-0-2">
            <a:extLst xmlns:a="http://schemas.openxmlformats.org/drawingml/2006/main">
              <a:ext uri="{FF2B5EF4-FFF2-40B4-BE49-F238E27FC236}">
                <a16:creationId xmlns:a16="http://schemas.microsoft.com/office/drawing/2014/main" id="{6D0D38FF-7CD9-4931-B5C1-D20A0663F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28800"/>
            <a:ext cx="31623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31" name="sum-right-ct-0-2">
            <a:extLst xmlns:a="http://schemas.openxmlformats.org/drawingml/2006/main">
              <a:ext uri="{FF2B5EF4-FFF2-40B4-BE49-F238E27FC236}">
                <a16:creationId xmlns:a16="http://schemas.microsoft.com/office/drawing/2014/main" id="{64603D3A-1103-4759-A284-117BA0DF1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885950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81818"/>
                </a:solidFill>
              </a:defRPr>
            </a:pPr>
            <a:r>
              <a:rPr sz="750" b="0">
                <a:solidFill>
                  <a:srgbClr val="181818"/>
                </a:solidFill>
              </a:rPr>
              <a:t>不能把产品做成“平均主义 SUV”，而要有明确的豪华越野倾向。</a:t>
            </a:r>
          </a:p>
        </p:txBody>
      </p:sp>
      <p:sp>
        <p:nvSpPr>
          <p:cNvPr id="32" name="sum-right-c-1-0">
            <a:extLst xmlns:a="http://schemas.openxmlformats.org/drawingml/2006/main">
              <a:ext uri="{FF2B5EF4-FFF2-40B4-BE49-F238E27FC236}">
                <a16:creationId xmlns:a16="http://schemas.microsoft.com/office/drawing/2014/main" id="{E3063EC8-C47F-4565-9CBF-E6C4F2A16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533650"/>
            <a:ext cx="1047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33" name="sum-right-ct-1-0">
            <a:extLst xmlns:a="http://schemas.openxmlformats.org/drawingml/2006/main">
              <a:ext uri="{FF2B5EF4-FFF2-40B4-BE49-F238E27FC236}">
                <a16:creationId xmlns:a16="http://schemas.microsoft.com/office/drawing/2014/main" id="{FC22EC6E-8BB9-458E-AF83-F99CBA240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90800"/>
            <a:ext cx="933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81818"/>
                </a:solidFill>
              </a:defRPr>
            </a:pPr>
            <a:r>
              <a:rPr sz="825" b="1">
                <a:solidFill>
                  <a:srgbClr val="181818"/>
                </a:solidFill>
              </a:rPr>
              <a:t>竞争空档</a:t>
            </a:r>
          </a:p>
        </p:txBody>
      </p:sp>
      <p:sp>
        <p:nvSpPr>
          <p:cNvPr id="34" name="sum-right-c-1-1">
            <a:extLst xmlns:a="http://schemas.openxmlformats.org/drawingml/2006/main">
              <a:ext uri="{FF2B5EF4-FFF2-40B4-BE49-F238E27FC236}">
                <a16:creationId xmlns:a16="http://schemas.microsoft.com/office/drawing/2014/main" id="{C2818768-581E-40F2-9DCD-815D8954F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533650"/>
            <a:ext cx="27813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35" name="sum-right-ct-1-1">
            <a:extLst xmlns:a="http://schemas.openxmlformats.org/drawingml/2006/main">
              <a:ext uri="{FF2B5EF4-FFF2-40B4-BE49-F238E27FC236}">
                <a16:creationId xmlns:a16="http://schemas.microsoft.com/office/drawing/2014/main" id="{04729BDB-F37D-40EF-91DD-DD49FF8C4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59080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81818"/>
                </a:solidFill>
              </a:defRPr>
            </a:pPr>
            <a:r>
              <a:rPr sz="750" b="0">
                <a:solidFill>
                  <a:srgbClr val="181818"/>
                </a:solidFill>
              </a:rPr>
              <a:t>理想/问界强在舒适智能，坦克/烈马强在越野个性。</a:t>
            </a:r>
          </a:p>
        </p:txBody>
      </p:sp>
      <p:sp>
        <p:nvSpPr>
          <p:cNvPr id="36" name="sum-right-c-1-2">
            <a:extLst xmlns:a="http://schemas.openxmlformats.org/drawingml/2006/main">
              <a:ext uri="{FF2B5EF4-FFF2-40B4-BE49-F238E27FC236}">
                <a16:creationId xmlns:a16="http://schemas.microsoft.com/office/drawing/2014/main" id="{F41B9AD4-4FD3-4D88-8CDF-B4C43837F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33650"/>
            <a:ext cx="31623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37" name="sum-right-ct-1-2">
            <a:extLst xmlns:a="http://schemas.openxmlformats.org/drawingml/2006/main">
              <a:ext uri="{FF2B5EF4-FFF2-40B4-BE49-F238E27FC236}">
                <a16:creationId xmlns:a16="http://schemas.microsoft.com/office/drawing/2014/main" id="{9F746AA9-7C27-41C5-8077-EE08FEF7F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90800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81818"/>
                </a:solidFill>
              </a:defRPr>
            </a:pPr>
            <a:r>
              <a:rPr sz="750" b="0">
                <a:solidFill>
                  <a:srgbClr val="181818"/>
                </a:solidFill>
              </a:rPr>
              <a:t>机会在于把两种优势组合到同一产品上。</a:t>
            </a:r>
          </a:p>
        </p:txBody>
      </p:sp>
      <p:sp>
        <p:nvSpPr>
          <p:cNvPr id="38" name="sum-right-c-2-0">
            <a:extLst xmlns:a="http://schemas.openxmlformats.org/drawingml/2006/main">
              <a:ext uri="{FF2B5EF4-FFF2-40B4-BE49-F238E27FC236}">
                <a16:creationId xmlns:a16="http://schemas.microsoft.com/office/drawing/2014/main" id="{A468C301-C69B-4960-A582-256077D8B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238500"/>
            <a:ext cx="1047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39" name="sum-right-ct-2-0">
            <a:extLst xmlns:a="http://schemas.openxmlformats.org/drawingml/2006/main">
              <a:ext uri="{FF2B5EF4-FFF2-40B4-BE49-F238E27FC236}">
                <a16:creationId xmlns:a16="http://schemas.microsoft.com/office/drawing/2014/main" id="{B63C46E6-4FE2-48AE-8972-7C44ABD4F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295650"/>
            <a:ext cx="933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81818"/>
                </a:solidFill>
              </a:defRPr>
            </a:pPr>
            <a:r>
              <a:rPr sz="825" b="1">
                <a:solidFill>
                  <a:srgbClr val="181818"/>
                </a:solidFill>
              </a:rPr>
              <a:t>说服门槛</a:t>
            </a:r>
          </a:p>
        </p:txBody>
      </p:sp>
      <p:sp>
        <p:nvSpPr>
          <p:cNvPr id="40" name="sum-right-c-2-1">
            <a:extLst xmlns:a="http://schemas.openxmlformats.org/drawingml/2006/main">
              <a:ext uri="{FF2B5EF4-FFF2-40B4-BE49-F238E27FC236}">
                <a16:creationId xmlns:a16="http://schemas.microsoft.com/office/drawing/2014/main" id="{3A46FA0B-CE88-43BA-A74B-6A38EB8D3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238500"/>
            <a:ext cx="27813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41" name="sum-right-ct-2-1">
            <a:extLst xmlns:a="http://schemas.openxmlformats.org/drawingml/2006/main">
              <a:ext uri="{FF2B5EF4-FFF2-40B4-BE49-F238E27FC236}">
                <a16:creationId xmlns:a16="http://schemas.microsoft.com/office/drawing/2014/main" id="{B3CF844D-3CA3-45CC-BD5A-FAF4C2724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29565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81818"/>
                </a:solidFill>
              </a:defRPr>
            </a:pPr>
            <a:r>
              <a:rPr sz="750" b="0">
                <a:solidFill>
                  <a:srgbClr val="181818"/>
                </a:solidFill>
              </a:rPr>
              <a:t>大梁、三把锁、涉水、防水三电等技术点对理想/问界用户有理解门槛。</a:t>
            </a:r>
          </a:p>
        </p:txBody>
      </p:sp>
      <p:sp>
        <p:nvSpPr>
          <p:cNvPr id="42" name="sum-right-c-2-2">
            <a:extLst xmlns:a="http://schemas.openxmlformats.org/drawingml/2006/main">
              <a:ext uri="{FF2B5EF4-FFF2-40B4-BE49-F238E27FC236}">
                <a16:creationId xmlns:a16="http://schemas.microsoft.com/office/drawing/2014/main" id="{BF80D586-282F-4388-9BDA-0A29AA8DD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38500"/>
            <a:ext cx="31623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43" name="sum-right-ct-2-2">
            <a:extLst xmlns:a="http://schemas.openxmlformats.org/drawingml/2006/main">
              <a:ext uri="{FF2B5EF4-FFF2-40B4-BE49-F238E27FC236}">
                <a16:creationId xmlns:a16="http://schemas.microsoft.com/office/drawing/2014/main" id="{9648D9E7-0777-449B-9CBD-E341090B3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295650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81818"/>
                </a:solidFill>
              </a:defRPr>
            </a:pPr>
            <a:r>
              <a:rPr sz="750" b="0">
                <a:solidFill>
                  <a:srgbClr val="181818"/>
                </a:solidFill>
              </a:rPr>
              <a:t>卖点必须转译成家庭安全、耐用和远行可靠。</a:t>
            </a:r>
          </a:p>
        </p:txBody>
      </p:sp>
      <p:sp>
        <p:nvSpPr>
          <p:cNvPr id="44" name="sum-right-c-3-0">
            <a:extLst xmlns:a="http://schemas.openxmlformats.org/drawingml/2006/main">
              <a:ext uri="{FF2B5EF4-FFF2-40B4-BE49-F238E27FC236}">
                <a16:creationId xmlns:a16="http://schemas.microsoft.com/office/drawing/2014/main" id="{80945CA5-23EB-48AA-97A4-CECAA8E68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943350"/>
            <a:ext cx="1047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45" name="sum-right-ct-3-0">
            <a:extLst xmlns:a="http://schemas.openxmlformats.org/drawingml/2006/main">
              <a:ext uri="{FF2B5EF4-FFF2-40B4-BE49-F238E27FC236}">
                <a16:creationId xmlns:a16="http://schemas.microsoft.com/office/drawing/2014/main" id="{C96B21FF-8FAF-4331-8737-192C7CBD5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000500"/>
            <a:ext cx="933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81818"/>
                </a:solidFill>
              </a:defRPr>
            </a:pPr>
            <a:r>
              <a:rPr sz="825" b="1">
                <a:solidFill>
                  <a:srgbClr val="181818"/>
                </a:solidFill>
              </a:rPr>
              <a:t>传播原则</a:t>
            </a:r>
          </a:p>
        </p:txBody>
      </p:sp>
      <p:sp>
        <p:nvSpPr>
          <p:cNvPr id="46" name="sum-right-c-3-1">
            <a:extLst xmlns:a="http://schemas.openxmlformats.org/drawingml/2006/main">
              <a:ext uri="{FF2B5EF4-FFF2-40B4-BE49-F238E27FC236}">
                <a16:creationId xmlns:a16="http://schemas.microsoft.com/office/drawing/2014/main" id="{5430309E-6EE7-4C3E-9D84-6BA9C41CF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943350"/>
            <a:ext cx="27813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47" name="sum-right-ct-3-1">
            <a:extLst xmlns:a="http://schemas.openxmlformats.org/drawingml/2006/main">
              <a:ext uri="{FF2B5EF4-FFF2-40B4-BE49-F238E27FC236}">
                <a16:creationId xmlns:a16="http://schemas.microsoft.com/office/drawing/2014/main" id="{AF985388-B40C-4907-BA0E-1AC7C432F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00050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81818"/>
                </a:solidFill>
              </a:defRPr>
            </a:pPr>
            <a:r>
              <a:rPr sz="750" b="0">
                <a:solidFill>
                  <a:srgbClr val="181818"/>
                </a:solidFill>
              </a:rPr>
              <a:t>不要只讲参数强，而要讲“为什么一家人会因此更愿意出发”。</a:t>
            </a:r>
          </a:p>
        </p:txBody>
      </p:sp>
      <p:sp>
        <p:nvSpPr>
          <p:cNvPr id="48" name="sum-right-c-3-2">
            <a:extLst xmlns:a="http://schemas.openxmlformats.org/drawingml/2006/main">
              <a:ext uri="{FF2B5EF4-FFF2-40B4-BE49-F238E27FC236}">
                <a16:creationId xmlns:a16="http://schemas.microsoft.com/office/drawing/2014/main" id="{7FA6F70F-9F77-487E-8836-3ECE00F37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43350"/>
            <a:ext cx="31623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49" name="sum-right-ct-3-2">
            <a:extLst xmlns:a="http://schemas.openxmlformats.org/drawingml/2006/main">
              <a:ext uri="{FF2B5EF4-FFF2-40B4-BE49-F238E27FC236}">
                <a16:creationId xmlns:a16="http://schemas.microsoft.com/office/drawing/2014/main" id="{5233DAEA-5C70-4BB6-8436-2D700BE25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000500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81818"/>
                </a:solidFill>
              </a:defRPr>
            </a:pPr>
            <a:r>
              <a:rPr sz="750" b="0">
                <a:solidFill>
                  <a:srgbClr val="181818"/>
                </a:solidFill>
              </a:rPr>
              <a:t>提升豪华越野叙事的生活化表达。</a:t>
            </a:r>
          </a:p>
        </p:txBody>
      </p:sp>
      <p:sp>
        <p:nvSpPr>
          <p:cNvPr id="50" name="sum-chips-chip-0">
            <a:extLst xmlns:a="http://schemas.openxmlformats.org/drawingml/2006/main">
              <a:ext uri="{FF2B5EF4-FFF2-40B4-BE49-F238E27FC236}">
                <a16:creationId xmlns:a16="http://schemas.microsoft.com/office/drawing/2014/main" id="{FB7E9B53-A619-4E7A-B640-7F7DCD192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15000"/>
            <a:ext cx="2552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EB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51" name="sum-chips-chip-text-0">
            <a:extLst xmlns:a="http://schemas.openxmlformats.org/drawingml/2006/main">
              <a:ext uri="{FF2B5EF4-FFF2-40B4-BE49-F238E27FC236}">
                <a16:creationId xmlns:a16="http://schemas.microsoft.com/office/drawing/2014/main" id="{675CCE32-09E8-495E-9008-194A5E6D4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2438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81818"/>
                </a:solidFill>
              </a:defRPr>
            </a:pPr>
            <a:r>
              <a:rPr sz="675" b="1">
                <a:solidFill>
                  <a:srgbClr val="181818"/>
                </a:solidFill>
              </a:rPr>
              <a:t>用户期待: 豪华越野兼得</a:t>
            </a:r>
          </a:p>
        </p:txBody>
      </p:sp>
      <p:sp>
        <p:nvSpPr>
          <p:cNvPr id="52" name="sum-chips-chip-1">
            <a:extLst xmlns:a="http://schemas.openxmlformats.org/drawingml/2006/main">
              <a:ext uri="{FF2B5EF4-FFF2-40B4-BE49-F238E27FC236}">
                <a16:creationId xmlns:a16="http://schemas.microsoft.com/office/drawing/2014/main" id="{58CBC289-85C9-4A1A-B39E-1D7A33D96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715000"/>
            <a:ext cx="2552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5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53" name="sum-chips-chip-text-1">
            <a:extLst xmlns:a="http://schemas.openxmlformats.org/drawingml/2006/main">
              <a:ext uri="{FF2B5EF4-FFF2-40B4-BE49-F238E27FC236}">
                <a16:creationId xmlns:a16="http://schemas.microsoft.com/office/drawing/2014/main" id="{016F955C-F64B-4865-9487-14D195800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772150"/>
            <a:ext cx="2438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81818"/>
                </a:solidFill>
              </a:defRPr>
            </a:pPr>
            <a:r>
              <a:rPr sz="675" b="1">
                <a:solidFill>
                  <a:srgbClr val="181818"/>
                </a:solidFill>
              </a:rPr>
              <a:t>竞争空档: 舒适 x 越野</a:t>
            </a:r>
          </a:p>
        </p:txBody>
      </p:sp>
      <p:sp>
        <p:nvSpPr>
          <p:cNvPr id="54" name="sum-chips-chip-2">
            <a:extLst xmlns:a="http://schemas.openxmlformats.org/drawingml/2006/main">
              <a:ext uri="{FF2B5EF4-FFF2-40B4-BE49-F238E27FC236}">
                <a16:creationId xmlns:a16="http://schemas.microsoft.com/office/drawing/2014/main" id="{DA2CC7E0-266D-45F5-860A-9660DBCE9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715000"/>
            <a:ext cx="2552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E9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55" name="sum-chips-chip-text-2">
            <a:extLst xmlns:a="http://schemas.openxmlformats.org/drawingml/2006/main">
              <a:ext uri="{FF2B5EF4-FFF2-40B4-BE49-F238E27FC236}">
                <a16:creationId xmlns:a16="http://schemas.microsoft.com/office/drawing/2014/main" id="{A2D64076-4FBA-41FD-8134-A72C2E6E5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772150"/>
            <a:ext cx="2438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81818"/>
                </a:solidFill>
              </a:defRPr>
            </a:pPr>
            <a:r>
              <a:rPr sz="675" b="1">
                <a:solidFill>
                  <a:srgbClr val="181818"/>
                </a:solidFill>
              </a:rPr>
              <a:t>核心风险: 造型城市化</a:t>
            </a:r>
          </a:p>
        </p:txBody>
      </p:sp>
      <p:sp>
        <p:nvSpPr>
          <p:cNvPr id="56" name="sum-chips-chip-3">
            <a:extLst xmlns:a="http://schemas.openxmlformats.org/drawingml/2006/main">
              <a:ext uri="{FF2B5EF4-FFF2-40B4-BE49-F238E27FC236}">
                <a16:creationId xmlns:a16="http://schemas.microsoft.com/office/drawing/2014/main" id="{DC3553EC-A6F4-4503-B441-3689469E7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715000"/>
            <a:ext cx="2552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CE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57" name="sum-chips-chip-text-3">
            <a:extLst xmlns:a="http://schemas.openxmlformats.org/drawingml/2006/main">
              <a:ext uri="{FF2B5EF4-FFF2-40B4-BE49-F238E27FC236}">
                <a16:creationId xmlns:a16="http://schemas.microsoft.com/office/drawing/2014/main" id="{6A6E3996-213B-46FE-952D-305FA5081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772150"/>
            <a:ext cx="2438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81818"/>
                </a:solidFill>
              </a:defRPr>
            </a:pPr>
            <a:r>
              <a:rPr sz="675" b="1">
                <a:solidFill>
                  <a:srgbClr val="181818"/>
                </a:solidFill>
              </a:rPr>
              <a:t>表达原则: 场景化转译</a:t>
            </a:r>
          </a:p>
        </p:txBody>
      </p:sp>
    </p:spTree>
    <p:extLst>
      <p:ext uri="{BB962C8B-B14F-4D97-AF65-F5344CB8AC3E}">
        <p14:creationId xmlns:p14="http://schemas.microsoft.com/office/powerpoint/2010/main" val="6822559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B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4" name="top-4">
            <a:extLst xmlns:a="http://schemas.openxmlformats.org/drawingml/2006/main">
              <a:ext uri="{FF2B5EF4-FFF2-40B4-BE49-F238E27FC236}">
                <a16:creationId xmlns:a16="http://schemas.microsoft.com/office/drawing/2014/main" id="{3E6BA5FD-FA79-416F-93CF-50AD9647F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mark-4">
            <a:extLst xmlns:a="http://schemas.openxmlformats.org/drawingml/2006/main">
              <a:ext uri="{FF2B5EF4-FFF2-40B4-BE49-F238E27FC236}">
                <a16:creationId xmlns:a16="http://schemas.microsoft.com/office/drawing/2014/main" id="{979FB856-5BF2-4F2F-A44C-36F4AAF1D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4">
            <a:extLst xmlns:a="http://schemas.openxmlformats.org/drawingml/2006/main">
              <a:ext uri="{FF2B5EF4-FFF2-40B4-BE49-F238E27FC236}">
                <a16:creationId xmlns:a16="http://schemas.microsoft.com/office/drawing/2014/main" id="{7A113A52-1A93-4A1E-B560-4457127CB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ource-4">
            <a:extLst xmlns:a="http://schemas.openxmlformats.org/drawingml/2006/main">
              <a:ext uri="{FF2B5EF4-FFF2-40B4-BE49-F238E27FC236}">
                <a16:creationId xmlns:a16="http://schemas.microsoft.com/office/drawing/2014/main" id="{A8B82CCF-D9F1-4249-A846-2E01DCFD7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717171"/>
                </a:solidFill>
              </a:defRPr>
            </a:pPr>
            <a:r>
              <a:rPr sz="750">
                <a:solidFill>
                  <a:srgbClr val="717171"/>
                </a:solidFill>
              </a:rPr>
              <a:t>资料来源：会议笔录分析总结_优化版(1).docx，仅基于原文整理</a:t>
            </a:r>
          </a:p>
        </p:txBody>
      </p:sp>
      <p:sp>
        <p:nvSpPr>
          <p:cNvPr id="5" name="page-4">
            <a:extLst xmlns:a="http://schemas.openxmlformats.org/drawingml/2006/main">
              <a:ext uri="{FF2B5EF4-FFF2-40B4-BE49-F238E27FC236}">
                <a16:creationId xmlns:a16="http://schemas.microsoft.com/office/drawing/2014/main" id="{E524571B-406E-443B-B319-0DC88D33D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912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717171"/>
                </a:solidFill>
              </a:defRPr>
            </a:pPr>
            <a:r>
              <a:rPr sz="750">
                <a:solidFill>
                  <a:srgbClr val="717171"/>
                </a:solidFill>
              </a:rPr>
              <a:t>04</a:t>
            </a:r>
          </a:p>
        </p:txBody>
      </p:sp>
      <p:sp>
        <p:nvSpPr>
          <p:cNvPr id="6" name="kicker-4">
            <a:extLst xmlns:a="http://schemas.openxmlformats.org/drawingml/2006/main">
              <a:ext uri="{FF2B5EF4-FFF2-40B4-BE49-F238E27FC236}">
                <a16:creationId xmlns:a16="http://schemas.microsoft.com/office/drawing/2014/main" id="{0D3DBAD2-8530-4A9A-A8FB-5D8EDF310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77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06124"/>
                </a:solidFill>
              </a:defRPr>
            </a:pPr>
            <a:r>
              <a:rPr sz="825" b="1">
                <a:solidFill>
                  <a:srgbClr val="F06124"/>
                </a:solidFill>
              </a:rPr>
              <a:t>RESEARCH DESIGN</a:t>
            </a:r>
          </a:p>
        </p:txBody>
      </p:sp>
      <p:sp>
        <p:nvSpPr>
          <p:cNvPr id="7" name="title-4">
            <a:extLst xmlns:a="http://schemas.openxmlformats.org/drawingml/2006/main">
              <a:ext uri="{FF2B5EF4-FFF2-40B4-BE49-F238E27FC236}">
                <a16:creationId xmlns:a16="http://schemas.microsoft.com/office/drawing/2014/main" id="{7C8C556F-FAEA-48C7-8BD9-B1E92E7E5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1818"/>
                </a:solidFill>
              </a:defRPr>
            </a:pPr>
            <a:r>
              <a:rPr sz="2100" b="1">
                <a:solidFill>
                  <a:srgbClr val="181818"/>
                </a:solidFill>
              </a:rPr>
              <a:t>项目摘要 2/3</a:t>
            </a:r>
          </a:p>
        </p:txBody>
      </p:sp>
      <p:sp>
        <p:nvSpPr>
          <p:cNvPr id="8" name="design-top-band">
            <a:extLst xmlns:a="http://schemas.openxmlformats.org/drawingml/2006/main">
              <a:ext uri="{FF2B5EF4-FFF2-40B4-BE49-F238E27FC236}">
                <a16:creationId xmlns:a16="http://schemas.microsoft.com/office/drawing/2014/main" id="{287DBE2D-A5DE-4485-AD04-EF30FFD97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76350"/>
            <a:ext cx="10515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4"/>
          </a:solidFill>
          <a:ln xmlns:a="http://schemas.openxmlformats.org/drawingml/2006/main" w="0">
            <a:solidFill>
              <a:srgbClr val="141414"/>
            </a:solidFill>
            <a:prstDash val="solid"/>
          </a:ln>
        </p:spPr>
      </p:sp>
      <p:sp>
        <p:nvSpPr>
          <p:cNvPr id="9" name="design-top-text">
            <a:extLst xmlns:a="http://schemas.openxmlformats.org/drawingml/2006/main">
              <a:ext uri="{FF2B5EF4-FFF2-40B4-BE49-F238E27FC236}">
                <a16:creationId xmlns:a16="http://schemas.microsoft.com/office/drawing/2014/main" id="{6228D8D6-D673-4882-8A4F-6BE7A621A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323975"/>
            <a:ext cx="10325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研究框架: 从用户画像、竞品心智、定位造型、卖点生态四个模块向建议收束。</a:t>
            </a:r>
          </a:p>
        </p:txBody>
      </p:sp>
      <p:sp>
        <p:nvSpPr>
          <p:cNvPr id="10" name="goal-panel">
            <a:extLst xmlns:a="http://schemas.openxmlformats.org/drawingml/2006/main">
              <a:ext uri="{FF2B5EF4-FFF2-40B4-BE49-F238E27FC236}">
                <a16:creationId xmlns:a16="http://schemas.microsoft.com/office/drawing/2014/main" id="{F23DFBDF-838D-4176-A672-FA91C0F83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24000"/>
            <a:ext cx="31623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1" name="goal-header">
            <a:extLst xmlns:a="http://schemas.openxmlformats.org/drawingml/2006/main">
              <a:ext uri="{FF2B5EF4-FFF2-40B4-BE49-F238E27FC236}">
                <a16:creationId xmlns:a16="http://schemas.microsoft.com/office/drawing/2014/main" id="{B2FBC59F-B0AE-4306-9EB4-77EA8CA19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24000"/>
            <a:ext cx="3162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8D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goal-title">
            <a:extLst xmlns:a="http://schemas.openxmlformats.org/drawingml/2006/main">
              <a:ext uri="{FF2B5EF4-FFF2-40B4-BE49-F238E27FC236}">
                <a16:creationId xmlns:a16="http://schemas.microsoft.com/office/drawing/2014/main" id="{95303151-5082-4AAC-9169-6D268ED83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562100"/>
            <a:ext cx="2971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项目目的</a:t>
            </a:r>
          </a:p>
        </p:txBody>
      </p:sp>
      <p:sp>
        <p:nvSpPr>
          <p:cNvPr id="13" name="goal-b-dot-0">
            <a:extLst xmlns:a="http://schemas.openxmlformats.org/drawingml/2006/main">
              <a:ext uri="{FF2B5EF4-FFF2-40B4-BE49-F238E27FC236}">
                <a16:creationId xmlns:a16="http://schemas.microsoft.com/office/drawing/2014/main" id="{06177708-B2A0-45C1-B3BD-0ED579A97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00250"/>
            <a:ext cx="57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E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goal-b-text-0">
            <a:extLst xmlns:a="http://schemas.openxmlformats.org/drawingml/2006/main">
              <a:ext uri="{FF2B5EF4-FFF2-40B4-BE49-F238E27FC236}">
                <a16:creationId xmlns:a16="http://schemas.microsoft.com/office/drawing/2014/main" id="{579301E8-2A6C-4CC5-BDEF-FE4343DF9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43100"/>
            <a:ext cx="2609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181818"/>
                </a:solidFill>
              </a:defRPr>
            </a:pPr>
            <a:r>
              <a:rPr sz="1050">
                <a:solidFill>
                  <a:srgbClr val="181818"/>
                </a:solidFill>
              </a:rPr>
              <a:t>还原用户画像与购车决策逻辑</a:t>
            </a:r>
          </a:p>
        </p:txBody>
      </p:sp>
      <p:sp>
        <p:nvSpPr>
          <p:cNvPr id="15" name="goal-b-dot-1">
            <a:extLst xmlns:a="http://schemas.openxmlformats.org/drawingml/2006/main">
              <a:ext uri="{FF2B5EF4-FFF2-40B4-BE49-F238E27FC236}">
                <a16:creationId xmlns:a16="http://schemas.microsoft.com/office/drawing/2014/main" id="{9A2887F4-F501-424D-9BC2-281E5EC02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86000"/>
            <a:ext cx="57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E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goal-b-text-1">
            <a:extLst xmlns:a="http://schemas.openxmlformats.org/drawingml/2006/main">
              <a:ext uri="{FF2B5EF4-FFF2-40B4-BE49-F238E27FC236}">
                <a16:creationId xmlns:a16="http://schemas.microsoft.com/office/drawing/2014/main" id="{8A37AFEF-4768-47C5-A540-77B94A420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228850"/>
            <a:ext cx="2609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181818"/>
                </a:solidFill>
              </a:defRPr>
            </a:pPr>
            <a:r>
              <a:rPr sz="1050">
                <a:solidFill>
                  <a:srgbClr val="181818"/>
                </a:solidFill>
              </a:rPr>
              <a:t>识别竞品心智与差异化机会</a:t>
            </a:r>
          </a:p>
        </p:txBody>
      </p:sp>
      <p:sp>
        <p:nvSpPr>
          <p:cNvPr id="17" name="goal-b-dot-2">
            <a:extLst xmlns:a="http://schemas.openxmlformats.org/drawingml/2006/main">
              <a:ext uri="{FF2B5EF4-FFF2-40B4-BE49-F238E27FC236}">
                <a16:creationId xmlns:a16="http://schemas.microsoft.com/office/drawing/2014/main" id="{6D5CA86E-E9C7-4D8E-910F-6E78241E2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71750"/>
            <a:ext cx="57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E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goal-b-text-2">
            <a:extLst xmlns:a="http://schemas.openxmlformats.org/drawingml/2006/main">
              <a:ext uri="{FF2B5EF4-FFF2-40B4-BE49-F238E27FC236}">
                <a16:creationId xmlns:a16="http://schemas.microsoft.com/office/drawing/2014/main" id="{9A665CD9-D736-4AE9-AC8A-FA2767288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514600"/>
            <a:ext cx="2609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181818"/>
                </a:solidFill>
              </a:defRPr>
            </a:pPr>
            <a:r>
              <a:rPr sz="1050">
                <a:solidFill>
                  <a:srgbClr val="181818"/>
                </a:solidFill>
              </a:rPr>
              <a:t>提炼定位、造型与卖点共识</a:t>
            </a:r>
          </a:p>
        </p:txBody>
      </p:sp>
      <p:sp>
        <p:nvSpPr>
          <p:cNvPr id="19" name="goal-b-dot-3">
            <a:extLst xmlns:a="http://schemas.openxmlformats.org/drawingml/2006/main">
              <a:ext uri="{FF2B5EF4-FFF2-40B4-BE49-F238E27FC236}">
                <a16:creationId xmlns:a16="http://schemas.microsoft.com/office/drawing/2014/main" id="{A8C9DA7B-9191-4127-81EC-356BB22C9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57500"/>
            <a:ext cx="57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E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goal-b-text-3">
            <a:extLst xmlns:a="http://schemas.openxmlformats.org/drawingml/2006/main">
              <a:ext uri="{FF2B5EF4-FFF2-40B4-BE49-F238E27FC236}">
                <a16:creationId xmlns:a16="http://schemas.microsoft.com/office/drawing/2014/main" id="{FC31023B-0C80-4743-AC3B-B9F226E48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00350"/>
            <a:ext cx="2609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181818"/>
                </a:solidFill>
              </a:defRPr>
            </a:pPr>
            <a:r>
              <a:rPr sz="1050">
                <a:solidFill>
                  <a:srgbClr val="181818"/>
                </a:solidFill>
              </a:rPr>
              <a:t>输出配置、生态和传播建议</a:t>
            </a:r>
          </a:p>
        </p:txBody>
      </p:sp>
      <p:sp>
        <p:nvSpPr>
          <p:cNvPr id="21" name="content-panel">
            <a:extLst xmlns:a="http://schemas.openxmlformats.org/drawingml/2006/main">
              <a:ext uri="{FF2B5EF4-FFF2-40B4-BE49-F238E27FC236}">
                <a16:creationId xmlns:a16="http://schemas.microsoft.com/office/drawing/2014/main" id="{23CB9359-530D-42CB-9860-E4B1D531C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524000"/>
            <a:ext cx="31623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2" name="content-header">
            <a:extLst xmlns:a="http://schemas.openxmlformats.org/drawingml/2006/main">
              <a:ext uri="{FF2B5EF4-FFF2-40B4-BE49-F238E27FC236}">
                <a16:creationId xmlns:a16="http://schemas.microsoft.com/office/drawing/2014/main" id="{395F285B-71DA-4ABF-A123-E57F22395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524000"/>
            <a:ext cx="3162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8D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content-title">
            <a:extLst xmlns:a="http://schemas.openxmlformats.org/drawingml/2006/main">
              <a:ext uri="{FF2B5EF4-FFF2-40B4-BE49-F238E27FC236}">
                <a16:creationId xmlns:a16="http://schemas.microsoft.com/office/drawing/2014/main" id="{83C05538-E5A7-4167-9C4A-CD6C20937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562100"/>
            <a:ext cx="2971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研究内容</a:t>
            </a:r>
          </a:p>
        </p:txBody>
      </p:sp>
      <p:sp>
        <p:nvSpPr>
          <p:cNvPr id="24" name="content-box-0">
            <a:extLst xmlns:a="http://schemas.openxmlformats.org/drawingml/2006/main">
              <a:ext uri="{FF2B5EF4-FFF2-40B4-BE49-F238E27FC236}">
                <a16:creationId xmlns:a16="http://schemas.microsoft.com/office/drawing/2014/main" id="{05C50686-8B2A-4F37-A944-8FAF82C6F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24050"/>
            <a:ext cx="2743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EB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5" name="content-text-0">
            <a:extLst xmlns:a="http://schemas.openxmlformats.org/drawingml/2006/main">
              <a:ext uri="{FF2B5EF4-FFF2-40B4-BE49-F238E27FC236}">
                <a16:creationId xmlns:a16="http://schemas.microsoft.com/office/drawing/2014/main" id="{B1DDED2E-501D-4B37-937F-92B7AFD72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96215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81818"/>
                </a:solidFill>
              </a:defRPr>
            </a:pPr>
            <a:r>
              <a:rPr sz="900" b="1">
                <a:solidFill>
                  <a:srgbClr val="181818"/>
                </a:solidFill>
              </a:rPr>
              <a:t>1 用户画像</a:t>
            </a:r>
          </a:p>
        </p:txBody>
      </p:sp>
      <p:sp>
        <p:nvSpPr>
          <p:cNvPr id="26" name="content-box-1">
            <a:extLst xmlns:a="http://schemas.openxmlformats.org/drawingml/2006/main">
              <a:ext uri="{FF2B5EF4-FFF2-40B4-BE49-F238E27FC236}">
                <a16:creationId xmlns:a16="http://schemas.microsoft.com/office/drawing/2014/main" id="{FCC847C2-964D-43D5-BE34-7CFB9CD5B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47900"/>
            <a:ext cx="2743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EB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7" name="content-text-1">
            <a:extLst xmlns:a="http://schemas.openxmlformats.org/drawingml/2006/main">
              <a:ext uri="{FF2B5EF4-FFF2-40B4-BE49-F238E27FC236}">
                <a16:creationId xmlns:a16="http://schemas.microsoft.com/office/drawing/2014/main" id="{8764BA12-65B4-4D48-BB67-F2FCF0ED6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2860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81818"/>
                </a:solidFill>
              </a:defRPr>
            </a:pPr>
            <a:r>
              <a:rPr sz="900" b="1">
                <a:solidFill>
                  <a:srgbClr val="181818"/>
                </a:solidFill>
              </a:rPr>
              <a:t>2 竞品评价</a:t>
            </a:r>
          </a:p>
        </p:txBody>
      </p:sp>
      <p:sp>
        <p:nvSpPr>
          <p:cNvPr id="28" name="content-box-2">
            <a:extLst xmlns:a="http://schemas.openxmlformats.org/drawingml/2006/main">
              <a:ext uri="{FF2B5EF4-FFF2-40B4-BE49-F238E27FC236}">
                <a16:creationId xmlns:a16="http://schemas.microsoft.com/office/drawing/2014/main" id="{D0B38992-28E9-4D99-9ACE-C7D8D665A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71750"/>
            <a:ext cx="2743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EB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9" name="content-text-2">
            <a:extLst xmlns:a="http://schemas.openxmlformats.org/drawingml/2006/main">
              <a:ext uri="{FF2B5EF4-FFF2-40B4-BE49-F238E27FC236}">
                <a16:creationId xmlns:a16="http://schemas.microsoft.com/office/drawing/2014/main" id="{792990B8-AEFA-4E8A-8593-83C15CE85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60985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81818"/>
                </a:solidFill>
              </a:defRPr>
            </a:pPr>
            <a:r>
              <a:rPr sz="900" b="1">
                <a:solidFill>
                  <a:srgbClr val="181818"/>
                </a:solidFill>
              </a:rPr>
              <a:t>3 定位共创</a:t>
            </a:r>
          </a:p>
        </p:txBody>
      </p:sp>
      <p:sp>
        <p:nvSpPr>
          <p:cNvPr id="30" name="content-box-3">
            <a:extLst xmlns:a="http://schemas.openxmlformats.org/drawingml/2006/main">
              <a:ext uri="{FF2B5EF4-FFF2-40B4-BE49-F238E27FC236}">
                <a16:creationId xmlns:a16="http://schemas.microsoft.com/office/drawing/2014/main" id="{89DF5B1B-324C-45E0-BE09-B63D9716C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95600"/>
            <a:ext cx="2743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EB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31" name="content-text-3">
            <a:extLst xmlns:a="http://schemas.openxmlformats.org/drawingml/2006/main">
              <a:ext uri="{FF2B5EF4-FFF2-40B4-BE49-F238E27FC236}">
                <a16:creationId xmlns:a16="http://schemas.microsoft.com/office/drawing/2014/main" id="{0CE8ACFC-9029-418F-A463-00EFAE558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9337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81818"/>
                </a:solidFill>
              </a:defRPr>
            </a:pPr>
            <a:r>
              <a:rPr sz="900" b="1">
                <a:solidFill>
                  <a:srgbClr val="181818"/>
                </a:solidFill>
              </a:rPr>
              <a:t>4 卖点/生态/建议</a:t>
            </a:r>
          </a:p>
        </p:txBody>
      </p:sp>
      <p:sp>
        <p:nvSpPr>
          <p:cNvPr id="32" name="output-panel">
            <a:extLst xmlns:a="http://schemas.openxmlformats.org/drawingml/2006/main">
              <a:ext uri="{FF2B5EF4-FFF2-40B4-BE49-F238E27FC236}">
                <a16:creationId xmlns:a16="http://schemas.microsoft.com/office/drawing/2014/main" id="{3BE9D680-94A9-4BEC-92D2-767E8EAAC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524000"/>
            <a:ext cx="36576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33" name="output-header">
            <a:extLst xmlns:a="http://schemas.openxmlformats.org/drawingml/2006/main">
              <a:ext uri="{FF2B5EF4-FFF2-40B4-BE49-F238E27FC236}">
                <a16:creationId xmlns:a16="http://schemas.microsoft.com/office/drawing/2014/main" id="{EA8A3E64-5E39-4357-8C78-C89E52970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524000"/>
            <a:ext cx="3657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8D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output-title">
            <a:extLst xmlns:a="http://schemas.openxmlformats.org/drawingml/2006/main">
              <a:ext uri="{FF2B5EF4-FFF2-40B4-BE49-F238E27FC236}">
                <a16:creationId xmlns:a16="http://schemas.microsoft.com/office/drawing/2014/main" id="{A3F7B526-DE83-43B8-900D-3353BBE9D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562100"/>
            <a:ext cx="3467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研究输出</a:t>
            </a:r>
          </a:p>
        </p:txBody>
      </p:sp>
      <p:sp>
        <p:nvSpPr>
          <p:cNvPr id="35" name="output-b-dot-0">
            <a:extLst xmlns:a="http://schemas.openxmlformats.org/drawingml/2006/main">
              <a:ext uri="{FF2B5EF4-FFF2-40B4-BE49-F238E27FC236}">
                <a16:creationId xmlns:a16="http://schemas.microsoft.com/office/drawing/2014/main" id="{BA638016-15DD-4E53-BE0C-B3A1DE133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000250"/>
            <a:ext cx="57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1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output-b-text-0">
            <a:extLst xmlns:a="http://schemas.openxmlformats.org/drawingml/2006/main">
              <a:ext uri="{FF2B5EF4-FFF2-40B4-BE49-F238E27FC236}">
                <a16:creationId xmlns:a16="http://schemas.microsoft.com/office/drawing/2014/main" id="{6F077C94-ECD6-4476-B838-B3F87E3EA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943100"/>
            <a:ext cx="3105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181818"/>
                </a:solidFill>
              </a:defRPr>
            </a:pPr>
            <a:r>
              <a:rPr sz="1050">
                <a:solidFill>
                  <a:srgbClr val="181818"/>
                </a:solidFill>
              </a:rPr>
              <a:t>执行摘要</a:t>
            </a:r>
          </a:p>
        </p:txBody>
      </p:sp>
      <p:sp>
        <p:nvSpPr>
          <p:cNvPr id="37" name="output-b-dot-1">
            <a:extLst xmlns:a="http://schemas.openxmlformats.org/drawingml/2006/main">
              <a:ext uri="{FF2B5EF4-FFF2-40B4-BE49-F238E27FC236}">
                <a16:creationId xmlns:a16="http://schemas.microsoft.com/office/drawing/2014/main" id="{21AF7AD0-6693-4BE6-A5B2-4F14DAC23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257425"/>
            <a:ext cx="57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1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output-b-text-1">
            <a:extLst xmlns:a="http://schemas.openxmlformats.org/drawingml/2006/main">
              <a:ext uri="{FF2B5EF4-FFF2-40B4-BE49-F238E27FC236}">
                <a16:creationId xmlns:a16="http://schemas.microsoft.com/office/drawing/2014/main" id="{84A66B67-80AE-469C-B10E-3F2A3ED15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200275"/>
            <a:ext cx="3105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181818"/>
                </a:solidFill>
              </a:defRPr>
            </a:pPr>
            <a:r>
              <a:rPr sz="1050">
                <a:solidFill>
                  <a:srgbClr val="181818"/>
                </a:solidFill>
              </a:rPr>
              <a:t>样本与用户画像</a:t>
            </a:r>
          </a:p>
        </p:txBody>
      </p:sp>
      <p:sp>
        <p:nvSpPr>
          <p:cNvPr id="39" name="output-b-dot-2">
            <a:extLst xmlns:a="http://schemas.openxmlformats.org/drawingml/2006/main">
              <a:ext uri="{FF2B5EF4-FFF2-40B4-BE49-F238E27FC236}">
                <a16:creationId xmlns:a16="http://schemas.microsoft.com/office/drawing/2014/main" id="{4A4B541F-6CBA-46CA-8929-921558E0E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514600"/>
            <a:ext cx="57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1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output-b-text-2">
            <a:extLst xmlns:a="http://schemas.openxmlformats.org/drawingml/2006/main">
              <a:ext uri="{FF2B5EF4-FFF2-40B4-BE49-F238E27FC236}">
                <a16:creationId xmlns:a16="http://schemas.microsoft.com/office/drawing/2014/main" id="{DAE66C26-576C-428C-B12A-2ABB94741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457450"/>
            <a:ext cx="3105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181818"/>
                </a:solidFill>
              </a:defRPr>
            </a:pPr>
            <a:r>
              <a:rPr sz="1050">
                <a:solidFill>
                  <a:srgbClr val="181818"/>
                </a:solidFill>
              </a:rPr>
              <a:t>竞品心智对比</a:t>
            </a:r>
          </a:p>
        </p:txBody>
      </p:sp>
      <p:sp>
        <p:nvSpPr>
          <p:cNvPr id="41" name="output-b-dot-3">
            <a:extLst xmlns:a="http://schemas.openxmlformats.org/drawingml/2006/main">
              <a:ext uri="{FF2B5EF4-FFF2-40B4-BE49-F238E27FC236}">
                <a16:creationId xmlns:a16="http://schemas.microsoft.com/office/drawing/2014/main" id="{1D309F34-FC84-41D0-BC23-40825206D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771775"/>
            <a:ext cx="57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1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output-b-text-3">
            <a:extLst xmlns:a="http://schemas.openxmlformats.org/drawingml/2006/main">
              <a:ext uri="{FF2B5EF4-FFF2-40B4-BE49-F238E27FC236}">
                <a16:creationId xmlns:a16="http://schemas.microsoft.com/office/drawing/2014/main" id="{18FFEF8D-A8D6-4C15-A2DA-72DF00116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714625"/>
            <a:ext cx="3105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181818"/>
                </a:solidFill>
              </a:defRPr>
            </a:pPr>
            <a:r>
              <a:rPr sz="1050">
                <a:solidFill>
                  <a:srgbClr val="181818"/>
                </a:solidFill>
              </a:rPr>
              <a:t>定位/造型/卖点判断</a:t>
            </a:r>
          </a:p>
        </p:txBody>
      </p:sp>
      <p:sp>
        <p:nvSpPr>
          <p:cNvPr id="43" name="output-b-dot-4">
            <a:extLst xmlns:a="http://schemas.openxmlformats.org/drawingml/2006/main">
              <a:ext uri="{FF2B5EF4-FFF2-40B4-BE49-F238E27FC236}">
                <a16:creationId xmlns:a16="http://schemas.microsoft.com/office/drawing/2014/main" id="{2011908E-990C-4E37-9AD7-B9608ED49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028950"/>
            <a:ext cx="57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1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output-b-text-4">
            <a:extLst xmlns:a="http://schemas.openxmlformats.org/drawingml/2006/main">
              <a:ext uri="{FF2B5EF4-FFF2-40B4-BE49-F238E27FC236}">
                <a16:creationId xmlns:a16="http://schemas.microsoft.com/office/drawing/2014/main" id="{49CA8F6A-2E9E-42C6-B4AB-EB2633CDB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71800"/>
            <a:ext cx="3105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181818"/>
                </a:solidFill>
              </a:defRPr>
            </a:pPr>
            <a:r>
              <a:rPr sz="1050">
                <a:solidFill>
                  <a:srgbClr val="181818"/>
                </a:solidFill>
              </a:rPr>
              <a:t>生态与传播建议</a:t>
            </a:r>
          </a:p>
        </p:txBody>
      </p:sp>
      <p:sp>
        <p:nvSpPr>
          <p:cNvPr id="45" name="design-flow-box-0">
            <a:extLst xmlns:a="http://schemas.openxmlformats.org/drawingml/2006/main">
              <a:ext uri="{FF2B5EF4-FFF2-40B4-BE49-F238E27FC236}">
                <a16:creationId xmlns:a16="http://schemas.microsoft.com/office/drawing/2014/main" id="{AC13DD65-A431-47FA-8313-B687D3967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19500"/>
            <a:ext cx="1847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46" name="design-flow-no-0">
            <a:extLst xmlns:a="http://schemas.openxmlformats.org/drawingml/2006/main">
              <a:ext uri="{FF2B5EF4-FFF2-40B4-BE49-F238E27FC236}">
                <a16:creationId xmlns:a16="http://schemas.microsoft.com/office/drawing/2014/main" id="{937610C5-F098-4389-A65E-0A0B79F01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76650"/>
            <a:ext cx="304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4B8D56"/>
                </a:solidFill>
              </a:defRPr>
            </a:pPr>
            <a:r>
              <a:rPr sz="600" b="1">
                <a:solidFill>
                  <a:srgbClr val="4B8D56"/>
                </a:solidFill>
              </a:rPr>
              <a:t>01</a:t>
            </a:r>
          </a:p>
        </p:txBody>
      </p:sp>
      <p:sp>
        <p:nvSpPr>
          <p:cNvPr id="47" name="design-flow-text-0">
            <a:extLst xmlns:a="http://schemas.openxmlformats.org/drawingml/2006/main">
              <a:ext uri="{FF2B5EF4-FFF2-40B4-BE49-F238E27FC236}">
                <a16:creationId xmlns:a16="http://schemas.microsoft.com/office/drawing/2014/main" id="{22BC834A-A180-439C-A1E1-F73B9D62B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10000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181818"/>
                </a:solidFill>
              </a:defRPr>
            </a:pPr>
            <a:r>
              <a:rPr sz="825">
                <a:solidFill>
                  <a:srgbClr val="181818"/>
                </a:solidFill>
              </a:rPr>
              <a:t>招募与预访谈</a:t>
            </a:r>
          </a:p>
        </p:txBody>
      </p:sp>
      <p:sp>
        <p:nvSpPr>
          <p:cNvPr id="48" name="design-flow-link-0">
            <a:extLst xmlns:a="http://schemas.openxmlformats.org/drawingml/2006/main">
              <a:ext uri="{FF2B5EF4-FFF2-40B4-BE49-F238E27FC236}">
                <a16:creationId xmlns:a16="http://schemas.microsoft.com/office/drawing/2014/main" id="{CD06E4E1-74F6-4593-AE9C-62EAE0B5F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848100"/>
            <a:ext cx="171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8D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design-flow-box-1">
            <a:extLst xmlns:a="http://schemas.openxmlformats.org/drawingml/2006/main">
              <a:ext uri="{FF2B5EF4-FFF2-40B4-BE49-F238E27FC236}">
                <a16:creationId xmlns:a16="http://schemas.microsoft.com/office/drawing/2014/main" id="{90DE85C3-A500-4E1B-85EA-8F0000787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619500"/>
            <a:ext cx="1847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50" name="design-flow-no-1">
            <a:extLst xmlns:a="http://schemas.openxmlformats.org/drawingml/2006/main">
              <a:ext uri="{FF2B5EF4-FFF2-40B4-BE49-F238E27FC236}">
                <a16:creationId xmlns:a16="http://schemas.microsoft.com/office/drawing/2014/main" id="{E5FFD001-7DE5-42E2-8FF0-515737F05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676650"/>
            <a:ext cx="304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4B8D56"/>
                </a:solidFill>
              </a:defRPr>
            </a:pPr>
            <a:r>
              <a:rPr sz="600" b="1">
                <a:solidFill>
                  <a:srgbClr val="4B8D56"/>
                </a:solidFill>
              </a:rPr>
              <a:t>02</a:t>
            </a:r>
          </a:p>
        </p:txBody>
      </p:sp>
      <p:sp>
        <p:nvSpPr>
          <p:cNvPr id="51" name="design-flow-text-1">
            <a:extLst xmlns:a="http://schemas.openxmlformats.org/drawingml/2006/main">
              <a:ext uri="{FF2B5EF4-FFF2-40B4-BE49-F238E27FC236}">
                <a16:creationId xmlns:a16="http://schemas.microsoft.com/office/drawing/2014/main" id="{35758304-179E-4E1E-A457-AB6FDD9A1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810000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181818"/>
                </a:solidFill>
              </a:defRPr>
            </a:pPr>
            <a:r>
              <a:rPr sz="825">
                <a:solidFill>
                  <a:srgbClr val="181818"/>
                </a:solidFill>
              </a:rPr>
              <a:t>正式访谈与记录</a:t>
            </a:r>
          </a:p>
        </p:txBody>
      </p:sp>
      <p:sp>
        <p:nvSpPr>
          <p:cNvPr id="52" name="design-flow-link-1">
            <a:extLst xmlns:a="http://schemas.openxmlformats.org/drawingml/2006/main">
              <a:ext uri="{FF2B5EF4-FFF2-40B4-BE49-F238E27FC236}">
                <a16:creationId xmlns:a16="http://schemas.microsoft.com/office/drawing/2014/main" id="{B03BCCDF-9C0A-4E60-AA62-247AC810D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848100"/>
            <a:ext cx="171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8D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design-flow-box-2">
            <a:extLst xmlns:a="http://schemas.openxmlformats.org/drawingml/2006/main">
              <a:ext uri="{FF2B5EF4-FFF2-40B4-BE49-F238E27FC236}">
                <a16:creationId xmlns:a16="http://schemas.microsoft.com/office/drawing/2014/main" id="{6F186408-BF3F-4CBC-8040-6AA16536C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619500"/>
            <a:ext cx="1847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54" name="design-flow-no-2">
            <a:extLst xmlns:a="http://schemas.openxmlformats.org/drawingml/2006/main">
              <a:ext uri="{FF2B5EF4-FFF2-40B4-BE49-F238E27FC236}">
                <a16:creationId xmlns:a16="http://schemas.microsoft.com/office/drawing/2014/main" id="{D86D1720-2C2A-46FD-BE60-1CF41EC91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676650"/>
            <a:ext cx="304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4B8D56"/>
                </a:solidFill>
              </a:defRPr>
            </a:pPr>
            <a:r>
              <a:rPr sz="600" b="1">
                <a:solidFill>
                  <a:srgbClr val="4B8D56"/>
                </a:solidFill>
              </a:rPr>
              <a:t>03</a:t>
            </a:r>
          </a:p>
        </p:txBody>
      </p:sp>
      <p:sp>
        <p:nvSpPr>
          <p:cNvPr id="55" name="design-flow-text-2">
            <a:extLst xmlns:a="http://schemas.openxmlformats.org/drawingml/2006/main">
              <a:ext uri="{FF2B5EF4-FFF2-40B4-BE49-F238E27FC236}">
                <a16:creationId xmlns:a16="http://schemas.microsoft.com/office/drawing/2014/main" id="{8FECF51A-FF40-4118-A58B-5703731C2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810000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181818"/>
                </a:solidFill>
              </a:defRPr>
            </a:pPr>
            <a:r>
              <a:rPr sz="825">
                <a:solidFill>
                  <a:srgbClr val="181818"/>
                </a:solidFill>
              </a:rPr>
              <a:t>关键词归纳</a:t>
            </a:r>
          </a:p>
        </p:txBody>
      </p:sp>
      <p:sp>
        <p:nvSpPr>
          <p:cNvPr id="56" name="design-flow-link-2">
            <a:extLst xmlns:a="http://schemas.openxmlformats.org/drawingml/2006/main">
              <a:ext uri="{FF2B5EF4-FFF2-40B4-BE49-F238E27FC236}">
                <a16:creationId xmlns:a16="http://schemas.microsoft.com/office/drawing/2014/main" id="{525C98A6-E5EC-40EE-8299-CFE6B6298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848100"/>
            <a:ext cx="171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8D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design-flow-box-3">
            <a:extLst xmlns:a="http://schemas.openxmlformats.org/drawingml/2006/main">
              <a:ext uri="{FF2B5EF4-FFF2-40B4-BE49-F238E27FC236}">
                <a16:creationId xmlns:a16="http://schemas.microsoft.com/office/drawing/2014/main" id="{EE36471B-A92D-4B47-BE1D-54A4C6367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619500"/>
            <a:ext cx="1847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58" name="design-flow-no-3">
            <a:extLst xmlns:a="http://schemas.openxmlformats.org/drawingml/2006/main">
              <a:ext uri="{FF2B5EF4-FFF2-40B4-BE49-F238E27FC236}">
                <a16:creationId xmlns:a16="http://schemas.microsoft.com/office/drawing/2014/main" id="{CFEEB88D-CFDA-4DB0-B9DA-751B1AFBD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676650"/>
            <a:ext cx="304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4B8D56"/>
                </a:solidFill>
              </a:defRPr>
            </a:pPr>
            <a:r>
              <a:rPr sz="600" b="1">
                <a:solidFill>
                  <a:srgbClr val="4B8D56"/>
                </a:solidFill>
              </a:rPr>
              <a:t>04</a:t>
            </a:r>
          </a:p>
        </p:txBody>
      </p:sp>
      <p:sp>
        <p:nvSpPr>
          <p:cNvPr id="59" name="design-flow-text-3">
            <a:extLst xmlns:a="http://schemas.openxmlformats.org/drawingml/2006/main">
              <a:ext uri="{FF2B5EF4-FFF2-40B4-BE49-F238E27FC236}">
                <a16:creationId xmlns:a16="http://schemas.microsoft.com/office/drawing/2014/main" id="{DE0AC550-C295-4C12-8E96-513EB98B8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810000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181818"/>
                </a:solidFill>
              </a:defRPr>
            </a:pPr>
            <a:r>
              <a:rPr sz="825">
                <a:solidFill>
                  <a:srgbClr val="181818"/>
                </a:solidFill>
              </a:rPr>
              <a:t>主题共创与验证</a:t>
            </a:r>
          </a:p>
        </p:txBody>
      </p:sp>
      <p:sp>
        <p:nvSpPr>
          <p:cNvPr id="60" name="design-flow-link-3">
            <a:extLst xmlns:a="http://schemas.openxmlformats.org/drawingml/2006/main">
              <a:ext uri="{FF2B5EF4-FFF2-40B4-BE49-F238E27FC236}">
                <a16:creationId xmlns:a16="http://schemas.microsoft.com/office/drawing/2014/main" id="{675EDDFC-17F8-4998-B49E-CEC6B424A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848100"/>
            <a:ext cx="171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8D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design-flow-box-4">
            <a:extLst xmlns:a="http://schemas.openxmlformats.org/drawingml/2006/main">
              <a:ext uri="{FF2B5EF4-FFF2-40B4-BE49-F238E27FC236}">
                <a16:creationId xmlns:a16="http://schemas.microsoft.com/office/drawing/2014/main" id="{6943932D-613B-4D75-A429-B91F563D2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619500"/>
            <a:ext cx="1847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62" name="design-flow-no-4">
            <a:extLst xmlns:a="http://schemas.openxmlformats.org/drawingml/2006/main">
              <a:ext uri="{FF2B5EF4-FFF2-40B4-BE49-F238E27FC236}">
                <a16:creationId xmlns:a16="http://schemas.microsoft.com/office/drawing/2014/main" id="{7A59FDD4-9021-4999-B458-1FAE0649E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676650"/>
            <a:ext cx="304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4B8D56"/>
                </a:solidFill>
              </a:defRPr>
            </a:pPr>
            <a:r>
              <a:rPr sz="600" b="1">
                <a:solidFill>
                  <a:srgbClr val="4B8D56"/>
                </a:solidFill>
              </a:rPr>
              <a:t>05</a:t>
            </a:r>
          </a:p>
        </p:txBody>
      </p:sp>
      <p:sp>
        <p:nvSpPr>
          <p:cNvPr id="63" name="design-flow-text-4">
            <a:extLst xmlns:a="http://schemas.openxmlformats.org/drawingml/2006/main">
              <a:ext uri="{FF2B5EF4-FFF2-40B4-BE49-F238E27FC236}">
                <a16:creationId xmlns:a16="http://schemas.microsoft.com/office/drawing/2014/main" id="{D0265523-64A0-4EC4-9142-EB102015F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810000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181818"/>
                </a:solidFill>
              </a:defRPr>
            </a:pPr>
            <a:r>
              <a:rPr sz="825">
                <a:solidFill>
                  <a:srgbClr val="181818"/>
                </a:solidFill>
              </a:rPr>
              <a:t>形成建议</a:t>
            </a:r>
          </a:p>
        </p:txBody>
      </p:sp>
      <p:sp>
        <p:nvSpPr>
          <p:cNvPr id="64" name="logic-h-0">
            <a:extLst xmlns:a="http://schemas.openxmlformats.org/drawingml/2006/main">
              <a:ext uri="{FF2B5EF4-FFF2-40B4-BE49-F238E27FC236}">
                <a16:creationId xmlns:a16="http://schemas.microsoft.com/office/drawing/2014/main" id="{B16F8C8C-675A-442A-B39C-D271F8722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67200"/>
            <a:ext cx="1162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8D56"/>
          </a:solidFill>
          <a:ln xmlns:a="http://schemas.openxmlformats.org/drawingml/2006/main" w="0">
            <a:solidFill>
              <a:srgbClr val="4B8D56"/>
            </a:solidFill>
            <a:prstDash val="solid"/>
          </a:ln>
        </p:spPr>
      </p:sp>
      <p:sp>
        <p:nvSpPr>
          <p:cNvPr id="65" name="logic-ht-0">
            <a:extLst xmlns:a="http://schemas.openxmlformats.org/drawingml/2006/main">
              <a:ext uri="{FF2B5EF4-FFF2-40B4-BE49-F238E27FC236}">
                <a16:creationId xmlns:a16="http://schemas.microsoft.com/office/drawing/2014/main" id="{AA625932-D5C1-4340-92A6-703CDCB2F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243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研究模块</a:t>
            </a:r>
          </a:p>
        </p:txBody>
      </p:sp>
      <p:sp>
        <p:nvSpPr>
          <p:cNvPr id="66" name="logic-h-1">
            <a:extLst xmlns:a="http://schemas.openxmlformats.org/drawingml/2006/main">
              <a:ext uri="{FF2B5EF4-FFF2-40B4-BE49-F238E27FC236}">
                <a16:creationId xmlns:a16="http://schemas.microsoft.com/office/drawing/2014/main" id="{A304A03F-CE26-4AB9-AF35-2E48FA9DC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267200"/>
            <a:ext cx="3048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8D56"/>
          </a:solidFill>
          <a:ln xmlns:a="http://schemas.openxmlformats.org/drawingml/2006/main" w="0">
            <a:solidFill>
              <a:srgbClr val="4B8D56"/>
            </a:solidFill>
            <a:prstDash val="solid"/>
          </a:ln>
        </p:spPr>
      </p:sp>
      <p:sp>
        <p:nvSpPr>
          <p:cNvPr id="67" name="logic-ht-1">
            <a:extLst xmlns:a="http://schemas.openxmlformats.org/drawingml/2006/main">
              <a:ext uri="{FF2B5EF4-FFF2-40B4-BE49-F238E27FC236}">
                <a16:creationId xmlns:a16="http://schemas.microsoft.com/office/drawing/2014/main" id="{E0E581A7-62DA-4C47-AAE8-2FBD58A2A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324350"/>
            <a:ext cx="2933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核心问题</a:t>
            </a:r>
          </a:p>
        </p:txBody>
      </p:sp>
      <p:sp>
        <p:nvSpPr>
          <p:cNvPr id="68" name="logic-h-2">
            <a:extLst xmlns:a="http://schemas.openxmlformats.org/drawingml/2006/main">
              <a:ext uri="{FF2B5EF4-FFF2-40B4-BE49-F238E27FC236}">
                <a16:creationId xmlns:a16="http://schemas.microsoft.com/office/drawing/2014/main" id="{1B90E654-63F2-4D72-B06A-95D05EF92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267200"/>
            <a:ext cx="3048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8D56"/>
          </a:solidFill>
          <a:ln xmlns:a="http://schemas.openxmlformats.org/drawingml/2006/main" w="0">
            <a:solidFill>
              <a:srgbClr val="4B8D56"/>
            </a:solidFill>
            <a:prstDash val="solid"/>
          </a:ln>
        </p:spPr>
      </p:sp>
      <p:sp>
        <p:nvSpPr>
          <p:cNvPr id="69" name="logic-ht-2">
            <a:extLst xmlns:a="http://schemas.openxmlformats.org/drawingml/2006/main">
              <a:ext uri="{FF2B5EF4-FFF2-40B4-BE49-F238E27FC236}">
                <a16:creationId xmlns:a16="http://schemas.microsoft.com/office/drawing/2014/main" id="{B4FB602A-E836-479E-B3F9-F33A5CE46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324350"/>
            <a:ext cx="2933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关键观察</a:t>
            </a:r>
          </a:p>
        </p:txBody>
      </p:sp>
      <p:sp>
        <p:nvSpPr>
          <p:cNvPr id="70" name="logic-h-3">
            <a:extLst xmlns:a="http://schemas.openxmlformats.org/drawingml/2006/main">
              <a:ext uri="{FF2B5EF4-FFF2-40B4-BE49-F238E27FC236}">
                <a16:creationId xmlns:a16="http://schemas.microsoft.com/office/drawing/2014/main" id="{4EB6A29E-7CB6-418C-A527-10B988113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67200"/>
            <a:ext cx="3257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8D56"/>
          </a:solidFill>
          <a:ln xmlns:a="http://schemas.openxmlformats.org/drawingml/2006/main" w="0">
            <a:solidFill>
              <a:srgbClr val="4B8D56"/>
            </a:solidFill>
            <a:prstDash val="solid"/>
          </a:ln>
        </p:spPr>
      </p:sp>
      <p:sp>
        <p:nvSpPr>
          <p:cNvPr id="71" name="logic-ht-3">
            <a:extLst xmlns:a="http://schemas.openxmlformats.org/drawingml/2006/main">
              <a:ext uri="{FF2B5EF4-FFF2-40B4-BE49-F238E27FC236}">
                <a16:creationId xmlns:a16="http://schemas.microsoft.com/office/drawing/2014/main" id="{D0415314-C286-4EB6-884A-9CC1BB34E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243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汇报价值</a:t>
            </a:r>
          </a:p>
        </p:txBody>
      </p:sp>
      <p:sp>
        <p:nvSpPr>
          <p:cNvPr id="72" name="logic-c-0-0">
            <a:extLst xmlns:a="http://schemas.openxmlformats.org/drawingml/2006/main">
              <a:ext uri="{FF2B5EF4-FFF2-40B4-BE49-F238E27FC236}">
                <a16:creationId xmlns:a16="http://schemas.microsoft.com/office/drawing/2014/main" id="{BDB05D73-16F9-450D-90A8-724EC23EE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0"/>
            <a:ext cx="11620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73" name="logic-ct-0-0">
            <a:extLst xmlns:a="http://schemas.openxmlformats.org/drawingml/2006/main">
              <a:ext uri="{FF2B5EF4-FFF2-40B4-BE49-F238E27FC236}">
                <a16:creationId xmlns:a16="http://schemas.microsoft.com/office/drawing/2014/main" id="{9512CE77-6425-4872-A7B5-843F17F26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29150"/>
            <a:ext cx="104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81818"/>
                </a:solidFill>
              </a:defRPr>
            </a:pPr>
            <a:r>
              <a:rPr sz="825" b="1">
                <a:solidFill>
                  <a:srgbClr val="181818"/>
                </a:solidFill>
              </a:rPr>
              <a:t>用户画像</a:t>
            </a:r>
          </a:p>
        </p:txBody>
      </p:sp>
      <p:sp>
        <p:nvSpPr>
          <p:cNvPr id="74" name="logic-c-0-1">
            <a:extLst xmlns:a="http://schemas.openxmlformats.org/drawingml/2006/main">
              <a:ext uri="{FF2B5EF4-FFF2-40B4-BE49-F238E27FC236}">
                <a16:creationId xmlns:a16="http://schemas.microsoft.com/office/drawing/2014/main" id="{C1E0416D-1F83-4D0B-9A0F-1B9AB1B97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572000"/>
            <a:ext cx="3048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75" name="logic-ct-0-1">
            <a:extLst xmlns:a="http://schemas.openxmlformats.org/drawingml/2006/main">
              <a:ext uri="{FF2B5EF4-FFF2-40B4-BE49-F238E27FC236}">
                <a16:creationId xmlns:a16="http://schemas.microsoft.com/office/drawing/2014/main" id="{B69B1237-11C8-446E-964A-36973D1F3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629150"/>
            <a:ext cx="2933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81818"/>
                </a:solidFill>
              </a:defRPr>
            </a:pPr>
            <a:r>
              <a:rPr sz="750" b="0">
                <a:solidFill>
                  <a:srgbClr val="181818"/>
                </a:solidFill>
              </a:rPr>
              <a:t>谁会买？为何会买？</a:t>
            </a:r>
          </a:p>
        </p:txBody>
      </p:sp>
      <p:sp>
        <p:nvSpPr>
          <p:cNvPr id="76" name="logic-c-0-2">
            <a:extLst xmlns:a="http://schemas.openxmlformats.org/drawingml/2006/main">
              <a:ext uri="{FF2B5EF4-FFF2-40B4-BE49-F238E27FC236}">
                <a16:creationId xmlns:a16="http://schemas.microsoft.com/office/drawing/2014/main" id="{EA479BC2-F1B2-499F-A555-0F818C7F9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572000"/>
            <a:ext cx="3048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77" name="logic-ct-0-2">
            <a:extLst xmlns:a="http://schemas.openxmlformats.org/drawingml/2006/main">
              <a:ext uri="{FF2B5EF4-FFF2-40B4-BE49-F238E27FC236}">
                <a16:creationId xmlns:a16="http://schemas.microsoft.com/office/drawing/2014/main" id="{B8B170AD-F830-4225-A3B4-DE808C884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629150"/>
            <a:ext cx="2933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81818"/>
                </a:solidFill>
              </a:defRPr>
            </a:pPr>
            <a:r>
              <a:rPr sz="750" b="0">
                <a:solidFill>
                  <a:srgbClr val="181818"/>
                </a:solidFill>
              </a:rPr>
              <a:t>体面通勤、家庭舒适与户外探索要同时成立。</a:t>
            </a:r>
          </a:p>
        </p:txBody>
      </p:sp>
      <p:sp>
        <p:nvSpPr>
          <p:cNvPr id="78" name="logic-c-0-3">
            <a:extLst xmlns:a="http://schemas.openxmlformats.org/drawingml/2006/main">
              <a:ext uri="{FF2B5EF4-FFF2-40B4-BE49-F238E27FC236}">
                <a16:creationId xmlns:a16="http://schemas.microsoft.com/office/drawing/2014/main" id="{916F1943-CAC0-4B30-AB92-F378AEEF9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72000"/>
            <a:ext cx="32575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79" name="logic-ct-0-3">
            <a:extLst xmlns:a="http://schemas.openxmlformats.org/drawingml/2006/main">
              <a:ext uri="{FF2B5EF4-FFF2-40B4-BE49-F238E27FC236}">
                <a16:creationId xmlns:a16="http://schemas.microsoft.com/office/drawing/2014/main" id="{630FD027-7E7B-4EFC-A1A6-E1A1132DD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291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81818"/>
                </a:solidFill>
              </a:defRPr>
            </a:pPr>
            <a:r>
              <a:rPr sz="750" b="0">
                <a:solidFill>
                  <a:srgbClr val="181818"/>
                </a:solidFill>
              </a:rPr>
              <a:t>决定产品基调与版本分层方向。</a:t>
            </a:r>
          </a:p>
        </p:txBody>
      </p:sp>
      <p:sp>
        <p:nvSpPr>
          <p:cNvPr id="80" name="logic-c-1-0">
            <a:extLst xmlns:a="http://schemas.openxmlformats.org/drawingml/2006/main">
              <a:ext uri="{FF2B5EF4-FFF2-40B4-BE49-F238E27FC236}">
                <a16:creationId xmlns:a16="http://schemas.microsoft.com/office/drawing/2014/main" id="{8D8D03BF-4EED-4D3B-AA2F-02CC3B24E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48250"/>
            <a:ext cx="11620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81" name="logic-ct-1-0">
            <a:extLst xmlns:a="http://schemas.openxmlformats.org/drawingml/2006/main">
              <a:ext uri="{FF2B5EF4-FFF2-40B4-BE49-F238E27FC236}">
                <a16:creationId xmlns:a16="http://schemas.microsoft.com/office/drawing/2014/main" id="{703838A7-6891-4BC2-BE24-636BAA041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05400"/>
            <a:ext cx="104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81818"/>
                </a:solidFill>
              </a:defRPr>
            </a:pPr>
            <a:r>
              <a:rPr sz="825" b="1">
                <a:solidFill>
                  <a:srgbClr val="181818"/>
                </a:solidFill>
              </a:rPr>
              <a:t>竞品评价</a:t>
            </a:r>
          </a:p>
        </p:txBody>
      </p:sp>
      <p:sp>
        <p:nvSpPr>
          <p:cNvPr id="82" name="logic-c-1-1">
            <a:extLst xmlns:a="http://schemas.openxmlformats.org/drawingml/2006/main">
              <a:ext uri="{FF2B5EF4-FFF2-40B4-BE49-F238E27FC236}">
                <a16:creationId xmlns:a16="http://schemas.microsoft.com/office/drawing/2014/main" id="{C9B8D49F-F9DA-40EB-8C5A-4CAEB9A62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048250"/>
            <a:ext cx="3048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83" name="logic-ct-1-1">
            <a:extLst xmlns:a="http://schemas.openxmlformats.org/drawingml/2006/main">
              <a:ext uri="{FF2B5EF4-FFF2-40B4-BE49-F238E27FC236}">
                <a16:creationId xmlns:a16="http://schemas.microsoft.com/office/drawing/2014/main" id="{78FFEA4F-039A-4B9C-9DBA-469A3C9CA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105400"/>
            <a:ext cx="2933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81818"/>
                </a:solidFill>
              </a:defRPr>
            </a:pPr>
            <a:r>
              <a:rPr sz="750" b="0">
                <a:solidFill>
                  <a:srgbClr val="181818"/>
                </a:solidFill>
              </a:rPr>
              <a:t>用户为什么不选别人？</a:t>
            </a:r>
          </a:p>
        </p:txBody>
      </p:sp>
      <p:sp>
        <p:nvSpPr>
          <p:cNvPr id="84" name="logic-c-1-2">
            <a:extLst xmlns:a="http://schemas.openxmlformats.org/drawingml/2006/main">
              <a:ext uri="{FF2B5EF4-FFF2-40B4-BE49-F238E27FC236}">
                <a16:creationId xmlns:a16="http://schemas.microsoft.com/office/drawing/2014/main" id="{9FC87413-0D6A-4F02-BBEC-0031BC3EA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048250"/>
            <a:ext cx="3048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85" name="logic-ct-1-2">
            <a:extLst xmlns:a="http://schemas.openxmlformats.org/drawingml/2006/main">
              <a:ext uri="{FF2B5EF4-FFF2-40B4-BE49-F238E27FC236}">
                <a16:creationId xmlns:a16="http://schemas.microsoft.com/office/drawing/2014/main" id="{6CB0E1A3-5458-42D0-94EF-7AA98DC1D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105400"/>
            <a:ext cx="2933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81818"/>
                </a:solidFill>
              </a:defRPr>
            </a:pPr>
            <a:r>
              <a:rPr sz="750" b="0">
                <a:solidFill>
                  <a:srgbClr val="181818"/>
                </a:solidFill>
              </a:rPr>
              <a:t>理想/问界缺越野，坦克/烈马缺全家舒适。</a:t>
            </a:r>
          </a:p>
        </p:txBody>
      </p:sp>
      <p:sp>
        <p:nvSpPr>
          <p:cNvPr id="86" name="logic-c-1-3">
            <a:extLst xmlns:a="http://schemas.openxmlformats.org/drawingml/2006/main">
              <a:ext uri="{FF2B5EF4-FFF2-40B4-BE49-F238E27FC236}">
                <a16:creationId xmlns:a16="http://schemas.microsoft.com/office/drawing/2014/main" id="{33A70C3A-0995-4F20-AB2E-A9FD320AA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48250"/>
            <a:ext cx="32575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87" name="logic-ct-1-3">
            <a:extLst xmlns:a="http://schemas.openxmlformats.org/drawingml/2006/main">
              <a:ext uri="{FF2B5EF4-FFF2-40B4-BE49-F238E27FC236}">
                <a16:creationId xmlns:a16="http://schemas.microsoft.com/office/drawing/2014/main" id="{D74CDCB5-9163-4DD3-A1B8-F0759C210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1054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81818"/>
                </a:solidFill>
              </a:defRPr>
            </a:pPr>
            <a:r>
              <a:rPr sz="750" b="0">
                <a:solidFill>
                  <a:srgbClr val="181818"/>
                </a:solidFill>
              </a:rPr>
              <a:t>帮助识别产品竞争空档。</a:t>
            </a:r>
          </a:p>
        </p:txBody>
      </p:sp>
      <p:sp>
        <p:nvSpPr>
          <p:cNvPr id="88" name="logic-c-2-0">
            <a:extLst xmlns:a="http://schemas.openxmlformats.org/drawingml/2006/main">
              <a:ext uri="{FF2B5EF4-FFF2-40B4-BE49-F238E27FC236}">
                <a16:creationId xmlns:a16="http://schemas.microsoft.com/office/drawing/2014/main" id="{3B856672-8F5D-4DB5-95C7-AF49BA6AF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24500"/>
            <a:ext cx="11620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89" name="logic-ct-2-0">
            <a:extLst xmlns:a="http://schemas.openxmlformats.org/drawingml/2006/main">
              <a:ext uri="{FF2B5EF4-FFF2-40B4-BE49-F238E27FC236}">
                <a16:creationId xmlns:a16="http://schemas.microsoft.com/office/drawing/2014/main" id="{87FC3703-58F8-4EEA-BDC5-79076B7F9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81650"/>
            <a:ext cx="104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81818"/>
                </a:solidFill>
              </a:defRPr>
            </a:pPr>
            <a:r>
              <a:rPr sz="825" b="1">
                <a:solidFill>
                  <a:srgbClr val="181818"/>
                </a:solidFill>
              </a:rPr>
              <a:t>定位造型</a:t>
            </a:r>
          </a:p>
        </p:txBody>
      </p:sp>
      <p:sp>
        <p:nvSpPr>
          <p:cNvPr id="90" name="logic-c-2-1">
            <a:extLst xmlns:a="http://schemas.openxmlformats.org/drawingml/2006/main">
              <a:ext uri="{FF2B5EF4-FFF2-40B4-BE49-F238E27FC236}">
                <a16:creationId xmlns:a16="http://schemas.microsoft.com/office/drawing/2014/main" id="{A4BC2D52-F71E-4381-BA29-8D80E1E70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524500"/>
            <a:ext cx="3048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91" name="logic-ct-2-1">
            <a:extLst xmlns:a="http://schemas.openxmlformats.org/drawingml/2006/main">
              <a:ext uri="{FF2B5EF4-FFF2-40B4-BE49-F238E27FC236}">
                <a16:creationId xmlns:a16="http://schemas.microsoft.com/office/drawing/2014/main" id="{B39DFF6F-B7C8-4A13-89CA-0FD6CE38F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581650"/>
            <a:ext cx="2933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81818"/>
                </a:solidFill>
              </a:defRPr>
            </a:pPr>
            <a:r>
              <a:rPr sz="750" b="0">
                <a:solidFill>
                  <a:srgbClr val="181818"/>
                </a:solidFill>
              </a:rPr>
              <a:t>用户怎样一眼看懂？</a:t>
            </a:r>
          </a:p>
        </p:txBody>
      </p:sp>
      <p:sp>
        <p:nvSpPr>
          <p:cNvPr id="92" name="logic-c-2-2">
            <a:extLst xmlns:a="http://schemas.openxmlformats.org/drawingml/2006/main">
              <a:ext uri="{FF2B5EF4-FFF2-40B4-BE49-F238E27FC236}">
                <a16:creationId xmlns:a16="http://schemas.microsoft.com/office/drawing/2014/main" id="{DD639613-797F-492A-AAE2-6DECC660D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524500"/>
            <a:ext cx="3048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93" name="logic-ct-2-2">
            <a:extLst xmlns:a="http://schemas.openxmlformats.org/drawingml/2006/main">
              <a:ext uri="{FF2B5EF4-FFF2-40B4-BE49-F238E27FC236}">
                <a16:creationId xmlns:a16="http://schemas.microsoft.com/office/drawing/2014/main" id="{E69BEFD3-70D8-4A63-ADAF-85EE3A3E1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581650"/>
            <a:ext cx="2933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81818"/>
                </a:solidFill>
              </a:defRPr>
            </a:pPr>
            <a:r>
              <a:rPr sz="750" b="0">
                <a:solidFill>
                  <a:srgbClr val="181818"/>
                </a:solidFill>
              </a:rPr>
              <a:t>科技感被认可，但“野味不足”是核心矛盾。</a:t>
            </a:r>
          </a:p>
        </p:txBody>
      </p:sp>
      <p:sp>
        <p:nvSpPr>
          <p:cNvPr id="94" name="logic-c-2-3">
            <a:extLst xmlns:a="http://schemas.openxmlformats.org/drawingml/2006/main">
              <a:ext uri="{FF2B5EF4-FFF2-40B4-BE49-F238E27FC236}">
                <a16:creationId xmlns:a16="http://schemas.microsoft.com/office/drawing/2014/main" id="{4ED4C692-5944-45C8-9206-7C568F138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524500"/>
            <a:ext cx="32575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95" name="logic-ct-2-3">
            <a:extLst xmlns:a="http://schemas.openxmlformats.org/drawingml/2006/main">
              <a:ext uri="{FF2B5EF4-FFF2-40B4-BE49-F238E27FC236}">
                <a16:creationId xmlns:a16="http://schemas.microsoft.com/office/drawing/2014/main" id="{7075A4DF-6D1F-4B61-917A-38DCE65AD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5816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81818"/>
                </a:solidFill>
              </a:defRPr>
            </a:pPr>
            <a:r>
              <a:rPr sz="750" b="0">
                <a:solidFill>
                  <a:srgbClr val="181818"/>
                </a:solidFill>
              </a:rPr>
              <a:t>决定前脸、尾部与家族语言优化优先级。</a:t>
            </a:r>
          </a:p>
        </p:txBody>
      </p:sp>
      <p:sp>
        <p:nvSpPr>
          <p:cNvPr id="96" name="logic-c-3-0">
            <a:extLst xmlns:a="http://schemas.openxmlformats.org/drawingml/2006/main">
              <a:ext uri="{FF2B5EF4-FFF2-40B4-BE49-F238E27FC236}">
                <a16:creationId xmlns:a16="http://schemas.microsoft.com/office/drawing/2014/main" id="{086F7972-AC49-45EB-8FBC-DE0FCCCAD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00750"/>
            <a:ext cx="11620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97" name="logic-ct-3-0">
            <a:extLst xmlns:a="http://schemas.openxmlformats.org/drawingml/2006/main">
              <a:ext uri="{FF2B5EF4-FFF2-40B4-BE49-F238E27FC236}">
                <a16:creationId xmlns:a16="http://schemas.microsoft.com/office/drawing/2014/main" id="{2343C380-A5AF-4969-A76B-2FFCE8333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057900"/>
            <a:ext cx="104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81818"/>
                </a:solidFill>
              </a:defRPr>
            </a:pPr>
            <a:r>
              <a:rPr sz="825" b="1">
                <a:solidFill>
                  <a:srgbClr val="181818"/>
                </a:solidFill>
              </a:rPr>
              <a:t>卖点生态</a:t>
            </a:r>
          </a:p>
        </p:txBody>
      </p:sp>
      <p:sp>
        <p:nvSpPr>
          <p:cNvPr id="98" name="logic-c-3-1">
            <a:extLst xmlns:a="http://schemas.openxmlformats.org/drawingml/2006/main">
              <a:ext uri="{FF2B5EF4-FFF2-40B4-BE49-F238E27FC236}">
                <a16:creationId xmlns:a16="http://schemas.microsoft.com/office/drawing/2014/main" id="{E64FEBB0-CEF5-4206-9F75-AC9EAB248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6000750"/>
            <a:ext cx="3048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99" name="logic-ct-3-1">
            <a:extLst xmlns:a="http://schemas.openxmlformats.org/drawingml/2006/main">
              <a:ext uri="{FF2B5EF4-FFF2-40B4-BE49-F238E27FC236}">
                <a16:creationId xmlns:a16="http://schemas.microsoft.com/office/drawing/2014/main" id="{2368554D-52F3-4CDA-98A0-2F6C1052C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6057900"/>
            <a:ext cx="2933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81818"/>
                </a:solidFill>
              </a:defRPr>
            </a:pPr>
            <a:r>
              <a:rPr sz="750" b="0">
                <a:solidFill>
                  <a:srgbClr val="181818"/>
                </a:solidFill>
              </a:rPr>
              <a:t>如何提升成交说服力？</a:t>
            </a:r>
          </a:p>
        </p:txBody>
      </p:sp>
      <p:sp>
        <p:nvSpPr>
          <p:cNvPr id="100" name="logic-c-3-2">
            <a:extLst xmlns:a="http://schemas.openxmlformats.org/drawingml/2006/main">
              <a:ext uri="{FF2B5EF4-FFF2-40B4-BE49-F238E27FC236}">
                <a16:creationId xmlns:a16="http://schemas.microsoft.com/office/drawing/2014/main" id="{001181F1-5355-475D-9ED5-B828F6274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000750"/>
            <a:ext cx="3048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01" name="logic-ct-3-2">
            <a:extLst xmlns:a="http://schemas.openxmlformats.org/drawingml/2006/main">
              <a:ext uri="{FF2B5EF4-FFF2-40B4-BE49-F238E27FC236}">
                <a16:creationId xmlns:a16="http://schemas.microsoft.com/office/drawing/2014/main" id="{288F0050-0A55-4B85-A611-71F58E884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6057900"/>
            <a:ext cx="2933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81818"/>
                </a:solidFill>
              </a:defRPr>
            </a:pPr>
            <a:r>
              <a:rPr sz="750" b="0">
                <a:solidFill>
                  <a:srgbClr val="181818"/>
                </a:solidFill>
              </a:rPr>
              <a:t>技术点要翻译成生活收益，生态要围绕真实场景。</a:t>
            </a:r>
          </a:p>
        </p:txBody>
      </p:sp>
      <p:sp>
        <p:nvSpPr>
          <p:cNvPr id="102" name="logic-c-3-3">
            <a:extLst xmlns:a="http://schemas.openxmlformats.org/drawingml/2006/main">
              <a:ext uri="{FF2B5EF4-FFF2-40B4-BE49-F238E27FC236}">
                <a16:creationId xmlns:a16="http://schemas.microsoft.com/office/drawing/2014/main" id="{C720C00F-C175-47C2-ABB4-218F038CF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000750"/>
            <a:ext cx="32575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03" name="logic-ct-3-3">
            <a:extLst xmlns:a="http://schemas.openxmlformats.org/drawingml/2006/main">
              <a:ext uri="{FF2B5EF4-FFF2-40B4-BE49-F238E27FC236}">
                <a16:creationId xmlns:a16="http://schemas.microsoft.com/office/drawing/2014/main" id="{0FA60DB7-B903-4E6C-A230-29C44E412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60579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81818"/>
                </a:solidFill>
              </a:defRPr>
            </a:pPr>
            <a:r>
              <a:rPr sz="750" b="0">
                <a:solidFill>
                  <a:srgbClr val="181818"/>
                </a:solidFill>
              </a:rPr>
              <a:t>决定传播与产品话术。</a:t>
            </a:r>
          </a:p>
        </p:txBody>
      </p:sp>
    </p:spTree>
    <p:extLst>
      <p:ext uri="{BB962C8B-B14F-4D97-AF65-F5344CB8AC3E}">
        <p14:creationId xmlns:p14="http://schemas.microsoft.com/office/powerpoint/2010/main" val="15288241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B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1" name="top-5">
            <a:extLst xmlns:a="http://schemas.openxmlformats.org/drawingml/2006/main">
              <a:ext uri="{FF2B5EF4-FFF2-40B4-BE49-F238E27FC236}">
                <a16:creationId xmlns:a16="http://schemas.microsoft.com/office/drawing/2014/main" id="{135C9A40-7AD4-431A-8467-62917C0D0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mark-5">
            <a:extLst xmlns:a="http://schemas.openxmlformats.org/drawingml/2006/main">
              <a:ext uri="{FF2B5EF4-FFF2-40B4-BE49-F238E27FC236}">
                <a16:creationId xmlns:a16="http://schemas.microsoft.com/office/drawing/2014/main" id="{75160F60-A421-4CB1-AEDE-15DE69147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5">
            <a:extLst xmlns:a="http://schemas.openxmlformats.org/drawingml/2006/main">
              <a:ext uri="{FF2B5EF4-FFF2-40B4-BE49-F238E27FC236}">
                <a16:creationId xmlns:a16="http://schemas.microsoft.com/office/drawing/2014/main" id="{0E861DDD-F7CE-42E4-93A7-8E3D1F226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ource-5">
            <a:extLst xmlns:a="http://schemas.openxmlformats.org/drawingml/2006/main">
              <a:ext uri="{FF2B5EF4-FFF2-40B4-BE49-F238E27FC236}">
                <a16:creationId xmlns:a16="http://schemas.microsoft.com/office/drawing/2014/main" id="{21D3F31E-E18C-4AEA-A4BD-CA1B2283B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717171"/>
                </a:solidFill>
              </a:defRPr>
            </a:pPr>
            <a:r>
              <a:rPr sz="750">
                <a:solidFill>
                  <a:srgbClr val="717171"/>
                </a:solidFill>
              </a:rPr>
              <a:t>资料来源：会议笔录分析总结_优化版(1).docx，仅基于原文整理</a:t>
            </a:r>
          </a:p>
        </p:txBody>
      </p:sp>
      <p:sp>
        <p:nvSpPr>
          <p:cNvPr id="5" name="page-5">
            <a:extLst xmlns:a="http://schemas.openxmlformats.org/drawingml/2006/main">
              <a:ext uri="{FF2B5EF4-FFF2-40B4-BE49-F238E27FC236}">
                <a16:creationId xmlns:a16="http://schemas.microsoft.com/office/drawing/2014/main" id="{E2203726-D92B-475D-881B-5EB075A8B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912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717171"/>
                </a:solidFill>
              </a:defRPr>
            </a:pPr>
            <a:r>
              <a:rPr sz="750">
                <a:solidFill>
                  <a:srgbClr val="717171"/>
                </a:solidFill>
              </a:rPr>
              <a:t>05</a:t>
            </a:r>
          </a:p>
        </p:txBody>
      </p:sp>
      <p:sp>
        <p:nvSpPr>
          <p:cNvPr id="6" name="kicker-5">
            <a:extLst xmlns:a="http://schemas.openxmlformats.org/drawingml/2006/main">
              <a:ext uri="{FF2B5EF4-FFF2-40B4-BE49-F238E27FC236}">
                <a16:creationId xmlns:a16="http://schemas.microsoft.com/office/drawing/2014/main" id="{48753309-5451-4E7A-BF22-949ACB5B8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77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06124"/>
                </a:solidFill>
              </a:defRPr>
            </a:pPr>
            <a:r>
              <a:rPr sz="825" b="1">
                <a:solidFill>
                  <a:srgbClr val="F06124"/>
                </a:solidFill>
              </a:rPr>
              <a:t>SAMPLE STRUCTURE</a:t>
            </a:r>
          </a:p>
        </p:txBody>
      </p:sp>
      <p:sp>
        <p:nvSpPr>
          <p:cNvPr id="7" name="title-5">
            <a:extLst xmlns:a="http://schemas.openxmlformats.org/drawingml/2006/main">
              <a:ext uri="{FF2B5EF4-FFF2-40B4-BE49-F238E27FC236}">
                <a16:creationId xmlns:a16="http://schemas.microsoft.com/office/drawing/2014/main" id="{EB8125E6-972C-4C7F-B4E1-D55D8DEF7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1818"/>
                </a:solidFill>
              </a:defRPr>
            </a:pPr>
            <a:r>
              <a:rPr sz="2100" b="1">
                <a:solidFill>
                  <a:srgbClr val="181818"/>
                </a:solidFill>
              </a:rPr>
              <a:t>项目摘要 3/3</a:t>
            </a:r>
          </a:p>
        </p:txBody>
      </p:sp>
      <p:sp>
        <p:nvSpPr>
          <p:cNvPr id="8" name="sample-top-band">
            <a:extLst xmlns:a="http://schemas.openxmlformats.org/drawingml/2006/main">
              <a:ext uri="{FF2B5EF4-FFF2-40B4-BE49-F238E27FC236}">
                <a16:creationId xmlns:a16="http://schemas.microsoft.com/office/drawing/2014/main" id="{3577F1F4-4920-4718-B14C-993D3EDA9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76350"/>
            <a:ext cx="10515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4"/>
          </a:solidFill>
          <a:ln xmlns:a="http://schemas.openxmlformats.org/drawingml/2006/main" w="0">
            <a:solidFill>
              <a:srgbClr val="141414"/>
            </a:solidFill>
            <a:prstDash val="solid"/>
          </a:ln>
        </p:spPr>
      </p:sp>
      <p:sp>
        <p:nvSpPr>
          <p:cNvPr id="9" name="sample-top-text">
            <a:extLst xmlns:a="http://schemas.openxmlformats.org/drawingml/2006/main">
              <a:ext uri="{FF2B5EF4-FFF2-40B4-BE49-F238E27FC236}">
                <a16:creationId xmlns:a16="http://schemas.microsoft.com/office/drawing/2014/main" id="{C7E07033-0B3B-4FED-B4B8-D8D6E5DD9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323975"/>
            <a:ext cx="10325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样本判断: 核心受众不是单一硬核越野玩家，而是覆盖城市、家庭、轻越野和探索型的复合人群。</a:t>
            </a:r>
          </a:p>
        </p:txBody>
      </p:sp>
      <p:sp>
        <p:nvSpPr>
          <p:cNvPr id="10" name="sample-h-0">
            <a:extLst xmlns:a="http://schemas.openxmlformats.org/drawingml/2006/main">
              <a:ext uri="{FF2B5EF4-FFF2-40B4-BE49-F238E27FC236}">
                <a16:creationId xmlns:a16="http://schemas.microsoft.com/office/drawing/2014/main" id="{85B0CEA8-D8B1-48E6-9002-FB3887E9A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24000"/>
            <a:ext cx="1619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8D56"/>
          </a:solidFill>
          <a:ln xmlns:a="http://schemas.openxmlformats.org/drawingml/2006/main" w="0">
            <a:solidFill>
              <a:srgbClr val="4B8D56"/>
            </a:solidFill>
            <a:prstDash val="solid"/>
          </a:ln>
        </p:spPr>
      </p:sp>
      <p:sp>
        <p:nvSpPr>
          <p:cNvPr id="11" name="sample-ht-0">
            <a:extLst xmlns:a="http://schemas.openxmlformats.org/drawingml/2006/main">
              <a:ext uri="{FF2B5EF4-FFF2-40B4-BE49-F238E27FC236}">
                <a16:creationId xmlns:a16="http://schemas.microsoft.com/office/drawing/2014/main" id="{2B8643E0-DEAC-4BE4-AA25-EE3391CB3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581150"/>
            <a:ext cx="1504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用户类型</a:t>
            </a:r>
          </a:p>
        </p:txBody>
      </p:sp>
      <p:sp>
        <p:nvSpPr>
          <p:cNvPr id="12" name="sample-h-1">
            <a:extLst xmlns:a="http://schemas.openxmlformats.org/drawingml/2006/main">
              <a:ext uri="{FF2B5EF4-FFF2-40B4-BE49-F238E27FC236}">
                <a16:creationId xmlns:a16="http://schemas.microsoft.com/office/drawing/2014/main" id="{CCB95AC0-3CD9-4D3F-B7D0-8A96FF892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524000"/>
            <a:ext cx="171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8D56"/>
          </a:solidFill>
          <a:ln xmlns:a="http://schemas.openxmlformats.org/drawingml/2006/main" w="0">
            <a:solidFill>
              <a:srgbClr val="4B8D56"/>
            </a:solidFill>
            <a:prstDash val="solid"/>
          </a:ln>
        </p:spPr>
      </p:sp>
      <p:sp>
        <p:nvSpPr>
          <p:cNvPr id="13" name="sample-ht-1">
            <a:extLst xmlns:a="http://schemas.openxmlformats.org/drawingml/2006/main">
              <a:ext uri="{FF2B5EF4-FFF2-40B4-BE49-F238E27FC236}">
                <a16:creationId xmlns:a16="http://schemas.microsoft.com/office/drawing/2014/main" id="{FDF8A242-7350-4038-A009-9575656D7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581150"/>
            <a:ext cx="1600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现有座驾</a:t>
            </a:r>
          </a:p>
        </p:txBody>
      </p:sp>
      <p:sp>
        <p:nvSpPr>
          <p:cNvPr id="14" name="sample-h-2">
            <a:extLst xmlns:a="http://schemas.openxmlformats.org/drawingml/2006/main">
              <a:ext uri="{FF2B5EF4-FFF2-40B4-BE49-F238E27FC236}">
                <a16:creationId xmlns:a16="http://schemas.microsoft.com/office/drawing/2014/main" id="{BBFA7783-9272-4D71-A3C0-8D3611659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524000"/>
            <a:ext cx="209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8D56"/>
          </a:solidFill>
          <a:ln xmlns:a="http://schemas.openxmlformats.org/drawingml/2006/main" w="0">
            <a:solidFill>
              <a:srgbClr val="4B8D56"/>
            </a:solidFill>
            <a:prstDash val="solid"/>
          </a:ln>
        </p:spPr>
      </p:sp>
      <p:sp>
        <p:nvSpPr>
          <p:cNvPr id="15" name="sample-ht-2">
            <a:extLst xmlns:a="http://schemas.openxmlformats.org/drawingml/2006/main">
              <a:ext uri="{FF2B5EF4-FFF2-40B4-BE49-F238E27FC236}">
                <a16:creationId xmlns:a16="http://schemas.microsoft.com/office/drawing/2014/main" id="{AB720DC4-6CC4-45E5-9927-F56CF99FF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581150"/>
            <a:ext cx="1981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核心诉求</a:t>
            </a:r>
          </a:p>
        </p:txBody>
      </p:sp>
      <p:sp>
        <p:nvSpPr>
          <p:cNvPr id="16" name="sample-h-3">
            <a:extLst xmlns:a="http://schemas.openxmlformats.org/drawingml/2006/main">
              <a:ext uri="{FF2B5EF4-FFF2-40B4-BE49-F238E27FC236}">
                <a16:creationId xmlns:a16="http://schemas.microsoft.com/office/drawing/2014/main" id="{9A80750C-3E7D-45AF-81A5-FC3155085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524000"/>
            <a:ext cx="209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8D56"/>
          </a:solidFill>
          <a:ln xmlns:a="http://schemas.openxmlformats.org/drawingml/2006/main" w="0">
            <a:solidFill>
              <a:srgbClr val="4B8D56"/>
            </a:solidFill>
            <a:prstDash val="solid"/>
          </a:ln>
        </p:spPr>
      </p:sp>
      <p:sp>
        <p:nvSpPr>
          <p:cNvPr id="17" name="sample-ht-3">
            <a:extLst xmlns:a="http://schemas.openxmlformats.org/drawingml/2006/main">
              <a:ext uri="{FF2B5EF4-FFF2-40B4-BE49-F238E27FC236}">
                <a16:creationId xmlns:a16="http://schemas.microsoft.com/office/drawing/2014/main" id="{3118A179-B5A5-4F2D-B1DA-B02CC0D85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81150"/>
            <a:ext cx="1981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典型场景</a:t>
            </a:r>
          </a:p>
        </p:txBody>
      </p:sp>
      <p:sp>
        <p:nvSpPr>
          <p:cNvPr id="18" name="sample-h-4">
            <a:extLst xmlns:a="http://schemas.openxmlformats.org/drawingml/2006/main">
              <a:ext uri="{FF2B5EF4-FFF2-40B4-BE49-F238E27FC236}">
                <a16:creationId xmlns:a16="http://schemas.microsoft.com/office/drawing/2014/main" id="{F61F53E7-3164-4D20-93BF-7F8BD9D6C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524000"/>
            <a:ext cx="2152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8D56"/>
          </a:solidFill>
          <a:ln xmlns:a="http://schemas.openxmlformats.org/drawingml/2006/main" w="0">
            <a:solidFill>
              <a:srgbClr val="4B8D56"/>
            </a:solidFill>
            <a:prstDash val="solid"/>
          </a:ln>
        </p:spPr>
      </p:sp>
      <p:sp>
        <p:nvSpPr>
          <p:cNvPr id="19" name="sample-ht-4">
            <a:extLst xmlns:a="http://schemas.openxmlformats.org/drawingml/2006/main">
              <a:ext uri="{FF2B5EF4-FFF2-40B4-BE49-F238E27FC236}">
                <a16:creationId xmlns:a16="http://schemas.microsoft.com/office/drawing/2014/main" id="{C75B90D3-E0B8-47BF-8028-5639D3355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581150"/>
            <a:ext cx="2038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判断</a:t>
            </a:r>
          </a:p>
        </p:txBody>
      </p:sp>
      <p:sp>
        <p:nvSpPr>
          <p:cNvPr id="20" name="sample-c-0-0">
            <a:extLst xmlns:a="http://schemas.openxmlformats.org/drawingml/2006/main">
              <a:ext uri="{FF2B5EF4-FFF2-40B4-BE49-F238E27FC236}">
                <a16:creationId xmlns:a16="http://schemas.microsoft.com/office/drawing/2014/main" id="{A5960E9C-9144-42E6-8712-65809E3DC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28800"/>
            <a:ext cx="161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1" name="sample-ct-0-0">
            <a:extLst xmlns:a="http://schemas.openxmlformats.org/drawingml/2006/main">
              <a:ext uri="{FF2B5EF4-FFF2-40B4-BE49-F238E27FC236}">
                <a16:creationId xmlns:a16="http://schemas.microsoft.com/office/drawing/2014/main" id="{416FE3DB-015B-482A-9F99-E6735ED73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85950"/>
            <a:ext cx="1504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81818"/>
                </a:solidFill>
              </a:defRPr>
            </a:pPr>
            <a:r>
              <a:rPr sz="825" b="1">
                <a:solidFill>
                  <a:srgbClr val="181818"/>
                </a:solidFill>
              </a:rPr>
              <a:t>城市精英 / 家庭型</a:t>
            </a:r>
          </a:p>
        </p:txBody>
      </p:sp>
      <p:sp>
        <p:nvSpPr>
          <p:cNvPr id="22" name="sample-c-0-1">
            <a:extLst xmlns:a="http://schemas.openxmlformats.org/drawingml/2006/main">
              <a:ext uri="{FF2B5EF4-FFF2-40B4-BE49-F238E27FC236}">
                <a16:creationId xmlns:a16="http://schemas.microsoft.com/office/drawing/2014/main" id="{4F9270E6-121D-40FA-B627-CF0CB23E5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828800"/>
            <a:ext cx="171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3" name="sample-ct-0-1">
            <a:extLst xmlns:a="http://schemas.openxmlformats.org/drawingml/2006/main">
              <a:ext uri="{FF2B5EF4-FFF2-40B4-BE49-F238E27FC236}">
                <a16:creationId xmlns:a16="http://schemas.microsoft.com/office/drawing/2014/main" id="{0029063B-776F-4F8D-A6F4-87888B028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885950"/>
            <a:ext cx="1600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81818"/>
                </a:solidFill>
              </a:defRPr>
            </a:pPr>
            <a:r>
              <a:rPr sz="750" b="0">
                <a:solidFill>
                  <a:srgbClr val="181818"/>
                </a:solidFill>
              </a:rPr>
              <a:t>理想 / 问界 / 沃尔沃</a:t>
            </a:r>
          </a:p>
        </p:txBody>
      </p:sp>
      <p:sp>
        <p:nvSpPr>
          <p:cNvPr id="24" name="sample-c-0-2">
            <a:extLst xmlns:a="http://schemas.openxmlformats.org/drawingml/2006/main">
              <a:ext uri="{FF2B5EF4-FFF2-40B4-BE49-F238E27FC236}">
                <a16:creationId xmlns:a16="http://schemas.microsoft.com/office/drawing/2014/main" id="{7593C522-9C4A-410F-987A-85D9AD611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828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5" name="sample-ct-0-2">
            <a:extLst xmlns:a="http://schemas.openxmlformats.org/drawingml/2006/main">
              <a:ext uri="{FF2B5EF4-FFF2-40B4-BE49-F238E27FC236}">
                <a16:creationId xmlns:a16="http://schemas.microsoft.com/office/drawing/2014/main" id="{11C8CA1F-B1DF-4D09-8562-AACCC32C9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885950"/>
            <a:ext cx="1981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81818"/>
                </a:solidFill>
              </a:defRPr>
            </a:pPr>
            <a:r>
              <a:rPr sz="750" b="0">
                <a:solidFill>
                  <a:srgbClr val="181818"/>
                </a:solidFill>
              </a:rPr>
              <a:t>舒适、智能、空间、安全</a:t>
            </a:r>
          </a:p>
        </p:txBody>
      </p:sp>
      <p:sp>
        <p:nvSpPr>
          <p:cNvPr id="26" name="sample-c-0-3">
            <a:extLst xmlns:a="http://schemas.openxmlformats.org/drawingml/2006/main">
              <a:ext uri="{FF2B5EF4-FFF2-40B4-BE49-F238E27FC236}">
                <a16:creationId xmlns:a16="http://schemas.microsoft.com/office/drawing/2014/main" id="{C2744859-2148-4C19-8A29-9E2D9DE9C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28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7" name="sample-ct-0-3">
            <a:extLst xmlns:a="http://schemas.openxmlformats.org/drawingml/2006/main">
              <a:ext uri="{FF2B5EF4-FFF2-40B4-BE49-F238E27FC236}">
                <a16:creationId xmlns:a16="http://schemas.microsoft.com/office/drawing/2014/main" id="{7D403EB9-DFA6-414C-8DF8-EAA643552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85950"/>
            <a:ext cx="1981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81818"/>
                </a:solidFill>
              </a:defRPr>
            </a:pPr>
            <a:r>
              <a:rPr sz="750" b="0">
                <a:solidFill>
                  <a:srgbClr val="181818"/>
                </a:solidFill>
              </a:rPr>
              <a:t>通勤、亲子、长途</a:t>
            </a:r>
          </a:p>
        </p:txBody>
      </p:sp>
      <p:sp>
        <p:nvSpPr>
          <p:cNvPr id="28" name="sample-c-0-4">
            <a:extLst xmlns:a="http://schemas.openxmlformats.org/drawingml/2006/main">
              <a:ext uri="{FF2B5EF4-FFF2-40B4-BE49-F238E27FC236}">
                <a16:creationId xmlns:a16="http://schemas.microsoft.com/office/drawing/2014/main" id="{F4A4D18B-216B-4A2B-B3A3-82517A9C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28800"/>
            <a:ext cx="21526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9" name="sample-ct-0-4">
            <a:extLst xmlns:a="http://schemas.openxmlformats.org/drawingml/2006/main">
              <a:ext uri="{FF2B5EF4-FFF2-40B4-BE49-F238E27FC236}">
                <a16:creationId xmlns:a16="http://schemas.microsoft.com/office/drawing/2014/main" id="{86465201-E744-4D2F-ADB6-CC0FE7CF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85950"/>
            <a:ext cx="2038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81818"/>
                </a:solidFill>
              </a:defRPr>
            </a:pPr>
            <a:r>
              <a:rPr sz="750" b="0">
                <a:solidFill>
                  <a:srgbClr val="181818"/>
                </a:solidFill>
              </a:rPr>
              <a:t>最可能被“豪华越野”概念吸引。</a:t>
            </a:r>
          </a:p>
        </p:txBody>
      </p:sp>
      <p:sp>
        <p:nvSpPr>
          <p:cNvPr id="30" name="sample-c-1-0">
            <a:extLst xmlns:a="http://schemas.openxmlformats.org/drawingml/2006/main">
              <a:ext uri="{FF2B5EF4-FFF2-40B4-BE49-F238E27FC236}">
                <a16:creationId xmlns:a16="http://schemas.microsoft.com/office/drawing/2014/main" id="{EDC7C670-3773-4949-B622-0493BC976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14600"/>
            <a:ext cx="161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31" name="sample-ct-1-0">
            <a:extLst xmlns:a="http://schemas.openxmlformats.org/drawingml/2006/main">
              <a:ext uri="{FF2B5EF4-FFF2-40B4-BE49-F238E27FC236}">
                <a16:creationId xmlns:a16="http://schemas.microsoft.com/office/drawing/2014/main" id="{CA40DF01-09E7-4CE5-BF62-C3AB65004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1504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81818"/>
                </a:solidFill>
              </a:defRPr>
            </a:pPr>
            <a:r>
              <a:rPr sz="825" b="1">
                <a:solidFill>
                  <a:srgbClr val="181818"/>
                </a:solidFill>
              </a:rPr>
              <a:t>轻越野探索型</a:t>
            </a:r>
          </a:p>
        </p:txBody>
      </p:sp>
      <p:sp>
        <p:nvSpPr>
          <p:cNvPr id="32" name="sample-c-1-1">
            <a:extLst xmlns:a="http://schemas.openxmlformats.org/drawingml/2006/main">
              <a:ext uri="{FF2B5EF4-FFF2-40B4-BE49-F238E27FC236}">
                <a16:creationId xmlns:a16="http://schemas.microsoft.com/office/drawing/2014/main" id="{C8A38E49-4B8A-43A9-A952-9F85F8151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514600"/>
            <a:ext cx="171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33" name="sample-ct-1-1">
            <a:extLst xmlns:a="http://schemas.openxmlformats.org/drawingml/2006/main">
              <a:ext uri="{FF2B5EF4-FFF2-40B4-BE49-F238E27FC236}">
                <a16:creationId xmlns:a16="http://schemas.microsoft.com/office/drawing/2014/main" id="{BF206F91-3FBB-441D-BBF5-E62861EF9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571750"/>
            <a:ext cx="1600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81818"/>
                </a:solidFill>
              </a:defRPr>
            </a:pPr>
            <a:r>
              <a:rPr sz="750" b="0">
                <a:solidFill>
                  <a:srgbClr val="181818"/>
                </a:solidFill>
              </a:rPr>
              <a:t>豹5 / 捷途 / 坦克300</a:t>
            </a:r>
          </a:p>
        </p:txBody>
      </p:sp>
      <p:sp>
        <p:nvSpPr>
          <p:cNvPr id="34" name="sample-c-1-2">
            <a:extLst xmlns:a="http://schemas.openxmlformats.org/drawingml/2006/main">
              <a:ext uri="{FF2B5EF4-FFF2-40B4-BE49-F238E27FC236}">
                <a16:creationId xmlns:a16="http://schemas.microsoft.com/office/drawing/2014/main" id="{7E4D435F-87E6-4B74-A178-679EA622F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514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35" name="sample-ct-1-2">
            <a:extLst xmlns:a="http://schemas.openxmlformats.org/drawingml/2006/main">
              <a:ext uri="{FF2B5EF4-FFF2-40B4-BE49-F238E27FC236}">
                <a16:creationId xmlns:a16="http://schemas.microsoft.com/office/drawing/2014/main" id="{3E37539A-DEB5-4EEB-A8A2-ED433B6C2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571750"/>
            <a:ext cx="1981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81818"/>
                </a:solidFill>
              </a:defRPr>
            </a:pPr>
            <a:r>
              <a:rPr sz="750" b="0">
                <a:solidFill>
                  <a:srgbClr val="181818"/>
                </a:solidFill>
              </a:rPr>
              <a:t>个性、轻越野、可拓展</a:t>
            </a:r>
          </a:p>
        </p:txBody>
      </p:sp>
      <p:sp>
        <p:nvSpPr>
          <p:cNvPr id="36" name="sample-c-1-3">
            <a:extLst xmlns:a="http://schemas.openxmlformats.org/drawingml/2006/main">
              <a:ext uri="{FF2B5EF4-FFF2-40B4-BE49-F238E27FC236}">
                <a16:creationId xmlns:a16="http://schemas.microsoft.com/office/drawing/2014/main" id="{8D758B9B-CB40-4460-822A-0130F974E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14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37" name="sample-ct-1-3">
            <a:extLst xmlns:a="http://schemas.openxmlformats.org/drawingml/2006/main">
              <a:ext uri="{FF2B5EF4-FFF2-40B4-BE49-F238E27FC236}">
                <a16:creationId xmlns:a16="http://schemas.microsoft.com/office/drawing/2014/main" id="{13409B3B-130F-4DEA-90C0-9BA433C79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71750"/>
            <a:ext cx="1981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81818"/>
                </a:solidFill>
              </a:defRPr>
            </a:pPr>
            <a:r>
              <a:rPr sz="750" b="0">
                <a:solidFill>
                  <a:srgbClr val="181818"/>
                </a:solidFill>
              </a:rPr>
              <a:t>露营、跑山、轻越野</a:t>
            </a:r>
          </a:p>
        </p:txBody>
      </p:sp>
      <p:sp>
        <p:nvSpPr>
          <p:cNvPr id="38" name="sample-c-1-4">
            <a:extLst xmlns:a="http://schemas.openxmlformats.org/drawingml/2006/main">
              <a:ext uri="{FF2B5EF4-FFF2-40B4-BE49-F238E27FC236}">
                <a16:creationId xmlns:a16="http://schemas.microsoft.com/office/drawing/2014/main" id="{05828D19-6ABA-41DB-8B3D-4F75876B0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14600"/>
            <a:ext cx="21526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39" name="sample-ct-1-4">
            <a:extLst xmlns:a="http://schemas.openxmlformats.org/drawingml/2006/main">
              <a:ext uri="{FF2B5EF4-FFF2-40B4-BE49-F238E27FC236}">
                <a16:creationId xmlns:a16="http://schemas.microsoft.com/office/drawing/2014/main" id="{C1749A4B-47E2-4852-BE6F-75B6CC33C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571750"/>
            <a:ext cx="2038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81818"/>
                </a:solidFill>
              </a:defRPr>
            </a:pPr>
            <a:r>
              <a:rPr sz="750" b="0">
                <a:solidFill>
                  <a:srgbClr val="181818"/>
                </a:solidFill>
              </a:rPr>
              <a:t>愿意为差异化设计和生态扩展买单。</a:t>
            </a:r>
          </a:p>
        </p:txBody>
      </p:sp>
      <p:sp>
        <p:nvSpPr>
          <p:cNvPr id="40" name="sample-c-2-0">
            <a:extLst xmlns:a="http://schemas.openxmlformats.org/drawingml/2006/main">
              <a:ext uri="{FF2B5EF4-FFF2-40B4-BE49-F238E27FC236}">
                <a16:creationId xmlns:a16="http://schemas.microsoft.com/office/drawing/2014/main" id="{9924F77F-E212-45EF-BD48-855013A2E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00400"/>
            <a:ext cx="161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41" name="sample-ct-2-0">
            <a:extLst xmlns:a="http://schemas.openxmlformats.org/drawingml/2006/main">
              <a:ext uri="{FF2B5EF4-FFF2-40B4-BE49-F238E27FC236}">
                <a16:creationId xmlns:a16="http://schemas.microsoft.com/office/drawing/2014/main" id="{6DF9045C-61C8-4DC1-A512-6AC9FD104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57550"/>
            <a:ext cx="1504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81818"/>
                </a:solidFill>
              </a:defRPr>
            </a:pPr>
            <a:r>
              <a:rPr sz="825" b="1">
                <a:solidFill>
                  <a:srgbClr val="181818"/>
                </a:solidFill>
              </a:rPr>
              <a:t>硬核越野型</a:t>
            </a:r>
          </a:p>
        </p:txBody>
      </p:sp>
      <p:sp>
        <p:nvSpPr>
          <p:cNvPr id="42" name="sample-c-2-1">
            <a:extLst xmlns:a="http://schemas.openxmlformats.org/drawingml/2006/main">
              <a:ext uri="{FF2B5EF4-FFF2-40B4-BE49-F238E27FC236}">
                <a16:creationId xmlns:a16="http://schemas.microsoft.com/office/drawing/2014/main" id="{15510699-4CF6-4649-BAED-0997C68E3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200400"/>
            <a:ext cx="171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43" name="sample-ct-2-1">
            <a:extLst xmlns:a="http://schemas.openxmlformats.org/drawingml/2006/main">
              <a:ext uri="{FF2B5EF4-FFF2-40B4-BE49-F238E27FC236}">
                <a16:creationId xmlns:a16="http://schemas.microsoft.com/office/drawing/2014/main" id="{D2CEB084-7446-4C1B-A136-42966F577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257550"/>
            <a:ext cx="1600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81818"/>
                </a:solidFill>
              </a:defRPr>
            </a:pPr>
            <a:r>
              <a:rPr sz="750" b="0">
                <a:solidFill>
                  <a:srgbClr val="181818"/>
                </a:solidFill>
              </a:rPr>
              <a:t>坦克400/500 / 烈马</a:t>
            </a:r>
          </a:p>
        </p:txBody>
      </p:sp>
      <p:sp>
        <p:nvSpPr>
          <p:cNvPr id="44" name="sample-c-2-2">
            <a:extLst xmlns:a="http://schemas.openxmlformats.org/drawingml/2006/main">
              <a:ext uri="{FF2B5EF4-FFF2-40B4-BE49-F238E27FC236}">
                <a16:creationId xmlns:a16="http://schemas.microsoft.com/office/drawing/2014/main" id="{8525F5B9-1877-45A0-957C-A15222110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200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45" name="sample-ct-2-2">
            <a:extLst xmlns:a="http://schemas.openxmlformats.org/drawingml/2006/main">
              <a:ext uri="{FF2B5EF4-FFF2-40B4-BE49-F238E27FC236}">
                <a16:creationId xmlns:a16="http://schemas.microsoft.com/office/drawing/2014/main" id="{9122DFB1-A6D8-4851-848F-875A46CF8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257550"/>
            <a:ext cx="1981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81818"/>
                </a:solidFill>
              </a:defRPr>
            </a:pPr>
            <a:r>
              <a:rPr sz="750" b="0">
                <a:solidFill>
                  <a:srgbClr val="181818"/>
                </a:solidFill>
              </a:rPr>
              <a:t>大梁、三把锁、耐用、改装</a:t>
            </a:r>
          </a:p>
        </p:txBody>
      </p:sp>
      <p:sp>
        <p:nvSpPr>
          <p:cNvPr id="46" name="sample-c-2-3">
            <a:extLst xmlns:a="http://schemas.openxmlformats.org/drawingml/2006/main">
              <a:ext uri="{FF2B5EF4-FFF2-40B4-BE49-F238E27FC236}">
                <a16:creationId xmlns:a16="http://schemas.microsoft.com/office/drawing/2014/main" id="{371A3842-3CE5-4D9D-86DB-1D7A8176A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47" name="sample-ct-2-3">
            <a:extLst xmlns:a="http://schemas.openxmlformats.org/drawingml/2006/main">
              <a:ext uri="{FF2B5EF4-FFF2-40B4-BE49-F238E27FC236}">
                <a16:creationId xmlns:a16="http://schemas.microsoft.com/office/drawing/2014/main" id="{2DDB2FA6-1D26-4B30-AF7F-57A3F6498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57550"/>
            <a:ext cx="1981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81818"/>
                </a:solidFill>
              </a:defRPr>
            </a:pPr>
            <a:r>
              <a:rPr sz="750" b="0">
                <a:solidFill>
                  <a:srgbClr val="181818"/>
                </a:solidFill>
              </a:rPr>
              <a:t>穿越、长途、非铺装</a:t>
            </a:r>
          </a:p>
        </p:txBody>
      </p:sp>
      <p:sp>
        <p:nvSpPr>
          <p:cNvPr id="48" name="sample-c-2-4">
            <a:extLst xmlns:a="http://schemas.openxmlformats.org/drawingml/2006/main">
              <a:ext uri="{FF2B5EF4-FFF2-40B4-BE49-F238E27FC236}">
                <a16:creationId xmlns:a16="http://schemas.microsoft.com/office/drawing/2014/main" id="{866382C7-47DA-422D-9AB6-DCF60F395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200400"/>
            <a:ext cx="21526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49" name="sample-ct-2-4">
            <a:extLst xmlns:a="http://schemas.openxmlformats.org/drawingml/2006/main">
              <a:ext uri="{FF2B5EF4-FFF2-40B4-BE49-F238E27FC236}">
                <a16:creationId xmlns:a16="http://schemas.microsoft.com/office/drawing/2014/main" id="{ED5A16AD-A122-4838-8FFE-9CDA7469F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257550"/>
            <a:ext cx="2038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81818"/>
                </a:solidFill>
              </a:defRPr>
            </a:pPr>
            <a:r>
              <a:rPr sz="750" b="0">
                <a:solidFill>
                  <a:srgbClr val="181818"/>
                </a:solidFill>
              </a:rPr>
              <a:t>对越野能力阐释要求更高。</a:t>
            </a:r>
          </a:p>
        </p:txBody>
      </p:sp>
      <p:sp>
        <p:nvSpPr>
          <p:cNvPr id="50" name="sample-c-3-0">
            <a:extLst xmlns:a="http://schemas.openxmlformats.org/drawingml/2006/main">
              <a:ext uri="{FF2B5EF4-FFF2-40B4-BE49-F238E27FC236}">
                <a16:creationId xmlns:a16="http://schemas.microsoft.com/office/drawing/2014/main" id="{02128792-0C68-45FA-9DF2-6BBAE3BC4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86200"/>
            <a:ext cx="161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51" name="sample-ct-3-0">
            <a:extLst xmlns:a="http://schemas.openxmlformats.org/drawingml/2006/main">
              <a:ext uri="{FF2B5EF4-FFF2-40B4-BE49-F238E27FC236}">
                <a16:creationId xmlns:a16="http://schemas.microsoft.com/office/drawing/2014/main" id="{3CD3A314-8C95-48E4-B2EC-D307EE19D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43350"/>
            <a:ext cx="1504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81818"/>
                </a:solidFill>
              </a:defRPr>
            </a:pPr>
            <a:r>
              <a:rPr sz="825" b="1">
                <a:solidFill>
                  <a:srgbClr val="181818"/>
                </a:solidFill>
              </a:rPr>
              <a:t>精致旅行 / 亲子宠物型</a:t>
            </a:r>
          </a:p>
        </p:txBody>
      </p:sp>
      <p:sp>
        <p:nvSpPr>
          <p:cNvPr id="52" name="sample-c-3-1">
            <a:extLst xmlns:a="http://schemas.openxmlformats.org/drawingml/2006/main">
              <a:ext uri="{FF2B5EF4-FFF2-40B4-BE49-F238E27FC236}">
                <a16:creationId xmlns:a16="http://schemas.microsoft.com/office/drawing/2014/main" id="{CCF92F2D-C7B2-496E-9559-E5B39298F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886200"/>
            <a:ext cx="171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53" name="sample-ct-3-1">
            <a:extLst xmlns:a="http://schemas.openxmlformats.org/drawingml/2006/main">
              <a:ext uri="{FF2B5EF4-FFF2-40B4-BE49-F238E27FC236}">
                <a16:creationId xmlns:a16="http://schemas.microsoft.com/office/drawing/2014/main" id="{810157D4-927F-4AD5-9FBE-70D098CEE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943350"/>
            <a:ext cx="1600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81818"/>
                </a:solidFill>
              </a:defRPr>
            </a:pPr>
            <a:r>
              <a:rPr sz="750" b="0">
                <a:solidFill>
                  <a:srgbClr val="181818"/>
                </a:solidFill>
              </a:rPr>
              <a:t>BBA / 大众 / 哈弗 H5</a:t>
            </a:r>
          </a:p>
        </p:txBody>
      </p:sp>
      <p:sp>
        <p:nvSpPr>
          <p:cNvPr id="54" name="sample-c-3-2">
            <a:extLst xmlns:a="http://schemas.openxmlformats.org/drawingml/2006/main">
              <a:ext uri="{FF2B5EF4-FFF2-40B4-BE49-F238E27FC236}">
                <a16:creationId xmlns:a16="http://schemas.microsoft.com/office/drawing/2014/main" id="{959A6F9B-FBC5-4BCD-881E-2120272B6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886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55" name="sample-ct-3-2">
            <a:extLst xmlns:a="http://schemas.openxmlformats.org/drawingml/2006/main">
              <a:ext uri="{FF2B5EF4-FFF2-40B4-BE49-F238E27FC236}">
                <a16:creationId xmlns:a16="http://schemas.microsoft.com/office/drawing/2014/main" id="{A9096E86-C099-4A2B-9BF9-ABF2EBDDF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943350"/>
            <a:ext cx="1981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81818"/>
                </a:solidFill>
              </a:defRPr>
            </a:pPr>
            <a:r>
              <a:rPr sz="750" b="0">
                <a:solidFill>
                  <a:srgbClr val="181818"/>
                </a:solidFill>
              </a:rPr>
              <a:t>舒适、省心、仪式感</a:t>
            </a:r>
          </a:p>
        </p:txBody>
      </p:sp>
      <p:sp>
        <p:nvSpPr>
          <p:cNvPr id="56" name="sample-c-3-3">
            <a:extLst xmlns:a="http://schemas.openxmlformats.org/drawingml/2006/main">
              <a:ext uri="{FF2B5EF4-FFF2-40B4-BE49-F238E27FC236}">
                <a16:creationId xmlns:a16="http://schemas.microsoft.com/office/drawing/2014/main" id="{59E948CF-3B4F-4CD4-9D3B-6937CFC25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886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57" name="sample-ct-3-3">
            <a:extLst xmlns:a="http://schemas.openxmlformats.org/drawingml/2006/main">
              <a:ext uri="{FF2B5EF4-FFF2-40B4-BE49-F238E27FC236}">
                <a16:creationId xmlns:a16="http://schemas.microsoft.com/office/drawing/2014/main" id="{02C6276E-8993-4D1B-B495-EFC8A5C79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943350"/>
            <a:ext cx="1981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81818"/>
                </a:solidFill>
              </a:defRPr>
            </a:pPr>
            <a:r>
              <a:rPr sz="750" b="0">
                <a:solidFill>
                  <a:srgbClr val="181818"/>
                </a:solidFill>
              </a:rPr>
              <a:t>家庭清洁、宠物、露营</a:t>
            </a:r>
          </a:p>
        </p:txBody>
      </p:sp>
      <p:sp>
        <p:nvSpPr>
          <p:cNvPr id="58" name="sample-c-3-4">
            <a:extLst xmlns:a="http://schemas.openxmlformats.org/drawingml/2006/main">
              <a:ext uri="{FF2B5EF4-FFF2-40B4-BE49-F238E27FC236}">
                <a16:creationId xmlns:a16="http://schemas.microsoft.com/office/drawing/2014/main" id="{654AA3C5-14F4-48F8-95EE-00B5D50C6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886200"/>
            <a:ext cx="21526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59" name="sample-ct-3-4">
            <a:extLst xmlns:a="http://schemas.openxmlformats.org/drawingml/2006/main">
              <a:ext uri="{FF2B5EF4-FFF2-40B4-BE49-F238E27FC236}">
                <a16:creationId xmlns:a16="http://schemas.microsoft.com/office/drawing/2014/main" id="{20525383-1F5F-4A9E-B78B-5C4C420EB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943350"/>
            <a:ext cx="2038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81818"/>
                </a:solidFill>
              </a:defRPr>
            </a:pPr>
            <a:r>
              <a:rPr sz="750" b="0">
                <a:solidFill>
                  <a:srgbClr val="181818"/>
                </a:solidFill>
              </a:rPr>
              <a:t>生态件与传播语言影响更大。</a:t>
            </a:r>
          </a:p>
        </p:txBody>
      </p:sp>
      <p:sp>
        <p:nvSpPr>
          <p:cNvPr id="60" name="types-panel">
            <a:extLst xmlns:a="http://schemas.openxmlformats.org/drawingml/2006/main">
              <a:ext uri="{FF2B5EF4-FFF2-40B4-BE49-F238E27FC236}">
                <a16:creationId xmlns:a16="http://schemas.microsoft.com/office/drawing/2014/main" id="{11DD4170-A119-41B5-A09A-A7FC9B7B9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2500"/>
            <a:ext cx="105156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61" name="types-header">
            <a:extLst xmlns:a="http://schemas.openxmlformats.org/drawingml/2006/main">
              <a:ext uri="{FF2B5EF4-FFF2-40B4-BE49-F238E27FC236}">
                <a16:creationId xmlns:a16="http://schemas.microsoft.com/office/drawing/2014/main" id="{D6216529-4667-43E6-928F-A3454EF78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2500"/>
            <a:ext cx="10515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8D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types-title">
            <a:extLst xmlns:a="http://schemas.openxmlformats.org/drawingml/2006/main">
              <a:ext uri="{FF2B5EF4-FFF2-40B4-BE49-F238E27FC236}">
                <a16:creationId xmlns:a16="http://schemas.microsoft.com/office/drawing/2014/main" id="{09DD0499-6F50-46E9-9F26-9218F3272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00600"/>
            <a:ext cx="10325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可归纳出的八类用户原型与进入路径</a:t>
            </a:r>
          </a:p>
        </p:txBody>
      </p:sp>
      <p:sp>
        <p:nvSpPr>
          <p:cNvPr id="63" name="types-row-1-chip-0">
            <a:extLst xmlns:a="http://schemas.openxmlformats.org/drawingml/2006/main">
              <a:ext uri="{FF2B5EF4-FFF2-40B4-BE49-F238E27FC236}">
                <a16:creationId xmlns:a16="http://schemas.microsoft.com/office/drawing/2014/main" id="{887BD613-39C7-444D-AD33-7E073D212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43500"/>
            <a:ext cx="24479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EB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64" name="types-row-1-chip-text-0">
            <a:extLst xmlns:a="http://schemas.openxmlformats.org/drawingml/2006/main">
              <a:ext uri="{FF2B5EF4-FFF2-40B4-BE49-F238E27FC236}">
                <a16:creationId xmlns:a16="http://schemas.microsoft.com/office/drawing/2014/main" id="{8733412D-0F52-4626-938C-EFE4D66A6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00650"/>
            <a:ext cx="2333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81818"/>
                </a:solidFill>
              </a:defRPr>
            </a:pPr>
            <a:r>
              <a:rPr sz="675" b="1">
                <a:solidFill>
                  <a:srgbClr val="181818"/>
                </a:solidFill>
              </a:rPr>
              <a:t>亲子减压型</a:t>
            </a:r>
          </a:p>
        </p:txBody>
      </p:sp>
      <p:sp>
        <p:nvSpPr>
          <p:cNvPr id="65" name="types-row-1-chip-1">
            <a:extLst xmlns:a="http://schemas.openxmlformats.org/drawingml/2006/main">
              <a:ext uri="{FF2B5EF4-FFF2-40B4-BE49-F238E27FC236}">
                <a16:creationId xmlns:a16="http://schemas.microsoft.com/office/drawing/2014/main" id="{01E895BD-FB51-447E-B658-C3EDC39EE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143500"/>
            <a:ext cx="24479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EB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66" name="types-row-1-chip-text-1">
            <a:extLst xmlns:a="http://schemas.openxmlformats.org/drawingml/2006/main">
              <a:ext uri="{FF2B5EF4-FFF2-40B4-BE49-F238E27FC236}">
                <a16:creationId xmlns:a16="http://schemas.microsoft.com/office/drawing/2014/main" id="{E24AFDD3-068B-49C0-977F-794034B54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5200650"/>
            <a:ext cx="2333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81818"/>
                </a:solidFill>
              </a:defRPr>
            </a:pPr>
            <a:r>
              <a:rPr sz="675" b="1">
                <a:solidFill>
                  <a:srgbClr val="181818"/>
                </a:solidFill>
              </a:rPr>
              <a:t>活力亲野型</a:t>
            </a:r>
          </a:p>
        </p:txBody>
      </p:sp>
      <p:sp>
        <p:nvSpPr>
          <p:cNvPr id="67" name="types-row-1-chip-2">
            <a:extLst xmlns:a="http://schemas.openxmlformats.org/drawingml/2006/main">
              <a:ext uri="{FF2B5EF4-FFF2-40B4-BE49-F238E27FC236}">
                <a16:creationId xmlns:a16="http://schemas.microsoft.com/office/drawing/2014/main" id="{03F47821-85FA-408F-9429-EBFC3B9CA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143500"/>
            <a:ext cx="24479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5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68" name="types-row-1-chip-text-2">
            <a:extLst xmlns:a="http://schemas.openxmlformats.org/drawingml/2006/main">
              <a:ext uri="{FF2B5EF4-FFF2-40B4-BE49-F238E27FC236}">
                <a16:creationId xmlns:a16="http://schemas.microsoft.com/office/drawing/2014/main" id="{8E4F6392-A8B6-4E28-A1DD-53ADBADA3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00650"/>
            <a:ext cx="2333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81818"/>
                </a:solidFill>
              </a:defRPr>
            </a:pPr>
            <a:r>
              <a:rPr sz="675" b="1">
                <a:solidFill>
                  <a:srgbClr val="181818"/>
                </a:solidFill>
              </a:rPr>
              <a:t>体面掌控型</a:t>
            </a:r>
          </a:p>
        </p:txBody>
      </p:sp>
      <p:sp>
        <p:nvSpPr>
          <p:cNvPr id="69" name="types-row-1-chip-3">
            <a:extLst xmlns:a="http://schemas.openxmlformats.org/drawingml/2006/main">
              <a:ext uri="{FF2B5EF4-FFF2-40B4-BE49-F238E27FC236}">
                <a16:creationId xmlns:a16="http://schemas.microsoft.com/office/drawing/2014/main" id="{F3382FC1-728D-4CF5-B160-77C30BB94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5143500"/>
            <a:ext cx="24479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5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70" name="types-row-1-chip-text-3">
            <a:extLst xmlns:a="http://schemas.openxmlformats.org/drawingml/2006/main">
              <a:ext uri="{FF2B5EF4-FFF2-40B4-BE49-F238E27FC236}">
                <a16:creationId xmlns:a16="http://schemas.microsoft.com/office/drawing/2014/main" id="{91A7684E-8C82-40A0-B387-68C794CA8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5200650"/>
            <a:ext cx="2333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81818"/>
                </a:solidFill>
              </a:defRPr>
            </a:pPr>
            <a:r>
              <a:rPr sz="675" b="1">
                <a:solidFill>
                  <a:srgbClr val="181818"/>
                </a:solidFill>
              </a:rPr>
              <a:t>精致旅行型</a:t>
            </a:r>
          </a:p>
        </p:txBody>
      </p:sp>
      <p:sp>
        <p:nvSpPr>
          <p:cNvPr id="71" name="types-row-2-chip-0">
            <a:extLst xmlns:a="http://schemas.openxmlformats.org/drawingml/2006/main">
              <a:ext uri="{FF2B5EF4-FFF2-40B4-BE49-F238E27FC236}">
                <a16:creationId xmlns:a16="http://schemas.microsoft.com/office/drawing/2014/main" id="{20D58010-654C-4A4E-B725-A44232133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67350"/>
            <a:ext cx="24479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CE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72" name="types-row-2-chip-text-0">
            <a:extLst xmlns:a="http://schemas.openxmlformats.org/drawingml/2006/main">
              <a:ext uri="{FF2B5EF4-FFF2-40B4-BE49-F238E27FC236}">
                <a16:creationId xmlns:a16="http://schemas.microsoft.com/office/drawing/2014/main" id="{C13BEF66-7B54-4A78-99A8-E9A802864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524500"/>
            <a:ext cx="2333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81818"/>
                </a:solidFill>
              </a:defRPr>
            </a:pPr>
            <a:r>
              <a:rPr sz="675" b="1">
                <a:solidFill>
                  <a:srgbClr val="181818"/>
                </a:solidFill>
              </a:rPr>
              <a:t>穿越新手型</a:t>
            </a:r>
          </a:p>
        </p:txBody>
      </p:sp>
      <p:sp>
        <p:nvSpPr>
          <p:cNvPr id="73" name="types-row-2-chip-1">
            <a:extLst xmlns:a="http://schemas.openxmlformats.org/drawingml/2006/main">
              <a:ext uri="{FF2B5EF4-FFF2-40B4-BE49-F238E27FC236}">
                <a16:creationId xmlns:a16="http://schemas.microsoft.com/office/drawing/2014/main" id="{5E8E2A31-D929-4F60-A23A-D69B03EAD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467350"/>
            <a:ext cx="24479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CE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74" name="types-row-2-chip-text-1">
            <a:extLst xmlns:a="http://schemas.openxmlformats.org/drawingml/2006/main">
              <a:ext uri="{FF2B5EF4-FFF2-40B4-BE49-F238E27FC236}">
                <a16:creationId xmlns:a16="http://schemas.microsoft.com/office/drawing/2014/main" id="{4D87C884-6D7E-475E-9790-5100F3B71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5524500"/>
            <a:ext cx="2333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81818"/>
                </a:solidFill>
              </a:defRPr>
            </a:pPr>
            <a:r>
              <a:rPr sz="675" b="1">
                <a:solidFill>
                  <a:srgbClr val="181818"/>
                </a:solidFill>
              </a:rPr>
              <a:t>越野先锋型</a:t>
            </a:r>
          </a:p>
        </p:txBody>
      </p:sp>
      <p:sp>
        <p:nvSpPr>
          <p:cNvPr id="75" name="types-row-2-chip-2">
            <a:extLst xmlns:a="http://schemas.openxmlformats.org/drawingml/2006/main">
              <a:ext uri="{FF2B5EF4-FFF2-40B4-BE49-F238E27FC236}">
                <a16:creationId xmlns:a16="http://schemas.microsoft.com/office/drawing/2014/main" id="{2E4B4A2D-E2E8-4C73-92B4-1C6A0E376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467350"/>
            <a:ext cx="24479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E9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76" name="types-row-2-chip-text-2">
            <a:extLst xmlns:a="http://schemas.openxmlformats.org/drawingml/2006/main">
              <a:ext uri="{FF2B5EF4-FFF2-40B4-BE49-F238E27FC236}">
                <a16:creationId xmlns:a16="http://schemas.microsoft.com/office/drawing/2014/main" id="{3D375A38-C705-40E4-B1EA-830595152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524500"/>
            <a:ext cx="2333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81818"/>
                </a:solidFill>
              </a:defRPr>
            </a:pPr>
            <a:r>
              <a:rPr sz="675" b="1">
                <a:solidFill>
                  <a:srgbClr val="181818"/>
                </a:solidFill>
              </a:rPr>
              <a:t>越野老炮型</a:t>
            </a:r>
          </a:p>
        </p:txBody>
      </p:sp>
      <p:sp>
        <p:nvSpPr>
          <p:cNvPr id="77" name="types-row-2-chip-3">
            <a:extLst xmlns:a="http://schemas.openxmlformats.org/drawingml/2006/main">
              <a:ext uri="{FF2B5EF4-FFF2-40B4-BE49-F238E27FC236}">
                <a16:creationId xmlns:a16="http://schemas.microsoft.com/office/drawing/2014/main" id="{6175989F-0BCB-4042-B2C0-9D6E3AE6F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5467350"/>
            <a:ext cx="24479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E9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78" name="types-row-2-chip-text-3">
            <a:extLst xmlns:a="http://schemas.openxmlformats.org/drawingml/2006/main">
              <a:ext uri="{FF2B5EF4-FFF2-40B4-BE49-F238E27FC236}">
                <a16:creationId xmlns:a16="http://schemas.microsoft.com/office/drawing/2014/main" id="{A4519981-DE72-47BB-83B5-D39BB6A80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5524500"/>
            <a:ext cx="2333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81818"/>
                </a:solidFill>
              </a:defRPr>
            </a:pPr>
            <a:r>
              <a:rPr sz="675" b="1">
                <a:solidFill>
                  <a:srgbClr val="181818"/>
                </a:solidFill>
              </a:rPr>
              <a:t>贵族玩家型</a:t>
            </a:r>
          </a:p>
        </p:txBody>
      </p:sp>
      <p:sp>
        <p:nvSpPr>
          <p:cNvPr id="79" name="types-note-band">
            <a:extLst xmlns:a="http://schemas.openxmlformats.org/drawingml/2006/main">
              <a:ext uri="{FF2B5EF4-FFF2-40B4-BE49-F238E27FC236}">
                <a16:creationId xmlns:a16="http://schemas.microsoft.com/office/drawing/2014/main" id="{36A902EC-85C8-4102-B089-DD057E1D5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791200"/>
            <a:ext cx="1009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80" name="types-note-text">
            <a:extLst xmlns:a="http://schemas.openxmlformats.org/drawingml/2006/main">
              <a:ext uri="{FF2B5EF4-FFF2-40B4-BE49-F238E27FC236}">
                <a16:creationId xmlns:a16="http://schemas.microsoft.com/office/drawing/2014/main" id="{2FAED110-B53E-4ABB-ADA6-90192A529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838825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5757"/>
                </a:solidFill>
              </a:defRPr>
            </a:pPr>
            <a:r>
              <a:rPr sz="750" b="1">
                <a:solidFill>
                  <a:srgbClr val="595757"/>
                </a:solidFill>
              </a:rPr>
              <a:t>进入路径大致由“城市体面/家庭舒适”向“户外探索/越野性能”递进，因此版本与话术也应分层。</a:t>
            </a:r>
          </a:p>
        </p:txBody>
      </p:sp>
    </p:spTree>
    <p:extLst>
      <p:ext uri="{BB962C8B-B14F-4D97-AF65-F5344CB8AC3E}">
        <p14:creationId xmlns:p14="http://schemas.microsoft.com/office/powerpoint/2010/main" val="11555989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414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-line-6">
            <a:extLst xmlns:a="http://schemas.openxmlformats.org/drawingml/2006/main">
              <a:ext uri="{FF2B5EF4-FFF2-40B4-BE49-F238E27FC236}">
                <a16:creationId xmlns:a16="http://schemas.microsoft.com/office/drawing/2014/main" id="{A507A0F4-EBD7-4C4E-85CD-C35C90D18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-mark-6">
            <a:extLst xmlns:a="http://schemas.openxmlformats.org/drawingml/2006/main">
              <a:ext uri="{FF2B5EF4-FFF2-40B4-BE49-F238E27FC236}">
                <a16:creationId xmlns:a16="http://schemas.microsoft.com/office/drawing/2014/main" id="{755CDE83-3441-4F0B-8377-942B2B585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143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-no-6">
            <a:extLst xmlns:a="http://schemas.openxmlformats.org/drawingml/2006/main">
              <a:ext uri="{FF2B5EF4-FFF2-40B4-BE49-F238E27FC236}">
                <a16:creationId xmlns:a16="http://schemas.microsoft.com/office/drawing/2014/main" id="{3169A34C-D229-4F73-AB1E-D3B33DF3C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200150"/>
            <a:ext cx="1047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" name="s-title-6">
            <a:extLst xmlns:a="http://schemas.openxmlformats.org/drawingml/2006/main">
              <a:ext uri="{FF2B5EF4-FFF2-40B4-BE49-F238E27FC236}">
                <a16:creationId xmlns:a16="http://schemas.microsoft.com/office/drawing/2014/main" id="{DA71F69E-EB18-4481-91DE-B2DB05735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524000"/>
            <a:ext cx="8191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竞品评价与心智对比</a:t>
            </a:r>
          </a:p>
        </p:txBody>
      </p:sp>
      <p:sp>
        <p:nvSpPr>
          <p:cNvPr id="5" name="s-note-6">
            <a:extLst xmlns:a="http://schemas.openxmlformats.org/drawingml/2006/main">
              <a:ext uri="{FF2B5EF4-FFF2-40B4-BE49-F238E27FC236}">
                <a16:creationId xmlns:a16="http://schemas.microsoft.com/office/drawing/2014/main" id="{2A8504E1-7DB6-47AC-A5E5-F4D169EF5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57175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B5B5B6"/>
                </a:solidFill>
              </a:defRPr>
            </a:pPr>
            <a:r>
              <a:rPr sz="1350">
                <a:solidFill>
                  <a:srgbClr val="B5B5B6"/>
                </a:solidFill>
              </a:rPr>
              <a:t>围绕访谈中对主要竞品的认可点、短板与迁移动机进行归纳。</a:t>
            </a:r>
          </a:p>
        </p:txBody>
      </p:sp>
      <p:sp>
        <p:nvSpPr>
          <p:cNvPr id="6" name="s-bottom-6">
            <a:extLst xmlns:a="http://schemas.openxmlformats.org/drawingml/2006/main">
              <a:ext uri="{FF2B5EF4-FFF2-40B4-BE49-F238E27FC236}">
                <a16:creationId xmlns:a16="http://schemas.microsoft.com/office/drawing/2014/main" id="{AC20B96E-05B5-4C3F-AB40-7E77EAF64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15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57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-page-6">
            <a:extLst xmlns:a="http://schemas.openxmlformats.org/drawingml/2006/main">
              <a:ext uri="{FF2B5EF4-FFF2-40B4-BE49-F238E27FC236}">
                <a16:creationId xmlns:a16="http://schemas.microsoft.com/office/drawing/2014/main" id="{AE7F8B81-BD85-4A28-AABA-F74CCC4B5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B5B5B6"/>
                </a:solidFill>
              </a:defRPr>
            </a:pPr>
            <a:r>
              <a:rPr sz="750">
                <a:solidFill>
                  <a:srgbClr val="B5B5B6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194517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B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6" name="top-7">
            <a:extLst xmlns:a="http://schemas.openxmlformats.org/drawingml/2006/main">
              <a:ext uri="{FF2B5EF4-FFF2-40B4-BE49-F238E27FC236}">
                <a16:creationId xmlns:a16="http://schemas.microsoft.com/office/drawing/2014/main" id="{63E0F70F-65A3-4F10-8907-8EEF0EB13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mark-7">
            <a:extLst xmlns:a="http://schemas.openxmlformats.org/drawingml/2006/main">
              <a:ext uri="{FF2B5EF4-FFF2-40B4-BE49-F238E27FC236}">
                <a16:creationId xmlns:a16="http://schemas.microsoft.com/office/drawing/2014/main" id="{1C75AA74-B571-4DC6-9501-1EC4272BB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7">
            <a:extLst xmlns:a="http://schemas.openxmlformats.org/drawingml/2006/main">
              <a:ext uri="{FF2B5EF4-FFF2-40B4-BE49-F238E27FC236}">
                <a16:creationId xmlns:a16="http://schemas.microsoft.com/office/drawing/2014/main" id="{BDEFF859-5D24-40B8-96E5-2808D6D86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ource-7">
            <a:extLst xmlns:a="http://schemas.openxmlformats.org/drawingml/2006/main">
              <a:ext uri="{FF2B5EF4-FFF2-40B4-BE49-F238E27FC236}">
                <a16:creationId xmlns:a16="http://schemas.microsoft.com/office/drawing/2014/main" id="{FCCE3B6E-69B9-4EAF-B10B-1E465972D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717171"/>
                </a:solidFill>
              </a:defRPr>
            </a:pPr>
            <a:r>
              <a:rPr sz="750">
                <a:solidFill>
                  <a:srgbClr val="717171"/>
                </a:solidFill>
              </a:rPr>
              <a:t>资料来源：会议笔录分析总结_优化版(1).docx，仅基于原文整理</a:t>
            </a:r>
          </a:p>
        </p:txBody>
      </p:sp>
      <p:sp>
        <p:nvSpPr>
          <p:cNvPr id="5" name="page-7">
            <a:extLst xmlns:a="http://schemas.openxmlformats.org/drawingml/2006/main">
              <a:ext uri="{FF2B5EF4-FFF2-40B4-BE49-F238E27FC236}">
                <a16:creationId xmlns:a16="http://schemas.microsoft.com/office/drawing/2014/main" id="{12E18070-548E-43C2-95C6-09432EABC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912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717171"/>
                </a:solidFill>
              </a:defRPr>
            </a:pPr>
            <a:r>
              <a:rPr sz="750">
                <a:solidFill>
                  <a:srgbClr val="717171"/>
                </a:solidFill>
              </a:rPr>
              <a:t>07</a:t>
            </a:r>
          </a:p>
        </p:txBody>
      </p:sp>
      <p:sp>
        <p:nvSpPr>
          <p:cNvPr id="6" name="kicker-7">
            <a:extLst xmlns:a="http://schemas.openxmlformats.org/drawingml/2006/main">
              <a:ext uri="{FF2B5EF4-FFF2-40B4-BE49-F238E27FC236}">
                <a16:creationId xmlns:a16="http://schemas.microsoft.com/office/drawing/2014/main" id="{5B61F4EC-E298-43C5-B9D1-76CDBCA00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77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06124"/>
                </a:solidFill>
              </a:defRPr>
            </a:pPr>
            <a:r>
              <a:rPr sz="825" b="1">
                <a:solidFill>
                  <a:srgbClr val="F06124"/>
                </a:solidFill>
              </a:rPr>
              <a:t>COMPARISON</a:t>
            </a:r>
          </a:p>
        </p:txBody>
      </p:sp>
      <p:sp>
        <p:nvSpPr>
          <p:cNvPr id="7" name="title-7">
            <a:extLst xmlns:a="http://schemas.openxmlformats.org/drawingml/2006/main">
              <a:ext uri="{FF2B5EF4-FFF2-40B4-BE49-F238E27FC236}">
                <a16:creationId xmlns:a16="http://schemas.microsoft.com/office/drawing/2014/main" id="{06A9FC30-EF9F-4D10-9F63-BC9546482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1818"/>
                </a:solidFill>
              </a:defRPr>
            </a:pPr>
            <a:r>
              <a:rPr sz="2100" b="1">
                <a:solidFill>
                  <a:srgbClr val="181818"/>
                </a:solidFill>
              </a:rPr>
              <a:t>竞品对比图：用户把竞争格局理解成“舒适智能”和“越野个性”之间的权衡</a:t>
            </a:r>
          </a:p>
        </p:txBody>
      </p:sp>
      <p:sp>
        <p:nvSpPr>
          <p:cNvPr id="8" name="compare-top-band">
            <a:extLst xmlns:a="http://schemas.openxmlformats.org/drawingml/2006/main">
              <a:ext uri="{FF2B5EF4-FFF2-40B4-BE49-F238E27FC236}">
                <a16:creationId xmlns:a16="http://schemas.microsoft.com/office/drawing/2014/main" id="{39C7BB37-381B-4E5F-A5FA-0B010F61B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76350"/>
            <a:ext cx="10515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4"/>
          </a:solidFill>
          <a:ln xmlns:a="http://schemas.openxmlformats.org/drawingml/2006/main" w="0">
            <a:solidFill>
              <a:srgbClr val="141414"/>
            </a:solidFill>
            <a:prstDash val="solid"/>
          </a:ln>
        </p:spPr>
      </p:sp>
      <p:sp>
        <p:nvSpPr>
          <p:cNvPr id="9" name="compare-top-text">
            <a:extLst xmlns:a="http://schemas.openxmlformats.org/drawingml/2006/main">
              <a:ext uri="{FF2B5EF4-FFF2-40B4-BE49-F238E27FC236}">
                <a16:creationId xmlns:a16="http://schemas.microsoft.com/office/drawing/2014/main" id="{9DE23487-FFCC-4C29-85F0-CD2C11662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323975"/>
            <a:ext cx="10325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竞争格局判断: 理想/问界代表舒适智能基线，坦克/烈马代表越野个性基线，目标车型需要把两侧能力收拢到同一产品上。</a:t>
            </a:r>
          </a:p>
        </p:txBody>
      </p:sp>
      <p:sp>
        <p:nvSpPr>
          <p:cNvPr id="10" name="chart-panel">
            <a:extLst xmlns:a="http://schemas.openxmlformats.org/drawingml/2006/main">
              <a:ext uri="{FF2B5EF4-FFF2-40B4-BE49-F238E27FC236}">
                <a16:creationId xmlns:a16="http://schemas.microsoft.com/office/drawing/2014/main" id="{00198C27-965C-4F55-8A83-6195A83A7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24000"/>
            <a:ext cx="59055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1" name="chart-header">
            <a:extLst xmlns:a="http://schemas.openxmlformats.org/drawingml/2006/main">
              <a:ext uri="{FF2B5EF4-FFF2-40B4-BE49-F238E27FC236}">
                <a16:creationId xmlns:a16="http://schemas.microsoft.com/office/drawing/2014/main" id="{3C2D02AD-ECFB-486D-8A95-D5469A616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24000"/>
            <a:ext cx="590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8D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hart-title">
            <a:extLst xmlns:a="http://schemas.openxmlformats.org/drawingml/2006/main">
              <a:ext uri="{FF2B5EF4-FFF2-40B4-BE49-F238E27FC236}">
                <a16:creationId xmlns:a16="http://schemas.microsoft.com/office/drawing/2014/main" id="{89CD44BD-2B19-48C1-9CBD-2D502B0D2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56210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综合感知对比（示意）</a:t>
            </a:r>
          </a:p>
        </p:txBody>
      </p:sp>
      <p:sp>
        <p:nvSpPr>
          <p:cNvPr id="13" name="bars-frame">
            <a:extLst xmlns:a="http://schemas.openxmlformats.org/drawingml/2006/main">
              <a:ext uri="{FF2B5EF4-FFF2-40B4-BE49-F238E27FC236}">
                <a16:creationId xmlns:a16="http://schemas.microsoft.com/office/drawing/2014/main" id="{409D3B1D-8BFC-40B2-BBFE-D6EB9DAAC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85950"/>
            <a:ext cx="5448300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4" name="bars-x">
            <a:extLst xmlns:a="http://schemas.openxmlformats.org/drawingml/2006/main">
              <a:ext uri="{FF2B5EF4-FFF2-40B4-BE49-F238E27FC236}">
                <a16:creationId xmlns:a16="http://schemas.microsoft.com/office/drawing/2014/main" id="{1D1AE179-BFD0-46F0-BE2C-637395FF7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1955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B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ars-y">
            <a:extLst xmlns:a="http://schemas.openxmlformats.org/drawingml/2006/main">
              <a:ext uri="{FF2B5EF4-FFF2-40B4-BE49-F238E27FC236}">
                <a16:creationId xmlns:a16="http://schemas.microsoft.com/office/drawing/2014/main" id="{66685CFE-D117-430D-8438-9E866CD12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95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B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ars-bar-0">
            <a:extLst xmlns:a="http://schemas.openxmlformats.org/drawingml/2006/main">
              <a:ext uri="{FF2B5EF4-FFF2-40B4-BE49-F238E27FC236}">
                <a16:creationId xmlns:a16="http://schemas.microsoft.com/office/drawing/2014/main" id="{7A36A352-B2C6-458A-A926-2DE6EFD3B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581275"/>
            <a:ext cx="4953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B5B6"/>
          </a:solidFill>
          <a:ln xmlns:a="http://schemas.openxmlformats.org/drawingml/2006/main" w="0">
            <a:solidFill>
              <a:srgbClr val="B5B5B6"/>
            </a:solidFill>
            <a:prstDash val="solid"/>
          </a:ln>
        </p:spPr>
      </p:sp>
      <p:sp>
        <p:nvSpPr>
          <p:cNvPr id="17" name="bars-v-0">
            <a:extLst xmlns:a="http://schemas.openxmlformats.org/drawingml/2006/main">
              <a:ext uri="{FF2B5EF4-FFF2-40B4-BE49-F238E27FC236}">
                <a16:creationId xmlns:a16="http://schemas.microsoft.com/office/drawing/2014/main" id="{DF92ABA7-D70F-435F-B24B-518B44D0C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09825"/>
            <a:ext cx="571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525">
                <a:solidFill>
                  <a:srgbClr val="181818"/>
                </a:solidFill>
              </a:defRPr>
            </a:pPr>
            <a:r>
              <a:rPr sz="525">
                <a:solidFill>
                  <a:srgbClr val="181818"/>
                </a:solidFill>
              </a:rPr>
              <a:t>78</a:t>
            </a:r>
          </a:p>
        </p:txBody>
      </p:sp>
      <p:sp>
        <p:nvSpPr>
          <p:cNvPr id="18" name="bars-l-0">
            <a:extLst xmlns:a="http://schemas.openxmlformats.org/drawingml/2006/main">
              <a:ext uri="{FF2B5EF4-FFF2-40B4-BE49-F238E27FC236}">
                <a16:creationId xmlns:a16="http://schemas.microsoft.com/office/drawing/2014/main" id="{9BDEAA36-CB78-42E8-BCEB-E6C0BD2B6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0767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525">
                <a:solidFill>
                  <a:srgbClr val="181818"/>
                </a:solidFill>
              </a:defRPr>
            </a:pPr>
            <a:r>
              <a:rPr sz="525">
                <a:solidFill>
                  <a:srgbClr val="181818"/>
                </a:solidFill>
              </a:rPr>
              <a:t>理想</a:t>
            </a:r>
          </a:p>
        </p:txBody>
      </p:sp>
      <p:sp>
        <p:nvSpPr>
          <p:cNvPr id="19" name="bars-bar-1">
            <a:extLst xmlns:a="http://schemas.openxmlformats.org/drawingml/2006/main">
              <a:ext uri="{FF2B5EF4-FFF2-40B4-BE49-F238E27FC236}">
                <a16:creationId xmlns:a16="http://schemas.microsoft.com/office/drawing/2014/main" id="{354E8090-CCC8-4161-A61C-393E6C700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657475"/>
            <a:ext cx="4953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B5B6"/>
          </a:solidFill>
          <a:ln xmlns:a="http://schemas.openxmlformats.org/drawingml/2006/main" w="0">
            <a:solidFill>
              <a:srgbClr val="B5B5B6"/>
            </a:solidFill>
            <a:prstDash val="solid"/>
          </a:ln>
        </p:spPr>
      </p:sp>
      <p:sp>
        <p:nvSpPr>
          <p:cNvPr id="20" name="bars-v-1">
            <a:extLst xmlns:a="http://schemas.openxmlformats.org/drawingml/2006/main">
              <a:ext uri="{FF2B5EF4-FFF2-40B4-BE49-F238E27FC236}">
                <a16:creationId xmlns:a16="http://schemas.microsoft.com/office/drawing/2014/main" id="{4C2940C1-13E4-479C-A07C-8302477D4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486025"/>
            <a:ext cx="571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525">
                <a:solidFill>
                  <a:srgbClr val="181818"/>
                </a:solidFill>
              </a:defRPr>
            </a:pPr>
            <a:r>
              <a:rPr sz="525">
                <a:solidFill>
                  <a:srgbClr val="181818"/>
                </a:solidFill>
              </a:rPr>
              <a:t>74</a:t>
            </a:r>
          </a:p>
        </p:txBody>
      </p:sp>
      <p:sp>
        <p:nvSpPr>
          <p:cNvPr id="21" name="bars-l-1">
            <a:extLst xmlns:a="http://schemas.openxmlformats.org/drawingml/2006/main">
              <a:ext uri="{FF2B5EF4-FFF2-40B4-BE49-F238E27FC236}">
                <a16:creationId xmlns:a16="http://schemas.microsoft.com/office/drawing/2014/main" id="{D4A21D1A-C075-4BFD-AEC1-0BE6B2D18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0767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525">
                <a:solidFill>
                  <a:srgbClr val="181818"/>
                </a:solidFill>
              </a:defRPr>
            </a:pPr>
            <a:r>
              <a:rPr sz="525">
                <a:solidFill>
                  <a:srgbClr val="181818"/>
                </a:solidFill>
              </a:rPr>
              <a:t>问界</a:t>
            </a:r>
          </a:p>
        </p:txBody>
      </p:sp>
      <p:sp>
        <p:nvSpPr>
          <p:cNvPr id="22" name="bars-bar-2">
            <a:extLst xmlns:a="http://schemas.openxmlformats.org/drawingml/2006/main">
              <a:ext uri="{FF2B5EF4-FFF2-40B4-BE49-F238E27FC236}">
                <a16:creationId xmlns:a16="http://schemas.microsoft.com/office/drawing/2014/main" id="{C8043A92-184E-4B3C-8C0D-CA54B688B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714625"/>
            <a:ext cx="4953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8D56"/>
          </a:solidFill>
          <a:ln xmlns:a="http://schemas.openxmlformats.org/drawingml/2006/main" w="0">
            <a:solidFill>
              <a:srgbClr val="4B8D56"/>
            </a:solidFill>
            <a:prstDash val="solid"/>
          </a:ln>
        </p:spPr>
      </p:sp>
      <p:sp>
        <p:nvSpPr>
          <p:cNvPr id="23" name="bars-v-2">
            <a:extLst xmlns:a="http://schemas.openxmlformats.org/drawingml/2006/main">
              <a:ext uri="{FF2B5EF4-FFF2-40B4-BE49-F238E27FC236}">
                <a16:creationId xmlns:a16="http://schemas.microsoft.com/office/drawing/2014/main" id="{DBF4CAC6-927B-429C-B5DC-FEC35EBEB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543175"/>
            <a:ext cx="571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525">
                <a:solidFill>
                  <a:srgbClr val="181818"/>
                </a:solidFill>
              </a:defRPr>
            </a:pPr>
            <a:r>
              <a:rPr sz="525">
                <a:solidFill>
                  <a:srgbClr val="181818"/>
                </a:solidFill>
              </a:rPr>
              <a:t>71</a:t>
            </a:r>
          </a:p>
        </p:txBody>
      </p:sp>
      <p:sp>
        <p:nvSpPr>
          <p:cNvPr id="24" name="bars-l-2">
            <a:extLst xmlns:a="http://schemas.openxmlformats.org/drawingml/2006/main">
              <a:ext uri="{FF2B5EF4-FFF2-40B4-BE49-F238E27FC236}">
                <a16:creationId xmlns:a16="http://schemas.microsoft.com/office/drawing/2014/main" id="{0210F6FD-82C0-48E6-9E86-233C595CD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0767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525">
                <a:solidFill>
                  <a:srgbClr val="181818"/>
                </a:solidFill>
              </a:defRPr>
            </a:pPr>
            <a:r>
              <a:rPr sz="525">
                <a:solidFill>
                  <a:srgbClr val="181818"/>
                </a:solidFill>
              </a:rPr>
              <a:t>坦克300</a:t>
            </a:r>
          </a:p>
        </p:txBody>
      </p:sp>
      <p:sp>
        <p:nvSpPr>
          <p:cNvPr id="25" name="bars-bar-3">
            <a:extLst xmlns:a="http://schemas.openxmlformats.org/drawingml/2006/main">
              <a:ext uri="{FF2B5EF4-FFF2-40B4-BE49-F238E27FC236}">
                <a16:creationId xmlns:a16="http://schemas.microsoft.com/office/drawing/2014/main" id="{7A20406F-EAF8-4CCA-A6DA-B2DE2C8A7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752725"/>
            <a:ext cx="4953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8D56"/>
          </a:solidFill>
          <a:ln xmlns:a="http://schemas.openxmlformats.org/drawingml/2006/main" w="0">
            <a:solidFill>
              <a:srgbClr val="4B8D56"/>
            </a:solidFill>
            <a:prstDash val="solid"/>
          </a:ln>
        </p:spPr>
      </p:sp>
      <p:sp>
        <p:nvSpPr>
          <p:cNvPr id="26" name="bars-v-3">
            <a:extLst xmlns:a="http://schemas.openxmlformats.org/drawingml/2006/main">
              <a:ext uri="{FF2B5EF4-FFF2-40B4-BE49-F238E27FC236}">
                <a16:creationId xmlns:a16="http://schemas.microsoft.com/office/drawing/2014/main" id="{3DA5465D-573C-4376-8C82-BF86D49B9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581275"/>
            <a:ext cx="571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525">
                <a:solidFill>
                  <a:srgbClr val="181818"/>
                </a:solidFill>
              </a:defRPr>
            </a:pPr>
            <a:r>
              <a:rPr sz="525">
                <a:solidFill>
                  <a:srgbClr val="181818"/>
                </a:solidFill>
              </a:rPr>
              <a:t>69</a:t>
            </a:r>
          </a:p>
        </p:txBody>
      </p:sp>
      <p:sp>
        <p:nvSpPr>
          <p:cNvPr id="27" name="bars-l-3">
            <a:extLst xmlns:a="http://schemas.openxmlformats.org/drawingml/2006/main">
              <a:ext uri="{FF2B5EF4-FFF2-40B4-BE49-F238E27FC236}">
                <a16:creationId xmlns:a16="http://schemas.microsoft.com/office/drawing/2014/main" id="{532402D3-6827-4848-8C50-1D98512CB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0767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525">
                <a:solidFill>
                  <a:srgbClr val="181818"/>
                </a:solidFill>
              </a:defRPr>
            </a:pPr>
            <a:r>
              <a:rPr sz="525">
                <a:solidFill>
                  <a:srgbClr val="181818"/>
                </a:solidFill>
              </a:rPr>
              <a:t>坦克500</a:t>
            </a:r>
          </a:p>
        </p:txBody>
      </p:sp>
      <p:sp>
        <p:nvSpPr>
          <p:cNvPr id="28" name="bars-bar-4">
            <a:extLst xmlns:a="http://schemas.openxmlformats.org/drawingml/2006/main">
              <a:ext uri="{FF2B5EF4-FFF2-40B4-BE49-F238E27FC236}">
                <a16:creationId xmlns:a16="http://schemas.microsoft.com/office/drawing/2014/main" id="{43BBA243-AB8D-4464-AAA6-D6DB46232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800350"/>
            <a:ext cx="495300" cy="1209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8D56"/>
          </a:solidFill>
          <a:ln xmlns:a="http://schemas.openxmlformats.org/drawingml/2006/main" w="0">
            <a:solidFill>
              <a:srgbClr val="4B8D56"/>
            </a:solidFill>
            <a:prstDash val="solid"/>
          </a:ln>
        </p:spPr>
      </p:sp>
      <p:sp>
        <p:nvSpPr>
          <p:cNvPr id="29" name="bars-v-4">
            <a:extLst xmlns:a="http://schemas.openxmlformats.org/drawingml/2006/main">
              <a:ext uri="{FF2B5EF4-FFF2-40B4-BE49-F238E27FC236}">
                <a16:creationId xmlns:a16="http://schemas.microsoft.com/office/drawing/2014/main" id="{B2C54CA4-B16A-405E-9171-5D7964089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628900"/>
            <a:ext cx="571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525">
                <a:solidFill>
                  <a:srgbClr val="181818"/>
                </a:solidFill>
              </a:defRPr>
            </a:pPr>
            <a:r>
              <a:rPr sz="525">
                <a:solidFill>
                  <a:srgbClr val="181818"/>
                </a:solidFill>
              </a:rPr>
              <a:t>66</a:t>
            </a:r>
          </a:p>
        </p:txBody>
      </p:sp>
      <p:sp>
        <p:nvSpPr>
          <p:cNvPr id="30" name="bars-l-4">
            <a:extLst xmlns:a="http://schemas.openxmlformats.org/drawingml/2006/main">
              <a:ext uri="{FF2B5EF4-FFF2-40B4-BE49-F238E27FC236}">
                <a16:creationId xmlns:a16="http://schemas.microsoft.com/office/drawing/2014/main" id="{63CD16A3-D785-4C0F-A455-34CCF60FD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0767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525">
                <a:solidFill>
                  <a:srgbClr val="181818"/>
                </a:solidFill>
              </a:defRPr>
            </a:pPr>
            <a:r>
              <a:rPr sz="525">
                <a:solidFill>
                  <a:srgbClr val="181818"/>
                </a:solidFill>
              </a:rPr>
              <a:t>烈马</a:t>
            </a:r>
          </a:p>
        </p:txBody>
      </p:sp>
      <p:sp>
        <p:nvSpPr>
          <p:cNvPr id="31" name="bars-bar-5">
            <a:extLst xmlns:a="http://schemas.openxmlformats.org/drawingml/2006/main">
              <a:ext uri="{FF2B5EF4-FFF2-40B4-BE49-F238E27FC236}">
                <a16:creationId xmlns:a16="http://schemas.microsoft.com/office/drawing/2014/main" id="{A6F015EB-01F4-4D6F-89E9-FC7D0D66D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857500"/>
            <a:ext cx="495300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8D56"/>
          </a:solidFill>
          <a:ln xmlns:a="http://schemas.openxmlformats.org/drawingml/2006/main" w="0">
            <a:solidFill>
              <a:srgbClr val="4B8D56"/>
            </a:solidFill>
            <a:prstDash val="solid"/>
          </a:ln>
        </p:spPr>
      </p:sp>
      <p:sp>
        <p:nvSpPr>
          <p:cNvPr id="32" name="bars-v-5">
            <a:extLst xmlns:a="http://schemas.openxmlformats.org/drawingml/2006/main">
              <a:ext uri="{FF2B5EF4-FFF2-40B4-BE49-F238E27FC236}">
                <a16:creationId xmlns:a16="http://schemas.microsoft.com/office/drawing/2014/main" id="{1ABEAA4D-FA15-4133-B18F-83770D584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686050"/>
            <a:ext cx="571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525">
                <a:solidFill>
                  <a:srgbClr val="181818"/>
                </a:solidFill>
              </a:defRPr>
            </a:pPr>
            <a:r>
              <a:rPr sz="525">
                <a:solidFill>
                  <a:srgbClr val="181818"/>
                </a:solidFill>
              </a:rPr>
              <a:t>63</a:t>
            </a:r>
          </a:p>
        </p:txBody>
      </p:sp>
      <p:sp>
        <p:nvSpPr>
          <p:cNvPr id="33" name="bars-l-5">
            <a:extLst xmlns:a="http://schemas.openxmlformats.org/drawingml/2006/main">
              <a:ext uri="{FF2B5EF4-FFF2-40B4-BE49-F238E27FC236}">
                <a16:creationId xmlns:a16="http://schemas.microsoft.com/office/drawing/2014/main" id="{026818BA-9122-4D41-9798-0E23094D5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0767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525">
                <a:solidFill>
                  <a:srgbClr val="181818"/>
                </a:solidFill>
              </a:defRPr>
            </a:pPr>
            <a:r>
              <a:rPr sz="525">
                <a:solidFill>
                  <a:srgbClr val="181818"/>
                </a:solidFill>
              </a:rPr>
              <a:t>猛士</a:t>
            </a:r>
          </a:p>
        </p:txBody>
      </p:sp>
      <p:sp>
        <p:nvSpPr>
          <p:cNvPr id="34" name="bars-bar-6">
            <a:extLst xmlns:a="http://schemas.openxmlformats.org/drawingml/2006/main">
              <a:ext uri="{FF2B5EF4-FFF2-40B4-BE49-F238E27FC236}">
                <a16:creationId xmlns:a16="http://schemas.microsoft.com/office/drawing/2014/main" id="{F91A849A-3321-4351-A746-AC0760BFE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952750"/>
            <a:ext cx="49530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B5B6"/>
          </a:solidFill>
          <a:ln xmlns:a="http://schemas.openxmlformats.org/drawingml/2006/main" w="0">
            <a:solidFill>
              <a:srgbClr val="B5B5B6"/>
            </a:solidFill>
            <a:prstDash val="solid"/>
          </a:ln>
        </p:spPr>
      </p:sp>
      <p:sp>
        <p:nvSpPr>
          <p:cNvPr id="35" name="bars-v-6">
            <a:extLst xmlns:a="http://schemas.openxmlformats.org/drawingml/2006/main">
              <a:ext uri="{FF2B5EF4-FFF2-40B4-BE49-F238E27FC236}">
                <a16:creationId xmlns:a16="http://schemas.microsoft.com/office/drawing/2014/main" id="{FA07D580-A1D5-4E15-B536-101DFA528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781300"/>
            <a:ext cx="571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525">
                <a:solidFill>
                  <a:srgbClr val="181818"/>
                </a:solidFill>
              </a:defRPr>
            </a:pPr>
            <a:r>
              <a:rPr sz="525">
                <a:solidFill>
                  <a:srgbClr val="181818"/>
                </a:solidFill>
              </a:rPr>
              <a:t>58</a:t>
            </a:r>
          </a:p>
        </p:txBody>
      </p:sp>
      <p:sp>
        <p:nvSpPr>
          <p:cNvPr id="36" name="bars-l-6">
            <a:extLst xmlns:a="http://schemas.openxmlformats.org/drawingml/2006/main">
              <a:ext uri="{FF2B5EF4-FFF2-40B4-BE49-F238E27FC236}">
                <a16:creationId xmlns:a16="http://schemas.microsoft.com/office/drawing/2014/main" id="{D1E88834-A3C4-43B1-9A27-2EF725FC6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0767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525">
                <a:solidFill>
                  <a:srgbClr val="181818"/>
                </a:solidFill>
              </a:defRPr>
            </a:pPr>
            <a:r>
              <a:rPr sz="525">
                <a:solidFill>
                  <a:srgbClr val="181818"/>
                </a:solidFill>
              </a:rPr>
              <a:t>捷途</a:t>
            </a:r>
          </a:p>
        </p:txBody>
      </p:sp>
      <p:sp>
        <p:nvSpPr>
          <p:cNvPr id="37" name="bars-bar-7">
            <a:extLst xmlns:a="http://schemas.openxmlformats.org/drawingml/2006/main">
              <a:ext uri="{FF2B5EF4-FFF2-40B4-BE49-F238E27FC236}">
                <a16:creationId xmlns:a16="http://schemas.microsoft.com/office/drawing/2014/main" id="{BE8D2BB7-E3AF-44C9-8AD1-5C19BF84E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514600"/>
            <a:ext cx="495300" cy="1495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124"/>
          </a:solidFill>
          <a:ln xmlns:a="http://schemas.openxmlformats.org/drawingml/2006/main" w="0">
            <a:solidFill>
              <a:srgbClr val="F06124"/>
            </a:solidFill>
            <a:prstDash val="solid"/>
          </a:ln>
        </p:spPr>
      </p:sp>
      <p:sp>
        <p:nvSpPr>
          <p:cNvPr id="38" name="bars-v-7">
            <a:extLst xmlns:a="http://schemas.openxmlformats.org/drawingml/2006/main">
              <a:ext uri="{FF2B5EF4-FFF2-40B4-BE49-F238E27FC236}">
                <a16:creationId xmlns:a16="http://schemas.microsoft.com/office/drawing/2014/main" id="{9DB41002-34A1-4F75-B043-97734EE56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343150"/>
            <a:ext cx="571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525">
                <a:solidFill>
                  <a:srgbClr val="181818"/>
                </a:solidFill>
              </a:defRPr>
            </a:pPr>
            <a:r>
              <a:rPr sz="525">
                <a:solidFill>
                  <a:srgbClr val="181818"/>
                </a:solidFill>
              </a:rPr>
              <a:t>82</a:t>
            </a:r>
          </a:p>
        </p:txBody>
      </p:sp>
      <p:sp>
        <p:nvSpPr>
          <p:cNvPr id="39" name="bars-l-7">
            <a:extLst xmlns:a="http://schemas.openxmlformats.org/drawingml/2006/main">
              <a:ext uri="{FF2B5EF4-FFF2-40B4-BE49-F238E27FC236}">
                <a16:creationId xmlns:a16="http://schemas.microsoft.com/office/drawing/2014/main" id="{77FBB7E9-DF19-48AB-BA0A-B46D7D716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0767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525">
                <a:solidFill>
                  <a:srgbClr val="181818"/>
                </a:solidFill>
              </a:defRPr>
            </a:pPr>
            <a:r>
              <a:rPr sz="525">
                <a:solidFill>
                  <a:srgbClr val="181818"/>
                </a:solidFill>
              </a:rPr>
              <a:t>G700</a:t>
            </a:r>
          </a:p>
        </p:txBody>
      </p:sp>
      <p:sp>
        <p:nvSpPr>
          <p:cNvPr id="40" name="chart-b-dot-0">
            <a:extLst xmlns:a="http://schemas.openxmlformats.org/drawingml/2006/main">
              <a:ext uri="{FF2B5EF4-FFF2-40B4-BE49-F238E27FC236}">
                <a16:creationId xmlns:a16="http://schemas.microsoft.com/office/drawing/2014/main" id="{5779066B-5CE7-4754-AE56-07CAA81DC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10100"/>
            <a:ext cx="57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1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chart-b-text-0">
            <a:extLst xmlns:a="http://schemas.openxmlformats.org/drawingml/2006/main">
              <a:ext uri="{FF2B5EF4-FFF2-40B4-BE49-F238E27FC236}">
                <a16:creationId xmlns:a16="http://schemas.microsoft.com/office/drawing/2014/main" id="{D62CC328-C8BC-4DED-8E2A-6C4E3649F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52950"/>
            <a:ext cx="5086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181818"/>
                </a:solidFill>
              </a:defRPr>
            </a:pPr>
            <a:r>
              <a:rPr sz="975">
                <a:solidFill>
                  <a:srgbClr val="181818"/>
                </a:solidFill>
              </a:rPr>
              <a:t>理想/问界代表城市舒适、空间与智驾基线。</a:t>
            </a:r>
          </a:p>
        </p:txBody>
      </p:sp>
      <p:sp>
        <p:nvSpPr>
          <p:cNvPr id="42" name="chart-b-dot-1">
            <a:extLst xmlns:a="http://schemas.openxmlformats.org/drawingml/2006/main">
              <a:ext uri="{FF2B5EF4-FFF2-40B4-BE49-F238E27FC236}">
                <a16:creationId xmlns:a16="http://schemas.microsoft.com/office/drawing/2014/main" id="{861017B7-3B59-4BB3-9750-C8895B638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76800"/>
            <a:ext cx="57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1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chart-b-text-1">
            <a:extLst xmlns:a="http://schemas.openxmlformats.org/drawingml/2006/main">
              <a:ext uri="{FF2B5EF4-FFF2-40B4-BE49-F238E27FC236}">
                <a16:creationId xmlns:a16="http://schemas.microsoft.com/office/drawing/2014/main" id="{3BEECE7B-F232-4797-BDBB-77D82DBFB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19650"/>
            <a:ext cx="5086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181818"/>
                </a:solidFill>
              </a:defRPr>
            </a:pPr>
            <a:r>
              <a:rPr sz="975">
                <a:solidFill>
                  <a:srgbClr val="181818"/>
                </a:solidFill>
              </a:rPr>
              <a:t>坦克/烈马/猛士代表越野能力、个性与改装潜力基线。</a:t>
            </a:r>
          </a:p>
        </p:txBody>
      </p:sp>
      <p:sp>
        <p:nvSpPr>
          <p:cNvPr id="44" name="chart-b-dot-2">
            <a:extLst xmlns:a="http://schemas.openxmlformats.org/drawingml/2006/main">
              <a:ext uri="{FF2B5EF4-FFF2-40B4-BE49-F238E27FC236}">
                <a16:creationId xmlns:a16="http://schemas.microsoft.com/office/drawing/2014/main" id="{D49455EE-D29F-4F59-80DD-A34018024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43500"/>
            <a:ext cx="57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1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chart-b-text-2">
            <a:extLst xmlns:a="http://schemas.openxmlformats.org/drawingml/2006/main">
              <a:ext uri="{FF2B5EF4-FFF2-40B4-BE49-F238E27FC236}">
                <a16:creationId xmlns:a16="http://schemas.microsoft.com/office/drawing/2014/main" id="{C000D9B0-87C0-47C1-AA00-101B2600E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086350"/>
            <a:ext cx="5086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181818"/>
                </a:solidFill>
              </a:defRPr>
            </a:pPr>
            <a:r>
              <a:rPr sz="975">
                <a:solidFill>
                  <a:srgbClr val="181818"/>
                </a:solidFill>
              </a:rPr>
              <a:t>G700 是最接近“豪华越野兼顾”状态的现有样本。</a:t>
            </a:r>
          </a:p>
        </p:txBody>
      </p:sp>
      <p:sp>
        <p:nvSpPr>
          <p:cNvPr id="46" name="compare-h-0">
            <a:extLst xmlns:a="http://schemas.openxmlformats.org/drawingml/2006/main">
              <a:ext uri="{FF2B5EF4-FFF2-40B4-BE49-F238E27FC236}">
                <a16:creationId xmlns:a16="http://schemas.microsoft.com/office/drawing/2014/main" id="{8F27A82B-3EC2-45FB-9CE1-2C72BD430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524000"/>
            <a:ext cx="742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8D56"/>
          </a:solidFill>
          <a:ln xmlns:a="http://schemas.openxmlformats.org/drawingml/2006/main" w="0">
            <a:solidFill>
              <a:srgbClr val="4B8D56"/>
            </a:solidFill>
            <a:prstDash val="solid"/>
          </a:ln>
        </p:spPr>
      </p:sp>
      <p:sp>
        <p:nvSpPr>
          <p:cNvPr id="47" name="compare-ht-0">
            <a:extLst xmlns:a="http://schemas.openxmlformats.org/drawingml/2006/main">
              <a:ext uri="{FF2B5EF4-FFF2-40B4-BE49-F238E27FC236}">
                <a16:creationId xmlns:a16="http://schemas.microsoft.com/office/drawing/2014/main" id="{9A8665E2-04DB-43AB-A477-11C838387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58115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竞品</a:t>
            </a:r>
          </a:p>
        </p:txBody>
      </p:sp>
      <p:sp>
        <p:nvSpPr>
          <p:cNvPr id="48" name="compare-h-1">
            <a:extLst xmlns:a="http://schemas.openxmlformats.org/drawingml/2006/main">
              <a:ext uri="{FF2B5EF4-FFF2-40B4-BE49-F238E27FC236}">
                <a16:creationId xmlns:a16="http://schemas.microsoft.com/office/drawing/2014/main" id="{24B95BEC-3B28-4DF2-BB98-C970349C4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524000"/>
            <a:ext cx="1162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8D56"/>
          </a:solidFill>
          <a:ln xmlns:a="http://schemas.openxmlformats.org/drawingml/2006/main" w="0">
            <a:solidFill>
              <a:srgbClr val="4B8D56"/>
            </a:solidFill>
            <a:prstDash val="solid"/>
          </a:ln>
        </p:spPr>
      </p:sp>
      <p:sp>
        <p:nvSpPr>
          <p:cNvPr id="49" name="compare-ht-1">
            <a:extLst xmlns:a="http://schemas.openxmlformats.org/drawingml/2006/main">
              <a:ext uri="{FF2B5EF4-FFF2-40B4-BE49-F238E27FC236}">
                <a16:creationId xmlns:a16="http://schemas.microsoft.com/office/drawing/2014/main" id="{1ED54D9F-1871-4913-B7AA-455C6C8EC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5811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用户认可</a:t>
            </a:r>
          </a:p>
        </p:txBody>
      </p:sp>
      <p:sp>
        <p:nvSpPr>
          <p:cNvPr id="50" name="compare-h-2">
            <a:extLst xmlns:a="http://schemas.openxmlformats.org/drawingml/2006/main">
              <a:ext uri="{FF2B5EF4-FFF2-40B4-BE49-F238E27FC236}">
                <a16:creationId xmlns:a16="http://schemas.microsoft.com/office/drawing/2014/main" id="{CF751711-EE96-467D-A5A8-254B77CBB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524000"/>
            <a:ext cx="1162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8D56"/>
          </a:solidFill>
          <a:ln xmlns:a="http://schemas.openxmlformats.org/drawingml/2006/main" w="0">
            <a:solidFill>
              <a:srgbClr val="4B8D56"/>
            </a:solidFill>
            <a:prstDash val="solid"/>
          </a:ln>
        </p:spPr>
      </p:sp>
      <p:sp>
        <p:nvSpPr>
          <p:cNvPr id="51" name="compare-ht-2">
            <a:extLst xmlns:a="http://schemas.openxmlformats.org/drawingml/2006/main">
              <a:ext uri="{FF2B5EF4-FFF2-40B4-BE49-F238E27FC236}">
                <a16:creationId xmlns:a16="http://schemas.microsoft.com/office/drawing/2014/main" id="{EB5365E4-FB6F-4D47-A86D-8D67416DA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5811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主要短板</a:t>
            </a:r>
          </a:p>
        </p:txBody>
      </p:sp>
      <p:sp>
        <p:nvSpPr>
          <p:cNvPr id="52" name="compare-h-3">
            <a:extLst xmlns:a="http://schemas.openxmlformats.org/drawingml/2006/main">
              <a:ext uri="{FF2B5EF4-FFF2-40B4-BE49-F238E27FC236}">
                <a16:creationId xmlns:a16="http://schemas.microsoft.com/office/drawing/2014/main" id="{7F4C3B76-8335-44E6-B727-431F8FE20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524000"/>
            <a:ext cx="1257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8D56"/>
          </a:solidFill>
          <a:ln xmlns:a="http://schemas.openxmlformats.org/drawingml/2006/main" w="0">
            <a:solidFill>
              <a:srgbClr val="4B8D56"/>
            </a:solidFill>
            <a:prstDash val="solid"/>
          </a:ln>
        </p:spPr>
      </p:sp>
      <p:sp>
        <p:nvSpPr>
          <p:cNvPr id="53" name="compare-ht-3">
            <a:extLst xmlns:a="http://schemas.openxmlformats.org/drawingml/2006/main">
              <a:ext uri="{FF2B5EF4-FFF2-40B4-BE49-F238E27FC236}">
                <a16:creationId xmlns:a16="http://schemas.microsoft.com/office/drawing/2014/main" id="{2A34E7C2-01DB-4EC2-BB77-04B8BFB19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15811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启示</a:t>
            </a:r>
          </a:p>
        </p:txBody>
      </p:sp>
      <p:sp>
        <p:nvSpPr>
          <p:cNvPr id="54" name="compare-c-0-0">
            <a:extLst xmlns:a="http://schemas.openxmlformats.org/drawingml/2006/main">
              <a:ext uri="{FF2B5EF4-FFF2-40B4-BE49-F238E27FC236}">
                <a16:creationId xmlns:a16="http://schemas.microsoft.com/office/drawing/2014/main" id="{BA9D17D8-B438-4158-BBCD-145A7CA73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28800"/>
            <a:ext cx="7429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55" name="compare-ct-0-0">
            <a:extLst xmlns:a="http://schemas.openxmlformats.org/drawingml/2006/main">
              <a:ext uri="{FF2B5EF4-FFF2-40B4-BE49-F238E27FC236}">
                <a16:creationId xmlns:a16="http://schemas.microsoft.com/office/drawing/2014/main" id="{1F2DFD48-A419-406B-BDD0-D272EC284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885950"/>
            <a:ext cx="628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81818"/>
                </a:solidFill>
              </a:defRPr>
            </a:pPr>
            <a:r>
              <a:rPr sz="825" b="1">
                <a:solidFill>
                  <a:srgbClr val="181818"/>
                </a:solidFill>
              </a:rPr>
              <a:t>理想/问界</a:t>
            </a:r>
          </a:p>
        </p:txBody>
      </p:sp>
      <p:sp>
        <p:nvSpPr>
          <p:cNvPr id="56" name="compare-c-0-1">
            <a:extLst xmlns:a="http://schemas.openxmlformats.org/drawingml/2006/main">
              <a:ext uri="{FF2B5EF4-FFF2-40B4-BE49-F238E27FC236}">
                <a16:creationId xmlns:a16="http://schemas.microsoft.com/office/drawing/2014/main" id="{D3F20D01-B06B-4936-A64E-DD73FF855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828800"/>
            <a:ext cx="1162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57" name="compare-ct-0-1">
            <a:extLst xmlns:a="http://schemas.openxmlformats.org/drawingml/2006/main">
              <a:ext uri="{FF2B5EF4-FFF2-40B4-BE49-F238E27FC236}">
                <a16:creationId xmlns:a16="http://schemas.microsoft.com/office/drawing/2014/main" id="{F7818969-1C5E-491F-BB10-A0777ABEC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885950"/>
            <a:ext cx="104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81818"/>
                </a:solidFill>
              </a:defRPr>
            </a:pPr>
            <a:r>
              <a:rPr sz="750" b="0">
                <a:solidFill>
                  <a:srgbClr val="181818"/>
                </a:solidFill>
              </a:rPr>
              <a:t>舒适/空间/智驾成熟</a:t>
            </a:r>
          </a:p>
        </p:txBody>
      </p:sp>
      <p:sp>
        <p:nvSpPr>
          <p:cNvPr id="58" name="compare-c-0-2">
            <a:extLst xmlns:a="http://schemas.openxmlformats.org/drawingml/2006/main">
              <a:ext uri="{FF2B5EF4-FFF2-40B4-BE49-F238E27FC236}">
                <a16:creationId xmlns:a16="http://schemas.microsoft.com/office/drawing/2014/main" id="{075E1C9A-2458-4AE1-A5FF-3C72EBD99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828800"/>
            <a:ext cx="1162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59" name="compare-ct-0-2">
            <a:extLst xmlns:a="http://schemas.openxmlformats.org/drawingml/2006/main">
              <a:ext uri="{FF2B5EF4-FFF2-40B4-BE49-F238E27FC236}">
                <a16:creationId xmlns:a16="http://schemas.microsoft.com/office/drawing/2014/main" id="{F9B3BD74-787E-46BA-8AEC-A009D107F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885950"/>
            <a:ext cx="104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81818"/>
                </a:solidFill>
              </a:defRPr>
            </a:pPr>
            <a:r>
              <a:rPr sz="750" b="0">
                <a:solidFill>
                  <a:srgbClr val="181818"/>
                </a:solidFill>
              </a:rPr>
              <a:t>越野和个性弱</a:t>
            </a:r>
          </a:p>
        </p:txBody>
      </p:sp>
      <p:sp>
        <p:nvSpPr>
          <p:cNvPr id="60" name="compare-c-0-3">
            <a:extLst xmlns:a="http://schemas.openxmlformats.org/drawingml/2006/main">
              <a:ext uri="{FF2B5EF4-FFF2-40B4-BE49-F238E27FC236}">
                <a16:creationId xmlns:a16="http://schemas.microsoft.com/office/drawing/2014/main" id="{0563FDD9-5A6D-4FE9-9F6B-7E822EB6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828800"/>
            <a:ext cx="1257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61" name="compare-ct-0-3">
            <a:extLst xmlns:a="http://schemas.openxmlformats.org/drawingml/2006/main">
              <a:ext uri="{FF2B5EF4-FFF2-40B4-BE49-F238E27FC236}">
                <a16:creationId xmlns:a16="http://schemas.microsoft.com/office/drawing/2014/main" id="{286F0484-BD95-4E47-B53F-A252A7B0B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1885950"/>
            <a:ext cx="114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81818"/>
                </a:solidFill>
              </a:defRPr>
            </a:pPr>
            <a:r>
              <a:rPr sz="750" b="0">
                <a:solidFill>
                  <a:srgbClr val="181818"/>
                </a:solidFill>
              </a:rPr>
              <a:t>城市舒适基线</a:t>
            </a:r>
          </a:p>
        </p:txBody>
      </p:sp>
      <p:sp>
        <p:nvSpPr>
          <p:cNvPr id="62" name="compare-c-1-0">
            <a:extLst xmlns:a="http://schemas.openxmlformats.org/drawingml/2006/main">
              <a:ext uri="{FF2B5EF4-FFF2-40B4-BE49-F238E27FC236}">
                <a16:creationId xmlns:a16="http://schemas.microsoft.com/office/drawing/2014/main" id="{35B346A9-F608-4D72-BFAC-1F2C54F26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609850"/>
            <a:ext cx="7429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63" name="compare-ct-1-0">
            <a:extLst xmlns:a="http://schemas.openxmlformats.org/drawingml/2006/main">
              <a:ext uri="{FF2B5EF4-FFF2-40B4-BE49-F238E27FC236}">
                <a16:creationId xmlns:a16="http://schemas.microsoft.com/office/drawing/2014/main" id="{B72237BF-4480-4DA4-AF26-FEF5383D3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667000"/>
            <a:ext cx="628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81818"/>
                </a:solidFill>
              </a:defRPr>
            </a:pPr>
            <a:r>
              <a:rPr sz="825" b="1">
                <a:solidFill>
                  <a:srgbClr val="181818"/>
                </a:solidFill>
              </a:rPr>
              <a:t>坦克家族</a:t>
            </a:r>
          </a:p>
        </p:txBody>
      </p:sp>
      <p:sp>
        <p:nvSpPr>
          <p:cNvPr id="64" name="compare-c-1-1">
            <a:extLst xmlns:a="http://schemas.openxmlformats.org/drawingml/2006/main">
              <a:ext uri="{FF2B5EF4-FFF2-40B4-BE49-F238E27FC236}">
                <a16:creationId xmlns:a16="http://schemas.microsoft.com/office/drawing/2014/main" id="{D4F0A5C6-19FA-4F54-9DF9-74DEF01A0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609850"/>
            <a:ext cx="1162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65" name="compare-ct-1-1">
            <a:extLst xmlns:a="http://schemas.openxmlformats.org/drawingml/2006/main">
              <a:ext uri="{FF2B5EF4-FFF2-40B4-BE49-F238E27FC236}">
                <a16:creationId xmlns:a16="http://schemas.microsoft.com/office/drawing/2014/main" id="{FDD11DDD-8ACC-469C-A2ED-34568CE0D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667000"/>
            <a:ext cx="104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81818"/>
                </a:solidFill>
              </a:defRPr>
            </a:pPr>
            <a:r>
              <a:rPr sz="750" b="0">
                <a:solidFill>
                  <a:srgbClr val="181818"/>
                </a:solidFill>
              </a:rPr>
              <a:t>真越野/改装强</a:t>
            </a:r>
          </a:p>
        </p:txBody>
      </p:sp>
      <p:sp>
        <p:nvSpPr>
          <p:cNvPr id="66" name="compare-c-1-2">
            <a:extLst xmlns:a="http://schemas.openxmlformats.org/drawingml/2006/main">
              <a:ext uri="{FF2B5EF4-FFF2-40B4-BE49-F238E27FC236}">
                <a16:creationId xmlns:a16="http://schemas.microsoft.com/office/drawing/2014/main" id="{B0F70B42-4AA2-47D9-8204-7AFF513D2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609850"/>
            <a:ext cx="1162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67" name="compare-ct-1-2">
            <a:extLst xmlns:a="http://schemas.openxmlformats.org/drawingml/2006/main">
              <a:ext uri="{FF2B5EF4-FFF2-40B4-BE49-F238E27FC236}">
                <a16:creationId xmlns:a16="http://schemas.microsoft.com/office/drawing/2014/main" id="{36DE8D1D-88C1-4114-A80E-3BDAE7DF1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667000"/>
            <a:ext cx="104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81818"/>
                </a:solidFill>
              </a:defRPr>
            </a:pPr>
            <a:r>
              <a:rPr sz="750" b="0">
                <a:solidFill>
                  <a:srgbClr val="181818"/>
                </a:solidFill>
              </a:rPr>
              <a:t>粗糙、家用友好弱</a:t>
            </a:r>
          </a:p>
        </p:txBody>
      </p:sp>
      <p:sp>
        <p:nvSpPr>
          <p:cNvPr id="68" name="compare-c-1-3">
            <a:extLst xmlns:a="http://schemas.openxmlformats.org/drawingml/2006/main">
              <a:ext uri="{FF2B5EF4-FFF2-40B4-BE49-F238E27FC236}">
                <a16:creationId xmlns:a16="http://schemas.microsoft.com/office/drawing/2014/main" id="{D686CCB2-7AE1-4186-B0F4-8B73900F5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609850"/>
            <a:ext cx="1257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69" name="compare-ct-1-3">
            <a:extLst xmlns:a="http://schemas.openxmlformats.org/drawingml/2006/main">
              <a:ext uri="{FF2B5EF4-FFF2-40B4-BE49-F238E27FC236}">
                <a16:creationId xmlns:a16="http://schemas.microsoft.com/office/drawing/2014/main" id="{C075A532-A00B-4D34-B17F-BFA5F7E7E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667000"/>
            <a:ext cx="114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81818"/>
                </a:solidFill>
              </a:defRPr>
            </a:pPr>
            <a:r>
              <a:rPr sz="750" b="0">
                <a:solidFill>
                  <a:srgbClr val="181818"/>
                </a:solidFill>
              </a:rPr>
              <a:t>荒野能力基线</a:t>
            </a:r>
          </a:p>
        </p:txBody>
      </p:sp>
      <p:sp>
        <p:nvSpPr>
          <p:cNvPr id="70" name="compare-c-2-0">
            <a:extLst xmlns:a="http://schemas.openxmlformats.org/drawingml/2006/main">
              <a:ext uri="{FF2B5EF4-FFF2-40B4-BE49-F238E27FC236}">
                <a16:creationId xmlns:a16="http://schemas.microsoft.com/office/drawing/2014/main" id="{1E652C95-2416-40FF-9089-C4F269DAC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390900"/>
            <a:ext cx="7429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71" name="compare-ct-2-0">
            <a:extLst xmlns:a="http://schemas.openxmlformats.org/drawingml/2006/main">
              <a:ext uri="{FF2B5EF4-FFF2-40B4-BE49-F238E27FC236}">
                <a16:creationId xmlns:a16="http://schemas.microsoft.com/office/drawing/2014/main" id="{3C040402-62C0-4A67-90FC-9FD4331EB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448050"/>
            <a:ext cx="628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81818"/>
                </a:solidFill>
              </a:defRPr>
            </a:pPr>
            <a:r>
              <a:rPr sz="825" b="1">
                <a:solidFill>
                  <a:srgbClr val="181818"/>
                </a:solidFill>
              </a:rPr>
              <a:t>烈马/猛士</a:t>
            </a:r>
          </a:p>
        </p:txBody>
      </p:sp>
      <p:sp>
        <p:nvSpPr>
          <p:cNvPr id="72" name="compare-c-2-1">
            <a:extLst xmlns:a="http://schemas.openxmlformats.org/drawingml/2006/main">
              <a:ext uri="{FF2B5EF4-FFF2-40B4-BE49-F238E27FC236}">
                <a16:creationId xmlns:a16="http://schemas.microsoft.com/office/drawing/2014/main" id="{983EF84F-C255-47AE-B1EC-7D21F1A3A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390900"/>
            <a:ext cx="1162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73" name="compare-ct-2-1">
            <a:extLst xmlns:a="http://schemas.openxmlformats.org/drawingml/2006/main">
              <a:ext uri="{FF2B5EF4-FFF2-40B4-BE49-F238E27FC236}">
                <a16:creationId xmlns:a16="http://schemas.microsoft.com/office/drawing/2014/main" id="{1428454E-C053-4254-8D08-40D7645D2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448050"/>
            <a:ext cx="104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81818"/>
                </a:solidFill>
              </a:defRPr>
            </a:pPr>
            <a:r>
              <a:rPr sz="750" b="0">
                <a:solidFill>
                  <a:srgbClr val="181818"/>
                </a:solidFill>
              </a:rPr>
              <a:t>形象鲜明/记忆强</a:t>
            </a:r>
          </a:p>
        </p:txBody>
      </p:sp>
      <p:sp>
        <p:nvSpPr>
          <p:cNvPr id="74" name="compare-c-2-2">
            <a:extLst xmlns:a="http://schemas.openxmlformats.org/drawingml/2006/main">
              <a:ext uri="{FF2B5EF4-FFF2-40B4-BE49-F238E27FC236}">
                <a16:creationId xmlns:a16="http://schemas.microsoft.com/office/drawing/2014/main" id="{F828C86E-48F4-4A77-AFB5-F0FB47C5B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390900"/>
            <a:ext cx="1162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75" name="compare-ct-2-2">
            <a:extLst xmlns:a="http://schemas.openxmlformats.org/drawingml/2006/main">
              <a:ext uri="{FF2B5EF4-FFF2-40B4-BE49-F238E27FC236}">
                <a16:creationId xmlns:a16="http://schemas.microsoft.com/office/drawing/2014/main" id="{72AEA814-9922-4E6D-B40D-6480C5F50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448050"/>
            <a:ext cx="104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81818"/>
                </a:solidFill>
              </a:defRPr>
            </a:pPr>
            <a:r>
              <a:rPr sz="750" b="0">
                <a:solidFill>
                  <a:srgbClr val="181818"/>
                </a:solidFill>
              </a:rPr>
              <a:t>价格和门槛高</a:t>
            </a:r>
          </a:p>
        </p:txBody>
      </p:sp>
      <p:sp>
        <p:nvSpPr>
          <p:cNvPr id="76" name="compare-c-2-3">
            <a:extLst xmlns:a="http://schemas.openxmlformats.org/drawingml/2006/main">
              <a:ext uri="{FF2B5EF4-FFF2-40B4-BE49-F238E27FC236}">
                <a16:creationId xmlns:a16="http://schemas.microsoft.com/office/drawing/2014/main" id="{AC0016F0-4D19-41CD-88C3-224DCAD75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390900"/>
            <a:ext cx="1257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77" name="compare-ct-2-3">
            <a:extLst xmlns:a="http://schemas.openxmlformats.org/drawingml/2006/main">
              <a:ext uri="{FF2B5EF4-FFF2-40B4-BE49-F238E27FC236}">
                <a16:creationId xmlns:a16="http://schemas.microsoft.com/office/drawing/2014/main" id="{55AA5FB9-0414-4045-9D2B-FDADBC7D6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448050"/>
            <a:ext cx="114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81818"/>
                </a:solidFill>
              </a:defRPr>
            </a:pPr>
            <a:r>
              <a:rPr sz="750" b="0">
                <a:solidFill>
                  <a:srgbClr val="181818"/>
                </a:solidFill>
              </a:rPr>
              <a:t>强识别设计参照</a:t>
            </a:r>
          </a:p>
        </p:txBody>
      </p:sp>
      <p:sp>
        <p:nvSpPr>
          <p:cNvPr id="78" name="compare-c-3-0">
            <a:extLst xmlns:a="http://schemas.openxmlformats.org/drawingml/2006/main">
              <a:ext uri="{FF2B5EF4-FFF2-40B4-BE49-F238E27FC236}">
                <a16:creationId xmlns:a16="http://schemas.microsoft.com/office/drawing/2014/main" id="{39586901-92CE-469F-BB2C-D4493C267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171950"/>
            <a:ext cx="7429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79" name="compare-ct-3-0">
            <a:extLst xmlns:a="http://schemas.openxmlformats.org/drawingml/2006/main">
              <a:ext uri="{FF2B5EF4-FFF2-40B4-BE49-F238E27FC236}">
                <a16:creationId xmlns:a16="http://schemas.microsoft.com/office/drawing/2014/main" id="{BC62C6FE-63B9-407F-AB32-12A688984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229100"/>
            <a:ext cx="628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81818"/>
                </a:solidFill>
              </a:defRPr>
            </a:pPr>
            <a:r>
              <a:rPr sz="825" b="1">
                <a:solidFill>
                  <a:srgbClr val="181818"/>
                </a:solidFill>
              </a:rPr>
              <a:t>G700</a:t>
            </a:r>
          </a:p>
        </p:txBody>
      </p:sp>
      <p:sp>
        <p:nvSpPr>
          <p:cNvPr id="80" name="compare-c-3-1">
            <a:extLst xmlns:a="http://schemas.openxmlformats.org/drawingml/2006/main">
              <a:ext uri="{FF2B5EF4-FFF2-40B4-BE49-F238E27FC236}">
                <a16:creationId xmlns:a16="http://schemas.microsoft.com/office/drawing/2014/main" id="{D30047B7-6BDF-4554-A316-71A75EB9D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171950"/>
            <a:ext cx="1162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81" name="compare-ct-3-1">
            <a:extLst xmlns:a="http://schemas.openxmlformats.org/drawingml/2006/main">
              <a:ext uri="{FF2B5EF4-FFF2-40B4-BE49-F238E27FC236}">
                <a16:creationId xmlns:a16="http://schemas.microsoft.com/office/drawing/2014/main" id="{E6703D46-E52B-447C-AB14-A7CA2D8A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229100"/>
            <a:ext cx="104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81818"/>
                </a:solidFill>
              </a:defRPr>
            </a:pPr>
            <a:r>
              <a:rPr sz="750" b="0">
                <a:solidFill>
                  <a:srgbClr val="181818"/>
                </a:solidFill>
              </a:rPr>
              <a:t>舒适/越野较均衡</a:t>
            </a:r>
          </a:p>
        </p:txBody>
      </p:sp>
      <p:sp>
        <p:nvSpPr>
          <p:cNvPr id="82" name="compare-c-3-2">
            <a:extLst xmlns:a="http://schemas.openxmlformats.org/drawingml/2006/main">
              <a:ext uri="{FF2B5EF4-FFF2-40B4-BE49-F238E27FC236}">
                <a16:creationId xmlns:a16="http://schemas.microsoft.com/office/drawing/2014/main" id="{B9B36CA3-B728-478D-858B-6D13E9A86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171950"/>
            <a:ext cx="1162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83" name="compare-ct-3-2">
            <a:extLst xmlns:a="http://schemas.openxmlformats.org/drawingml/2006/main">
              <a:ext uri="{FF2B5EF4-FFF2-40B4-BE49-F238E27FC236}">
                <a16:creationId xmlns:a16="http://schemas.microsoft.com/office/drawing/2014/main" id="{1F1FA158-F32F-4528-9607-7ED84E45C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229100"/>
            <a:ext cx="104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81818"/>
                </a:solidFill>
              </a:defRPr>
            </a:pPr>
            <a:r>
              <a:rPr sz="750" b="0">
                <a:solidFill>
                  <a:srgbClr val="181818"/>
                </a:solidFill>
              </a:rPr>
              <a:t>空间与智舱待提升</a:t>
            </a:r>
          </a:p>
        </p:txBody>
      </p:sp>
      <p:sp>
        <p:nvSpPr>
          <p:cNvPr id="84" name="compare-c-3-3">
            <a:extLst xmlns:a="http://schemas.openxmlformats.org/drawingml/2006/main">
              <a:ext uri="{FF2B5EF4-FFF2-40B4-BE49-F238E27FC236}">
                <a16:creationId xmlns:a16="http://schemas.microsoft.com/office/drawing/2014/main" id="{753BEE21-8D7B-42CD-A3B7-054AE53DE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171950"/>
            <a:ext cx="1257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85" name="compare-ct-3-3">
            <a:extLst xmlns:a="http://schemas.openxmlformats.org/drawingml/2006/main">
              <a:ext uri="{FF2B5EF4-FFF2-40B4-BE49-F238E27FC236}">
                <a16:creationId xmlns:a16="http://schemas.microsoft.com/office/drawing/2014/main" id="{05E1B8C4-052B-4622-B7A5-81AF5E9A8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229100"/>
            <a:ext cx="114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81818"/>
                </a:solidFill>
              </a:defRPr>
            </a:pPr>
            <a:r>
              <a:rPr sz="750" b="0">
                <a:solidFill>
                  <a:srgbClr val="181818"/>
                </a:solidFill>
              </a:rPr>
              <a:t>最接近目标状态</a:t>
            </a:r>
          </a:p>
        </p:txBody>
      </p:sp>
      <p:sp>
        <p:nvSpPr>
          <p:cNvPr id="86" name="compare-foot-chip-0">
            <a:extLst xmlns:a="http://schemas.openxmlformats.org/drawingml/2006/main">
              <a:ext uri="{FF2B5EF4-FFF2-40B4-BE49-F238E27FC236}">
                <a16:creationId xmlns:a16="http://schemas.microsoft.com/office/drawing/2014/main" id="{E6F47471-34D1-459E-8BA4-B3DFCD9AF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762500"/>
            <a:ext cx="1009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5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87" name="compare-foot-chip-text-0">
            <a:extLst xmlns:a="http://schemas.openxmlformats.org/drawingml/2006/main">
              <a:ext uri="{FF2B5EF4-FFF2-40B4-BE49-F238E27FC236}">
                <a16:creationId xmlns:a16="http://schemas.microsoft.com/office/drawing/2014/main" id="{CF2F392A-7466-4219-8380-1BD6462E0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819650"/>
            <a:ext cx="895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81818"/>
                </a:solidFill>
              </a:defRPr>
            </a:pPr>
            <a:r>
              <a:rPr sz="675" b="1">
                <a:solidFill>
                  <a:srgbClr val="181818"/>
                </a:solidFill>
              </a:rPr>
              <a:t>舒适智能</a:t>
            </a:r>
          </a:p>
        </p:txBody>
      </p:sp>
      <p:sp>
        <p:nvSpPr>
          <p:cNvPr id="88" name="compare-foot-chip-1">
            <a:extLst xmlns:a="http://schemas.openxmlformats.org/drawingml/2006/main">
              <a:ext uri="{FF2B5EF4-FFF2-40B4-BE49-F238E27FC236}">
                <a16:creationId xmlns:a16="http://schemas.microsoft.com/office/drawing/2014/main" id="{DBE84201-AD1F-433B-93BD-85D7648C0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762500"/>
            <a:ext cx="1009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EB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89" name="compare-foot-chip-text-1">
            <a:extLst xmlns:a="http://schemas.openxmlformats.org/drawingml/2006/main">
              <a:ext uri="{FF2B5EF4-FFF2-40B4-BE49-F238E27FC236}">
                <a16:creationId xmlns:a16="http://schemas.microsoft.com/office/drawing/2014/main" id="{5899D90D-33E9-4558-A02D-2F70B6C0B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819650"/>
            <a:ext cx="895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81818"/>
                </a:solidFill>
              </a:defRPr>
            </a:pPr>
            <a:r>
              <a:rPr sz="675" b="1">
                <a:solidFill>
                  <a:srgbClr val="181818"/>
                </a:solidFill>
              </a:rPr>
              <a:t>豪华设计</a:t>
            </a:r>
          </a:p>
        </p:txBody>
      </p:sp>
      <p:sp>
        <p:nvSpPr>
          <p:cNvPr id="90" name="compare-foot-chip-2">
            <a:extLst xmlns:a="http://schemas.openxmlformats.org/drawingml/2006/main">
              <a:ext uri="{FF2B5EF4-FFF2-40B4-BE49-F238E27FC236}">
                <a16:creationId xmlns:a16="http://schemas.microsoft.com/office/drawing/2014/main" id="{C1AD5CF2-DADC-4A1A-A380-E427D8F51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762500"/>
            <a:ext cx="1009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CE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91" name="compare-foot-chip-text-2">
            <a:extLst xmlns:a="http://schemas.openxmlformats.org/drawingml/2006/main">
              <a:ext uri="{FF2B5EF4-FFF2-40B4-BE49-F238E27FC236}">
                <a16:creationId xmlns:a16="http://schemas.microsoft.com/office/drawing/2014/main" id="{7EB21D02-D510-492A-9570-6574315CA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819650"/>
            <a:ext cx="895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81818"/>
                </a:solidFill>
              </a:defRPr>
            </a:pPr>
            <a:r>
              <a:rPr sz="675" b="1">
                <a:solidFill>
                  <a:srgbClr val="181818"/>
                </a:solidFill>
              </a:rPr>
              <a:t>真实越野</a:t>
            </a:r>
          </a:p>
        </p:txBody>
      </p:sp>
      <p:sp>
        <p:nvSpPr>
          <p:cNvPr id="92" name="compare-foot-chip-3">
            <a:extLst xmlns:a="http://schemas.openxmlformats.org/drawingml/2006/main">
              <a:ext uri="{FF2B5EF4-FFF2-40B4-BE49-F238E27FC236}">
                <a16:creationId xmlns:a16="http://schemas.microsoft.com/office/drawing/2014/main" id="{598B9D77-C4E8-4BD0-9251-CEC619922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4762500"/>
            <a:ext cx="1009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EB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93" name="compare-foot-chip-text-3">
            <a:extLst xmlns:a="http://schemas.openxmlformats.org/drawingml/2006/main">
              <a:ext uri="{FF2B5EF4-FFF2-40B4-BE49-F238E27FC236}">
                <a16:creationId xmlns:a16="http://schemas.microsoft.com/office/drawing/2014/main" id="{3F73987C-F0B7-473D-870A-A6CFFB274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819650"/>
            <a:ext cx="895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81818"/>
                </a:solidFill>
              </a:defRPr>
            </a:pPr>
            <a:r>
              <a:rPr sz="675" b="1">
                <a:solidFill>
                  <a:srgbClr val="181818"/>
                </a:solidFill>
              </a:rPr>
              <a:t>家庭可用</a:t>
            </a:r>
          </a:p>
        </p:txBody>
      </p:sp>
      <p:sp>
        <p:nvSpPr>
          <p:cNvPr id="94" name="compare-note-band">
            <a:extLst xmlns:a="http://schemas.openxmlformats.org/drawingml/2006/main">
              <a:ext uri="{FF2B5EF4-FFF2-40B4-BE49-F238E27FC236}">
                <a16:creationId xmlns:a16="http://schemas.microsoft.com/office/drawing/2014/main" id="{42F93548-140F-4B8E-B490-C94E1B87E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086350"/>
            <a:ext cx="432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5" name="compare-note-text">
            <a:extLst xmlns:a="http://schemas.openxmlformats.org/drawingml/2006/main">
              <a:ext uri="{FF2B5EF4-FFF2-40B4-BE49-F238E27FC236}">
                <a16:creationId xmlns:a16="http://schemas.microsoft.com/office/drawing/2014/main" id="{84C3E259-31E7-4B5D-A20C-7199B81D7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133975"/>
            <a:ext cx="413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5757"/>
                </a:solidFill>
              </a:defRPr>
            </a:pPr>
            <a:r>
              <a:rPr sz="750" b="1">
                <a:solidFill>
                  <a:srgbClr val="595757"/>
                </a:solidFill>
              </a:rPr>
              <a:t>机会空档 = 理想/问界的舒适智能 + 坦克/烈马的越野个性，而不是二者择一。</a:t>
            </a:r>
          </a:p>
        </p:txBody>
      </p:sp>
    </p:spTree>
    <p:extLst>
      <p:ext uri="{BB962C8B-B14F-4D97-AF65-F5344CB8AC3E}">
        <p14:creationId xmlns:p14="http://schemas.microsoft.com/office/powerpoint/2010/main" val="40287381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B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4" name="top-8">
            <a:extLst xmlns:a="http://schemas.openxmlformats.org/drawingml/2006/main">
              <a:ext uri="{FF2B5EF4-FFF2-40B4-BE49-F238E27FC236}">
                <a16:creationId xmlns:a16="http://schemas.microsoft.com/office/drawing/2014/main" id="{A6A118D4-A222-41CF-8F30-64311203B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mark-8">
            <a:extLst xmlns:a="http://schemas.openxmlformats.org/drawingml/2006/main">
              <a:ext uri="{FF2B5EF4-FFF2-40B4-BE49-F238E27FC236}">
                <a16:creationId xmlns:a16="http://schemas.microsoft.com/office/drawing/2014/main" id="{FE27CE0B-A58C-4B82-A401-547563930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8">
            <a:extLst xmlns:a="http://schemas.openxmlformats.org/drawingml/2006/main">
              <a:ext uri="{FF2B5EF4-FFF2-40B4-BE49-F238E27FC236}">
                <a16:creationId xmlns:a16="http://schemas.microsoft.com/office/drawing/2014/main" id="{41B536E7-9816-4000-8917-11EB33B60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ource-8">
            <a:extLst xmlns:a="http://schemas.openxmlformats.org/drawingml/2006/main">
              <a:ext uri="{FF2B5EF4-FFF2-40B4-BE49-F238E27FC236}">
                <a16:creationId xmlns:a16="http://schemas.microsoft.com/office/drawing/2014/main" id="{77A8D590-2221-4590-998D-63D55BCEF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717171"/>
                </a:solidFill>
              </a:defRPr>
            </a:pPr>
            <a:r>
              <a:rPr sz="750">
                <a:solidFill>
                  <a:srgbClr val="717171"/>
                </a:solidFill>
              </a:rPr>
              <a:t>资料来源：会议笔录分析总结_优化版(1).docx，仅基于原文整理</a:t>
            </a:r>
          </a:p>
        </p:txBody>
      </p:sp>
      <p:sp>
        <p:nvSpPr>
          <p:cNvPr id="5" name="page-8">
            <a:extLst xmlns:a="http://schemas.openxmlformats.org/drawingml/2006/main">
              <a:ext uri="{FF2B5EF4-FFF2-40B4-BE49-F238E27FC236}">
                <a16:creationId xmlns:a16="http://schemas.microsoft.com/office/drawing/2014/main" id="{8710B050-D10B-4387-9EF4-CAA9C18FC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912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717171"/>
                </a:solidFill>
              </a:defRPr>
            </a:pPr>
            <a:r>
              <a:rPr sz="750">
                <a:solidFill>
                  <a:srgbClr val="717171"/>
                </a:solidFill>
              </a:rPr>
              <a:t>08</a:t>
            </a:r>
          </a:p>
        </p:txBody>
      </p:sp>
      <p:sp>
        <p:nvSpPr>
          <p:cNvPr id="6" name="kicker-8">
            <a:extLst xmlns:a="http://schemas.openxmlformats.org/drawingml/2006/main">
              <a:ext uri="{FF2B5EF4-FFF2-40B4-BE49-F238E27FC236}">
                <a16:creationId xmlns:a16="http://schemas.microsoft.com/office/drawing/2014/main" id="{D1F02C3B-7954-4D17-B697-33EABAAD9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77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06124"/>
                </a:solidFill>
              </a:defRPr>
            </a:pPr>
            <a:r>
              <a:rPr sz="825" b="1">
                <a:solidFill>
                  <a:srgbClr val="F06124"/>
                </a:solidFill>
              </a:rPr>
              <a:t>MENTAL MIGRATION</a:t>
            </a:r>
          </a:p>
        </p:txBody>
      </p:sp>
      <p:sp>
        <p:nvSpPr>
          <p:cNvPr id="7" name="title-8">
            <a:extLst xmlns:a="http://schemas.openxmlformats.org/drawingml/2006/main">
              <a:ext uri="{FF2B5EF4-FFF2-40B4-BE49-F238E27FC236}">
                <a16:creationId xmlns:a16="http://schemas.microsoft.com/office/drawing/2014/main" id="{1AE6082F-E3FE-43BB-BD79-E86E8547E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1818"/>
                </a:solidFill>
              </a:defRPr>
            </a:pPr>
            <a:r>
              <a:rPr sz="2100" b="1">
                <a:solidFill>
                  <a:srgbClr val="181818"/>
                </a:solidFill>
              </a:rPr>
              <a:t>竞品心智迁移：用户迁移路径大致从“城市舒适”走向“豪华越野”</a:t>
            </a:r>
          </a:p>
        </p:txBody>
      </p:sp>
      <p:sp>
        <p:nvSpPr>
          <p:cNvPr id="8" name="mental-top-band">
            <a:extLst xmlns:a="http://schemas.openxmlformats.org/drawingml/2006/main">
              <a:ext uri="{FF2B5EF4-FFF2-40B4-BE49-F238E27FC236}">
                <a16:creationId xmlns:a16="http://schemas.microsoft.com/office/drawing/2014/main" id="{B88997AA-5727-48D6-8818-8A587CDDB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76350"/>
            <a:ext cx="10515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4"/>
          </a:solidFill>
          <a:ln xmlns:a="http://schemas.openxmlformats.org/drawingml/2006/main" w="0">
            <a:solidFill>
              <a:srgbClr val="141414"/>
            </a:solidFill>
            <a:prstDash val="solid"/>
          </a:ln>
        </p:spPr>
      </p:sp>
      <p:sp>
        <p:nvSpPr>
          <p:cNvPr id="9" name="mental-top-text">
            <a:extLst xmlns:a="http://schemas.openxmlformats.org/drawingml/2006/main">
              <a:ext uri="{FF2B5EF4-FFF2-40B4-BE49-F238E27FC236}">
                <a16:creationId xmlns:a16="http://schemas.microsoft.com/office/drawing/2014/main" id="{7A1965A3-030C-462E-A95A-B0796E336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323975"/>
            <a:ext cx="10325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迁移逻辑: 用户的出发点不同，但最终都在寻找一台能覆盖更多生活半径的豪华越野产品。</a:t>
            </a:r>
          </a:p>
        </p:txBody>
      </p:sp>
      <p:sp>
        <p:nvSpPr>
          <p:cNvPr id="10" name="left-panel">
            <a:extLst xmlns:a="http://schemas.openxmlformats.org/drawingml/2006/main">
              <a:ext uri="{FF2B5EF4-FFF2-40B4-BE49-F238E27FC236}">
                <a16:creationId xmlns:a16="http://schemas.microsoft.com/office/drawing/2014/main" id="{8DE65D77-5977-4567-9A19-3CC313803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24000"/>
            <a:ext cx="51435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1" name="left-header">
            <a:extLst xmlns:a="http://schemas.openxmlformats.org/drawingml/2006/main">
              <a:ext uri="{FF2B5EF4-FFF2-40B4-BE49-F238E27FC236}">
                <a16:creationId xmlns:a16="http://schemas.microsoft.com/office/drawing/2014/main" id="{CDCE36CF-0A20-44A0-BCFC-097ED1968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24000"/>
            <a:ext cx="514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8D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left-title">
            <a:extLst xmlns:a="http://schemas.openxmlformats.org/drawingml/2006/main">
              <a:ext uri="{FF2B5EF4-FFF2-40B4-BE49-F238E27FC236}">
                <a16:creationId xmlns:a16="http://schemas.microsoft.com/office/drawing/2014/main" id="{9C6EA20A-AB01-4772-B740-51037F3C2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562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迁移路径判断</a:t>
            </a:r>
          </a:p>
        </p:txBody>
      </p:sp>
      <p:sp>
        <p:nvSpPr>
          <p:cNvPr id="13" name="mental-flow-box-0">
            <a:extLst xmlns:a="http://schemas.openxmlformats.org/drawingml/2006/main">
              <a:ext uri="{FF2B5EF4-FFF2-40B4-BE49-F238E27FC236}">
                <a16:creationId xmlns:a16="http://schemas.microsoft.com/office/drawing/2014/main" id="{FFB65D60-170C-4B34-AB9C-07A3DBBBF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85950"/>
            <a:ext cx="1047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4" name="mental-flow-no-0">
            <a:extLst xmlns:a="http://schemas.openxmlformats.org/drawingml/2006/main">
              <a:ext uri="{FF2B5EF4-FFF2-40B4-BE49-F238E27FC236}">
                <a16:creationId xmlns:a16="http://schemas.microsoft.com/office/drawing/2014/main" id="{68248C89-B34A-4CA2-863C-2E8495CC7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43100"/>
            <a:ext cx="304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F06124"/>
                </a:solidFill>
              </a:defRPr>
            </a:pPr>
            <a:r>
              <a:rPr sz="600" b="1">
                <a:solidFill>
                  <a:srgbClr val="F06124"/>
                </a:solidFill>
              </a:rPr>
              <a:t>01</a:t>
            </a:r>
          </a:p>
        </p:txBody>
      </p:sp>
      <p:sp>
        <p:nvSpPr>
          <p:cNvPr id="15" name="mental-flow-text-0">
            <a:extLst xmlns:a="http://schemas.openxmlformats.org/drawingml/2006/main">
              <a:ext uri="{FF2B5EF4-FFF2-40B4-BE49-F238E27FC236}">
                <a16:creationId xmlns:a16="http://schemas.microsoft.com/office/drawing/2014/main" id="{4E1242CE-D160-4101-8A75-A52B03C00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764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181818"/>
                </a:solidFill>
              </a:defRPr>
            </a:pPr>
            <a:r>
              <a:rPr sz="825">
                <a:solidFill>
                  <a:srgbClr val="181818"/>
                </a:solidFill>
              </a:rPr>
              <a:t>城市舒适</a:t>
            </a:r>
          </a:p>
        </p:txBody>
      </p:sp>
      <p:sp>
        <p:nvSpPr>
          <p:cNvPr id="16" name="mental-flow-link-0">
            <a:extLst xmlns:a="http://schemas.openxmlformats.org/drawingml/2006/main">
              <a:ext uri="{FF2B5EF4-FFF2-40B4-BE49-F238E27FC236}">
                <a16:creationId xmlns:a16="http://schemas.microsoft.com/office/drawing/2014/main" id="{E75D4542-226C-46EA-83C0-3DB5286C9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105025"/>
            <a:ext cx="171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1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mental-flow-box-1">
            <a:extLst xmlns:a="http://schemas.openxmlformats.org/drawingml/2006/main">
              <a:ext uri="{FF2B5EF4-FFF2-40B4-BE49-F238E27FC236}">
                <a16:creationId xmlns:a16="http://schemas.microsoft.com/office/drawing/2014/main" id="{5BDD39AD-3339-486F-B218-B55E8C7D8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1885950"/>
            <a:ext cx="1047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8" name="mental-flow-no-1">
            <a:extLst xmlns:a="http://schemas.openxmlformats.org/drawingml/2006/main">
              <a:ext uri="{FF2B5EF4-FFF2-40B4-BE49-F238E27FC236}">
                <a16:creationId xmlns:a16="http://schemas.microsoft.com/office/drawing/2014/main" id="{14F31313-775F-4530-9C00-728D915EF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943100"/>
            <a:ext cx="304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F06124"/>
                </a:solidFill>
              </a:defRPr>
            </a:pPr>
            <a:r>
              <a:rPr sz="600" b="1">
                <a:solidFill>
                  <a:srgbClr val="F06124"/>
                </a:solidFill>
              </a:rPr>
              <a:t>02</a:t>
            </a:r>
          </a:p>
        </p:txBody>
      </p:sp>
      <p:sp>
        <p:nvSpPr>
          <p:cNvPr id="19" name="mental-flow-text-1">
            <a:extLst xmlns:a="http://schemas.openxmlformats.org/drawingml/2006/main">
              <a:ext uri="{FF2B5EF4-FFF2-40B4-BE49-F238E27FC236}">
                <a16:creationId xmlns:a16="http://schemas.microsoft.com/office/drawing/2014/main" id="{536CA82B-CF4E-472C-A98E-37AB63A79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0764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181818"/>
                </a:solidFill>
              </a:defRPr>
            </a:pPr>
            <a:r>
              <a:rPr sz="825">
                <a:solidFill>
                  <a:srgbClr val="181818"/>
                </a:solidFill>
              </a:rPr>
              <a:t>功能拓展</a:t>
            </a:r>
          </a:p>
        </p:txBody>
      </p:sp>
      <p:sp>
        <p:nvSpPr>
          <p:cNvPr id="20" name="mental-flow-link-1">
            <a:extLst xmlns:a="http://schemas.openxmlformats.org/drawingml/2006/main">
              <a:ext uri="{FF2B5EF4-FFF2-40B4-BE49-F238E27FC236}">
                <a16:creationId xmlns:a16="http://schemas.microsoft.com/office/drawing/2014/main" id="{099E1E40-267B-4C75-B305-F722D992D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105025"/>
            <a:ext cx="171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1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mental-flow-box-2">
            <a:extLst xmlns:a="http://schemas.openxmlformats.org/drawingml/2006/main">
              <a:ext uri="{FF2B5EF4-FFF2-40B4-BE49-F238E27FC236}">
                <a16:creationId xmlns:a16="http://schemas.microsoft.com/office/drawing/2014/main" id="{0A249B57-804E-48E0-B66F-84A69D60D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885950"/>
            <a:ext cx="1047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2" name="mental-flow-no-2">
            <a:extLst xmlns:a="http://schemas.openxmlformats.org/drawingml/2006/main">
              <a:ext uri="{FF2B5EF4-FFF2-40B4-BE49-F238E27FC236}">
                <a16:creationId xmlns:a16="http://schemas.microsoft.com/office/drawing/2014/main" id="{36BE1F21-EA50-48AD-941F-BE5A4820D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943100"/>
            <a:ext cx="304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F06124"/>
                </a:solidFill>
              </a:defRPr>
            </a:pPr>
            <a:r>
              <a:rPr sz="600" b="1">
                <a:solidFill>
                  <a:srgbClr val="F06124"/>
                </a:solidFill>
              </a:rPr>
              <a:t>03</a:t>
            </a:r>
          </a:p>
        </p:txBody>
      </p:sp>
      <p:sp>
        <p:nvSpPr>
          <p:cNvPr id="23" name="mental-flow-text-2">
            <a:extLst xmlns:a="http://schemas.openxmlformats.org/drawingml/2006/main">
              <a:ext uri="{FF2B5EF4-FFF2-40B4-BE49-F238E27FC236}">
                <a16:creationId xmlns:a16="http://schemas.microsoft.com/office/drawing/2014/main" id="{001AD5B5-FAE8-4651-901E-920AA2F5E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0764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181818"/>
                </a:solidFill>
              </a:defRPr>
            </a:pPr>
            <a:r>
              <a:rPr sz="825">
                <a:solidFill>
                  <a:srgbClr val="181818"/>
                </a:solidFill>
              </a:rPr>
              <a:t>户外探索</a:t>
            </a:r>
          </a:p>
        </p:txBody>
      </p:sp>
      <p:sp>
        <p:nvSpPr>
          <p:cNvPr id="24" name="mental-flow-link-2">
            <a:extLst xmlns:a="http://schemas.openxmlformats.org/drawingml/2006/main">
              <a:ext uri="{FF2B5EF4-FFF2-40B4-BE49-F238E27FC236}">
                <a16:creationId xmlns:a16="http://schemas.microsoft.com/office/drawing/2014/main" id="{0B185ADB-B2FB-40E9-8340-98FB61DA3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105025"/>
            <a:ext cx="171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1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mental-flow-box-3">
            <a:extLst xmlns:a="http://schemas.openxmlformats.org/drawingml/2006/main">
              <a:ext uri="{FF2B5EF4-FFF2-40B4-BE49-F238E27FC236}">
                <a16:creationId xmlns:a16="http://schemas.microsoft.com/office/drawing/2014/main" id="{E8CC6103-A28B-4641-8685-CDD427A22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885950"/>
            <a:ext cx="1047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6" name="mental-flow-no-3">
            <a:extLst xmlns:a="http://schemas.openxmlformats.org/drawingml/2006/main">
              <a:ext uri="{FF2B5EF4-FFF2-40B4-BE49-F238E27FC236}">
                <a16:creationId xmlns:a16="http://schemas.microsoft.com/office/drawing/2014/main" id="{B86BA35B-4F52-4A1E-9DE3-76128335B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943100"/>
            <a:ext cx="304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F06124"/>
                </a:solidFill>
              </a:defRPr>
            </a:pPr>
            <a:r>
              <a:rPr sz="600" b="1">
                <a:solidFill>
                  <a:srgbClr val="F06124"/>
                </a:solidFill>
              </a:rPr>
              <a:t>04</a:t>
            </a:r>
          </a:p>
        </p:txBody>
      </p:sp>
      <p:sp>
        <p:nvSpPr>
          <p:cNvPr id="27" name="mental-flow-text-3">
            <a:extLst xmlns:a="http://schemas.openxmlformats.org/drawingml/2006/main">
              <a:ext uri="{FF2B5EF4-FFF2-40B4-BE49-F238E27FC236}">
                <a16:creationId xmlns:a16="http://schemas.microsoft.com/office/drawing/2014/main" id="{FE2B6043-5901-4EB4-95D5-1255B74D5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0764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181818"/>
                </a:solidFill>
              </a:defRPr>
            </a:pPr>
            <a:r>
              <a:rPr sz="825">
                <a:solidFill>
                  <a:srgbClr val="181818"/>
                </a:solidFill>
              </a:rPr>
              <a:t>豪华越野</a:t>
            </a:r>
          </a:p>
        </p:txBody>
      </p:sp>
      <p:sp>
        <p:nvSpPr>
          <p:cNvPr id="28" name="mental-h-0">
            <a:extLst xmlns:a="http://schemas.openxmlformats.org/drawingml/2006/main">
              <a:ext uri="{FF2B5EF4-FFF2-40B4-BE49-F238E27FC236}">
                <a16:creationId xmlns:a16="http://schemas.microsoft.com/office/drawing/2014/main" id="{25727030-7918-4978-9431-AABF6D937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85950"/>
            <a:ext cx="114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8D56"/>
          </a:solidFill>
          <a:ln xmlns:a="http://schemas.openxmlformats.org/drawingml/2006/main" w="0">
            <a:solidFill>
              <a:srgbClr val="4B8D56"/>
            </a:solidFill>
            <a:prstDash val="solid"/>
          </a:ln>
        </p:spPr>
      </p:sp>
      <p:sp>
        <p:nvSpPr>
          <p:cNvPr id="29" name="mental-ht-0">
            <a:extLst xmlns:a="http://schemas.openxmlformats.org/drawingml/2006/main">
              <a:ext uri="{FF2B5EF4-FFF2-40B4-BE49-F238E27FC236}">
                <a16:creationId xmlns:a16="http://schemas.microsoft.com/office/drawing/2014/main" id="{EB5A58BB-34FD-4A08-9881-006C1EB6D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943100"/>
            <a:ext cx="1028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来源人群</a:t>
            </a:r>
          </a:p>
        </p:txBody>
      </p:sp>
      <p:sp>
        <p:nvSpPr>
          <p:cNvPr id="30" name="mental-h-1">
            <a:extLst xmlns:a="http://schemas.openxmlformats.org/drawingml/2006/main">
              <a:ext uri="{FF2B5EF4-FFF2-40B4-BE49-F238E27FC236}">
                <a16:creationId xmlns:a16="http://schemas.microsoft.com/office/drawing/2014/main" id="{12661C77-A30E-4905-9CE1-FD248E741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885950"/>
            <a:ext cx="171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8D56"/>
          </a:solidFill>
          <a:ln xmlns:a="http://schemas.openxmlformats.org/drawingml/2006/main" w="0">
            <a:solidFill>
              <a:srgbClr val="4B8D56"/>
            </a:solidFill>
            <a:prstDash val="solid"/>
          </a:ln>
        </p:spPr>
      </p:sp>
      <p:sp>
        <p:nvSpPr>
          <p:cNvPr id="31" name="mental-ht-1">
            <a:extLst xmlns:a="http://schemas.openxmlformats.org/drawingml/2006/main">
              <a:ext uri="{FF2B5EF4-FFF2-40B4-BE49-F238E27FC236}">
                <a16:creationId xmlns:a16="http://schemas.microsoft.com/office/drawing/2014/main" id="{84081BAA-ABCE-490E-B94E-7F647934E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1943100"/>
            <a:ext cx="1600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当前满足点</a:t>
            </a:r>
          </a:p>
        </p:txBody>
      </p:sp>
      <p:sp>
        <p:nvSpPr>
          <p:cNvPr id="32" name="mental-h-2">
            <a:extLst xmlns:a="http://schemas.openxmlformats.org/drawingml/2006/main">
              <a:ext uri="{FF2B5EF4-FFF2-40B4-BE49-F238E27FC236}">
                <a16:creationId xmlns:a16="http://schemas.microsoft.com/office/drawing/2014/main" id="{140377E5-8381-495F-814F-FC05740F3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885950"/>
            <a:ext cx="171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8D56"/>
          </a:solidFill>
          <a:ln xmlns:a="http://schemas.openxmlformats.org/drawingml/2006/main" w="0">
            <a:solidFill>
              <a:srgbClr val="4B8D56"/>
            </a:solidFill>
            <a:prstDash val="solid"/>
          </a:ln>
        </p:spPr>
      </p:sp>
      <p:sp>
        <p:nvSpPr>
          <p:cNvPr id="33" name="mental-ht-2">
            <a:extLst xmlns:a="http://schemas.openxmlformats.org/drawingml/2006/main">
              <a:ext uri="{FF2B5EF4-FFF2-40B4-BE49-F238E27FC236}">
                <a16:creationId xmlns:a16="http://schemas.microsoft.com/office/drawing/2014/main" id="{C07142F3-B3AB-476C-BF19-5BFF8E27C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943100"/>
            <a:ext cx="1600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迁移动机</a:t>
            </a:r>
          </a:p>
        </p:txBody>
      </p:sp>
      <p:sp>
        <p:nvSpPr>
          <p:cNvPr id="34" name="mental-h-3">
            <a:extLst xmlns:a="http://schemas.openxmlformats.org/drawingml/2006/main">
              <a:ext uri="{FF2B5EF4-FFF2-40B4-BE49-F238E27FC236}">
                <a16:creationId xmlns:a16="http://schemas.microsoft.com/office/drawing/2014/main" id="{AD2E94BC-7CF8-4BA3-9E92-10CC2048E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885950"/>
            <a:ext cx="1257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8D56"/>
          </a:solidFill>
          <a:ln xmlns:a="http://schemas.openxmlformats.org/drawingml/2006/main" w="0">
            <a:solidFill>
              <a:srgbClr val="4B8D56"/>
            </a:solidFill>
            <a:prstDash val="solid"/>
          </a:ln>
        </p:spPr>
      </p:sp>
      <p:sp>
        <p:nvSpPr>
          <p:cNvPr id="35" name="mental-ht-3">
            <a:extLst xmlns:a="http://schemas.openxmlformats.org/drawingml/2006/main">
              <a:ext uri="{FF2B5EF4-FFF2-40B4-BE49-F238E27FC236}">
                <a16:creationId xmlns:a16="http://schemas.microsoft.com/office/drawing/2014/main" id="{3E6C88FD-8CBE-452F-B138-FF3F3B79B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9431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产品期待</a:t>
            </a:r>
          </a:p>
        </p:txBody>
      </p:sp>
      <p:sp>
        <p:nvSpPr>
          <p:cNvPr id="36" name="mental-c-0-0">
            <a:extLst xmlns:a="http://schemas.openxmlformats.org/drawingml/2006/main">
              <a:ext uri="{FF2B5EF4-FFF2-40B4-BE49-F238E27FC236}">
                <a16:creationId xmlns:a16="http://schemas.microsoft.com/office/drawing/2014/main" id="{C4BB799E-2518-41EE-995B-78D4AA2EB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90750"/>
            <a:ext cx="1143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37" name="mental-ct-0-0">
            <a:extLst xmlns:a="http://schemas.openxmlformats.org/drawingml/2006/main">
              <a:ext uri="{FF2B5EF4-FFF2-40B4-BE49-F238E27FC236}">
                <a16:creationId xmlns:a16="http://schemas.microsoft.com/office/drawing/2014/main" id="{034FA0EB-3038-4B52-9208-CFE5D83DE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47900"/>
            <a:ext cx="1028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81818"/>
                </a:solidFill>
              </a:defRPr>
            </a:pPr>
            <a:r>
              <a:rPr sz="825" b="1">
                <a:solidFill>
                  <a:srgbClr val="181818"/>
                </a:solidFill>
              </a:rPr>
              <a:t>理想/问界</a:t>
            </a:r>
          </a:p>
        </p:txBody>
      </p:sp>
      <p:sp>
        <p:nvSpPr>
          <p:cNvPr id="38" name="mental-c-0-1">
            <a:extLst xmlns:a="http://schemas.openxmlformats.org/drawingml/2006/main">
              <a:ext uri="{FF2B5EF4-FFF2-40B4-BE49-F238E27FC236}">
                <a16:creationId xmlns:a16="http://schemas.microsoft.com/office/drawing/2014/main" id="{410176FF-51D6-4C4C-8471-1F7F913F0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190750"/>
            <a:ext cx="171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39" name="mental-ct-0-1">
            <a:extLst xmlns:a="http://schemas.openxmlformats.org/drawingml/2006/main">
              <a:ext uri="{FF2B5EF4-FFF2-40B4-BE49-F238E27FC236}">
                <a16:creationId xmlns:a16="http://schemas.microsoft.com/office/drawing/2014/main" id="{E1EB107B-0FC9-4479-AF61-85AF9AC15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247900"/>
            <a:ext cx="1600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81818"/>
                </a:solidFill>
              </a:defRPr>
            </a:pPr>
            <a:r>
              <a:rPr sz="750" b="0">
                <a:solidFill>
                  <a:srgbClr val="181818"/>
                </a:solidFill>
              </a:rPr>
              <a:t>舒适、空间、智驾、语音交互</a:t>
            </a:r>
          </a:p>
        </p:txBody>
      </p:sp>
      <p:sp>
        <p:nvSpPr>
          <p:cNvPr id="40" name="mental-c-0-2">
            <a:extLst xmlns:a="http://schemas.openxmlformats.org/drawingml/2006/main">
              <a:ext uri="{FF2B5EF4-FFF2-40B4-BE49-F238E27FC236}">
                <a16:creationId xmlns:a16="http://schemas.microsoft.com/office/drawing/2014/main" id="{61CD5AAA-2B4A-40BC-9860-DF06D47B6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190750"/>
            <a:ext cx="171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41" name="mental-ct-0-2">
            <a:extLst xmlns:a="http://schemas.openxmlformats.org/drawingml/2006/main">
              <a:ext uri="{FF2B5EF4-FFF2-40B4-BE49-F238E27FC236}">
                <a16:creationId xmlns:a16="http://schemas.microsoft.com/office/drawing/2014/main" id="{261DDA44-4C89-4A7A-9D07-E4C13BF17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247900"/>
            <a:ext cx="1600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81818"/>
                </a:solidFill>
              </a:defRPr>
            </a:pPr>
            <a:r>
              <a:rPr sz="750" b="0">
                <a:solidFill>
                  <a:srgbClr val="181818"/>
                </a:solidFill>
              </a:rPr>
              <a:t>需要更个性、更能去远方</a:t>
            </a:r>
          </a:p>
        </p:txBody>
      </p:sp>
      <p:sp>
        <p:nvSpPr>
          <p:cNvPr id="42" name="mental-c-0-3">
            <a:extLst xmlns:a="http://schemas.openxmlformats.org/drawingml/2006/main">
              <a:ext uri="{FF2B5EF4-FFF2-40B4-BE49-F238E27FC236}">
                <a16:creationId xmlns:a16="http://schemas.microsoft.com/office/drawing/2014/main" id="{59FAFFCB-50CD-4B0B-9CA9-205EC87FD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190750"/>
            <a:ext cx="1257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43" name="mental-ct-0-3">
            <a:extLst xmlns:a="http://schemas.openxmlformats.org/drawingml/2006/main">
              <a:ext uri="{FF2B5EF4-FFF2-40B4-BE49-F238E27FC236}">
                <a16:creationId xmlns:a16="http://schemas.microsoft.com/office/drawing/2014/main" id="{9A53458C-A87E-4838-A0E2-96392E5B2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247900"/>
            <a:ext cx="114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81818"/>
                </a:solidFill>
              </a:defRPr>
            </a:pPr>
            <a:r>
              <a:rPr sz="750" b="0">
                <a:solidFill>
                  <a:srgbClr val="181818"/>
                </a:solidFill>
              </a:rPr>
              <a:t>豪华越野但不牺牲便利</a:t>
            </a:r>
          </a:p>
        </p:txBody>
      </p:sp>
      <p:sp>
        <p:nvSpPr>
          <p:cNvPr id="44" name="mental-c-1-0">
            <a:extLst xmlns:a="http://schemas.openxmlformats.org/drawingml/2006/main">
              <a:ext uri="{FF2B5EF4-FFF2-40B4-BE49-F238E27FC236}">
                <a16:creationId xmlns:a16="http://schemas.microsoft.com/office/drawing/2014/main" id="{101AA085-826F-4E19-B9B6-1FCDE18B0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76550"/>
            <a:ext cx="1143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45" name="mental-ct-1-0">
            <a:extLst xmlns:a="http://schemas.openxmlformats.org/drawingml/2006/main">
              <a:ext uri="{FF2B5EF4-FFF2-40B4-BE49-F238E27FC236}">
                <a16:creationId xmlns:a16="http://schemas.microsoft.com/office/drawing/2014/main" id="{54553135-493C-4BFB-BE70-A822F42EF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33700"/>
            <a:ext cx="1028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81818"/>
                </a:solidFill>
              </a:defRPr>
            </a:pPr>
            <a:r>
              <a:rPr sz="825" b="1">
                <a:solidFill>
                  <a:srgbClr val="181818"/>
                </a:solidFill>
              </a:rPr>
              <a:t>坦克/烈马</a:t>
            </a:r>
          </a:p>
        </p:txBody>
      </p:sp>
      <p:sp>
        <p:nvSpPr>
          <p:cNvPr id="46" name="mental-c-1-1">
            <a:extLst xmlns:a="http://schemas.openxmlformats.org/drawingml/2006/main">
              <a:ext uri="{FF2B5EF4-FFF2-40B4-BE49-F238E27FC236}">
                <a16:creationId xmlns:a16="http://schemas.microsoft.com/office/drawing/2014/main" id="{37C7DAD1-5F1A-40E1-94D7-7BABF4F98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876550"/>
            <a:ext cx="171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47" name="mental-ct-1-1">
            <a:extLst xmlns:a="http://schemas.openxmlformats.org/drawingml/2006/main">
              <a:ext uri="{FF2B5EF4-FFF2-40B4-BE49-F238E27FC236}">
                <a16:creationId xmlns:a16="http://schemas.microsoft.com/office/drawing/2014/main" id="{09406E0A-537E-4763-B5C5-3F7DBE122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933700"/>
            <a:ext cx="1600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81818"/>
                </a:solidFill>
              </a:defRPr>
            </a:pPr>
            <a:r>
              <a:rPr sz="750" b="0">
                <a:solidFill>
                  <a:srgbClr val="181818"/>
                </a:solidFill>
              </a:rPr>
              <a:t>越野、改装、野性、通过性</a:t>
            </a:r>
          </a:p>
        </p:txBody>
      </p:sp>
      <p:sp>
        <p:nvSpPr>
          <p:cNvPr id="48" name="mental-c-1-2">
            <a:extLst xmlns:a="http://schemas.openxmlformats.org/drawingml/2006/main">
              <a:ext uri="{FF2B5EF4-FFF2-40B4-BE49-F238E27FC236}">
                <a16:creationId xmlns:a16="http://schemas.microsoft.com/office/drawing/2014/main" id="{47086156-C9D0-43DF-A28C-27EEEFE2F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876550"/>
            <a:ext cx="171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49" name="mental-ct-1-2">
            <a:extLst xmlns:a="http://schemas.openxmlformats.org/drawingml/2006/main">
              <a:ext uri="{FF2B5EF4-FFF2-40B4-BE49-F238E27FC236}">
                <a16:creationId xmlns:a16="http://schemas.microsoft.com/office/drawing/2014/main" id="{60F46F04-E7B3-4FC1-B8A3-6C231D2D5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933700"/>
            <a:ext cx="1600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81818"/>
                </a:solidFill>
              </a:defRPr>
            </a:pPr>
            <a:r>
              <a:rPr sz="750" b="0">
                <a:solidFill>
                  <a:srgbClr val="181818"/>
                </a:solidFill>
              </a:rPr>
              <a:t>希望全家舒适与精致感提升</a:t>
            </a:r>
          </a:p>
        </p:txBody>
      </p:sp>
      <p:sp>
        <p:nvSpPr>
          <p:cNvPr id="50" name="mental-c-1-3">
            <a:extLst xmlns:a="http://schemas.openxmlformats.org/drawingml/2006/main">
              <a:ext uri="{FF2B5EF4-FFF2-40B4-BE49-F238E27FC236}">
                <a16:creationId xmlns:a16="http://schemas.microsoft.com/office/drawing/2014/main" id="{24A4D7BF-7050-42A6-8DF0-984C5D058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876550"/>
            <a:ext cx="1257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51" name="mental-ct-1-3">
            <a:extLst xmlns:a="http://schemas.openxmlformats.org/drawingml/2006/main">
              <a:ext uri="{FF2B5EF4-FFF2-40B4-BE49-F238E27FC236}">
                <a16:creationId xmlns:a16="http://schemas.microsoft.com/office/drawing/2014/main" id="{4F8C1759-C3CE-4E35-9E8A-DD47E7737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933700"/>
            <a:ext cx="114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81818"/>
                </a:solidFill>
              </a:defRPr>
            </a:pPr>
            <a:r>
              <a:rPr sz="750" b="0">
                <a:solidFill>
                  <a:srgbClr val="181818"/>
                </a:solidFill>
              </a:rPr>
              <a:t>更均衡、更高级的越野体验</a:t>
            </a:r>
          </a:p>
        </p:txBody>
      </p:sp>
      <p:sp>
        <p:nvSpPr>
          <p:cNvPr id="52" name="mental-c-2-0">
            <a:extLst xmlns:a="http://schemas.openxmlformats.org/drawingml/2006/main">
              <a:ext uri="{FF2B5EF4-FFF2-40B4-BE49-F238E27FC236}">
                <a16:creationId xmlns:a16="http://schemas.microsoft.com/office/drawing/2014/main" id="{98C0C5FA-3392-43A4-937F-3C33D494C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62350"/>
            <a:ext cx="1143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53" name="mental-ct-2-0">
            <a:extLst xmlns:a="http://schemas.openxmlformats.org/drawingml/2006/main">
              <a:ext uri="{FF2B5EF4-FFF2-40B4-BE49-F238E27FC236}">
                <a16:creationId xmlns:a16="http://schemas.microsoft.com/office/drawing/2014/main" id="{29E6CC60-170C-4A26-9D97-F6EA76F4D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19500"/>
            <a:ext cx="1028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81818"/>
                </a:solidFill>
              </a:defRPr>
            </a:pPr>
            <a:r>
              <a:rPr sz="825" b="1">
                <a:solidFill>
                  <a:srgbClr val="181818"/>
                </a:solidFill>
              </a:rPr>
              <a:t>普通家庭</a:t>
            </a:r>
          </a:p>
        </p:txBody>
      </p:sp>
      <p:sp>
        <p:nvSpPr>
          <p:cNvPr id="54" name="mental-c-2-1">
            <a:extLst xmlns:a="http://schemas.openxmlformats.org/drawingml/2006/main">
              <a:ext uri="{FF2B5EF4-FFF2-40B4-BE49-F238E27FC236}">
                <a16:creationId xmlns:a16="http://schemas.microsoft.com/office/drawing/2014/main" id="{3A914B14-884E-4D15-B8A3-2E35D09EE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562350"/>
            <a:ext cx="171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55" name="mental-ct-2-1">
            <a:extLst xmlns:a="http://schemas.openxmlformats.org/drawingml/2006/main">
              <a:ext uri="{FF2B5EF4-FFF2-40B4-BE49-F238E27FC236}">
                <a16:creationId xmlns:a16="http://schemas.microsoft.com/office/drawing/2014/main" id="{A81515C3-B5FC-4982-88D0-0B41F2E55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619500"/>
            <a:ext cx="1600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81818"/>
                </a:solidFill>
              </a:defRPr>
            </a:pPr>
            <a:r>
              <a:rPr sz="750" b="0">
                <a:solidFill>
                  <a:srgbClr val="181818"/>
                </a:solidFill>
              </a:rPr>
              <a:t>通勤便利、空间够用</a:t>
            </a:r>
          </a:p>
        </p:txBody>
      </p:sp>
      <p:sp>
        <p:nvSpPr>
          <p:cNvPr id="56" name="mental-c-2-2">
            <a:extLst xmlns:a="http://schemas.openxmlformats.org/drawingml/2006/main">
              <a:ext uri="{FF2B5EF4-FFF2-40B4-BE49-F238E27FC236}">
                <a16:creationId xmlns:a16="http://schemas.microsoft.com/office/drawing/2014/main" id="{5FD62BA8-9999-478B-AB46-B84A5211C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562350"/>
            <a:ext cx="171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57" name="mental-ct-2-2">
            <a:extLst xmlns:a="http://schemas.openxmlformats.org/drawingml/2006/main">
              <a:ext uri="{FF2B5EF4-FFF2-40B4-BE49-F238E27FC236}">
                <a16:creationId xmlns:a16="http://schemas.microsoft.com/office/drawing/2014/main" id="{AA4DCD59-6977-4828-891C-ACC020AE1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619500"/>
            <a:ext cx="1600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81818"/>
                </a:solidFill>
              </a:defRPr>
            </a:pPr>
            <a:r>
              <a:rPr sz="750" b="0">
                <a:solidFill>
                  <a:srgbClr val="181818"/>
                </a:solidFill>
              </a:rPr>
              <a:t>想尝试露营、轻越野、宠物/亲子户外</a:t>
            </a:r>
          </a:p>
        </p:txBody>
      </p:sp>
      <p:sp>
        <p:nvSpPr>
          <p:cNvPr id="58" name="mental-c-2-3">
            <a:extLst xmlns:a="http://schemas.openxmlformats.org/drawingml/2006/main">
              <a:ext uri="{FF2B5EF4-FFF2-40B4-BE49-F238E27FC236}">
                <a16:creationId xmlns:a16="http://schemas.microsoft.com/office/drawing/2014/main" id="{C22D2036-10A8-44CA-8742-5F278E10B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562350"/>
            <a:ext cx="1257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59" name="mental-ct-2-3">
            <a:extLst xmlns:a="http://schemas.openxmlformats.org/drawingml/2006/main">
              <a:ext uri="{FF2B5EF4-FFF2-40B4-BE49-F238E27FC236}">
                <a16:creationId xmlns:a16="http://schemas.microsoft.com/office/drawing/2014/main" id="{1CC4806F-F7C3-47C7-8017-D3F6AF879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619500"/>
            <a:ext cx="114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81818"/>
                </a:solidFill>
              </a:defRPr>
            </a:pPr>
            <a:r>
              <a:rPr sz="750" b="0">
                <a:solidFill>
                  <a:srgbClr val="181818"/>
                </a:solidFill>
              </a:rPr>
              <a:t>门槛低、好理解、真能用</a:t>
            </a:r>
          </a:p>
        </p:txBody>
      </p:sp>
      <p:sp>
        <p:nvSpPr>
          <p:cNvPr id="60" name="right-panel">
            <a:extLst xmlns:a="http://schemas.openxmlformats.org/drawingml/2006/main">
              <a:ext uri="{FF2B5EF4-FFF2-40B4-BE49-F238E27FC236}">
                <a16:creationId xmlns:a16="http://schemas.microsoft.com/office/drawing/2014/main" id="{AC562ADD-218A-4F33-B895-4E347C54C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524000"/>
            <a:ext cx="51435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61" name="right-header">
            <a:extLst xmlns:a="http://schemas.openxmlformats.org/drawingml/2006/main">
              <a:ext uri="{FF2B5EF4-FFF2-40B4-BE49-F238E27FC236}">
                <a16:creationId xmlns:a16="http://schemas.microsoft.com/office/drawing/2014/main" id="{06F8119F-7EA3-4EC8-8870-78C1A264D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524000"/>
            <a:ext cx="514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8D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right-title">
            <a:extLst xmlns:a="http://schemas.openxmlformats.org/drawingml/2006/main">
              <a:ext uri="{FF2B5EF4-FFF2-40B4-BE49-F238E27FC236}">
                <a16:creationId xmlns:a16="http://schemas.microsoft.com/office/drawing/2014/main" id="{EF0E473F-AE7F-422C-83CD-9279C74F7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562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汇报结论</a:t>
            </a:r>
          </a:p>
        </p:txBody>
      </p:sp>
      <p:sp>
        <p:nvSpPr>
          <p:cNvPr id="63" name="right-b-dot-0">
            <a:extLst xmlns:a="http://schemas.openxmlformats.org/drawingml/2006/main">
              <a:ext uri="{FF2B5EF4-FFF2-40B4-BE49-F238E27FC236}">
                <a16:creationId xmlns:a16="http://schemas.microsoft.com/office/drawing/2014/main" id="{E90FB09E-8937-41A1-BFD7-2C649C886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00250"/>
            <a:ext cx="57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E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right-b-text-0">
            <a:extLst xmlns:a="http://schemas.openxmlformats.org/drawingml/2006/main">
              <a:ext uri="{FF2B5EF4-FFF2-40B4-BE49-F238E27FC236}">
                <a16:creationId xmlns:a16="http://schemas.microsoft.com/office/drawing/2014/main" id="{0AE2576A-3634-473F-988B-C9590F782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43100"/>
            <a:ext cx="4591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181818"/>
                </a:solidFill>
              </a:defRPr>
            </a:pPr>
            <a:r>
              <a:rPr sz="1125">
                <a:solidFill>
                  <a:srgbClr val="181818"/>
                </a:solidFill>
              </a:rPr>
              <a:t>理想/问界用户不是要更硬核，而是要一辆保持舒适和智能，同时更有外观个性与户外能力的车。</a:t>
            </a:r>
          </a:p>
        </p:txBody>
      </p:sp>
      <p:sp>
        <p:nvSpPr>
          <p:cNvPr id="65" name="right-b-dot-1">
            <a:extLst xmlns:a="http://schemas.openxmlformats.org/drawingml/2006/main">
              <a:ext uri="{FF2B5EF4-FFF2-40B4-BE49-F238E27FC236}">
                <a16:creationId xmlns:a16="http://schemas.microsoft.com/office/drawing/2014/main" id="{1570FE6C-00D0-4754-9F1A-09E2B81A1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381250"/>
            <a:ext cx="57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E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right-b-text-1">
            <a:extLst xmlns:a="http://schemas.openxmlformats.org/drawingml/2006/main">
              <a:ext uri="{FF2B5EF4-FFF2-40B4-BE49-F238E27FC236}">
                <a16:creationId xmlns:a16="http://schemas.microsoft.com/office/drawing/2014/main" id="{B9B376E1-B8C3-43F4-927F-7D5F58318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24100"/>
            <a:ext cx="4591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181818"/>
                </a:solidFill>
              </a:defRPr>
            </a:pPr>
            <a:r>
              <a:rPr sz="1125">
                <a:solidFill>
                  <a:srgbClr val="181818"/>
                </a:solidFill>
              </a:rPr>
              <a:t>硬派越野用户不是只要更舒服，而是要一辆既能越野、又不显得粗糙，全家也愿意接受的车。</a:t>
            </a:r>
          </a:p>
        </p:txBody>
      </p:sp>
      <p:sp>
        <p:nvSpPr>
          <p:cNvPr id="67" name="right-b-dot-2">
            <a:extLst xmlns:a="http://schemas.openxmlformats.org/drawingml/2006/main">
              <a:ext uri="{FF2B5EF4-FFF2-40B4-BE49-F238E27FC236}">
                <a16:creationId xmlns:a16="http://schemas.microsoft.com/office/drawing/2014/main" id="{1EE196DE-037B-469C-B553-757913C8D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62250"/>
            <a:ext cx="57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E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right-b-text-2">
            <a:extLst xmlns:a="http://schemas.openxmlformats.org/drawingml/2006/main">
              <a:ext uri="{FF2B5EF4-FFF2-40B4-BE49-F238E27FC236}">
                <a16:creationId xmlns:a16="http://schemas.microsoft.com/office/drawing/2014/main" id="{08DCC1B7-881C-43C7-85E2-E8B895D0F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05100"/>
            <a:ext cx="4591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181818"/>
                </a:solidFill>
              </a:defRPr>
            </a:pPr>
            <a:r>
              <a:rPr sz="1125">
                <a:solidFill>
                  <a:srgbClr val="181818"/>
                </a:solidFill>
              </a:rPr>
              <a:t>因此产品叙事不应只讲参数强，而要讲“为什么一家人会因此更愿意出发”。</a:t>
            </a:r>
          </a:p>
        </p:txBody>
      </p:sp>
      <p:sp>
        <p:nvSpPr>
          <p:cNvPr id="69" name="mental-card-1-panel">
            <a:extLst xmlns:a="http://schemas.openxmlformats.org/drawingml/2006/main">
              <a:ext uri="{FF2B5EF4-FFF2-40B4-BE49-F238E27FC236}">
                <a16:creationId xmlns:a16="http://schemas.microsoft.com/office/drawing/2014/main" id="{CFE76008-E7D0-4CF5-A873-AD6E00448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48100"/>
            <a:ext cx="14859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70" name="mental-card-1-accent">
            <a:extLst xmlns:a="http://schemas.openxmlformats.org/drawingml/2006/main">
              <a:ext uri="{FF2B5EF4-FFF2-40B4-BE49-F238E27FC236}">
                <a16:creationId xmlns:a16="http://schemas.microsoft.com/office/drawing/2014/main" id="{CC071D1D-2F35-40B1-9713-80211C313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48100"/>
            <a:ext cx="762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E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mental-card-1-value">
            <a:extLst xmlns:a="http://schemas.openxmlformats.org/drawingml/2006/main">
              <a:ext uri="{FF2B5EF4-FFF2-40B4-BE49-F238E27FC236}">
                <a16:creationId xmlns:a16="http://schemas.microsoft.com/office/drawing/2014/main" id="{76F8305F-1297-434D-B29A-BCDA9FD67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019550"/>
            <a:ext cx="1162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1818"/>
                </a:solidFill>
              </a:defRPr>
            </a:pPr>
            <a:r>
              <a:rPr sz="1500" b="1">
                <a:solidFill>
                  <a:srgbClr val="181818"/>
                </a:solidFill>
              </a:rPr>
              <a:t>A</a:t>
            </a:r>
          </a:p>
        </p:txBody>
      </p:sp>
      <p:sp>
        <p:nvSpPr>
          <p:cNvPr id="72" name="mental-card-1-label">
            <a:extLst xmlns:a="http://schemas.openxmlformats.org/drawingml/2006/main">
              <a:ext uri="{FF2B5EF4-FFF2-40B4-BE49-F238E27FC236}">
                <a16:creationId xmlns:a16="http://schemas.microsoft.com/office/drawing/2014/main" id="{86311ACC-3C49-4F79-9878-4E9BA86BF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381500"/>
            <a:ext cx="116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95757"/>
                </a:solidFill>
              </a:defRPr>
            </a:pPr>
            <a:r>
              <a:rPr sz="675" b="1">
                <a:solidFill>
                  <a:srgbClr val="595757"/>
                </a:solidFill>
              </a:rPr>
              <a:t>理想/问界增换购</a:t>
            </a:r>
          </a:p>
        </p:txBody>
      </p:sp>
      <p:sp>
        <p:nvSpPr>
          <p:cNvPr id="73" name="mental-card-1-note">
            <a:extLst xmlns:a="http://schemas.openxmlformats.org/drawingml/2006/main">
              <a:ext uri="{FF2B5EF4-FFF2-40B4-BE49-F238E27FC236}">
                <a16:creationId xmlns:a16="http://schemas.microsoft.com/office/drawing/2014/main" id="{72A0C3F6-70F1-4FB0-B57D-1F7884648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610100"/>
            <a:ext cx="1162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>
                <a:solidFill>
                  <a:srgbClr val="717171"/>
                </a:solidFill>
              </a:defRPr>
            </a:pPr>
            <a:r>
              <a:rPr sz="675">
                <a:solidFill>
                  <a:srgbClr val="717171"/>
                </a:solidFill>
              </a:rPr>
              <a:t>关注舒适、空间、智能，愿意为更强个性与安全边界迁移。</a:t>
            </a:r>
          </a:p>
        </p:txBody>
      </p:sp>
      <p:sp>
        <p:nvSpPr>
          <p:cNvPr id="74" name="mental-card-2-panel">
            <a:extLst xmlns:a="http://schemas.openxmlformats.org/drawingml/2006/main">
              <a:ext uri="{FF2B5EF4-FFF2-40B4-BE49-F238E27FC236}">
                <a16:creationId xmlns:a16="http://schemas.microsoft.com/office/drawing/2014/main" id="{57E87DE0-9A8F-475F-AB9F-B30414C39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848100"/>
            <a:ext cx="14859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75" name="mental-card-2-accent">
            <a:extLst xmlns:a="http://schemas.openxmlformats.org/drawingml/2006/main">
              <a:ext uri="{FF2B5EF4-FFF2-40B4-BE49-F238E27FC236}">
                <a16:creationId xmlns:a16="http://schemas.microsoft.com/office/drawing/2014/main" id="{DD9B95CE-CAFC-4429-AE05-EBE42B370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848100"/>
            <a:ext cx="762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1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mental-card-2-value">
            <a:extLst xmlns:a="http://schemas.openxmlformats.org/drawingml/2006/main">
              <a:ext uri="{FF2B5EF4-FFF2-40B4-BE49-F238E27FC236}">
                <a16:creationId xmlns:a16="http://schemas.microsoft.com/office/drawing/2014/main" id="{F201A1ED-69BF-4BB4-A612-9D5477100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019550"/>
            <a:ext cx="1162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1818"/>
                </a:solidFill>
              </a:defRPr>
            </a:pPr>
            <a:r>
              <a:rPr sz="1500" b="1">
                <a:solidFill>
                  <a:srgbClr val="181818"/>
                </a:solidFill>
              </a:rPr>
              <a:t>B</a:t>
            </a:r>
          </a:p>
        </p:txBody>
      </p:sp>
      <p:sp>
        <p:nvSpPr>
          <p:cNvPr id="77" name="mental-card-2-label">
            <a:extLst xmlns:a="http://schemas.openxmlformats.org/drawingml/2006/main">
              <a:ext uri="{FF2B5EF4-FFF2-40B4-BE49-F238E27FC236}">
                <a16:creationId xmlns:a16="http://schemas.microsoft.com/office/drawing/2014/main" id="{6FD4496E-8611-4701-934E-8D17A716A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381500"/>
            <a:ext cx="116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95757"/>
                </a:solidFill>
              </a:defRPr>
            </a:pPr>
            <a:r>
              <a:rPr sz="675" b="1">
                <a:solidFill>
                  <a:srgbClr val="595757"/>
                </a:solidFill>
              </a:rPr>
              <a:t>坦克/烈马迁移</a:t>
            </a:r>
          </a:p>
        </p:txBody>
      </p:sp>
      <p:sp>
        <p:nvSpPr>
          <p:cNvPr id="78" name="mental-card-2-note">
            <a:extLst xmlns:a="http://schemas.openxmlformats.org/drawingml/2006/main">
              <a:ext uri="{FF2B5EF4-FFF2-40B4-BE49-F238E27FC236}">
                <a16:creationId xmlns:a16="http://schemas.microsoft.com/office/drawing/2014/main" id="{FFB30BC4-DAEC-4F39-A05C-5DAEA1AB0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610100"/>
            <a:ext cx="1162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>
                <a:solidFill>
                  <a:srgbClr val="717171"/>
                </a:solidFill>
              </a:defRPr>
            </a:pPr>
            <a:r>
              <a:rPr sz="675">
                <a:solidFill>
                  <a:srgbClr val="717171"/>
                </a:solidFill>
              </a:rPr>
              <a:t>关注越野基础不丢失，同时提升全家舒适和豪华感。</a:t>
            </a:r>
          </a:p>
        </p:txBody>
      </p:sp>
      <p:sp>
        <p:nvSpPr>
          <p:cNvPr id="79" name="mental-card-3-panel">
            <a:extLst xmlns:a="http://schemas.openxmlformats.org/drawingml/2006/main">
              <a:ext uri="{FF2B5EF4-FFF2-40B4-BE49-F238E27FC236}">
                <a16:creationId xmlns:a16="http://schemas.microsoft.com/office/drawing/2014/main" id="{9EDA4EBF-F5C9-4A57-997A-32108BFF3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848100"/>
            <a:ext cx="14859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80" name="mental-card-3-accent">
            <a:extLst xmlns:a="http://schemas.openxmlformats.org/drawingml/2006/main">
              <a:ext uri="{FF2B5EF4-FFF2-40B4-BE49-F238E27FC236}">
                <a16:creationId xmlns:a16="http://schemas.microsoft.com/office/drawing/2014/main" id="{D8056527-714D-41FF-8EB4-4088E9DDA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848100"/>
            <a:ext cx="762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8D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mental-card-3-value">
            <a:extLst xmlns:a="http://schemas.openxmlformats.org/drawingml/2006/main">
              <a:ext uri="{FF2B5EF4-FFF2-40B4-BE49-F238E27FC236}">
                <a16:creationId xmlns:a16="http://schemas.microsoft.com/office/drawing/2014/main" id="{F3B0FC27-344F-450E-8FE4-C729DD4A9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019550"/>
            <a:ext cx="1162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1818"/>
                </a:solidFill>
              </a:defRPr>
            </a:pPr>
            <a:r>
              <a:rPr sz="1500" b="1">
                <a:solidFill>
                  <a:srgbClr val="181818"/>
                </a:solidFill>
              </a:rPr>
              <a:t>C</a:t>
            </a:r>
          </a:p>
        </p:txBody>
      </p:sp>
      <p:sp>
        <p:nvSpPr>
          <p:cNvPr id="82" name="mental-card-3-label">
            <a:extLst xmlns:a="http://schemas.openxmlformats.org/drawingml/2006/main">
              <a:ext uri="{FF2B5EF4-FFF2-40B4-BE49-F238E27FC236}">
                <a16:creationId xmlns:a16="http://schemas.microsoft.com/office/drawing/2014/main" id="{39CC045D-6E78-4EDA-BFFC-5CD2F86A1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381500"/>
            <a:ext cx="116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95757"/>
                </a:solidFill>
              </a:defRPr>
            </a:pPr>
            <a:r>
              <a:rPr sz="675" b="1">
                <a:solidFill>
                  <a:srgbClr val="595757"/>
                </a:solidFill>
              </a:rPr>
              <a:t>普通家庭进入</a:t>
            </a:r>
          </a:p>
        </p:txBody>
      </p:sp>
      <p:sp>
        <p:nvSpPr>
          <p:cNvPr id="83" name="mental-card-3-note">
            <a:extLst xmlns:a="http://schemas.openxmlformats.org/drawingml/2006/main">
              <a:ext uri="{FF2B5EF4-FFF2-40B4-BE49-F238E27FC236}">
                <a16:creationId xmlns:a16="http://schemas.microsoft.com/office/drawing/2014/main" id="{C3133FBF-C671-4D62-830A-61A74DF7A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610100"/>
            <a:ext cx="1162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>
                <a:solidFill>
                  <a:srgbClr val="717171"/>
                </a:solidFill>
              </a:defRPr>
            </a:pPr>
            <a:r>
              <a:rPr sz="675">
                <a:solidFill>
                  <a:srgbClr val="717171"/>
                </a:solidFill>
              </a:rPr>
              <a:t>希望门槛更低、场景更清晰、技术语言更可理解。</a:t>
            </a:r>
          </a:p>
        </p:txBody>
      </p:sp>
    </p:spTree>
    <p:extLst>
      <p:ext uri="{BB962C8B-B14F-4D97-AF65-F5344CB8AC3E}">
        <p14:creationId xmlns:p14="http://schemas.microsoft.com/office/powerpoint/2010/main" val="158575279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414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-line-9">
            <a:extLst xmlns:a="http://schemas.openxmlformats.org/drawingml/2006/main">
              <a:ext uri="{FF2B5EF4-FFF2-40B4-BE49-F238E27FC236}">
                <a16:creationId xmlns:a16="http://schemas.microsoft.com/office/drawing/2014/main" id="{12861019-2432-4A5B-92F0-CB26B5CAE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-mark-9">
            <a:extLst xmlns:a="http://schemas.openxmlformats.org/drawingml/2006/main">
              <a:ext uri="{FF2B5EF4-FFF2-40B4-BE49-F238E27FC236}">
                <a16:creationId xmlns:a16="http://schemas.microsoft.com/office/drawing/2014/main" id="{A904F3FB-CB4B-4648-96CB-17FC4B240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143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-no-9">
            <a:extLst xmlns:a="http://schemas.openxmlformats.org/drawingml/2006/main">
              <a:ext uri="{FF2B5EF4-FFF2-40B4-BE49-F238E27FC236}">
                <a16:creationId xmlns:a16="http://schemas.microsoft.com/office/drawing/2014/main" id="{2D69AD68-3AA4-4366-BAD4-5E6FBC53A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200150"/>
            <a:ext cx="1047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" name="s-title-9">
            <a:extLst xmlns:a="http://schemas.openxmlformats.org/drawingml/2006/main">
              <a:ext uri="{FF2B5EF4-FFF2-40B4-BE49-F238E27FC236}">
                <a16:creationId xmlns:a16="http://schemas.microsoft.com/office/drawing/2014/main" id="{37C830EC-E0D0-42FE-942B-ED24DE649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524000"/>
            <a:ext cx="8191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品牌定位与造型判断</a:t>
            </a:r>
          </a:p>
        </p:txBody>
      </p:sp>
      <p:sp>
        <p:nvSpPr>
          <p:cNvPr id="5" name="s-note-9">
            <a:extLst xmlns:a="http://schemas.openxmlformats.org/drawingml/2006/main">
              <a:ext uri="{FF2B5EF4-FFF2-40B4-BE49-F238E27FC236}">
                <a16:creationId xmlns:a16="http://schemas.microsoft.com/office/drawing/2014/main" id="{8B811DD7-4EF9-4350-9BD5-17DBBFE39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57175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B5B5B6"/>
                </a:solidFill>
              </a:defRPr>
            </a:pPr>
            <a:r>
              <a:rPr sz="1350">
                <a:solidFill>
                  <a:srgbClr val="B5B5B6"/>
                </a:solidFill>
              </a:rPr>
              <a:t>围绕品牌关键词、理想定位和造型争议点进行集中判断。</a:t>
            </a:r>
          </a:p>
        </p:txBody>
      </p:sp>
      <p:sp>
        <p:nvSpPr>
          <p:cNvPr id="6" name="s-bottom-9">
            <a:extLst xmlns:a="http://schemas.openxmlformats.org/drawingml/2006/main">
              <a:ext uri="{FF2B5EF4-FFF2-40B4-BE49-F238E27FC236}">
                <a16:creationId xmlns:a16="http://schemas.microsoft.com/office/drawing/2014/main" id="{8868EF2D-2B47-4EFE-9A1A-186A7B361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15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57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-page-9">
            <a:extLst xmlns:a="http://schemas.openxmlformats.org/drawingml/2006/main">
              <a:ext uri="{FF2B5EF4-FFF2-40B4-BE49-F238E27FC236}">
                <a16:creationId xmlns:a16="http://schemas.microsoft.com/office/drawing/2014/main" id="{01F6A04E-E377-4E09-8B35-F60312E72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B5B5B6"/>
                </a:solidFill>
              </a:defRPr>
            </a:pPr>
            <a:r>
              <a:rPr sz="750">
                <a:solidFill>
                  <a:srgbClr val="B5B5B6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84992611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B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top-10">
            <a:extLst xmlns:a="http://schemas.openxmlformats.org/drawingml/2006/main">
              <a:ext uri="{FF2B5EF4-FFF2-40B4-BE49-F238E27FC236}">
                <a16:creationId xmlns:a16="http://schemas.microsoft.com/office/drawing/2014/main" id="{702D456E-6AF6-4D6B-98C5-392F8780A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mark-10">
            <a:extLst xmlns:a="http://schemas.openxmlformats.org/drawingml/2006/main">
              <a:ext uri="{FF2B5EF4-FFF2-40B4-BE49-F238E27FC236}">
                <a16:creationId xmlns:a16="http://schemas.microsoft.com/office/drawing/2014/main" id="{BC06E107-0861-4492-97D6-7745219D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10">
            <a:extLst xmlns:a="http://schemas.openxmlformats.org/drawingml/2006/main">
              <a:ext uri="{FF2B5EF4-FFF2-40B4-BE49-F238E27FC236}">
                <a16:creationId xmlns:a16="http://schemas.microsoft.com/office/drawing/2014/main" id="{48DEF8E7-8735-4994-86A5-A9B4986C8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ource-10">
            <a:extLst xmlns:a="http://schemas.openxmlformats.org/drawingml/2006/main">
              <a:ext uri="{FF2B5EF4-FFF2-40B4-BE49-F238E27FC236}">
                <a16:creationId xmlns:a16="http://schemas.microsoft.com/office/drawing/2014/main" id="{0826B5BC-4F33-4D72-AD44-EAF46C51C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717171"/>
                </a:solidFill>
              </a:defRPr>
            </a:pPr>
            <a:r>
              <a:rPr sz="750">
                <a:solidFill>
                  <a:srgbClr val="717171"/>
                </a:solidFill>
              </a:rPr>
              <a:t>资料来源：会议笔录分析总结_优化版(1).docx，仅基于原文整理</a:t>
            </a:r>
          </a:p>
        </p:txBody>
      </p:sp>
      <p:sp>
        <p:nvSpPr>
          <p:cNvPr id="5" name="page-10">
            <a:extLst xmlns:a="http://schemas.openxmlformats.org/drawingml/2006/main">
              <a:ext uri="{FF2B5EF4-FFF2-40B4-BE49-F238E27FC236}">
                <a16:creationId xmlns:a16="http://schemas.microsoft.com/office/drawing/2014/main" id="{1D4B8392-D7C2-4BD0-86A7-7DBFD71C2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912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717171"/>
                </a:solidFill>
              </a:defRPr>
            </a:pPr>
            <a:r>
              <a:rPr sz="750">
                <a:solidFill>
                  <a:srgbClr val="717171"/>
                </a:solidFill>
              </a:rPr>
              <a:t>10</a:t>
            </a:r>
          </a:p>
        </p:txBody>
      </p:sp>
      <p:sp>
        <p:nvSpPr>
          <p:cNvPr id="6" name="kicker-10">
            <a:extLst xmlns:a="http://schemas.openxmlformats.org/drawingml/2006/main">
              <a:ext uri="{FF2B5EF4-FFF2-40B4-BE49-F238E27FC236}">
                <a16:creationId xmlns:a16="http://schemas.microsoft.com/office/drawing/2014/main" id="{CB11A3E7-4C0D-4F26-95D5-8B7216935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77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06124"/>
                </a:solidFill>
              </a:defRPr>
            </a:pPr>
            <a:r>
              <a:rPr sz="825" b="1">
                <a:solidFill>
                  <a:srgbClr val="F06124"/>
                </a:solidFill>
              </a:rPr>
              <a:t>POSITIONING</a:t>
            </a:r>
          </a:p>
        </p:txBody>
      </p:sp>
      <p:sp>
        <p:nvSpPr>
          <p:cNvPr id="7" name="title-10">
            <a:extLst xmlns:a="http://schemas.openxmlformats.org/drawingml/2006/main">
              <a:ext uri="{FF2B5EF4-FFF2-40B4-BE49-F238E27FC236}">
                <a16:creationId xmlns:a16="http://schemas.microsoft.com/office/drawing/2014/main" id="{C6148C95-02FC-4491-A1F6-FB5F225BA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1818"/>
                </a:solidFill>
              </a:defRPr>
            </a:pPr>
            <a:r>
              <a:rPr sz="2100" b="1">
                <a:solidFill>
                  <a:srgbClr val="181818"/>
                </a:solidFill>
              </a:rPr>
              <a:t>品牌与产品定位共识：核心方向可以概括为“西装暴徒”</a:t>
            </a:r>
          </a:p>
        </p:txBody>
      </p:sp>
      <p:sp>
        <p:nvSpPr>
          <p:cNvPr id="8" name="position-top-band">
            <a:extLst xmlns:a="http://schemas.openxmlformats.org/drawingml/2006/main">
              <a:ext uri="{FF2B5EF4-FFF2-40B4-BE49-F238E27FC236}">
                <a16:creationId xmlns:a16="http://schemas.microsoft.com/office/drawing/2014/main" id="{F39601F0-62A6-45C8-95BC-FDFBE21FD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76350"/>
            <a:ext cx="10515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4"/>
          </a:solidFill>
          <a:ln xmlns:a="http://schemas.openxmlformats.org/drawingml/2006/main" w="0">
            <a:solidFill>
              <a:srgbClr val="141414"/>
            </a:solidFill>
            <a:prstDash val="solid"/>
          </a:ln>
        </p:spPr>
      </p:sp>
      <p:sp>
        <p:nvSpPr>
          <p:cNvPr id="9" name="position-top-text">
            <a:extLst xmlns:a="http://schemas.openxmlformats.org/drawingml/2006/main">
              <a:ext uri="{FF2B5EF4-FFF2-40B4-BE49-F238E27FC236}">
                <a16:creationId xmlns:a16="http://schemas.microsoft.com/office/drawing/2014/main" id="{658D0943-99D1-4B2D-B731-4162F3E10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323975"/>
            <a:ext cx="10325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定位原则: 外在必须让用户感到豪华与科技，内在又能证明自己并非一台普通城市 SUV。</a:t>
            </a:r>
          </a:p>
        </p:txBody>
      </p:sp>
      <p:sp>
        <p:nvSpPr>
          <p:cNvPr id="10" name="brand-panel">
            <a:extLst xmlns:a="http://schemas.openxmlformats.org/drawingml/2006/main">
              <a:ext uri="{FF2B5EF4-FFF2-40B4-BE49-F238E27FC236}">
                <a16:creationId xmlns:a16="http://schemas.microsoft.com/office/drawing/2014/main" id="{D04F2095-F3AC-4F07-AD08-F941BECDC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24000"/>
            <a:ext cx="33909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1" name="brand-header">
            <a:extLst xmlns:a="http://schemas.openxmlformats.org/drawingml/2006/main">
              <a:ext uri="{FF2B5EF4-FFF2-40B4-BE49-F238E27FC236}">
                <a16:creationId xmlns:a16="http://schemas.microsoft.com/office/drawing/2014/main" id="{D63BBC2F-D9DA-42B7-A934-549F77677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24000"/>
            <a:ext cx="3390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8D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rand-title">
            <a:extLst xmlns:a="http://schemas.openxmlformats.org/drawingml/2006/main">
              <a:ext uri="{FF2B5EF4-FFF2-40B4-BE49-F238E27FC236}">
                <a16:creationId xmlns:a16="http://schemas.microsoft.com/office/drawing/2014/main" id="{756FA1A5-3941-4911-9A24-339FC72D5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562100"/>
            <a:ext cx="320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品牌认知与产品方向</a:t>
            </a:r>
          </a:p>
        </p:txBody>
      </p:sp>
      <p:sp>
        <p:nvSpPr>
          <p:cNvPr id="13" name="brand-b-dot-0">
            <a:extLst xmlns:a="http://schemas.openxmlformats.org/drawingml/2006/main">
              <a:ext uri="{FF2B5EF4-FFF2-40B4-BE49-F238E27FC236}">
                <a16:creationId xmlns:a16="http://schemas.microsoft.com/office/drawing/2014/main" id="{45E61A85-8D3B-49F3-8268-94EE1F4E7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981200"/>
            <a:ext cx="57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1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rand-b-text-0">
            <a:extLst xmlns:a="http://schemas.openxmlformats.org/drawingml/2006/main">
              <a:ext uri="{FF2B5EF4-FFF2-40B4-BE49-F238E27FC236}">
                <a16:creationId xmlns:a16="http://schemas.microsoft.com/office/drawing/2014/main" id="{3635CBAB-7BB2-469B-B873-63E9B479F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24050"/>
            <a:ext cx="2838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181818"/>
                </a:solidFill>
              </a:defRPr>
            </a:pPr>
            <a:r>
              <a:rPr sz="1050">
                <a:solidFill>
                  <a:srgbClr val="181818"/>
                </a:solidFill>
              </a:rPr>
              <a:t>关键词包括守护、探索、自由、中国品牌、全球车。</a:t>
            </a:r>
          </a:p>
        </p:txBody>
      </p:sp>
      <p:sp>
        <p:nvSpPr>
          <p:cNvPr id="15" name="brand-b-dot-1">
            <a:extLst xmlns:a="http://schemas.openxmlformats.org/drawingml/2006/main">
              <a:ext uri="{FF2B5EF4-FFF2-40B4-BE49-F238E27FC236}">
                <a16:creationId xmlns:a16="http://schemas.microsoft.com/office/drawing/2014/main" id="{9F8F0B94-606E-49F0-BDD4-421B0CA69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86000"/>
            <a:ext cx="57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1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rand-b-text-1">
            <a:extLst xmlns:a="http://schemas.openxmlformats.org/drawingml/2006/main">
              <a:ext uri="{FF2B5EF4-FFF2-40B4-BE49-F238E27FC236}">
                <a16:creationId xmlns:a16="http://schemas.microsoft.com/office/drawing/2014/main" id="{EDD5CCFA-8745-4A2C-BBEA-DE09D72E4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228850"/>
            <a:ext cx="2838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181818"/>
                </a:solidFill>
              </a:defRPr>
            </a:pPr>
            <a:r>
              <a:rPr sz="1050">
                <a:solidFill>
                  <a:srgbClr val="181818"/>
                </a:solidFill>
              </a:rPr>
              <a:t>用户能理解从 CBD 到无人区、从城市到远方的品牌叙事。</a:t>
            </a:r>
          </a:p>
        </p:txBody>
      </p:sp>
      <p:sp>
        <p:nvSpPr>
          <p:cNvPr id="17" name="brand-b-dot-2">
            <a:extLst xmlns:a="http://schemas.openxmlformats.org/drawingml/2006/main">
              <a:ext uri="{FF2B5EF4-FFF2-40B4-BE49-F238E27FC236}">
                <a16:creationId xmlns:a16="http://schemas.microsoft.com/office/drawing/2014/main" id="{07E10F47-2E1F-49A5-8595-145B28F05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90800"/>
            <a:ext cx="57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1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rand-b-text-2">
            <a:extLst xmlns:a="http://schemas.openxmlformats.org/drawingml/2006/main">
              <a:ext uri="{FF2B5EF4-FFF2-40B4-BE49-F238E27FC236}">
                <a16:creationId xmlns:a16="http://schemas.microsoft.com/office/drawing/2014/main" id="{9E73B9AB-FBE3-4B6D-8292-ED44ABF8A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533650"/>
            <a:ext cx="2838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181818"/>
                </a:solidFill>
              </a:defRPr>
            </a:pPr>
            <a:r>
              <a:rPr sz="1050">
                <a:solidFill>
                  <a:srgbClr val="181818"/>
                </a:solidFill>
              </a:rPr>
              <a:t>奇瑞技术积累、路虎合作经验、华为智驾/智舱、公益救援等共同支撑可信度。</a:t>
            </a:r>
          </a:p>
        </p:txBody>
      </p:sp>
      <p:sp>
        <p:nvSpPr>
          <p:cNvPr id="19" name="brand-b-dot-3">
            <a:extLst xmlns:a="http://schemas.openxmlformats.org/drawingml/2006/main">
              <a:ext uri="{FF2B5EF4-FFF2-40B4-BE49-F238E27FC236}">
                <a16:creationId xmlns:a16="http://schemas.microsoft.com/office/drawing/2014/main" id="{797F989B-D4B1-4EC0-8282-BA42AEE20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95600"/>
            <a:ext cx="57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1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brand-b-text-3">
            <a:extLst xmlns:a="http://schemas.openxmlformats.org/drawingml/2006/main">
              <a:ext uri="{FF2B5EF4-FFF2-40B4-BE49-F238E27FC236}">
                <a16:creationId xmlns:a16="http://schemas.microsoft.com/office/drawing/2014/main" id="{5C1EEA98-C9F0-4513-A56A-266CB250B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38450"/>
            <a:ext cx="2838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181818"/>
                </a:solidFill>
              </a:defRPr>
            </a:pPr>
            <a:r>
              <a:rPr sz="1050">
                <a:solidFill>
                  <a:srgbClr val="181818"/>
                </a:solidFill>
              </a:rPr>
              <a:t>但新品牌仍需继续教育用户：为什么大梁、非承载和豪华越野值得相信。</a:t>
            </a:r>
          </a:p>
        </p:txBody>
      </p:sp>
      <p:sp>
        <p:nvSpPr>
          <p:cNvPr id="21" name="mid-panel">
            <a:extLst xmlns:a="http://schemas.openxmlformats.org/drawingml/2006/main">
              <a:ext uri="{FF2B5EF4-FFF2-40B4-BE49-F238E27FC236}">
                <a16:creationId xmlns:a16="http://schemas.microsoft.com/office/drawing/2014/main" id="{70A36C78-E540-431A-9346-BE31449BA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524000"/>
            <a:ext cx="29908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2" name="mid-header">
            <a:extLst xmlns:a="http://schemas.openxmlformats.org/drawingml/2006/main">
              <a:ext uri="{FF2B5EF4-FFF2-40B4-BE49-F238E27FC236}">
                <a16:creationId xmlns:a16="http://schemas.microsoft.com/office/drawing/2014/main" id="{483B38F7-78BE-48EA-893C-78A41097E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524000"/>
            <a:ext cx="2990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8D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mid-title">
            <a:extLst xmlns:a="http://schemas.openxmlformats.org/drawingml/2006/main">
              <a:ext uri="{FF2B5EF4-FFF2-40B4-BE49-F238E27FC236}">
                <a16:creationId xmlns:a16="http://schemas.microsoft.com/office/drawing/2014/main" id="{EA0D4CF1-C4FF-418E-AE97-702B2D1F0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562100"/>
            <a:ext cx="2800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理想位置（示意矩阵）</a:t>
            </a:r>
          </a:p>
        </p:txBody>
      </p:sp>
      <p:sp>
        <p:nvSpPr>
          <p:cNvPr id="24" name="q1">
            <a:extLst xmlns:a="http://schemas.openxmlformats.org/drawingml/2006/main">
              <a:ext uri="{FF2B5EF4-FFF2-40B4-BE49-F238E27FC236}">
                <a16:creationId xmlns:a16="http://schemas.microsoft.com/office/drawing/2014/main" id="{F469356D-867B-4F14-A3C5-EE346B8BF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038350"/>
            <a:ext cx="10668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E9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5" name="q2">
            <a:extLst xmlns:a="http://schemas.openxmlformats.org/drawingml/2006/main">
              <a:ext uri="{FF2B5EF4-FFF2-40B4-BE49-F238E27FC236}">
                <a16:creationId xmlns:a16="http://schemas.microsoft.com/office/drawing/2014/main" id="{FB0AC89C-147F-46DB-A52B-8DC1DA358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038350"/>
            <a:ext cx="10668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EB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6" name="q3">
            <a:extLst xmlns:a="http://schemas.openxmlformats.org/drawingml/2006/main">
              <a:ext uri="{FF2B5EF4-FFF2-40B4-BE49-F238E27FC236}">
                <a16:creationId xmlns:a16="http://schemas.microsoft.com/office/drawing/2014/main" id="{3F1E85E4-BEB1-4C26-91B8-614BA88A0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067050"/>
            <a:ext cx="10668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7" name="q4">
            <a:extLst xmlns:a="http://schemas.openxmlformats.org/drawingml/2006/main">
              <a:ext uri="{FF2B5EF4-FFF2-40B4-BE49-F238E27FC236}">
                <a16:creationId xmlns:a16="http://schemas.microsoft.com/office/drawing/2014/main" id="{AD5C532B-6931-403E-A2ED-C69340A72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067050"/>
            <a:ext cx="10668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5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8" name="q2t">
            <a:extLst xmlns:a="http://schemas.openxmlformats.org/drawingml/2006/main">
              <a:ext uri="{FF2B5EF4-FFF2-40B4-BE49-F238E27FC236}">
                <a16:creationId xmlns:a16="http://schemas.microsoft.com/office/drawing/2014/main" id="{64C6A1E5-C13F-4600-9E0C-549616D91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13360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525">
                <a:solidFill>
                  <a:srgbClr val="595757"/>
                </a:solidFill>
              </a:defRPr>
            </a:pPr>
            <a:r>
              <a:rPr sz="525">
                <a:solidFill>
                  <a:srgbClr val="595757"/>
                </a:solidFill>
              </a:rPr>
              <a:t>高越野 / 高舒适</a:t>
            </a:r>
          </a:p>
        </p:txBody>
      </p:sp>
      <p:sp>
        <p:nvSpPr>
          <p:cNvPr id="29" name="qxt1">
            <a:extLst xmlns:a="http://schemas.openxmlformats.org/drawingml/2006/main">
              <a:ext uri="{FF2B5EF4-FFF2-40B4-BE49-F238E27FC236}">
                <a16:creationId xmlns:a16="http://schemas.microsoft.com/office/drawing/2014/main" id="{CDFD164A-C5D2-438C-BF59-2E536A62E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171950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525">
                <a:solidFill>
                  <a:srgbClr val="595757"/>
                </a:solidFill>
              </a:defRPr>
            </a:pPr>
            <a:r>
              <a:rPr sz="525">
                <a:solidFill>
                  <a:srgbClr val="595757"/>
                </a:solidFill>
              </a:rPr>
              <a:t>舒适/智能弱</a:t>
            </a:r>
          </a:p>
        </p:txBody>
      </p:sp>
      <p:sp>
        <p:nvSpPr>
          <p:cNvPr id="30" name="qxt2">
            <a:extLst xmlns:a="http://schemas.openxmlformats.org/drawingml/2006/main">
              <a:ext uri="{FF2B5EF4-FFF2-40B4-BE49-F238E27FC236}">
                <a16:creationId xmlns:a16="http://schemas.microsoft.com/office/drawing/2014/main" id="{97E0EBA1-FFF3-462D-A14A-54BCD9132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171950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525">
                <a:solidFill>
                  <a:srgbClr val="595757"/>
                </a:solidFill>
              </a:defRPr>
            </a:pPr>
            <a:r>
              <a:rPr sz="525">
                <a:solidFill>
                  <a:srgbClr val="595757"/>
                </a:solidFill>
              </a:rPr>
              <a:t>舒适/智能强</a:t>
            </a:r>
          </a:p>
        </p:txBody>
      </p:sp>
      <p:sp>
        <p:nvSpPr>
          <p:cNvPr id="31" name="qyt1">
            <a:extLst xmlns:a="http://schemas.openxmlformats.org/drawingml/2006/main">
              <a:ext uri="{FF2B5EF4-FFF2-40B4-BE49-F238E27FC236}">
                <a16:creationId xmlns:a16="http://schemas.microsoft.com/office/drawing/2014/main" id="{181DA67F-90D8-460E-AABC-8FFAF4FAD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5052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525">
                <a:solidFill>
                  <a:srgbClr val="595757"/>
                </a:solidFill>
              </a:defRPr>
            </a:pPr>
            <a:r>
              <a:rPr sz="525">
                <a:solidFill>
                  <a:srgbClr val="595757"/>
                </a:solidFill>
              </a:rPr>
              <a:t>越野弱</a:t>
            </a:r>
          </a:p>
        </p:txBody>
      </p:sp>
      <p:sp>
        <p:nvSpPr>
          <p:cNvPr id="32" name="qyt2">
            <a:extLst xmlns:a="http://schemas.openxmlformats.org/drawingml/2006/main">
              <a:ext uri="{FF2B5EF4-FFF2-40B4-BE49-F238E27FC236}">
                <a16:creationId xmlns:a16="http://schemas.microsoft.com/office/drawing/2014/main" id="{E931543D-CCA2-45DF-9A37-8C5619076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812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525">
                <a:solidFill>
                  <a:srgbClr val="595757"/>
                </a:solidFill>
              </a:defRPr>
            </a:pPr>
            <a:r>
              <a:rPr sz="525">
                <a:solidFill>
                  <a:srgbClr val="595757"/>
                </a:solidFill>
              </a:rPr>
              <a:t>越野强</a:t>
            </a:r>
          </a:p>
        </p:txBody>
      </p:sp>
      <p:sp>
        <p:nvSpPr>
          <p:cNvPr id="33" name="m-lixiang">
            <a:extLst xmlns:a="http://schemas.openxmlformats.org/drawingml/2006/main">
              <a:ext uri="{FF2B5EF4-FFF2-40B4-BE49-F238E27FC236}">
                <a16:creationId xmlns:a16="http://schemas.microsoft.com/office/drawing/2014/main" id="{6773F0CB-25AE-45F2-90D8-5C5CE9AE0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343150"/>
            <a:ext cx="781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181818"/>
                </a:solidFill>
              </a:defRPr>
            </a:pPr>
            <a:r>
              <a:rPr sz="600" b="1">
                <a:solidFill>
                  <a:srgbClr val="181818"/>
                </a:solidFill>
              </a:rPr>
              <a:t>理想/问界</a:t>
            </a:r>
          </a:p>
        </p:txBody>
      </p:sp>
      <p:sp>
        <p:nvSpPr>
          <p:cNvPr id="34" name="m-tank">
            <a:extLst xmlns:a="http://schemas.openxmlformats.org/drawingml/2006/main">
              <a:ext uri="{FF2B5EF4-FFF2-40B4-BE49-F238E27FC236}">
                <a16:creationId xmlns:a16="http://schemas.microsoft.com/office/drawing/2014/main" id="{FB6C6BF3-7C23-4868-AAF6-2919D7990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352800"/>
            <a:ext cx="781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181818"/>
                </a:solidFill>
              </a:defRPr>
            </a:pPr>
            <a:r>
              <a:rPr sz="600" b="1">
                <a:solidFill>
                  <a:srgbClr val="181818"/>
                </a:solidFill>
              </a:rPr>
              <a:t>坦克/烈马</a:t>
            </a:r>
          </a:p>
        </p:txBody>
      </p:sp>
      <p:sp>
        <p:nvSpPr>
          <p:cNvPr id="35" name="m-target">
            <a:extLst xmlns:a="http://schemas.openxmlformats.org/drawingml/2006/main">
              <a:ext uri="{FF2B5EF4-FFF2-40B4-BE49-F238E27FC236}">
                <a16:creationId xmlns:a16="http://schemas.microsoft.com/office/drawing/2014/main" id="{ADE8FFD0-F44F-452A-A97F-B3253FC01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571750"/>
            <a:ext cx="781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F06124"/>
                </a:solidFill>
              </a:defRPr>
            </a:pPr>
            <a:r>
              <a:rPr sz="600" b="1">
                <a:solidFill>
                  <a:srgbClr val="F06124"/>
                </a:solidFill>
              </a:rPr>
              <a:t>目标车型</a:t>
            </a:r>
          </a:p>
        </p:txBody>
      </p:sp>
      <p:sp>
        <p:nvSpPr>
          <p:cNvPr id="36" name="mid-note">
            <a:extLst xmlns:a="http://schemas.openxmlformats.org/drawingml/2006/main">
              <a:ext uri="{FF2B5EF4-FFF2-40B4-BE49-F238E27FC236}">
                <a16:creationId xmlns:a16="http://schemas.microsoft.com/office/drawing/2014/main" id="{DA3E55CA-5CBE-4EB9-A6B5-AC721169E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476750"/>
            <a:ext cx="2457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595757"/>
                </a:solidFill>
              </a:defRPr>
            </a:pPr>
            <a:r>
              <a:rPr sz="900">
                <a:solidFill>
                  <a:srgbClr val="595757"/>
                </a:solidFill>
              </a:rPr>
              <a:t>用户理想中的位置是右上象限：既豪华舒适，又具备真实越野与个性表达。</a:t>
            </a:r>
          </a:p>
        </p:txBody>
      </p:sp>
      <p:sp>
        <p:nvSpPr>
          <p:cNvPr id="37" name="rightp-panel">
            <a:extLst xmlns:a="http://schemas.openxmlformats.org/drawingml/2006/main">
              <a:ext uri="{FF2B5EF4-FFF2-40B4-BE49-F238E27FC236}">
                <a16:creationId xmlns:a16="http://schemas.microsoft.com/office/drawing/2014/main" id="{9E428BEC-33A9-4AD6-87A6-F88D9C67B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524000"/>
            <a:ext cx="36004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38" name="rightp-header">
            <a:extLst xmlns:a="http://schemas.openxmlformats.org/drawingml/2006/main">
              <a:ext uri="{FF2B5EF4-FFF2-40B4-BE49-F238E27FC236}">
                <a16:creationId xmlns:a16="http://schemas.microsoft.com/office/drawing/2014/main" id="{AAD43414-4D86-4532-ACD5-A9F8A8AF8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524000"/>
            <a:ext cx="3600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8D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rightp-title">
            <a:extLst xmlns:a="http://schemas.openxmlformats.org/drawingml/2006/main">
              <a:ext uri="{FF2B5EF4-FFF2-40B4-BE49-F238E27FC236}">
                <a16:creationId xmlns:a16="http://schemas.microsoft.com/office/drawing/2014/main" id="{24A9EE03-5302-45F9-BCFA-679B17797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562100"/>
            <a:ext cx="3409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定位结论</a:t>
            </a:r>
          </a:p>
        </p:txBody>
      </p:sp>
      <p:sp>
        <p:nvSpPr>
          <p:cNvPr id="40" name="rightp-b-dot-0">
            <a:extLst xmlns:a="http://schemas.openxmlformats.org/drawingml/2006/main">
              <a:ext uri="{FF2B5EF4-FFF2-40B4-BE49-F238E27FC236}">
                <a16:creationId xmlns:a16="http://schemas.microsoft.com/office/drawing/2014/main" id="{2405879A-5BEE-4785-90DD-A0AD97836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981200"/>
            <a:ext cx="57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rightp-b-text-0">
            <a:extLst xmlns:a="http://schemas.openxmlformats.org/drawingml/2006/main">
              <a:ext uri="{FF2B5EF4-FFF2-40B4-BE49-F238E27FC236}">
                <a16:creationId xmlns:a16="http://schemas.microsoft.com/office/drawing/2014/main" id="{AD62E266-E90A-4F1C-8FC7-B0663FA00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9240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181818"/>
                </a:solidFill>
              </a:defRPr>
            </a:pPr>
            <a:r>
              <a:rPr sz="1050">
                <a:solidFill>
                  <a:srgbClr val="181818"/>
                </a:solidFill>
              </a:rPr>
              <a:t>用户不希望产品被定义成纯硬核越野车，也不希望它只是理想/问界式城市家用 SUV。</a:t>
            </a:r>
          </a:p>
        </p:txBody>
      </p:sp>
      <p:sp>
        <p:nvSpPr>
          <p:cNvPr id="42" name="rightp-b-dot-1">
            <a:extLst xmlns:a="http://schemas.openxmlformats.org/drawingml/2006/main">
              <a:ext uri="{FF2B5EF4-FFF2-40B4-BE49-F238E27FC236}">
                <a16:creationId xmlns:a16="http://schemas.microsoft.com/office/drawing/2014/main" id="{C9AA9720-C451-419F-BCEE-67486CC37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286000"/>
            <a:ext cx="57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rightp-b-text-1">
            <a:extLst xmlns:a="http://schemas.openxmlformats.org/drawingml/2006/main">
              <a:ext uri="{FF2B5EF4-FFF2-40B4-BE49-F238E27FC236}">
                <a16:creationId xmlns:a16="http://schemas.microsoft.com/office/drawing/2014/main" id="{4861597E-58BA-47CC-9C9C-3730EA4CE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2288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181818"/>
                </a:solidFill>
              </a:defRPr>
            </a:pPr>
            <a:r>
              <a:rPr sz="1050">
                <a:solidFill>
                  <a:srgbClr val="181818"/>
                </a:solidFill>
              </a:rPr>
              <a:t>“西装暴徒”意味着外在呈现科技与豪华感，内在具备不弱的越野性能。</a:t>
            </a:r>
          </a:p>
        </p:txBody>
      </p:sp>
      <p:sp>
        <p:nvSpPr>
          <p:cNvPr id="44" name="rightp-b-dot-2">
            <a:extLst xmlns:a="http://schemas.openxmlformats.org/drawingml/2006/main">
              <a:ext uri="{FF2B5EF4-FFF2-40B4-BE49-F238E27FC236}">
                <a16:creationId xmlns:a16="http://schemas.microsoft.com/office/drawing/2014/main" id="{F25F4C2E-DB5B-44D7-8AD3-63B71F79D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590800"/>
            <a:ext cx="57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rightp-b-text-2">
            <a:extLst xmlns:a="http://schemas.openxmlformats.org/drawingml/2006/main">
              <a:ext uri="{FF2B5EF4-FFF2-40B4-BE49-F238E27FC236}">
                <a16:creationId xmlns:a16="http://schemas.microsoft.com/office/drawing/2014/main" id="{DD2C7D6E-6BE7-4A30-9F17-81CEA752C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336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181818"/>
                </a:solidFill>
              </a:defRPr>
            </a:pPr>
            <a:r>
              <a:rPr sz="1050">
                <a:solidFill>
                  <a:srgbClr val="181818"/>
                </a:solidFill>
              </a:rPr>
              <a:t>如果外观不够“野”，用户不会自动把它和大梁、三把锁联系起来。</a:t>
            </a:r>
          </a:p>
        </p:txBody>
      </p:sp>
      <p:sp>
        <p:nvSpPr>
          <p:cNvPr id="46" name="rightp-b-dot-3">
            <a:extLst xmlns:a="http://schemas.openxmlformats.org/drawingml/2006/main">
              <a:ext uri="{FF2B5EF4-FFF2-40B4-BE49-F238E27FC236}">
                <a16:creationId xmlns:a16="http://schemas.microsoft.com/office/drawing/2014/main" id="{ED1DE1A0-E677-4F45-B50E-C92E9341A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895600"/>
            <a:ext cx="57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rightp-b-text-3">
            <a:extLst xmlns:a="http://schemas.openxmlformats.org/drawingml/2006/main">
              <a:ext uri="{FF2B5EF4-FFF2-40B4-BE49-F238E27FC236}">
                <a16:creationId xmlns:a16="http://schemas.microsoft.com/office/drawing/2014/main" id="{8A6925F2-C198-4521-8304-5FD9698D6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8384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181818"/>
                </a:solidFill>
              </a:defRPr>
            </a:pPr>
            <a:r>
              <a:rPr sz="1050">
                <a:solidFill>
                  <a:srgbClr val="181818"/>
                </a:solidFill>
              </a:rPr>
              <a:t>XXX 与 G700 家族语言衔接不足，是当前品牌识别的一处隐患。</a:t>
            </a:r>
          </a:p>
        </p:txBody>
      </p:sp>
      <p:sp>
        <p:nvSpPr>
          <p:cNvPr id="48" name="position-chip-chip-0">
            <a:extLst xmlns:a="http://schemas.openxmlformats.org/drawingml/2006/main">
              <a:ext uri="{FF2B5EF4-FFF2-40B4-BE49-F238E27FC236}">
                <a16:creationId xmlns:a16="http://schemas.microsoft.com/office/drawing/2014/main" id="{E86A60E7-8EF4-4B33-A3BC-45F3703BA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72150"/>
            <a:ext cx="2552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5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49" name="position-chip-chip-text-0">
            <a:extLst xmlns:a="http://schemas.openxmlformats.org/drawingml/2006/main">
              <a:ext uri="{FF2B5EF4-FFF2-40B4-BE49-F238E27FC236}">
                <a16:creationId xmlns:a16="http://schemas.microsoft.com/office/drawing/2014/main" id="{16D4D18F-6800-4271-ADCF-0992ED422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829300"/>
            <a:ext cx="2438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81818"/>
                </a:solidFill>
              </a:defRPr>
            </a:pPr>
            <a:r>
              <a:rPr sz="675" b="1">
                <a:solidFill>
                  <a:srgbClr val="181818"/>
                </a:solidFill>
              </a:rPr>
              <a:t>品牌:守护/探索/自由</a:t>
            </a:r>
          </a:p>
        </p:txBody>
      </p:sp>
      <p:sp>
        <p:nvSpPr>
          <p:cNvPr id="50" name="position-chip-chip-1">
            <a:extLst xmlns:a="http://schemas.openxmlformats.org/drawingml/2006/main">
              <a:ext uri="{FF2B5EF4-FFF2-40B4-BE49-F238E27FC236}">
                <a16:creationId xmlns:a16="http://schemas.microsoft.com/office/drawing/2014/main" id="{18FE3014-CECE-4E91-8E7E-DD68D3010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772150"/>
            <a:ext cx="2552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EB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51" name="position-chip-chip-text-1">
            <a:extLst xmlns:a="http://schemas.openxmlformats.org/drawingml/2006/main">
              <a:ext uri="{FF2B5EF4-FFF2-40B4-BE49-F238E27FC236}">
                <a16:creationId xmlns:a16="http://schemas.microsoft.com/office/drawing/2014/main" id="{0DF4F0A1-74F3-499E-865A-AD3B151E8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829300"/>
            <a:ext cx="2438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81818"/>
                </a:solidFill>
              </a:defRPr>
            </a:pPr>
            <a:r>
              <a:rPr sz="675" b="1">
                <a:solidFill>
                  <a:srgbClr val="181818"/>
                </a:solidFill>
              </a:rPr>
              <a:t>定位:西装暴徒</a:t>
            </a:r>
          </a:p>
        </p:txBody>
      </p:sp>
      <p:sp>
        <p:nvSpPr>
          <p:cNvPr id="52" name="position-chip-chip-2">
            <a:extLst xmlns:a="http://schemas.openxmlformats.org/drawingml/2006/main">
              <a:ext uri="{FF2B5EF4-FFF2-40B4-BE49-F238E27FC236}">
                <a16:creationId xmlns:a16="http://schemas.microsoft.com/office/drawing/2014/main" id="{235700E6-A87E-43D7-87AD-90E8484D8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772150"/>
            <a:ext cx="2552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E9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53" name="position-chip-chip-text-2">
            <a:extLst xmlns:a="http://schemas.openxmlformats.org/drawingml/2006/main">
              <a:ext uri="{FF2B5EF4-FFF2-40B4-BE49-F238E27FC236}">
                <a16:creationId xmlns:a16="http://schemas.microsoft.com/office/drawing/2014/main" id="{39C56BC8-7648-4085-8EDE-EA02207D9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829300"/>
            <a:ext cx="2438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81818"/>
                </a:solidFill>
              </a:defRPr>
            </a:pPr>
            <a:r>
              <a:rPr sz="675" b="1">
                <a:solidFill>
                  <a:srgbClr val="181818"/>
                </a:solidFill>
              </a:rPr>
              <a:t>矛盾:科技感有余、野味不足</a:t>
            </a:r>
          </a:p>
        </p:txBody>
      </p:sp>
      <p:sp>
        <p:nvSpPr>
          <p:cNvPr id="54" name="position-chip-chip-3">
            <a:extLst xmlns:a="http://schemas.openxmlformats.org/drawingml/2006/main">
              <a:ext uri="{FF2B5EF4-FFF2-40B4-BE49-F238E27FC236}">
                <a16:creationId xmlns:a16="http://schemas.microsoft.com/office/drawing/2014/main" id="{01A0A70E-CEE9-43FE-A672-04ADD504B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772150"/>
            <a:ext cx="2552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CE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55" name="position-chip-chip-text-3">
            <a:extLst xmlns:a="http://schemas.openxmlformats.org/drawingml/2006/main">
              <a:ext uri="{FF2B5EF4-FFF2-40B4-BE49-F238E27FC236}">
                <a16:creationId xmlns:a16="http://schemas.microsoft.com/office/drawing/2014/main" id="{A3DCAA38-DD2F-4801-A19B-38CDC2D81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829300"/>
            <a:ext cx="2438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81818"/>
                </a:solidFill>
              </a:defRPr>
            </a:pPr>
            <a:r>
              <a:rPr sz="675" b="1">
                <a:solidFill>
                  <a:srgbClr val="181818"/>
                </a:solidFill>
              </a:rPr>
              <a:t>任务:一眼看懂豪华越野</a:t>
            </a:r>
          </a:p>
        </p:txBody>
      </p:sp>
    </p:spTree>
    <p:extLst>
      <p:ext uri="{BB962C8B-B14F-4D97-AF65-F5344CB8AC3E}">
        <p14:creationId xmlns:p14="http://schemas.microsoft.com/office/powerpoint/2010/main" val="34502628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B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top-11">
            <a:extLst xmlns:a="http://schemas.openxmlformats.org/drawingml/2006/main">
              <a:ext uri="{FF2B5EF4-FFF2-40B4-BE49-F238E27FC236}">
                <a16:creationId xmlns:a16="http://schemas.microsoft.com/office/drawing/2014/main" id="{F6454BF3-A979-433E-8D8C-8EAD1EC79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mark-11">
            <a:extLst xmlns:a="http://schemas.openxmlformats.org/drawingml/2006/main">
              <a:ext uri="{FF2B5EF4-FFF2-40B4-BE49-F238E27FC236}">
                <a16:creationId xmlns:a16="http://schemas.microsoft.com/office/drawing/2014/main" id="{AE700D51-2E22-4482-A871-265E57DFC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11">
            <a:extLst xmlns:a="http://schemas.openxmlformats.org/drawingml/2006/main">
              <a:ext uri="{FF2B5EF4-FFF2-40B4-BE49-F238E27FC236}">
                <a16:creationId xmlns:a16="http://schemas.microsoft.com/office/drawing/2014/main" id="{3756A148-DBC5-44FA-A015-20D8B733A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ource-11">
            <a:extLst xmlns:a="http://schemas.openxmlformats.org/drawingml/2006/main">
              <a:ext uri="{FF2B5EF4-FFF2-40B4-BE49-F238E27FC236}">
                <a16:creationId xmlns:a16="http://schemas.microsoft.com/office/drawing/2014/main" id="{C841CAFA-D532-4B1A-BE3C-60DD38F3F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717171"/>
                </a:solidFill>
              </a:defRPr>
            </a:pPr>
            <a:r>
              <a:rPr sz="750">
                <a:solidFill>
                  <a:srgbClr val="717171"/>
                </a:solidFill>
              </a:rPr>
              <a:t>资料来源：会议笔录分析总结_优化版(1).docx，仅基于原文整理</a:t>
            </a:r>
          </a:p>
        </p:txBody>
      </p:sp>
      <p:sp>
        <p:nvSpPr>
          <p:cNvPr id="5" name="page-11">
            <a:extLst xmlns:a="http://schemas.openxmlformats.org/drawingml/2006/main">
              <a:ext uri="{FF2B5EF4-FFF2-40B4-BE49-F238E27FC236}">
                <a16:creationId xmlns:a16="http://schemas.microsoft.com/office/drawing/2014/main" id="{2740F5CC-DFA4-4A23-AD00-E6126EC5F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912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717171"/>
                </a:solidFill>
              </a:defRPr>
            </a:pPr>
            <a:r>
              <a:rPr sz="750">
                <a:solidFill>
                  <a:srgbClr val="717171"/>
                </a:solidFill>
              </a:rPr>
              <a:t>11</a:t>
            </a:r>
          </a:p>
        </p:txBody>
      </p:sp>
      <p:sp>
        <p:nvSpPr>
          <p:cNvPr id="6" name="kicker-11">
            <a:extLst xmlns:a="http://schemas.openxmlformats.org/drawingml/2006/main">
              <a:ext uri="{FF2B5EF4-FFF2-40B4-BE49-F238E27FC236}">
                <a16:creationId xmlns:a16="http://schemas.microsoft.com/office/drawing/2014/main" id="{7D655F4B-71D4-4476-B723-91B117973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77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06124"/>
                </a:solidFill>
              </a:defRPr>
            </a:pPr>
            <a:r>
              <a:rPr sz="825" b="1">
                <a:solidFill>
                  <a:srgbClr val="F06124"/>
                </a:solidFill>
              </a:rPr>
              <a:t>DESIGN JUDGEMENT</a:t>
            </a:r>
          </a:p>
        </p:txBody>
      </p:sp>
      <p:sp>
        <p:nvSpPr>
          <p:cNvPr id="7" name="title-11">
            <a:extLst xmlns:a="http://schemas.openxmlformats.org/drawingml/2006/main">
              <a:ext uri="{FF2B5EF4-FFF2-40B4-BE49-F238E27FC236}">
                <a16:creationId xmlns:a16="http://schemas.microsoft.com/office/drawing/2014/main" id="{68F61457-5E30-43C9-BD98-4CCBA5E04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1818"/>
                </a:solidFill>
              </a:defRPr>
            </a:pPr>
            <a:r>
              <a:rPr sz="2100" b="1">
                <a:solidFill>
                  <a:srgbClr val="181818"/>
                </a:solidFill>
              </a:rPr>
              <a:t>造型设计共创：用户认可科技感，但“野味不足”是当前最核心的审美矛盾</a:t>
            </a:r>
          </a:p>
        </p:txBody>
      </p:sp>
      <p:sp>
        <p:nvSpPr>
          <p:cNvPr id="8" name="designjudge-top-band">
            <a:extLst xmlns:a="http://schemas.openxmlformats.org/drawingml/2006/main">
              <a:ext uri="{FF2B5EF4-FFF2-40B4-BE49-F238E27FC236}">
                <a16:creationId xmlns:a16="http://schemas.microsoft.com/office/drawing/2014/main" id="{862D77A6-A2C6-47E7-95B0-5022638CD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76350"/>
            <a:ext cx="10515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4"/>
          </a:solidFill>
          <a:ln xmlns:a="http://schemas.openxmlformats.org/drawingml/2006/main" w="0">
            <a:solidFill>
              <a:srgbClr val="141414"/>
            </a:solidFill>
            <a:prstDash val="solid"/>
          </a:ln>
        </p:spPr>
      </p:sp>
      <p:sp>
        <p:nvSpPr>
          <p:cNvPr id="9" name="designjudge-top-text">
            <a:extLst xmlns:a="http://schemas.openxmlformats.org/drawingml/2006/main">
              <a:ext uri="{FF2B5EF4-FFF2-40B4-BE49-F238E27FC236}">
                <a16:creationId xmlns:a16="http://schemas.microsoft.com/office/drawing/2014/main" id="{639B1E15-BBCB-4F20-9113-8588C7AC3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323975"/>
            <a:ext cx="10325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设计判断: 当前争议不在于是否高级，而在于是否足够像一台具备真实越野内核的豪华产品。</a:t>
            </a:r>
          </a:p>
        </p:txBody>
      </p:sp>
      <p:sp>
        <p:nvSpPr>
          <p:cNvPr id="10" name="design-h-0">
            <a:extLst xmlns:a="http://schemas.openxmlformats.org/drawingml/2006/main">
              <a:ext uri="{FF2B5EF4-FFF2-40B4-BE49-F238E27FC236}">
                <a16:creationId xmlns:a16="http://schemas.microsoft.com/office/drawing/2014/main" id="{36104144-715C-42FE-B54D-CFCEC6D30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24000"/>
            <a:ext cx="114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8D56"/>
          </a:solidFill>
          <a:ln xmlns:a="http://schemas.openxmlformats.org/drawingml/2006/main" w="0">
            <a:solidFill>
              <a:srgbClr val="4B8D56"/>
            </a:solidFill>
            <a:prstDash val="solid"/>
          </a:ln>
        </p:spPr>
      </p:sp>
      <p:sp>
        <p:nvSpPr>
          <p:cNvPr id="11" name="design-ht-0">
            <a:extLst xmlns:a="http://schemas.openxmlformats.org/drawingml/2006/main">
              <a:ext uri="{FF2B5EF4-FFF2-40B4-BE49-F238E27FC236}">
                <a16:creationId xmlns:a16="http://schemas.microsoft.com/office/drawing/2014/main" id="{434E95BB-F9DB-4E32-A78C-324585D19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581150"/>
            <a:ext cx="1028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模块</a:t>
            </a:r>
          </a:p>
        </p:txBody>
      </p:sp>
      <p:sp>
        <p:nvSpPr>
          <p:cNvPr id="12" name="design-h-1">
            <a:extLst xmlns:a="http://schemas.openxmlformats.org/drawingml/2006/main">
              <a:ext uri="{FF2B5EF4-FFF2-40B4-BE49-F238E27FC236}">
                <a16:creationId xmlns:a16="http://schemas.microsoft.com/office/drawing/2014/main" id="{036DEE39-7468-4880-82F8-C7EB1C99C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1524000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8D56"/>
          </a:solidFill>
          <a:ln xmlns:a="http://schemas.openxmlformats.org/drawingml/2006/main" w="0">
            <a:solidFill>
              <a:srgbClr val="4B8D56"/>
            </a:solidFill>
            <a:prstDash val="solid"/>
          </a:ln>
        </p:spPr>
      </p:sp>
      <p:sp>
        <p:nvSpPr>
          <p:cNvPr id="13" name="design-ht-1">
            <a:extLst xmlns:a="http://schemas.openxmlformats.org/drawingml/2006/main">
              <a:ext uri="{FF2B5EF4-FFF2-40B4-BE49-F238E27FC236}">
                <a16:creationId xmlns:a16="http://schemas.microsoft.com/office/drawing/2014/main" id="{9B988938-E3BF-444D-A607-3E5B3602B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581150"/>
            <a:ext cx="2362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用户认可</a:t>
            </a:r>
          </a:p>
        </p:txBody>
      </p:sp>
      <p:sp>
        <p:nvSpPr>
          <p:cNvPr id="14" name="design-h-2">
            <a:extLst xmlns:a="http://schemas.openxmlformats.org/drawingml/2006/main">
              <a:ext uri="{FF2B5EF4-FFF2-40B4-BE49-F238E27FC236}">
                <a16:creationId xmlns:a16="http://schemas.microsoft.com/office/drawing/2014/main" id="{236963C8-73AA-4B89-90FA-A494BF13F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524000"/>
            <a:ext cx="2438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8D56"/>
          </a:solidFill>
          <a:ln xmlns:a="http://schemas.openxmlformats.org/drawingml/2006/main" w="0">
            <a:solidFill>
              <a:srgbClr val="4B8D56"/>
            </a:solidFill>
            <a:prstDash val="solid"/>
          </a:ln>
        </p:spPr>
      </p:sp>
      <p:sp>
        <p:nvSpPr>
          <p:cNvPr id="15" name="design-ht-2">
            <a:extLst xmlns:a="http://schemas.openxmlformats.org/drawingml/2006/main">
              <a:ext uri="{FF2B5EF4-FFF2-40B4-BE49-F238E27FC236}">
                <a16:creationId xmlns:a16="http://schemas.microsoft.com/office/drawing/2014/main" id="{25B2F9E3-0221-4225-894A-FF125B594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581150"/>
            <a:ext cx="2324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主要争议</a:t>
            </a:r>
          </a:p>
        </p:txBody>
      </p:sp>
      <p:sp>
        <p:nvSpPr>
          <p:cNvPr id="16" name="design-h-3">
            <a:extLst xmlns:a="http://schemas.openxmlformats.org/drawingml/2006/main">
              <a:ext uri="{FF2B5EF4-FFF2-40B4-BE49-F238E27FC236}">
                <a16:creationId xmlns:a16="http://schemas.microsoft.com/office/drawing/2014/main" id="{002BF8B9-0A46-4391-9400-C19C3D400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524000"/>
            <a:ext cx="4457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8D56"/>
          </a:solidFill>
          <a:ln xmlns:a="http://schemas.openxmlformats.org/drawingml/2006/main" w="0">
            <a:solidFill>
              <a:srgbClr val="4B8D56"/>
            </a:solidFill>
            <a:prstDash val="solid"/>
          </a:ln>
        </p:spPr>
      </p:sp>
      <p:sp>
        <p:nvSpPr>
          <p:cNvPr id="17" name="design-ht-3">
            <a:extLst xmlns:a="http://schemas.openxmlformats.org/drawingml/2006/main">
              <a:ext uri="{FF2B5EF4-FFF2-40B4-BE49-F238E27FC236}">
                <a16:creationId xmlns:a16="http://schemas.microsoft.com/office/drawing/2014/main" id="{9E12894C-1B23-4AB8-B67F-836346F52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581150"/>
            <a:ext cx="434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汇报判断</a:t>
            </a:r>
          </a:p>
        </p:txBody>
      </p:sp>
      <p:sp>
        <p:nvSpPr>
          <p:cNvPr id="18" name="design-c-0-0">
            <a:extLst xmlns:a="http://schemas.openxmlformats.org/drawingml/2006/main">
              <a:ext uri="{FF2B5EF4-FFF2-40B4-BE49-F238E27FC236}">
                <a16:creationId xmlns:a16="http://schemas.microsoft.com/office/drawing/2014/main" id="{C05A7E5F-A184-40D3-B669-0AB87481A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28800"/>
            <a:ext cx="1143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9" name="design-ct-0-0">
            <a:extLst xmlns:a="http://schemas.openxmlformats.org/drawingml/2006/main">
              <a:ext uri="{FF2B5EF4-FFF2-40B4-BE49-F238E27FC236}">
                <a16:creationId xmlns:a16="http://schemas.microsoft.com/office/drawing/2014/main" id="{C4EBFEFC-6641-472F-80A8-6041D1A80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85950"/>
            <a:ext cx="1028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81818"/>
                </a:solidFill>
              </a:defRPr>
            </a:pPr>
            <a:r>
              <a:rPr sz="825" b="1">
                <a:solidFill>
                  <a:srgbClr val="181818"/>
                </a:solidFill>
              </a:rPr>
              <a:t>整体</a:t>
            </a:r>
          </a:p>
        </p:txBody>
      </p:sp>
      <p:sp>
        <p:nvSpPr>
          <p:cNvPr id="20" name="design-c-0-1">
            <a:extLst xmlns:a="http://schemas.openxmlformats.org/drawingml/2006/main">
              <a:ext uri="{FF2B5EF4-FFF2-40B4-BE49-F238E27FC236}">
                <a16:creationId xmlns:a16="http://schemas.microsoft.com/office/drawing/2014/main" id="{5480AEE4-2667-42CE-B1A1-EED0FC214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1828800"/>
            <a:ext cx="2476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1" name="design-ct-0-1">
            <a:extLst xmlns:a="http://schemas.openxmlformats.org/drawingml/2006/main">
              <a:ext uri="{FF2B5EF4-FFF2-40B4-BE49-F238E27FC236}">
                <a16:creationId xmlns:a16="http://schemas.microsoft.com/office/drawing/2014/main" id="{45A53327-6F32-4AFB-A58C-1A1BFBBC5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885950"/>
            <a:ext cx="2362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81818"/>
                </a:solidFill>
              </a:defRPr>
            </a:pPr>
            <a:r>
              <a:rPr sz="750" b="0">
                <a:solidFill>
                  <a:srgbClr val="181818"/>
                </a:solidFill>
              </a:rPr>
              <a:t>硬核、科技、简洁、流畅、科幻和大气感被部分用户认可。</a:t>
            </a:r>
          </a:p>
        </p:txBody>
      </p:sp>
      <p:sp>
        <p:nvSpPr>
          <p:cNvPr id="22" name="design-c-0-2">
            <a:extLst xmlns:a="http://schemas.openxmlformats.org/drawingml/2006/main">
              <a:ext uri="{FF2B5EF4-FFF2-40B4-BE49-F238E27FC236}">
                <a16:creationId xmlns:a16="http://schemas.microsoft.com/office/drawing/2014/main" id="{DC220BE3-6E07-4776-89C4-1CCC64C0A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828800"/>
            <a:ext cx="24384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3" name="design-ct-0-2">
            <a:extLst xmlns:a="http://schemas.openxmlformats.org/drawingml/2006/main">
              <a:ext uri="{FF2B5EF4-FFF2-40B4-BE49-F238E27FC236}">
                <a16:creationId xmlns:a16="http://schemas.microsoft.com/office/drawing/2014/main" id="{A1307424-DD70-4A90-AA40-7B78D4BDD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885950"/>
            <a:ext cx="2324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81818"/>
                </a:solidFill>
              </a:defRPr>
            </a:pPr>
            <a:r>
              <a:rPr sz="750" b="0">
                <a:solidFill>
                  <a:srgbClr val="181818"/>
                </a:solidFill>
              </a:rPr>
              <a:t>偏城市化、线条硬朗感不足、家族语言不清晰。</a:t>
            </a:r>
          </a:p>
        </p:txBody>
      </p:sp>
      <p:sp>
        <p:nvSpPr>
          <p:cNvPr id="24" name="design-c-0-3">
            <a:extLst xmlns:a="http://schemas.openxmlformats.org/drawingml/2006/main">
              <a:ext uri="{FF2B5EF4-FFF2-40B4-BE49-F238E27FC236}">
                <a16:creationId xmlns:a16="http://schemas.microsoft.com/office/drawing/2014/main" id="{A0AA1B75-0C48-4D2F-B0EA-2443C6A70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828800"/>
            <a:ext cx="44577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5" name="design-ct-0-3">
            <a:extLst xmlns:a="http://schemas.openxmlformats.org/drawingml/2006/main">
              <a:ext uri="{FF2B5EF4-FFF2-40B4-BE49-F238E27FC236}">
                <a16:creationId xmlns:a16="http://schemas.microsoft.com/office/drawing/2014/main" id="{653BD160-0DE2-4F3D-B171-DC7229523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885950"/>
            <a:ext cx="4343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81818"/>
                </a:solidFill>
              </a:defRPr>
            </a:pPr>
            <a:r>
              <a:rPr sz="750" b="0">
                <a:solidFill>
                  <a:srgbClr val="181818"/>
                </a:solidFill>
              </a:rPr>
              <a:t>外观需要更好支撑“西装暴徒”的定位，让用户一眼感知越野内核。</a:t>
            </a:r>
          </a:p>
        </p:txBody>
      </p:sp>
      <p:sp>
        <p:nvSpPr>
          <p:cNvPr id="26" name="design-c-1-0">
            <a:extLst xmlns:a="http://schemas.openxmlformats.org/drawingml/2006/main">
              <a:ext uri="{FF2B5EF4-FFF2-40B4-BE49-F238E27FC236}">
                <a16:creationId xmlns:a16="http://schemas.microsoft.com/office/drawing/2014/main" id="{CA485992-6C66-46B3-BD42-7E97D19F4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57450"/>
            <a:ext cx="1143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7" name="design-ct-1-0">
            <a:extLst xmlns:a="http://schemas.openxmlformats.org/drawingml/2006/main">
              <a:ext uri="{FF2B5EF4-FFF2-40B4-BE49-F238E27FC236}">
                <a16:creationId xmlns:a16="http://schemas.microsoft.com/office/drawing/2014/main" id="{30E928CD-C361-4BF5-9226-DA3991B1D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14600"/>
            <a:ext cx="1028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81818"/>
                </a:solidFill>
              </a:defRPr>
            </a:pPr>
            <a:r>
              <a:rPr sz="825" b="1">
                <a:solidFill>
                  <a:srgbClr val="181818"/>
                </a:solidFill>
              </a:rPr>
              <a:t>前脸</a:t>
            </a:r>
          </a:p>
        </p:txBody>
      </p:sp>
      <p:sp>
        <p:nvSpPr>
          <p:cNvPr id="28" name="design-c-1-1">
            <a:extLst xmlns:a="http://schemas.openxmlformats.org/drawingml/2006/main">
              <a:ext uri="{FF2B5EF4-FFF2-40B4-BE49-F238E27FC236}">
                <a16:creationId xmlns:a16="http://schemas.microsoft.com/office/drawing/2014/main" id="{B8479E12-6536-4005-B1A9-97BB3D17D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457450"/>
            <a:ext cx="2476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9" name="design-ct-1-1">
            <a:extLst xmlns:a="http://schemas.openxmlformats.org/drawingml/2006/main">
              <a:ext uri="{FF2B5EF4-FFF2-40B4-BE49-F238E27FC236}">
                <a16:creationId xmlns:a16="http://schemas.microsoft.com/office/drawing/2014/main" id="{65354EA7-7DFA-4C22-A392-9E0CE6EEA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514600"/>
            <a:ext cx="2362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81818"/>
                </a:solidFill>
              </a:defRPr>
            </a:pPr>
            <a:r>
              <a:rPr sz="750" b="0">
                <a:solidFill>
                  <a:srgbClr val="181818"/>
                </a:solidFill>
              </a:rPr>
              <a:t>大灯接受度较高，隐藏款前脸更简洁、科技、前卫。</a:t>
            </a:r>
          </a:p>
        </p:txBody>
      </p:sp>
      <p:sp>
        <p:nvSpPr>
          <p:cNvPr id="30" name="design-c-1-2">
            <a:extLst xmlns:a="http://schemas.openxmlformats.org/drawingml/2006/main">
              <a:ext uri="{FF2B5EF4-FFF2-40B4-BE49-F238E27FC236}">
                <a16:creationId xmlns:a16="http://schemas.microsoft.com/office/drawing/2014/main" id="{EE969669-7ED5-4D71-9B46-7D9C5B3BF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57450"/>
            <a:ext cx="24384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31" name="design-ct-1-2">
            <a:extLst xmlns:a="http://schemas.openxmlformats.org/drawingml/2006/main">
              <a:ext uri="{FF2B5EF4-FFF2-40B4-BE49-F238E27FC236}">
                <a16:creationId xmlns:a16="http://schemas.microsoft.com/office/drawing/2014/main" id="{CA481261-7C6C-4ADB-A1AB-9B1B84E64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514600"/>
            <a:ext cx="2324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81818"/>
                </a:solidFill>
              </a:defRPr>
            </a:pPr>
            <a:r>
              <a:rPr sz="750" b="0">
                <a:solidFill>
                  <a:srgbClr val="181818"/>
                </a:solidFill>
              </a:rPr>
              <a:t>中网格栅偏密、镀铬偏多、层次复杂。</a:t>
            </a:r>
          </a:p>
        </p:txBody>
      </p:sp>
      <p:sp>
        <p:nvSpPr>
          <p:cNvPr id="32" name="design-c-1-3">
            <a:extLst xmlns:a="http://schemas.openxmlformats.org/drawingml/2006/main">
              <a:ext uri="{FF2B5EF4-FFF2-40B4-BE49-F238E27FC236}">
                <a16:creationId xmlns:a16="http://schemas.microsoft.com/office/drawing/2014/main" id="{4F364258-6EB7-4F42-BEB9-2FDAF4176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457450"/>
            <a:ext cx="44577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33" name="design-ct-1-3">
            <a:extLst xmlns:a="http://schemas.openxmlformats.org/drawingml/2006/main">
              <a:ext uri="{FF2B5EF4-FFF2-40B4-BE49-F238E27FC236}">
                <a16:creationId xmlns:a16="http://schemas.microsoft.com/office/drawing/2014/main" id="{4B507351-5D1C-49A2-A761-1EF56E509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514600"/>
            <a:ext cx="4343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81818"/>
                </a:solidFill>
              </a:defRPr>
            </a:pPr>
            <a:r>
              <a:rPr sz="750" b="0">
                <a:solidFill>
                  <a:srgbClr val="181818"/>
                </a:solidFill>
              </a:rPr>
              <a:t>优先优化中网，保留灯组与简洁科技方向。</a:t>
            </a:r>
          </a:p>
        </p:txBody>
      </p:sp>
      <p:sp>
        <p:nvSpPr>
          <p:cNvPr id="34" name="design-c-2-0">
            <a:extLst xmlns:a="http://schemas.openxmlformats.org/drawingml/2006/main">
              <a:ext uri="{FF2B5EF4-FFF2-40B4-BE49-F238E27FC236}">
                <a16:creationId xmlns:a16="http://schemas.microsoft.com/office/drawing/2014/main" id="{D7871585-B8FC-45C3-9443-F883FACFC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86100"/>
            <a:ext cx="1143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35" name="design-ct-2-0">
            <a:extLst xmlns:a="http://schemas.openxmlformats.org/drawingml/2006/main">
              <a:ext uri="{FF2B5EF4-FFF2-40B4-BE49-F238E27FC236}">
                <a16:creationId xmlns:a16="http://schemas.microsoft.com/office/drawing/2014/main" id="{756BB772-1AC0-469F-8749-2F83BB6F0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43250"/>
            <a:ext cx="1028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81818"/>
                </a:solidFill>
              </a:defRPr>
            </a:pPr>
            <a:r>
              <a:rPr sz="825" b="1">
                <a:solidFill>
                  <a:srgbClr val="181818"/>
                </a:solidFill>
              </a:rPr>
              <a:t>尾部</a:t>
            </a:r>
          </a:p>
        </p:txBody>
      </p:sp>
      <p:sp>
        <p:nvSpPr>
          <p:cNvPr id="36" name="design-c-2-1">
            <a:extLst xmlns:a="http://schemas.openxmlformats.org/drawingml/2006/main">
              <a:ext uri="{FF2B5EF4-FFF2-40B4-BE49-F238E27FC236}">
                <a16:creationId xmlns:a16="http://schemas.microsoft.com/office/drawing/2014/main" id="{270D3F23-F6DB-41D2-BD0A-1149F2EF4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086100"/>
            <a:ext cx="2476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37" name="design-ct-2-1">
            <a:extLst xmlns:a="http://schemas.openxmlformats.org/drawingml/2006/main">
              <a:ext uri="{FF2B5EF4-FFF2-40B4-BE49-F238E27FC236}">
                <a16:creationId xmlns:a16="http://schemas.microsoft.com/office/drawing/2014/main" id="{4C4EAB5A-2A2F-42B0-B5CE-E38E618B7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143250"/>
            <a:ext cx="2362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81818"/>
                </a:solidFill>
              </a:defRPr>
            </a:pPr>
            <a:r>
              <a:rPr sz="750" b="0">
                <a:solidFill>
                  <a:srgbClr val="181818"/>
                </a:solidFill>
              </a:rPr>
              <a:t>天地门具备功能亮点和配置价值。</a:t>
            </a:r>
          </a:p>
        </p:txBody>
      </p:sp>
      <p:sp>
        <p:nvSpPr>
          <p:cNvPr id="38" name="design-c-2-2">
            <a:extLst xmlns:a="http://schemas.openxmlformats.org/drawingml/2006/main">
              <a:ext uri="{FF2B5EF4-FFF2-40B4-BE49-F238E27FC236}">
                <a16:creationId xmlns:a16="http://schemas.microsoft.com/office/drawing/2014/main" id="{B2192162-7FFA-47C0-AF05-F65B9F7E1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086100"/>
            <a:ext cx="24384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39" name="design-ct-2-2">
            <a:extLst xmlns:a="http://schemas.openxmlformats.org/drawingml/2006/main">
              <a:ext uri="{FF2B5EF4-FFF2-40B4-BE49-F238E27FC236}">
                <a16:creationId xmlns:a16="http://schemas.microsoft.com/office/drawing/2014/main" id="{D2E9ACB9-3B53-4F6B-B482-7B9E41AAD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43250"/>
            <a:ext cx="2324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81818"/>
                </a:solidFill>
              </a:defRPr>
            </a:pPr>
            <a:r>
              <a:rPr sz="750" b="0">
                <a:solidFill>
                  <a:srgbClr val="181818"/>
                </a:solidFill>
              </a:rPr>
              <a:t>尾部视觉偏空，尾灯尺度偏小，越野感不足。</a:t>
            </a:r>
          </a:p>
        </p:txBody>
      </p:sp>
      <p:sp>
        <p:nvSpPr>
          <p:cNvPr id="40" name="design-c-2-3">
            <a:extLst xmlns:a="http://schemas.openxmlformats.org/drawingml/2006/main">
              <a:ext uri="{FF2B5EF4-FFF2-40B4-BE49-F238E27FC236}">
                <a16:creationId xmlns:a16="http://schemas.microsoft.com/office/drawing/2014/main" id="{A582CD9B-5311-4734-8492-11A95E92F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086100"/>
            <a:ext cx="44577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41" name="design-ct-2-3">
            <a:extLst xmlns:a="http://schemas.openxmlformats.org/drawingml/2006/main">
              <a:ext uri="{FF2B5EF4-FFF2-40B4-BE49-F238E27FC236}">
                <a16:creationId xmlns:a16="http://schemas.microsoft.com/office/drawing/2014/main" id="{CBF19F2B-D789-452E-871A-DE300505C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143250"/>
            <a:ext cx="4343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81818"/>
                </a:solidFill>
              </a:defRPr>
            </a:pPr>
            <a:r>
              <a:rPr sz="750" b="0">
                <a:solidFill>
                  <a:srgbClr val="181818"/>
                </a:solidFill>
              </a:rPr>
              <a:t>强化尾灯尺度、天地门识别与硬派符号表达。</a:t>
            </a:r>
          </a:p>
        </p:txBody>
      </p:sp>
      <p:sp>
        <p:nvSpPr>
          <p:cNvPr id="42" name="design-c-3-0">
            <a:extLst xmlns:a="http://schemas.openxmlformats.org/drawingml/2006/main">
              <a:ext uri="{FF2B5EF4-FFF2-40B4-BE49-F238E27FC236}">
                <a16:creationId xmlns:a16="http://schemas.microsoft.com/office/drawing/2014/main" id="{A7857169-56B5-4B55-92F4-AC0288D60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1143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43" name="design-ct-3-0">
            <a:extLst xmlns:a="http://schemas.openxmlformats.org/drawingml/2006/main">
              <a:ext uri="{FF2B5EF4-FFF2-40B4-BE49-F238E27FC236}">
                <a16:creationId xmlns:a16="http://schemas.microsoft.com/office/drawing/2014/main" id="{9A257AAD-1C53-4682-9303-9630FBF12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71900"/>
            <a:ext cx="1028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81818"/>
                </a:solidFill>
              </a:defRPr>
            </a:pPr>
            <a:r>
              <a:rPr sz="825" b="1">
                <a:solidFill>
                  <a:srgbClr val="181818"/>
                </a:solidFill>
              </a:rPr>
              <a:t>内饰</a:t>
            </a:r>
          </a:p>
        </p:txBody>
      </p:sp>
      <p:sp>
        <p:nvSpPr>
          <p:cNvPr id="44" name="design-c-3-1">
            <a:extLst xmlns:a="http://schemas.openxmlformats.org/drawingml/2006/main">
              <a:ext uri="{FF2B5EF4-FFF2-40B4-BE49-F238E27FC236}">
                <a16:creationId xmlns:a16="http://schemas.microsoft.com/office/drawing/2014/main" id="{F50873F0-8BAF-4395-BA68-5AA2CC11A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714750"/>
            <a:ext cx="2476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45" name="design-ct-3-1">
            <a:extLst xmlns:a="http://schemas.openxmlformats.org/drawingml/2006/main">
              <a:ext uri="{FF2B5EF4-FFF2-40B4-BE49-F238E27FC236}">
                <a16:creationId xmlns:a16="http://schemas.microsoft.com/office/drawing/2014/main" id="{BC6524E1-7125-46CD-83A2-B0E8A2255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771900"/>
            <a:ext cx="2362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81818"/>
                </a:solidFill>
              </a:defRPr>
            </a:pPr>
            <a:r>
              <a:rPr sz="750" b="0">
                <a:solidFill>
                  <a:srgbClr val="181818"/>
                </a:solidFill>
              </a:rPr>
              <a:t>琥珀棕、大理石纹理、双拼方向盘更受欢迎。</a:t>
            </a:r>
          </a:p>
        </p:txBody>
      </p:sp>
      <p:sp>
        <p:nvSpPr>
          <p:cNvPr id="46" name="design-c-3-2">
            <a:extLst xmlns:a="http://schemas.openxmlformats.org/drawingml/2006/main">
              <a:ext uri="{FF2B5EF4-FFF2-40B4-BE49-F238E27FC236}">
                <a16:creationId xmlns:a16="http://schemas.microsoft.com/office/drawing/2014/main" id="{F4B12600-904B-4BB9-B0FE-44772EA92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714750"/>
            <a:ext cx="24384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47" name="design-ct-3-2">
            <a:extLst xmlns:a="http://schemas.openxmlformats.org/drawingml/2006/main">
              <a:ext uri="{FF2B5EF4-FFF2-40B4-BE49-F238E27FC236}">
                <a16:creationId xmlns:a16="http://schemas.microsoft.com/office/drawing/2014/main" id="{F96FAC3F-AA1F-44CD-8C7A-A55131400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771900"/>
            <a:ext cx="2324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81818"/>
                </a:solidFill>
              </a:defRPr>
            </a:pPr>
            <a:r>
              <a:rPr sz="750" b="0">
                <a:solidFill>
                  <a:srgbClr val="181818"/>
                </a:solidFill>
              </a:rPr>
              <a:t>储物不足、前瞻感不足、家族传承感弱、整体偏中庸。</a:t>
            </a:r>
          </a:p>
        </p:txBody>
      </p:sp>
      <p:sp>
        <p:nvSpPr>
          <p:cNvPr id="48" name="design-c-3-3">
            <a:extLst xmlns:a="http://schemas.openxmlformats.org/drawingml/2006/main">
              <a:ext uri="{FF2B5EF4-FFF2-40B4-BE49-F238E27FC236}">
                <a16:creationId xmlns:a16="http://schemas.microsoft.com/office/drawing/2014/main" id="{0443C9EA-1633-45C6-A19C-3BD369A11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714750"/>
            <a:ext cx="44577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49" name="design-ct-3-3">
            <a:extLst xmlns:a="http://schemas.openxmlformats.org/drawingml/2006/main">
              <a:ext uri="{FF2B5EF4-FFF2-40B4-BE49-F238E27FC236}">
                <a16:creationId xmlns:a16="http://schemas.microsoft.com/office/drawing/2014/main" id="{9C935C77-80C5-48D3-8BC2-5A5FCB0C9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771900"/>
            <a:ext cx="4343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81818"/>
                </a:solidFill>
              </a:defRPr>
            </a:pPr>
            <a:r>
              <a:rPr sz="750" b="0">
                <a:solidFill>
                  <a:srgbClr val="181818"/>
                </a:solidFill>
              </a:rPr>
              <a:t>提高耐看度，并补足储物与越野信息化表达。</a:t>
            </a:r>
          </a:p>
        </p:txBody>
      </p:sp>
      <p:sp>
        <p:nvSpPr>
          <p:cNvPr id="50" name="design-c-4-0">
            <a:extLst xmlns:a="http://schemas.openxmlformats.org/drawingml/2006/main">
              <a:ext uri="{FF2B5EF4-FFF2-40B4-BE49-F238E27FC236}">
                <a16:creationId xmlns:a16="http://schemas.microsoft.com/office/drawing/2014/main" id="{FDA13F2D-9DC6-4CC2-9B5A-A039BB83F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43400"/>
            <a:ext cx="1143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51" name="design-ct-4-0">
            <a:extLst xmlns:a="http://schemas.openxmlformats.org/drawingml/2006/main">
              <a:ext uri="{FF2B5EF4-FFF2-40B4-BE49-F238E27FC236}">
                <a16:creationId xmlns:a16="http://schemas.microsoft.com/office/drawing/2014/main" id="{3A1CF5D6-7F90-49D3-92E9-E81ED98C5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00550"/>
            <a:ext cx="1028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81818"/>
                </a:solidFill>
              </a:defRPr>
            </a:pPr>
            <a:r>
              <a:rPr sz="825" b="1">
                <a:solidFill>
                  <a:srgbClr val="181818"/>
                </a:solidFill>
              </a:rPr>
              <a:t>轮毂</a:t>
            </a:r>
          </a:p>
        </p:txBody>
      </p:sp>
      <p:sp>
        <p:nvSpPr>
          <p:cNvPr id="52" name="design-c-4-1">
            <a:extLst xmlns:a="http://schemas.openxmlformats.org/drawingml/2006/main">
              <a:ext uri="{FF2B5EF4-FFF2-40B4-BE49-F238E27FC236}">
                <a16:creationId xmlns:a16="http://schemas.microsoft.com/office/drawing/2014/main" id="{F6414ADD-2936-4CFD-90C0-D7172F84B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343400"/>
            <a:ext cx="2476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53" name="design-ct-4-1">
            <a:extLst xmlns:a="http://schemas.openxmlformats.org/drawingml/2006/main">
              <a:ext uri="{FF2B5EF4-FFF2-40B4-BE49-F238E27FC236}">
                <a16:creationId xmlns:a16="http://schemas.microsoft.com/office/drawing/2014/main" id="{7332F7E6-CE2F-4B5F-92FB-FAC174E0C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400550"/>
            <a:ext cx="2362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81818"/>
                </a:solidFill>
              </a:defRPr>
            </a:pPr>
            <a:r>
              <a:rPr sz="750" b="0">
                <a:solidFill>
                  <a:srgbClr val="181818"/>
                </a:solidFill>
              </a:rPr>
              <a:t>方案 2 支持度最高，用户更偏向实用尺寸。</a:t>
            </a:r>
          </a:p>
        </p:txBody>
      </p:sp>
      <p:sp>
        <p:nvSpPr>
          <p:cNvPr id="54" name="design-c-4-2">
            <a:extLst xmlns:a="http://schemas.openxmlformats.org/drawingml/2006/main">
              <a:ext uri="{FF2B5EF4-FFF2-40B4-BE49-F238E27FC236}">
                <a16:creationId xmlns:a16="http://schemas.microsoft.com/office/drawing/2014/main" id="{8FFE64EC-2B6F-4D6E-A1B5-9B94CDE9C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343400"/>
            <a:ext cx="24384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55" name="design-ct-4-2">
            <a:extLst xmlns:a="http://schemas.openxmlformats.org/drawingml/2006/main">
              <a:ext uri="{FF2B5EF4-FFF2-40B4-BE49-F238E27FC236}">
                <a16:creationId xmlns:a16="http://schemas.microsoft.com/office/drawing/2014/main" id="{746E4DC0-A6F4-45A6-9E6C-677DFC116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400550"/>
            <a:ext cx="2324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81818"/>
                </a:solidFill>
              </a:defRPr>
            </a:pPr>
            <a:r>
              <a:rPr sz="750" b="0">
                <a:solidFill>
                  <a:srgbClr val="181818"/>
                </a:solidFill>
              </a:rPr>
              <a:t>22寸选择意愿低，担心越野实用性与后期成本。</a:t>
            </a:r>
          </a:p>
        </p:txBody>
      </p:sp>
      <p:sp>
        <p:nvSpPr>
          <p:cNvPr id="56" name="design-c-4-3">
            <a:extLst xmlns:a="http://schemas.openxmlformats.org/drawingml/2006/main">
              <a:ext uri="{FF2B5EF4-FFF2-40B4-BE49-F238E27FC236}">
                <a16:creationId xmlns:a16="http://schemas.microsoft.com/office/drawing/2014/main" id="{1768B0B4-4D53-4DD1-9C1A-62F34289B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343400"/>
            <a:ext cx="44577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57" name="design-ct-4-3">
            <a:extLst xmlns:a="http://schemas.openxmlformats.org/drawingml/2006/main">
              <a:ext uri="{FF2B5EF4-FFF2-40B4-BE49-F238E27FC236}">
                <a16:creationId xmlns:a16="http://schemas.microsoft.com/office/drawing/2014/main" id="{A711C1BB-0D2E-4FB1-9683-5568ADCD0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00550"/>
            <a:ext cx="4343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81818"/>
                </a:solidFill>
              </a:defRPr>
            </a:pPr>
            <a:r>
              <a:rPr sz="750" b="0">
                <a:solidFill>
                  <a:srgbClr val="181818"/>
                </a:solidFill>
              </a:rPr>
              <a:t>以20寸实用方案为主，22寸作为城市豪华取向选装。</a:t>
            </a:r>
          </a:p>
        </p:txBody>
      </p:sp>
      <p:sp>
        <p:nvSpPr>
          <p:cNvPr id="58" name="designjudge-foot-chip-0">
            <a:extLst xmlns:a="http://schemas.openxmlformats.org/drawingml/2006/main">
              <a:ext uri="{FF2B5EF4-FFF2-40B4-BE49-F238E27FC236}">
                <a16:creationId xmlns:a16="http://schemas.microsoft.com/office/drawing/2014/main" id="{42015C05-4CC7-44BE-814D-0124FFA4B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2552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CE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59" name="designjudge-foot-chip-text-0">
            <a:extLst xmlns:a="http://schemas.openxmlformats.org/drawingml/2006/main">
              <a:ext uri="{FF2B5EF4-FFF2-40B4-BE49-F238E27FC236}">
                <a16:creationId xmlns:a16="http://schemas.microsoft.com/office/drawing/2014/main" id="{914EF073-7609-4D09-8738-236DE9E57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34050"/>
            <a:ext cx="2438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81818"/>
                </a:solidFill>
              </a:defRPr>
            </a:pPr>
            <a:r>
              <a:rPr sz="675" b="1">
                <a:solidFill>
                  <a:srgbClr val="181818"/>
                </a:solidFill>
              </a:rPr>
              <a:t>前脸先改中网层次</a:t>
            </a:r>
          </a:p>
        </p:txBody>
      </p:sp>
      <p:sp>
        <p:nvSpPr>
          <p:cNvPr id="60" name="designjudge-foot-chip-1">
            <a:extLst xmlns:a="http://schemas.openxmlformats.org/drawingml/2006/main">
              <a:ext uri="{FF2B5EF4-FFF2-40B4-BE49-F238E27FC236}">
                <a16:creationId xmlns:a16="http://schemas.microsoft.com/office/drawing/2014/main" id="{4174128E-6C5E-45B4-98DF-C81986938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676900"/>
            <a:ext cx="2552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E9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61" name="designjudge-foot-chip-text-1">
            <a:extLst xmlns:a="http://schemas.openxmlformats.org/drawingml/2006/main">
              <a:ext uri="{FF2B5EF4-FFF2-40B4-BE49-F238E27FC236}">
                <a16:creationId xmlns:a16="http://schemas.microsoft.com/office/drawing/2014/main" id="{7F3630ED-8D5B-4CDC-B6F2-36819B99B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734050"/>
            <a:ext cx="2438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81818"/>
                </a:solidFill>
              </a:defRPr>
            </a:pPr>
            <a:r>
              <a:rPr sz="675" b="1">
                <a:solidFill>
                  <a:srgbClr val="181818"/>
                </a:solidFill>
              </a:rPr>
              <a:t>尾部放大灯组存在感</a:t>
            </a:r>
          </a:p>
        </p:txBody>
      </p:sp>
      <p:sp>
        <p:nvSpPr>
          <p:cNvPr id="62" name="designjudge-foot-chip-2">
            <a:extLst xmlns:a="http://schemas.openxmlformats.org/drawingml/2006/main">
              <a:ext uri="{FF2B5EF4-FFF2-40B4-BE49-F238E27FC236}">
                <a16:creationId xmlns:a16="http://schemas.microsoft.com/office/drawing/2014/main" id="{C7999DE9-E1F2-4493-AF13-5B3313A3C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676900"/>
            <a:ext cx="2552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5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63" name="designjudge-foot-chip-text-2">
            <a:extLst xmlns:a="http://schemas.openxmlformats.org/drawingml/2006/main">
              <a:ext uri="{FF2B5EF4-FFF2-40B4-BE49-F238E27FC236}">
                <a16:creationId xmlns:a16="http://schemas.microsoft.com/office/drawing/2014/main" id="{85081069-4E46-4132-A95E-A1CD0B80D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734050"/>
            <a:ext cx="2438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81818"/>
                </a:solidFill>
              </a:defRPr>
            </a:pPr>
            <a:r>
              <a:rPr sz="675" b="1">
                <a:solidFill>
                  <a:srgbClr val="181818"/>
                </a:solidFill>
              </a:rPr>
              <a:t>内饰提高前瞻与储物</a:t>
            </a:r>
          </a:p>
        </p:txBody>
      </p:sp>
      <p:sp>
        <p:nvSpPr>
          <p:cNvPr id="64" name="designjudge-foot-chip-3">
            <a:extLst xmlns:a="http://schemas.openxmlformats.org/drawingml/2006/main">
              <a:ext uri="{FF2B5EF4-FFF2-40B4-BE49-F238E27FC236}">
                <a16:creationId xmlns:a16="http://schemas.microsoft.com/office/drawing/2014/main" id="{09E1D0C8-6DB4-4C6B-A7A3-5FF094CB9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676900"/>
            <a:ext cx="2552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EB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65" name="designjudge-foot-chip-text-3">
            <a:extLst xmlns:a="http://schemas.openxmlformats.org/drawingml/2006/main">
              <a:ext uri="{FF2B5EF4-FFF2-40B4-BE49-F238E27FC236}">
                <a16:creationId xmlns:a16="http://schemas.microsoft.com/office/drawing/2014/main" id="{5B35D358-9FF2-4940-AE38-78C7E354D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734050"/>
            <a:ext cx="2438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81818"/>
                </a:solidFill>
              </a:defRPr>
            </a:pPr>
            <a:r>
              <a:rPr sz="675" b="1">
                <a:solidFill>
                  <a:srgbClr val="181818"/>
                </a:solidFill>
              </a:rPr>
              <a:t>轮毂以 20 寸为主</a:t>
            </a:r>
          </a:p>
        </p:txBody>
      </p:sp>
    </p:spTree>
    <p:extLst>
      <p:ext uri="{BB962C8B-B14F-4D97-AF65-F5344CB8AC3E}">
        <p14:creationId xmlns:p14="http://schemas.microsoft.com/office/powerpoint/2010/main" val="204846533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B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8" name="top-12">
            <a:extLst xmlns:a="http://schemas.openxmlformats.org/drawingml/2006/main">
              <a:ext uri="{FF2B5EF4-FFF2-40B4-BE49-F238E27FC236}">
                <a16:creationId xmlns:a16="http://schemas.microsoft.com/office/drawing/2014/main" id="{05C617B9-2221-4378-8F19-319BD77E5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mark-12">
            <a:extLst xmlns:a="http://schemas.openxmlformats.org/drawingml/2006/main">
              <a:ext uri="{FF2B5EF4-FFF2-40B4-BE49-F238E27FC236}">
                <a16:creationId xmlns:a16="http://schemas.microsoft.com/office/drawing/2014/main" id="{DBC7538E-6EE1-496B-AFE0-10CA5BF82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12">
            <a:extLst xmlns:a="http://schemas.openxmlformats.org/drawingml/2006/main">
              <a:ext uri="{FF2B5EF4-FFF2-40B4-BE49-F238E27FC236}">
                <a16:creationId xmlns:a16="http://schemas.microsoft.com/office/drawing/2014/main" id="{ED1463C1-19EF-4265-9188-7A15B7EC5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ource-12">
            <a:extLst xmlns:a="http://schemas.openxmlformats.org/drawingml/2006/main">
              <a:ext uri="{FF2B5EF4-FFF2-40B4-BE49-F238E27FC236}">
                <a16:creationId xmlns:a16="http://schemas.microsoft.com/office/drawing/2014/main" id="{572CB78C-8DE7-4431-8049-C064BCF02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717171"/>
                </a:solidFill>
              </a:defRPr>
            </a:pPr>
            <a:r>
              <a:rPr sz="750">
                <a:solidFill>
                  <a:srgbClr val="717171"/>
                </a:solidFill>
              </a:rPr>
              <a:t>资料来源：会议笔录分析总结_优化版(1).docx，仅基于原文整理</a:t>
            </a:r>
          </a:p>
        </p:txBody>
      </p:sp>
      <p:sp>
        <p:nvSpPr>
          <p:cNvPr id="5" name="page-12">
            <a:extLst xmlns:a="http://schemas.openxmlformats.org/drawingml/2006/main">
              <a:ext uri="{FF2B5EF4-FFF2-40B4-BE49-F238E27FC236}">
                <a16:creationId xmlns:a16="http://schemas.microsoft.com/office/drawing/2014/main" id="{4B2BAF9E-A9EE-4DFC-BD9A-F900550BC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912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717171"/>
                </a:solidFill>
              </a:defRPr>
            </a:pPr>
            <a:r>
              <a:rPr sz="750">
                <a:solidFill>
                  <a:srgbClr val="717171"/>
                </a:solidFill>
              </a:rPr>
              <a:t>12</a:t>
            </a:r>
          </a:p>
        </p:txBody>
      </p:sp>
      <p:sp>
        <p:nvSpPr>
          <p:cNvPr id="6" name="kicker-12">
            <a:extLst xmlns:a="http://schemas.openxmlformats.org/drawingml/2006/main">
              <a:ext uri="{FF2B5EF4-FFF2-40B4-BE49-F238E27FC236}">
                <a16:creationId xmlns:a16="http://schemas.microsoft.com/office/drawing/2014/main" id="{9B304E04-4515-4887-ABEA-CCC89B315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77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06124"/>
                </a:solidFill>
              </a:defRPr>
            </a:pPr>
            <a:r>
              <a:rPr sz="825" b="1">
                <a:solidFill>
                  <a:srgbClr val="F06124"/>
                </a:solidFill>
              </a:rPr>
              <a:t>VALUE PROPOSITION</a:t>
            </a:r>
          </a:p>
        </p:txBody>
      </p:sp>
      <p:sp>
        <p:nvSpPr>
          <p:cNvPr id="7" name="title-12">
            <a:extLst xmlns:a="http://schemas.openxmlformats.org/drawingml/2006/main">
              <a:ext uri="{FF2B5EF4-FFF2-40B4-BE49-F238E27FC236}">
                <a16:creationId xmlns:a16="http://schemas.microsoft.com/office/drawing/2014/main" id="{695EB0E3-5984-4D8F-AA27-21240AC91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1818"/>
                </a:solidFill>
              </a:defRPr>
            </a:pPr>
            <a:r>
              <a:rPr sz="2100" b="1">
                <a:solidFill>
                  <a:srgbClr val="181818"/>
                </a:solidFill>
              </a:rPr>
              <a:t>核心卖点判断：要把“硬参数”翻译成“用户真实场景收益”</a:t>
            </a:r>
          </a:p>
        </p:txBody>
      </p:sp>
      <p:sp>
        <p:nvSpPr>
          <p:cNvPr id="8" name="value-top-band">
            <a:extLst xmlns:a="http://schemas.openxmlformats.org/drawingml/2006/main">
              <a:ext uri="{FF2B5EF4-FFF2-40B4-BE49-F238E27FC236}">
                <a16:creationId xmlns:a16="http://schemas.microsoft.com/office/drawing/2014/main" id="{631D7ECF-E96B-4848-AC99-CD58987C6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76350"/>
            <a:ext cx="10515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4"/>
          </a:solidFill>
          <a:ln xmlns:a="http://schemas.openxmlformats.org/drawingml/2006/main" w="0">
            <a:solidFill>
              <a:srgbClr val="141414"/>
            </a:solidFill>
            <a:prstDash val="solid"/>
          </a:ln>
        </p:spPr>
      </p:sp>
      <p:sp>
        <p:nvSpPr>
          <p:cNvPr id="9" name="value-top-text">
            <a:extLst xmlns:a="http://schemas.openxmlformats.org/drawingml/2006/main">
              <a:ext uri="{FF2B5EF4-FFF2-40B4-BE49-F238E27FC236}">
                <a16:creationId xmlns:a16="http://schemas.microsoft.com/office/drawing/2014/main" id="{BDDB3A68-605A-4AC7-B90C-167E17469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323975"/>
            <a:ext cx="10325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卖点表达原则: 少讲抽象参数强，多讲它为什么更安全、更省心、更能带着全家走得更远。</a:t>
            </a:r>
          </a:p>
        </p:txBody>
      </p:sp>
      <p:sp>
        <p:nvSpPr>
          <p:cNvPr id="10" name="value-h-0">
            <a:extLst xmlns:a="http://schemas.openxmlformats.org/drawingml/2006/main">
              <a:ext uri="{FF2B5EF4-FFF2-40B4-BE49-F238E27FC236}">
                <a16:creationId xmlns:a16="http://schemas.microsoft.com/office/drawing/2014/main" id="{04F0F514-47FA-44E5-B8DB-FCA5C6BE7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24000"/>
            <a:ext cx="1295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8D56"/>
          </a:solidFill>
          <a:ln xmlns:a="http://schemas.openxmlformats.org/drawingml/2006/main" w="0">
            <a:solidFill>
              <a:srgbClr val="4B8D56"/>
            </a:solidFill>
            <a:prstDash val="solid"/>
          </a:ln>
        </p:spPr>
      </p:sp>
      <p:sp>
        <p:nvSpPr>
          <p:cNvPr id="11" name="value-ht-0">
            <a:extLst xmlns:a="http://schemas.openxmlformats.org/drawingml/2006/main">
              <a:ext uri="{FF2B5EF4-FFF2-40B4-BE49-F238E27FC236}">
                <a16:creationId xmlns:a16="http://schemas.microsoft.com/office/drawing/2014/main" id="{A3D6BC99-0A42-4260-B1AA-3B5A5649F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581150"/>
            <a:ext cx="1181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卖点模块</a:t>
            </a:r>
          </a:p>
        </p:txBody>
      </p:sp>
      <p:sp>
        <p:nvSpPr>
          <p:cNvPr id="12" name="value-h-1">
            <a:extLst xmlns:a="http://schemas.openxmlformats.org/drawingml/2006/main">
              <a:ext uri="{FF2B5EF4-FFF2-40B4-BE49-F238E27FC236}">
                <a16:creationId xmlns:a16="http://schemas.microsoft.com/office/drawing/2014/main" id="{E092C1B9-2117-4456-A744-6353F837A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524000"/>
            <a:ext cx="2152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8D56"/>
          </a:solidFill>
          <a:ln xmlns:a="http://schemas.openxmlformats.org/drawingml/2006/main" w="0">
            <a:solidFill>
              <a:srgbClr val="4B8D56"/>
            </a:solidFill>
            <a:prstDash val="solid"/>
          </a:ln>
        </p:spPr>
      </p:sp>
      <p:sp>
        <p:nvSpPr>
          <p:cNvPr id="13" name="value-ht-1">
            <a:extLst xmlns:a="http://schemas.openxmlformats.org/drawingml/2006/main">
              <a:ext uri="{FF2B5EF4-FFF2-40B4-BE49-F238E27FC236}">
                <a16:creationId xmlns:a16="http://schemas.microsoft.com/office/drawing/2014/main" id="{AD847A69-6D4D-4ED5-B796-733DB3DED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581150"/>
            <a:ext cx="2038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用户关注</a:t>
            </a:r>
          </a:p>
        </p:txBody>
      </p:sp>
      <p:sp>
        <p:nvSpPr>
          <p:cNvPr id="14" name="value-h-2">
            <a:extLst xmlns:a="http://schemas.openxmlformats.org/drawingml/2006/main">
              <a:ext uri="{FF2B5EF4-FFF2-40B4-BE49-F238E27FC236}">
                <a16:creationId xmlns:a16="http://schemas.microsoft.com/office/drawing/2014/main" id="{22166B8E-D095-4735-B681-7075BB2E2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524000"/>
            <a:ext cx="2362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8D56"/>
          </a:solidFill>
          <a:ln xmlns:a="http://schemas.openxmlformats.org/drawingml/2006/main" w="0">
            <a:solidFill>
              <a:srgbClr val="4B8D56"/>
            </a:solidFill>
            <a:prstDash val="solid"/>
          </a:ln>
        </p:spPr>
      </p:sp>
      <p:sp>
        <p:nvSpPr>
          <p:cNvPr id="15" name="value-ht-2">
            <a:extLst xmlns:a="http://schemas.openxmlformats.org/drawingml/2006/main">
              <a:ext uri="{FF2B5EF4-FFF2-40B4-BE49-F238E27FC236}">
                <a16:creationId xmlns:a16="http://schemas.microsoft.com/office/drawing/2014/main" id="{39477594-A668-42D2-8F7C-67E82EEFB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581150"/>
            <a:ext cx="2247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已有优势</a:t>
            </a:r>
          </a:p>
        </p:txBody>
      </p:sp>
      <p:sp>
        <p:nvSpPr>
          <p:cNvPr id="16" name="value-h-3">
            <a:extLst xmlns:a="http://schemas.openxmlformats.org/drawingml/2006/main">
              <a:ext uri="{FF2B5EF4-FFF2-40B4-BE49-F238E27FC236}">
                <a16:creationId xmlns:a16="http://schemas.microsoft.com/office/drawing/2014/main" id="{76EB1F22-A5D7-471B-848B-B245D4B7F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524000"/>
            <a:ext cx="209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8D56"/>
          </a:solidFill>
          <a:ln xmlns:a="http://schemas.openxmlformats.org/drawingml/2006/main" w="0">
            <a:solidFill>
              <a:srgbClr val="4B8D56"/>
            </a:solidFill>
            <a:prstDash val="solid"/>
          </a:ln>
        </p:spPr>
      </p:sp>
      <p:sp>
        <p:nvSpPr>
          <p:cNvPr id="17" name="value-ht-3">
            <a:extLst xmlns:a="http://schemas.openxmlformats.org/drawingml/2006/main">
              <a:ext uri="{FF2B5EF4-FFF2-40B4-BE49-F238E27FC236}">
                <a16:creationId xmlns:a16="http://schemas.microsoft.com/office/drawing/2014/main" id="{A429F36C-4BB7-41DA-9F9A-173739A94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581150"/>
            <a:ext cx="1981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潜在争议</a:t>
            </a:r>
          </a:p>
        </p:txBody>
      </p:sp>
      <p:sp>
        <p:nvSpPr>
          <p:cNvPr id="18" name="value-h-4">
            <a:extLst xmlns:a="http://schemas.openxmlformats.org/drawingml/2006/main">
              <a:ext uri="{FF2B5EF4-FFF2-40B4-BE49-F238E27FC236}">
                <a16:creationId xmlns:a16="http://schemas.microsoft.com/office/drawing/2014/main" id="{DC6707B2-F141-486D-BA71-6FAF3EE83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524000"/>
            <a:ext cx="2686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8D56"/>
          </a:solidFill>
          <a:ln xmlns:a="http://schemas.openxmlformats.org/drawingml/2006/main" w="0">
            <a:solidFill>
              <a:srgbClr val="4B8D56"/>
            </a:solidFill>
            <a:prstDash val="solid"/>
          </a:ln>
        </p:spPr>
      </p:sp>
      <p:sp>
        <p:nvSpPr>
          <p:cNvPr id="19" name="value-ht-4">
            <a:extLst xmlns:a="http://schemas.openxmlformats.org/drawingml/2006/main">
              <a:ext uri="{FF2B5EF4-FFF2-40B4-BE49-F238E27FC236}">
                <a16:creationId xmlns:a16="http://schemas.microsoft.com/office/drawing/2014/main" id="{2020080D-0CD3-4010-8AC2-5E6D0037B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581150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建议表达方式</a:t>
            </a:r>
          </a:p>
        </p:txBody>
      </p:sp>
      <p:sp>
        <p:nvSpPr>
          <p:cNvPr id="20" name="value-c-0-0">
            <a:extLst xmlns:a="http://schemas.openxmlformats.org/drawingml/2006/main">
              <a:ext uri="{FF2B5EF4-FFF2-40B4-BE49-F238E27FC236}">
                <a16:creationId xmlns:a16="http://schemas.microsoft.com/office/drawing/2014/main" id="{1FAD2FBE-E6B3-41C0-B76C-21CB62E8E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28800"/>
            <a:ext cx="12954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1" name="value-ct-0-0">
            <a:extLst xmlns:a="http://schemas.openxmlformats.org/drawingml/2006/main">
              <a:ext uri="{FF2B5EF4-FFF2-40B4-BE49-F238E27FC236}">
                <a16:creationId xmlns:a16="http://schemas.microsoft.com/office/drawing/2014/main" id="{DE29A43E-7547-4244-8883-9DBC49075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85950"/>
            <a:ext cx="1181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81818"/>
                </a:solidFill>
              </a:defRPr>
            </a:pPr>
            <a:r>
              <a:rPr sz="825" b="1">
                <a:solidFill>
                  <a:srgbClr val="181818"/>
                </a:solidFill>
              </a:rPr>
              <a:t>动力与越野</a:t>
            </a:r>
          </a:p>
        </p:txBody>
      </p:sp>
      <p:sp>
        <p:nvSpPr>
          <p:cNvPr id="22" name="value-c-0-1">
            <a:extLst xmlns:a="http://schemas.openxmlformats.org/drawingml/2006/main">
              <a:ext uri="{FF2B5EF4-FFF2-40B4-BE49-F238E27FC236}">
                <a16:creationId xmlns:a16="http://schemas.microsoft.com/office/drawing/2014/main" id="{3AD3E943-4FE8-4ACC-B203-2CAFCEB8E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828800"/>
            <a:ext cx="21526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3" name="value-ct-0-1">
            <a:extLst xmlns:a="http://schemas.openxmlformats.org/drawingml/2006/main">
              <a:ext uri="{FF2B5EF4-FFF2-40B4-BE49-F238E27FC236}">
                <a16:creationId xmlns:a16="http://schemas.microsoft.com/office/drawing/2014/main" id="{EE456D09-ECC1-41B9-9EFC-B10276D1D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885950"/>
            <a:ext cx="2038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81818"/>
                </a:solidFill>
              </a:defRPr>
            </a:pPr>
            <a:r>
              <a:rPr sz="750" b="0">
                <a:solidFill>
                  <a:srgbClr val="181818"/>
                </a:solidFill>
              </a:rPr>
              <a:t>长续航、大油箱、大电池、大空间、安全性</a:t>
            </a:r>
          </a:p>
        </p:txBody>
      </p:sp>
      <p:sp>
        <p:nvSpPr>
          <p:cNvPr id="24" name="value-c-0-2">
            <a:extLst xmlns:a="http://schemas.openxmlformats.org/drawingml/2006/main">
              <a:ext uri="{FF2B5EF4-FFF2-40B4-BE49-F238E27FC236}">
                <a16:creationId xmlns:a16="http://schemas.microsoft.com/office/drawing/2014/main" id="{F7BF9AB2-3F7B-4A32-B83F-BCC0FF766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28800"/>
            <a:ext cx="2362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5" name="value-ct-0-2">
            <a:extLst xmlns:a="http://schemas.openxmlformats.org/drawingml/2006/main">
              <a:ext uri="{FF2B5EF4-FFF2-40B4-BE49-F238E27FC236}">
                <a16:creationId xmlns:a16="http://schemas.microsoft.com/office/drawing/2014/main" id="{CC65B50C-7D07-4ED1-8A5A-86DD8B37E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85950"/>
            <a:ext cx="2247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81818"/>
                </a:solidFill>
              </a:defRPr>
            </a:pPr>
            <a:r>
              <a:rPr sz="750" b="0">
                <a:solidFill>
                  <a:srgbClr val="181818"/>
                </a:solidFill>
              </a:rPr>
              <a:t>2.0 插混、800V快充、三把锁、全地形、涉水、防水三电、空气悬架、CDC</a:t>
            </a:r>
          </a:p>
        </p:txBody>
      </p:sp>
      <p:sp>
        <p:nvSpPr>
          <p:cNvPr id="26" name="value-c-0-3">
            <a:extLst xmlns:a="http://schemas.openxmlformats.org/drawingml/2006/main">
              <a:ext uri="{FF2B5EF4-FFF2-40B4-BE49-F238E27FC236}">
                <a16:creationId xmlns:a16="http://schemas.microsoft.com/office/drawing/2014/main" id="{6610C9D3-0903-4E8E-A58C-D7E38AE9F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828800"/>
            <a:ext cx="2095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7" name="value-ct-0-3">
            <a:extLst xmlns:a="http://schemas.openxmlformats.org/drawingml/2006/main">
              <a:ext uri="{FF2B5EF4-FFF2-40B4-BE49-F238E27FC236}">
                <a16:creationId xmlns:a16="http://schemas.microsoft.com/office/drawing/2014/main" id="{E391E37D-8B9B-49EE-9A3E-9ED868662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885950"/>
            <a:ext cx="1981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81818"/>
                </a:solidFill>
              </a:defRPr>
            </a:pPr>
            <a:r>
              <a:rPr sz="750" b="0">
                <a:solidFill>
                  <a:srgbClr val="181818"/>
                </a:solidFill>
              </a:rPr>
              <a:t>理想/问界用户未必天然理解大梁价值</a:t>
            </a:r>
          </a:p>
        </p:txBody>
      </p:sp>
      <p:sp>
        <p:nvSpPr>
          <p:cNvPr id="28" name="value-c-0-4">
            <a:extLst xmlns:a="http://schemas.openxmlformats.org/drawingml/2006/main">
              <a:ext uri="{FF2B5EF4-FFF2-40B4-BE49-F238E27FC236}">
                <a16:creationId xmlns:a16="http://schemas.microsoft.com/office/drawing/2014/main" id="{E381AE43-958D-466B-9B3E-2D15B6234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828800"/>
            <a:ext cx="26860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9" name="value-ct-0-4">
            <a:extLst xmlns:a="http://schemas.openxmlformats.org/drawingml/2006/main">
              <a:ext uri="{FF2B5EF4-FFF2-40B4-BE49-F238E27FC236}">
                <a16:creationId xmlns:a16="http://schemas.microsoft.com/office/drawing/2014/main" id="{7AED39C6-1A24-4162-81BA-29CD9DF92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885950"/>
            <a:ext cx="257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81818"/>
                </a:solidFill>
              </a:defRPr>
            </a:pPr>
            <a:r>
              <a:rPr sz="750" b="0">
                <a:solidFill>
                  <a:srgbClr val="181818"/>
                </a:solidFill>
              </a:rPr>
              <a:t>解释成“更安全、更耐用、能带全家去更远的地方”</a:t>
            </a:r>
          </a:p>
        </p:txBody>
      </p:sp>
      <p:sp>
        <p:nvSpPr>
          <p:cNvPr id="30" name="value-c-1-0">
            <a:extLst xmlns:a="http://schemas.openxmlformats.org/drawingml/2006/main">
              <a:ext uri="{FF2B5EF4-FFF2-40B4-BE49-F238E27FC236}">
                <a16:creationId xmlns:a16="http://schemas.microsoft.com/office/drawing/2014/main" id="{8625D997-6B06-4A04-A0A5-825B876ED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33650"/>
            <a:ext cx="12954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31" name="value-ct-1-0">
            <a:extLst xmlns:a="http://schemas.openxmlformats.org/drawingml/2006/main">
              <a:ext uri="{FF2B5EF4-FFF2-40B4-BE49-F238E27FC236}">
                <a16:creationId xmlns:a16="http://schemas.microsoft.com/office/drawing/2014/main" id="{732E2DDE-CECB-4448-B939-A60C19CE5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90800"/>
            <a:ext cx="1181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81818"/>
                </a:solidFill>
              </a:defRPr>
            </a:pPr>
            <a:r>
              <a:rPr sz="825" b="1">
                <a:solidFill>
                  <a:srgbClr val="181818"/>
                </a:solidFill>
              </a:rPr>
              <a:t>智能科技</a:t>
            </a:r>
          </a:p>
        </p:txBody>
      </p:sp>
      <p:sp>
        <p:nvSpPr>
          <p:cNvPr id="32" name="value-c-1-1">
            <a:extLst xmlns:a="http://schemas.openxmlformats.org/drawingml/2006/main">
              <a:ext uri="{FF2B5EF4-FFF2-40B4-BE49-F238E27FC236}">
                <a16:creationId xmlns:a16="http://schemas.microsoft.com/office/drawing/2014/main" id="{AFA9C6C0-487E-4ECE-8231-4DA309723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533650"/>
            <a:ext cx="21526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33" name="value-ct-1-1">
            <a:extLst xmlns:a="http://schemas.openxmlformats.org/drawingml/2006/main">
              <a:ext uri="{FF2B5EF4-FFF2-40B4-BE49-F238E27FC236}">
                <a16:creationId xmlns:a16="http://schemas.microsoft.com/office/drawing/2014/main" id="{2C9BF4C2-2A84-4DEF-B3FF-BBB7F1797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590800"/>
            <a:ext cx="2038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81818"/>
                </a:solidFill>
              </a:defRPr>
            </a:pPr>
            <a:r>
              <a:rPr sz="750" b="0">
                <a:solidFill>
                  <a:srgbClr val="181818"/>
                </a:solidFill>
              </a:rPr>
              <a:t>智驾、语音、导航、车机联动、懒人化体验</a:t>
            </a:r>
          </a:p>
        </p:txBody>
      </p:sp>
      <p:sp>
        <p:nvSpPr>
          <p:cNvPr id="34" name="value-c-1-2">
            <a:extLst xmlns:a="http://schemas.openxmlformats.org/drawingml/2006/main">
              <a:ext uri="{FF2B5EF4-FFF2-40B4-BE49-F238E27FC236}">
                <a16:creationId xmlns:a16="http://schemas.microsoft.com/office/drawing/2014/main" id="{6A0EC5B4-DB73-4B5A-9A8D-FC5071DD2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533650"/>
            <a:ext cx="2362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35" name="value-ct-1-2">
            <a:extLst xmlns:a="http://schemas.openxmlformats.org/drawingml/2006/main">
              <a:ext uri="{FF2B5EF4-FFF2-40B4-BE49-F238E27FC236}">
                <a16:creationId xmlns:a16="http://schemas.microsoft.com/office/drawing/2014/main" id="{FAC7ADF7-ED19-41B0-B49E-FB4839C95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90800"/>
            <a:ext cx="2247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81818"/>
                </a:solidFill>
              </a:defRPr>
            </a:pPr>
            <a:r>
              <a:rPr sz="750" b="0">
                <a:solidFill>
                  <a:srgbClr val="181818"/>
                </a:solidFill>
              </a:rPr>
              <a:t>华为智驾认可度高，是吸引增换购用户的重要抓手</a:t>
            </a:r>
          </a:p>
        </p:txBody>
      </p:sp>
      <p:sp>
        <p:nvSpPr>
          <p:cNvPr id="36" name="value-c-1-3">
            <a:extLst xmlns:a="http://schemas.openxmlformats.org/drawingml/2006/main">
              <a:ext uri="{FF2B5EF4-FFF2-40B4-BE49-F238E27FC236}">
                <a16:creationId xmlns:a16="http://schemas.microsoft.com/office/drawing/2014/main" id="{4862B54C-8313-444A-B2A5-7CD8D1F9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533650"/>
            <a:ext cx="2095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37" name="value-ct-1-3">
            <a:extLst xmlns:a="http://schemas.openxmlformats.org/drawingml/2006/main">
              <a:ext uri="{FF2B5EF4-FFF2-40B4-BE49-F238E27FC236}">
                <a16:creationId xmlns:a16="http://schemas.microsoft.com/office/drawing/2014/main" id="{A5DFE1CB-AD77-4E0E-8CF3-57E242E9A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590800"/>
            <a:ext cx="1981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81818"/>
                </a:solidFill>
              </a:defRPr>
            </a:pPr>
            <a:r>
              <a:rPr sz="750" b="0">
                <a:solidFill>
                  <a:srgbClr val="181818"/>
                </a:solidFill>
              </a:rPr>
              <a:t>三联屏被认为偏传统，不如 G700 天际屏更有原创性</a:t>
            </a:r>
          </a:p>
        </p:txBody>
      </p:sp>
      <p:sp>
        <p:nvSpPr>
          <p:cNvPr id="38" name="value-c-1-4">
            <a:extLst xmlns:a="http://schemas.openxmlformats.org/drawingml/2006/main">
              <a:ext uri="{FF2B5EF4-FFF2-40B4-BE49-F238E27FC236}">
                <a16:creationId xmlns:a16="http://schemas.microsoft.com/office/drawing/2014/main" id="{10B3D6E1-5912-4B16-BB32-5BD80D29F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533650"/>
            <a:ext cx="26860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39" name="value-ct-1-4">
            <a:extLst xmlns:a="http://schemas.openxmlformats.org/drawingml/2006/main">
              <a:ext uri="{FF2B5EF4-FFF2-40B4-BE49-F238E27FC236}">
                <a16:creationId xmlns:a16="http://schemas.microsoft.com/office/drawing/2014/main" id="{0B9C2A73-DB31-4D5A-AD17-333DFCF8E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590800"/>
            <a:ext cx="257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81818"/>
                </a:solidFill>
              </a:defRPr>
            </a:pPr>
            <a:r>
              <a:rPr sz="750" b="0">
                <a:solidFill>
                  <a:srgbClr val="181818"/>
                </a:solidFill>
              </a:rPr>
              <a:t>讲“城市里不牺牲便利，荒野里不牺牲可靠”</a:t>
            </a:r>
          </a:p>
        </p:txBody>
      </p:sp>
      <p:sp>
        <p:nvSpPr>
          <p:cNvPr id="40" name="value-c-2-0">
            <a:extLst xmlns:a="http://schemas.openxmlformats.org/drawingml/2006/main">
              <a:ext uri="{FF2B5EF4-FFF2-40B4-BE49-F238E27FC236}">
                <a16:creationId xmlns:a16="http://schemas.microsoft.com/office/drawing/2014/main" id="{608BC0AF-08E8-4667-A8DA-4C04BE695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12954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41" name="value-ct-2-0">
            <a:extLst xmlns:a="http://schemas.openxmlformats.org/drawingml/2006/main">
              <a:ext uri="{FF2B5EF4-FFF2-40B4-BE49-F238E27FC236}">
                <a16:creationId xmlns:a16="http://schemas.microsoft.com/office/drawing/2014/main" id="{3F222697-FC00-41D7-9266-236F97586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95650"/>
            <a:ext cx="1181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81818"/>
                </a:solidFill>
              </a:defRPr>
            </a:pPr>
            <a:r>
              <a:rPr sz="825" b="1">
                <a:solidFill>
                  <a:srgbClr val="181818"/>
                </a:solidFill>
              </a:rPr>
              <a:t>舒适配置</a:t>
            </a:r>
          </a:p>
        </p:txBody>
      </p:sp>
      <p:sp>
        <p:nvSpPr>
          <p:cNvPr id="42" name="value-c-2-1">
            <a:extLst xmlns:a="http://schemas.openxmlformats.org/drawingml/2006/main">
              <a:ext uri="{FF2B5EF4-FFF2-40B4-BE49-F238E27FC236}">
                <a16:creationId xmlns:a16="http://schemas.microsoft.com/office/drawing/2014/main" id="{AC281B57-DAA4-432D-BCD0-3A2CC9228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238500"/>
            <a:ext cx="21526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43" name="value-ct-2-1">
            <a:extLst xmlns:a="http://schemas.openxmlformats.org/drawingml/2006/main">
              <a:ext uri="{FF2B5EF4-FFF2-40B4-BE49-F238E27FC236}">
                <a16:creationId xmlns:a16="http://schemas.microsoft.com/office/drawing/2014/main" id="{95DE4B5D-DD9F-481E-BEFE-F9B190F56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295650"/>
            <a:ext cx="2038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81818"/>
                </a:solidFill>
              </a:defRPr>
            </a:pPr>
            <a:r>
              <a:rPr sz="750" b="0">
                <a:solidFill>
                  <a:srgbClr val="181818"/>
                </a:solidFill>
              </a:rPr>
              <a:t>二排舒适、大床模式、长短途兼顾底盘、储物与后备厢能力</a:t>
            </a:r>
          </a:p>
        </p:txBody>
      </p:sp>
      <p:sp>
        <p:nvSpPr>
          <p:cNvPr id="44" name="value-c-2-2">
            <a:extLst xmlns:a="http://schemas.openxmlformats.org/drawingml/2006/main">
              <a:ext uri="{FF2B5EF4-FFF2-40B4-BE49-F238E27FC236}">
                <a16:creationId xmlns:a16="http://schemas.microsoft.com/office/drawing/2014/main" id="{49351D16-8396-4885-83F2-2F866E754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38500"/>
            <a:ext cx="2362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45" name="value-ct-2-2">
            <a:extLst xmlns:a="http://schemas.openxmlformats.org/drawingml/2006/main">
              <a:ext uri="{FF2B5EF4-FFF2-40B4-BE49-F238E27FC236}">
                <a16:creationId xmlns:a16="http://schemas.microsoft.com/office/drawing/2014/main" id="{087FEFE4-ABF9-4871-B35D-193E2401E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295650"/>
            <a:ext cx="2247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81818"/>
                </a:solidFill>
              </a:defRPr>
            </a:pPr>
            <a:r>
              <a:rPr sz="750" b="0">
                <a:solidFill>
                  <a:srgbClr val="181818"/>
                </a:solidFill>
              </a:rPr>
              <a:t>空气悬架、CDC、零重力座椅、三温区空调、小桌板具备组合潜力</a:t>
            </a:r>
          </a:p>
        </p:txBody>
      </p:sp>
      <p:sp>
        <p:nvSpPr>
          <p:cNvPr id="46" name="value-c-2-3">
            <a:extLst xmlns:a="http://schemas.openxmlformats.org/drawingml/2006/main">
              <a:ext uri="{FF2B5EF4-FFF2-40B4-BE49-F238E27FC236}">
                <a16:creationId xmlns:a16="http://schemas.microsoft.com/office/drawing/2014/main" id="{09ACD0BC-336C-4846-9B76-F400CD7AB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238500"/>
            <a:ext cx="2095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47" name="value-ct-2-3">
            <a:extLst xmlns:a="http://schemas.openxmlformats.org/drawingml/2006/main">
              <a:ext uri="{FF2B5EF4-FFF2-40B4-BE49-F238E27FC236}">
                <a16:creationId xmlns:a16="http://schemas.microsoft.com/office/drawing/2014/main" id="{29513C82-D849-4514-81B1-A60DEE693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295650"/>
            <a:ext cx="1981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81818"/>
                </a:solidFill>
              </a:defRPr>
            </a:pPr>
            <a:r>
              <a:rPr sz="750" b="0">
                <a:solidFill>
                  <a:srgbClr val="181818"/>
                </a:solidFill>
              </a:rPr>
              <a:t>小桌板、储物和放置位若做不好，体验落差会很大</a:t>
            </a:r>
          </a:p>
        </p:txBody>
      </p:sp>
      <p:sp>
        <p:nvSpPr>
          <p:cNvPr id="48" name="value-c-2-4">
            <a:extLst xmlns:a="http://schemas.openxmlformats.org/drawingml/2006/main">
              <a:ext uri="{FF2B5EF4-FFF2-40B4-BE49-F238E27FC236}">
                <a16:creationId xmlns:a16="http://schemas.microsoft.com/office/drawing/2014/main" id="{5994F77B-5A8D-4EE1-98C8-A59F14605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238500"/>
            <a:ext cx="26860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49" name="value-ct-2-4">
            <a:extLst xmlns:a="http://schemas.openxmlformats.org/drawingml/2006/main">
              <a:ext uri="{FF2B5EF4-FFF2-40B4-BE49-F238E27FC236}">
                <a16:creationId xmlns:a16="http://schemas.microsoft.com/office/drawing/2014/main" id="{2BA92671-DB28-4F1C-ACE2-EAF3AF1AE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295650"/>
            <a:ext cx="257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81818"/>
                </a:solidFill>
              </a:defRPr>
            </a:pPr>
            <a:r>
              <a:rPr sz="750" b="0">
                <a:solidFill>
                  <a:srgbClr val="181818"/>
                </a:solidFill>
              </a:rPr>
              <a:t>强化家庭出游、车宿、亲子和宠物场景演示</a:t>
            </a:r>
          </a:p>
        </p:txBody>
      </p:sp>
      <p:sp>
        <p:nvSpPr>
          <p:cNvPr id="50" name="value-c-3-0">
            <a:extLst xmlns:a="http://schemas.openxmlformats.org/drawingml/2006/main">
              <a:ext uri="{FF2B5EF4-FFF2-40B4-BE49-F238E27FC236}">
                <a16:creationId xmlns:a16="http://schemas.microsoft.com/office/drawing/2014/main" id="{3AD19C9C-F45F-4C3A-863A-4F961D71E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43350"/>
            <a:ext cx="12954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51" name="value-ct-3-0">
            <a:extLst xmlns:a="http://schemas.openxmlformats.org/drawingml/2006/main">
              <a:ext uri="{FF2B5EF4-FFF2-40B4-BE49-F238E27FC236}">
                <a16:creationId xmlns:a16="http://schemas.microsoft.com/office/drawing/2014/main" id="{172F26C2-7EA0-4FC4-B97E-0E17DDA4E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00500"/>
            <a:ext cx="1181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81818"/>
                </a:solidFill>
              </a:defRPr>
            </a:pPr>
            <a:r>
              <a:rPr sz="825" b="1">
                <a:solidFill>
                  <a:srgbClr val="181818"/>
                </a:solidFill>
              </a:rPr>
              <a:t>争议配置</a:t>
            </a:r>
          </a:p>
        </p:txBody>
      </p:sp>
      <p:sp>
        <p:nvSpPr>
          <p:cNvPr id="52" name="value-c-3-1">
            <a:extLst xmlns:a="http://schemas.openxmlformats.org/drawingml/2006/main">
              <a:ext uri="{FF2B5EF4-FFF2-40B4-BE49-F238E27FC236}">
                <a16:creationId xmlns:a16="http://schemas.microsoft.com/office/drawing/2014/main" id="{59269E17-3159-4ECD-8EF6-4237CAB89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943350"/>
            <a:ext cx="21526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53" name="value-ct-3-1">
            <a:extLst xmlns:a="http://schemas.openxmlformats.org/drawingml/2006/main">
              <a:ext uri="{FF2B5EF4-FFF2-40B4-BE49-F238E27FC236}">
                <a16:creationId xmlns:a16="http://schemas.microsoft.com/office/drawing/2014/main" id="{47A0D17D-BFA4-4E2A-BB98-EE61C103C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000500"/>
            <a:ext cx="2038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81818"/>
                </a:solidFill>
              </a:defRPr>
            </a:pPr>
            <a:r>
              <a:rPr sz="750" b="0">
                <a:solidFill>
                  <a:srgbClr val="181818"/>
                </a:solidFill>
              </a:rPr>
              <a:t>22寸轮毂、无感停车/加油、小桌板</a:t>
            </a:r>
          </a:p>
        </p:txBody>
      </p:sp>
      <p:sp>
        <p:nvSpPr>
          <p:cNvPr id="54" name="value-c-3-2">
            <a:extLst xmlns:a="http://schemas.openxmlformats.org/drawingml/2006/main">
              <a:ext uri="{FF2B5EF4-FFF2-40B4-BE49-F238E27FC236}">
                <a16:creationId xmlns:a16="http://schemas.microsoft.com/office/drawing/2014/main" id="{D51CEE05-0009-401A-8DCC-E670B30DE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43350"/>
            <a:ext cx="2362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55" name="value-ct-3-2">
            <a:extLst xmlns:a="http://schemas.openxmlformats.org/drawingml/2006/main">
              <a:ext uri="{FF2B5EF4-FFF2-40B4-BE49-F238E27FC236}">
                <a16:creationId xmlns:a16="http://schemas.microsoft.com/office/drawing/2014/main" id="{BAE9E7BD-960E-4137-B097-1BCD2D47D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000500"/>
            <a:ext cx="2247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81818"/>
                </a:solidFill>
              </a:defRPr>
            </a:pPr>
            <a:r>
              <a:rPr sz="750" b="0">
                <a:solidFill>
                  <a:srgbClr val="181818"/>
                </a:solidFill>
              </a:rPr>
              <a:t>能够制造“豪华感”或新奇感</a:t>
            </a:r>
          </a:p>
        </p:txBody>
      </p:sp>
      <p:sp>
        <p:nvSpPr>
          <p:cNvPr id="56" name="value-c-3-3">
            <a:extLst xmlns:a="http://schemas.openxmlformats.org/drawingml/2006/main">
              <a:ext uri="{FF2B5EF4-FFF2-40B4-BE49-F238E27FC236}">
                <a16:creationId xmlns:a16="http://schemas.microsoft.com/office/drawing/2014/main" id="{FF2AC183-1274-4FFD-9F39-43E306960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943350"/>
            <a:ext cx="2095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57" name="value-ct-3-3">
            <a:extLst xmlns:a="http://schemas.openxmlformats.org/drawingml/2006/main">
              <a:ext uri="{FF2B5EF4-FFF2-40B4-BE49-F238E27FC236}">
                <a16:creationId xmlns:a16="http://schemas.microsoft.com/office/drawing/2014/main" id="{0733255C-9C49-415E-9B32-ECDCE768E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00500"/>
            <a:ext cx="1981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81818"/>
                </a:solidFill>
              </a:defRPr>
            </a:pPr>
            <a:r>
              <a:rPr sz="750" b="0">
                <a:solidFill>
                  <a:srgbClr val="181818"/>
                </a:solidFill>
              </a:rPr>
              <a:t>用户价值感分化明显，容易挤压真正高价值卖点</a:t>
            </a:r>
          </a:p>
        </p:txBody>
      </p:sp>
      <p:sp>
        <p:nvSpPr>
          <p:cNvPr id="58" name="value-c-3-4">
            <a:extLst xmlns:a="http://schemas.openxmlformats.org/drawingml/2006/main">
              <a:ext uri="{FF2B5EF4-FFF2-40B4-BE49-F238E27FC236}">
                <a16:creationId xmlns:a16="http://schemas.microsoft.com/office/drawing/2014/main" id="{0532BEF1-E78E-4427-8B6D-BCAFD032B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943350"/>
            <a:ext cx="26860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59" name="value-ct-3-4">
            <a:extLst xmlns:a="http://schemas.openxmlformats.org/drawingml/2006/main">
              <a:ext uri="{FF2B5EF4-FFF2-40B4-BE49-F238E27FC236}">
                <a16:creationId xmlns:a16="http://schemas.microsoft.com/office/drawing/2014/main" id="{7A50B283-53AD-4F7C-AC1C-2BD6F6937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000500"/>
            <a:ext cx="257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81818"/>
                </a:solidFill>
              </a:defRPr>
            </a:pPr>
            <a:r>
              <a:rPr sz="750" b="0">
                <a:solidFill>
                  <a:srgbClr val="181818"/>
                </a:solidFill>
              </a:rPr>
              <a:t>适合选装、套装或版本差异化，而非标准卖点中心</a:t>
            </a:r>
          </a:p>
        </p:txBody>
      </p:sp>
      <p:sp>
        <p:nvSpPr>
          <p:cNvPr id="60" name="value-foot-chip-0">
            <a:extLst xmlns:a="http://schemas.openxmlformats.org/drawingml/2006/main">
              <a:ext uri="{FF2B5EF4-FFF2-40B4-BE49-F238E27FC236}">
                <a16:creationId xmlns:a16="http://schemas.microsoft.com/office/drawing/2014/main" id="{256B5C2F-CF26-410F-9F8A-566823B9B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2552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EB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61" name="value-foot-chip-text-0">
            <a:extLst xmlns:a="http://schemas.openxmlformats.org/drawingml/2006/main">
              <a:ext uri="{FF2B5EF4-FFF2-40B4-BE49-F238E27FC236}">
                <a16:creationId xmlns:a16="http://schemas.microsoft.com/office/drawing/2014/main" id="{D42BE07F-1F2B-4F43-B2A5-F498ACFC9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34050"/>
            <a:ext cx="2438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81818"/>
                </a:solidFill>
              </a:defRPr>
            </a:pPr>
            <a:r>
              <a:rPr sz="675" b="1">
                <a:solidFill>
                  <a:srgbClr val="181818"/>
                </a:solidFill>
              </a:rPr>
              <a:t>安全可信</a:t>
            </a:r>
          </a:p>
        </p:txBody>
      </p:sp>
      <p:sp>
        <p:nvSpPr>
          <p:cNvPr id="62" name="value-foot-chip-1">
            <a:extLst xmlns:a="http://schemas.openxmlformats.org/drawingml/2006/main">
              <a:ext uri="{FF2B5EF4-FFF2-40B4-BE49-F238E27FC236}">
                <a16:creationId xmlns:a16="http://schemas.microsoft.com/office/drawing/2014/main" id="{75E82748-7708-4CD0-8F7A-C0ACAFA83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676900"/>
            <a:ext cx="2552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5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63" name="value-foot-chip-text-1">
            <a:extLst xmlns:a="http://schemas.openxmlformats.org/drawingml/2006/main">
              <a:ext uri="{FF2B5EF4-FFF2-40B4-BE49-F238E27FC236}">
                <a16:creationId xmlns:a16="http://schemas.microsoft.com/office/drawing/2014/main" id="{D9B62CD6-B345-4E98-BA6F-2F332A58F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734050"/>
            <a:ext cx="2438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81818"/>
                </a:solidFill>
              </a:defRPr>
            </a:pPr>
            <a:r>
              <a:rPr sz="675" b="1">
                <a:solidFill>
                  <a:srgbClr val="181818"/>
                </a:solidFill>
              </a:rPr>
              <a:t>城市便利</a:t>
            </a:r>
          </a:p>
        </p:txBody>
      </p:sp>
      <p:sp>
        <p:nvSpPr>
          <p:cNvPr id="64" name="value-foot-chip-2">
            <a:extLst xmlns:a="http://schemas.openxmlformats.org/drawingml/2006/main">
              <a:ext uri="{FF2B5EF4-FFF2-40B4-BE49-F238E27FC236}">
                <a16:creationId xmlns:a16="http://schemas.microsoft.com/office/drawing/2014/main" id="{3DBFF912-7548-4676-BDE8-E55DEEAEA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676900"/>
            <a:ext cx="2552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CE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65" name="value-foot-chip-text-2">
            <a:extLst xmlns:a="http://schemas.openxmlformats.org/drawingml/2006/main">
              <a:ext uri="{FF2B5EF4-FFF2-40B4-BE49-F238E27FC236}">
                <a16:creationId xmlns:a16="http://schemas.microsoft.com/office/drawing/2014/main" id="{3E6C8275-3AEF-42CB-8DC4-AAF4D8A3A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734050"/>
            <a:ext cx="2438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81818"/>
                </a:solidFill>
              </a:defRPr>
            </a:pPr>
            <a:r>
              <a:rPr sz="675" b="1">
                <a:solidFill>
                  <a:srgbClr val="181818"/>
                </a:solidFill>
              </a:rPr>
              <a:t>全家舒适</a:t>
            </a:r>
          </a:p>
        </p:txBody>
      </p:sp>
      <p:sp>
        <p:nvSpPr>
          <p:cNvPr id="66" name="value-foot-chip-3">
            <a:extLst xmlns:a="http://schemas.openxmlformats.org/drawingml/2006/main">
              <a:ext uri="{FF2B5EF4-FFF2-40B4-BE49-F238E27FC236}">
                <a16:creationId xmlns:a16="http://schemas.microsoft.com/office/drawing/2014/main" id="{B460DE71-2ABD-4904-8E0F-0E985B3B9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676900"/>
            <a:ext cx="2552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E9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67" name="value-foot-chip-text-3">
            <a:extLst xmlns:a="http://schemas.openxmlformats.org/drawingml/2006/main">
              <a:ext uri="{FF2B5EF4-FFF2-40B4-BE49-F238E27FC236}">
                <a16:creationId xmlns:a16="http://schemas.microsoft.com/office/drawing/2014/main" id="{220EDB67-4B34-47AA-BDEF-A40046260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734050"/>
            <a:ext cx="2438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81818"/>
                </a:solidFill>
              </a:defRPr>
            </a:pPr>
            <a:r>
              <a:rPr sz="675" b="1">
                <a:solidFill>
                  <a:srgbClr val="181818"/>
                </a:solidFill>
              </a:rPr>
              <a:t>远行可靠</a:t>
            </a:r>
          </a:p>
        </p:txBody>
      </p:sp>
    </p:spTree>
    <p:extLst>
      <p:ext uri="{BB962C8B-B14F-4D97-AF65-F5344CB8AC3E}">
        <p14:creationId xmlns:p14="http://schemas.microsoft.com/office/powerpoint/2010/main" val="105244713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BFB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top-13">
            <a:extLst xmlns:a="http://schemas.openxmlformats.org/drawingml/2006/main">
              <a:ext uri="{FF2B5EF4-FFF2-40B4-BE49-F238E27FC236}">
                <a16:creationId xmlns:a16="http://schemas.microsoft.com/office/drawing/2014/main" id="{12CB7E90-1F52-49AB-905A-8886CACDC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mark-13">
            <a:extLst xmlns:a="http://schemas.openxmlformats.org/drawingml/2006/main">
              <a:ext uri="{FF2B5EF4-FFF2-40B4-BE49-F238E27FC236}">
                <a16:creationId xmlns:a16="http://schemas.microsoft.com/office/drawing/2014/main" id="{839AF682-BA85-4517-8184-AF53A9786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13">
            <a:extLst xmlns:a="http://schemas.openxmlformats.org/drawingml/2006/main">
              <a:ext uri="{FF2B5EF4-FFF2-40B4-BE49-F238E27FC236}">
                <a16:creationId xmlns:a16="http://schemas.microsoft.com/office/drawing/2014/main" id="{5AA57283-5DF1-4F3C-8E25-94A752931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ource-13">
            <a:extLst xmlns:a="http://schemas.openxmlformats.org/drawingml/2006/main">
              <a:ext uri="{FF2B5EF4-FFF2-40B4-BE49-F238E27FC236}">
                <a16:creationId xmlns:a16="http://schemas.microsoft.com/office/drawing/2014/main" id="{D4A094FF-68A5-4F9E-A97D-47B206A02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717171"/>
                </a:solidFill>
              </a:defRPr>
            </a:pPr>
            <a:r>
              <a:rPr sz="750">
                <a:solidFill>
                  <a:srgbClr val="717171"/>
                </a:solidFill>
              </a:rPr>
              <a:t>资料来源：会议笔录分析总结_优化版(1).docx，仅基于原文整理</a:t>
            </a:r>
          </a:p>
        </p:txBody>
      </p:sp>
      <p:sp>
        <p:nvSpPr>
          <p:cNvPr id="5" name="page-13">
            <a:extLst xmlns:a="http://schemas.openxmlformats.org/drawingml/2006/main">
              <a:ext uri="{FF2B5EF4-FFF2-40B4-BE49-F238E27FC236}">
                <a16:creationId xmlns:a16="http://schemas.microsoft.com/office/drawing/2014/main" id="{467230CC-1628-4185-85B7-5726C4353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912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717171"/>
                </a:solidFill>
              </a:defRPr>
            </a:pPr>
            <a:r>
              <a:rPr sz="750">
                <a:solidFill>
                  <a:srgbClr val="717171"/>
                </a:solidFill>
              </a:rPr>
              <a:t>13</a:t>
            </a:r>
          </a:p>
        </p:txBody>
      </p:sp>
      <p:sp>
        <p:nvSpPr>
          <p:cNvPr id="6" name="kicker-13">
            <a:extLst xmlns:a="http://schemas.openxmlformats.org/drawingml/2006/main">
              <a:ext uri="{FF2B5EF4-FFF2-40B4-BE49-F238E27FC236}">
                <a16:creationId xmlns:a16="http://schemas.microsoft.com/office/drawing/2014/main" id="{B1C0204F-FA06-419C-8F72-F46B0100F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77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06124"/>
                </a:solidFill>
              </a:defRPr>
            </a:pPr>
            <a:r>
              <a:rPr sz="825" b="1">
                <a:solidFill>
                  <a:srgbClr val="F06124"/>
                </a:solidFill>
              </a:rPr>
              <a:t>ECOSYSTEM &amp; GTM</a:t>
            </a:r>
          </a:p>
        </p:txBody>
      </p:sp>
      <p:sp>
        <p:nvSpPr>
          <p:cNvPr id="7" name="title-13">
            <a:extLst xmlns:a="http://schemas.openxmlformats.org/drawingml/2006/main">
              <a:ext uri="{FF2B5EF4-FFF2-40B4-BE49-F238E27FC236}">
                <a16:creationId xmlns:a16="http://schemas.microsoft.com/office/drawing/2014/main" id="{9309C858-559E-4ADA-8016-AFF14DE45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1818"/>
                </a:solidFill>
              </a:defRPr>
            </a:pPr>
            <a:r>
              <a:rPr sz="2100" b="1">
                <a:solidFill>
                  <a:srgbClr val="181818"/>
                </a:solidFill>
              </a:rPr>
              <a:t>生态与传播建议：不是堆功能，而是围绕真实使用场景降低门槛</a:t>
            </a:r>
          </a:p>
        </p:txBody>
      </p:sp>
      <p:sp>
        <p:nvSpPr>
          <p:cNvPr id="8" name="eco-top-band">
            <a:extLst xmlns:a="http://schemas.openxmlformats.org/drawingml/2006/main">
              <a:ext uri="{FF2B5EF4-FFF2-40B4-BE49-F238E27FC236}">
                <a16:creationId xmlns:a16="http://schemas.microsoft.com/office/drawing/2014/main" id="{7752F090-D1A4-46F5-BEFA-E21802F4D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76350"/>
            <a:ext cx="10515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4"/>
          </a:solidFill>
          <a:ln xmlns:a="http://schemas.openxmlformats.org/drawingml/2006/main" w="0">
            <a:solidFill>
              <a:srgbClr val="141414"/>
            </a:solidFill>
            <a:prstDash val="solid"/>
          </a:ln>
        </p:spPr>
      </p:sp>
      <p:sp>
        <p:nvSpPr>
          <p:cNvPr id="9" name="eco-top-text">
            <a:extLst xmlns:a="http://schemas.openxmlformats.org/drawingml/2006/main">
              <a:ext uri="{FF2B5EF4-FFF2-40B4-BE49-F238E27FC236}">
                <a16:creationId xmlns:a16="http://schemas.microsoft.com/office/drawing/2014/main" id="{29E40A5D-80BA-481C-AEA0-7A1172998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323975"/>
            <a:ext cx="10325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生态原则: 生态件应服务高频场景和易理解收益，而不是只服务少数硬核越野玩家。</a:t>
            </a:r>
          </a:p>
        </p:txBody>
      </p:sp>
      <p:sp>
        <p:nvSpPr>
          <p:cNvPr id="10" name="eco-h-0">
            <a:extLst xmlns:a="http://schemas.openxmlformats.org/drawingml/2006/main">
              <a:ext uri="{FF2B5EF4-FFF2-40B4-BE49-F238E27FC236}">
                <a16:creationId xmlns:a16="http://schemas.microsoft.com/office/drawing/2014/main" id="{D81FDABE-D974-47AE-A250-7E2785325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24000"/>
            <a:ext cx="1047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8D56"/>
          </a:solidFill>
          <a:ln xmlns:a="http://schemas.openxmlformats.org/drawingml/2006/main" w="0">
            <a:solidFill>
              <a:srgbClr val="4B8D56"/>
            </a:solidFill>
            <a:prstDash val="solid"/>
          </a:ln>
        </p:spPr>
      </p:sp>
      <p:sp>
        <p:nvSpPr>
          <p:cNvPr id="11" name="eco-ht-0">
            <a:extLst xmlns:a="http://schemas.openxmlformats.org/drawingml/2006/main">
              <a:ext uri="{FF2B5EF4-FFF2-40B4-BE49-F238E27FC236}">
                <a16:creationId xmlns:a16="http://schemas.microsoft.com/office/drawing/2014/main" id="{C36DE4CB-F627-454C-B65D-8F6A5D410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58115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模块</a:t>
            </a:r>
          </a:p>
        </p:txBody>
      </p:sp>
      <p:sp>
        <p:nvSpPr>
          <p:cNvPr id="12" name="eco-h-1">
            <a:extLst xmlns:a="http://schemas.openxmlformats.org/drawingml/2006/main">
              <a:ext uri="{FF2B5EF4-FFF2-40B4-BE49-F238E27FC236}">
                <a16:creationId xmlns:a16="http://schemas.microsoft.com/office/drawing/2014/main" id="{C6CDFA8A-B1C6-4088-852A-AFD413F4D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524000"/>
            <a:ext cx="1676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8D56"/>
          </a:solidFill>
          <a:ln xmlns:a="http://schemas.openxmlformats.org/drawingml/2006/main" w="0">
            <a:solidFill>
              <a:srgbClr val="4B8D56"/>
            </a:solidFill>
            <a:prstDash val="solid"/>
          </a:ln>
        </p:spPr>
      </p:sp>
      <p:sp>
        <p:nvSpPr>
          <p:cNvPr id="13" name="eco-ht-1">
            <a:extLst xmlns:a="http://schemas.openxmlformats.org/drawingml/2006/main">
              <a:ext uri="{FF2B5EF4-FFF2-40B4-BE49-F238E27FC236}">
                <a16:creationId xmlns:a16="http://schemas.microsoft.com/office/drawing/2014/main" id="{C5A1DD36-BAFD-4D58-835B-B7073CBAD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1581150"/>
            <a:ext cx="1562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典型场景</a:t>
            </a:r>
          </a:p>
        </p:txBody>
      </p:sp>
      <p:sp>
        <p:nvSpPr>
          <p:cNvPr id="14" name="eco-h-2">
            <a:extLst xmlns:a="http://schemas.openxmlformats.org/drawingml/2006/main">
              <a:ext uri="{FF2B5EF4-FFF2-40B4-BE49-F238E27FC236}">
                <a16:creationId xmlns:a16="http://schemas.microsoft.com/office/drawing/2014/main" id="{2E637B22-C813-4F81-BB5A-DD4165D2D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524000"/>
            <a:ext cx="2362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8D56"/>
          </a:solidFill>
          <a:ln xmlns:a="http://schemas.openxmlformats.org/drawingml/2006/main" w="0">
            <a:solidFill>
              <a:srgbClr val="4B8D56"/>
            </a:solidFill>
            <a:prstDash val="solid"/>
          </a:ln>
        </p:spPr>
      </p:sp>
      <p:sp>
        <p:nvSpPr>
          <p:cNvPr id="15" name="eco-ht-2">
            <a:extLst xmlns:a="http://schemas.openxmlformats.org/drawingml/2006/main">
              <a:ext uri="{FF2B5EF4-FFF2-40B4-BE49-F238E27FC236}">
                <a16:creationId xmlns:a16="http://schemas.microsoft.com/office/drawing/2014/main" id="{D08AD3AD-2243-47DA-AA97-02FA7FD24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581150"/>
            <a:ext cx="2247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用户价值</a:t>
            </a:r>
          </a:p>
        </p:txBody>
      </p:sp>
      <p:sp>
        <p:nvSpPr>
          <p:cNvPr id="16" name="eco-h-3">
            <a:extLst xmlns:a="http://schemas.openxmlformats.org/drawingml/2006/main">
              <a:ext uri="{FF2B5EF4-FFF2-40B4-BE49-F238E27FC236}">
                <a16:creationId xmlns:a16="http://schemas.microsoft.com/office/drawing/2014/main" id="{41C11C5F-51C6-40C5-8D71-B94F7DA41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524000"/>
            <a:ext cx="2533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8D56"/>
          </a:solidFill>
          <a:ln xmlns:a="http://schemas.openxmlformats.org/drawingml/2006/main" w="0">
            <a:solidFill>
              <a:srgbClr val="4B8D56"/>
            </a:solidFill>
            <a:prstDash val="solid"/>
          </a:ln>
        </p:spPr>
      </p:sp>
      <p:sp>
        <p:nvSpPr>
          <p:cNvPr id="17" name="eco-ht-3">
            <a:extLst xmlns:a="http://schemas.openxmlformats.org/drawingml/2006/main">
              <a:ext uri="{FF2B5EF4-FFF2-40B4-BE49-F238E27FC236}">
                <a16:creationId xmlns:a16="http://schemas.microsoft.com/office/drawing/2014/main" id="{215E9FC2-4950-4A45-83E7-046BC7B4C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581150"/>
            <a:ext cx="2419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问题</a:t>
            </a:r>
          </a:p>
        </p:txBody>
      </p:sp>
      <p:sp>
        <p:nvSpPr>
          <p:cNvPr id="18" name="eco-h-4">
            <a:extLst xmlns:a="http://schemas.openxmlformats.org/drawingml/2006/main">
              <a:ext uri="{FF2B5EF4-FFF2-40B4-BE49-F238E27FC236}">
                <a16:creationId xmlns:a16="http://schemas.microsoft.com/office/drawing/2014/main" id="{50BDBC2B-F193-459D-B99F-2BC4F2318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524000"/>
            <a:ext cx="2895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8D56"/>
          </a:solidFill>
          <a:ln xmlns:a="http://schemas.openxmlformats.org/drawingml/2006/main" w="0">
            <a:solidFill>
              <a:srgbClr val="4B8D56"/>
            </a:solidFill>
            <a:prstDash val="solid"/>
          </a:ln>
        </p:spPr>
      </p:sp>
      <p:sp>
        <p:nvSpPr>
          <p:cNvPr id="19" name="eco-ht-4">
            <a:extLst xmlns:a="http://schemas.openxmlformats.org/drawingml/2006/main">
              <a:ext uri="{FF2B5EF4-FFF2-40B4-BE49-F238E27FC236}">
                <a16:creationId xmlns:a16="http://schemas.microsoft.com/office/drawing/2014/main" id="{17D31A7B-3EA6-4A02-8862-1CBE825A8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581150"/>
            <a:ext cx="2781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建议</a:t>
            </a:r>
          </a:p>
        </p:txBody>
      </p:sp>
      <p:sp>
        <p:nvSpPr>
          <p:cNvPr id="20" name="eco-c-0-0">
            <a:extLst xmlns:a="http://schemas.openxmlformats.org/drawingml/2006/main">
              <a:ext uri="{FF2B5EF4-FFF2-40B4-BE49-F238E27FC236}">
                <a16:creationId xmlns:a16="http://schemas.microsoft.com/office/drawing/2014/main" id="{51226548-B268-42D5-8DA4-67498D2CA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28800"/>
            <a:ext cx="1047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1" name="eco-ct-0-0">
            <a:extLst xmlns:a="http://schemas.openxmlformats.org/drawingml/2006/main">
              <a:ext uri="{FF2B5EF4-FFF2-40B4-BE49-F238E27FC236}">
                <a16:creationId xmlns:a16="http://schemas.microsoft.com/office/drawing/2014/main" id="{5BB0821B-9CC4-41B2-A407-AD5447E39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85950"/>
            <a:ext cx="933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81818"/>
                </a:solidFill>
              </a:defRPr>
            </a:pPr>
            <a:r>
              <a:rPr sz="825" b="1">
                <a:solidFill>
                  <a:srgbClr val="181818"/>
                </a:solidFill>
              </a:rPr>
              <a:t>氧魔方</a:t>
            </a:r>
          </a:p>
        </p:txBody>
      </p:sp>
      <p:sp>
        <p:nvSpPr>
          <p:cNvPr id="22" name="eco-c-0-1">
            <a:extLst xmlns:a="http://schemas.openxmlformats.org/drawingml/2006/main">
              <a:ext uri="{FF2B5EF4-FFF2-40B4-BE49-F238E27FC236}">
                <a16:creationId xmlns:a16="http://schemas.microsoft.com/office/drawing/2014/main" id="{F60C3512-5A0F-4920-98C1-4D9F10A00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828800"/>
            <a:ext cx="16764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3" name="eco-ct-0-1">
            <a:extLst xmlns:a="http://schemas.openxmlformats.org/drawingml/2006/main">
              <a:ext uri="{FF2B5EF4-FFF2-40B4-BE49-F238E27FC236}">
                <a16:creationId xmlns:a16="http://schemas.microsoft.com/office/drawing/2014/main" id="{8233F152-2491-4565-AA0B-11EF1A85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1885950"/>
            <a:ext cx="1562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81818"/>
                </a:solidFill>
              </a:defRPr>
            </a:pPr>
            <a:r>
              <a:rPr sz="750" b="0">
                <a:solidFill>
                  <a:srgbClr val="181818"/>
                </a:solidFill>
              </a:rPr>
              <a:t>高原、318、露营、酒店</a:t>
            </a:r>
          </a:p>
        </p:txBody>
      </p:sp>
      <p:sp>
        <p:nvSpPr>
          <p:cNvPr id="24" name="eco-c-0-2">
            <a:extLst xmlns:a="http://schemas.openxmlformats.org/drawingml/2006/main">
              <a:ext uri="{FF2B5EF4-FFF2-40B4-BE49-F238E27FC236}">
                <a16:creationId xmlns:a16="http://schemas.microsoft.com/office/drawing/2014/main" id="{51C14267-BEFE-4EA6-8B81-C2C7B22DD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828800"/>
            <a:ext cx="2362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5" name="eco-ct-0-2">
            <a:extLst xmlns:a="http://schemas.openxmlformats.org/drawingml/2006/main">
              <a:ext uri="{FF2B5EF4-FFF2-40B4-BE49-F238E27FC236}">
                <a16:creationId xmlns:a16="http://schemas.microsoft.com/office/drawing/2014/main" id="{55C6DA15-7DF4-47E7-B5A2-141303C07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885950"/>
            <a:ext cx="2247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81818"/>
                </a:solidFill>
              </a:defRPr>
            </a:pPr>
            <a:r>
              <a:rPr sz="750" b="0">
                <a:solidFill>
                  <a:srgbClr val="181818"/>
                </a:solidFill>
              </a:rPr>
              <a:t>高原价值易理解，可车内使用也可背包携带</a:t>
            </a:r>
          </a:p>
        </p:txBody>
      </p:sp>
      <p:sp>
        <p:nvSpPr>
          <p:cNvPr id="26" name="eco-c-0-3">
            <a:extLst xmlns:a="http://schemas.openxmlformats.org/drawingml/2006/main">
              <a:ext uri="{FF2B5EF4-FFF2-40B4-BE49-F238E27FC236}">
                <a16:creationId xmlns:a16="http://schemas.microsoft.com/office/drawing/2014/main" id="{4A09A927-D6A0-45B8-B70A-C55D1BC34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828800"/>
            <a:ext cx="25336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7" name="eco-ct-0-3">
            <a:extLst xmlns:a="http://schemas.openxmlformats.org/drawingml/2006/main">
              <a:ext uri="{FF2B5EF4-FFF2-40B4-BE49-F238E27FC236}">
                <a16:creationId xmlns:a16="http://schemas.microsoft.com/office/drawing/2014/main" id="{30E4CCB0-BC15-4469-B5FD-B59B80188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885950"/>
            <a:ext cx="2419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81818"/>
                </a:solidFill>
              </a:defRPr>
            </a:pPr>
            <a:r>
              <a:rPr sz="750" b="0">
                <a:solidFill>
                  <a:srgbClr val="181818"/>
                </a:solidFill>
              </a:rPr>
              <a:t>低频用户担心闲置</a:t>
            </a:r>
          </a:p>
        </p:txBody>
      </p:sp>
      <p:sp>
        <p:nvSpPr>
          <p:cNvPr id="28" name="eco-c-0-4">
            <a:extLst xmlns:a="http://schemas.openxmlformats.org/drawingml/2006/main">
              <a:ext uri="{FF2B5EF4-FFF2-40B4-BE49-F238E27FC236}">
                <a16:creationId xmlns:a16="http://schemas.microsoft.com/office/drawing/2014/main" id="{2B905218-4C75-4BBE-822D-2C0C881DB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828800"/>
            <a:ext cx="28956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9" name="eco-ct-0-4">
            <a:extLst xmlns:a="http://schemas.openxmlformats.org/drawingml/2006/main">
              <a:ext uri="{FF2B5EF4-FFF2-40B4-BE49-F238E27FC236}">
                <a16:creationId xmlns:a16="http://schemas.microsoft.com/office/drawing/2014/main" id="{36143D19-23CC-4077-9234-9E2FA304A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885950"/>
            <a:ext cx="2781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81818"/>
                </a:solidFill>
              </a:defRPr>
            </a:pPr>
            <a:r>
              <a:rPr sz="750" b="0">
                <a:solidFill>
                  <a:srgbClr val="181818"/>
                </a:solidFill>
              </a:rPr>
              <a:t>优先作为高原场景标志性生态，支持租赁/试用</a:t>
            </a:r>
          </a:p>
        </p:txBody>
      </p:sp>
      <p:sp>
        <p:nvSpPr>
          <p:cNvPr id="30" name="eco-c-1-0">
            <a:extLst xmlns:a="http://schemas.openxmlformats.org/drawingml/2006/main">
              <a:ext uri="{FF2B5EF4-FFF2-40B4-BE49-F238E27FC236}">
                <a16:creationId xmlns:a16="http://schemas.microsoft.com/office/drawing/2014/main" id="{986C6343-C73C-4EC5-A815-629652506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95550"/>
            <a:ext cx="1047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31" name="eco-ct-1-0">
            <a:extLst xmlns:a="http://schemas.openxmlformats.org/drawingml/2006/main">
              <a:ext uri="{FF2B5EF4-FFF2-40B4-BE49-F238E27FC236}">
                <a16:creationId xmlns:a16="http://schemas.microsoft.com/office/drawing/2014/main" id="{E7EEE1FE-FC55-4C54-88F8-2A29E07FD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52700"/>
            <a:ext cx="933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81818"/>
                </a:solidFill>
              </a:defRPr>
            </a:pPr>
            <a:r>
              <a:rPr sz="825" b="1">
                <a:solidFill>
                  <a:srgbClr val="181818"/>
                </a:solidFill>
              </a:rPr>
              <a:t>水魔方</a:t>
            </a:r>
          </a:p>
        </p:txBody>
      </p:sp>
      <p:sp>
        <p:nvSpPr>
          <p:cNvPr id="32" name="eco-c-1-1">
            <a:extLst xmlns:a="http://schemas.openxmlformats.org/drawingml/2006/main">
              <a:ext uri="{FF2B5EF4-FFF2-40B4-BE49-F238E27FC236}">
                <a16:creationId xmlns:a16="http://schemas.microsoft.com/office/drawing/2014/main" id="{4B621B97-09F4-44C3-9125-68C7DB9CE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495550"/>
            <a:ext cx="16764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33" name="eco-ct-1-1">
            <a:extLst xmlns:a="http://schemas.openxmlformats.org/drawingml/2006/main">
              <a:ext uri="{FF2B5EF4-FFF2-40B4-BE49-F238E27FC236}">
                <a16:creationId xmlns:a16="http://schemas.microsoft.com/office/drawing/2014/main" id="{AE18DD37-3201-4C24-A4E3-715D2DE36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552700"/>
            <a:ext cx="1562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81818"/>
                </a:solidFill>
              </a:defRPr>
            </a:pPr>
            <a:r>
              <a:rPr sz="750" b="0">
                <a:solidFill>
                  <a:srgbClr val="181818"/>
                </a:solidFill>
              </a:rPr>
              <a:t>洗手、洗水果、洗宠物爪、洗车、热水澡</a:t>
            </a:r>
          </a:p>
        </p:txBody>
      </p:sp>
      <p:sp>
        <p:nvSpPr>
          <p:cNvPr id="34" name="eco-c-1-2">
            <a:extLst xmlns:a="http://schemas.openxmlformats.org/drawingml/2006/main">
              <a:ext uri="{FF2B5EF4-FFF2-40B4-BE49-F238E27FC236}">
                <a16:creationId xmlns:a16="http://schemas.microsoft.com/office/drawing/2014/main" id="{8115DF63-7314-45E2-ADAB-9C4C8DE28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495550"/>
            <a:ext cx="2362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35" name="eco-ct-1-2">
            <a:extLst xmlns:a="http://schemas.openxmlformats.org/drawingml/2006/main">
              <a:ext uri="{FF2B5EF4-FFF2-40B4-BE49-F238E27FC236}">
                <a16:creationId xmlns:a16="http://schemas.microsoft.com/office/drawing/2014/main" id="{CB0FC9A3-08B2-4908-94F6-24CE96818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552700"/>
            <a:ext cx="2247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81818"/>
                </a:solidFill>
              </a:defRPr>
            </a:pPr>
            <a:r>
              <a:rPr sz="750" b="0">
                <a:solidFill>
                  <a:srgbClr val="181818"/>
                </a:solidFill>
              </a:rPr>
              <a:t>最贴近日常家庭与户外清洁需求</a:t>
            </a:r>
          </a:p>
        </p:txBody>
      </p:sp>
      <p:sp>
        <p:nvSpPr>
          <p:cNvPr id="36" name="eco-c-1-3">
            <a:extLst xmlns:a="http://schemas.openxmlformats.org/drawingml/2006/main">
              <a:ext uri="{FF2B5EF4-FFF2-40B4-BE49-F238E27FC236}">
                <a16:creationId xmlns:a16="http://schemas.microsoft.com/office/drawing/2014/main" id="{481834B7-F2F6-44C9-9427-BC66C83FF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495550"/>
            <a:ext cx="25336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37" name="eco-ct-1-3">
            <a:extLst xmlns:a="http://schemas.openxmlformats.org/drawingml/2006/main">
              <a:ext uri="{FF2B5EF4-FFF2-40B4-BE49-F238E27FC236}">
                <a16:creationId xmlns:a16="http://schemas.microsoft.com/office/drawing/2014/main" id="{CAFC9369-1873-49A6-80C7-CAA099AD3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552700"/>
            <a:ext cx="2419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81818"/>
                </a:solidFill>
              </a:defRPr>
            </a:pPr>
            <a:r>
              <a:rPr sz="750" b="0">
                <a:solidFill>
                  <a:srgbClr val="181818"/>
                </a:solidFill>
              </a:rPr>
              <a:t>需要避免复杂操作</a:t>
            </a:r>
          </a:p>
        </p:txBody>
      </p:sp>
      <p:sp>
        <p:nvSpPr>
          <p:cNvPr id="38" name="eco-c-1-4">
            <a:extLst xmlns:a="http://schemas.openxmlformats.org/drawingml/2006/main">
              <a:ext uri="{FF2B5EF4-FFF2-40B4-BE49-F238E27FC236}">
                <a16:creationId xmlns:a16="http://schemas.microsoft.com/office/drawing/2014/main" id="{8439CBB6-82C1-4A51-AAB0-7A7515422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95550"/>
            <a:ext cx="28956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39" name="eco-ct-1-4">
            <a:extLst xmlns:a="http://schemas.openxmlformats.org/drawingml/2006/main">
              <a:ext uri="{FF2B5EF4-FFF2-40B4-BE49-F238E27FC236}">
                <a16:creationId xmlns:a16="http://schemas.microsoft.com/office/drawing/2014/main" id="{378B9870-4349-4221-9588-519C5A85F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552700"/>
            <a:ext cx="2781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81818"/>
                </a:solidFill>
              </a:defRPr>
            </a:pPr>
            <a:r>
              <a:rPr sz="750" b="0">
                <a:solidFill>
                  <a:srgbClr val="181818"/>
                </a:solidFill>
              </a:rPr>
              <a:t>适合作为高频体验型生态件</a:t>
            </a:r>
          </a:p>
        </p:txBody>
      </p:sp>
      <p:sp>
        <p:nvSpPr>
          <p:cNvPr id="40" name="eco-c-2-0">
            <a:extLst xmlns:a="http://schemas.openxmlformats.org/drawingml/2006/main">
              <a:ext uri="{FF2B5EF4-FFF2-40B4-BE49-F238E27FC236}">
                <a16:creationId xmlns:a16="http://schemas.microsoft.com/office/drawing/2014/main" id="{69F4310E-C755-45E8-85C2-C57B08725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62300"/>
            <a:ext cx="1047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41" name="eco-ct-2-0">
            <a:extLst xmlns:a="http://schemas.openxmlformats.org/drawingml/2006/main">
              <a:ext uri="{FF2B5EF4-FFF2-40B4-BE49-F238E27FC236}">
                <a16:creationId xmlns:a16="http://schemas.microsoft.com/office/drawing/2014/main" id="{9972C5B3-CBFF-45A3-BD7A-8427E6E76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19450"/>
            <a:ext cx="933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81818"/>
                </a:solidFill>
              </a:defRPr>
            </a:pPr>
            <a:r>
              <a:rPr sz="825" b="1">
                <a:solidFill>
                  <a:srgbClr val="181818"/>
                </a:solidFill>
              </a:rPr>
              <a:t>居魔方</a:t>
            </a:r>
          </a:p>
        </p:txBody>
      </p:sp>
      <p:sp>
        <p:nvSpPr>
          <p:cNvPr id="42" name="eco-c-2-1">
            <a:extLst xmlns:a="http://schemas.openxmlformats.org/drawingml/2006/main">
              <a:ext uri="{FF2B5EF4-FFF2-40B4-BE49-F238E27FC236}">
                <a16:creationId xmlns:a16="http://schemas.microsoft.com/office/drawing/2014/main" id="{DAEB5A7C-E747-4585-BD1A-A2D405504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162300"/>
            <a:ext cx="16764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43" name="eco-ct-2-1">
            <a:extLst xmlns:a="http://schemas.openxmlformats.org/drawingml/2006/main">
              <a:ext uri="{FF2B5EF4-FFF2-40B4-BE49-F238E27FC236}">
                <a16:creationId xmlns:a16="http://schemas.microsoft.com/office/drawing/2014/main" id="{8AC48AD3-7A5F-4B30-9842-8BB529BDA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219450"/>
            <a:ext cx="1562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81818"/>
                </a:solidFill>
              </a:defRPr>
            </a:pPr>
            <a:r>
              <a:rPr sz="750" b="0">
                <a:solidFill>
                  <a:srgbClr val="181818"/>
                </a:solidFill>
              </a:rPr>
              <a:t>车宿、露营、帐篷、车垫</a:t>
            </a:r>
          </a:p>
        </p:txBody>
      </p:sp>
      <p:sp>
        <p:nvSpPr>
          <p:cNvPr id="44" name="eco-c-2-2">
            <a:extLst xmlns:a="http://schemas.openxmlformats.org/drawingml/2006/main">
              <a:ext uri="{FF2B5EF4-FFF2-40B4-BE49-F238E27FC236}">
                <a16:creationId xmlns:a16="http://schemas.microsoft.com/office/drawing/2014/main" id="{A0D8B776-55A0-465A-A2D2-4DD94B468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162300"/>
            <a:ext cx="2362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45" name="eco-ct-2-2">
            <a:extLst xmlns:a="http://schemas.openxmlformats.org/drawingml/2006/main">
              <a:ext uri="{FF2B5EF4-FFF2-40B4-BE49-F238E27FC236}">
                <a16:creationId xmlns:a16="http://schemas.microsoft.com/office/drawing/2014/main" id="{511A904A-984F-4E43-B88E-BCD41C01D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219450"/>
            <a:ext cx="2247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81818"/>
                </a:solidFill>
              </a:defRPr>
            </a:pPr>
            <a:r>
              <a:rPr sz="750" b="0">
                <a:solidFill>
                  <a:srgbClr val="181818"/>
                </a:solidFill>
              </a:rPr>
              <a:t>能支撑车宿与家庭露营场景</a:t>
            </a:r>
          </a:p>
        </p:txBody>
      </p:sp>
      <p:sp>
        <p:nvSpPr>
          <p:cNvPr id="46" name="eco-c-2-3">
            <a:extLst xmlns:a="http://schemas.openxmlformats.org/drawingml/2006/main">
              <a:ext uri="{FF2B5EF4-FFF2-40B4-BE49-F238E27FC236}">
                <a16:creationId xmlns:a16="http://schemas.microsoft.com/office/drawing/2014/main" id="{5589A878-C576-4142-BA9E-E1AF680D7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162300"/>
            <a:ext cx="25336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47" name="eco-ct-2-3">
            <a:extLst xmlns:a="http://schemas.openxmlformats.org/drawingml/2006/main">
              <a:ext uri="{FF2B5EF4-FFF2-40B4-BE49-F238E27FC236}">
                <a16:creationId xmlns:a16="http://schemas.microsoft.com/office/drawing/2014/main" id="{FE397541-9132-4726-9063-3F120E981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219450"/>
            <a:ext cx="2419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81818"/>
                </a:solidFill>
              </a:defRPr>
            </a:pPr>
            <a:r>
              <a:rPr sz="750" b="0">
                <a:solidFill>
                  <a:srgbClr val="181818"/>
                </a:solidFill>
              </a:rPr>
              <a:t>核心痛点是搭建麻烦</a:t>
            </a:r>
          </a:p>
        </p:txBody>
      </p:sp>
      <p:sp>
        <p:nvSpPr>
          <p:cNvPr id="48" name="eco-c-2-4">
            <a:extLst xmlns:a="http://schemas.openxmlformats.org/drawingml/2006/main">
              <a:ext uri="{FF2B5EF4-FFF2-40B4-BE49-F238E27FC236}">
                <a16:creationId xmlns:a16="http://schemas.microsoft.com/office/drawing/2014/main" id="{9EDDCA2A-E3A8-4486-9894-A0C632BCC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62300"/>
            <a:ext cx="28956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49" name="eco-ct-2-4">
            <a:extLst xmlns:a="http://schemas.openxmlformats.org/drawingml/2006/main">
              <a:ext uri="{FF2B5EF4-FFF2-40B4-BE49-F238E27FC236}">
                <a16:creationId xmlns:a16="http://schemas.microsoft.com/office/drawing/2014/main" id="{21374BF6-9C34-4F29-A124-EE5F7B91A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219450"/>
            <a:ext cx="2781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81818"/>
                </a:solidFill>
              </a:defRPr>
            </a:pPr>
            <a:r>
              <a:rPr sz="750" b="0">
                <a:solidFill>
                  <a:srgbClr val="181818"/>
                </a:solidFill>
              </a:rPr>
              <a:t>强调一键化、模块化和标准化</a:t>
            </a:r>
          </a:p>
        </p:txBody>
      </p:sp>
      <p:sp>
        <p:nvSpPr>
          <p:cNvPr id="50" name="eco-c-3-0">
            <a:extLst xmlns:a="http://schemas.openxmlformats.org/drawingml/2006/main">
              <a:ext uri="{FF2B5EF4-FFF2-40B4-BE49-F238E27FC236}">
                <a16:creationId xmlns:a16="http://schemas.microsoft.com/office/drawing/2014/main" id="{FC14ECEE-B7BB-4AD7-84B9-F474B7CDC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29050"/>
            <a:ext cx="1047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51" name="eco-ct-3-0">
            <a:extLst xmlns:a="http://schemas.openxmlformats.org/drawingml/2006/main">
              <a:ext uri="{FF2B5EF4-FFF2-40B4-BE49-F238E27FC236}">
                <a16:creationId xmlns:a16="http://schemas.microsoft.com/office/drawing/2014/main" id="{DA626E65-1A69-4DDB-8375-9EC9FB367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86200"/>
            <a:ext cx="933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81818"/>
                </a:solidFill>
              </a:defRPr>
            </a:pPr>
            <a:r>
              <a:rPr sz="825" b="1">
                <a:solidFill>
                  <a:srgbClr val="181818"/>
                </a:solidFill>
              </a:rPr>
              <a:t>空魔方</a:t>
            </a:r>
          </a:p>
        </p:txBody>
      </p:sp>
      <p:sp>
        <p:nvSpPr>
          <p:cNvPr id="52" name="eco-c-3-1">
            <a:extLst xmlns:a="http://schemas.openxmlformats.org/drawingml/2006/main">
              <a:ext uri="{FF2B5EF4-FFF2-40B4-BE49-F238E27FC236}">
                <a16:creationId xmlns:a16="http://schemas.microsoft.com/office/drawing/2014/main" id="{57AA8DAF-DBA4-4CF0-A57C-529485540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829050"/>
            <a:ext cx="16764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53" name="eco-ct-3-1">
            <a:extLst xmlns:a="http://schemas.openxmlformats.org/drawingml/2006/main">
              <a:ext uri="{FF2B5EF4-FFF2-40B4-BE49-F238E27FC236}">
                <a16:creationId xmlns:a16="http://schemas.microsoft.com/office/drawing/2014/main" id="{CE6E39D2-5162-42B0-9D50-87450C047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886200"/>
            <a:ext cx="1562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81818"/>
                </a:solidFill>
              </a:defRPr>
            </a:pPr>
            <a:r>
              <a:rPr sz="750" b="0">
                <a:solidFill>
                  <a:srgbClr val="181818"/>
                </a:solidFill>
              </a:rPr>
              <a:t>探路、外挂、无人机联动</a:t>
            </a:r>
          </a:p>
        </p:txBody>
      </p:sp>
      <p:sp>
        <p:nvSpPr>
          <p:cNvPr id="54" name="eco-c-3-2">
            <a:extLst xmlns:a="http://schemas.openxmlformats.org/drawingml/2006/main">
              <a:ext uri="{FF2B5EF4-FFF2-40B4-BE49-F238E27FC236}">
                <a16:creationId xmlns:a16="http://schemas.microsoft.com/office/drawing/2014/main" id="{36316167-7F2A-4C6C-86A3-2E49CE051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829050"/>
            <a:ext cx="2362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55" name="eco-ct-3-2">
            <a:extLst xmlns:a="http://schemas.openxmlformats.org/drawingml/2006/main">
              <a:ext uri="{FF2B5EF4-FFF2-40B4-BE49-F238E27FC236}">
                <a16:creationId xmlns:a16="http://schemas.microsoft.com/office/drawing/2014/main" id="{02604123-D556-47C2-925E-9DC351E2E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886200"/>
            <a:ext cx="2247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81818"/>
                </a:solidFill>
              </a:defRPr>
            </a:pPr>
            <a:r>
              <a:rPr sz="750" b="0">
                <a:solidFill>
                  <a:srgbClr val="181818"/>
                </a:solidFill>
              </a:rPr>
              <a:t>具备想象力，可强化科技探索气质</a:t>
            </a:r>
          </a:p>
        </p:txBody>
      </p:sp>
      <p:sp>
        <p:nvSpPr>
          <p:cNvPr id="56" name="eco-c-3-3">
            <a:extLst xmlns:a="http://schemas.openxmlformats.org/drawingml/2006/main">
              <a:ext uri="{FF2B5EF4-FFF2-40B4-BE49-F238E27FC236}">
                <a16:creationId xmlns:a16="http://schemas.microsoft.com/office/drawing/2014/main" id="{9DC1E6C6-C3B3-431A-9A09-304CEAB4D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829050"/>
            <a:ext cx="25336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57" name="eco-ct-3-3">
            <a:extLst xmlns:a="http://schemas.openxmlformats.org/drawingml/2006/main">
              <a:ext uri="{FF2B5EF4-FFF2-40B4-BE49-F238E27FC236}">
                <a16:creationId xmlns:a16="http://schemas.microsoft.com/office/drawing/2014/main" id="{7B8695D9-8477-4A43-A419-5750D15F9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886200"/>
            <a:ext cx="2419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81818"/>
                </a:solidFill>
              </a:defRPr>
            </a:pPr>
            <a:r>
              <a:rPr sz="750" b="0">
                <a:solidFill>
                  <a:srgbClr val="181818"/>
                </a:solidFill>
              </a:rPr>
              <a:t>必须证明防尘、防震、防水和联动能力</a:t>
            </a:r>
          </a:p>
        </p:txBody>
      </p:sp>
      <p:sp>
        <p:nvSpPr>
          <p:cNvPr id="58" name="eco-c-3-4">
            <a:extLst xmlns:a="http://schemas.openxmlformats.org/drawingml/2006/main">
              <a:ext uri="{FF2B5EF4-FFF2-40B4-BE49-F238E27FC236}">
                <a16:creationId xmlns:a16="http://schemas.microsoft.com/office/drawing/2014/main" id="{503C2ADD-2804-4395-997A-82A1F8DEE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829050"/>
            <a:ext cx="28956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59" name="eco-ct-3-4">
            <a:extLst xmlns:a="http://schemas.openxmlformats.org/drawingml/2006/main">
              <a:ext uri="{FF2B5EF4-FFF2-40B4-BE49-F238E27FC236}">
                <a16:creationId xmlns:a16="http://schemas.microsoft.com/office/drawing/2014/main" id="{98F1B380-BAD6-4762-85B6-11DCD5879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886200"/>
            <a:ext cx="2781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81818"/>
                </a:solidFill>
              </a:defRPr>
            </a:pPr>
            <a:r>
              <a:rPr sz="750" b="0">
                <a:solidFill>
                  <a:srgbClr val="181818"/>
                </a:solidFill>
              </a:rPr>
              <a:t>适合作为高端探索型生态</a:t>
            </a:r>
          </a:p>
        </p:txBody>
      </p:sp>
      <p:sp>
        <p:nvSpPr>
          <p:cNvPr id="60" name="eco-chip-chip-0">
            <a:extLst xmlns:a="http://schemas.openxmlformats.org/drawingml/2006/main">
              <a:ext uri="{FF2B5EF4-FFF2-40B4-BE49-F238E27FC236}">
                <a16:creationId xmlns:a16="http://schemas.microsoft.com/office/drawing/2014/main" id="{513A7C8A-F49D-48EC-93E8-F0CEA9AAC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91050"/>
            <a:ext cx="2552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EB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61" name="eco-chip-chip-text-0">
            <a:extLst xmlns:a="http://schemas.openxmlformats.org/drawingml/2006/main">
              <a:ext uri="{FF2B5EF4-FFF2-40B4-BE49-F238E27FC236}">
                <a16:creationId xmlns:a16="http://schemas.microsoft.com/office/drawing/2014/main" id="{09EE29A7-3806-40DE-BFA0-374231BC7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48200"/>
            <a:ext cx="2438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81818"/>
                </a:solidFill>
              </a:defRPr>
            </a:pPr>
            <a:r>
              <a:rPr sz="675" b="1">
                <a:solidFill>
                  <a:srgbClr val="181818"/>
                </a:solidFill>
              </a:rPr>
              <a:t>高原供氧</a:t>
            </a:r>
          </a:p>
        </p:txBody>
      </p:sp>
      <p:sp>
        <p:nvSpPr>
          <p:cNvPr id="62" name="eco-chip-chip-1">
            <a:extLst xmlns:a="http://schemas.openxmlformats.org/drawingml/2006/main">
              <a:ext uri="{FF2B5EF4-FFF2-40B4-BE49-F238E27FC236}">
                <a16:creationId xmlns:a16="http://schemas.microsoft.com/office/drawing/2014/main" id="{EA2D80AD-6771-4923-B566-F9197AB6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591050"/>
            <a:ext cx="2552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5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63" name="eco-chip-chip-text-1">
            <a:extLst xmlns:a="http://schemas.openxmlformats.org/drawingml/2006/main">
              <a:ext uri="{FF2B5EF4-FFF2-40B4-BE49-F238E27FC236}">
                <a16:creationId xmlns:a16="http://schemas.microsoft.com/office/drawing/2014/main" id="{D69ACC4C-021B-49E4-9515-A4E2BAC90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648200"/>
            <a:ext cx="2438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81818"/>
                </a:solidFill>
              </a:defRPr>
            </a:pPr>
            <a:r>
              <a:rPr sz="675" b="1">
                <a:solidFill>
                  <a:srgbClr val="181818"/>
                </a:solidFill>
              </a:rPr>
              <a:t>户外清洁</a:t>
            </a:r>
          </a:p>
        </p:txBody>
      </p:sp>
      <p:sp>
        <p:nvSpPr>
          <p:cNvPr id="64" name="eco-chip-chip-2">
            <a:extLst xmlns:a="http://schemas.openxmlformats.org/drawingml/2006/main">
              <a:ext uri="{FF2B5EF4-FFF2-40B4-BE49-F238E27FC236}">
                <a16:creationId xmlns:a16="http://schemas.microsoft.com/office/drawing/2014/main" id="{6BE69E12-81BF-422C-B991-F5F7C31FD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591050"/>
            <a:ext cx="2552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CE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65" name="eco-chip-chip-text-2">
            <a:extLst xmlns:a="http://schemas.openxmlformats.org/drawingml/2006/main">
              <a:ext uri="{FF2B5EF4-FFF2-40B4-BE49-F238E27FC236}">
                <a16:creationId xmlns:a16="http://schemas.microsoft.com/office/drawing/2014/main" id="{8E29286F-A723-4440-A76E-A66AC8EBB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48200"/>
            <a:ext cx="2438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81818"/>
                </a:solidFill>
              </a:defRPr>
            </a:pPr>
            <a:r>
              <a:rPr sz="675" b="1">
                <a:solidFill>
                  <a:srgbClr val="181818"/>
                </a:solidFill>
              </a:rPr>
              <a:t>车宿露营</a:t>
            </a:r>
          </a:p>
        </p:txBody>
      </p:sp>
      <p:sp>
        <p:nvSpPr>
          <p:cNvPr id="66" name="eco-chip-chip-3">
            <a:extLst xmlns:a="http://schemas.openxmlformats.org/drawingml/2006/main">
              <a:ext uri="{FF2B5EF4-FFF2-40B4-BE49-F238E27FC236}">
                <a16:creationId xmlns:a16="http://schemas.microsoft.com/office/drawing/2014/main" id="{A36F830B-E215-4B09-B196-6CD449D09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591050"/>
            <a:ext cx="2552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E9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67" name="eco-chip-chip-text-3">
            <a:extLst xmlns:a="http://schemas.openxmlformats.org/drawingml/2006/main">
              <a:ext uri="{FF2B5EF4-FFF2-40B4-BE49-F238E27FC236}">
                <a16:creationId xmlns:a16="http://schemas.microsoft.com/office/drawing/2014/main" id="{AD801044-A1ED-4623-9D28-FDEC8D87C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648200"/>
            <a:ext cx="2438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81818"/>
                </a:solidFill>
              </a:defRPr>
            </a:pPr>
            <a:r>
              <a:rPr sz="675" b="1">
                <a:solidFill>
                  <a:srgbClr val="181818"/>
                </a:solidFill>
              </a:rPr>
              <a:t>科技探索</a:t>
            </a:r>
          </a:p>
        </p:txBody>
      </p:sp>
      <p:sp>
        <p:nvSpPr>
          <p:cNvPr id="68" name="gtm-panel">
            <a:extLst xmlns:a="http://schemas.openxmlformats.org/drawingml/2006/main">
              <a:ext uri="{FF2B5EF4-FFF2-40B4-BE49-F238E27FC236}">
                <a16:creationId xmlns:a16="http://schemas.microsoft.com/office/drawing/2014/main" id="{B00DAEB4-AF82-4A16-9D92-5D4B1694A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0"/>
            <a:ext cx="105156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69" name="gtm-header">
            <a:extLst xmlns:a="http://schemas.openxmlformats.org/drawingml/2006/main">
              <a:ext uri="{FF2B5EF4-FFF2-40B4-BE49-F238E27FC236}">
                <a16:creationId xmlns:a16="http://schemas.microsoft.com/office/drawing/2014/main" id="{749017D7-119B-4063-B21C-6126F1D8E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0"/>
            <a:ext cx="10515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8D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gtm-title">
            <a:extLst xmlns:a="http://schemas.openxmlformats.org/drawingml/2006/main">
              <a:ext uri="{FF2B5EF4-FFF2-40B4-BE49-F238E27FC236}">
                <a16:creationId xmlns:a16="http://schemas.microsoft.com/office/drawing/2014/main" id="{62706B92-CE35-4191-9ECF-E8189F6FA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91100"/>
            <a:ext cx="10325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传播要点</a:t>
            </a:r>
          </a:p>
        </p:txBody>
      </p:sp>
      <p:sp>
        <p:nvSpPr>
          <p:cNvPr id="71" name="gtm-b-dot-0">
            <a:extLst xmlns:a="http://schemas.openxmlformats.org/drawingml/2006/main">
              <a:ext uri="{FF2B5EF4-FFF2-40B4-BE49-F238E27FC236}">
                <a16:creationId xmlns:a16="http://schemas.microsoft.com/office/drawing/2014/main" id="{0BA6920A-81FB-4229-953D-D40633198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334000"/>
            <a:ext cx="57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1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gtm-b-text-0">
            <a:extLst xmlns:a="http://schemas.openxmlformats.org/drawingml/2006/main">
              <a:ext uri="{FF2B5EF4-FFF2-40B4-BE49-F238E27FC236}">
                <a16:creationId xmlns:a16="http://schemas.microsoft.com/office/drawing/2014/main" id="{FCA384EA-33D4-43E9-B67B-F5263D526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276850"/>
            <a:ext cx="9963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181818"/>
                </a:solidFill>
              </a:defRPr>
            </a:pPr>
            <a:r>
              <a:rPr sz="975">
                <a:solidFill>
                  <a:srgbClr val="181818"/>
                </a:solidFill>
              </a:rPr>
              <a:t>不要只讲“全球第一豪华越野”，而要讲清楚为什么更安全、能去更远、在城市里同样舒适。</a:t>
            </a:r>
          </a:p>
        </p:txBody>
      </p:sp>
      <p:sp>
        <p:nvSpPr>
          <p:cNvPr id="73" name="gtm-b-dot-1">
            <a:extLst xmlns:a="http://schemas.openxmlformats.org/drawingml/2006/main">
              <a:ext uri="{FF2B5EF4-FFF2-40B4-BE49-F238E27FC236}">
                <a16:creationId xmlns:a16="http://schemas.microsoft.com/office/drawing/2014/main" id="{EC8B2CD7-8690-4FF6-ACE8-AEFC77BAD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562600"/>
            <a:ext cx="57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1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gtm-b-text-1">
            <a:extLst xmlns:a="http://schemas.openxmlformats.org/drawingml/2006/main">
              <a:ext uri="{FF2B5EF4-FFF2-40B4-BE49-F238E27FC236}">
                <a16:creationId xmlns:a16="http://schemas.microsoft.com/office/drawing/2014/main" id="{147BD4A6-CC2F-4449-9F5B-D9B6F8900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505450"/>
            <a:ext cx="9963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181818"/>
                </a:solidFill>
              </a:defRPr>
            </a:pPr>
            <a:r>
              <a:rPr sz="975">
                <a:solidFill>
                  <a:srgbClr val="181818"/>
                </a:solidFill>
              </a:rPr>
              <a:t>面向理想/问界强调“智能和舒适不弱 + 大梁与越野安全”；面向硬派越野用户强调“真越野 + 豪华与家庭友好”。</a:t>
            </a:r>
          </a:p>
        </p:txBody>
      </p:sp>
    </p:spTree>
    <p:extLst>
      <p:ext uri="{BB962C8B-B14F-4D97-AF65-F5344CB8AC3E}">
        <p14:creationId xmlns:p14="http://schemas.microsoft.com/office/powerpoint/2010/main" val="73559139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BFB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top-14">
            <a:extLst xmlns:a="http://schemas.openxmlformats.org/drawingml/2006/main">
              <a:ext uri="{FF2B5EF4-FFF2-40B4-BE49-F238E27FC236}">
                <a16:creationId xmlns:a16="http://schemas.microsoft.com/office/drawing/2014/main" id="{30B1DE9B-EF9D-4940-A48A-32C22E40D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mark-14">
            <a:extLst xmlns:a="http://schemas.openxmlformats.org/drawingml/2006/main">
              <a:ext uri="{FF2B5EF4-FFF2-40B4-BE49-F238E27FC236}">
                <a16:creationId xmlns:a16="http://schemas.microsoft.com/office/drawing/2014/main" id="{A7087DE0-721C-4563-A75C-770BFA3AD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14">
            <a:extLst xmlns:a="http://schemas.openxmlformats.org/drawingml/2006/main">
              <a:ext uri="{FF2B5EF4-FFF2-40B4-BE49-F238E27FC236}">
                <a16:creationId xmlns:a16="http://schemas.microsoft.com/office/drawing/2014/main" id="{76FBBB6B-140E-4BD9-9A6F-3B85D59DC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ource-14">
            <a:extLst xmlns:a="http://schemas.openxmlformats.org/drawingml/2006/main">
              <a:ext uri="{FF2B5EF4-FFF2-40B4-BE49-F238E27FC236}">
                <a16:creationId xmlns:a16="http://schemas.microsoft.com/office/drawing/2014/main" id="{C0D8D8C6-436B-4FD1-A882-DAB144E0E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717171"/>
                </a:solidFill>
              </a:defRPr>
            </a:pPr>
            <a:r>
              <a:rPr sz="750">
                <a:solidFill>
                  <a:srgbClr val="717171"/>
                </a:solidFill>
              </a:rPr>
              <a:t>资料来源：会议笔录分析总结_优化版(1).docx，仅基于原文整理</a:t>
            </a:r>
          </a:p>
        </p:txBody>
      </p:sp>
      <p:sp>
        <p:nvSpPr>
          <p:cNvPr id="5" name="page-14">
            <a:extLst xmlns:a="http://schemas.openxmlformats.org/drawingml/2006/main">
              <a:ext uri="{FF2B5EF4-FFF2-40B4-BE49-F238E27FC236}">
                <a16:creationId xmlns:a16="http://schemas.microsoft.com/office/drawing/2014/main" id="{658CEA77-342D-4FA7-874F-941C406E1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912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717171"/>
                </a:solidFill>
              </a:defRPr>
            </a:pPr>
            <a:r>
              <a:rPr sz="750">
                <a:solidFill>
                  <a:srgbClr val="717171"/>
                </a:solidFill>
              </a:rPr>
              <a:t>14</a:t>
            </a:r>
          </a:p>
        </p:txBody>
      </p:sp>
      <p:sp>
        <p:nvSpPr>
          <p:cNvPr id="6" name="kicker-14">
            <a:extLst xmlns:a="http://schemas.openxmlformats.org/drawingml/2006/main">
              <a:ext uri="{FF2B5EF4-FFF2-40B4-BE49-F238E27FC236}">
                <a16:creationId xmlns:a16="http://schemas.microsoft.com/office/drawing/2014/main" id="{752F7875-7DFF-4C6C-9A00-FCA28DC34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77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06124"/>
                </a:solidFill>
              </a:defRPr>
            </a:pPr>
            <a:r>
              <a:rPr sz="825" b="1">
                <a:solidFill>
                  <a:srgbClr val="F06124"/>
                </a:solidFill>
              </a:rPr>
              <a:t>RECOMMENDATIONS</a:t>
            </a:r>
          </a:p>
        </p:txBody>
      </p:sp>
      <p:sp>
        <p:nvSpPr>
          <p:cNvPr id="7" name="title-14">
            <a:extLst xmlns:a="http://schemas.openxmlformats.org/drawingml/2006/main">
              <a:ext uri="{FF2B5EF4-FFF2-40B4-BE49-F238E27FC236}">
                <a16:creationId xmlns:a16="http://schemas.microsoft.com/office/drawing/2014/main" id="{C3AD05BE-DD93-4363-993C-A78B41DB2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1818"/>
                </a:solidFill>
              </a:defRPr>
            </a:pPr>
            <a:r>
              <a:rPr sz="2100" b="1">
                <a:solidFill>
                  <a:srgbClr val="181818"/>
                </a:solidFill>
              </a:rPr>
              <a:t>相关建议：建议以“造型优化 + 配置分层 + 场景传播”三条线并行推进</a:t>
            </a:r>
          </a:p>
        </p:txBody>
      </p:sp>
      <p:sp>
        <p:nvSpPr>
          <p:cNvPr id="8" name="rec-top-band">
            <a:extLst xmlns:a="http://schemas.openxmlformats.org/drawingml/2006/main">
              <a:ext uri="{FF2B5EF4-FFF2-40B4-BE49-F238E27FC236}">
                <a16:creationId xmlns:a16="http://schemas.microsoft.com/office/drawing/2014/main" id="{D059FAA1-D4C2-4D6D-8A00-BBCB9954B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76350"/>
            <a:ext cx="10515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4"/>
          </a:solidFill>
          <a:ln xmlns:a="http://schemas.openxmlformats.org/drawingml/2006/main" w="0">
            <a:solidFill>
              <a:srgbClr val="141414"/>
            </a:solidFill>
            <a:prstDash val="solid"/>
          </a:ln>
        </p:spPr>
      </p:sp>
      <p:sp>
        <p:nvSpPr>
          <p:cNvPr id="9" name="rec-top-text">
            <a:extLst xmlns:a="http://schemas.openxmlformats.org/drawingml/2006/main">
              <a:ext uri="{FF2B5EF4-FFF2-40B4-BE49-F238E27FC236}">
                <a16:creationId xmlns:a16="http://schemas.microsoft.com/office/drawing/2014/main" id="{0C883CE5-5CEA-4D0F-907F-C2A91A254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323975"/>
            <a:ext cx="10325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执行建议: 设计、产品、生态和传播四条线并行推进，先处理最影响用户第一眼判断和成交理解的项目。</a:t>
            </a:r>
          </a:p>
        </p:txBody>
      </p:sp>
      <p:sp>
        <p:nvSpPr>
          <p:cNvPr id="10" name="rec-h-0">
            <a:extLst xmlns:a="http://schemas.openxmlformats.org/drawingml/2006/main">
              <a:ext uri="{FF2B5EF4-FFF2-40B4-BE49-F238E27FC236}">
                <a16:creationId xmlns:a16="http://schemas.microsoft.com/office/drawing/2014/main" id="{5BA3867F-E3E8-4635-AE8A-471506C1F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24000"/>
            <a:ext cx="1485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8D56"/>
          </a:solidFill>
          <a:ln xmlns:a="http://schemas.openxmlformats.org/drawingml/2006/main" w="0">
            <a:solidFill>
              <a:srgbClr val="4B8D56"/>
            </a:solidFill>
            <a:prstDash val="solid"/>
          </a:ln>
        </p:spPr>
      </p:sp>
      <p:sp>
        <p:nvSpPr>
          <p:cNvPr id="11" name="rec-ht-0">
            <a:extLst xmlns:a="http://schemas.openxmlformats.org/drawingml/2006/main">
              <a:ext uri="{FF2B5EF4-FFF2-40B4-BE49-F238E27FC236}">
                <a16:creationId xmlns:a16="http://schemas.microsoft.com/office/drawing/2014/main" id="{3EB8E8BA-B691-4C65-B9E7-5319BC14E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581150"/>
            <a:ext cx="1371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建议模块</a:t>
            </a:r>
          </a:p>
        </p:txBody>
      </p:sp>
      <p:sp>
        <p:nvSpPr>
          <p:cNvPr id="12" name="rec-h-1">
            <a:extLst xmlns:a="http://schemas.openxmlformats.org/drawingml/2006/main">
              <a:ext uri="{FF2B5EF4-FFF2-40B4-BE49-F238E27FC236}">
                <a16:creationId xmlns:a16="http://schemas.microsoft.com/office/drawing/2014/main" id="{06789670-503F-4DAB-A8E0-2E351AA11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524000"/>
            <a:ext cx="2971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8D56"/>
          </a:solidFill>
          <a:ln xmlns:a="http://schemas.openxmlformats.org/drawingml/2006/main" w="0">
            <a:solidFill>
              <a:srgbClr val="4B8D56"/>
            </a:solidFill>
            <a:prstDash val="solid"/>
          </a:ln>
        </p:spPr>
      </p:sp>
      <p:sp>
        <p:nvSpPr>
          <p:cNvPr id="13" name="rec-ht-1">
            <a:extLst xmlns:a="http://schemas.openxmlformats.org/drawingml/2006/main">
              <a:ext uri="{FF2B5EF4-FFF2-40B4-BE49-F238E27FC236}">
                <a16:creationId xmlns:a16="http://schemas.microsoft.com/office/drawing/2014/main" id="{B57A449B-C9D8-46FD-8816-031C4A52D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5811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优先动作</a:t>
            </a:r>
          </a:p>
        </p:txBody>
      </p:sp>
      <p:sp>
        <p:nvSpPr>
          <p:cNvPr id="14" name="rec-h-2">
            <a:extLst xmlns:a="http://schemas.openxmlformats.org/drawingml/2006/main">
              <a:ext uri="{FF2B5EF4-FFF2-40B4-BE49-F238E27FC236}">
                <a16:creationId xmlns:a16="http://schemas.microsoft.com/office/drawing/2014/main" id="{4745BEA8-F686-4CC2-A2F1-3EED891A7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1524000"/>
            <a:ext cx="2971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8D56"/>
          </a:solidFill>
          <a:ln xmlns:a="http://schemas.openxmlformats.org/drawingml/2006/main" w="0">
            <a:solidFill>
              <a:srgbClr val="4B8D56"/>
            </a:solidFill>
            <a:prstDash val="solid"/>
          </a:ln>
        </p:spPr>
      </p:sp>
      <p:sp>
        <p:nvSpPr>
          <p:cNvPr id="15" name="rec-ht-2">
            <a:extLst xmlns:a="http://schemas.openxmlformats.org/drawingml/2006/main">
              <a:ext uri="{FF2B5EF4-FFF2-40B4-BE49-F238E27FC236}">
                <a16:creationId xmlns:a16="http://schemas.microsoft.com/office/drawing/2014/main" id="{C189EFB2-FC1B-459C-9FC6-C42C0A239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15811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对应问题</a:t>
            </a:r>
          </a:p>
        </p:txBody>
      </p:sp>
      <p:sp>
        <p:nvSpPr>
          <p:cNvPr id="16" name="rec-h-3">
            <a:extLst xmlns:a="http://schemas.openxmlformats.org/drawingml/2006/main">
              <a:ext uri="{FF2B5EF4-FFF2-40B4-BE49-F238E27FC236}">
                <a16:creationId xmlns:a16="http://schemas.microsoft.com/office/drawing/2014/main" id="{56545EB5-918A-4E60-B471-201F2BBAE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524000"/>
            <a:ext cx="3086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8D56"/>
          </a:solidFill>
          <a:ln xmlns:a="http://schemas.openxmlformats.org/drawingml/2006/main" w="0">
            <a:solidFill>
              <a:srgbClr val="4B8D56"/>
            </a:solidFill>
            <a:prstDash val="solid"/>
          </a:ln>
        </p:spPr>
      </p:sp>
      <p:sp>
        <p:nvSpPr>
          <p:cNvPr id="17" name="rec-ht-3">
            <a:extLst xmlns:a="http://schemas.openxmlformats.org/drawingml/2006/main">
              <a:ext uri="{FF2B5EF4-FFF2-40B4-BE49-F238E27FC236}">
                <a16:creationId xmlns:a16="http://schemas.microsoft.com/office/drawing/2014/main" id="{B7E05482-B369-4B9E-A478-6796D0D30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581150"/>
            <a:ext cx="2971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预期收益</a:t>
            </a:r>
          </a:p>
        </p:txBody>
      </p:sp>
      <p:sp>
        <p:nvSpPr>
          <p:cNvPr id="18" name="rec-c-0-0">
            <a:extLst xmlns:a="http://schemas.openxmlformats.org/drawingml/2006/main">
              <a:ext uri="{FF2B5EF4-FFF2-40B4-BE49-F238E27FC236}">
                <a16:creationId xmlns:a16="http://schemas.microsoft.com/office/drawing/2014/main" id="{60EAF86A-CBEA-4B74-965A-662C3B30B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28800"/>
            <a:ext cx="1485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9" name="rec-ct-0-0">
            <a:extLst xmlns:a="http://schemas.openxmlformats.org/drawingml/2006/main">
              <a:ext uri="{FF2B5EF4-FFF2-40B4-BE49-F238E27FC236}">
                <a16:creationId xmlns:a16="http://schemas.microsoft.com/office/drawing/2014/main" id="{5F184534-5244-4E77-99AA-A3F1AF01D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85950"/>
            <a:ext cx="1371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81818"/>
                </a:solidFill>
              </a:defRPr>
            </a:pPr>
            <a:r>
              <a:rPr sz="825" b="1">
                <a:solidFill>
                  <a:srgbClr val="181818"/>
                </a:solidFill>
              </a:rPr>
              <a:t>造型设计</a:t>
            </a:r>
          </a:p>
        </p:txBody>
      </p:sp>
      <p:sp>
        <p:nvSpPr>
          <p:cNvPr id="20" name="rec-c-0-1">
            <a:extLst xmlns:a="http://schemas.openxmlformats.org/drawingml/2006/main">
              <a:ext uri="{FF2B5EF4-FFF2-40B4-BE49-F238E27FC236}">
                <a16:creationId xmlns:a16="http://schemas.microsoft.com/office/drawing/2014/main" id="{1CE375D1-412B-49EF-BAF6-5AD2B2D37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828800"/>
            <a:ext cx="29718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1" name="rec-ct-0-1">
            <a:extLst xmlns:a="http://schemas.openxmlformats.org/drawingml/2006/main">
              <a:ext uri="{FF2B5EF4-FFF2-40B4-BE49-F238E27FC236}">
                <a16:creationId xmlns:a16="http://schemas.microsoft.com/office/drawing/2014/main" id="{D17380DA-0D36-4ABE-8D3D-A503FB22C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885950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81818"/>
                </a:solidFill>
              </a:defRPr>
            </a:pPr>
            <a:r>
              <a:rPr sz="750" b="0">
                <a:solidFill>
                  <a:srgbClr val="181818"/>
                </a:solidFill>
              </a:rPr>
              <a:t>先优化前脸中网、尾部尾灯尺度与天地门识别，再强化家族语言与力量感。</a:t>
            </a:r>
          </a:p>
        </p:txBody>
      </p:sp>
      <p:sp>
        <p:nvSpPr>
          <p:cNvPr id="22" name="rec-c-0-2">
            <a:extLst xmlns:a="http://schemas.openxmlformats.org/drawingml/2006/main">
              <a:ext uri="{FF2B5EF4-FFF2-40B4-BE49-F238E27FC236}">
                <a16:creationId xmlns:a16="http://schemas.microsoft.com/office/drawing/2014/main" id="{87F56AC5-0218-44D0-A02A-C372463F2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1828800"/>
            <a:ext cx="29718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3" name="rec-ct-0-2">
            <a:extLst xmlns:a="http://schemas.openxmlformats.org/drawingml/2006/main">
              <a:ext uri="{FF2B5EF4-FFF2-40B4-BE49-F238E27FC236}">
                <a16:creationId xmlns:a16="http://schemas.microsoft.com/office/drawing/2014/main" id="{DEEC835A-8703-472F-8662-E3C321212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1885950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81818"/>
                </a:solidFill>
              </a:defRPr>
            </a:pPr>
            <a:r>
              <a:rPr sz="750" b="0">
                <a:solidFill>
                  <a:srgbClr val="181818"/>
                </a:solidFill>
              </a:rPr>
              <a:t>当前“科技感被认可，但野味不足”的核心矛盾。</a:t>
            </a:r>
          </a:p>
        </p:txBody>
      </p:sp>
      <p:sp>
        <p:nvSpPr>
          <p:cNvPr id="24" name="rec-c-0-3">
            <a:extLst xmlns:a="http://schemas.openxmlformats.org/drawingml/2006/main">
              <a:ext uri="{FF2B5EF4-FFF2-40B4-BE49-F238E27FC236}">
                <a16:creationId xmlns:a16="http://schemas.microsoft.com/office/drawing/2014/main" id="{98F54FEF-4ADA-43A8-A950-0938855F2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828800"/>
            <a:ext cx="3086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5" name="rec-ct-0-3">
            <a:extLst xmlns:a="http://schemas.openxmlformats.org/drawingml/2006/main">
              <a:ext uri="{FF2B5EF4-FFF2-40B4-BE49-F238E27FC236}">
                <a16:creationId xmlns:a16="http://schemas.microsoft.com/office/drawing/2014/main" id="{8CD2F448-C406-4DB1-808D-978EC2247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885950"/>
            <a:ext cx="2971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81818"/>
                </a:solidFill>
              </a:defRPr>
            </a:pPr>
            <a:r>
              <a:rPr sz="750" b="0">
                <a:solidFill>
                  <a:srgbClr val="181818"/>
                </a:solidFill>
              </a:rPr>
              <a:t>让用户一眼就理解“这不是普通城市 SUV”。</a:t>
            </a:r>
          </a:p>
        </p:txBody>
      </p:sp>
      <p:sp>
        <p:nvSpPr>
          <p:cNvPr id="26" name="rec-c-1-0">
            <a:extLst xmlns:a="http://schemas.openxmlformats.org/drawingml/2006/main">
              <a:ext uri="{FF2B5EF4-FFF2-40B4-BE49-F238E27FC236}">
                <a16:creationId xmlns:a16="http://schemas.microsoft.com/office/drawing/2014/main" id="{75B93727-4A37-42EB-ACFF-70AA94402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52700"/>
            <a:ext cx="1485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7" name="rec-ct-1-0">
            <a:extLst xmlns:a="http://schemas.openxmlformats.org/drawingml/2006/main">
              <a:ext uri="{FF2B5EF4-FFF2-40B4-BE49-F238E27FC236}">
                <a16:creationId xmlns:a16="http://schemas.microsoft.com/office/drawing/2014/main" id="{56A4AD4D-DD16-4D22-9476-8EA62654A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09850"/>
            <a:ext cx="1371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81818"/>
                </a:solidFill>
              </a:defRPr>
            </a:pPr>
            <a:r>
              <a:rPr sz="825" b="1">
                <a:solidFill>
                  <a:srgbClr val="181818"/>
                </a:solidFill>
              </a:rPr>
              <a:t>产品配置</a:t>
            </a:r>
          </a:p>
        </p:txBody>
      </p:sp>
      <p:sp>
        <p:nvSpPr>
          <p:cNvPr id="28" name="rec-c-1-1">
            <a:extLst xmlns:a="http://schemas.openxmlformats.org/drawingml/2006/main">
              <a:ext uri="{FF2B5EF4-FFF2-40B4-BE49-F238E27FC236}">
                <a16:creationId xmlns:a16="http://schemas.microsoft.com/office/drawing/2014/main" id="{67A07814-4193-4C22-84B2-E949ADAC3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552700"/>
            <a:ext cx="29718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9" name="rec-ct-1-1">
            <a:extLst xmlns:a="http://schemas.openxmlformats.org/drawingml/2006/main">
              <a:ext uri="{FF2B5EF4-FFF2-40B4-BE49-F238E27FC236}">
                <a16:creationId xmlns:a16="http://schemas.microsoft.com/office/drawing/2014/main" id="{5CB64762-D6D5-4E1C-A609-629C37B26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609850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81818"/>
                </a:solidFill>
              </a:defRPr>
            </a:pPr>
            <a:r>
              <a:rPr sz="750" b="0">
                <a:solidFill>
                  <a:srgbClr val="181818"/>
                </a:solidFill>
              </a:rPr>
              <a:t>把大梁、三把锁、长续航、快充、卫星通讯、制氧、防水涉水能力作为“豪华越野信任基础”。</a:t>
            </a:r>
          </a:p>
        </p:txBody>
      </p:sp>
      <p:sp>
        <p:nvSpPr>
          <p:cNvPr id="30" name="rec-c-1-2">
            <a:extLst xmlns:a="http://schemas.openxmlformats.org/drawingml/2006/main">
              <a:ext uri="{FF2B5EF4-FFF2-40B4-BE49-F238E27FC236}">
                <a16:creationId xmlns:a16="http://schemas.microsoft.com/office/drawing/2014/main" id="{81335B28-78E2-4313-8CDC-841105B6E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552700"/>
            <a:ext cx="29718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31" name="rec-ct-1-2">
            <a:extLst xmlns:a="http://schemas.openxmlformats.org/drawingml/2006/main">
              <a:ext uri="{FF2B5EF4-FFF2-40B4-BE49-F238E27FC236}">
                <a16:creationId xmlns:a16="http://schemas.microsoft.com/office/drawing/2014/main" id="{0ED76FCD-A676-4404-B67F-02C83EFBE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609850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81818"/>
                </a:solidFill>
              </a:defRPr>
            </a:pPr>
            <a:r>
              <a:rPr sz="750" b="0">
                <a:solidFill>
                  <a:srgbClr val="181818"/>
                </a:solidFill>
              </a:rPr>
              <a:t>技术点理解门槛高，争议配置可能分散卖点。</a:t>
            </a:r>
          </a:p>
        </p:txBody>
      </p:sp>
      <p:sp>
        <p:nvSpPr>
          <p:cNvPr id="32" name="rec-c-1-3">
            <a:extLst xmlns:a="http://schemas.openxmlformats.org/drawingml/2006/main">
              <a:ext uri="{FF2B5EF4-FFF2-40B4-BE49-F238E27FC236}">
                <a16:creationId xmlns:a16="http://schemas.microsoft.com/office/drawing/2014/main" id="{8EAA1E2C-0221-41AA-8D11-56384443C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552700"/>
            <a:ext cx="3086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33" name="rec-ct-1-3">
            <a:extLst xmlns:a="http://schemas.openxmlformats.org/drawingml/2006/main">
              <a:ext uri="{FF2B5EF4-FFF2-40B4-BE49-F238E27FC236}">
                <a16:creationId xmlns:a16="http://schemas.microsoft.com/office/drawing/2014/main" id="{0F77F6BA-95C4-4D7B-B146-F30DAB2C8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609850"/>
            <a:ext cx="2971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81818"/>
                </a:solidFill>
              </a:defRPr>
            </a:pPr>
            <a:r>
              <a:rPr sz="750" b="0">
                <a:solidFill>
                  <a:srgbClr val="181818"/>
                </a:solidFill>
              </a:rPr>
              <a:t>提升豪华越野叙事的说服力。</a:t>
            </a:r>
          </a:p>
        </p:txBody>
      </p:sp>
      <p:sp>
        <p:nvSpPr>
          <p:cNvPr id="34" name="rec-c-2-0">
            <a:extLst xmlns:a="http://schemas.openxmlformats.org/drawingml/2006/main">
              <a:ext uri="{FF2B5EF4-FFF2-40B4-BE49-F238E27FC236}">
                <a16:creationId xmlns:a16="http://schemas.microsoft.com/office/drawing/2014/main" id="{E6ED40ED-F660-40FB-9675-3F5832211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76600"/>
            <a:ext cx="1485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35" name="rec-ct-2-0">
            <a:extLst xmlns:a="http://schemas.openxmlformats.org/drawingml/2006/main">
              <a:ext uri="{FF2B5EF4-FFF2-40B4-BE49-F238E27FC236}">
                <a16:creationId xmlns:a16="http://schemas.microsoft.com/office/drawing/2014/main" id="{06215EC0-AA6F-4CB2-9BE6-14D8016AA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33750"/>
            <a:ext cx="1371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81818"/>
                </a:solidFill>
              </a:defRPr>
            </a:pPr>
            <a:r>
              <a:rPr sz="825" b="1">
                <a:solidFill>
                  <a:srgbClr val="181818"/>
                </a:solidFill>
              </a:rPr>
              <a:t>生态产品</a:t>
            </a:r>
          </a:p>
        </p:txBody>
      </p:sp>
      <p:sp>
        <p:nvSpPr>
          <p:cNvPr id="36" name="rec-c-2-1">
            <a:extLst xmlns:a="http://schemas.openxmlformats.org/drawingml/2006/main">
              <a:ext uri="{FF2B5EF4-FFF2-40B4-BE49-F238E27FC236}">
                <a16:creationId xmlns:a16="http://schemas.microsoft.com/office/drawing/2014/main" id="{0014D706-58DE-498A-A977-D899AC3F1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276600"/>
            <a:ext cx="29718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37" name="rec-ct-2-1">
            <a:extLst xmlns:a="http://schemas.openxmlformats.org/drawingml/2006/main">
              <a:ext uri="{FF2B5EF4-FFF2-40B4-BE49-F238E27FC236}">
                <a16:creationId xmlns:a16="http://schemas.microsoft.com/office/drawing/2014/main" id="{168107CE-99C6-495E-BEED-D5AF8700A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33750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81818"/>
                </a:solidFill>
              </a:defRPr>
            </a:pPr>
            <a:r>
              <a:rPr sz="750" b="0">
                <a:solidFill>
                  <a:srgbClr val="181818"/>
                </a:solidFill>
              </a:rPr>
              <a:t>四大魔方按具体场景表达和销售，并补充亲子、宠物、精致露营与家庭清洁类生态件。</a:t>
            </a:r>
          </a:p>
        </p:txBody>
      </p:sp>
      <p:sp>
        <p:nvSpPr>
          <p:cNvPr id="38" name="rec-c-2-2">
            <a:extLst xmlns:a="http://schemas.openxmlformats.org/drawingml/2006/main">
              <a:ext uri="{FF2B5EF4-FFF2-40B4-BE49-F238E27FC236}">
                <a16:creationId xmlns:a16="http://schemas.microsoft.com/office/drawing/2014/main" id="{5E003DD4-B5E6-4403-93CF-570DAFF56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276600"/>
            <a:ext cx="29718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39" name="rec-ct-2-2">
            <a:extLst xmlns:a="http://schemas.openxmlformats.org/drawingml/2006/main">
              <a:ext uri="{FF2B5EF4-FFF2-40B4-BE49-F238E27FC236}">
                <a16:creationId xmlns:a16="http://schemas.microsoft.com/office/drawing/2014/main" id="{226A5BCD-3569-4ABE-8033-01AF0B7C1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333750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81818"/>
                </a:solidFill>
              </a:defRPr>
            </a:pPr>
            <a:r>
              <a:rPr sz="750" b="0">
                <a:solidFill>
                  <a:srgbClr val="181818"/>
                </a:solidFill>
              </a:rPr>
              <a:t>担心低频闲置、生态只服务硬核越野。</a:t>
            </a:r>
          </a:p>
        </p:txBody>
      </p:sp>
      <p:sp>
        <p:nvSpPr>
          <p:cNvPr id="40" name="rec-c-2-3">
            <a:extLst xmlns:a="http://schemas.openxmlformats.org/drawingml/2006/main">
              <a:ext uri="{FF2B5EF4-FFF2-40B4-BE49-F238E27FC236}">
                <a16:creationId xmlns:a16="http://schemas.microsoft.com/office/drawing/2014/main" id="{AF913375-3C71-428E-AA6B-BFF460854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276600"/>
            <a:ext cx="3086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41" name="rec-ct-2-3">
            <a:extLst xmlns:a="http://schemas.openxmlformats.org/drawingml/2006/main">
              <a:ext uri="{FF2B5EF4-FFF2-40B4-BE49-F238E27FC236}">
                <a16:creationId xmlns:a16="http://schemas.microsoft.com/office/drawing/2014/main" id="{81EE15F7-2509-4D3A-AE51-1579BDCE4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333750"/>
            <a:ext cx="2971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81818"/>
                </a:solidFill>
              </a:defRPr>
            </a:pPr>
            <a:r>
              <a:rPr sz="750" b="0">
                <a:solidFill>
                  <a:srgbClr val="181818"/>
                </a:solidFill>
              </a:rPr>
              <a:t>扩大非硬核用户覆盖面，提高生态转化。</a:t>
            </a:r>
          </a:p>
        </p:txBody>
      </p:sp>
      <p:sp>
        <p:nvSpPr>
          <p:cNvPr id="42" name="rec-c-3-0">
            <a:extLst xmlns:a="http://schemas.openxmlformats.org/drawingml/2006/main">
              <a:ext uri="{FF2B5EF4-FFF2-40B4-BE49-F238E27FC236}">
                <a16:creationId xmlns:a16="http://schemas.microsoft.com/office/drawing/2014/main" id="{9DE326BE-6F38-48EE-8A4F-1ED116409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0"/>
            <a:ext cx="1485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43" name="rec-ct-3-0">
            <a:extLst xmlns:a="http://schemas.openxmlformats.org/drawingml/2006/main">
              <a:ext uri="{FF2B5EF4-FFF2-40B4-BE49-F238E27FC236}">
                <a16:creationId xmlns:a16="http://schemas.microsoft.com/office/drawing/2014/main" id="{501D07A0-7394-4D48-B4C4-7D96805A7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57650"/>
            <a:ext cx="1371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81818"/>
                </a:solidFill>
              </a:defRPr>
            </a:pPr>
            <a:r>
              <a:rPr sz="825" b="1">
                <a:solidFill>
                  <a:srgbClr val="181818"/>
                </a:solidFill>
              </a:rPr>
              <a:t>传播话术</a:t>
            </a:r>
          </a:p>
        </p:txBody>
      </p:sp>
      <p:sp>
        <p:nvSpPr>
          <p:cNvPr id="44" name="rec-c-3-1">
            <a:extLst xmlns:a="http://schemas.openxmlformats.org/drawingml/2006/main">
              <a:ext uri="{FF2B5EF4-FFF2-40B4-BE49-F238E27FC236}">
                <a16:creationId xmlns:a16="http://schemas.microsoft.com/office/drawing/2014/main" id="{21F9FB44-8D23-4462-BE00-EEB596FCC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000500"/>
            <a:ext cx="29718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45" name="rec-ct-3-1">
            <a:extLst xmlns:a="http://schemas.openxmlformats.org/drawingml/2006/main">
              <a:ext uri="{FF2B5EF4-FFF2-40B4-BE49-F238E27FC236}">
                <a16:creationId xmlns:a16="http://schemas.microsoft.com/office/drawing/2014/main" id="{5E4C1E02-841B-4B0D-8291-CB22A1A5D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057650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81818"/>
                </a:solidFill>
              </a:defRPr>
            </a:pPr>
            <a:r>
              <a:rPr sz="750" b="0">
                <a:solidFill>
                  <a:srgbClr val="181818"/>
                </a:solidFill>
              </a:rPr>
              <a:t>用生活化语言讲清楚“为什么更安全、为什么能去更远、为什么全家也愿意用”。</a:t>
            </a:r>
          </a:p>
        </p:txBody>
      </p:sp>
      <p:sp>
        <p:nvSpPr>
          <p:cNvPr id="46" name="rec-c-3-2">
            <a:extLst xmlns:a="http://schemas.openxmlformats.org/drawingml/2006/main">
              <a:ext uri="{FF2B5EF4-FFF2-40B4-BE49-F238E27FC236}">
                <a16:creationId xmlns:a16="http://schemas.microsoft.com/office/drawing/2014/main" id="{02B746CB-805D-44F9-83E1-20C2C9DC5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000500"/>
            <a:ext cx="29718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47" name="rec-ct-3-2">
            <a:extLst xmlns:a="http://schemas.openxmlformats.org/drawingml/2006/main">
              <a:ext uri="{FF2B5EF4-FFF2-40B4-BE49-F238E27FC236}">
                <a16:creationId xmlns:a16="http://schemas.microsoft.com/office/drawing/2014/main" id="{4CBB77A6-EC8E-4F8C-97FA-C0E621600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057650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81818"/>
                </a:solidFill>
              </a:defRPr>
            </a:pPr>
            <a:r>
              <a:rPr sz="750" b="0">
                <a:solidFill>
                  <a:srgbClr val="181818"/>
                </a:solidFill>
              </a:rPr>
              <a:t>理想/问界用户难理解大梁与越野技术价值。</a:t>
            </a:r>
          </a:p>
        </p:txBody>
      </p:sp>
      <p:sp>
        <p:nvSpPr>
          <p:cNvPr id="48" name="rec-c-3-3">
            <a:extLst xmlns:a="http://schemas.openxmlformats.org/drawingml/2006/main">
              <a:ext uri="{FF2B5EF4-FFF2-40B4-BE49-F238E27FC236}">
                <a16:creationId xmlns:a16="http://schemas.microsoft.com/office/drawing/2014/main" id="{FA6BE525-4DAC-4B2C-9629-685B3FD48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000500"/>
            <a:ext cx="3086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49" name="rec-ct-3-3">
            <a:extLst xmlns:a="http://schemas.openxmlformats.org/drawingml/2006/main">
              <a:ext uri="{FF2B5EF4-FFF2-40B4-BE49-F238E27FC236}">
                <a16:creationId xmlns:a16="http://schemas.microsoft.com/office/drawing/2014/main" id="{F4477F5A-6561-4F16-A7B3-B6B9A6BE4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057650"/>
            <a:ext cx="2971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81818"/>
                </a:solidFill>
              </a:defRPr>
            </a:pPr>
            <a:r>
              <a:rPr sz="750" b="0">
                <a:solidFill>
                  <a:srgbClr val="181818"/>
                </a:solidFill>
              </a:rPr>
              <a:t>降低理解门槛，提升增换购接受度。</a:t>
            </a:r>
          </a:p>
        </p:txBody>
      </p:sp>
      <p:sp>
        <p:nvSpPr>
          <p:cNvPr id="50" name="rec-chip-chip-0">
            <a:extLst xmlns:a="http://schemas.openxmlformats.org/drawingml/2006/main">
              <a:ext uri="{FF2B5EF4-FFF2-40B4-BE49-F238E27FC236}">
                <a16:creationId xmlns:a16="http://schemas.microsoft.com/office/drawing/2014/main" id="{A70CCF77-0FDB-4EB5-9707-7FD5AE077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2552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E9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51" name="rec-chip-chip-text-0">
            <a:extLst xmlns:a="http://schemas.openxmlformats.org/drawingml/2006/main">
              <a:ext uri="{FF2B5EF4-FFF2-40B4-BE49-F238E27FC236}">
                <a16:creationId xmlns:a16="http://schemas.microsoft.com/office/drawing/2014/main" id="{203E250A-4FCA-4E6D-88AF-A16C63E7F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95950"/>
            <a:ext cx="2438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81818"/>
                </a:solidFill>
              </a:defRPr>
            </a:pPr>
            <a:r>
              <a:rPr sz="675" b="1">
                <a:solidFill>
                  <a:srgbClr val="181818"/>
                </a:solidFill>
              </a:rPr>
              <a:t>先解决第一眼识别</a:t>
            </a:r>
          </a:p>
        </p:txBody>
      </p:sp>
      <p:sp>
        <p:nvSpPr>
          <p:cNvPr id="52" name="rec-chip-chip-1">
            <a:extLst xmlns:a="http://schemas.openxmlformats.org/drawingml/2006/main">
              <a:ext uri="{FF2B5EF4-FFF2-40B4-BE49-F238E27FC236}">
                <a16:creationId xmlns:a16="http://schemas.microsoft.com/office/drawing/2014/main" id="{8A014AF2-1C00-45B8-8B88-4AA92FE82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638800"/>
            <a:ext cx="2552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CE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53" name="rec-chip-chip-text-1">
            <a:extLst xmlns:a="http://schemas.openxmlformats.org/drawingml/2006/main">
              <a:ext uri="{FF2B5EF4-FFF2-40B4-BE49-F238E27FC236}">
                <a16:creationId xmlns:a16="http://schemas.microsoft.com/office/drawing/2014/main" id="{7732358C-2D3F-46DE-89AE-725870C30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695950"/>
            <a:ext cx="2438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81818"/>
                </a:solidFill>
              </a:defRPr>
            </a:pPr>
            <a:r>
              <a:rPr sz="675" b="1">
                <a:solidFill>
                  <a:srgbClr val="181818"/>
                </a:solidFill>
              </a:rPr>
              <a:t>再解决技术理解门槛</a:t>
            </a:r>
          </a:p>
        </p:txBody>
      </p:sp>
      <p:sp>
        <p:nvSpPr>
          <p:cNvPr id="54" name="rec-chip-chip-2">
            <a:extLst xmlns:a="http://schemas.openxmlformats.org/drawingml/2006/main">
              <a:ext uri="{FF2B5EF4-FFF2-40B4-BE49-F238E27FC236}">
                <a16:creationId xmlns:a16="http://schemas.microsoft.com/office/drawing/2014/main" id="{18ADBAFB-BBDB-4362-8016-F62928F26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638800"/>
            <a:ext cx="2552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EB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55" name="rec-chip-chip-text-2">
            <a:extLst xmlns:a="http://schemas.openxmlformats.org/drawingml/2006/main">
              <a:ext uri="{FF2B5EF4-FFF2-40B4-BE49-F238E27FC236}">
                <a16:creationId xmlns:a16="http://schemas.microsoft.com/office/drawing/2014/main" id="{EF58B37C-EB18-471D-BEAA-866E341B9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695950"/>
            <a:ext cx="2438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81818"/>
                </a:solidFill>
              </a:defRPr>
            </a:pPr>
            <a:r>
              <a:rPr sz="675" b="1">
                <a:solidFill>
                  <a:srgbClr val="181818"/>
                </a:solidFill>
              </a:rPr>
              <a:t>同步补足生态高频场景</a:t>
            </a:r>
          </a:p>
        </p:txBody>
      </p:sp>
      <p:sp>
        <p:nvSpPr>
          <p:cNvPr id="56" name="rec-chip-chip-3">
            <a:extLst xmlns:a="http://schemas.openxmlformats.org/drawingml/2006/main">
              <a:ext uri="{FF2B5EF4-FFF2-40B4-BE49-F238E27FC236}">
                <a16:creationId xmlns:a16="http://schemas.microsoft.com/office/drawing/2014/main" id="{D91160E9-C510-4FFF-8694-C3A991874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638800"/>
            <a:ext cx="2552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5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57" name="rec-chip-chip-text-3">
            <a:extLst xmlns:a="http://schemas.openxmlformats.org/drawingml/2006/main">
              <a:ext uri="{FF2B5EF4-FFF2-40B4-BE49-F238E27FC236}">
                <a16:creationId xmlns:a16="http://schemas.microsoft.com/office/drawing/2014/main" id="{DA1044C0-0F4F-4A69-9AFB-C65312753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695950"/>
            <a:ext cx="2438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81818"/>
                </a:solidFill>
              </a:defRPr>
            </a:pPr>
            <a:r>
              <a:rPr sz="675" b="1">
                <a:solidFill>
                  <a:srgbClr val="181818"/>
                </a:solidFill>
              </a:rPr>
              <a:t>最后完成分人群传播</a:t>
            </a:r>
          </a:p>
        </p:txBody>
      </p:sp>
    </p:spTree>
    <p:extLst>
      <p:ext uri="{BB962C8B-B14F-4D97-AF65-F5344CB8AC3E}">
        <p14:creationId xmlns:p14="http://schemas.microsoft.com/office/powerpoint/2010/main" val="162964861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414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lose-title">
            <a:extLst xmlns:a="http://schemas.openxmlformats.org/drawingml/2006/main">
              <a:ext uri="{FF2B5EF4-FFF2-40B4-BE49-F238E27FC236}">
                <a16:creationId xmlns:a16="http://schemas.microsoft.com/office/drawing/2014/main" id="{15D8308B-6F39-4D77-AF49-07216FFE5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5240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5B5B6"/>
                </a:solidFill>
              </a:defRPr>
            </a:pPr>
            <a:r>
              <a:rPr sz="1200" b="1">
                <a:solidFill>
                  <a:srgbClr val="B5B5B6"/>
                </a:solidFill>
              </a:rPr>
              <a:t>结论回收</a:t>
            </a:r>
          </a:p>
        </p:txBody>
      </p:sp>
      <p:sp>
        <p:nvSpPr>
          <p:cNvPr id="2" name="close-body">
            <a:extLst xmlns:a="http://schemas.openxmlformats.org/drawingml/2006/main">
              <a:ext uri="{FF2B5EF4-FFF2-40B4-BE49-F238E27FC236}">
                <a16:creationId xmlns:a16="http://schemas.microsoft.com/office/drawing/2014/main" id="{6BFA82BA-7645-4628-907B-8ADE206E6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86000"/>
            <a:ext cx="8572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访谈结论指向的核心不是“更硬核”，而是如何把</a:t>
            </a:r>
          </a:p>
          <a:p xmlns:a="http://schemas.openxmlformats.org/drawingml/2006/main">
            <a:pPr algn="l"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城市体面、家庭舒适、智能便利与越野可靠同时成立。</a:t>
            </a:r>
          </a:p>
        </p:txBody>
      </p:sp>
      <p:sp>
        <p:nvSpPr>
          <p:cNvPr id="3" name="close-note">
            <a:extLst xmlns:a="http://schemas.openxmlformats.org/drawingml/2006/main">
              <a:ext uri="{FF2B5EF4-FFF2-40B4-BE49-F238E27FC236}">
                <a16:creationId xmlns:a16="http://schemas.microsoft.com/office/drawing/2014/main" id="{F8E7DA2B-1DAB-4412-97DA-5ECAC1063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19600"/>
            <a:ext cx="876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B5B5B6"/>
                </a:solidFill>
              </a:defRPr>
            </a:pPr>
            <a:r>
              <a:rPr sz="1275">
                <a:solidFill>
                  <a:srgbClr val="B5B5B6"/>
                </a:solidFill>
              </a:rPr>
              <a:t>后续可以继续沿着用户画像细分、竞品拆解和卖点验证三个方向补充更细的访谈证据。</a:t>
            </a:r>
          </a:p>
        </p:txBody>
      </p:sp>
      <p:sp>
        <p:nvSpPr>
          <p:cNvPr id="4" name="close-line">
            <a:extLst xmlns:a="http://schemas.openxmlformats.org/drawingml/2006/main">
              <a:ext uri="{FF2B5EF4-FFF2-40B4-BE49-F238E27FC236}">
                <a16:creationId xmlns:a16="http://schemas.microsoft.com/office/drawing/2014/main" id="{A0FE9873-E521-4B70-9A85-6705E9674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15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57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lose-source">
            <a:extLst xmlns:a="http://schemas.openxmlformats.org/drawingml/2006/main">
              <a:ext uri="{FF2B5EF4-FFF2-40B4-BE49-F238E27FC236}">
                <a16:creationId xmlns:a16="http://schemas.microsoft.com/office/drawing/2014/main" id="{0D2E5671-A278-48CE-88BD-59D29C1D5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9125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B5B5B6"/>
                </a:solidFill>
              </a:defRPr>
            </a:pPr>
            <a:r>
              <a:rPr sz="750">
                <a:solidFill>
                  <a:srgbClr val="B5B5B6"/>
                </a:solidFill>
              </a:rPr>
              <a:t>资料来源：会议笔录分析总结_优化版(1).docx，仅基于原文整理</a:t>
            </a:r>
          </a:p>
        </p:txBody>
      </p:sp>
      <p:sp>
        <p:nvSpPr>
          <p:cNvPr id="6" name="close-page">
            <a:extLst xmlns:a="http://schemas.openxmlformats.org/drawingml/2006/main">
              <a:ext uri="{FF2B5EF4-FFF2-40B4-BE49-F238E27FC236}">
                <a16:creationId xmlns:a16="http://schemas.microsoft.com/office/drawing/2014/main" id="{8CAB917F-27D8-4E57-B9C0-98AE919E6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B5B5B6"/>
                </a:solidFill>
              </a:defRPr>
            </a:pPr>
            <a:r>
              <a:rPr sz="750">
                <a:solidFill>
                  <a:srgbClr val="B5B5B6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9100876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2026-07-26T14:16:09.2980000Z</dcterms:created>
  <dcterms:modified xsi:type="dcterms:W3CDTF">2026-07-26T14:16:09.2980000Z</dcterms:modified>
</coreProperties>
</file>