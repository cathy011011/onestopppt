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5.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6.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7.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8.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9.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10.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117.xml" ContentType="application/vnd.openxmlformats-officedocument.presentationml.tag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4.xml" ContentType="application/vnd.openxmlformats-officedocument.presentationml.notesSlide+xml"/>
  <Override PartName="/ppt/charts/chart12.xml" ContentType="application/vnd.openxmlformats-officedocument.drawingml.chart+xml"/>
  <Override PartName="/ppt/charts/style5.xml" ContentType="application/vnd.ms-office.chartstyle+xml"/>
  <Override PartName="/ppt/charts/colors5.xml" ContentType="application/vnd.ms-office.chartcolorstyl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charts/chart13.xml" ContentType="application/vnd.openxmlformats-officedocument.drawingml.chart+xml"/>
  <Override PartName="/ppt/charts/style6.xml" ContentType="application/vnd.ms-office.chartstyle+xml"/>
  <Override PartName="/ppt/charts/colors6.xml" ContentType="application/vnd.ms-office.chartcolorstyle+xml"/>
  <Override PartName="/ppt/charts/chart14.xml" ContentType="application/vnd.openxmlformats-officedocument.drawingml.chart+xml"/>
  <Override PartName="/ppt/charts/style7.xml" ContentType="application/vnd.ms-office.chartstyle+xml"/>
  <Override PartName="/ppt/charts/colors7.xml" ContentType="application/vnd.ms-office.chartcolorstyle+xml"/>
  <Override PartName="/ppt/charts/chart15.xml" ContentType="application/vnd.openxmlformats-officedocument.drawingml.chart+xml"/>
  <Override PartName="/ppt/charts/style8.xml" ContentType="application/vnd.ms-office.chartstyle+xml"/>
  <Override PartName="/ppt/charts/colors8.xml" ContentType="application/vnd.ms-office.chartcolorstyle+xml"/>
  <Override PartName="/ppt/charts/chart16.xml" ContentType="application/vnd.openxmlformats-officedocument.drawingml.chart+xml"/>
  <Override PartName="/ppt/charts/style9.xml" ContentType="application/vnd.ms-office.chartstyle+xml"/>
  <Override PartName="/ppt/charts/colors9.xml" ContentType="application/vnd.ms-office.chartcolorstyle+xml"/>
  <Override PartName="/ppt/charts/chart17.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8.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9.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20.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21.xml" ContentType="application/vnd.openxmlformats-officedocument.drawingml.chart+xml"/>
  <Override PartName="/ppt/charts/style14.xml" ContentType="application/vnd.ms-office.chartstyle+xml"/>
  <Override PartName="/ppt/charts/colors14.xml" ContentType="application/vnd.ms-office.chartcolorstyl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notesSlides/notesSlide5.xml" ContentType="application/vnd.openxmlformats-officedocument.presentationml.notesSlide+xml"/>
  <Override PartName="/ppt/charts/chart22.xml" ContentType="application/vnd.openxmlformats-officedocument.drawingml.chart+xml"/>
  <Override PartName="/ppt/charts/style15.xml" ContentType="application/vnd.ms-office.chartstyle+xml"/>
  <Override PartName="/ppt/charts/colors15.xml" ContentType="application/vnd.ms-office.chartcolorstyle+xml"/>
  <Override PartName="/ppt/drawings/drawing1.xml" ContentType="application/vnd.openxmlformats-officedocument.drawingml.chartshapes+xml"/>
  <Override PartName="/ppt/charts/chart23.xml" ContentType="application/vnd.openxmlformats-officedocument.drawingml.chart+xml"/>
  <Override PartName="/ppt/charts/style16.xml" ContentType="application/vnd.ms-office.chartstyle+xml"/>
  <Override PartName="/ppt/charts/colors16.xml" ContentType="application/vnd.ms-office.chartcolorstyle+xml"/>
  <Override PartName="/ppt/drawings/drawing2.xml" ContentType="application/vnd.openxmlformats-officedocument.drawingml.chartshapes+xml"/>
  <Override PartName="/ppt/charts/chart24.xml" ContentType="application/vnd.openxmlformats-officedocument.drawingml.chart+xml"/>
  <Override PartName="/ppt/charts/style17.xml" ContentType="application/vnd.ms-office.chartstyle+xml"/>
  <Override PartName="/ppt/charts/colors17.xml" ContentType="application/vnd.ms-office.chartcolorstyle+xml"/>
  <Override PartName="/ppt/drawings/drawing3.xml" ContentType="application/vnd.openxmlformats-officedocument.drawingml.chartshapes+xml"/>
  <Override PartName="/ppt/charts/chart25.xml" ContentType="application/vnd.openxmlformats-officedocument.drawingml.chart+xml"/>
  <Override PartName="/ppt/charts/style18.xml" ContentType="application/vnd.ms-office.chartstyle+xml"/>
  <Override PartName="/ppt/charts/colors18.xml" ContentType="application/vnd.ms-office.chartcolorstyle+xml"/>
  <Override PartName="/ppt/drawings/drawing4.xml" ContentType="application/vnd.openxmlformats-officedocument.drawingml.chartshapes+xml"/>
  <Override PartName="/ppt/charts/chart26.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7.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8.xml" ContentType="application/vnd.openxmlformats-officedocument.drawingml.chart+xml"/>
  <Override PartName="/ppt/charts/style21.xml" ContentType="application/vnd.ms-office.chartstyle+xml"/>
  <Override PartName="/ppt/charts/colors21.xml" ContentType="application/vnd.ms-office.chartcolorstyle+xml"/>
  <Override PartName="/ppt/tags/tag134.xml" ContentType="application/vnd.openxmlformats-officedocument.presentationml.tags+xml"/>
  <Override PartName="/ppt/charts/chart29.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30.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31.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32.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33.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34.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35.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36.xml" ContentType="application/vnd.openxmlformats-officedocument.drawingml.chart+xml"/>
  <Override PartName="/ppt/charts/style29.xml" ContentType="application/vnd.ms-office.chartstyle+xml"/>
  <Override PartName="/ppt/charts/colors29.xml" ContentType="application/vnd.ms-office.chartcolorstyle+xml"/>
  <Override PartName="/ppt/tags/tag135.xml" ContentType="application/vnd.openxmlformats-officedocument.presentationml.tags+xml"/>
  <Override PartName="/ppt/tags/tag136.xml" ContentType="application/vnd.openxmlformats-officedocument.presentationml.tags+xml"/>
  <Override PartName="/ppt/notesSlides/notesSlide6.xml" ContentType="application/vnd.openxmlformats-officedocument.presentationml.notesSlide+xml"/>
  <Override PartName="/ppt/charts/chart37.xml" ContentType="application/vnd.openxmlformats-officedocument.drawingml.chart+xml"/>
  <Override PartName="/ppt/charts/style30.xml" ContentType="application/vnd.ms-office.chartstyle+xml"/>
  <Override PartName="/ppt/charts/colors30.xml" ContentType="application/vnd.ms-office.chartcolorstyle+xml"/>
  <Override PartName="/ppt/drawings/drawing5.xml" ContentType="application/vnd.openxmlformats-officedocument.drawingml.chartshapes+xml"/>
  <Override PartName="/ppt/charts/chart38.xml" ContentType="application/vnd.openxmlformats-officedocument.drawingml.chart+xml"/>
  <Override PartName="/ppt/charts/style31.xml" ContentType="application/vnd.ms-office.chartstyle+xml"/>
  <Override PartName="/ppt/charts/colors31.xml" ContentType="application/vnd.ms-office.chartcolorstyle+xml"/>
  <Override PartName="/ppt/drawings/drawing6.xml" ContentType="application/vnd.openxmlformats-officedocument.drawingml.chartshapes+xml"/>
  <Override PartName="/ppt/charts/chart39.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40.xml" ContentType="application/vnd.openxmlformats-officedocument.drawingml.chart+xml"/>
  <Override PartName="/ppt/charts/style33.xml" ContentType="application/vnd.ms-office.chartstyle+xml"/>
  <Override PartName="/ppt/charts/colors33.xml" ContentType="application/vnd.ms-office.chartcolorstyle+xml"/>
  <Override PartName="/ppt/tags/tag137.xml" ContentType="application/vnd.openxmlformats-officedocument.presentationml.tags+xml"/>
  <Override PartName="/ppt/tags/tag138.xml" ContentType="application/vnd.openxmlformats-officedocument.presentationml.tags+xml"/>
  <Override PartName="/ppt/notesSlides/notesSlide7.xml" ContentType="application/vnd.openxmlformats-officedocument.presentationml.notesSlide+xml"/>
  <Override PartName="/ppt/charts/chart41.xml" ContentType="application/vnd.openxmlformats-officedocument.drawingml.chart+xml"/>
  <Override PartName="/ppt/charts/style34.xml" ContentType="application/vnd.ms-office.chartstyle+xml"/>
  <Override PartName="/ppt/charts/colors34.xml" ContentType="application/vnd.ms-office.chartcolorstyle+xml"/>
  <Override PartName="/ppt/tags/tag139.xml" ContentType="application/vnd.openxmlformats-officedocument.presentationml.tags+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notesSlides/notesSlide8.xml" ContentType="application/vnd.openxmlformats-officedocument.presentationml.notesSlide+xml"/>
  <Override PartName="/ppt/charts/chart51.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52.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53.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54.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55.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56.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57.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58.xml" ContentType="application/vnd.openxmlformats-officedocument.drawingml.chart+xml"/>
  <Override PartName="/ppt/charts/style42.xml" ContentType="application/vnd.ms-office.chartstyle+xml"/>
  <Override PartName="/ppt/charts/colors42.xml" ContentType="application/vnd.ms-office.chartcolorstyle+xml"/>
  <Override PartName="/ppt/charts/chart59.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60.xml" ContentType="application/vnd.openxmlformats-officedocument.drawingml.chart+xml"/>
  <Override PartName="/ppt/charts/style44.xml" ContentType="application/vnd.ms-office.chartstyle+xml"/>
  <Override PartName="/ppt/charts/colors44.xml" ContentType="application/vnd.ms-office.chartcolorstyle+xml"/>
  <Override PartName="/ppt/tags/tag145.xml" ContentType="application/vnd.openxmlformats-officedocument.presentationml.tags+xml"/>
  <Override PartName="/ppt/notesSlides/notesSlide9.xml" ContentType="application/vnd.openxmlformats-officedocument.presentationml.notesSlide+xml"/>
  <Override PartName="/ppt/charts/chart61.xml" ContentType="application/vnd.openxmlformats-officedocument.drawingml.chart+xml"/>
  <Override PartName="/ppt/charts/style45.xml" ContentType="application/vnd.ms-office.chartstyle+xml"/>
  <Override PartName="/ppt/charts/colors45.xml" ContentType="application/vnd.ms-office.chartcolorstyle+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charts/chart62.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63.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64.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65.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66.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67.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68.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69.xml" ContentType="application/vnd.openxmlformats-officedocument.drawingml.chart+xml"/>
  <Override PartName="/ppt/charts/style53.xml" ContentType="application/vnd.ms-office.chartstyle+xml"/>
  <Override PartName="/ppt/charts/colors53.xml" ContentType="application/vnd.ms-office.chartcolorstyle+xml"/>
  <Override PartName="/ppt/notesSlides/notesSlide10.xml" ContentType="application/vnd.openxmlformats-officedocument.presentationml.notesSlide+xml"/>
  <Override PartName="/ppt/tags/tag155.xml" ContentType="application/vnd.openxmlformats-officedocument.presentationml.tags+xml"/>
  <Override PartName="/ppt/notesSlides/notesSlide11.xml" ContentType="application/vnd.openxmlformats-officedocument.presentationml.notesSlide+xml"/>
  <Override PartName="/ppt/charts/chart70.xml" ContentType="application/vnd.openxmlformats-officedocument.drawingml.chart+xml"/>
  <Override PartName="/ppt/charts/style54.xml" ContentType="application/vnd.ms-office.chartstyle+xml"/>
  <Override PartName="/ppt/charts/colors54.xml" ContentType="application/vnd.ms-office.chartcolorstyl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71.xml" ContentType="application/vnd.openxmlformats-officedocument.drawingml.chart+xml"/>
  <Override PartName="/ppt/charts/style55.xml" ContentType="application/vnd.ms-office.chartstyle+xml"/>
  <Override PartName="/ppt/charts/colors55.xml" ContentType="application/vnd.ms-office.chartcolorstyl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 id="2147483658" r:id="rId3"/>
    <p:sldMasterId id="2147483674" r:id="rId4"/>
    <p:sldMasterId id="2147483678" r:id="rId5"/>
    <p:sldMasterId id="2147483688" r:id="rId6"/>
    <p:sldMasterId id="2147483690" r:id="rId7"/>
    <p:sldMasterId id="2147483703" r:id="rId8"/>
    <p:sldMasterId id="2147483707" r:id="rId9"/>
    <p:sldMasterId id="2147483724" r:id="rId10"/>
    <p:sldMasterId id="2147483737" r:id="rId11"/>
  </p:sldMasterIdLst>
  <p:notesMasterIdLst>
    <p:notesMasterId r:id="rId72"/>
  </p:notesMasterIdLst>
  <p:sldIdLst>
    <p:sldId id="16668649" r:id="rId12"/>
    <p:sldId id="293" r:id="rId13"/>
    <p:sldId id="2145708891" r:id="rId14"/>
    <p:sldId id="2145708896" r:id="rId15"/>
    <p:sldId id="2145708897" r:id="rId16"/>
    <p:sldId id="380" r:id="rId17"/>
    <p:sldId id="16767671" r:id="rId18"/>
    <p:sldId id="16767673" r:id="rId19"/>
    <p:sldId id="2145708859" r:id="rId20"/>
    <p:sldId id="2145708860" r:id="rId21"/>
    <p:sldId id="2145708760" r:id="rId22"/>
    <p:sldId id="2145708862" r:id="rId23"/>
    <p:sldId id="2145708799" r:id="rId24"/>
    <p:sldId id="2145708800" r:id="rId25"/>
    <p:sldId id="2145708492" r:id="rId26"/>
    <p:sldId id="2145708725" r:id="rId27"/>
    <p:sldId id="2145708718" r:id="rId28"/>
    <p:sldId id="2145708787" r:id="rId29"/>
    <p:sldId id="2145708788" r:id="rId30"/>
    <p:sldId id="2145708785" r:id="rId31"/>
    <p:sldId id="2145708661" r:id="rId32"/>
    <p:sldId id="16668609" r:id="rId33"/>
    <p:sldId id="2145708801" r:id="rId34"/>
    <p:sldId id="16767768" r:id="rId35"/>
    <p:sldId id="16767694" r:id="rId36"/>
    <p:sldId id="2145708804" r:id="rId37"/>
    <p:sldId id="2145708808" r:id="rId38"/>
    <p:sldId id="2145708809" r:id="rId39"/>
    <p:sldId id="2145708886" r:id="rId40"/>
    <p:sldId id="2145708819" r:id="rId41"/>
    <p:sldId id="2145708820" r:id="rId42"/>
    <p:sldId id="2145708821" r:id="rId43"/>
    <p:sldId id="2145708880" r:id="rId44"/>
    <p:sldId id="2145708822" r:id="rId45"/>
    <p:sldId id="2145708823" r:id="rId46"/>
    <p:sldId id="2145708824" r:id="rId47"/>
    <p:sldId id="2145708825" r:id="rId48"/>
    <p:sldId id="2145708826" r:id="rId49"/>
    <p:sldId id="2145708890" r:id="rId50"/>
    <p:sldId id="2145708827" r:id="rId51"/>
    <p:sldId id="2145708828" r:id="rId52"/>
    <p:sldId id="2145708829" r:id="rId53"/>
    <p:sldId id="2145708830" r:id="rId54"/>
    <p:sldId id="2145708480" r:id="rId55"/>
    <p:sldId id="2145708832" r:id="rId56"/>
    <p:sldId id="16668841" r:id="rId57"/>
    <p:sldId id="2145708111" r:id="rId58"/>
    <p:sldId id="16668466" r:id="rId59"/>
    <p:sldId id="2145708893" r:id="rId60"/>
    <p:sldId id="2145708894" r:id="rId61"/>
    <p:sldId id="2145708895" r:id="rId62"/>
    <p:sldId id="2145707995" r:id="rId63"/>
    <p:sldId id="2145708078" r:id="rId64"/>
    <p:sldId id="2145708625" r:id="rId65"/>
    <p:sldId id="2145708835" r:id="rId66"/>
    <p:sldId id="2145708836" r:id="rId67"/>
    <p:sldId id="2145708837" r:id="rId68"/>
    <p:sldId id="2145708838" r:id="rId69"/>
    <p:sldId id="2145708839" r:id="rId70"/>
    <p:sldId id="2145708840" r:id="rId71"/>
  </p:sldIdLst>
  <p:sldSz cx="12192000" cy="6858000"/>
  <p:notesSz cx="6858000" cy="9144000"/>
  <p:custDataLst>
    <p:tags r:id="rId7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开篇" id="{8F17847D-C052-4191-92F2-0AAAC28BDC15}">
          <p14:sldIdLst>
            <p14:sldId id="16668649"/>
            <p14:sldId id="293"/>
            <p14:sldId id="2145708891"/>
            <p14:sldId id="2145708896"/>
            <p14:sldId id="2145708897"/>
          </p14:sldIdLst>
        </p14:section>
        <p14:section name="1. 项目目的与解决方案设计" id="{CA1D3D74-6A85-4EF0-A0D8-9B6C0449C06C}">
          <p14:sldIdLst>
            <p14:sldId id="380"/>
            <p14:sldId id="16767671"/>
            <p14:sldId id="16767673"/>
            <p14:sldId id="2145708859"/>
            <p14:sldId id="2145708860"/>
            <p14:sldId id="2145708760"/>
            <p14:sldId id="2145708862"/>
            <p14:sldId id="2145708799"/>
            <p14:sldId id="2145708800"/>
            <p14:sldId id="2145708492"/>
            <p14:sldId id="2145708725"/>
            <p14:sldId id="2145708718"/>
            <p14:sldId id="2145708787"/>
            <p14:sldId id="2145708788"/>
            <p14:sldId id="2145708785"/>
            <p14:sldId id="2145708661"/>
          </p14:sldIdLst>
        </p14:section>
        <p14:section name="2. 销售服务的满意度评价及优先调整方向" id="{86523C79-8712-41A1-AB16-610B2B24D35C}">
          <p14:sldIdLst>
            <p14:sldId id="16668609"/>
            <p14:sldId id="2145708801"/>
            <p14:sldId id="16767768"/>
            <p14:sldId id="16767694"/>
            <p14:sldId id="2145708804"/>
            <p14:sldId id="2145708808"/>
            <p14:sldId id="2145708809"/>
            <p14:sldId id="2145708886"/>
            <p14:sldId id="2145708819"/>
            <p14:sldId id="2145708820"/>
            <p14:sldId id="2145708821"/>
            <p14:sldId id="2145708880"/>
            <p14:sldId id="2145708822"/>
            <p14:sldId id="2145708823"/>
            <p14:sldId id="2145708824"/>
            <p14:sldId id="2145708825"/>
            <p14:sldId id="2145708826"/>
            <p14:sldId id="2145708890"/>
            <p14:sldId id="2145708827"/>
            <p14:sldId id="2145708828"/>
            <p14:sldId id="2145708829"/>
            <p14:sldId id="2145708830"/>
            <p14:sldId id="2145708480"/>
            <p14:sldId id="2145708832"/>
            <p14:sldId id="16668841"/>
            <p14:sldId id="2145708111"/>
          </p14:sldIdLst>
        </p14:section>
        <p14:section name="3.交付板块" id="{EEC41B5B-218C-4B2A-9678-FE9930AEB0C5}">
          <p14:sldIdLst/>
        </p14:section>
        <p14:section name="4.售后板块" id="{9A71096C-8AA8-4A76-9FD4-5FCD8000B1C8}">
          <p14:sldIdLst/>
        </p14:section>
        <p14:section name="5. 线上平台的满意度评价" id="{6598FB34-EBBF-4C4C-A317-3505E72A2D97}">
          <p14:sldIdLst>
            <p14:sldId id="16668466"/>
            <p14:sldId id="2145708893"/>
            <p14:sldId id="2145708894"/>
            <p14:sldId id="2145708895"/>
            <p14:sldId id="2145707995"/>
            <p14:sldId id="2145708078"/>
            <p14:sldId id="2145708625"/>
            <p14:sldId id="2145708835"/>
            <p14:sldId id="2145708836"/>
            <p14:sldId id="2145708837"/>
            <p14:sldId id="2145708838"/>
            <p14:sldId id="2145708839"/>
            <p14:sldId id="2145708840"/>
          </p14:sldIdLst>
        </p14:section>
        <p14:section name="致谢" id="{F49C934A-2EFA-4557-B97D-D561D2C8F5F9}">
          <p14:sldIdLst/>
        </p14:section>
      </p14:sectionLst>
    </p:ext>
    <p:ext uri="{EFAFB233-063F-42B5-8137-9DF3F51BA10A}">
      <p15:sldGuideLst xmlns:p15="http://schemas.microsoft.com/office/powerpoint/2012/main">
        <p15:guide id="1" orient="horz" pos="572" userDrawn="1">
          <p15:clr>
            <a:srgbClr val="A4A3A4"/>
          </p15:clr>
        </p15:guide>
        <p15:guide id="2" pos="755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8D56"/>
    <a:srgbClr val="E8E8E8"/>
    <a:srgbClr val="DFF1CB"/>
    <a:srgbClr val="CCFFCC"/>
    <a:srgbClr val="FFCCCC"/>
    <a:srgbClr val="FBE1E1"/>
    <a:srgbClr val="F5F5F5"/>
    <a:srgbClr val="FCD8D0"/>
    <a:srgbClr val="B0CC14"/>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731" autoAdjust="0"/>
  </p:normalViewPr>
  <p:slideViewPr>
    <p:cSldViewPr snapToGrid="0" showGuides="1">
      <p:cViewPr varScale="1">
        <p:scale>
          <a:sx n="56" d="100"/>
          <a:sy n="56" d="100"/>
        </p:scale>
        <p:origin x="948" y="40"/>
      </p:cViewPr>
      <p:guideLst>
        <p:guide orient="horz" pos="572"/>
        <p:guide pos="7559"/>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42" Type="http://schemas.openxmlformats.org/officeDocument/2006/relationships/slide" Target="slides/slide31.xml"/><Relationship Id="rId47" Type="http://schemas.openxmlformats.org/officeDocument/2006/relationships/slide" Target="slides/slide36.xml"/><Relationship Id="rId63" Type="http://schemas.openxmlformats.org/officeDocument/2006/relationships/slide" Target="slides/slide52.xml"/><Relationship Id="rId68" Type="http://schemas.openxmlformats.org/officeDocument/2006/relationships/slide" Target="slides/slide57.xml"/><Relationship Id="rId16" Type="http://schemas.openxmlformats.org/officeDocument/2006/relationships/slide" Target="slides/slide5.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slide" Target="slides/slide42.xml"/><Relationship Id="rId58" Type="http://schemas.openxmlformats.org/officeDocument/2006/relationships/slide" Target="slides/slide47.xml"/><Relationship Id="rId66" Type="http://schemas.openxmlformats.org/officeDocument/2006/relationships/slide" Target="slides/slide55.xml"/><Relationship Id="rId74"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0.xml"/><Relationship Id="rId19" Type="http://schemas.openxmlformats.org/officeDocument/2006/relationships/slide" Target="slides/slide8.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slide" Target="slides/slide45.xml"/><Relationship Id="rId64" Type="http://schemas.openxmlformats.org/officeDocument/2006/relationships/slide" Target="slides/slide53.xml"/><Relationship Id="rId69" Type="http://schemas.openxmlformats.org/officeDocument/2006/relationships/slide" Target="slides/slide58.xml"/><Relationship Id="rId77"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40.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slide" Target="slides/slide48.xml"/><Relationship Id="rId67" Type="http://schemas.openxmlformats.org/officeDocument/2006/relationships/slide" Target="slides/slide56.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slide" Target="slides/slide51.xml"/><Relationship Id="rId70" Type="http://schemas.openxmlformats.org/officeDocument/2006/relationships/slide" Target="slides/slide5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 Type="http://schemas.openxmlformats.org/officeDocument/2006/relationships/slideMaster" Target="slideMasters/slideMaster10.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slide" Target="slides/slide54.xml"/><Relationship Id="rId73"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slide" Target="slides/slide60.xml"/><Relationship Id="rId2" Type="http://schemas.openxmlformats.org/officeDocument/2006/relationships/slideMaster" Target="slideMasters/slideMaster2.xml"/><Relationship Id="rId29" Type="http://schemas.openxmlformats.org/officeDocument/2006/relationships/slide" Target="slides/slide1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5.xml"/><Relationship Id="rId1" Type="http://schemas.microsoft.com/office/2011/relationships/chartStyle" Target="style5.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6.xml"/><Relationship Id="rId1" Type="http://schemas.microsoft.com/office/2011/relationships/chartStyle" Target="style6.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7.xml"/><Relationship Id="rId1" Type="http://schemas.microsoft.com/office/2011/relationships/chartStyle" Target="style7.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8.xml"/><Relationship Id="rId1" Type="http://schemas.microsoft.com/office/2011/relationships/chartStyle" Target="style8.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9.xml"/><Relationship Id="rId1" Type="http://schemas.microsoft.com/office/2011/relationships/chartStyle" Target="style9.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0.xml"/><Relationship Id="rId1" Type="http://schemas.microsoft.com/office/2011/relationships/chartStyle" Target="style10.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1.xml"/><Relationship Id="rId1" Type="http://schemas.microsoft.com/office/2011/relationships/chartStyle" Target="style11.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2.xml"/><Relationship Id="rId1" Type="http://schemas.microsoft.com/office/2011/relationships/chartStyle" Target="style12.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13.xml"/><Relationship Id="rId1" Type="http://schemas.microsoft.com/office/2011/relationships/chartStyle" Target="style13.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14.xml"/><Relationship Id="rId1" Type="http://schemas.microsoft.com/office/2011/relationships/chartStyle" Target="style14.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chartUserShapes" Target="../drawings/drawing1.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16.xml"/><Relationship Id="rId1" Type="http://schemas.microsoft.com/office/2011/relationships/chartStyle" Target="style16.xml"/><Relationship Id="rId4" Type="http://schemas.openxmlformats.org/officeDocument/2006/relationships/chartUserShapes" Target="../drawings/drawing2.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17.xml"/><Relationship Id="rId1" Type="http://schemas.microsoft.com/office/2011/relationships/chartStyle" Target="style17.xml"/><Relationship Id="rId4" Type="http://schemas.openxmlformats.org/officeDocument/2006/relationships/chartUserShapes" Target="../drawings/drawing3.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18.xml"/><Relationship Id="rId1" Type="http://schemas.microsoft.com/office/2011/relationships/chartStyle" Target="style18.xml"/><Relationship Id="rId4" Type="http://schemas.openxmlformats.org/officeDocument/2006/relationships/chartUserShapes" Target="../drawings/drawing4.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19.xml"/><Relationship Id="rId1" Type="http://schemas.microsoft.com/office/2011/relationships/chartStyle" Target="style19.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0.xml"/><Relationship Id="rId1" Type="http://schemas.microsoft.com/office/2011/relationships/chartStyle" Target="style20.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1.xml"/><Relationship Id="rId1" Type="http://schemas.microsoft.com/office/2011/relationships/chartStyle" Target="style21.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2.xml"/><Relationship Id="rId1" Type="http://schemas.microsoft.com/office/2011/relationships/chartStyle" Target="style22.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23.xml"/><Relationship Id="rId1" Type="http://schemas.microsoft.com/office/2011/relationships/chartStyle" Target="style23.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24.xml"/><Relationship Id="rId1" Type="http://schemas.microsoft.com/office/2011/relationships/chartStyle" Target="style24.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25.xml"/><Relationship Id="rId1" Type="http://schemas.microsoft.com/office/2011/relationships/chartStyle" Target="style25.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26.xml"/><Relationship Id="rId1" Type="http://schemas.microsoft.com/office/2011/relationships/chartStyle" Target="style26.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27.xml"/><Relationship Id="rId1" Type="http://schemas.microsoft.com/office/2011/relationships/chartStyle" Target="style27.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28.xml"/><Relationship Id="rId1" Type="http://schemas.microsoft.com/office/2011/relationships/chartStyle" Target="style28.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29.xml"/><Relationship Id="rId1" Type="http://schemas.microsoft.com/office/2011/relationships/chartStyle" Target="style29.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0.xml"/><Relationship Id="rId1" Type="http://schemas.microsoft.com/office/2011/relationships/chartStyle" Target="style30.xml"/><Relationship Id="rId4" Type="http://schemas.openxmlformats.org/officeDocument/2006/relationships/chartUserShapes" Target="../drawings/drawing5.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1.xml"/><Relationship Id="rId1" Type="http://schemas.microsoft.com/office/2011/relationships/chartStyle" Target="style31.xml"/><Relationship Id="rId4" Type="http://schemas.openxmlformats.org/officeDocument/2006/relationships/chartUserShapes" Target="../drawings/drawing6.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32.xml"/><Relationship Id="rId1" Type="http://schemas.microsoft.com/office/2011/relationships/chartStyle" Target="style32.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33.xml"/><Relationship Id="rId1" Type="http://schemas.microsoft.com/office/2011/relationships/chartStyle" Target="style33.xml"/></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34.xml"/><Relationship Id="rId1" Type="http://schemas.microsoft.com/office/2011/relationships/chartStyle" Target="style34.xml"/></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42.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43.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Worksheet44.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Worksheet45.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Worksheet46.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7.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_rels/chart51.xml.rels><?xml version="1.0" encoding="UTF-8" standalone="yes"?>
<Relationships xmlns="http://schemas.openxmlformats.org/package/2006/relationships"><Relationship Id="rId3" Type="http://schemas.openxmlformats.org/officeDocument/2006/relationships/package" Target="../embeddings/Microsoft_Excel_Worksheet50.xlsx"/><Relationship Id="rId2" Type="http://schemas.microsoft.com/office/2011/relationships/chartColorStyle" Target="colors35.xml"/><Relationship Id="rId1" Type="http://schemas.microsoft.com/office/2011/relationships/chartStyle" Target="style35.xml"/></Relationships>
</file>

<file path=ppt/charts/_rels/chart52.xml.rels><?xml version="1.0" encoding="UTF-8" standalone="yes"?>
<Relationships xmlns="http://schemas.openxmlformats.org/package/2006/relationships"><Relationship Id="rId3" Type="http://schemas.openxmlformats.org/officeDocument/2006/relationships/package" Target="../embeddings/Microsoft_Excel_Worksheet51.xlsx"/><Relationship Id="rId2" Type="http://schemas.microsoft.com/office/2011/relationships/chartColorStyle" Target="colors36.xml"/><Relationship Id="rId1" Type="http://schemas.microsoft.com/office/2011/relationships/chartStyle" Target="style36.xml"/></Relationships>
</file>

<file path=ppt/charts/_rels/chart53.xml.rels><?xml version="1.0" encoding="UTF-8" standalone="yes"?>
<Relationships xmlns="http://schemas.openxmlformats.org/package/2006/relationships"><Relationship Id="rId3" Type="http://schemas.openxmlformats.org/officeDocument/2006/relationships/package" Target="../embeddings/Microsoft_Excel_Worksheet52.xlsx"/><Relationship Id="rId2" Type="http://schemas.microsoft.com/office/2011/relationships/chartColorStyle" Target="colors37.xml"/><Relationship Id="rId1" Type="http://schemas.microsoft.com/office/2011/relationships/chartStyle" Target="style37.xml"/></Relationships>
</file>

<file path=ppt/charts/_rels/chart54.xml.rels><?xml version="1.0" encoding="UTF-8" standalone="yes"?>
<Relationships xmlns="http://schemas.openxmlformats.org/package/2006/relationships"><Relationship Id="rId3" Type="http://schemas.openxmlformats.org/officeDocument/2006/relationships/package" Target="../embeddings/Microsoft_Excel_Worksheet53.xlsx"/><Relationship Id="rId2" Type="http://schemas.microsoft.com/office/2011/relationships/chartColorStyle" Target="colors38.xml"/><Relationship Id="rId1" Type="http://schemas.microsoft.com/office/2011/relationships/chartStyle" Target="style38.xml"/></Relationships>
</file>

<file path=ppt/charts/_rels/chart55.xml.rels><?xml version="1.0" encoding="UTF-8" standalone="yes"?>
<Relationships xmlns="http://schemas.openxmlformats.org/package/2006/relationships"><Relationship Id="rId3" Type="http://schemas.openxmlformats.org/officeDocument/2006/relationships/package" Target="../embeddings/Microsoft_Excel_Worksheet54.xlsx"/><Relationship Id="rId2" Type="http://schemas.microsoft.com/office/2011/relationships/chartColorStyle" Target="colors39.xml"/><Relationship Id="rId1" Type="http://schemas.microsoft.com/office/2011/relationships/chartStyle" Target="style39.xml"/></Relationships>
</file>

<file path=ppt/charts/_rels/chart56.xml.rels><?xml version="1.0" encoding="UTF-8" standalone="yes"?>
<Relationships xmlns="http://schemas.openxmlformats.org/package/2006/relationships"><Relationship Id="rId3" Type="http://schemas.openxmlformats.org/officeDocument/2006/relationships/package" Target="../embeddings/Microsoft_Excel_Worksheet55.xlsx"/><Relationship Id="rId2" Type="http://schemas.microsoft.com/office/2011/relationships/chartColorStyle" Target="colors40.xml"/><Relationship Id="rId1" Type="http://schemas.microsoft.com/office/2011/relationships/chartStyle" Target="style40.xml"/></Relationships>
</file>

<file path=ppt/charts/_rels/chart57.xml.rels><?xml version="1.0" encoding="UTF-8" standalone="yes"?>
<Relationships xmlns="http://schemas.openxmlformats.org/package/2006/relationships"><Relationship Id="rId3" Type="http://schemas.openxmlformats.org/officeDocument/2006/relationships/package" Target="../embeddings/Microsoft_Excel_Worksheet56.xlsx"/><Relationship Id="rId2" Type="http://schemas.microsoft.com/office/2011/relationships/chartColorStyle" Target="colors41.xml"/><Relationship Id="rId1" Type="http://schemas.microsoft.com/office/2011/relationships/chartStyle" Target="style41.xml"/></Relationships>
</file>

<file path=ppt/charts/_rels/chart58.xml.rels><?xml version="1.0" encoding="UTF-8" standalone="yes"?>
<Relationships xmlns="http://schemas.openxmlformats.org/package/2006/relationships"><Relationship Id="rId3" Type="http://schemas.openxmlformats.org/officeDocument/2006/relationships/package" Target="../embeddings/Microsoft_Excel_Worksheet57.xlsx"/><Relationship Id="rId2" Type="http://schemas.microsoft.com/office/2011/relationships/chartColorStyle" Target="colors42.xml"/><Relationship Id="rId1" Type="http://schemas.microsoft.com/office/2011/relationships/chartStyle" Target="style42.xml"/></Relationships>
</file>

<file path=ppt/charts/_rels/chart59.xml.rels><?xml version="1.0" encoding="UTF-8" standalone="yes"?>
<Relationships xmlns="http://schemas.openxmlformats.org/package/2006/relationships"><Relationship Id="rId3" Type="http://schemas.openxmlformats.org/officeDocument/2006/relationships/package" Target="../embeddings/Microsoft_Excel_Worksheet58.xlsx"/><Relationship Id="rId2" Type="http://schemas.microsoft.com/office/2011/relationships/chartColorStyle" Target="colors43.xml"/><Relationship Id="rId1" Type="http://schemas.microsoft.com/office/2011/relationships/chartStyle" Target="style43.xml"/></Relationships>
</file>

<file path=ppt/charts/_rels/chart60.xml.rels><?xml version="1.0" encoding="UTF-8" standalone="yes"?>
<Relationships xmlns="http://schemas.openxmlformats.org/package/2006/relationships"><Relationship Id="rId3" Type="http://schemas.openxmlformats.org/officeDocument/2006/relationships/package" Target="../embeddings/Microsoft_Excel_Worksheet59.xlsx"/><Relationship Id="rId2" Type="http://schemas.microsoft.com/office/2011/relationships/chartColorStyle" Target="colors44.xml"/><Relationship Id="rId1" Type="http://schemas.microsoft.com/office/2011/relationships/chartStyle" Target="style44.xml"/></Relationships>
</file>

<file path=ppt/charts/_rels/chart61.xml.rels><?xml version="1.0" encoding="UTF-8" standalone="yes"?>
<Relationships xmlns="http://schemas.openxmlformats.org/package/2006/relationships"><Relationship Id="rId3" Type="http://schemas.openxmlformats.org/officeDocument/2006/relationships/package" Target="../embeddings/Microsoft_Excel_Worksheet60.xlsx"/><Relationship Id="rId2" Type="http://schemas.microsoft.com/office/2011/relationships/chartColorStyle" Target="colors45.xml"/><Relationship Id="rId1" Type="http://schemas.microsoft.com/office/2011/relationships/chartStyle" Target="style45.xml"/></Relationships>
</file>

<file path=ppt/charts/_rels/chart62.xml.rels><?xml version="1.0" encoding="UTF-8" standalone="yes"?>
<Relationships xmlns="http://schemas.openxmlformats.org/package/2006/relationships"><Relationship Id="rId3" Type="http://schemas.openxmlformats.org/officeDocument/2006/relationships/package" Target="../embeddings/Microsoft_Excel_Worksheet61.xlsx"/><Relationship Id="rId2" Type="http://schemas.microsoft.com/office/2011/relationships/chartColorStyle" Target="colors46.xml"/><Relationship Id="rId1" Type="http://schemas.microsoft.com/office/2011/relationships/chartStyle" Target="style46.xml"/></Relationships>
</file>

<file path=ppt/charts/_rels/chart63.xml.rels><?xml version="1.0" encoding="UTF-8" standalone="yes"?>
<Relationships xmlns="http://schemas.openxmlformats.org/package/2006/relationships"><Relationship Id="rId3" Type="http://schemas.openxmlformats.org/officeDocument/2006/relationships/package" Target="../embeddings/Microsoft_Excel_Worksheet62.xlsx"/><Relationship Id="rId2" Type="http://schemas.microsoft.com/office/2011/relationships/chartColorStyle" Target="colors47.xml"/><Relationship Id="rId1" Type="http://schemas.microsoft.com/office/2011/relationships/chartStyle" Target="style47.xml"/></Relationships>
</file>

<file path=ppt/charts/_rels/chart64.xml.rels><?xml version="1.0" encoding="UTF-8" standalone="yes"?>
<Relationships xmlns="http://schemas.openxmlformats.org/package/2006/relationships"><Relationship Id="rId3" Type="http://schemas.openxmlformats.org/officeDocument/2006/relationships/package" Target="../embeddings/Microsoft_Excel_Worksheet63.xlsx"/><Relationship Id="rId2" Type="http://schemas.microsoft.com/office/2011/relationships/chartColorStyle" Target="colors48.xml"/><Relationship Id="rId1" Type="http://schemas.microsoft.com/office/2011/relationships/chartStyle" Target="style48.xml"/></Relationships>
</file>

<file path=ppt/charts/_rels/chart65.xml.rels><?xml version="1.0" encoding="UTF-8" standalone="yes"?>
<Relationships xmlns="http://schemas.openxmlformats.org/package/2006/relationships"><Relationship Id="rId3" Type="http://schemas.openxmlformats.org/officeDocument/2006/relationships/package" Target="../embeddings/Microsoft_Excel_Worksheet64.xlsx"/><Relationship Id="rId2" Type="http://schemas.microsoft.com/office/2011/relationships/chartColorStyle" Target="colors49.xml"/><Relationship Id="rId1" Type="http://schemas.microsoft.com/office/2011/relationships/chartStyle" Target="style49.xml"/></Relationships>
</file>

<file path=ppt/charts/_rels/chart66.xml.rels><?xml version="1.0" encoding="UTF-8" standalone="yes"?>
<Relationships xmlns="http://schemas.openxmlformats.org/package/2006/relationships"><Relationship Id="rId3" Type="http://schemas.openxmlformats.org/officeDocument/2006/relationships/package" Target="../embeddings/Microsoft_Excel_Worksheet65.xlsx"/><Relationship Id="rId2" Type="http://schemas.microsoft.com/office/2011/relationships/chartColorStyle" Target="colors50.xml"/><Relationship Id="rId1" Type="http://schemas.microsoft.com/office/2011/relationships/chartStyle" Target="style50.xml"/></Relationships>
</file>

<file path=ppt/charts/_rels/chart67.xml.rels><?xml version="1.0" encoding="UTF-8" standalone="yes"?>
<Relationships xmlns="http://schemas.openxmlformats.org/package/2006/relationships"><Relationship Id="rId3" Type="http://schemas.openxmlformats.org/officeDocument/2006/relationships/package" Target="../embeddings/Microsoft_Excel_Worksheet66.xlsx"/><Relationship Id="rId2" Type="http://schemas.microsoft.com/office/2011/relationships/chartColorStyle" Target="colors51.xml"/><Relationship Id="rId1" Type="http://schemas.microsoft.com/office/2011/relationships/chartStyle" Target="style51.xml"/></Relationships>
</file>

<file path=ppt/charts/_rels/chart68.xml.rels><?xml version="1.0" encoding="UTF-8" standalone="yes"?>
<Relationships xmlns="http://schemas.openxmlformats.org/package/2006/relationships"><Relationship Id="rId3" Type="http://schemas.openxmlformats.org/officeDocument/2006/relationships/package" Target="../embeddings/Microsoft_Excel_Worksheet67.xlsx"/><Relationship Id="rId2" Type="http://schemas.microsoft.com/office/2011/relationships/chartColorStyle" Target="colors52.xml"/><Relationship Id="rId1" Type="http://schemas.microsoft.com/office/2011/relationships/chartStyle" Target="style52.xml"/></Relationships>
</file>

<file path=ppt/charts/_rels/chart69.xml.rels><?xml version="1.0" encoding="UTF-8" standalone="yes"?>
<Relationships xmlns="http://schemas.openxmlformats.org/package/2006/relationships"><Relationship Id="rId3" Type="http://schemas.openxmlformats.org/officeDocument/2006/relationships/package" Target="../embeddings/Microsoft_Excel_Worksheet68.xlsx"/><Relationship Id="rId2" Type="http://schemas.microsoft.com/office/2011/relationships/chartColorStyle" Target="colors53.xml"/><Relationship Id="rId1" Type="http://schemas.microsoft.com/office/2011/relationships/chartStyle" Target="style53.xml"/></Relationships>
</file>

<file path=ppt/charts/_rels/chart70.xml.rels><?xml version="1.0" encoding="UTF-8" standalone="yes"?>
<Relationships xmlns="http://schemas.openxmlformats.org/package/2006/relationships"><Relationship Id="rId3" Type="http://schemas.openxmlformats.org/officeDocument/2006/relationships/package" Target="../embeddings/Microsoft_Excel_Worksheet69.xlsx"/><Relationship Id="rId2" Type="http://schemas.microsoft.com/office/2011/relationships/chartColorStyle" Target="colors54.xml"/><Relationship Id="rId1" Type="http://schemas.microsoft.com/office/2011/relationships/chartStyle" Target="style54.xml"/></Relationships>
</file>

<file path=ppt/charts/_rels/chart71.xml.rels><?xml version="1.0" encoding="UTF-8" standalone="yes"?>
<Relationships xmlns="http://schemas.openxmlformats.org/package/2006/relationships"><Relationship Id="rId3" Type="http://schemas.openxmlformats.org/officeDocument/2006/relationships/package" Target="../embeddings/Microsoft_Excel_Worksheet70.xlsx"/><Relationship Id="rId2" Type="http://schemas.microsoft.com/office/2011/relationships/chartColorStyle" Target="colors55.xml"/><Relationship Id="rId1" Type="http://schemas.microsoft.com/office/2011/relationships/chartStyle" Target="style5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H2</c:v>
                </c:pt>
              </c:strCache>
            </c:strRef>
          </c:tx>
          <c:spPr>
            <a:solidFill>
              <a:schemeClr val="bg1">
                <a:lumMod val="75000"/>
              </a:schemeClr>
            </a:solidFill>
            <a:ln>
              <a:noFill/>
            </a:ln>
            <a:effectLst/>
          </c:spPr>
          <c:invertIfNegative val="0"/>
          <c:dPt>
            <c:idx val="0"/>
            <c:invertIfNegative val="0"/>
            <c:bubble3D val="0"/>
            <c:spPr>
              <a:solidFill>
                <a:schemeClr val="bg1">
                  <a:lumMod val="75000"/>
                </a:schemeClr>
              </a:solidFill>
              <a:ln>
                <a:noFill/>
              </a:ln>
              <a:effectLst/>
            </c:spPr>
            <c:extLst>
              <c:ext xmlns:c16="http://schemas.microsoft.com/office/drawing/2014/chart" uri="{C3380CC4-5D6E-409C-BE32-E72D297353CC}">
                <c16:uniqueId val="{00000001-BDAD-5945-A896-2DA6AB351DAC}"/>
              </c:ext>
            </c:extLst>
          </c:dPt>
          <c:dPt>
            <c:idx val="1"/>
            <c:invertIfNegative val="0"/>
            <c:bubble3D val="0"/>
            <c:spPr>
              <a:solidFill>
                <a:schemeClr val="bg1">
                  <a:lumMod val="75000"/>
                </a:schemeClr>
              </a:solidFill>
              <a:ln>
                <a:noFill/>
              </a:ln>
              <a:effectLst/>
            </c:spPr>
            <c:extLst>
              <c:ext xmlns:c16="http://schemas.microsoft.com/office/drawing/2014/chart" uri="{C3380CC4-5D6E-409C-BE32-E72D297353CC}">
                <c16:uniqueId val="{00000003-BDAD-5945-A896-2DA6AB351DAC}"/>
              </c:ext>
            </c:extLst>
          </c:dPt>
          <c:dPt>
            <c:idx val="4"/>
            <c:invertIfNegative val="0"/>
            <c:bubble3D val="0"/>
            <c:spPr>
              <a:solidFill>
                <a:srgbClr val="4B8D56"/>
              </a:solidFill>
              <a:ln>
                <a:noFill/>
              </a:ln>
              <a:effectLst/>
            </c:spPr>
            <c:extLst>
              <c:ext xmlns:c16="http://schemas.microsoft.com/office/drawing/2014/chart" uri="{C3380CC4-5D6E-409C-BE32-E72D297353CC}">
                <c16:uniqueId val="{00000005-BDAD-5945-A896-2DA6AB351DAC}"/>
              </c:ext>
            </c:extLst>
          </c:dPt>
          <c:dLbls>
            <c:numFmt formatCode="#,##0.0_);[Red]\(#,##0.0\)" sourceLinked="0"/>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总体</c:v>
                </c:pt>
                <c:pt idx="1">
                  <c:v>蔚来</c:v>
                </c:pt>
                <c:pt idx="2">
                  <c:v>极氪</c:v>
                </c:pt>
                <c:pt idx="3">
                  <c:v>问界</c:v>
                </c:pt>
                <c:pt idx="4">
                  <c:v>阿维塔</c:v>
                </c:pt>
                <c:pt idx="5">
                  <c:v>理想</c:v>
                </c:pt>
                <c:pt idx="6">
                  <c:v>小鹏</c:v>
                </c:pt>
                <c:pt idx="7">
                  <c:v>特斯拉</c:v>
                </c:pt>
                <c:pt idx="8">
                  <c:v>智己</c:v>
                </c:pt>
              </c:strCache>
            </c:strRef>
          </c:cat>
          <c:val>
            <c:numRef>
              <c:f>Sheet1!$B$2:$B$10</c:f>
              <c:numCache>
                <c:formatCode>0.0</c:formatCode>
                <c:ptCount val="9"/>
                <c:pt idx="0">
                  <c:v>858.73789872706425</c:v>
                </c:pt>
                <c:pt idx="1">
                  <c:v>872.95565795249149</c:v>
                </c:pt>
                <c:pt idx="2">
                  <c:v>863.68203341432854</c:v>
                </c:pt>
                <c:pt idx="3">
                  <c:v>863.10479016372926</c:v>
                </c:pt>
                <c:pt idx="4">
                  <c:v>859.49847189397258</c:v>
                </c:pt>
                <c:pt idx="5">
                  <c:v>858.94715301623455</c:v>
                </c:pt>
                <c:pt idx="6">
                  <c:v>857.05395869643053</c:v>
                </c:pt>
                <c:pt idx="7">
                  <c:v>832.88162004979233</c:v>
                </c:pt>
                <c:pt idx="8">
                  <c:v>855.75634802697482</c:v>
                </c:pt>
              </c:numCache>
            </c:numRef>
          </c:val>
          <c:extLst>
            <c:ext xmlns:c16="http://schemas.microsoft.com/office/drawing/2014/chart" uri="{C3380CC4-5D6E-409C-BE32-E72D297353CC}">
              <c16:uniqueId val="{00000006-BDAD-5945-A896-2DA6AB351DAC}"/>
            </c:ext>
          </c:extLst>
        </c:ser>
        <c:ser>
          <c:idx val="1"/>
          <c:order val="1"/>
          <c:tx>
            <c:strRef>
              <c:f>Sheet1!$C$1</c:f>
              <c:strCache>
                <c:ptCount val="1"/>
                <c:pt idx="0">
                  <c:v>H1</c:v>
                </c:pt>
              </c:strCache>
            </c:strRef>
          </c:tx>
          <c:spPr>
            <a:solidFill>
              <a:schemeClr val="bg1">
                <a:lumMod val="9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总体</c:v>
                </c:pt>
                <c:pt idx="1">
                  <c:v>蔚来</c:v>
                </c:pt>
                <c:pt idx="2">
                  <c:v>极氪</c:v>
                </c:pt>
                <c:pt idx="3">
                  <c:v>问界</c:v>
                </c:pt>
                <c:pt idx="4">
                  <c:v>阿维塔</c:v>
                </c:pt>
                <c:pt idx="5">
                  <c:v>理想</c:v>
                </c:pt>
                <c:pt idx="6">
                  <c:v>小鹏</c:v>
                </c:pt>
                <c:pt idx="7">
                  <c:v>特斯拉</c:v>
                </c:pt>
                <c:pt idx="8">
                  <c:v>智己</c:v>
                </c:pt>
              </c:strCache>
            </c:strRef>
          </c:cat>
          <c:val>
            <c:numRef>
              <c:f>Sheet1!$C$2:$C$10</c:f>
              <c:numCache>
                <c:formatCode>0.0</c:formatCode>
                <c:ptCount val="9"/>
                <c:pt idx="0">
                  <c:v>791.64369633872354</c:v>
                </c:pt>
                <c:pt idx="1">
                  <c:v>796.22431895504656</c:v>
                </c:pt>
                <c:pt idx="2">
                  <c:v>792.97187195917786</c:v>
                </c:pt>
                <c:pt idx="3">
                  <c:v>786.9674793571844</c:v>
                </c:pt>
                <c:pt idx="4">
                  <c:v>794.49318581940872</c:v>
                </c:pt>
                <c:pt idx="5">
                  <c:v>762.31370969173668</c:v>
                </c:pt>
                <c:pt idx="6">
                  <c:v>788.31567335424268</c:v>
                </c:pt>
                <c:pt idx="7">
                  <c:v>777.96481752427746</c:v>
                </c:pt>
                <c:pt idx="8">
                  <c:v>850.01558457985084</c:v>
                </c:pt>
              </c:numCache>
            </c:numRef>
          </c:val>
          <c:extLst>
            <c:ext xmlns:c16="http://schemas.microsoft.com/office/drawing/2014/chart" uri="{C3380CC4-5D6E-409C-BE32-E72D297353CC}">
              <c16:uniqueId val="{00000007-BDAD-5945-A896-2DA6AB351DAC}"/>
            </c:ext>
          </c:extLst>
        </c:ser>
        <c:dLbls>
          <c:showLegendKey val="0"/>
          <c:showVal val="0"/>
          <c:showCatName val="0"/>
          <c:showSerName val="0"/>
          <c:showPercent val="0"/>
          <c:showBubbleSize val="0"/>
        </c:dLbls>
        <c:gapWidth val="100"/>
        <c:overlap val="-15"/>
        <c:axId val="528159039"/>
        <c:axId val="570175343"/>
      </c:barChart>
      <c:catAx>
        <c:axId val="528159039"/>
        <c:scaling>
          <c:orientation val="minMax"/>
        </c:scaling>
        <c:delete val="1"/>
        <c:axPos val="b"/>
        <c:numFmt formatCode="General" sourceLinked="1"/>
        <c:majorTickMark val="none"/>
        <c:minorTickMark val="none"/>
        <c:tickLblPos val="nextTo"/>
        <c:crossAx val="570175343"/>
        <c:crosses val="autoZero"/>
        <c:auto val="1"/>
        <c:lblAlgn val="ctr"/>
        <c:lblOffset val="100"/>
        <c:noMultiLvlLbl val="0"/>
      </c:catAx>
      <c:valAx>
        <c:axId val="570175343"/>
        <c:scaling>
          <c:orientation val="minMax"/>
        </c:scaling>
        <c:delete val="1"/>
        <c:axPos val="l"/>
        <c:numFmt formatCode="0.0" sourceLinked="1"/>
        <c:majorTickMark val="none"/>
        <c:minorTickMark val="none"/>
        <c:tickLblPos val="nextTo"/>
        <c:crossAx val="528159039"/>
        <c:crosses val="autoZero"/>
        <c:crossBetween val="between"/>
      </c:valAx>
      <c:spPr>
        <a:noFill/>
        <a:ln>
          <a:noFill/>
        </a:ln>
        <a:effectLst/>
      </c:spPr>
    </c:plotArea>
    <c:legend>
      <c:legendPos val="t"/>
      <c:layout>
        <c:manualLayout>
          <c:xMode val="edge"/>
          <c:yMode val="edge"/>
          <c:x val="0.90445378629213335"/>
          <c:y val="8.6276564016308198E-3"/>
          <c:w val="8.6833347733752897E-2"/>
          <c:h val="7.0585846669633995E-2"/>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705717572907799E-2"/>
          <c:y val="0.10207799673097072"/>
          <c:w val="0.97458856485418399"/>
          <c:h val="0.85671812320417373"/>
        </c:manualLayout>
      </c:layout>
      <c:barChart>
        <c:barDir val="col"/>
        <c:grouping val="clustered"/>
        <c:varyColors val="0"/>
        <c:ser>
          <c:idx val="0"/>
          <c:order val="0"/>
          <c:tx>
            <c:strRef>
              <c:f>Sheet1!$B$1</c:f>
              <c:strCache>
                <c:ptCount val="1"/>
                <c:pt idx="0">
                  <c:v>H2</c:v>
                </c:pt>
              </c:strCache>
            </c:strRef>
          </c:tx>
          <c:spPr>
            <a:solidFill>
              <a:schemeClr val="bg1">
                <a:lumMod val="75000"/>
              </a:schemeClr>
            </a:solidFill>
            <a:ln>
              <a:noFill/>
            </a:ln>
            <a:effectLst/>
          </c:spPr>
          <c:invertIfNegative val="0"/>
          <c:dPt>
            <c:idx val="0"/>
            <c:invertIfNegative val="0"/>
            <c:bubble3D val="0"/>
            <c:spPr>
              <a:solidFill>
                <a:schemeClr val="bg1">
                  <a:lumMod val="75000"/>
                </a:schemeClr>
              </a:solidFill>
              <a:ln>
                <a:noFill/>
              </a:ln>
              <a:effectLst/>
            </c:spPr>
            <c:extLst>
              <c:ext xmlns:c16="http://schemas.microsoft.com/office/drawing/2014/chart" uri="{C3380CC4-5D6E-409C-BE32-E72D297353CC}">
                <c16:uniqueId val="{00000001-4F30-4B81-B28C-CBEEFC10272E}"/>
              </c:ext>
            </c:extLst>
          </c:dPt>
          <c:dPt>
            <c:idx val="1"/>
            <c:invertIfNegative val="0"/>
            <c:bubble3D val="0"/>
            <c:spPr>
              <a:solidFill>
                <a:schemeClr val="bg1">
                  <a:lumMod val="75000"/>
                </a:schemeClr>
              </a:solidFill>
              <a:ln>
                <a:noFill/>
              </a:ln>
              <a:effectLst/>
            </c:spPr>
            <c:extLst>
              <c:ext xmlns:c16="http://schemas.microsoft.com/office/drawing/2014/chart" uri="{C3380CC4-5D6E-409C-BE32-E72D297353CC}">
                <c16:uniqueId val="{00000003-4F30-4B81-B28C-CBEEFC10272E}"/>
              </c:ext>
            </c:extLst>
          </c:dPt>
          <c:dPt>
            <c:idx val="4"/>
            <c:invertIfNegative val="0"/>
            <c:bubble3D val="0"/>
            <c:spPr>
              <a:solidFill>
                <a:schemeClr val="bg1">
                  <a:lumMod val="75000"/>
                </a:schemeClr>
              </a:solidFill>
              <a:ln>
                <a:noFill/>
              </a:ln>
              <a:effectLst/>
            </c:spPr>
            <c:extLst>
              <c:ext xmlns:c16="http://schemas.microsoft.com/office/drawing/2014/chart" uri="{C3380CC4-5D6E-409C-BE32-E72D297353CC}">
                <c16:uniqueId val="{00000005-4F30-4B81-B28C-CBEEFC10272E}"/>
              </c:ext>
            </c:extLst>
          </c:dPt>
          <c:dLbls>
            <c:numFmt formatCode="#,##0.0_);[Red]\(#,##0.0\)" sourceLinked="0"/>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总体</c:v>
                </c:pt>
                <c:pt idx="1">
                  <c:v>北一区</c:v>
                </c:pt>
                <c:pt idx="2">
                  <c:v>东二区</c:v>
                </c:pt>
                <c:pt idx="3">
                  <c:v>西一区</c:v>
                </c:pt>
                <c:pt idx="4">
                  <c:v>南二区</c:v>
                </c:pt>
                <c:pt idx="5">
                  <c:v>东三区</c:v>
                </c:pt>
                <c:pt idx="6">
                  <c:v>东一区</c:v>
                </c:pt>
                <c:pt idx="7">
                  <c:v>西二区</c:v>
                </c:pt>
                <c:pt idx="8">
                  <c:v>南一区</c:v>
                </c:pt>
              </c:strCache>
            </c:strRef>
          </c:cat>
          <c:val>
            <c:numRef>
              <c:f>Sheet1!$B$2:$B$10</c:f>
              <c:numCache>
                <c:formatCode>0.0</c:formatCode>
                <c:ptCount val="9"/>
                <c:pt idx="0">
                  <c:v>858.7</c:v>
                </c:pt>
                <c:pt idx="1">
                  <c:v>898.37423974031901</c:v>
                </c:pt>
                <c:pt idx="2">
                  <c:v>885.50099635237598</c:v>
                </c:pt>
                <c:pt idx="3">
                  <c:v>868.69976530295401</c:v>
                </c:pt>
                <c:pt idx="4">
                  <c:v>861.36555469996995</c:v>
                </c:pt>
                <c:pt idx="5">
                  <c:v>852.43285371586205</c:v>
                </c:pt>
                <c:pt idx="6">
                  <c:v>848.60835196389803</c:v>
                </c:pt>
                <c:pt idx="7">
                  <c:v>842.52913246666799</c:v>
                </c:pt>
                <c:pt idx="8">
                  <c:v>822.23820576873095</c:v>
                </c:pt>
              </c:numCache>
            </c:numRef>
          </c:val>
          <c:extLst>
            <c:ext xmlns:c16="http://schemas.microsoft.com/office/drawing/2014/chart" uri="{C3380CC4-5D6E-409C-BE32-E72D297353CC}">
              <c16:uniqueId val="{00000006-4F30-4B81-B28C-CBEEFC10272E}"/>
            </c:ext>
          </c:extLst>
        </c:ser>
        <c:ser>
          <c:idx val="1"/>
          <c:order val="1"/>
          <c:tx>
            <c:strRef>
              <c:f>Sheet1!$C$1</c:f>
              <c:strCache>
                <c:ptCount val="1"/>
                <c:pt idx="0">
                  <c:v>H1</c:v>
                </c:pt>
              </c:strCache>
            </c:strRef>
          </c:tx>
          <c:spPr>
            <a:solidFill>
              <a:schemeClr val="bg1">
                <a:lumMod val="90000"/>
              </a:schemeClr>
            </a:solidFill>
            <a:ln>
              <a:noFill/>
            </a:ln>
            <a:effectLst/>
          </c:spPr>
          <c:invertIfNegative val="0"/>
          <c:dLbls>
            <c:dLbl>
              <c:idx val="2"/>
              <c:delete val="1"/>
              <c:extLst>
                <c:ext xmlns:c15="http://schemas.microsoft.com/office/drawing/2012/chart" uri="{CE6537A1-D6FC-4f65-9D91-7224C49458BB}"/>
                <c:ext xmlns:c16="http://schemas.microsoft.com/office/drawing/2014/chart" uri="{C3380CC4-5D6E-409C-BE32-E72D297353CC}">
                  <c16:uniqueId val="{00000007-4F30-4B81-B28C-CBEEFC10272E}"/>
                </c:ext>
              </c:extLst>
            </c:dLbl>
            <c:dLbl>
              <c:idx val="3"/>
              <c:delete val="1"/>
              <c:extLst>
                <c:ext xmlns:c15="http://schemas.microsoft.com/office/drawing/2012/chart" uri="{CE6537A1-D6FC-4f65-9D91-7224C49458BB}"/>
                <c:ext xmlns:c16="http://schemas.microsoft.com/office/drawing/2014/chart" uri="{C3380CC4-5D6E-409C-BE32-E72D297353CC}">
                  <c16:uniqueId val="{00000008-4F30-4B81-B28C-CBEEFC10272E}"/>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总体</c:v>
                </c:pt>
                <c:pt idx="1">
                  <c:v>北一区</c:v>
                </c:pt>
                <c:pt idx="2">
                  <c:v>东二区</c:v>
                </c:pt>
                <c:pt idx="3">
                  <c:v>西一区</c:v>
                </c:pt>
                <c:pt idx="4">
                  <c:v>南二区</c:v>
                </c:pt>
                <c:pt idx="5">
                  <c:v>东三区</c:v>
                </c:pt>
                <c:pt idx="6">
                  <c:v>东一区</c:v>
                </c:pt>
                <c:pt idx="7">
                  <c:v>西二区</c:v>
                </c:pt>
                <c:pt idx="8">
                  <c:v>南一区</c:v>
                </c:pt>
              </c:strCache>
            </c:strRef>
          </c:cat>
          <c:val>
            <c:numRef>
              <c:f>Sheet1!$C$2:$C$10</c:f>
              <c:numCache>
                <c:formatCode>0.0</c:formatCode>
                <c:ptCount val="9"/>
                <c:pt idx="0">
                  <c:v>791.6</c:v>
                </c:pt>
                <c:pt idx="1">
                  <c:v>799.13131176941295</c:v>
                </c:pt>
                <c:pt idx="2">
                  <c:v>0</c:v>
                </c:pt>
                <c:pt idx="3">
                  <c:v>0</c:v>
                </c:pt>
                <c:pt idx="4">
                  <c:v>767.47674364334603</c:v>
                </c:pt>
                <c:pt idx="5">
                  <c:v>823.79597726221402</c:v>
                </c:pt>
                <c:pt idx="6">
                  <c:v>833.37086579098195</c:v>
                </c:pt>
                <c:pt idx="7">
                  <c:v>745.78809597769498</c:v>
                </c:pt>
                <c:pt idx="8">
                  <c:v>812.33349963283297</c:v>
                </c:pt>
              </c:numCache>
            </c:numRef>
          </c:val>
          <c:extLst>
            <c:ext xmlns:c16="http://schemas.microsoft.com/office/drawing/2014/chart" uri="{C3380CC4-5D6E-409C-BE32-E72D297353CC}">
              <c16:uniqueId val="{00000009-4F30-4B81-B28C-CBEEFC10272E}"/>
            </c:ext>
          </c:extLst>
        </c:ser>
        <c:dLbls>
          <c:showLegendKey val="0"/>
          <c:showVal val="0"/>
          <c:showCatName val="0"/>
          <c:showSerName val="0"/>
          <c:showPercent val="0"/>
          <c:showBubbleSize val="0"/>
        </c:dLbls>
        <c:gapWidth val="100"/>
        <c:overlap val="-15"/>
        <c:axId val="528159039"/>
        <c:axId val="570175343"/>
      </c:barChart>
      <c:catAx>
        <c:axId val="528159039"/>
        <c:scaling>
          <c:orientation val="minMax"/>
        </c:scaling>
        <c:delete val="1"/>
        <c:axPos val="b"/>
        <c:numFmt formatCode="General" sourceLinked="1"/>
        <c:majorTickMark val="none"/>
        <c:minorTickMark val="none"/>
        <c:tickLblPos val="nextTo"/>
        <c:crossAx val="570175343"/>
        <c:crosses val="autoZero"/>
        <c:auto val="1"/>
        <c:lblAlgn val="ctr"/>
        <c:lblOffset val="100"/>
        <c:noMultiLvlLbl val="0"/>
      </c:catAx>
      <c:valAx>
        <c:axId val="570175343"/>
        <c:scaling>
          <c:orientation val="minMax"/>
        </c:scaling>
        <c:delete val="1"/>
        <c:axPos val="l"/>
        <c:numFmt formatCode="0.0" sourceLinked="1"/>
        <c:majorTickMark val="none"/>
        <c:minorTickMark val="none"/>
        <c:tickLblPos val="nextTo"/>
        <c:crossAx val="528159039"/>
        <c:crosses val="autoZero"/>
        <c:crossBetween val="between"/>
      </c:valAx>
      <c:spPr>
        <a:noFill/>
        <a:ln>
          <a:noFill/>
        </a:ln>
        <a:effectLst/>
      </c:spPr>
    </c:plotArea>
    <c:legend>
      <c:legendPos val="t"/>
      <c:layout>
        <c:manualLayout>
          <c:xMode val="edge"/>
          <c:yMode val="edge"/>
          <c:x val="3.5244900321047242E-3"/>
          <c:y val="9.5015154195960738E-2"/>
          <c:w val="8.6833347733752897E-2"/>
          <c:h val="7.0585846669633995E-2"/>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6330975814810678E-2"/>
          <c:y val="5.553009188117973E-2"/>
          <c:w val="0.97604790213827763"/>
          <c:h val="0.82811171988427423"/>
        </c:manualLayout>
      </c:layout>
      <c:barChart>
        <c:barDir val="col"/>
        <c:grouping val="clustered"/>
        <c:varyColors val="0"/>
        <c:ser>
          <c:idx val="0"/>
          <c:order val="0"/>
          <c:tx>
            <c:strRef>
              <c:f>Sheet1!$B$1</c:f>
              <c:strCache>
                <c:ptCount val="1"/>
                <c:pt idx="0">
                  <c:v>H2</c:v>
                </c:pt>
              </c:strCache>
            </c:strRef>
          </c:tx>
          <c:spPr>
            <a:solidFill>
              <a:schemeClr val="bg1">
                <a:lumMod val="75000"/>
              </a:schemeClr>
            </a:solidFill>
            <a:ln>
              <a:noFill/>
            </a:ln>
            <a:effectLst/>
          </c:spPr>
          <c:invertIfNegative val="0"/>
          <c:dPt>
            <c:idx val="0"/>
            <c:invertIfNegative val="0"/>
            <c:bubble3D val="0"/>
            <c:spPr>
              <a:solidFill>
                <a:schemeClr val="bg1">
                  <a:lumMod val="75000"/>
                </a:schemeClr>
              </a:solidFill>
              <a:ln>
                <a:noFill/>
              </a:ln>
              <a:effectLst/>
            </c:spPr>
            <c:extLst>
              <c:ext xmlns:c16="http://schemas.microsoft.com/office/drawing/2014/chart" uri="{C3380CC4-5D6E-409C-BE32-E72D297353CC}">
                <c16:uniqueId val="{00000001-9041-4ECD-AF50-16C9F666F540}"/>
              </c:ext>
            </c:extLst>
          </c:dPt>
          <c:dPt>
            <c:idx val="1"/>
            <c:invertIfNegative val="0"/>
            <c:bubble3D val="0"/>
            <c:spPr>
              <a:solidFill>
                <a:schemeClr val="bg1">
                  <a:lumMod val="75000"/>
                </a:schemeClr>
              </a:solidFill>
              <a:ln>
                <a:noFill/>
              </a:ln>
              <a:effectLst/>
            </c:spPr>
            <c:extLst>
              <c:ext xmlns:c16="http://schemas.microsoft.com/office/drawing/2014/chart" uri="{C3380CC4-5D6E-409C-BE32-E72D297353CC}">
                <c16:uniqueId val="{00000003-9041-4ECD-AF50-16C9F666F540}"/>
              </c:ext>
            </c:extLst>
          </c:dPt>
          <c:dPt>
            <c:idx val="2"/>
            <c:invertIfNegative val="0"/>
            <c:bubble3D val="0"/>
            <c:spPr>
              <a:solidFill>
                <a:srgbClr val="4B8D56"/>
              </a:solidFill>
              <a:ln>
                <a:noFill/>
              </a:ln>
              <a:effectLst/>
            </c:spPr>
            <c:extLst>
              <c:ext xmlns:c16="http://schemas.microsoft.com/office/drawing/2014/chart" uri="{C3380CC4-5D6E-409C-BE32-E72D297353CC}">
                <c16:uniqueId val="{00000005-9041-4ECD-AF50-16C9F666F540}"/>
              </c:ext>
            </c:extLst>
          </c:dPt>
          <c:dPt>
            <c:idx val="4"/>
            <c:invertIfNegative val="0"/>
            <c:bubble3D val="0"/>
            <c:spPr>
              <a:solidFill>
                <a:srgbClr val="4B8D56"/>
              </a:solidFill>
              <a:ln>
                <a:noFill/>
              </a:ln>
              <a:effectLst/>
            </c:spPr>
            <c:extLst>
              <c:ext xmlns:c16="http://schemas.microsoft.com/office/drawing/2014/chart" uri="{C3380CC4-5D6E-409C-BE32-E72D297353CC}">
                <c16:uniqueId val="{00000007-9041-4ECD-AF50-16C9F666F540}"/>
              </c:ext>
            </c:extLst>
          </c:dPt>
          <c:dPt>
            <c:idx val="7"/>
            <c:invertIfNegative val="0"/>
            <c:bubble3D val="0"/>
            <c:spPr>
              <a:solidFill>
                <a:srgbClr val="FF0000"/>
              </a:solidFill>
              <a:ln>
                <a:noFill/>
              </a:ln>
              <a:effectLst/>
            </c:spPr>
            <c:extLst>
              <c:ext xmlns:c16="http://schemas.microsoft.com/office/drawing/2014/chart" uri="{C3380CC4-5D6E-409C-BE32-E72D297353CC}">
                <c16:uniqueId val="{00000009-9041-4ECD-AF50-16C9F666F540}"/>
              </c:ext>
            </c:extLst>
          </c:dPt>
          <c:dPt>
            <c:idx val="9"/>
            <c:invertIfNegative val="0"/>
            <c:bubble3D val="0"/>
            <c:spPr>
              <a:solidFill>
                <a:srgbClr val="FF0000"/>
              </a:solidFill>
              <a:ln>
                <a:noFill/>
              </a:ln>
              <a:effectLst/>
            </c:spPr>
            <c:extLst>
              <c:ext xmlns:c16="http://schemas.microsoft.com/office/drawing/2014/chart" uri="{C3380CC4-5D6E-409C-BE32-E72D297353CC}">
                <c16:uniqueId val="{0000000B-9041-4ECD-AF50-16C9F666F540}"/>
              </c:ext>
            </c:extLst>
          </c:dPt>
          <c:dLbls>
            <c:numFmt formatCode="#,##0.0_);[Red]\(#,##0.0\)" sourceLinked="0"/>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SSI</c:v>
                </c:pt>
                <c:pt idx="1">
                  <c:v> 入店前沟通</c:v>
                </c:pt>
                <c:pt idx="2">
                  <c:v> 到店接待</c:v>
                </c:pt>
                <c:pt idx="3">
                  <c:v> 店内看车</c:v>
                </c:pt>
                <c:pt idx="4">
                  <c:v> 试乘试驾</c:v>
                </c:pt>
                <c:pt idx="5">
                  <c:v> 洽谈下定</c:v>
                </c:pt>
                <c:pt idx="6">
                  <c:v> 送别与回访</c:v>
                </c:pt>
                <c:pt idx="7">
                  <c:v> 交付等待</c:v>
                </c:pt>
                <c:pt idx="8">
                  <c:v> 交车环节</c:v>
                </c:pt>
                <c:pt idx="9">
                  <c:v> 用户维系</c:v>
                </c:pt>
              </c:strCache>
            </c:strRef>
          </c:cat>
          <c:val>
            <c:numRef>
              <c:f>Sheet1!$B$2:$B$11</c:f>
              <c:numCache>
                <c:formatCode>0.0</c:formatCode>
                <c:ptCount val="10"/>
                <c:pt idx="0">
                  <c:v>858.73789872706402</c:v>
                </c:pt>
                <c:pt idx="1">
                  <c:v>852.64555786358505</c:v>
                </c:pt>
                <c:pt idx="2">
                  <c:v>891.88191881918794</c:v>
                </c:pt>
                <c:pt idx="3">
                  <c:v>860.76387639174902</c:v>
                </c:pt>
                <c:pt idx="4">
                  <c:v>884.84725237953501</c:v>
                </c:pt>
                <c:pt idx="5">
                  <c:v>860.05443311423699</c:v>
                </c:pt>
                <c:pt idx="6">
                  <c:v>847.12618182317397</c:v>
                </c:pt>
                <c:pt idx="7">
                  <c:v>842.54850124045402</c:v>
                </c:pt>
                <c:pt idx="8">
                  <c:v>862.11768003361999</c:v>
                </c:pt>
                <c:pt idx="9" formatCode="General">
                  <c:v>827.50857194299999</c:v>
                </c:pt>
              </c:numCache>
            </c:numRef>
          </c:val>
          <c:extLst>
            <c:ext xmlns:c16="http://schemas.microsoft.com/office/drawing/2014/chart" uri="{C3380CC4-5D6E-409C-BE32-E72D297353CC}">
              <c16:uniqueId val="{0000000C-9041-4ECD-AF50-16C9F666F540}"/>
            </c:ext>
          </c:extLst>
        </c:ser>
        <c:ser>
          <c:idx val="1"/>
          <c:order val="1"/>
          <c:tx>
            <c:strRef>
              <c:f>Sheet1!$C$1</c:f>
              <c:strCache>
                <c:ptCount val="1"/>
                <c:pt idx="0">
                  <c:v>H1</c:v>
                </c:pt>
              </c:strCache>
            </c:strRef>
          </c:tx>
          <c:spPr>
            <a:solidFill>
              <a:schemeClr val="bg1">
                <a:lumMod val="90000"/>
              </a:schemeClr>
            </a:solidFill>
            <a:ln>
              <a:noFill/>
            </a:ln>
            <a:effectLst/>
          </c:spPr>
          <c:invertIfNegative val="0"/>
          <c:dLbls>
            <c:numFmt formatCode="#,##0.0_);[Red]\(#,##0.0\)" sourceLinked="0"/>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SSI</c:v>
                </c:pt>
                <c:pt idx="1">
                  <c:v> 入店前沟通</c:v>
                </c:pt>
                <c:pt idx="2">
                  <c:v> 到店接待</c:v>
                </c:pt>
                <c:pt idx="3">
                  <c:v> 店内看车</c:v>
                </c:pt>
                <c:pt idx="4">
                  <c:v> 试乘试驾</c:v>
                </c:pt>
                <c:pt idx="5">
                  <c:v> 洽谈下定</c:v>
                </c:pt>
                <c:pt idx="6">
                  <c:v> 送别与回访</c:v>
                </c:pt>
                <c:pt idx="7">
                  <c:v> 交付等待</c:v>
                </c:pt>
                <c:pt idx="8">
                  <c:v> 交车环节</c:v>
                </c:pt>
                <c:pt idx="9">
                  <c:v> 用户维系</c:v>
                </c:pt>
              </c:strCache>
            </c:strRef>
          </c:cat>
          <c:val>
            <c:numRef>
              <c:f>Sheet1!$C$2:$C$11</c:f>
              <c:numCache>
                <c:formatCode>0.0</c:formatCode>
                <c:ptCount val="10"/>
                <c:pt idx="0">
                  <c:v>794.49318581940895</c:v>
                </c:pt>
                <c:pt idx="1">
                  <c:v>808.24600809497099</c:v>
                </c:pt>
                <c:pt idx="2">
                  <c:v>798.49363313218896</c:v>
                </c:pt>
                <c:pt idx="3">
                  <c:v>814.70960625820101</c:v>
                </c:pt>
                <c:pt idx="4">
                  <c:v>809.05377388855004</c:v>
                </c:pt>
                <c:pt idx="5">
                  <c:v>771.97560324853396</c:v>
                </c:pt>
                <c:pt idx="6">
                  <c:v>783.33333333333303</c:v>
                </c:pt>
                <c:pt idx="7">
                  <c:v>755.357142857143</c:v>
                </c:pt>
                <c:pt idx="8">
                  <c:v>772.41438694922999</c:v>
                </c:pt>
                <c:pt idx="9" formatCode="General">
                  <c:v>788.07690896049201</c:v>
                </c:pt>
              </c:numCache>
            </c:numRef>
          </c:val>
          <c:extLst>
            <c:ext xmlns:c16="http://schemas.microsoft.com/office/drawing/2014/chart" uri="{C3380CC4-5D6E-409C-BE32-E72D297353CC}">
              <c16:uniqueId val="{0000000D-9041-4ECD-AF50-16C9F666F540}"/>
            </c:ext>
          </c:extLst>
        </c:ser>
        <c:dLbls>
          <c:showLegendKey val="0"/>
          <c:showVal val="0"/>
          <c:showCatName val="0"/>
          <c:showSerName val="0"/>
          <c:showPercent val="0"/>
          <c:showBubbleSize val="0"/>
        </c:dLbls>
        <c:gapWidth val="100"/>
        <c:overlap val="-15"/>
        <c:axId val="528159039"/>
        <c:axId val="570175343"/>
      </c:barChart>
      <c:catAx>
        <c:axId val="52815903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570175343"/>
        <c:crosses val="autoZero"/>
        <c:auto val="1"/>
        <c:lblAlgn val="ctr"/>
        <c:lblOffset val="100"/>
        <c:noMultiLvlLbl val="0"/>
      </c:catAx>
      <c:valAx>
        <c:axId val="570175343"/>
        <c:scaling>
          <c:orientation val="minMax"/>
        </c:scaling>
        <c:delete val="1"/>
        <c:axPos val="l"/>
        <c:numFmt formatCode="0.0" sourceLinked="1"/>
        <c:majorTickMark val="none"/>
        <c:minorTickMark val="none"/>
        <c:tickLblPos val="nextTo"/>
        <c:crossAx val="528159039"/>
        <c:crosses val="autoZero"/>
        <c:crossBetween val="between"/>
      </c:valAx>
      <c:spPr>
        <a:noFill/>
        <a:ln>
          <a:noFill/>
        </a:ln>
        <a:effectLst/>
      </c:spPr>
    </c:plotArea>
    <c:legend>
      <c:legendPos val="t"/>
      <c:layout>
        <c:manualLayout>
          <c:xMode val="edge"/>
          <c:yMode val="edge"/>
          <c:x val="1.2691677652969699E-2"/>
          <c:y val="2.5125359201590501E-2"/>
          <c:w val="8.6833347733752897E-2"/>
          <c:h val="7.0585846669633995E-2"/>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Sheet1!$C$1</c:f>
              <c:strCache>
                <c:ptCount val="1"/>
                <c:pt idx="0">
                  <c:v>系列 2</c:v>
                </c:pt>
              </c:strCache>
            </c:strRef>
          </c:tx>
          <c:spPr>
            <a:solidFill>
              <a:srgbClr val="002060"/>
            </a:solidFill>
            <a:ln w="19050">
              <a:solidFill>
                <a:schemeClr val="bg1"/>
              </a:solidFill>
            </a:ln>
            <a:effectLst/>
          </c:spPr>
          <c:invertIfNegative val="0"/>
          <c:dLbls>
            <c:dLbl>
              <c:idx val="0"/>
              <c:layout>
                <c:manualLayout>
                  <c:x val="5.1046520663792297E-3"/>
                  <c:y val="0"/>
                </c:manualLayout>
              </c:layout>
              <c:tx>
                <c:rich>
                  <a:bodyPr/>
                  <a:lstStyle/>
                  <a:p>
                    <a:fld id="{9F2B9D4A-608C-4432-9EB1-FEAC9A7F4549}" type="VALUE">
                      <a:rPr lang="en-US" altLang="zh-CN">
                        <a:ea typeface="Alibaba PuHuiTi 2.0 55 Regular"/>
                      </a:rPr>
                      <a:pPr/>
                      <a:t>[值]</a:t>
                    </a:fld>
                    <a:endParaRPr lang="zh-CN" altLang="en-US"/>
                  </a:p>
                </c:rich>
              </c:tx>
              <c:dLblPos val="ctr"/>
              <c:showLegendKey val="0"/>
              <c:showVal val="1"/>
              <c:showCatName val="0"/>
              <c:showSerName val="0"/>
              <c:showPercent val="0"/>
              <c:showBubbleSize val="0"/>
              <c:extLst>
                <c:ext xmlns:c15="http://schemas.microsoft.com/office/drawing/2012/chart" uri="{CE6537A1-D6FC-4f65-9D91-7224C49458BB}">
                  <c15:layout>
                    <c:manualLayout>
                      <c:w val="0.229709342987066"/>
                      <c:h val="7.7450798312535096E-2"/>
                    </c:manualLayout>
                  </c15:layout>
                  <c15:dlblFieldTable/>
                  <c15:showDataLabelsRange val="0"/>
                </c:ext>
                <c:ext xmlns:c16="http://schemas.microsoft.com/office/drawing/2014/chart" uri="{C3380CC4-5D6E-409C-BE32-E72D297353CC}">
                  <c16:uniqueId val="{00000000-4225-4375-A474-57A209470132}"/>
                </c:ext>
              </c:extLst>
            </c:dLbl>
            <c:dLbl>
              <c:idx val="1"/>
              <c:tx>
                <c:rich>
                  <a:bodyPr/>
                  <a:lstStyle/>
                  <a:p>
                    <a:fld id="{3492C0B5-8CB0-4FB0-BF68-59B69894C44E}" type="VALUE">
                      <a:rPr lang="en-US" altLang="zh-CN">
                        <a:ea typeface="Alibaba PuHuiTi 2.0 55 Regular"/>
                      </a:rPr>
                      <a:pPr/>
                      <a:t>[值]</a:t>
                    </a:fld>
                    <a:endParaRPr lang="zh-CN" altLang="en-US"/>
                  </a:p>
                </c:rich>
              </c:tx>
              <c:dLblPos val="ctr"/>
              <c:showLegendKey val="0"/>
              <c:showVal val="1"/>
              <c:showCatName val="0"/>
              <c:showSerName val="0"/>
              <c:showPercent val="0"/>
              <c:showBubbleSize val="0"/>
              <c:extLst>
                <c:ext xmlns:c15="http://schemas.microsoft.com/office/drawing/2012/chart" uri="{CE6537A1-D6FC-4f65-9D91-7224C49458BB}">
                  <c15:layout>
                    <c:manualLayout>
                      <c:w val="0.25727446414551303"/>
                      <c:h val="7.7450798312535096E-2"/>
                    </c:manualLayout>
                  </c15:layout>
                  <c15:dlblFieldTable/>
                  <c15:showDataLabelsRange val="0"/>
                </c:ext>
                <c:ext xmlns:c16="http://schemas.microsoft.com/office/drawing/2014/chart" uri="{C3380CC4-5D6E-409C-BE32-E72D297353CC}">
                  <c16:uniqueId val="{00000001-4225-4375-A474-57A209470132}"/>
                </c:ext>
              </c:extLst>
            </c:dLbl>
            <c:dLbl>
              <c:idx val="2"/>
              <c:tx>
                <c:rich>
                  <a:bodyPr/>
                  <a:lstStyle/>
                  <a:p>
                    <a:fld id="{D17CDB19-241F-4D97-A756-A2A8A1A35B81}" type="VALUE">
                      <a:rPr lang="en-US" altLang="zh-CN">
                        <a:ea typeface="Alibaba PuHuiTi 2.0 55 Regular"/>
                      </a:rPr>
                      <a:pPr/>
                      <a:t>[值]</a:t>
                    </a:fld>
                    <a:endParaRPr lang="zh-CN" altLang="en-US"/>
                  </a:p>
                </c:rich>
              </c:tx>
              <c:dLblPos val="ctr"/>
              <c:showLegendKey val="0"/>
              <c:showVal val="1"/>
              <c:showCatName val="0"/>
              <c:showSerName val="0"/>
              <c:showPercent val="0"/>
              <c:showBubbleSize val="0"/>
              <c:extLst>
                <c:ext xmlns:c15="http://schemas.microsoft.com/office/drawing/2012/chart" uri="{CE6537A1-D6FC-4f65-9D91-7224C49458BB}">
                  <c15:layout>
                    <c:manualLayout>
                      <c:w val="0.25285043235465099"/>
                      <c:h val="7.7450798312535096E-2"/>
                    </c:manualLayout>
                  </c15:layout>
                  <c15:dlblFieldTable/>
                  <c15:showDataLabelsRange val="0"/>
                </c:ext>
                <c:ext xmlns:c16="http://schemas.microsoft.com/office/drawing/2014/chart" uri="{C3380CC4-5D6E-409C-BE32-E72D297353CC}">
                  <c16:uniqueId val="{00000002-4225-4375-A474-57A209470132}"/>
                </c:ext>
              </c:extLst>
            </c:dLbl>
            <c:dLbl>
              <c:idx val="3"/>
              <c:tx>
                <c:rich>
                  <a:bodyPr/>
                  <a:lstStyle/>
                  <a:p>
                    <a:fld id="{3EAFB595-5A27-47C6-A468-EC0B2C5D229A}" type="VALUE">
                      <a:rPr lang="en-US" altLang="zh-CN">
                        <a:ea typeface="Alibaba PuHuiTi 2.0 55 Regular"/>
                      </a:rPr>
                      <a:pPr/>
                      <a:t>[值]</a:t>
                    </a:fld>
                    <a:endParaRPr lang="zh-CN" altLang="en-US"/>
                  </a:p>
                </c:rich>
              </c:tx>
              <c:dLblPos val="ctr"/>
              <c:showLegendKey val="0"/>
              <c:showVal val="1"/>
              <c:showCatName val="0"/>
              <c:showSerName val="0"/>
              <c:showPercent val="0"/>
              <c:showBubbleSize val="0"/>
              <c:extLst>
                <c:ext xmlns:c15="http://schemas.microsoft.com/office/drawing/2012/chart" uri="{CE6537A1-D6FC-4f65-9D91-7224C49458BB}">
                  <c15:layout>
                    <c:manualLayout>
                      <c:w val="0.28211710420189201"/>
                      <c:h val="7.7450798312535096E-2"/>
                    </c:manualLayout>
                  </c15:layout>
                  <c15:dlblFieldTable/>
                  <c15:showDataLabelsRange val="0"/>
                </c:ext>
                <c:ext xmlns:c16="http://schemas.microsoft.com/office/drawing/2014/chart" uri="{C3380CC4-5D6E-409C-BE32-E72D297353CC}">
                  <c16:uniqueId val="{00000003-4225-4375-A474-57A209470132}"/>
                </c:ext>
              </c:extLst>
            </c:dLbl>
            <c:dLbl>
              <c:idx val="4"/>
              <c:tx>
                <c:rich>
                  <a:bodyPr/>
                  <a:lstStyle/>
                  <a:p>
                    <a:fld id="{E0E018B3-2BA6-4CEA-A54C-F28B2D00D735}" type="VALUE">
                      <a:rPr lang="en-US" altLang="zh-CN">
                        <a:ea typeface="Alibaba PuHuiTi 2.0 55 Regular"/>
                      </a:rPr>
                      <a:pPr/>
                      <a:t>[值]</a:t>
                    </a:fld>
                    <a:endParaRPr lang="zh-CN" altLang="en-US"/>
                  </a:p>
                </c:rich>
              </c:tx>
              <c:dLblPos val="ctr"/>
              <c:showLegendKey val="0"/>
              <c:showVal val="1"/>
              <c:showCatName val="0"/>
              <c:showSerName val="0"/>
              <c:showPercent val="0"/>
              <c:showBubbleSize val="0"/>
              <c:extLst>
                <c:ext xmlns:c15="http://schemas.microsoft.com/office/drawing/2012/chart" uri="{CE6537A1-D6FC-4f65-9D91-7224C49458BB}">
                  <c15:layout>
                    <c:manualLayout>
                      <c:w val="0.25489229318120299"/>
                      <c:h val="7.7450798312535096E-2"/>
                    </c:manualLayout>
                  </c15:layout>
                  <c15:dlblFieldTable/>
                  <c15:showDataLabelsRange val="0"/>
                </c:ext>
                <c:ext xmlns:c16="http://schemas.microsoft.com/office/drawing/2014/chart" uri="{C3380CC4-5D6E-409C-BE32-E72D297353CC}">
                  <c16:uniqueId val="{00000004-4225-4375-A474-57A209470132}"/>
                </c:ext>
              </c:extLst>
            </c:dLbl>
            <c:dLbl>
              <c:idx val="5"/>
              <c:tx>
                <c:rich>
                  <a:bodyPr/>
                  <a:lstStyle/>
                  <a:p>
                    <a:fld id="{F726E37D-F80C-4E95-B3DB-C239548AA887}" type="VALUE">
                      <a:rPr lang="en-US" altLang="zh-CN">
                        <a:ea typeface="Alibaba PuHuiTi 2.0 55 Regular"/>
                      </a:rPr>
                      <a:pPr/>
                      <a:t>[值]</a:t>
                    </a:fld>
                    <a:endParaRPr lang="zh-CN" altLang="en-US"/>
                  </a:p>
                </c:rich>
              </c:tx>
              <c:dLblPos val="ctr"/>
              <c:showLegendKey val="0"/>
              <c:showVal val="1"/>
              <c:showCatName val="0"/>
              <c:showSerName val="0"/>
              <c:showPercent val="0"/>
              <c:showBubbleSize val="0"/>
              <c:extLst>
                <c:ext xmlns:c15="http://schemas.microsoft.com/office/drawing/2012/chart" uri="{CE6537A1-D6FC-4f65-9D91-7224C49458BB}">
                  <c15:layout>
                    <c:manualLayout>
                      <c:w val="0.27633183185999599"/>
                      <c:h val="7.7450798312535096E-2"/>
                    </c:manualLayout>
                  </c15:layout>
                  <c15:dlblFieldTable/>
                  <c15:showDataLabelsRange val="0"/>
                </c:ext>
                <c:ext xmlns:c16="http://schemas.microsoft.com/office/drawing/2014/chart" uri="{C3380CC4-5D6E-409C-BE32-E72D297353CC}">
                  <c16:uniqueId val="{00000005-4225-4375-A474-57A209470132}"/>
                </c:ext>
              </c:extLst>
            </c:dLbl>
            <c:dLbl>
              <c:idx val="6"/>
              <c:tx>
                <c:rich>
                  <a:bodyPr/>
                  <a:lstStyle/>
                  <a:p>
                    <a:fld id="{5F90B81C-5A86-4901-AC70-077198A952F3}" type="VALUE">
                      <a:rPr lang="en-US" altLang="zh-CN">
                        <a:ea typeface="Alibaba PuHuiTi 2.0 55 Regular"/>
                      </a:rPr>
                      <a:pPr/>
                      <a:t>[值]</a:t>
                    </a:fld>
                    <a:endParaRPr lang="zh-CN" altLang="en-US"/>
                  </a:p>
                </c:rich>
              </c:tx>
              <c:dLblPos val="ctr"/>
              <c:showLegendKey val="0"/>
              <c:showVal val="1"/>
              <c:showCatName val="0"/>
              <c:showSerName val="0"/>
              <c:showPercent val="0"/>
              <c:showBubbleSize val="0"/>
              <c:extLst>
                <c:ext xmlns:c15="http://schemas.microsoft.com/office/drawing/2012/chart" uri="{CE6537A1-D6FC-4f65-9D91-7224C49458BB}">
                  <c15:layout>
                    <c:manualLayout>
                      <c:w val="0.26850469869154803"/>
                      <c:h val="7.7450798312535096E-2"/>
                    </c:manualLayout>
                  </c15:layout>
                  <c15:dlblFieldTable/>
                  <c15:showDataLabelsRange val="0"/>
                </c:ext>
                <c:ext xmlns:c16="http://schemas.microsoft.com/office/drawing/2014/chart" uri="{C3380CC4-5D6E-409C-BE32-E72D297353CC}">
                  <c16:uniqueId val="{00000006-4225-4375-A474-57A209470132}"/>
                </c:ext>
              </c:extLst>
            </c:dLbl>
            <c:dLbl>
              <c:idx val="7"/>
              <c:tx>
                <c:rich>
                  <a:bodyPr/>
                  <a:lstStyle/>
                  <a:p>
                    <a:fld id="{1BB98A1B-F8B9-44A8-BC1A-8BCAE6388579}" type="VALUE">
                      <a:rPr lang="en-US" altLang="zh-CN">
                        <a:ea typeface="Alibaba PuHuiTi 2.0 55 Regular"/>
                      </a:rPr>
                      <a:pPr/>
                      <a:t>[值]</a:t>
                    </a:fld>
                    <a:endParaRPr lang="zh-CN" altLang="en-US"/>
                  </a:p>
                </c:rich>
              </c:tx>
              <c:dLblPos val="ctr"/>
              <c:showLegendKey val="0"/>
              <c:showVal val="1"/>
              <c:showCatName val="0"/>
              <c:showSerName val="0"/>
              <c:showPercent val="0"/>
              <c:showBubbleSize val="0"/>
              <c:extLst>
                <c:ext xmlns:c15="http://schemas.microsoft.com/office/drawing/2012/chart" uri="{CE6537A1-D6FC-4f65-9D91-7224C49458BB}">
                  <c15:layout>
                    <c:manualLayout>
                      <c:w val="0.27463028117120297"/>
                      <c:h val="7.7450798312535096E-2"/>
                    </c:manualLayout>
                  </c15:layout>
                  <c15:dlblFieldTable/>
                  <c15:showDataLabelsRange val="0"/>
                </c:ext>
                <c:ext xmlns:c16="http://schemas.microsoft.com/office/drawing/2014/chart" uri="{C3380CC4-5D6E-409C-BE32-E72D297353CC}">
                  <c16:uniqueId val="{00000007-4225-4375-A474-57A209470132}"/>
                </c:ext>
              </c:extLst>
            </c:dLbl>
            <c:dLbl>
              <c:idx val="8"/>
              <c:tx>
                <c:rich>
                  <a:bodyPr/>
                  <a:lstStyle/>
                  <a:p>
                    <a:fld id="{67FF0A7A-5A07-4909-8B9A-D937AE7002D9}" type="VALUE">
                      <a:rPr lang="en-US" altLang="zh-CN">
                        <a:ea typeface="Alibaba PuHuiTi 2.0 55 Regular"/>
                      </a:rPr>
                      <a:pPr/>
                      <a:t>[值]</a:t>
                    </a:fld>
                    <a:endParaRPr lang="zh-CN" altLang="en-US"/>
                  </a:p>
                </c:rich>
              </c:tx>
              <c:dLblPos val="ctr"/>
              <c:showLegendKey val="0"/>
              <c:showVal val="1"/>
              <c:showCatName val="0"/>
              <c:showSerName val="0"/>
              <c:showPercent val="0"/>
              <c:showBubbleSize val="0"/>
              <c:extLst>
                <c:ext xmlns:c15="http://schemas.microsoft.com/office/drawing/2012/chart" uri="{CE6537A1-D6FC-4f65-9D91-7224C49458BB}">
                  <c15:layout>
                    <c:manualLayout>
                      <c:w val="0.223924070645169"/>
                      <c:h val="7.7450798312535096E-2"/>
                    </c:manualLayout>
                  </c15:layout>
                  <c15:dlblFieldTable/>
                  <c15:showDataLabelsRange val="0"/>
                </c:ext>
                <c:ext xmlns:c16="http://schemas.microsoft.com/office/drawing/2014/chart" uri="{C3380CC4-5D6E-409C-BE32-E72D297353CC}">
                  <c16:uniqueId val="{00000008-4225-4375-A474-57A209470132}"/>
                </c:ext>
              </c:extLst>
            </c:dLbl>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4"/>
                <c:pt idx="0">
                  <c:v>类别 1</c:v>
                </c:pt>
                <c:pt idx="1">
                  <c:v>类别 2</c:v>
                </c:pt>
                <c:pt idx="2">
                  <c:v>类别 3</c:v>
                </c:pt>
                <c:pt idx="3">
                  <c:v>类别 4</c:v>
                </c:pt>
              </c:strCache>
            </c:strRef>
          </c:cat>
          <c:val>
            <c:numRef>
              <c:f>Sheet1!$B$2:$B$10</c:f>
              <c:numCache>
                <c:formatCode>0.0</c:formatCode>
                <c:ptCount val="9"/>
                <c:pt idx="0">
                  <c:v>852.64555786358505</c:v>
                </c:pt>
                <c:pt idx="1">
                  <c:v>891.88191881918794</c:v>
                </c:pt>
                <c:pt idx="2">
                  <c:v>860.76387639174902</c:v>
                </c:pt>
                <c:pt idx="3">
                  <c:v>884.84725237953501</c:v>
                </c:pt>
                <c:pt idx="4">
                  <c:v>860.05443311423699</c:v>
                </c:pt>
                <c:pt idx="5">
                  <c:v>847.12618182317397</c:v>
                </c:pt>
                <c:pt idx="6">
                  <c:v>842.54850124045402</c:v>
                </c:pt>
                <c:pt idx="7">
                  <c:v>862.11768003361999</c:v>
                </c:pt>
                <c:pt idx="8">
                  <c:v>827.50857194299999</c:v>
                </c:pt>
              </c:numCache>
            </c:numRef>
          </c:val>
          <c:extLst>
            <c:ext xmlns:c16="http://schemas.microsoft.com/office/drawing/2014/chart" uri="{C3380CC4-5D6E-409C-BE32-E72D297353CC}">
              <c16:uniqueId val="{00000009-4225-4375-A474-57A209470132}"/>
            </c:ext>
          </c:extLst>
        </c:ser>
        <c:dLbls>
          <c:showLegendKey val="0"/>
          <c:showVal val="1"/>
          <c:showCatName val="0"/>
          <c:showSerName val="0"/>
          <c:showPercent val="0"/>
          <c:showBubbleSize val="0"/>
        </c:dLbls>
        <c:gapWidth val="100"/>
        <c:axId val="117823423"/>
        <c:axId val="117813343"/>
      </c:barChart>
      <c:catAx>
        <c:axId val="117823423"/>
        <c:scaling>
          <c:orientation val="maxMin"/>
        </c:scaling>
        <c:delete val="1"/>
        <c:axPos val="l"/>
        <c:numFmt formatCode="General" sourceLinked="1"/>
        <c:majorTickMark val="out"/>
        <c:minorTickMark val="none"/>
        <c:tickLblPos val="nextTo"/>
        <c:crossAx val="117813343"/>
        <c:crosses val="autoZero"/>
        <c:auto val="1"/>
        <c:lblAlgn val="ctr"/>
        <c:lblOffset val="100"/>
        <c:noMultiLvlLbl val="0"/>
      </c:catAx>
      <c:valAx>
        <c:axId val="117813343"/>
        <c:scaling>
          <c:orientation val="minMax"/>
        </c:scaling>
        <c:delete val="1"/>
        <c:axPos val="t"/>
        <c:numFmt formatCode="0.0" sourceLinked="1"/>
        <c:majorTickMark val="out"/>
        <c:minorTickMark val="none"/>
        <c:tickLblPos val="nextTo"/>
        <c:crossAx val="117823423"/>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rgbClr val="4B8D56"/>
            </a:solidFill>
            <a:ln>
              <a:noFill/>
            </a:ln>
            <a:effectLst/>
          </c:spPr>
          <c:invertIfNegative val="1"/>
          <c:dLbls>
            <c:spPr>
              <a:noFill/>
              <a:ln>
                <a:noFill/>
              </a:ln>
              <a:effectLst/>
            </c:spPr>
            <c:txPr>
              <a:bodyPr rot="0" spcFirstLastPara="1" vertOverflow="ellipsis" vert="horz" wrap="none" lIns="38100" tIns="19050" rIns="38100" bIns="19050" anchor="ctr" anchorCtr="1">
                <a:spAutoFit/>
              </a:bodyPr>
              <a:lstStyle/>
              <a:p>
                <a:pPr>
                  <a:defRPr sz="900" b="0" i="0" u="none" strike="noStrike" kern="1200" baseline="0">
                    <a:solidFill>
                      <a:schemeClr val="tx1">
                        <a:lumMod val="75000"/>
                        <a:lumOff val="25000"/>
                      </a:schemeClr>
                    </a:solidFill>
                    <a:latin typeface="+mn-ea"/>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Sheet1!$A$2:$A$10</c:f>
              <c:strCache>
                <c:ptCount val="4"/>
                <c:pt idx="0">
                  <c:v>类别 1</c:v>
                </c:pt>
                <c:pt idx="1">
                  <c:v>类别 2</c:v>
                </c:pt>
                <c:pt idx="2">
                  <c:v>类别 3</c:v>
                </c:pt>
                <c:pt idx="3">
                  <c:v>类别 4</c:v>
                </c:pt>
              </c:strCache>
            </c:strRef>
          </c:cat>
          <c:val>
            <c:numRef>
              <c:f>Sheet1!$B$2:$B$10</c:f>
              <c:numCache>
                <c:formatCode>General</c:formatCode>
                <c:ptCount val="9"/>
                <c:pt idx="0">
                  <c:v>-14.5</c:v>
                </c:pt>
                <c:pt idx="1">
                  <c:v>30.1</c:v>
                </c:pt>
                <c:pt idx="2">
                  <c:v>-6.8</c:v>
                </c:pt>
                <c:pt idx="3">
                  <c:v>14.9</c:v>
                </c:pt>
                <c:pt idx="4">
                  <c:v>-10.1</c:v>
                </c:pt>
                <c:pt idx="5">
                  <c:v>-23.6</c:v>
                </c:pt>
                <c:pt idx="6">
                  <c:v>-25.4</c:v>
                </c:pt>
                <c:pt idx="7">
                  <c:v>-21.3</c:v>
                </c:pt>
                <c:pt idx="8">
                  <c:v>-46.9</c:v>
                </c:pt>
              </c:numCache>
            </c:numRef>
          </c:val>
          <c:extLst>
            <c:ext xmlns:c14="http://schemas.microsoft.com/office/drawing/2007/8/2/chart" uri="{6F2FDCE9-48DA-4B69-8628-5D25D57E5C99}">
              <c14:invertSolidFillFmt>
                <c14:spPr xmlns:c14="http://schemas.microsoft.com/office/drawing/2007/8/2/chart">
                  <a:solidFill>
                    <a:srgbClr val="FF0000"/>
                  </a:solidFill>
                  <a:ln>
                    <a:noFill/>
                  </a:ln>
                  <a:effectLst/>
                </c14:spPr>
              </c14:invertSolidFillFmt>
            </c:ext>
            <c:ext xmlns:c16="http://schemas.microsoft.com/office/drawing/2014/chart" uri="{C3380CC4-5D6E-409C-BE32-E72D297353CC}">
              <c16:uniqueId val="{00000000-B4E8-4A71-81E0-03DEDAF5F3CF}"/>
            </c:ext>
          </c:extLst>
        </c:ser>
        <c:dLbls>
          <c:showLegendKey val="0"/>
          <c:showVal val="0"/>
          <c:showCatName val="0"/>
          <c:showSerName val="0"/>
          <c:showPercent val="0"/>
          <c:showBubbleSize val="0"/>
        </c:dLbls>
        <c:gapWidth val="182"/>
        <c:axId val="819856095"/>
        <c:axId val="714709568"/>
      </c:barChart>
      <c:catAx>
        <c:axId val="819856095"/>
        <c:scaling>
          <c:orientation val="maxMin"/>
        </c:scaling>
        <c:delete val="0"/>
        <c:axPos val="l"/>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14709568"/>
        <c:crosses val="autoZero"/>
        <c:auto val="1"/>
        <c:lblAlgn val="ctr"/>
        <c:lblOffset val="100"/>
        <c:noMultiLvlLbl val="0"/>
      </c:catAx>
      <c:valAx>
        <c:axId val="714709568"/>
        <c:scaling>
          <c:orientation val="minMax"/>
        </c:scaling>
        <c:delete val="1"/>
        <c:axPos val="t"/>
        <c:numFmt formatCode="General" sourceLinked="1"/>
        <c:majorTickMark val="none"/>
        <c:minorTickMark val="none"/>
        <c:tickLblPos val="nextTo"/>
        <c:crossAx val="8198560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rgbClr val="4B8D56"/>
            </a:solidFill>
            <a:ln>
              <a:noFill/>
            </a:ln>
            <a:effectLst/>
          </c:spPr>
          <c:invertIfNegative val="1"/>
          <c:dLbls>
            <c:spPr>
              <a:noFill/>
              <a:ln>
                <a:noFill/>
              </a:ln>
              <a:effectLst/>
            </c:spPr>
            <c:txPr>
              <a:bodyPr rot="0" spcFirstLastPara="1" vertOverflow="ellipsis" vert="horz" wrap="none" lIns="38100" tIns="19050" rIns="38100" bIns="19050" anchor="ctr" anchorCtr="1">
                <a:spAutoFit/>
              </a:bodyPr>
              <a:lstStyle/>
              <a:p>
                <a:pPr>
                  <a:defRPr sz="900" b="0" i="0" u="none" strike="noStrike" kern="1200" baseline="0">
                    <a:solidFill>
                      <a:schemeClr val="tx1">
                        <a:lumMod val="75000"/>
                        <a:lumOff val="25000"/>
                      </a:schemeClr>
                    </a:solidFill>
                    <a:latin typeface="+mn-ea"/>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Sheet1!$A$2:$A$10</c:f>
              <c:strCache>
                <c:ptCount val="4"/>
                <c:pt idx="0">
                  <c:v>类别 1</c:v>
                </c:pt>
                <c:pt idx="1">
                  <c:v>类别 2</c:v>
                </c:pt>
                <c:pt idx="2">
                  <c:v>类别 3</c:v>
                </c:pt>
                <c:pt idx="3">
                  <c:v>类别 4</c:v>
                </c:pt>
              </c:strCache>
            </c:strRef>
          </c:cat>
          <c:val>
            <c:numRef>
              <c:f>Sheet1!$B$2:$B$10</c:f>
              <c:numCache>
                <c:formatCode>General</c:formatCode>
                <c:ptCount val="9"/>
                <c:pt idx="0">
                  <c:v>-7.5</c:v>
                </c:pt>
                <c:pt idx="1">
                  <c:v>38.9</c:v>
                </c:pt>
                <c:pt idx="2">
                  <c:v>2.6</c:v>
                </c:pt>
                <c:pt idx="3">
                  <c:v>16</c:v>
                </c:pt>
                <c:pt idx="4">
                  <c:v>-2</c:v>
                </c:pt>
                <c:pt idx="5">
                  <c:v>-5</c:v>
                </c:pt>
                <c:pt idx="6">
                  <c:v>-15.3</c:v>
                </c:pt>
                <c:pt idx="7">
                  <c:v>-17.5</c:v>
                </c:pt>
                <c:pt idx="8">
                  <c:v>-12.9</c:v>
                </c:pt>
              </c:numCache>
            </c:numRef>
          </c:val>
          <c:extLst>
            <c:ext xmlns:c14="http://schemas.microsoft.com/office/drawing/2007/8/2/chart" uri="{6F2FDCE9-48DA-4B69-8628-5D25D57E5C99}">
              <c14:invertSolidFillFmt>
                <c14:spPr xmlns:c14="http://schemas.microsoft.com/office/drawing/2007/8/2/chart">
                  <a:solidFill>
                    <a:srgbClr val="FF0000"/>
                  </a:solidFill>
                  <a:ln>
                    <a:noFill/>
                  </a:ln>
                  <a:effectLst/>
                </c14:spPr>
              </c14:invertSolidFillFmt>
            </c:ext>
            <c:ext xmlns:c16="http://schemas.microsoft.com/office/drawing/2014/chart" uri="{C3380CC4-5D6E-409C-BE32-E72D297353CC}">
              <c16:uniqueId val="{00000000-53F6-4F98-971A-A93A1BAA2E27}"/>
            </c:ext>
          </c:extLst>
        </c:ser>
        <c:dLbls>
          <c:showLegendKey val="0"/>
          <c:showVal val="0"/>
          <c:showCatName val="0"/>
          <c:showSerName val="0"/>
          <c:showPercent val="0"/>
          <c:showBubbleSize val="0"/>
        </c:dLbls>
        <c:gapWidth val="182"/>
        <c:axId val="819856095"/>
        <c:axId val="714709568"/>
      </c:barChart>
      <c:catAx>
        <c:axId val="819856095"/>
        <c:scaling>
          <c:orientation val="maxMin"/>
        </c:scaling>
        <c:delete val="0"/>
        <c:axPos val="l"/>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14709568"/>
        <c:crosses val="autoZero"/>
        <c:auto val="1"/>
        <c:lblAlgn val="ctr"/>
        <c:lblOffset val="100"/>
        <c:noMultiLvlLbl val="0"/>
      </c:catAx>
      <c:valAx>
        <c:axId val="714709568"/>
        <c:scaling>
          <c:orientation val="minMax"/>
        </c:scaling>
        <c:delete val="1"/>
        <c:axPos val="t"/>
        <c:numFmt formatCode="General" sourceLinked="1"/>
        <c:majorTickMark val="none"/>
        <c:minorTickMark val="none"/>
        <c:tickLblPos val="nextTo"/>
        <c:crossAx val="8198560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rgbClr val="4B8D56"/>
            </a:solidFill>
            <a:ln>
              <a:noFill/>
            </a:ln>
            <a:effectLst/>
          </c:spPr>
          <c:invertIfNegative val="1"/>
          <c:dLbls>
            <c:spPr>
              <a:noFill/>
              <a:ln>
                <a:noFill/>
              </a:ln>
              <a:effectLst/>
            </c:spPr>
            <c:txPr>
              <a:bodyPr rot="0" spcFirstLastPara="1" vertOverflow="ellipsis" vert="horz" wrap="none" lIns="38100" tIns="19050" rIns="38100" bIns="19050" anchor="ctr" anchorCtr="1">
                <a:spAutoFit/>
              </a:bodyPr>
              <a:lstStyle/>
              <a:p>
                <a:pPr>
                  <a:defRPr sz="900" b="0" i="0" u="none" strike="noStrike" kern="1200" baseline="0">
                    <a:solidFill>
                      <a:schemeClr val="tx1">
                        <a:lumMod val="75000"/>
                        <a:lumOff val="25000"/>
                      </a:schemeClr>
                    </a:solidFill>
                    <a:latin typeface="+mn-ea"/>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Sheet1!$A$2:$A$10</c:f>
              <c:strCache>
                <c:ptCount val="4"/>
                <c:pt idx="0">
                  <c:v>类别 1</c:v>
                </c:pt>
                <c:pt idx="1">
                  <c:v>类别 2</c:v>
                </c:pt>
                <c:pt idx="2">
                  <c:v>类别 3</c:v>
                </c:pt>
                <c:pt idx="3">
                  <c:v>类别 4</c:v>
                </c:pt>
              </c:strCache>
            </c:strRef>
          </c:cat>
          <c:val>
            <c:numRef>
              <c:f>Sheet1!$B$2:$B$10</c:f>
              <c:numCache>
                <c:formatCode>General</c:formatCode>
                <c:ptCount val="9"/>
                <c:pt idx="0">
                  <c:v>-8.5</c:v>
                </c:pt>
                <c:pt idx="1">
                  <c:v>37.6</c:v>
                </c:pt>
                <c:pt idx="2">
                  <c:v>-3.4</c:v>
                </c:pt>
                <c:pt idx="3">
                  <c:v>21.8</c:v>
                </c:pt>
                <c:pt idx="4">
                  <c:v>8.5</c:v>
                </c:pt>
                <c:pt idx="5">
                  <c:v>-10.3</c:v>
                </c:pt>
                <c:pt idx="6">
                  <c:v>-23</c:v>
                </c:pt>
                <c:pt idx="7">
                  <c:v>-14.3</c:v>
                </c:pt>
                <c:pt idx="8">
                  <c:v>-17.399999999999999</c:v>
                </c:pt>
              </c:numCache>
            </c:numRef>
          </c:val>
          <c:extLst>
            <c:ext xmlns:c14="http://schemas.microsoft.com/office/drawing/2007/8/2/chart" uri="{6F2FDCE9-48DA-4B69-8628-5D25D57E5C99}">
              <c14:invertSolidFillFmt>
                <c14:spPr xmlns:c14="http://schemas.microsoft.com/office/drawing/2007/8/2/chart">
                  <a:solidFill>
                    <a:srgbClr val="FF0000"/>
                  </a:solidFill>
                  <a:ln>
                    <a:noFill/>
                  </a:ln>
                  <a:effectLst/>
                </c14:spPr>
              </c14:invertSolidFillFmt>
            </c:ext>
            <c:ext xmlns:c16="http://schemas.microsoft.com/office/drawing/2014/chart" uri="{C3380CC4-5D6E-409C-BE32-E72D297353CC}">
              <c16:uniqueId val="{00000000-1250-4C2F-9DDB-E4EDFBBC2446}"/>
            </c:ext>
          </c:extLst>
        </c:ser>
        <c:dLbls>
          <c:showLegendKey val="0"/>
          <c:showVal val="0"/>
          <c:showCatName val="0"/>
          <c:showSerName val="0"/>
          <c:showPercent val="0"/>
          <c:showBubbleSize val="0"/>
        </c:dLbls>
        <c:gapWidth val="182"/>
        <c:axId val="819856095"/>
        <c:axId val="714709568"/>
      </c:barChart>
      <c:catAx>
        <c:axId val="819856095"/>
        <c:scaling>
          <c:orientation val="maxMin"/>
        </c:scaling>
        <c:delete val="0"/>
        <c:axPos val="l"/>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14709568"/>
        <c:crosses val="autoZero"/>
        <c:auto val="1"/>
        <c:lblAlgn val="ctr"/>
        <c:lblOffset val="100"/>
        <c:noMultiLvlLbl val="0"/>
      </c:catAx>
      <c:valAx>
        <c:axId val="714709568"/>
        <c:scaling>
          <c:orientation val="minMax"/>
        </c:scaling>
        <c:delete val="1"/>
        <c:axPos val="t"/>
        <c:numFmt formatCode="General" sourceLinked="1"/>
        <c:majorTickMark val="none"/>
        <c:minorTickMark val="none"/>
        <c:tickLblPos val="nextTo"/>
        <c:crossAx val="8198560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rgbClr val="4B8D56"/>
            </a:solidFill>
            <a:ln>
              <a:noFill/>
            </a:ln>
            <a:effectLst/>
          </c:spPr>
          <c:invertIfNegative val="1"/>
          <c:dLbls>
            <c:spPr>
              <a:noFill/>
              <a:ln>
                <a:noFill/>
              </a:ln>
              <a:effectLst/>
            </c:spPr>
            <c:txPr>
              <a:bodyPr rot="0" spcFirstLastPara="1" vertOverflow="ellipsis" vert="horz" wrap="none" lIns="38100" tIns="19050" rIns="38100" bIns="19050" anchor="ctr" anchorCtr="1">
                <a:spAutoFit/>
              </a:bodyPr>
              <a:lstStyle/>
              <a:p>
                <a:pPr>
                  <a:defRPr sz="900" b="0" i="0" u="none" strike="noStrike" kern="1200" baseline="0">
                    <a:solidFill>
                      <a:schemeClr val="tx1">
                        <a:lumMod val="75000"/>
                        <a:lumOff val="25000"/>
                      </a:schemeClr>
                    </a:solidFill>
                    <a:latin typeface="+mn-ea"/>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Sheet1!$A$2:$A$10</c:f>
              <c:strCache>
                <c:ptCount val="4"/>
                <c:pt idx="0">
                  <c:v>类别 1</c:v>
                </c:pt>
                <c:pt idx="1">
                  <c:v>类别 2</c:v>
                </c:pt>
                <c:pt idx="2">
                  <c:v>类别 3</c:v>
                </c:pt>
                <c:pt idx="3">
                  <c:v>类别 4</c:v>
                </c:pt>
              </c:strCache>
            </c:strRef>
          </c:cat>
          <c:val>
            <c:numRef>
              <c:f>Sheet1!$B$2:$B$10</c:f>
              <c:numCache>
                <c:formatCode>General</c:formatCode>
                <c:ptCount val="9"/>
                <c:pt idx="0">
                  <c:v>1.2</c:v>
                </c:pt>
                <c:pt idx="1">
                  <c:v>14.7</c:v>
                </c:pt>
                <c:pt idx="2">
                  <c:v>10.4</c:v>
                </c:pt>
                <c:pt idx="3">
                  <c:v>34.5</c:v>
                </c:pt>
                <c:pt idx="4">
                  <c:v>9.9</c:v>
                </c:pt>
                <c:pt idx="5">
                  <c:v>-3.9</c:v>
                </c:pt>
                <c:pt idx="6">
                  <c:v>-7.4</c:v>
                </c:pt>
                <c:pt idx="7">
                  <c:v>-11.8</c:v>
                </c:pt>
                <c:pt idx="8">
                  <c:v>-20.100000000000001</c:v>
                </c:pt>
              </c:numCache>
            </c:numRef>
          </c:val>
          <c:extLst>
            <c:ext xmlns:c14="http://schemas.microsoft.com/office/drawing/2007/8/2/chart" uri="{6F2FDCE9-48DA-4B69-8628-5D25D57E5C99}">
              <c14:invertSolidFillFmt>
                <c14:spPr xmlns:c14="http://schemas.microsoft.com/office/drawing/2007/8/2/chart">
                  <a:solidFill>
                    <a:srgbClr val="FF0000"/>
                  </a:solidFill>
                  <a:ln>
                    <a:noFill/>
                  </a:ln>
                  <a:effectLst/>
                </c14:spPr>
              </c14:invertSolidFillFmt>
            </c:ext>
            <c:ext xmlns:c16="http://schemas.microsoft.com/office/drawing/2014/chart" uri="{C3380CC4-5D6E-409C-BE32-E72D297353CC}">
              <c16:uniqueId val="{00000000-CDBA-4096-9EFA-8F1EE0A17589}"/>
            </c:ext>
          </c:extLst>
        </c:ser>
        <c:dLbls>
          <c:showLegendKey val="0"/>
          <c:showVal val="0"/>
          <c:showCatName val="0"/>
          <c:showSerName val="0"/>
          <c:showPercent val="0"/>
          <c:showBubbleSize val="0"/>
        </c:dLbls>
        <c:gapWidth val="182"/>
        <c:axId val="819856095"/>
        <c:axId val="714709568"/>
      </c:barChart>
      <c:catAx>
        <c:axId val="819856095"/>
        <c:scaling>
          <c:orientation val="maxMin"/>
        </c:scaling>
        <c:delete val="0"/>
        <c:axPos val="l"/>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14709568"/>
        <c:crosses val="autoZero"/>
        <c:auto val="1"/>
        <c:lblAlgn val="ctr"/>
        <c:lblOffset val="100"/>
        <c:noMultiLvlLbl val="0"/>
      </c:catAx>
      <c:valAx>
        <c:axId val="714709568"/>
        <c:scaling>
          <c:orientation val="minMax"/>
        </c:scaling>
        <c:delete val="1"/>
        <c:axPos val="t"/>
        <c:numFmt formatCode="General" sourceLinked="1"/>
        <c:majorTickMark val="none"/>
        <c:minorTickMark val="none"/>
        <c:tickLblPos val="nextTo"/>
        <c:crossAx val="8198560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rgbClr val="4B8D56"/>
            </a:solidFill>
            <a:ln>
              <a:noFill/>
            </a:ln>
            <a:effectLst/>
          </c:spPr>
          <c:invertIfNegative val="1"/>
          <c:dLbls>
            <c:spPr>
              <a:noFill/>
              <a:ln>
                <a:noFill/>
              </a:ln>
              <a:effectLst/>
            </c:spPr>
            <c:txPr>
              <a:bodyPr rot="0" spcFirstLastPara="1" vertOverflow="ellipsis" vert="horz" wrap="none" lIns="38100" tIns="19050" rIns="38100" bIns="19050" anchor="ctr" anchorCtr="1">
                <a:spAutoFit/>
              </a:bodyPr>
              <a:lstStyle/>
              <a:p>
                <a:pPr>
                  <a:defRPr sz="900" b="0" i="0" u="none" strike="noStrike" kern="1200" baseline="0">
                    <a:solidFill>
                      <a:schemeClr val="tx1">
                        <a:lumMod val="75000"/>
                        <a:lumOff val="25000"/>
                      </a:schemeClr>
                    </a:solidFill>
                    <a:latin typeface="+mn-ea"/>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Sheet1!$A$2:$A$10</c:f>
              <c:strCache>
                <c:ptCount val="4"/>
                <c:pt idx="0">
                  <c:v>类别 1</c:v>
                </c:pt>
                <c:pt idx="1">
                  <c:v>类别 2</c:v>
                </c:pt>
                <c:pt idx="2">
                  <c:v>类别 3</c:v>
                </c:pt>
                <c:pt idx="3">
                  <c:v>类别 4</c:v>
                </c:pt>
              </c:strCache>
            </c:strRef>
          </c:cat>
          <c:val>
            <c:numRef>
              <c:f>Sheet1!$B$2:$B$10</c:f>
              <c:numCache>
                <c:formatCode>General</c:formatCode>
                <c:ptCount val="9"/>
                <c:pt idx="0">
                  <c:v>36.1</c:v>
                </c:pt>
                <c:pt idx="1">
                  <c:v>49</c:v>
                </c:pt>
                <c:pt idx="2">
                  <c:v>25.4</c:v>
                </c:pt>
                <c:pt idx="3">
                  <c:v>58.4</c:v>
                </c:pt>
                <c:pt idx="4">
                  <c:v>37.9</c:v>
                </c:pt>
                <c:pt idx="5">
                  <c:v>18.100000000000001</c:v>
                </c:pt>
                <c:pt idx="6">
                  <c:v>3.6</c:v>
                </c:pt>
                <c:pt idx="7">
                  <c:v>20.7</c:v>
                </c:pt>
                <c:pt idx="8">
                  <c:v>0.3</c:v>
                </c:pt>
              </c:numCache>
            </c:numRef>
          </c:val>
          <c:extLst>
            <c:ext xmlns:c14="http://schemas.microsoft.com/office/drawing/2007/8/2/chart" uri="{6F2FDCE9-48DA-4B69-8628-5D25D57E5C99}">
              <c14:invertSolidFillFmt>
                <c14:spPr xmlns:c14="http://schemas.microsoft.com/office/drawing/2007/8/2/chart">
                  <a:solidFill>
                    <a:srgbClr val="FF0000"/>
                  </a:solidFill>
                  <a:ln>
                    <a:noFill/>
                  </a:ln>
                  <a:effectLst/>
                </c14:spPr>
              </c14:invertSolidFillFmt>
            </c:ext>
            <c:ext xmlns:c16="http://schemas.microsoft.com/office/drawing/2014/chart" uri="{C3380CC4-5D6E-409C-BE32-E72D297353CC}">
              <c16:uniqueId val="{00000000-2817-45DF-9E5D-B06092E9F113}"/>
            </c:ext>
          </c:extLst>
        </c:ser>
        <c:dLbls>
          <c:showLegendKey val="0"/>
          <c:showVal val="0"/>
          <c:showCatName val="0"/>
          <c:showSerName val="0"/>
          <c:showPercent val="0"/>
          <c:showBubbleSize val="0"/>
        </c:dLbls>
        <c:gapWidth val="182"/>
        <c:axId val="819856095"/>
        <c:axId val="714709568"/>
      </c:barChart>
      <c:catAx>
        <c:axId val="819856095"/>
        <c:scaling>
          <c:orientation val="maxMin"/>
        </c:scaling>
        <c:delete val="0"/>
        <c:axPos val="l"/>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14709568"/>
        <c:crosses val="autoZero"/>
        <c:auto val="1"/>
        <c:lblAlgn val="ctr"/>
        <c:lblOffset val="100"/>
        <c:noMultiLvlLbl val="0"/>
      </c:catAx>
      <c:valAx>
        <c:axId val="714709568"/>
        <c:scaling>
          <c:orientation val="minMax"/>
        </c:scaling>
        <c:delete val="1"/>
        <c:axPos val="t"/>
        <c:numFmt formatCode="General" sourceLinked="1"/>
        <c:majorTickMark val="none"/>
        <c:minorTickMark val="none"/>
        <c:tickLblPos val="nextTo"/>
        <c:crossAx val="8198560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rgbClr val="4B8D56"/>
            </a:solidFill>
            <a:ln>
              <a:noFill/>
            </a:ln>
            <a:effectLst/>
          </c:spPr>
          <c:invertIfNegative val="1"/>
          <c:dLbls>
            <c:spPr>
              <a:noFill/>
              <a:ln>
                <a:noFill/>
              </a:ln>
              <a:effectLst/>
            </c:spPr>
            <c:txPr>
              <a:bodyPr rot="0" spcFirstLastPara="1" vertOverflow="ellipsis" vert="horz" wrap="none" lIns="38100" tIns="19050" rIns="38100" bIns="19050" anchor="ctr" anchorCtr="1">
                <a:spAutoFit/>
              </a:bodyPr>
              <a:lstStyle/>
              <a:p>
                <a:pPr>
                  <a:defRPr sz="900" b="0" i="0" u="none" strike="noStrike" kern="1200" baseline="0">
                    <a:solidFill>
                      <a:schemeClr val="tx1">
                        <a:lumMod val="75000"/>
                        <a:lumOff val="25000"/>
                      </a:schemeClr>
                    </a:solidFill>
                    <a:latin typeface="+mn-ea"/>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Sheet1!$A$2:$A$10</c:f>
              <c:strCache>
                <c:ptCount val="4"/>
                <c:pt idx="0">
                  <c:v>类别 1</c:v>
                </c:pt>
                <c:pt idx="1">
                  <c:v>类别 2</c:v>
                </c:pt>
                <c:pt idx="2">
                  <c:v>类别 3</c:v>
                </c:pt>
                <c:pt idx="3">
                  <c:v>类别 4</c:v>
                </c:pt>
              </c:strCache>
            </c:strRef>
          </c:cat>
          <c:val>
            <c:numRef>
              <c:f>Sheet1!$B$2:$B$10</c:f>
              <c:numCache>
                <c:formatCode>General</c:formatCode>
                <c:ptCount val="9"/>
                <c:pt idx="0">
                  <c:v>-0.2</c:v>
                </c:pt>
                <c:pt idx="1">
                  <c:v>53</c:v>
                </c:pt>
                <c:pt idx="2">
                  <c:v>12</c:v>
                </c:pt>
                <c:pt idx="3">
                  <c:v>30</c:v>
                </c:pt>
                <c:pt idx="4">
                  <c:v>8.4</c:v>
                </c:pt>
                <c:pt idx="5">
                  <c:v>-27.3</c:v>
                </c:pt>
                <c:pt idx="6">
                  <c:v>2</c:v>
                </c:pt>
                <c:pt idx="7">
                  <c:v>-5</c:v>
                </c:pt>
                <c:pt idx="8">
                  <c:v>-27.9</c:v>
                </c:pt>
              </c:numCache>
            </c:numRef>
          </c:val>
          <c:extLst>
            <c:ext xmlns:c14="http://schemas.microsoft.com/office/drawing/2007/8/2/chart" uri="{6F2FDCE9-48DA-4B69-8628-5D25D57E5C99}">
              <c14:invertSolidFillFmt>
                <c14:spPr xmlns:c14="http://schemas.microsoft.com/office/drawing/2007/8/2/chart">
                  <a:solidFill>
                    <a:srgbClr val="FF0000"/>
                  </a:solidFill>
                  <a:ln>
                    <a:noFill/>
                  </a:ln>
                  <a:effectLst/>
                </c14:spPr>
              </c14:invertSolidFillFmt>
            </c:ext>
            <c:ext xmlns:c16="http://schemas.microsoft.com/office/drawing/2014/chart" uri="{C3380CC4-5D6E-409C-BE32-E72D297353CC}">
              <c16:uniqueId val="{00000000-DE6E-43A8-9681-B28889FCEBFE}"/>
            </c:ext>
          </c:extLst>
        </c:ser>
        <c:dLbls>
          <c:showLegendKey val="0"/>
          <c:showVal val="0"/>
          <c:showCatName val="0"/>
          <c:showSerName val="0"/>
          <c:showPercent val="0"/>
          <c:showBubbleSize val="0"/>
        </c:dLbls>
        <c:gapWidth val="182"/>
        <c:axId val="819856095"/>
        <c:axId val="714709568"/>
      </c:barChart>
      <c:catAx>
        <c:axId val="819856095"/>
        <c:scaling>
          <c:orientation val="maxMin"/>
        </c:scaling>
        <c:delete val="0"/>
        <c:axPos val="l"/>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14709568"/>
        <c:crosses val="autoZero"/>
        <c:auto val="1"/>
        <c:lblAlgn val="ctr"/>
        <c:lblOffset val="100"/>
        <c:noMultiLvlLbl val="0"/>
      </c:catAx>
      <c:valAx>
        <c:axId val="714709568"/>
        <c:scaling>
          <c:orientation val="minMax"/>
        </c:scaling>
        <c:delete val="1"/>
        <c:axPos val="t"/>
        <c:numFmt formatCode="General" sourceLinked="1"/>
        <c:majorTickMark val="none"/>
        <c:minorTickMark val="none"/>
        <c:tickLblPos val="nextTo"/>
        <c:crossAx val="8198560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rgbClr val="4B8D56"/>
            </a:solidFill>
            <a:ln>
              <a:noFill/>
            </a:ln>
            <a:effectLst/>
          </c:spPr>
          <c:invertIfNegative val="1"/>
          <c:dLbls>
            <c:spPr>
              <a:noFill/>
              <a:ln>
                <a:noFill/>
              </a:ln>
              <a:effectLst/>
            </c:spPr>
            <c:txPr>
              <a:bodyPr rot="0" spcFirstLastPara="1" vertOverflow="ellipsis" vert="horz" wrap="none" lIns="38100" tIns="19050" rIns="38100" bIns="19050" anchor="ctr" anchorCtr="1">
                <a:spAutoFit/>
              </a:bodyPr>
              <a:lstStyle/>
              <a:p>
                <a:pPr>
                  <a:defRPr sz="900" b="0" i="0" u="none" strike="noStrike" kern="1200" baseline="0">
                    <a:solidFill>
                      <a:schemeClr val="tx1">
                        <a:lumMod val="75000"/>
                        <a:lumOff val="25000"/>
                      </a:schemeClr>
                    </a:solidFill>
                    <a:latin typeface="+mn-ea"/>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Sheet1!$A$2:$A$10</c:f>
              <c:strCache>
                <c:ptCount val="4"/>
                <c:pt idx="0">
                  <c:v>类别 1</c:v>
                </c:pt>
                <c:pt idx="1">
                  <c:v>类别 2</c:v>
                </c:pt>
                <c:pt idx="2">
                  <c:v>类别 3</c:v>
                </c:pt>
                <c:pt idx="3">
                  <c:v>类别 4</c:v>
                </c:pt>
              </c:strCache>
            </c:strRef>
          </c:cat>
          <c:val>
            <c:numRef>
              <c:f>Sheet1!$B$2:$B$10</c:f>
              <c:numCache>
                <c:formatCode>General</c:formatCode>
                <c:ptCount val="9"/>
                <c:pt idx="0">
                  <c:v>12.5</c:v>
                </c:pt>
                <c:pt idx="1">
                  <c:v>38.9</c:v>
                </c:pt>
                <c:pt idx="2">
                  <c:v>6.9</c:v>
                </c:pt>
                <c:pt idx="3">
                  <c:v>28.9</c:v>
                </c:pt>
                <c:pt idx="4">
                  <c:v>4.9000000000000004</c:v>
                </c:pt>
                <c:pt idx="5">
                  <c:v>-29.1</c:v>
                </c:pt>
                <c:pt idx="6">
                  <c:v>-9.3000000000000007</c:v>
                </c:pt>
                <c:pt idx="7">
                  <c:v>-9.4</c:v>
                </c:pt>
                <c:pt idx="8">
                  <c:v>-41.3</c:v>
                </c:pt>
              </c:numCache>
            </c:numRef>
          </c:val>
          <c:extLst>
            <c:ext xmlns:c14="http://schemas.microsoft.com/office/drawing/2007/8/2/chart" uri="{6F2FDCE9-48DA-4B69-8628-5D25D57E5C99}">
              <c14:invertSolidFillFmt>
                <c14:spPr xmlns:c14="http://schemas.microsoft.com/office/drawing/2007/8/2/chart">
                  <a:solidFill>
                    <a:srgbClr val="FF0000"/>
                  </a:solidFill>
                  <a:ln>
                    <a:noFill/>
                  </a:ln>
                  <a:effectLst/>
                </c14:spPr>
              </c14:invertSolidFillFmt>
            </c:ext>
            <c:ext xmlns:c16="http://schemas.microsoft.com/office/drawing/2014/chart" uri="{C3380CC4-5D6E-409C-BE32-E72D297353CC}">
              <c16:uniqueId val="{00000000-5C60-42E8-8CB9-501B0DE8859B}"/>
            </c:ext>
          </c:extLst>
        </c:ser>
        <c:dLbls>
          <c:showLegendKey val="0"/>
          <c:showVal val="0"/>
          <c:showCatName val="0"/>
          <c:showSerName val="0"/>
          <c:showPercent val="0"/>
          <c:showBubbleSize val="0"/>
        </c:dLbls>
        <c:gapWidth val="182"/>
        <c:axId val="819856095"/>
        <c:axId val="714709568"/>
      </c:barChart>
      <c:catAx>
        <c:axId val="819856095"/>
        <c:scaling>
          <c:orientation val="maxMin"/>
        </c:scaling>
        <c:delete val="0"/>
        <c:axPos val="l"/>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14709568"/>
        <c:crosses val="autoZero"/>
        <c:auto val="1"/>
        <c:lblAlgn val="ctr"/>
        <c:lblOffset val="100"/>
        <c:noMultiLvlLbl val="0"/>
      </c:catAx>
      <c:valAx>
        <c:axId val="714709568"/>
        <c:scaling>
          <c:orientation val="minMax"/>
        </c:scaling>
        <c:delete val="1"/>
        <c:axPos val="t"/>
        <c:numFmt formatCode="General" sourceLinked="1"/>
        <c:majorTickMark val="none"/>
        <c:minorTickMark val="none"/>
        <c:tickLblPos val="nextTo"/>
        <c:crossAx val="8198560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263783062228E-2"/>
          <c:y val="8.5971082454083594E-2"/>
          <c:w val="0.95736216937772001"/>
          <c:h val="0.83913081891954255"/>
        </c:manualLayout>
      </c:layout>
      <c:barChart>
        <c:barDir val="col"/>
        <c:grouping val="clustered"/>
        <c:varyColors val="0"/>
        <c:ser>
          <c:idx val="0"/>
          <c:order val="0"/>
          <c:tx>
            <c:strRef>
              <c:f>Sheet1!$B$1</c:f>
              <c:strCache>
                <c:ptCount val="1"/>
                <c:pt idx="0">
                  <c:v>H2</c:v>
                </c:pt>
              </c:strCache>
            </c:strRef>
          </c:tx>
          <c:spPr>
            <a:solidFill>
              <a:schemeClr val="accent5"/>
            </a:solidFill>
            <a:ln>
              <a:noFill/>
            </a:ln>
            <a:effectLst/>
          </c:spPr>
          <c:invertIfNegative val="0"/>
          <c:dPt>
            <c:idx val="0"/>
            <c:invertIfNegative val="0"/>
            <c:bubble3D val="0"/>
            <c:spPr>
              <a:solidFill>
                <a:srgbClr val="9FA0A0"/>
              </a:solidFill>
              <a:ln>
                <a:noFill/>
              </a:ln>
              <a:effectLst/>
            </c:spPr>
            <c:extLst>
              <c:ext xmlns:c16="http://schemas.microsoft.com/office/drawing/2014/chart" uri="{C3380CC4-5D6E-409C-BE32-E72D297353CC}">
                <c16:uniqueId val="{00000008-E936-4CDC-B50E-3D416F0EDA0C}"/>
              </c:ext>
            </c:extLst>
          </c:dPt>
          <c:dPt>
            <c:idx val="1"/>
            <c:invertIfNegative val="0"/>
            <c:bubble3D val="0"/>
            <c:spPr>
              <a:solidFill>
                <a:srgbClr val="4B8D56"/>
              </a:solidFill>
              <a:ln>
                <a:noFill/>
              </a:ln>
              <a:effectLst/>
            </c:spPr>
            <c:extLst>
              <c:ext xmlns:c16="http://schemas.microsoft.com/office/drawing/2014/chart" uri="{C3380CC4-5D6E-409C-BE32-E72D297353CC}">
                <c16:uniqueId val="{00000001-642D-4C1B-AF43-F27060F0A4CD}"/>
              </c:ext>
            </c:extLst>
          </c:dPt>
          <c:dPt>
            <c:idx val="5"/>
            <c:invertIfNegative val="0"/>
            <c:bubble3D val="0"/>
            <c:spPr>
              <a:solidFill>
                <a:schemeClr val="accent5"/>
              </a:solidFill>
              <a:ln>
                <a:noFill/>
              </a:ln>
              <a:effectLst/>
            </c:spPr>
            <c:extLst>
              <c:ext xmlns:c16="http://schemas.microsoft.com/office/drawing/2014/chart" uri="{C3380CC4-5D6E-409C-BE32-E72D297353CC}">
                <c16:uniqueId val="{00000003-642D-4C1B-AF43-F27060F0A4CD}"/>
              </c:ext>
            </c:extLst>
          </c:dPt>
          <c:dPt>
            <c:idx val="6"/>
            <c:invertIfNegative val="0"/>
            <c:bubble3D val="0"/>
            <c:spPr>
              <a:solidFill>
                <a:srgbClr val="BCBCBC"/>
              </a:solidFill>
              <a:ln>
                <a:noFill/>
              </a:ln>
              <a:effectLst/>
            </c:spPr>
            <c:extLst>
              <c:ext xmlns:c16="http://schemas.microsoft.com/office/drawing/2014/chart" uri="{C3380CC4-5D6E-409C-BE32-E72D297353CC}">
                <c16:uniqueId val="{00000005-642D-4C1B-AF43-F27060F0A4CD}"/>
              </c:ext>
            </c:extLst>
          </c:dPt>
          <c:dPt>
            <c:idx val="7"/>
            <c:invertIfNegative val="0"/>
            <c:bubble3D val="0"/>
            <c:spPr>
              <a:solidFill>
                <a:schemeClr val="bg1">
                  <a:lumMod val="75000"/>
                </a:schemeClr>
              </a:solidFill>
              <a:ln>
                <a:noFill/>
              </a:ln>
              <a:effectLst/>
            </c:spPr>
            <c:extLst>
              <c:ext xmlns:c16="http://schemas.microsoft.com/office/drawing/2014/chart" uri="{C3380CC4-5D6E-409C-BE32-E72D297353CC}">
                <c16:uniqueId val="{00000006-F93C-414C-AAF7-8EEF5171F559}"/>
              </c:ext>
            </c:extLst>
          </c:dPt>
          <c:dLbls>
            <c:numFmt formatCode="#,##0.0_);[Red]\(#,##0.0\)" sourceLinked="0"/>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蔚来</c:v>
                </c:pt>
                <c:pt idx="1">
                  <c:v>阿维塔</c:v>
                </c:pt>
                <c:pt idx="2">
                  <c:v>极氪</c:v>
                </c:pt>
                <c:pt idx="3">
                  <c:v>问界</c:v>
                </c:pt>
                <c:pt idx="4">
                  <c:v>理想</c:v>
                </c:pt>
                <c:pt idx="5">
                  <c:v>小鹏</c:v>
                </c:pt>
                <c:pt idx="6">
                  <c:v>特斯拉</c:v>
                </c:pt>
                <c:pt idx="7">
                  <c:v>智己</c:v>
                </c:pt>
              </c:strCache>
            </c:strRef>
          </c:cat>
          <c:val>
            <c:numRef>
              <c:f>Sheet1!$B$2:$B$9</c:f>
              <c:numCache>
                <c:formatCode>0.0_ </c:formatCode>
                <c:ptCount val="8"/>
                <c:pt idx="0">
                  <c:v>870.06579967356015</c:v>
                </c:pt>
                <c:pt idx="1">
                  <c:v>868.97544573302832</c:v>
                </c:pt>
                <c:pt idx="2">
                  <c:v>861.47378106828455</c:v>
                </c:pt>
                <c:pt idx="3">
                  <c:v>859.91958855502446</c:v>
                </c:pt>
                <c:pt idx="4">
                  <c:v>855.09698840767476</c:v>
                </c:pt>
                <c:pt idx="5" formatCode="General">
                  <c:v>851.52093613258398</c:v>
                </c:pt>
                <c:pt idx="6">
                  <c:v>828.80866344775177</c:v>
                </c:pt>
                <c:pt idx="7">
                  <c:v>852.82649748209531</c:v>
                </c:pt>
              </c:numCache>
            </c:numRef>
          </c:val>
          <c:extLst>
            <c:ext xmlns:c16="http://schemas.microsoft.com/office/drawing/2014/chart" uri="{C3380CC4-5D6E-409C-BE32-E72D297353CC}">
              <c16:uniqueId val="{00000006-642D-4C1B-AF43-F27060F0A4CD}"/>
            </c:ext>
          </c:extLst>
        </c:ser>
        <c:ser>
          <c:idx val="1"/>
          <c:order val="1"/>
          <c:tx>
            <c:strRef>
              <c:f>Sheet1!$C$1</c:f>
              <c:strCache>
                <c:ptCount val="1"/>
                <c:pt idx="0">
                  <c:v>H1</c:v>
                </c:pt>
              </c:strCache>
            </c:strRef>
          </c:tx>
          <c:spPr>
            <a:solidFill>
              <a:srgbClr val="E2E2E2"/>
            </a:solidFill>
            <a:ln>
              <a:noFill/>
            </a:ln>
            <a:effectLst/>
          </c:spPr>
          <c:invertIfNegative val="0"/>
          <c:dLbls>
            <c:numFmt formatCode="#,##0.0_);[Red]\(#,##0.0\)" sourceLinked="0"/>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蔚来</c:v>
                </c:pt>
                <c:pt idx="1">
                  <c:v>阿维塔</c:v>
                </c:pt>
                <c:pt idx="2">
                  <c:v>极氪</c:v>
                </c:pt>
                <c:pt idx="3">
                  <c:v>问界</c:v>
                </c:pt>
                <c:pt idx="4">
                  <c:v>理想</c:v>
                </c:pt>
                <c:pt idx="5">
                  <c:v>小鹏</c:v>
                </c:pt>
                <c:pt idx="6">
                  <c:v>特斯拉</c:v>
                </c:pt>
                <c:pt idx="7">
                  <c:v>智己</c:v>
                </c:pt>
              </c:strCache>
            </c:strRef>
          </c:cat>
          <c:val>
            <c:numRef>
              <c:f>Sheet1!$C$2:$C$9</c:f>
              <c:numCache>
                <c:formatCode>0.0_ </c:formatCode>
                <c:ptCount val="8"/>
                <c:pt idx="0">
                  <c:v>797.70632226996406</c:v>
                </c:pt>
                <c:pt idx="1">
                  <c:v>802.81627007795737</c:v>
                </c:pt>
                <c:pt idx="2">
                  <c:v>795.05945501473275</c:v>
                </c:pt>
                <c:pt idx="3">
                  <c:v>786.33534503749058</c:v>
                </c:pt>
                <c:pt idx="4">
                  <c:v>764.3457416763398</c:v>
                </c:pt>
                <c:pt idx="5" formatCode="General">
                  <c:v>793.99885812460934</c:v>
                </c:pt>
                <c:pt idx="6">
                  <c:v>774.85499185114816</c:v>
                </c:pt>
                <c:pt idx="7">
                  <c:v>848.58582859630451</c:v>
                </c:pt>
              </c:numCache>
            </c:numRef>
          </c:val>
          <c:extLst>
            <c:ext xmlns:c16="http://schemas.microsoft.com/office/drawing/2014/chart" uri="{C3380CC4-5D6E-409C-BE32-E72D297353CC}">
              <c16:uniqueId val="{0000000A-9807-481F-A54C-4B2B1DEFCC7E}"/>
            </c:ext>
          </c:extLst>
        </c:ser>
        <c:dLbls>
          <c:showLegendKey val="0"/>
          <c:showVal val="1"/>
          <c:showCatName val="0"/>
          <c:showSerName val="0"/>
          <c:showPercent val="0"/>
          <c:showBubbleSize val="0"/>
        </c:dLbls>
        <c:gapWidth val="120"/>
        <c:overlap val="-20"/>
        <c:axId val="370353377"/>
        <c:axId val="657175826"/>
        <c:extLst/>
      </c:barChart>
      <c:catAx>
        <c:axId val="370353377"/>
        <c:scaling>
          <c:orientation val="minMax"/>
        </c:scaling>
        <c:delete val="1"/>
        <c:axPos val="b"/>
        <c:numFmt formatCode="General" sourceLinked="0"/>
        <c:majorTickMark val="none"/>
        <c:minorTickMark val="none"/>
        <c:tickLblPos val="nextTo"/>
        <c:crossAx val="657175826"/>
        <c:crosses val="autoZero"/>
        <c:auto val="1"/>
        <c:lblAlgn val="ctr"/>
        <c:lblOffset val="100"/>
        <c:noMultiLvlLbl val="0"/>
      </c:catAx>
      <c:valAx>
        <c:axId val="657175826"/>
        <c:scaling>
          <c:orientation val="minMax"/>
          <c:max val="900"/>
          <c:min val="650"/>
        </c:scaling>
        <c:delete val="1"/>
        <c:axPos val="l"/>
        <c:majorGridlines>
          <c:spPr>
            <a:ln w="9525" cap="flat" cmpd="sng" algn="ctr">
              <a:noFill/>
              <a:round/>
            </a:ln>
            <a:effectLst/>
          </c:spPr>
        </c:majorGridlines>
        <c:numFmt formatCode="0.0_ " sourceLinked="1"/>
        <c:majorTickMark val="out"/>
        <c:minorTickMark val="none"/>
        <c:tickLblPos val="nextTo"/>
        <c:crossAx val="37035337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ea"/>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stacked"/>
        <c:varyColors val="0"/>
        <c:ser>
          <c:idx val="0"/>
          <c:order val="0"/>
          <c:tx>
            <c:strRef>
              <c:f>Sheet1!$C$1</c:f>
              <c:strCache>
                <c:ptCount val="1"/>
                <c:pt idx="0">
                  <c:v>列1</c:v>
                </c:pt>
              </c:strCache>
            </c:strRef>
          </c:tx>
          <c:spPr>
            <a:solidFill>
              <a:schemeClr val="accent1"/>
            </a:solidFill>
            <a:ln>
              <a:noFill/>
            </a:ln>
            <a:effectLst/>
          </c:spPr>
          <c:invertIfNegative val="0"/>
          <c:dPt>
            <c:idx val="0"/>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C-5B65-4C4F-9592-E8A26A8F20BB}"/>
              </c:ext>
            </c:extLst>
          </c:dPt>
          <c:dPt>
            <c:idx val="1"/>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1-5B65-4C4F-9592-E8A26A8F20BB}"/>
              </c:ext>
            </c:extLst>
          </c:dPt>
          <c:dPt>
            <c:idx val="2"/>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3-5B65-4C4F-9592-E8A26A8F20BB}"/>
              </c:ext>
            </c:extLst>
          </c:dPt>
          <c:dPt>
            <c:idx val="3"/>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5-5B65-4C4F-9592-E8A26A8F20BB}"/>
              </c:ext>
            </c:extLst>
          </c:dPt>
          <c:dPt>
            <c:idx val="4"/>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7-5B65-4C4F-9592-E8A26A8F20BB}"/>
              </c:ext>
            </c:extLst>
          </c:dPt>
          <c:dPt>
            <c:idx val="5"/>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9-5B65-4C4F-9592-E8A26A8F20BB}"/>
              </c:ext>
            </c:extLst>
          </c:dPt>
          <c:dPt>
            <c:idx val="6"/>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B-5B65-4C4F-9592-E8A26A8F20BB}"/>
              </c:ext>
            </c:extLst>
          </c:dPt>
          <c:dLbls>
            <c:dLbl>
              <c:idx val="0"/>
              <c:numFmt formatCode="#,##0_);[Red]\(#,##0\)" sourceLinked="0"/>
              <c:spPr>
                <a:noFill/>
                <a:ln>
                  <a:noFill/>
                </a:ln>
                <a:effectLst/>
              </c:spPr>
              <c:txPr>
                <a:bodyPr rot="0" spcFirstLastPara="1" vertOverflow="ellipsis" vert="horz" wrap="square" lIns="38100" tIns="19050" rIns="38100" bIns="19050" anchor="ctr" anchorCtr="0">
                  <a:spAutoFit/>
                </a:bodyPr>
                <a:lstStyle/>
                <a:p>
                  <a:pPr algn="ctr">
                    <a:defRPr lang="en-US" altLang="zh-CN" sz="800" b="0" i="0" u="none" strike="noStrike" kern="1200" baseline="0">
                      <a:solidFill>
                        <a:schemeClr val="bg1"/>
                      </a:solidFill>
                      <a:latin typeface="+mn-ea"/>
                      <a:ea typeface="+mn-ea"/>
                      <a:cs typeface="+mn-cs"/>
                    </a:defRPr>
                  </a:pPr>
                  <a:endParaRPr lang="zh-CN"/>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B65-4C4F-9592-E8A26A8F20BB}"/>
                </c:ext>
              </c:extLst>
            </c:dLbl>
            <c:dLbl>
              <c:idx val="7"/>
              <c:numFmt formatCode="#,##0_);[Red]\(#,##0\)" sourceLinked="0"/>
              <c:spPr>
                <a:noFill/>
                <a:ln>
                  <a:noFill/>
                </a:ln>
                <a:effectLst/>
              </c:spPr>
              <c:txPr>
                <a:bodyPr rot="0" spcFirstLastPara="1" vertOverflow="ellipsis" vert="horz" wrap="square" lIns="38100" tIns="19050" rIns="38100" bIns="19050" anchor="ctr" anchorCtr="0">
                  <a:spAutoFit/>
                </a:bodyPr>
                <a:lstStyle/>
                <a:p>
                  <a:pPr algn="ctr">
                    <a:defRPr lang="en-US" altLang="zh-CN" sz="800" b="0" i="0" u="none" strike="noStrike" kern="1200" baseline="0">
                      <a:solidFill>
                        <a:schemeClr val="bg1"/>
                      </a:solidFill>
                      <a:latin typeface="+mn-ea"/>
                      <a:ea typeface="+mn-ea"/>
                      <a:cs typeface="+mn-cs"/>
                    </a:defRPr>
                  </a:pPr>
                  <a:endParaRPr lang="zh-CN"/>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B65-4C4F-9592-E8A26A8F20BB}"/>
                </c:ext>
              </c:extLst>
            </c:dLbl>
            <c:spPr>
              <a:noFill/>
              <a:ln>
                <a:noFill/>
              </a:ln>
              <a:effectLst/>
            </c:spPr>
            <c:txPr>
              <a:bodyPr rot="0" spcFirstLastPara="1" vertOverflow="ellipsis" vert="horz" wrap="square" lIns="38100" tIns="19050" rIns="38100" bIns="19050" anchor="ctr" anchorCtr="0">
                <a:spAutoFit/>
              </a:bodyPr>
              <a:lstStyle/>
              <a:p>
                <a:pPr algn="ctr">
                  <a:defRPr lang="en-US" altLang="zh-CN" sz="800" b="0" i="0" u="none" strike="noStrike" kern="1200" baseline="0">
                    <a:solidFill>
                      <a:schemeClr val="bg1"/>
                    </a:solidFill>
                    <a:latin typeface="+mn-ea"/>
                    <a:ea typeface="+mn-ea"/>
                    <a:cs typeface="+mn-cs"/>
                  </a:defRPr>
                </a:pPr>
                <a:endParaRPr lang="zh-CN"/>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蔚来</c:v>
                </c:pt>
                <c:pt idx="1">
                  <c:v> 入店前沟通</c:v>
                </c:pt>
                <c:pt idx="2">
                  <c:v> 到店接待</c:v>
                </c:pt>
                <c:pt idx="3">
                  <c:v> 店内看车</c:v>
                </c:pt>
                <c:pt idx="4">
                  <c:v> 试乘试驾</c:v>
                </c:pt>
                <c:pt idx="5">
                  <c:v> 洽谈下定</c:v>
                </c:pt>
                <c:pt idx="6">
                  <c:v> 送别与回访</c:v>
                </c:pt>
                <c:pt idx="7">
                  <c:v>阿维塔</c:v>
                </c:pt>
              </c:strCache>
            </c:strRef>
          </c:cat>
          <c:val>
            <c:numRef>
              <c:f>Sheet1!$C$2:$C$9</c:f>
              <c:numCache>
                <c:formatCode>0.0</c:formatCode>
                <c:ptCount val="8"/>
                <c:pt idx="0">
                  <c:v>870.06579967356015</c:v>
                </c:pt>
                <c:pt idx="1">
                  <c:v>854.51089547343906</c:v>
                </c:pt>
                <c:pt idx="2">
                  <c:v>868.97544573302832</c:v>
                </c:pt>
                <c:pt idx="3">
                  <c:v>862.15740375704377</c:v>
                </c:pt>
                <c:pt idx="4">
                  <c:v>868.97544573302832</c:v>
                </c:pt>
                <c:pt idx="5">
                  <c:v>858.8740062968642</c:v>
                </c:pt>
                <c:pt idx="6">
                  <c:v>845.40931983144412</c:v>
                </c:pt>
                <c:pt idx="7">
                  <c:v>868.97544573302832</c:v>
                </c:pt>
              </c:numCache>
            </c:numRef>
          </c:val>
          <c:extLst>
            <c:ext xmlns:c16="http://schemas.microsoft.com/office/drawing/2014/chart" uri="{C3380CC4-5D6E-409C-BE32-E72D297353CC}">
              <c16:uniqueId val="{0000000E-5B65-4C4F-9592-E8A26A8F20BB}"/>
            </c:ext>
          </c:extLst>
        </c:ser>
        <c:ser>
          <c:idx val="1"/>
          <c:order val="1"/>
          <c:tx>
            <c:strRef>
              <c:f>Sheet1!$D$1</c:f>
              <c:strCache>
                <c:ptCount val="1"/>
                <c:pt idx="0">
                  <c:v>列2</c:v>
                </c:pt>
              </c:strCache>
            </c:strRef>
          </c:tx>
          <c:spPr>
            <a:solidFill>
              <a:srgbClr val="FF0000"/>
            </a:solidFill>
            <a:ln>
              <a:noFill/>
            </a:ln>
            <a:effectLst/>
          </c:spPr>
          <c:invertIfNegative val="0"/>
          <c:dPt>
            <c:idx val="1"/>
            <c:invertIfNegative val="0"/>
            <c:bubble3D val="0"/>
            <c:spPr>
              <a:solidFill>
                <a:srgbClr val="FF0000"/>
              </a:solidFill>
              <a:ln>
                <a:noFill/>
              </a:ln>
              <a:effectLst/>
            </c:spPr>
            <c:extLst>
              <c:ext xmlns:c16="http://schemas.microsoft.com/office/drawing/2014/chart" uri="{C3380CC4-5D6E-409C-BE32-E72D297353CC}">
                <c16:uniqueId val="{00000010-5B65-4C4F-9592-E8A26A8F20BB}"/>
              </c:ext>
            </c:extLst>
          </c:dPt>
          <c:dPt>
            <c:idx val="2"/>
            <c:invertIfNegative val="0"/>
            <c:bubble3D val="0"/>
            <c:spPr>
              <a:solidFill>
                <a:srgbClr val="4B8D56"/>
              </a:solidFill>
              <a:ln>
                <a:noFill/>
              </a:ln>
              <a:effectLst/>
            </c:spPr>
            <c:extLst>
              <c:ext xmlns:c16="http://schemas.microsoft.com/office/drawing/2014/chart" uri="{C3380CC4-5D6E-409C-BE32-E72D297353CC}">
                <c16:uniqueId val="{00000012-5B65-4C4F-9592-E8A26A8F20BB}"/>
              </c:ext>
            </c:extLst>
          </c:dPt>
          <c:dPt>
            <c:idx val="4"/>
            <c:invertIfNegative val="0"/>
            <c:bubble3D val="0"/>
            <c:spPr>
              <a:solidFill>
                <a:srgbClr val="4B8D56"/>
              </a:solidFill>
              <a:ln>
                <a:noFill/>
              </a:ln>
              <a:effectLst/>
            </c:spPr>
            <c:extLst>
              <c:ext xmlns:c16="http://schemas.microsoft.com/office/drawing/2014/chart" uri="{C3380CC4-5D6E-409C-BE32-E72D297353CC}">
                <c16:uniqueId val="{00000014-5B65-4C4F-9592-E8A26A8F20BB}"/>
              </c:ext>
            </c:extLst>
          </c:dPt>
          <c:dPt>
            <c:idx val="5"/>
            <c:invertIfNegative val="0"/>
            <c:bubble3D val="0"/>
            <c:spPr>
              <a:solidFill>
                <a:srgbClr val="FF0000"/>
              </a:solidFill>
              <a:ln>
                <a:noFill/>
              </a:ln>
              <a:effectLst/>
            </c:spPr>
            <c:extLst>
              <c:ext xmlns:c16="http://schemas.microsoft.com/office/drawing/2014/chart" uri="{C3380CC4-5D6E-409C-BE32-E72D297353CC}">
                <c16:uniqueId val="{00000016-5B65-4C4F-9592-E8A26A8F20BB}"/>
              </c:ext>
            </c:extLst>
          </c:dPt>
          <c:dPt>
            <c:idx val="6"/>
            <c:invertIfNegative val="1"/>
            <c:bubble3D val="0"/>
            <c:spPr>
              <a:solidFill>
                <a:srgbClr val="FF0000"/>
              </a:solidFill>
              <a:ln>
                <a:noFill/>
              </a:ln>
              <a:effectLst/>
            </c:spPr>
            <c:extLst>
              <c:ext xmlns:c16="http://schemas.microsoft.com/office/drawing/2014/chart" uri="{C3380CC4-5D6E-409C-BE32-E72D297353CC}">
                <c16:uniqueId val="{00000018-5B65-4C4F-9592-E8A26A8F20BB}"/>
              </c:ext>
            </c:extLst>
          </c:dPt>
          <c:dLbls>
            <c:dLbl>
              <c:idx val="0"/>
              <c:delete val="1"/>
              <c:extLst>
                <c:ext xmlns:c15="http://schemas.microsoft.com/office/drawing/2012/chart" uri="{CE6537A1-D6FC-4f65-9D91-7224C49458BB}"/>
                <c:ext xmlns:c16="http://schemas.microsoft.com/office/drawing/2014/chart" uri="{C3380CC4-5D6E-409C-BE32-E72D297353CC}">
                  <c16:uniqueId val="{00000019-5B65-4C4F-9592-E8A26A8F20BB}"/>
                </c:ext>
              </c:extLst>
            </c:dLbl>
            <c:dLbl>
              <c:idx val="1"/>
              <c:tx>
                <c:rich>
                  <a:bodyPr/>
                  <a:lstStyle/>
                  <a:p>
                    <a:fld id="{5B2F3A72-79BD-4B3E-B536-4A13F5BA8C09}" type="CELLRANGE">
                      <a:rPr lang="zh-CN" altLang="en-US"/>
                      <a:pPr/>
                      <a:t>[CELLRANGE]</a:t>
                    </a:fld>
                    <a:endParaRPr lang="zh-CN" alt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0-5B65-4C4F-9592-E8A26A8F20BB}"/>
                </c:ext>
              </c:extLst>
            </c:dLbl>
            <c:dLbl>
              <c:idx val="2"/>
              <c:layout>
                <c:manualLayout>
                  <c:x val="8.5303086319535718E-2"/>
                  <c:y val="0"/>
                </c:manualLayout>
              </c:layout>
              <c:tx>
                <c:rich>
                  <a:bodyPr/>
                  <a:lstStyle/>
                  <a:p>
                    <a:fld id="{F6A1AB46-71C2-4A81-A8B2-73108D87D723}" type="CELLRANGE">
                      <a:rPr lang="en-US" altLang="zh-CN"/>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2-5B65-4C4F-9592-E8A26A8F20BB}"/>
                </c:ext>
              </c:extLst>
            </c:dLbl>
            <c:dLbl>
              <c:idx val="3"/>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5B65-4C4F-9592-E8A26A8F20BB}"/>
                </c:ext>
              </c:extLst>
            </c:dLbl>
            <c:dLbl>
              <c:idx val="4"/>
              <c:tx>
                <c:rich>
                  <a:bodyPr/>
                  <a:lstStyle/>
                  <a:p>
                    <a:fld id="{C0D02B0A-59C0-4875-9C69-FEEAC6A5E89C}" type="CELLRANGE">
                      <a:rPr lang="zh-CN" altLang="en-US"/>
                      <a:pPr/>
                      <a:t>[CELLRANGE]</a:t>
                    </a:fld>
                    <a:endParaRPr lang="zh-CN" alt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4-5B65-4C4F-9592-E8A26A8F20BB}"/>
                </c:ext>
              </c:extLst>
            </c:dLbl>
            <c:dLbl>
              <c:idx val="5"/>
              <c:tx>
                <c:rich>
                  <a:bodyPr/>
                  <a:lstStyle/>
                  <a:p>
                    <a:fld id="{12B8A1FB-C185-428D-8BE7-312769C4B3EF}" type="CELLRANGE">
                      <a:rPr lang="zh-CN" altLang="en-US"/>
                      <a:pPr/>
                      <a:t>[CELLRANGE]</a:t>
                    </a:fld>
                    <a:endParaRPr lang="zh-CN" alt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6-5B65-4C4F-9592-E8A26A8F20BB}"/>
                </c:ext>
              </c:extLst>
            </c:dLbl>
            <c:dLbl>
              <c:idx val="6"/>
              <c:tx>
                <c:rich>
                  <a:bodyPr/>
                  <a:lstStyle/>
                  <a:p>
                    <a:fld id="{47FE5F52-4300-4D9C-9163-FB3032D129F6}" type="CELLRANGE">
                      <a:rPr lang="zh-CN" altLang="en-US"/>
                      <a:pPr/>
                      <a:t>[CELLRANGE]</a:t>
                    </a:fld>
                    <a:endParaRPr lang="zh-CN" alt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8-5B65-4C4F-9592-E8A26A8F20BB}"/>
                </c:ext>
              </c:extLst>
            </c:dLbl>
            <c:dLbl>
              <c:idx val="7"/>
              <c:delete val="1"/>
              <c:extLst>
                <c:ext xmlns:c15="http://schemas.microsoft.com/office/drawing/2012/chart" uri="{CE6537A1-D6FC-4f65-9D91-7224C49458BB}"/>
                <c:ext xmlns:c16="http://schemas.microsoft.com/office/drawing/2014/chart" uri="{C3380CC4-5D6E-409C-BE32-E72D297353CC}">
                  <c16:uniqueId val="{0000001B-5B65-4C4F-9592-E8A26A8F20BB}"/>
                </c:ext>
              </c:extLst>
            </c:dLbl>
            <c:numFmt formatCode="#,##0.0_);[Red]\(#,##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ea"/>
                    <a:ea typeface="+mn-ea"/>
                    <a:cs typeface="+mn-cs"/>
                  </a:defRPr>
                </a:pPr>
                <a:endParaRPr lang="zh-CN"/>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蔚来</c:v>
                </c:pt>
                <c:pt idx="1">
                  <c:v> 入店前沟通</c:v>
                </c:pt>
                <c:pt idx="2">
                  <c:v> 到店接待</c:v>
                </c:pt>
                <c:pt idx="3">
                  <c:v> 店内看车</c:v>
                </c:pt>
                <c:pt idx="4">
                  <c:v> 试乘试驾</c:v>
                </c:pt>
                <c:pt idx="5">
                  <c:v> 洽谈下定</c:v>
                </c:pt>
                <c:pt idx="6">
                  <c:v> 送别与回访</c:v>
                </c:pt>
                <c:pt idx="7">
                  <c:v>阿维塔</c:v>
                </c:pt>
              </c:strCache>
            </c:strRef>
          </c:cat>
          <c:val>
            <c:numRef>
              <c:f>Sheet1!$D$2:$D$9</c:f>
              <c:numCache>
                <c:formatCode>0.0</c:formatCode>
                <c:ptCount val="8"/>
                <c:pt idx="0">
                  <c:v>0</c:v>
                </c:pt>
                <c:pt idx="1">
                  <c:v>14.464550259589259</c:v>
                </c:pt>
                <c:pt idx="2">
                  <c:v>30.117212936835244</c:v>
                </c:pt>
                <c:pt idx="3">
                  <c:v>6.8180419759845563</c:v>
                </c:pt>
                <c:pt idx="4">
                  <c:v>14.883370486594572</c:v>
                </c:pt>
                <c:pt idx="5">
                  <c:v>10.101439436164128</c:v>
                </c:pt>
                <c:pt idx="6">
                  <c:v>23.566125901584201</c:v>
                </c:pt>
                <c:pt idx="7">
                  <c:v>0</c:v>
                </c:pt>
              </c:numCache>
            </c:numRef>
          </c:val>
          <c:extLst>
            <c:ext xmlns:c15="http://schemas.microsoft.com/office/drawing/2012/chart" uri="{02D57815-91ED-43cb-92C2-25804820EDAC}">
              <c15:datalabelsRange>
                <c15:f>Sheet1!$B$2:$B$9</c15:f>
                <c15:dlblRangeCache>
                  <c:ptCount val="8"/>
                  <c:pt idx="0">
                    <c:v>870.1</c:v>
                  </c:pt>
                  <c:pt idx="1">
                    <c:v>-14.5</c:v>
                  </c:pt>
                  <c:pt idx="2">
                    <c:v>30.1</c:v>
                  </c:pt>
                  <c:pt idx="3">
                    <c:v>-6.8</c:v>
                  </c:pt>
                  <c:pt idx="4">
                    <c:v>14.9</c:v>
                  </c:pt>
                  <c:pt idx="5">
                    <c:v>-10.1</c:v>
                  </c:pt>
                  <c:pt idx="6">
                    <c:v>-23.6</c:v>
                  </c:pt>
                  <c:pt idx="7">
                    <c:v>869.0</c:v>
                  </c:pt>
                </c15:dlblRangeCache>
              </c15:datalabelsRange>
            </c:ext>
            <c:ext xmlns:c16="http://schemas.microsoft.com/office/drawing/2014/chart" uri="{C3380CC4-5D6E-409C-BE32-E72D297353CC}">
              <c16:uniqueId val="{0000001C-5B65-4C4F-9592-E8A26A8F20BB}"/>
            </c:ext>
          </c:extLst>
        </c:ser>
        <c:dLbls>
          <c:showLegendKey val="0"/>
          <c:showVal val="0"/>
          <c:showCatName val="0"/>
          <c:showSerName val="0"/>
          <c:showPercent val="0"/>
          <c:showBubbleSize val="0"/>
        </c:dLbls>
        <c:gapWidth val="50"/>
        <c:overlap val="100"/>
        <c:axId val="1624751583"/>
        <c:axId val="21874975"/>
      </c:barChart>
      <c:catAx>
        <c:axId val="1624751583"/>
        <c:scaling>
          <c:orientation val="maxMin"/>
        </c:scaling>
        <c:delete val="0"/>
        <c:axPos val="l"/>
        <c:numFmt formatCode="General" sourceLinked="1"/>
        <c:majorTickMark val="none"/>
        <c:minorTickMark val="none"/>
        <c:tickLblPos val="nextTo"/>
        <c:spPr>
          <a:noFill/>
          <a:ln w="9525" cap="flat" cmpd="sng" algn="ctr">
            <a:solidFill>
              <a:schemeClr val="accent1">
                <a:alpha val="94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ea"/>
                <a:ea typeface="+mn-ea"/>
                <a:cs typeface="+mn-cs"/>
              </a:defRPr>
            </a:pPr>
            <a:endParaRPr lang="zh-CN"/>
          </a:p>
        </c:txPr>
        <c:crossAx val="21874975"/>
        <c:crossesAt val="-200"/>
        <c:auto val="1"/>
        <c:lblAlgn val="ctr"/>
        <c:lblOffset val="100"/>
        <c:noMultiLvlLbl val="0"/>
      </c:catAx>
      <c:valAx>
        <c:axId val="21874975"/>
        <c:scaling>
          <c:orientation val="minMax"/>
          <c:max val="950"/>
          <c:min val="600"/>
        </c:scaling>
        <c:delete val="1"/>
        <c:axPos val="t"/>
        <c:numFmt formatCode="0.0" sourceLinked="1"/>
        <c:majorTickMark val="out"/>
        <c:minorTickMark val="none"/>
        <c:tickLblPos val="nextTo"/>
        <c:crossAx val="1624751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stacked"/>
        <c:varyColors val="0"/>
        <c:ser>
          <c:idx val="0"/>
          <c:order val="0"/>
          <c:tx>
            <c:strRef>
              <c:f>Sheet1!$C$1</c:f>
              <c:strCache>
                <c:ptCount val="1"/>
                <c:pt idx="0">
                  <c:v>列1</c:v>
                </c:pt>
              </c:strCache>
            </c:strRef>
          </c:tx>
          <c:spPr>
            <a:solidFill>
              <a:schemeClr val="accent1"/>
            </a:solidFill>
            <a:ln>
              <a:noFill/>
            </a:ln>
            <a:effectLst/>
          </c:spPr>
          <c:invertIfNegative val="0"/>
          <c:dPt>
            <c:idx val="0"/>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C-104E-4734-8D9F-B517279B8C8B}"/>
              </c:ext>
            </c:extLst>
          </c:dPt>
          <c:dPt>
            <c:idx val="1"/>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1-104E-4734-8D9F-B517279B8C8B}"/>
              </c:ext>
            </c:extLst>
          </c:dPt>
          <c:dPt>
            <c:idx val="2"/>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3-104E-4734-8D9F-B517279B8C8B}"/>
              </c:ext>
            </c:extLst>
          </c:dPt>
          <c:dPt>
            <c:idx val="3"/>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5-104E-4734-8D9F-B517279B8C8B}"/>
              </c:ext>
            </c:extLst>
          </c:dPt>
          <c:dPt>
            <c:idx val="4"/>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7-104E-4734-8D9F-B517279B8C8B}"/>
              </c:ext>
            </c:extLst>
          </c:dPt>
          <c:dPt>
            <c:idx val="5"/>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9-104E-4734-8D9F-B517279B8C8B}"/>
              </c:ext>
            </c:extLst>
          </c:dPt>
          <c:dPt>
            <c:idx val="6"/>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B-104E-4734-8D9F-B517279B8C8B}"/>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04E-4734-8D9F-B517279B8C8B}"/>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104E-4734-8D9F-B517279B8C8B}"/>
                </c:ext>
              </c:extLst>
            </c:dLbl>
            <c:spPr>
              <a:noFill/>
              <a:ln>
                <a:noFill/>
              </a:ln>
              <a:effectLst/>
            </c:spPr>
            <c:txPr>
              <a:bodyPr rot="0" spcFirstLastPara="1" vertOverflow="ellipsis" vert="horz" wrap="square" lIns="38100" tIns="19050" rIns="38100" bIns="19050" anchor="ctr" anchorCtr="0">
                <a:spAutoFit/>
              </a:bodyPr>
              <a:lstStyle/>
              <a:p>
                <a:pPr algn="ctr">
                  <a:defRPr lang="en-US" altLang="zh-CN" sz="800" b="0" i="0" u="none" strike="noStrike" kern="1200" baseline="0">
                    <a:solidFill>
                      <a:schemeClr val="bg1"/>
                    </a:solidFill>
                    <a:latin typeface="+mn-ea"/>
                    <a:ea typeface="+mn-ea"/>
                    <a:cs typeface="+mn-cs"/>
                  </a:defRPr>
                </a:pPr>
                <a:endParaRPr lang="zh-CN"/>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极氪</c:v>
                </c:pt>
                <c:pt idx="1">
                  <c:v> 入店前沟通</c:v>
                </c:pt>
                <c:pt idx="2">
                  <c:v> 到店接待</c:v>
                </c:pt>
                <c:pt idx="3">
                  <c:v> 店内看车</c:v>
                </c:pt>
                <c:pt idx="4">
                  <c:v> 试乘试驾</c:v>
                </c:pt>
                <c:pt idx="5">
                  <c:v> 洽谈下定</c:v>
                </c:pt>
                <c:pt idx="6">
                  <c:v> 送别与回访</c:v>
                </c:pt>
                <c:pt idx="7">
                  <c:v>阿维塔</c:v>
                </c:pt>
              </c:strCache>
            </c:strRef>
          </c:cat>
          <c:val>
            <c:numRef>
              <c:f>Sheet1!$C$2:$C$9</c:f>
              <c:numCache>
                <c:formatCode>0</c:formatCode>
                <c:ptCount val="8"/>
                <c:pt idx="0">
                  <c:v>861.47378106828455</c:v>
                </c:pt>
                <c:pt idx="1">
                  <c:v>853.97377318944359</c:v>
                </c:pt>
                <c:pt idx="2">
                  <c:v>861.47378106828455</c:v>
                </c:pt>
                <c:pt idx="3">
                  <c:v>861.47378106828455</c:v>
                </c:pt>
                <c:pt idx="4">
                  <c:v>861.47378106828455</c:v>
                </c:pt>
                <c:pt idx="5">
                  <c:v>859.46189404218501</c:v>
                </c:pt>
                <c:pt idx="6">
                  <c:v>856.4997192237339</c:v>
                </c:pt>
                <c:pt idx="7">
                  <c:v>868.97544573302832</c:v>
                </c:pt>
              </c:numCache>
            </c:numRef>
          </c:val>
          <c:extLst>
            <c:ext xmlns:c16="http://schemas.microsoft.com/office/drawing/2014/chart" uri="{C3380CC4-5D6E-409C-BE32-E72D297353CC}">
              <c16:uniqueId val="{0000000E-104E-4734-8D9F-B517279B8C8B}"/>
            </c:ext>
          </c:extLst>
        </c:ser>
        <c:ser>
          <c:idx val="1"/>
          <c:order val="1"/>
          <c:tx>
            <c:strRef>
              <c:f>Sheet1!$D$1</c:f>
              <c:strCache>
                <c:ptCount val="1"/>
                <c:pt idx="0">
                  <c:v>列2</c:v>
                </c:pt>
              </c:strCache>
            </c:strRef>
          </c:tx>
          <c:spPr>
            <a:solidFill>
              <a:srgbClr val="00B050"/>
            </a:solidFill>
            <a:ln>
              <a:noFill/>
            </a:ln>
            <a:effectLst/>
          </c:spPr>
          <c:invertIfNegative val="0"/>
          <c:dPt>
            <c:idx val="1"/>
            <c:invertIfNegative val="0"/>
            <c:bubble3D val="0"/>
            <c:spPr>
              <a:solidFill>
                <a:srgbClr val="FF0000"/>
              </a:solidFill>
              <a:ln>
                <a:noFill/>
              </a:ln>
              <a:effectLst/>
            </c:spPr>
            <c:extLst>
              <c:ext xmlns:c16="http://schemas.microsoft.com/office/drawing/2014/chart" uri="{C3380CC4-5D6E-409C-BE32-E72D297353CC}">
                <c16:uniqueId val="{00000010-104E-4734-8D9F-B517279B8C8B}"/>
              </c:ext>
            </c:extLst>
          </c:dPt>
          <c:dPt>
            <c:idx val="2"/>
            <c:invertIfNegative val="0"/>
            <c:bubble3D val="0"/>
            <c:spPr>
              <a:solidFill>
                <a:srgbClr val="4B8D56"/>
              </a:solidFill>
              <a:ln>
                <a:noFill/>
              </a:ln>
              <a:effectLst/>
            </c:spPr>
            <c:extLst>
              <c:ext xmlns:c16="http://schemas.microsoft.com/office/drawing/2014/chart" uri="{C3380CC4-5D6E-409C-BE32-E72D297353CC}">
                <c16:uniqueId val="{00000016-104E-4734-8D9F-B517279B8C8B}"/>
              </c:ext>
            </c:extLst>
          </c:dPt>
          <c:dPt>
            <c:idx val="3"/>
            <c:invertIfNegative val="0"/>
            <c:bubble3D val="0"/>
            <c:spPr>
              <a:solidFill>
                <a:srgbClr val="4B8D56"/>
              </a:solidFill>
              <a:ln>
                <a:noFill/>
              </a:ln>
              <a:effectLst/>
            </c:spPr>
            <c:extLst>
              <c:ext xmlns:c16="http://schemas.microsoft.com/office/drawing/2014/chart" uri="{C3380CC4-5D6E-409C-BE32-E72D297353CC}">
                <c16:uniqueId val="{00000017-104E-4734-8D9F-B517279B8C8B}"/>
              </c:ext>
            </c:extLst>
          </c:dPt>
          <c:dPt>
            <c:idx val="4"/>
            <c:invertIfNegative val="0"/>
            <c:bubble3D val="0"/>
            <c:spPr>
              <a:solidFill>
                <a:srgbClr val="4B8D56"/>
              </a:solidFill>
              <a:ln>
                <a:noFill/>
              </a:ln>
              <a:effectLst/>
            </c:spPr>
            <c:extLst>
              <c:ext xmlns:c16="http://schemas.microsoft.com/office/drawing/2014/chart" uri="{C3380CC4-5D6E-409C-BE32-E72D297353CC}">
                <c16:uniqueId val="{00000018-104E-4734-8D9F-B517279B8C8B}"/>
              </c:ext>
            </c:extLst>
          </c:dPt>
          <c:dPt>
            <c:idx val="5"/>
            <c:invertIfNegative val="0"/>
            <c:bubble3D val="0"/>
            <c:spPr>
              <a:solidFill>
                <a:srgbClr val="FF0000"/>
              </a:solidFill>
              <a:ln>
                <a:noFill/>
              </a:ln>
              <a:effectLst/>
            </c:spPr>
            <c:extLst>
              <c:ext xmlns:c16="http://schemas.microsoft.com/office/drawing/2014/chart" uri="{C3380CC4-5D6E-409C-BE32-E72D297353CC}">
                <c16:uniqueId val="{00000012-104E-4734-8D9F-B517279B8C8B}"/>
              </c:ext>
            </c:extLst>
          </c:dPt>
          <c:dPt>
            <c:idx val="6"/>
            <c:invertIfNegative val="1"/>
            <c:bubble3D val="0"/>
            <c:spPr>
              <a:solidFill>
                <a:srgbClr val="FF0000"/>
              </a:solidFill>
              <a:ln>
                <a:noFill/>
              </a:ln>
              <a:effectLst/>
            </c:spPr>
            <c:extLst>
              <c:ext xmlns:c16="http://schemas.microsoft.com/office/drawing/2014/chart" uri="{C3380CC4-5D6E-409C-BE32-E72D297353CC}">
                <c16:uniqueId val="{00000014-104E-4734-8D9F-B517279B8C8B}"/>
              </c:ext>
            </c:extLst>
          </c:dPt>
          <c:dLbls>
            <c:dLbl>
              <c:idx val="0"/>
              <c:delete val="1"/>
              <c:extLst>
                <c:ext xmlns:c15="http://schemas.microsoft.com/office/drawing/2012/chart" uri="{CE6537A1-D6FC-4f65-9D91-7224C49458BB}"/>
                <c:ext xmlns:c16="http://schemas.microsoft.com/office/drawing/2014/chart" uri="{C3380CC4-5D6E-409C-BE32-E72D297353CC}">
                  <c16:uniqueId val="{00000015-104E-4734-8D9F-B517279B8C8B}"/>
                </c:ext>
              </c:extLst>
            </c:dLbl>
            <c:dLbl>
              <c:idx val="1"/>
              <c:tx>
                <c:rich>
                  <a:bodyPr/>
                  <a:lstStyle/>
                  <a:p>
                    <a:fld id="{62047D7B-AE62-4FCF-94A6-C9B452009C2D}" type="CELLRANGE">
                      <a:rPr lang="zh-CN" altLang="en-US"/>
                      <a:pPr/>
                      <a:t>[CELLRANGE]</a:t>
                    </a:fld>
                    <a:endParaRPr lang="zh-CN" alt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0-104E-4734-8D9F-B517279B8C8B}"/>
                </c:ext>
              </c:extLst>
            </c:dLbl>
            <c:dLbl>
              <c:idx val="2"/>
              <c:layout>
                <c:manualLayout>
                  <c:x val="6.5525825119338493E-2"/>
                  <c:y val="-6.4726007674363968E-3"/>
                </c:manualLayout>
              </c:layout>
              <c:tx>
                <c:rich>
                  <a:bodyPr/>
                  <a:lstStyle/>
                  <a:p>
                    <a:fld id="{AD8980A9-FEBB-41F8-A16B-EE048EE2B037}" type="CELLRANGE">
                      <a:rPr lang="en-US" altLang="zh-CN"/>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6-104E-4734-8D9F-B517279B8C8B}"/>
                </c:ext>
              </c:extLst>
            </c:dLbl>
            <c:dLbl>
              <c:idx val="3"/>
              <c:layout>
                <c:manualLayout>
                  <c:x val="4.3703145558178738E-2"/>
                  <c:y val="1.0193072075296301E-6"/>
                </c:manualLayout>
              </c:layout>
              <c:tx>
                <c:rich>
                  <a:bodyPr/>
                  <a:lstStyle/>
                  <a:p>
                    <a:fld id="{755E7F5A-A15C-4AB7-A76C-1F35555687F4}" type="CELLRANGE">
                      <a:rPr lang="en-US" altLang="zh-CN"/>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7-104E-4734-8D9F-B517279B8C8B}"/>
                </c:ext>
              </c:extLst>
            </c:dLbl>
            <c:dLbl>
              <c:idx val="4"/>
              <c:layout>
                <c:manualLayout>
                  <c:x val="5.1939938466297825E-2"/>
                  <c:y val="5.9331488299084516E-17"/>
                </c:manualLayout>
              </c:layout>
              <c:tx>
                <c:rich>
                  <a:bodyPr/>
                  <a:lstStyle/>
                  <a:p>
                    <a:fld id="{616FD629-92E7-4AF4-AD5E-03C834A60AFB}" type="CELLRANGE">
                      <a:rPr lang="en-US" altLang="zh-CN"/>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8-104E-4734-8D9F-B517279B8C8B}"/>
                </c:ext>
              </c:extLst>
            </c:dLbl>
            <c:dLbl>
              <c:idx val="5"/>
              <c:tx>
                <c:rich>
                  <a:bodyPr/>
                  <a:lstStyle/>
                  <a:p>
                    <a:fld id="{4BD8C7CA-3544-442E-B8BB-9A608C8C4D50}" type="CELLRANGE">
                      <a:rPr lang="zh-CN" altLang="en-US"/>
                      <a:pPr/>
                      <a:t>[CELLRANGE]</a:t>
                    </a:fld>
                    <a:endParaRPr lang="zh-CN" alt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2-104E-4734-8D9F-B517279B8C8B}"/>
                </c:ext>
              </c:extLst>
            </c:dLbl>
            <c:dLbl>
              <c:idx val="6"/>
              <c:tx>
                <c:rich>
                  <a:bodyPr/>
                  <a:lstStyle/>
                  <a:p>
                    <a:fld id="{0C6826A8-F545-45F7-8A44-E3AFA23BA1FE}" type="CELLRANGE">
                      <a:rPr lang="zh-CN" altLang="en-US"/>
                      <a:pPr/>
                      <a:t>[CELLRANGE]</a:t>
                    </a:fld>
                    <a:endParaRPr lang="zh-CN" alt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4-104E-4734-8D9F-B517279B8C8B}"/>
                </c:ext>
              </c:extLst>
            </c:dLbl>
            <c:dLbl>
              <c:idx val="7"/>
              <c:delete val="1"/>
              <c:extLst>
                <c:ext xmlns:c15="http://schemas.microsoft.com/office/drawing/2012/chart" uri="{CE6537A1-D6FC-4f65-9D91-7224C49458BB}"/>
                <c:ext xmlns:c16="http://schemas.microsoft.com/office/drawing/2014/chart" uri="{C3380CC4-5D6E-409C-BE32-E72D297353CC}">
                  <c16:uniqueId val="{00000019-104E-4734-8D9F-B517279B8C8B}"/>
                </c:ext>
              </c:extLst>
            </c:dLbl>
            <c:numFmt formatCode="#,##0.00_);[Red]\(#,##0.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ea"/>
                    <a:ea typeface="+mn-ea"/>
                    <a:cs typeface="+mn-cs"/>
                  </a:defRPr>
                </a:pPr>
                <a:endParaRPr lang="zh-CN"/>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Sheet1!$A$2:$A$9</c:f>
              <c:strCache>
                <c:ptCount val="8"/>
                <c:pt idx="0">
                  <c:v>极氪</c:v>
                </c:pt>
                <c:pt idx="1">
                  <c:v> 入店前沟通</c:v>
                </c:pt>
                <c:pt idx="2">
                  <c:v> 到店接待</c:v>
                </c:pt>
                <c:pt idx="3">
                  <c:v> 店内看车</c:v>
                </c:pt>
                <c:pt idx="4">
                  <c:v> 试乘试驾</c:v>
                </c:pt>
                <c:pt idx="5">
                  <c:v> 洽谈下定</c:v>
                </c:pt>
                <c:pt idx="6">
                  <c:v> 送别与回访</c:v>
                </c:pt>
                <c:pt idx="7">
                  <c:v>阿维塔</c:v>
                </c:pt>
              </c:strCache>
            </c:strRef>
          </c:cat>
          <c:val>
            <c:numRef>
              <c:f>Sheet1!$D$2:$D$9</c:f>
              <c:numCache>
                <c:formatCode>0.0</c:formatCode>
                <c:ptCount val="8"/>
                <c:pt idx="0" formatCode="General">
                  <c:v>0</c:v>
                </c:pt>
                <c:pt idx="1">
                  <c:v>7.500007878840961</c:v>
                </c:pt>
                <c:pt idx="2">
                  <c:v>38.940742348599883</c:v>
                </c:pt>
                <c:pt idx="3">
                  <c:v>2.6058579688801728</c:v>
                </c:pt>
                <c:pt idx="4">
                  <c:v>15.996179723697765</c:v>
                </c:pt>
                <c:pt idx="5">
                  <c:v>2.0118870260995436</c:v>
                </c:pt>
                <c:pt idx="6">
                  <c:v>4.974061844550647</c:v>
                </c:pt>
                <c:pt idx="7">
                  <c:v>0</c:v>
                </c:pt>
              </c:numCache>
            </c:numRef>
          </c:val>
          <c:extLst>
            <c:ext xmlns:c15="http://schemas.microsoft.com/office/drawing/2012/chart" uri="{02D57815-91ED-43cb-92C2-25804820EDAC}">
              <c15:datalabelsRange>
                <c15:f>Sheet1!$B$2:$B$9</c15:f>
                <c15:dlblRangeCache>
                  <c:ptCount val="8"/>
                  <c:pt idx="0">
                    <c:v>861</c:v>
                  </c:pt>
                  <c:pt idx="1">
                    <c:v>-7.5</c:v>
                  </c:pt>
                  <c:pt idx="2">
                    <c:v>38.9</c:v>
                  </c:pt>
                  <c:pt idx="3">
                    <c:v>2.6</c:v>
                  </c:pt>
                  <c:pt idx="4">
                    <c:v>16.0</c:v>
                  </c:pt>
                  <c:pt idx="5">
                    <c:v>-2.0</c:v>
                  </c:pt>
                  <c:pt idx="6">
                    <c:v>-5.0</c:v>
                  </c:pt>
                  <c:pt idx="7">
                    <c:v>869</c:v>
                  </c:pt>
                </c15:dlblRangeCache>
              </c15:datalabelsRange>
            </c:ext>
            <c:ext xmlns:c16="http://schemas.microsoft.com/office/drawing/2014/chart" uri="{C3380CC4-5D6E-409C-BE32-E72D297353CC}">
              <c16:uniqueId val="{0000001A-104E-4734-8D9F-B517279B8C8B}"/>
            </c:ext>
          </c:extLst>
        </c:ser>
        <c:dLbls>
          <c:showLegendKey val="0"/>
          <c:showVal val="0"/>
          <c:showCatName val="0"/>
          <c:showSerName val="0"/>
          <c:showPercent val="0"/>
          <c:showBubbleSize val="0"/>
        </c:dLbls>
        <c:gapWidth val="50"/>
        <c:overlap val="100"/>
        <c:axId val="1624751583"/>
        <c:axId val="21874975"/>
      </c:barChart>
      <c:catAx>
        <c:axId val="1624751583"/>
        <c:scaling>
          <c:orientation val="maxMin"/>
        </c:scaling>
        <c:delete val="0"/>
        <c:axPos val="l"/>
        <c:numFmt formatCode="General" sourceLinked="1"/>
        <c:majorTickMark val="none"/>
        <c:minorTickMark val="none"/>
        <c:tickLblPos val="nextTo"/>
        <c:spPr>
          <a:noFill/>
          <a:ln w="9525" cap="flat" cmpd="sng" algn="ctr">
            <a:solidFill>
              <a:schemeClr val="accent1">
                <a:alpha val="94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ea"/>
                <a:ea typeface="+mn-ea"/>
                <a:cs typeface="+mn-cs"/>
              </a:defRPr>
            </a:pPr>
            <a:endParaRPr lang="zh-CN"/>
          </a:p>
        </c:txPr>
        <c:crossAx val="21874975"/>
        <c:crossesAt val="-200"/>
        <c:auto val="1"/>
        <c:lblAlgn val="ctr"/>
        <c:lblOffset val="100"/>
        <c:noMultiLvlLbl val="0"/>
      </c:catAx>
      <c:valAx>
        <c:axId val="21874975"/>
        <c:scaling>
          <c:orientation val="minMax"/>
          <c:max val="950"/>
          <c:min val="600"/>
        </c:scaling>
        <c:delete val="1"/>
        <c:axPos val="t"/>
        <c:numFmt formatCode="0" sourceLinked="1"/>
        <c:majorTickMark val="out"/>
        <c:minorTickMark val="none"/>
        <c:tickLblPos val="nextTo"/>
        <c:crossAx val="1624751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stacked"/>
        <c:varyColors val="0"/>
        <c:ser>
          <c:idx val="0"/>
          <c:order val="0"/>
          <c:tx>
            <c:strRef>
              <c:f>Sheet1!$C$1</c:f>
              <c:strCache>
                <c:ptCount val="1"/>
                <c:pt idx="0">
                  <c:v>列1</c:v>
                </c:pt>
              </c:strCache>
            </c:strRef>
          </c:tx>
          <c:spPr>
            <a:solidFill>
              <a:schemeClr val="accent1"/>
            </a:solidFill>
            <a:ln>
              <a:noFill/>
            </a:ln>
            <a:effectLst/>
          </c:spPr>
          <c:invertIfNegative val="0"/>
          <c:dPt>
            <c:idx val="0"/>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C-D84F-4781-856F-AEFE6BCAFC15}"/>
              </c:ext>
            </c:extLst>
          </c:dPt>
          <c:dPt>
            <c:idx val="1"/>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1-D84F-4781-856F-AEFE6BCAFC15}"/>
              </c:ext>
            </c:extLst>
          </c:dPt>
          <c:dPt>
            <c:idx val="2"/>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3-D84F-4781-856F-AEFE6BCAFC15}"/>
              </c:ext>
            </c:extLst>
          </c:dPt>
          <c:dPt>
            <c:idx val="3"/>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5-D84F-4781-856F-AEFE6BCAFC15}"/>
              </c:ext>
            </c:extLst>
          </c:dPt>
          <c:dPt>
            <c:idx val="4"/>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7-D84F-4781-856F-AEFE6BCAFC15}"/>
              </c:ext>
            </c:extLst>
          </c:dPt>
          <c:dPt>
            <c:idx val="5"/>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9-D84F-4781-856F-AEFE6BCAFC15}"/>
              </c:ext>
            </c:extLst>
          </c:dPt>
          <c:dPt>
            <c:idx val="6"/>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B-D84F-4781-856F-AEFE6BCAFC15}"/>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D84F-4781-856F-AEFE6BCAFC15}"/>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D84F-4781-856F-AEFE6BCAFC15}"/>
                </c:ext>
              </c:extLst>
            </c:dLbl>
            <c:spPr>
              <a:noFill/>
              <a:ln>
                <a:noFill/>
              </a:ln>
              <a:effectLst/>
            </c:spPr>
            <c:txPr>
              <a:bodyPr rot="0" spcFirstLastPara="1" vertOverflow="ellipsis" vert="horz" wrap="square" lIns="38100" tIns="19050" rIns="38100" bIns="19050" anchor="ctr" anchorCtr="0">
                <a:spAutoFit/>
              </a:bodyPr>
              <a:lstStyle/>
              <a:p>
                <a:pPr algn="ctr">
                  <a:defRPr lang="en-US" altLang="zh-CN" sz="800" b="0" i="0" u="none" strike="noStrike" kern="1200" baseline="0">
                    <a:solidFill>
                      <a:schemeClr val="bg1"/>
                    </a:solidFill>
                    <a:latin typeface="+mn-ea"/>
                    <a:ea typeface="+mn-ea"/>
                    <a:cs typeface="+mn-cs"/>
                  </a:defRPr>
                </a:pPr>
                <a:endParaRPr lang="zh-CN"/>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问界</c:v>
                </c:pt>
                <c:pt idx="1">
                  <c:v> 入店前沟通</c:v>
                </c:pt>
                <c:pt idx="2">
                  <c:v> 到店接待</c:v>
                </c:pt>
                <c:pt idx="3">
                  <c:v> 店内看车</c:v>
                </c:pt>
                <c:pt idx="4">
                  <c:v> 试乘试驾</c:v>
                </c:pt>
                <c:pt idx="5">
                  <c:v> 洽谈下定</c:v>
                </c:pt>
                <c:pt idx="6">
                  <c:v> 送别与回访</c:v>
                </c:pt>
                <c:pt idx="7">
                  <c:v>阿维塔</c:v>
                </c:pt>
              </c:strCache>
            </c:strRef>
          </c:cat>
          <c:val>
            <c:numRef>
              <c:f>Sheet1!$C$2:$C$9</c:f>
              <c:numCache>
                <c:formatCode>0</c:formatCode>
                <c:ptCount val="8"/>
                <c:pt idx="0">
                  <c:v>859.91958855502446</c:v>
                </c:pt>
                <c:pt idx="1">
                  <c:v>860.49045779393089</c:v>
                </c:pt>
                <c:pt idx="2">
                  <c:v>868.97544573302832</c:v>
                </c:pt>
                <c:pt idx="3">
                  <c:v>865.61139390678215</c:v>
                </c:pt>
                <c:pt idx="4">
                  <c:v>868.97544573302832</c:v>
                </c:pt>
                <c:pt idx="5">
                  <c:v>868.97544573302832</c:v>
                </c:pt>
                <c:pt idx="6">
                  <c:v>858.65344494288433</c:v>
                </c:pt>
                <c:pt idx="7">
                  <c:v>868.97544573302832</c:v>
                </c:pt>
              </c:numCache>
            </c:numRef>
          </c:val>
          <c:extLst>
            <c:ext xmlns:c16="http://schemas.microsoft.com/office/drawing/2014/chart" uri="{C3380CC4-5D6E-409C-BE32-E72D297353CC}">
              <c16:uniqueId val="{0000000E-D84F-4781-856F-AEFE6BCAFC15}"/>
            </c:ext>
          </c:extLst>
        </c:ser>
        <c:ser>
          <c:idx val="1"/>
          <c:order val="1"/>
          <c:tx>
            <c:strRef>
              <c:f>Sheet1!$D$1</c:f>
              <c:strCache>
                <c:ptCount val="1"/>
                <c:pt idx="0">
                  <c:v>列2</c:v>
                </c:pt>
              </c:strCache>
            </c:strRef>
          </c:tx>
          <c:spPr>
            <a:solidFill>
              <a:srgbClr val="FF0000"/>
            </a:solidFill>
            <a:ln>
              <a:noFill/>
            </a:ln>
            <a:effectLst/>
          </c:spPr>
          <c:invertIfNegative val="0"/>
          <c:dPt>
            <c:idx val="1"/>
            <c:invertIfNegative val="0"/>
            <c:bubble3D val="0"/>
            <c:spPr>
              <a:solidFill>
                <a:srgbClr val="FF0000"/>
              </a:solidFill>
              <a:ln>
                <a:noFill/>
              </a:ln>
              <a:effectLst/>
            </c:spPr>
            <c:extLst>
              <c:ext xmlns:c16="http://schemas.microsoft.com/office/drawing/2014/chart" uri="{C3380CC4-5D6E-409C-BE32-E72D297353CC}">
                <c16:uniqueId val="{00000010-D84F-4781-856F-AEFE6BCAFC15}"/>
              </c:ext>
            </c:extLst>
          </c:dPt>
          <c:dPt>
            <c:idx val="2"/>
            <c:invertIfNegative val="0"/>
            <c:bubble3D val="0"/>
            <c:spPr>
              <a:solidFill>
                <a:srgbClr val="4B8D56"/>
              </a:solidFill>
              <a:ln>
                <a:noFill/>
              </a:ln>
              <a:effectLst/>
            </c:spPr>
            <c:extLst>
              <c:ext xmlns:c16="http://schemas.microsoft.com/office/drawing/2014/chart" uri="{C3380CC4-5D6E-409C-BE32-E72D297353CC}">
                <c16:uniqueId val="{00000012-D84F-4781-856F-AEFE6BCAFC15}"/>
              </c:ext>
            </c:extLst>
          </c:dPt>
          <c:dPt>
            <c:idx val="4"/>
            <c:invertIfNegative val="0"/>
            <c:bubble3D val="0"/>
            <c:spPr>
              <a:solidFill>
                <a:srgbClr val="4B8D56"/>
              </a:solidFill>
              <a:ln>
                <a:noFill/>
              </a:ln>
              <a:effectLst/>
            </c:spPr>
            <c:extLst>
              <c:ext xmlns:c16="http://schemas.microsoft.com/office/drawing/2014/chart" uri="{C3380CC4-5D6E-409C-BE32-E72D297353CC}">
                <c16:uniqueId val="{00000014-D84F-4781-856F-AEFE6BCAFC15}"/>
              </c:ext>
            </c:extLst>
          </c:dPt>
          <c:dPt>
            <c:idx val="5"/>
            <c:invertIfNegative val="0"/>
            <c:bubble3D val="0"/>
            <c:spPr>
              <a:solidFill>
                <a:srgbClr val="4B8D56"/>
              </a:solidFill>
              <a:ln>
                <a:noFill/>
              </a:ln>
              <a:effectLst/>
            </c:spPr>
            <c:extLst>
              <c:ext xmlns:c16="http://schemas.microsoft.com/office/drawing/2014/chart" uri="{C3380CC4-5D6E-409C-BE32-E72D297353CC}">
                <c16:uniqueId val="{00000016-D84F-4781-856F-AEFE6BCAFC15}"/>
              </c:ext>
            </c:extLst>
          </c:dPt>
          <c:dPt>
            <c:idx val="6"/>
            <c:invertIfNegative val="1"/>
            <c:bubble3D val="0"/>
            <c:spPr>
              <a:solidFill>
                <a:srgbClr val="FF0000"/>
              </a:solidFill>
              <a:ln>
                <a:noFill/>
              </a:ln>
              <a:effectLst/>
            </c:spPr>
            <c:extLst>
              <c:ext xmlns:c16="http://schemas.microsoft.com/office/drawing/2014/chart" uri="{C3380CC4-5D6E-409C-BE32-E72D297353CC}">
                <c16:uniqueId val="{00000018-D84F-4781-856F-AEFE6BCAFC15}"/>
              </c:ext>
            </c:extLst>
          </c:dPt>
          <c:dLbls>
            <c:dLbl>
              <c:idx val="0"/>
              <c:delete val="1"/>
              <c:extLst>
                <c:ext xmlns:c15="http://schemas.microsoft.com/office/drawing/2012/chart" uri="{CE6537A1-D6FC-4f65-9D91-7224C49458BB}"/>
                <c:ext xmlns:c16="http://schemas.microsoft.com/office/drawing/2014/chart" uri="{C3380CC4-5D6E-409C-BE32-E72D297353CC}">
                  <c16:uniqueId val="{00000019-D84F-4781-856F-AEFE6BCAFC15}"/>
                </c:ext>
              </c:extLst>
            </c:dLbl>
            <c:dLbl>
              <c:idx val="1"/>
              <c:tx>
                <c:rich>
                  <a:bodyPr/>
                  <a:lstStyle/>
                  <a:p>
                    <a:fld id="{C4195337-0551-43BF-9496-10686EE83B4B}" type="CELLRANGE">
                      <a:rPr lang="zh-CN" altLang="en-US"/>
                      <a:pPr/>
                      <a:t>[CELLRANGE]</a:t>
                    </a:fld>
                    <a:endParaRPr lang="zh-CN" alt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0-D84F-4781-856F-AEFE6BCAFC15}"/>
                </c:ext>
              </c:extLst>
            </c:dLbl>
            <c:dLbl>
              <c:idx val="2"/>
              <c:layout>
                <c:manualLayout>
                  <c:x val="8.5730937755806702E-2"/>
                  <c:y val="-6.4715814602289258E-3"/>
                </c:manualLayout>
              </c:layout>
              <c:tx>
                <c:rich>
                  <a:bodyPr/>
                  <a:lstStyle/>
                  <a:p>
                    <a:fld id="{0811E952-3E02-432C-9533-A9E5798FFC08}" type="CELLRANGE">
                      <a:rPr lang="en-US" altLang="zh-CN"/>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2-D84F-4781-856F-AEFE6BCAFC15}"/>
                </c:ext>
              </c:extLst>
            </c:dLbl>
            <c:dLbl>
              <c:idx val="3"/>
              <c:tx>
                <c:rich>
                  <a:bodyPr/>
                  <a:lstStyle/>
                  <a:p>
                    <a:fld id="{44FCA85B-9F05-45EE-805F-DE712F2877DA}" type="CELLRANGE">
                      <a:rPr lang="zh-CN" altLang="en-US"/>
                      <a:pPr/>
                      <a:t>[CELLRANGE]</a:t>
                    </a:fld>
                    <a:endParaRPr lang="zh-CN" alt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A-D84F-4781-856F-AEFE6BCAFC15}"/>
                </c:ext>
              </c:extLst>
            </c:dLbl>
            <c:dLbl>
              <c:idx val="4"/>
              <c:layout>
                <c:manualLayout>
                  <c:x val="6.8010534168841133E-2"/>
                  <c:y val="5.9331488299084516E-17"/>
                </c:manualLayout>
              </c:layout>
              <c:tx>
                <c:rich>
                  <a:bodyPr/>
                  <a:lstStyle/>
                  <a:p>
                    <a:fld id="{97604E3E-D31F-44CB-B68D-F3FC5817F4CC}" type="CELLRANGE">
                      <a:rPr lang="en-US" altLang="zh-CN"/>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4-D84F-4781-856F-AEFE6BCAFC15}"/>
                </c:ext>
              </c:extLst>
            </c:dLbl>
            <c:dLbl>
              <c:idx val="5"/>
              <c:layout>
                <c:manualLayout>
                  <c:x val="4.4801865597603484E-2"/>
                  <c:y val="0"/>
                </c:manualLayout>
              </c:layout>
              <c:tx>
                <c:rich>
                  <a:bodyPr/>
                  <a:lstStyle/>
                  <a:p>
                    <a:fld id="{C58016AF-816A-45CB-87C6-8154D3942E58}" type="CELLRANGE">
                      <a:rPr lang="en-US" altLang="zh-CN"/>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6-D84F-4781-856F-AEFE6BCAFC15}"/>
                </c:ext>
              </c:extLst>
            </c:dLbl>
            <c:dLbl>
              <c:idx val="6"/>
              <c:tx>
                <c:rich>
                  <a:bodyPr/>
                  <a:lstStyle/>
                  <a:p>
                    <a:fld id="{7CFA4938-1D5A-4E8F-B217-81ADDBB05730}" type="CELLRANGE">
                      <a:rPr lang="zh-CN" altLang="en-US"/>
                      <a:pPr/>
                      <a:t>[CELLRANGE]</a:t>
                    </a:fld>
                    <a:endParaRPr lang="zh-CN" altLang="en-US"/>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8-D84F-4781-856F-AEFE6BCAFC15}"/>
                </c:ext>
              </c:extLst>
            </c:dLbl>
            <c:dLbl>
              <c:idx val="7"/>
              <c:delete val="1"/>
              <c:extLst>
                <c:ext xmlns:c15="http://schemas.microsoft.com/office/drawing/2012/chart" uri="{CE6537A1-D6FC-4f65-9D91-7224C49458BB}"/>
                <c:ext xmlns:c16="http://schemas.microsoft.com/office/drawing/2014/chart" uri="{C3380CC4-5D6E-409C-BE32-E72D297353CC}">
                  <c16:uniqueId val="{0000001B-D84F-4781-856F-AEFE6BCAFC15}"/>
                </c:ext>
              </c:extLst>
            </c:dLbl>
            <c:numFmt formatCode="#,##0.00_);[Red]\(#,##0.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ea"/>
                    <a:ea typeface="+mn-ea"/>
                    <a:cs typeface="+mn-cs"/>
                  </a:defRPr>
                </a:pPr>
                <a:endParaRPr lang="zh-CN"/>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Sheet1!$A$2:$A$9</c:f>
              <c:strCache>
                <c:ptCount val="8"/>
                <c:pt idx="0">
                  <c:v>问界</c:v>
                </c:pt>
                <c:pt idx="1">
                  <c:v> 入店前沟通</c:v>
                </c:pt>
                <c:pt idx="2">
                  <c:v> 到店接待</c:v>
                </c:pt>
                <c:pt idx="3">
                  <c:v> 店内看车</c:v>
                </c:pt>
                <c:pt idx="4">
                  <c:v> 试乘试驾</c:v>
                </c:pt>
                <c:pt idx="5">
                  <c:v> 洽谈下定</c:v>
                </c:pt>
                <c:pt idx="6">
                  <c:v> 送别与回访</c:v>
                </c:pt>
                <c:pt idx="7">
                  <c:v>阿维塔</c:v>
                </c:pt>
              </c:strCache>
            </c:strRef>
          </c:cat>
          <c:val>
            <c:numRef>
              <c:f>Sheet1!$D$2:$D$9</c:f>
              <c:numCache>
                <c:formatCode>0.0</c:formatCode>
                <c:ptCount val="8"/>
                <c:pt idx="0">
                  <c:v>0</c:v>
                </c:pt>
                <c:pt idx="1">
                  <c:v>8.4849879390974365</c:v>
                </c:pt>
                <c:pt idx="2">
                  <c:v>37.596204533473838</c:v>
                </c:pt>
                <c:pt idx="3">
                  <c:v>3.3640518262461683</c:v>
                </c:pt>
                <c:pt idx="4">
                  <c:v>21.849540974690285</c:v>
                </c:pt>
                <c:pt idx="5">
                  <c:v>8.4717920940197473</c:v>
                </c:pt>
                <c:pt idx="6">
                  <c:v>10.322000790143989</c:v>
                </c:pt>
                <c:pt idx="7" formatCode="General">
                  <c:v>0</c:v>
                </c:pt>
              </c:numCache>
            </c:numRef>
          </c:val>
          <c:extLst>
            <c:ext xmlns:c15="http://schemas.microsoft.com/office/drawing/2012/chart" uri="{02D57815-91ED-43cb-92C2-25804820EDAC}">
              <c15:datalabelsRange>
                <c15:f>Sheet1!$B$2:$B$9</c15:f>
                <c15:dlblRangeCache>
                  <c:ptCount val="8"/>
                  <c:pt idx="0">
                    <c:v>860</c:v>
                  </c:pt>
                  <c:pt idx="1">
                    <c:v>-8.5</c:v>
                  </c:pt>
                  <c:pt idx="2">
                    <c:v>37.6</c:v>
                  </c:pt>
                  <c:pt idx="3">
                    <c:v>-3.4</c:v>
                  </c:pt>
                  <c:pt idx="4">
                    <c:v>21.8</c:v>
                  </c:pt>
                  <c:pt idx="5">
                    <c:v>8.5</c:v>
                  </c:pt>
                  <c:pt idx="6">
                    <c:v>-10.3</c:v>
                  </c:pt>
                  <c:pt idx="7">
                    <c:v>869</c:v>
                  </c:pt>
                </c15:dlblRangeCache>
              </c15:datalabelsRange>
            </c:ext>
            <c:ext xmlns:c16="http://schemas.microsoft.com/office/drawing/2014/chart" uri="{C3380CC4-5D6E-409C-BE32-E72D297353CC}">
              <c16:uniqueId val="{0000001C-D84F-4781-856F-AEFE6BCAFC15}"/>
            </c:ext>
          </c:extLst>
        </c:ser>
        <c:dLbls>
          <c:showLegendKey val="0"/>
          <c:showVal val="0"/>
          <c:showCatName val="0"/>
          <c:showSerName val="0"/>
          <c:showPercent val="0"/>
          <c:showBubbleSize val="0"/>
        </c:dLbls>
        <c:gapWidth val="50"/>
        <c:overlap val="100"/>
        <c:axId val="1624751583"/>
        <c:axId val="21874975"/>
      </c:barChart>
      <c:catAx>
        <c:axId val="1624751583"/>
        <c:scaling>
          <c:orientation val="maxMin"/>
        </c:scaling>
        <c:delete val="0"/>
        <c:axPos val="l"/>
        <c:numFmt formatCode="General" sourceLinked="1"/>
        <c:majorTickMark val="none"/>
        <c:minorTickMark val="none"/>
        <c:tickLblPos val="nextTo"/>
        <c:spPr>
          <a:noFill/>
          <a:ln w="9525" cap="flat" cmpd="sng" algn="ctr">
            <a:solidFill>
              <a:schemeClr val="accent1">
                <a:alpha val="94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ea"/>
                <a:ea typeface="+mn-ea"/>
                <a:cs typeface="+mn-cs"/>
              </a:defRPr>
            </a:pPr>
            <a:endParaRPr lang="zh-CN"/>
          </a:p>
        </c:txPr>
        <c:crossAx val="21874975"/>
        <c:crossesAt val="-200"/>
        <c:auto val="1"/>
        <c:lblAlgn val="ctr"/>
        <c:lblOffset val="100"/>
        <c:noMultiLvlLbl val="0"/>
      </c:catAx>
      <c:valAx>
        <c:axId val="21874975"/>
        <c:scaling>
          <c:orientation val="minMax"/>
          <c:max val="950"/>
          <c:min val="600"/>
        </c:scaling>
        <c:delete val="1"/>
        <c:axPos val="t"/>
        <c:numFmt formatCode="0" sourceLinked="1"/>
        <c:majorTickMark val="out"/>
        <c:minorTickMark val="none"/>
        <c:tickLblPos val="nextTo"/>
        <c:crossAx val="1624751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8641816020629468"/>
          <c:y val="6.8686890539056883E-2"/>
          <c:w val="0.66379025517741597"/>
          <c:h val="0.90288794695031682"/>
        </c:manualLayout>
      </c:layout>
      <c:barChart>
        <c:barDir val="bar"/>
        <c:grouping val="stacked"/>
        <c:varyColors val="0"/>
        <c:ser>
          <c:idx val="0"/>
          <c:order val="0"/>
          <c:tx>
            <c:strRef>
              <c:f>Sheet1!$C$1</c:f>
              <c:strCache>
                <c:ptCount val="1"/>
                <c:pt idx="0">
                  <c:v>列1</c:v>
                </c:pt>
              </c:strCache>
            </c:strRef>
          </c:tx>
          <c:spPr>
            <a:solidFill>
              <a:schemeClr val="accent1"/>
            </a:solidFill>
            <a:ln>
              <a:noFill/>
            </a:ln>
            <a:effectLst/>
          </c:spPr>
          <c:invertIfNegative val="0"/>
          <c:dPt>
            <c:idx val="0"/>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C-8AC7-4D53-AC13-770D3D2FAA54}"/>
              </c:ext>
            </c:extLst>
          </c:dPt>
          <c:dPt>
            <c:idx val="1"/>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1-8AC7-4D53-AC13-770D3D2FAA54}"/>
              </c:ext>
            </c:extLst>
          </c:dPt>
          <c:dPt>
            <c:idx val="2"/>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3-8AC7-4D53-AC13-770D3D2FAA54}"/>
              </c:ext>
            </c:extLst>
          </c:dPt>
          <c:dPt>
            <c:idx val="3"/>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5-8AC7-4D53-AC13-770D3D2FAA54}"/>
              </c:ext>
            </c:extLst>
          </c:dPt>
          <c:dPt>
            <c:idx val="4"/>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7-8AC7-4D53-AC13-770D3D2FAA54}"/>
              </c:ext>
            </c:extLst>
          </c:dPt>
          <c:dPt>
            <c:idx val="5"/>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9-8AC7-4D53-AC13-770D3D2FAA54}"/>
              </c:ext>
            </c:extLst>
          </c:dPt>
          <c:dPt>
            <c:idx val="6"/>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B-8AC7-4D53-AC13-770D3D2FAA54}"/>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8AC7-4D53-AC13-770D3D2FAA54}"/>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AC7-4D53-AC13-770D3D2FAA54}"/>
                </c:ext>
              </c:extLst>
            </c:dLbl>
            <c:spPr>
              <a:noFill/>
              <a:ln>
                <a:noFill/>
              </a:ln>
              <a:effectLst/>
            </c:spPr>
            <c:txPr>
              <a:bodyPr rot="0" spcFirstLastPara="1" vertOverflow="ellipsis" vert="horz" wrap="square" lIns="38100" tIns="19050" rIns="38100" bIns="19050" anchor="ctr" anchorCtr="0">
                <a:spAutoFit/>
              </a:bodyPr>
              <a:lstStyle/>
              <a:p>
                <a:pPr algn="ctr">
                  <a:defRPr lang="en-US" altLang="zh-CN" sz="800" b="0" i="0" u="none" strike="noStrike" kern="1200" baseline="0">
                    <a:solidFill>
                      <a:schemeClr val="bg1"/>
                    </a:solidFill>
                    <a:latin typeface="+mn-ea"/>
                    <a:ea typeface="+mn-ea"/>
                    <a:cs typeface="+mn-cs"/>
                  </a:defRPr>
                </a:pPr>
                <a:endParaRPr lang="zh-CN"/>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理想</c:v>
                </c:pt>
                <c:pt idx="1">
                  <c:v> 入店前沟通</c:v>
                </c:pt>
                <c:pt idx="2">
                  <c:v> 到店接待</c:v>
                </c:pt>
                <c:pt idx="3">
                  <c:v> 店内看车</c:v>
                </c:pt>
                <c:pt idx="4">
                  <c:v> 试乘试驾</c:v>
                </c:pt>
                <c:pt idx="5">
                  <c:v> 洽谈下定</c:v>
                </c:pt>
                <c:pt idx="6">
                  <c:v> 送别与回访</c:v>
                </c:pt>
                <c:pt idx="7">
                  <c:v>阿维塔</c:v>
                </c:pt>
              </c:strCache>
            </c:strRef>
          </c:cat>
          <c:val>
            <c:numRef>
              <c:f>Sheet1!$C$2:$C$9</c:f>
              <c:numCache>
                <c:formatCode>0</c:formatCode>
                <c:ptCount val="8"/>
                <c:pt idx="0">
                  <c:v>855.09698840767476</c:v>
                </c:pt>
                <c:pt idx="1">
                  <c:v>868.97544573302832</c:v>
                </c:pt>
                <c:pt idx="2">
                  <c:v>868.97544573302832</c:v>
                </c:pt>
                <c:pt idx="3">
                  <c:v>868.97544573302832</c:v>
                </c:pt>
                <c:pt idx="4">
                  <c:v>868.97544573302832</c:v>
                </c:pt>
                <c:pt idx="5">
                  <c:v>868.97544573302832</c:v>
                </c:pt>
                <c:pt idx="6">
                  <c:v>839.84127252162375</c:v>
                </c:pt>
                <c:pt idx="7">
                  <c:v>868.97544573302832</c:v>
                </c:pt>
              </c:numCache>
            </c:numRef>
          </c:val>
          <c:extLst>
            <c:ext xmlns:c16="http://schemas.microsoft.com/office/drawing/2014/chart" uri="{C3380CC4-5D6E-409C-BE32-E72D297353CC}">
              <c16:uniqueId val="{0000000E-8AC7-4D53-AC13-770D3D2FAA54}"/>
            </c:ext>
          </c:extLst>
        </c:ser>
        <c:ser>
          <c:idx val="1"/>
          <c:order val="1"/>
          <c:tx>
            <c:strRef>
              <c:f>Sheet1!$D$1</c:f>
              <c:strCache>
                <c:ptCount val="1"/>
                <c:pt idx="0">
                  <c:v>列2</c:v>
                </c:pt>
              </c:strCache>
            </c:strRef>
          </c:tx>
          <c:spPr>
            <a:solidFill>
              <a:srgbClr val="4B8D56"/>
            </a:solidFill>
            <a:ln>
              <a:noFill/>
            </a:ln>
            <a:effectLst/>
          </c:spPr>
          <c:invertIfNegative val="0"/>
          <c:dPt>
            <c:idx val="5"/>
            <c:invertIfNegative val="0"/>
            <c:bubble3D val="0"/>
            <c:spPr>
              <a:solidFill>
                <a:srgbClr val="4B8D56"/>
              </a:solidFill>
              <a:ln>
                <a:noFill/>
              </a:ln>
              <a:effectLst/>
            </c:spPr>
            <c:extLst>
              <c:ext xmlns:c16="http://schemas.microsoft.com/office/drawing/2014/chart" uri="{C3380CC4-5D6E-409C-BE32-E72D297353CC}">
                <c16:uniqueId val="{00000010-8AC7-4D53-AC13-770D3D2FAA54}"/>
              </c:ext>
            </c:extLst>
          </c:dPt>
          <c:dPt>
            <c:idx val="6"/>
            <c:invertIfNegative val="1"/>
            <c:bubble3D val="0"/>
            <c:spPr>
              <a:solidFill>
                <a:srgbClr val="FF0000"/>
              </a:solidFill>
              <a:ln>
                <a:noFill/>
              </a:ln>
              <a:effectLst/>
            </c:spPr>
            <c:extLst>
              <c:ext xmlns:c16="http://schemas.microsoft.com/office/drawing/2014/chart" uri="{C3380CC4-5D6E-409C-BE32-E72D297353CC}">
                <c16:uniqueId val="{00000012-8AC7-4D53-AC13-770D3D2FAA54}"/>
              </c:ext>
            </c:extLst>
          </c:dPt>
          <c:dLbls>
            <c:dLbl>
              <c:idx val="0"/>
              <c:delete val="1"/>
              <c:extLst>
                <c:ext xmlns:c15="http://schemas.microsoft.com/office/drawing/2012/chart" uri="{CE6537A1-D6FC-4f65-9D91-7224C49458BB}"/>
                <c:ext xmlns:c16="http://schemas.microsoft.com/office/drawing/2014/chart" uri="{C3380CC4-5D6E-409C-BE32-E72D297353CC}">
                  <c16:uniqueId val="{00000013-8AC7-4D53-AC13-770D3D2FAA54}"/>
                </c:ext>
              </c:extLst>
            </c:dLbl>
            <c:dLbl>
              <c:idx val="1"/>
              <c:tx>
                <c:rich>
                  <a:bodyPr/>
                  <a:lstStyle/>
                  <a:p>
                    <a:fld id="{66A6F2C6-7382-4AA1-A05B-2AC60BF6173A}" type="CELLRANGE">
                      <a:rPr lang="zh-CN" altLang="en-US"/>
                      <a:pPr/>
                      <a:t>[CELLRANGE]</a:t>
                    </a:fld>
                    <a:endParaRPr lang="zh-CN" altLang="en-US"/>
                  </a:p>
                </c:rich>
              </c:tx>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4-8AC7-4D53-AC13-770D3D2FAA54}"/>
                </c:ext>
              </c:extLst>
            </c:dLbl>
            <c:dLbl>
              <c:idx val="2"/>
              <c:layout>
                <c:manualLayout>
                  <c:x val="9.4113579701286129E-2"/>
                  <c:y val="-6.244262776277841E-3"/>
                </c:manualLayout>
              </c:layout>
              <c:tx>
                <c:rich>
                  <a:bodyPr/>
                  <a:lstStyle/>
                  <a:p>
                    <a:fld id="{98D8316A-2DEB-4823-9E1B-DFF108FE7DD5}" type="CELLRANGE">
                      <a:rPr lang="en-US" altLang="zh-CN"/>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5-8AC7-4D53-AC13-770D3D2FAA54}"/>
                </c:ext>
              </c:extLst>
            </c:dLbl>
            <c:dLbl>
              <c:idx val="3"/>
              <c:tx>
                <c:rich>
                  <a:bodyPr/>
                  <a:lstStyle/>
                  <a:p>
                    <a:fld id="{AA42A4B5-C515-47D1-9334-93C8709E0870}" type="CELLRANGE">
                      <a:rPr lang="zh-CN" altLang="en-US"/>
                      <a:pPr/>
                      <a:t>[CELLRANGE]</a:t>
                    </a:fld>
                    <a:endParaRPr lang="zh-CN" altLang="en-US"/>
                  </a:p>
                </c:rich>
              </c:tx>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6-8AC7-4D53-AC13-770D3D2FAA54}"/>
                </c:ext>
              </c:extLst>
            </c:dLbl>
            <c:dLbl>
              <c:idx val="4"/>
              <c:layout>
                <c:manualLayout>
                  <c:x val="8.4410458014859066E-2"/>
                  <c:y val="5.723841422616858E-17"/>
                </c:manualLayout>
              </c:layout>
              <c:tx>
                <c:rich>
                  <a:bodyPr/>
                  <a:lstStyle/>
                  <a:p>
                    <a:fld id="{F9EB70DC-3C7E-4D8F-91A6-CFCF15552F75}" type="CELLRANGE">
                      <a:rPr lang="en-US" altLang="zh-CN"/>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7-8AC7-4D53-AC13-770D3D2FAA54}"/>
                </c:ext>
              </c:extLst>
            </c:dLbl>
            <c:dLbl>
              <c:idx val="5"/>
              <c:numFmt formatCode="#,##0.0_);[Red]\(#,##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ea"/>
                      <a:ea typeface="+mn-ea"/>
                      <a:cs typeface="+mn-cs"/>
                    </a:defRPr>
                  </a:pPr>
                  <a:endParaRPr lang="zh-CN"/>
                </a:p>
              </c:txPr>
              <c:dLblPos val="inBase"/>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8AC7-4D53-AC13-770D3D2FAA54}"/>
                </c:ext>
              </c:extLst>
            </c:dLbl>
            <c:dLbl>
              <c:idx val="6"/>
              <c:layout>
                <c:manualLayout>
                  <c:x val="-8.4481028764708921E-2"/>
                  <c:y val="1.2488525552555797E-2"/>
                </c:manualLayout>
              </c:layout>
              <c:tx>
                <c:rich>
                  <a:bodyPr/>
                  <a:lstStyle/>
                  <a:p>
                    <a:fld id="{50817FAB-8597-4EB8-9235-6EF8A062135F}" type="CELLRANGE">
                      <a:rPr lang="en-US" altLang="zh-CN"/>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2-8AC7-4D53-AC13-770D3D2FAA54}"/>
                </c:ext>
              </c:extLst>
            </c:dLbl>
            <c:dLbl>
              <c:idx val="7"/>
              <c:delete val="1"/>
              <c:extLst>
                <c:ext xmlns:c15="http://schemas.microsoft.com/office/drawing/2012/chart" uri="{CE6537A1-D6FC-4f65-9D91-7224C49458BB}"/>
                <c:ext xmlns:c16="http://schemas.microsoft.com/office/drawing/2014/chart" uri="{C3380CC4-5D6E-409C-BE32-E72D297353CC}">
                  <c16:uniqueId val="{00000018-8AC7-4D53-AC13-770D3D2FAA54}"/>
                </c:ext>
              </c:extLst>
            </c:dLbl>
            <c:numFmt formatCode="#,##0.00_);[Red]\(#,##0.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ea"/>
                    <a:ea typeface="+mn-ea"/>
                    <a:cs typeface="+mn-cs"/>
                  </a:defRPr>
                </a:pPr>
                <a:endParaRPr lang="zh-CN"/>
              </a:p>
            </c:txPr>
            <c:dLblPos val="inBase"/>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理想</c:v>
                </c:pt>
                <c:pt idx="1">
                  <c:v> 入店前沟通</c:v>
                </c:pt>
                <c:pt idx="2">
                  <c:v> 到店接待</c:v>
                </c:pt>
                <c:pt idx="3">
                  <c:v> 店内看车</c:v>
                </c:pt>
                <c:pt idx="4">
                  <c:v> 试乘试驾</c:v>
                </c:pt>
                <c:pt idx="5">
                  <c:v> 洽谈下定</c:v>
                </c:pt>
                <c:pt idx="6">
                  <c:v> 送别与回访</c:v>
                </c:pt>
                <c:pt idx="7">
                  <c:v>阿维塔</c:v>
                </c:pt>
              </c:strCache>
            </c:strRef>
          </c:cat>
          <c:val>
            <c:numRef>
              <c:f>Sheet1!$D$2:$D$9</c:f>
              <c:numCache>
                <c:formatCode>0.0</c:formatCode>
                <c:ptCount val="8"/>
                <c:pt idx="0">
                  <c:v>0</c:v>
                </c:pt>
                <c:pt idx="1">
                  <c:v>12.456124533392426</c:v>
                </c:pt>
                <c:pt idx="2">
                  <c:v>38.940742348599883</c:v>
                </c:pt>
                <c:pt idx="3">
                  <c:v>6.9301120617441256</c:v>
                </c:pt>
                <c:pt idx="4">
                  <c:v>28.908829707589689</c:v>
                </c:pt>
                <c:pt idx="5">
                  <c:v>4.8959007280443529</c:v>
                </c:pt>
                <c:pt idx="6">
                  <c:v>29.134173211404573</c:v>
                </c:pt>
                <c:pt idx="7" formatCode="General">
                  <c:v>0</c:v>
                </c:pt>
              </c:numCache>
            </c:numRef>
          </c:val>
          <c:extLst>
            <c:ext xmlns:c15="http://schemas.microsoft.com/office/drawing/2012/chart" uri="{02D57815-91ED-43cb-92C2-25804820EDAC}">
              <c15:datalabelsRange>
                <c15:f>Sheet1!$B$2:$B$9</c15:f>
                <c15:dlblRangeCache>
                  <c:ptCount val="8"/>
                  <c:pt idx="0">
                    <c:v>855</c:v>
                  </c:pt>
                  <c:pt idx="1">
                    <c:v>12.5</c:v>
                  </c:pt>
                  <c:pt idx="2">
                    <c:v>38.9</c:v>
                  </c:pt>
                  <c:pt idx="3">
                    <c:v>6.9</c:v>
                  </c:pt>
                  <c:pt idx="4">
                    <c:v>28.9</c:v>
                  </c:pt>
                  <c:pt idx="5">
                    <c:v>4.9</c:v>
                  </c:pt>
                  <c:pt idx="6">
                    <c:v>-29.1</c:v>
                  </c:pt>
                  <c:pt idx="7">
                    <c:v>869</c:v>
                  </c:pt>
                </c15:dlblRangeCache>
              </c15:datalabelsRange>
            </c:ext>
            <c:ext xmlns:c16="http://schemas.microsoft.com/office/drawing/2014/chart" uri="{C3380CC4-5D6E-409C-BE32-E72D297353CC}">
              <c16:uniqueId val="{00000019-8AC7-4D53-AC13-770D3D2FAA54}"/>
            </c:ext>
          </c:extLst>
        </c:ser>
        <c:dLbls>
          <c:showLegendKey val="0"/>
          <c:showVal val="0"/>
          <c:showCatName val="0"/>
          <c:showSerName val="0"/>
          <c:showPercent val="0"/>
          <c:showBubbleSize val="0"/>
        </c:dLbls>
        <c:gapWidth val="50"/>
        <c:overlap val="100"/>
        <c:axId val="1624751583"/>
        <c:axId val="21874975"/>
      </c:barChart>
      <c:catAx>
        <c:axId val="1624751583"/>
        <c:scaling>
          <c:orientation val="maxMin"/>
        </c:scaling>
        <c:delete val="0"/>
        <c:axPos val="l"/>
        <c:numFmt formatCode="General" sourceLinked="1"/>
        <c:majorTickMark val="none"/>
        <c:minorTickMark val="none"/>
        <c:tickLblPos val="nextTo"/>
        <c:spPr>
          <a:noFill/>
          <a:ln w="9525" cap="flat" cmpd="sng" algn="ctr">
            <a:solidFill>
              <a:schemeClr val="accent1">
                <a:alpha val="94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ea"/>
                <a:ea typeface="+mn-ea"/>
                <a:cs typeface="+mn-cs"/>
              </a:defRPr>
            </a:pPr>
            <a:endParaRPr lang="zh-CN"/>
          </a:p>
        </c:txPr>
        <c:crossAx val="21874975"/>
        <c:crossesAt val="-200"/>
        <c:auto val="1"/>
        <c:lblAlgn val="ctr"/>
        <c:lblOffset val="100"/>
        <c:noMultiLvlLbl val="0"/>
      </c:catAx>
      <c:valAx>
        <c:axId val="21874975"/>
        <c:scaling>
          <c:orientation val="minMax"/>
          <c:max val="950"/>
          <c:min val="600"/>
        </c:scaling>
        <c:delete val="1"/>
        <c:axPos val="t"/>
        <c:numFmt formatCode="0" sourceLinked="1"/>
        <c:majorTickMark val="out"/>
        <c:minorTickMark val="none"/>
        <c:tickLblPos val="nextTo"/>
        <c:crossAx val="1624751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6818524465417659"/>
          <c:y val="3.3474964943540651E-2"/>
          <c:w val="0.71424477714077983"/>
          <c:h val="0.93305007011291874"/>
        </c:manualLayout>
      </c:layout>
      <c:barChart>
        <c:barDir val="bar"/>
        <c:grouping val="stacked"/>
        <c:varyColors val="0"/>
        <c:ser>
          <c:idx val="0"/>
          <c:order val="0"/>
          <c:tx>
            <c:strRef>
              <c:f>Sheet1!$C$1</c:f>
              <c:strCache>
                <c:ptCount val="1"/>
                <c:pt idx="0">
                  <c:v>列1</c:v>
                </c:pt>
              </c:strCache>
            </c:strRef>
          </c:tx>
          <c:spPr>
            <a:solidFill>
              <a:schemeClr val="accent1"/>
            </a:solidFill>
            <a:ln>
              <a:noFill/>
            </a:ln>
            <a:effectLst/>
          </c:spPr>
          <c:invertIfNegative val="0"/>
          <c:dPt>
            <c:idx val="0"/>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C-61CB-4C2F-96FD-626984A542E3}"/>
              </c:ext>
            </c:extLst>
          </c:dPt>
          <c:dPt>
            <c:idx val="1"/>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1-61CB-4C2F-96FD-626984A542E3}"/>
              </c:ext>
            </c:extLst>
          </c:dPt>
          <c:dPt>
            <c:idx val="2"/>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3-61CB-4C2F-96FD-626984A542E3}"/>
              </c:ext>
            </c:extLst>
          </c:dPt>
          <c:dPt>
            <c:idx val="3"/>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5-61CB-4C2F-96FD-626984A542E3}"/>
              </c:ext>
            </c:extLst>
          </c:dPt>
          <c:dPt>
            <c:idx val="4"/>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7-61CB-4C2F-96FD-626984A542E3}"/>
              </c:ext>
            </c:extLst>
          </c:dPt>
          <c:dPt>
            <c:idx val="5"/>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9-61CB-4C2F-96FD-626984A542E3}"/>
              </c:ext>
            </c:extLst>
          </c:dPt>
          <c:dPt>
            <c:idx val="6"/>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B-61CB-4C2F-96FD-626984A542E3}"/>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61CB-4C2F-96FD-626984A542E3}"/>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1CB-4C2F-96FD-626984A542E3}"/>
                </c:ext>
              </c:extLst>
            </c:dLbl>
            <c:spPr>
              <a:noFill/>
              <a:ln>
                <a:noFill/>
              </a:ln>
              <a:effectLst/>
            </c:spPr>
            <c:txPr>
              <a:bodyPr rot="0" spcFirstLastPara="1" vertOverflow="ellipsis" vert="horz" wrap="square" lIns="38100" tIns="19050" rIns="38100" bIns="19050" anchor="ctr" anchorCtr="0">
                <a:spAutoFit/>
              </a:bodyPr>
              <a:lstStyle/>
              <a:p>
                <a:pPr algn="ctr">
                  <a:defRPr lang="en-US" altLang="zh-CN" sz="800" b="0" i="0" u="none" strike="noStrike" kern="1200" baseline="0">
                    <a:solidFill>
                      <a:schemeClr val="bg1"/>
                    </a:solidFill>
                    <a:latin typeface="+mn-ea"/>
                    <a:ea typeface="+mn-ea"/>
                    <a:cs typeface="+mn-cs"/>
                  </a:defRPr>
                </a:pPr>
                <a:endParaRPr lang="zh-CN"/>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小鹏</c:v>
                </c:pt>
                <c:pt idx="1">
                  <c:v> 入店前沟通</c:v>
                </c:pt>
                <c:pt idx="2">
                  <c:v> 到店接待</c:v>
                </c:pt>
                <c:pt idx="3">
                  <c:v> 店内看车</c:v>
                </c:pt>
                <c:pt idx="4">
                  <c:v> 试乘试驾</c:v>
                </c:pt>
                <c:pt idx="5">
                  <c:v> 洽谈下定</c:v>
                </c:pt>
                <c:pt idx="6">
                  <c:v> 送别与回访</c:v>
                </c:pt>
                <c:pt idx="7">
                  <c:v>阿维塔</c:v>
                </c:pt>
              </c:strCache>
            </c:strRef>
          </c:cat>
          <c:val>
            <c:numRef>
              <c:f>Sheet1!$C$2:$C$9</c:f>
              <c:numCache>
                <c:formatCode>0</c:formatCode>
                <c:ptCount val="8"/>
                <c:pt idx="0">
                  <c:v>851.52093613258398</c:v>
                </c:pt>
                <c:pt idx="1">
                  <c:v>868.97544573302832</c:v>
                </c:pt>
                <c:pt idx="2">
                  <c:v>868.97544573302832</c:v>
                </c:pt>
                <c:pt idx="3">
                  <c:v>868.97544573302832</c:v>
                </c:pt>
                <c:pt idx="4">
                  <c:v>868.97544573302832</c:v>
                </c:pt>
                <c:pt idx="5">
                  <c:v>868.97544573302832</c:v>
                </c:pt>
                <c:pt idx="6">
                  <c:v>865.08150920330718</c:v>
                </c:pt>
                <c:pt idx="7">
                  <c:v>868.97544573302832</c:v>
                </c:pt>
              </c:numCache>
            </c:numRef>
          </c:val>
          <c:extLst>
            <c:ext xmlns:c16="http://schemas.microsoft.com/office/drawing/2014/chart" uri="{C3380CC4-5D6E-409C-BE32-E72D297353CC}">
              <c16:uniqueId val="{0000000E-61CB-4C2F-96FD-626984A542E3}"/>
            </c:ext>
          </c:extLst>
        </c:ser>
        <c:ser>
          <c:idx val="1"/>
          <c:order val="1"/>
          <c:tx>
            <c:strRef>
              <c:f>Sheet1!$D$1</c:f>
              <c:strCache>
                <c:ptCount val="1"/>
                <c:pt idx="0">
                  <c:v>列2</c:v>
                </c:pt>
              </c:strCache>
            </c:strRef>
          </c:tx>
          <c:spPr>
            <a:solidFill>
              <a:srgbClr val="4B8D56"/>
            </a:solidFill>
            <a:ln>
              <a:noFill/>
            </a:ln>
            <a:effectLst/>
          </c:spPr>
          <c:invertIfNegative val="0"/>
          <c:dPt>
            <c:idx val="5"/>
            <c:invertIfNegative val="0"/>
            <c:bubble3D val="0"/>
            <c:spPr>
              <a:solidFill>
                <a:srgbClr val="4B8D56"/>
              </a:solidFill>
              <a:ln>
                <a:noFill/>
              </a:ln>
              <a:effectLst/>
            </c:spPr>
            <c:extLst>
              <c:ext xmlns:c16="http://schemas.microsoft.com/office/drawing/2014/chart" uri="{C3380CC4-5D6E-409C-BE32-E72D297353CC}">
                <c16:uniqueId val="{00000010-61CB-4C2F-96FD-626984A542E3}"/>
              </c:ext>
            </c:extLst>
          </c:dPt>
          <c:dPt>
            <c:idx val="6"/>
            <c:invertIfNegative val="1"/>
            <c:bubble3D val="0"/>
            <c:spPr>
              <a:solidFill>
                <a:srgbClr val="FF0000"/>
              </a:solidFill>
              <a:ln>
                <a:noFill/>
              </a:ln>
              <a:effectLst/>
            </c:spPr>
            <c:extLst>
              <c:ext xmlns:c16="http://schemas.microsoft.com/office/drawing/2014/chart" uri="{C3380CC4-5D6E-409C-BE32-E72D297353CC}">
                <c16:uniqueId val="{00000012-61CB-4C2F-96FD-626984A542E3}"/>
              </c:ext>
            </c:extLst>
          </c:dPt>
          <c:dLbls>
            <c:dLbl>
              <c:idx val="0"/>
              <c:delete val="1"/>
              <c:extLst>
                <c:ext xmlns:c15="http://schemas.microsoft.com/office/drawing/2012/chart" uri="{CE6537A1-D6FC-4f65-9D91-7224C49458BB}"/>
                <c:ext xmlns:c16="http://schemas.microsoft.com/office/drawing/2014/chart" uri="{C3380CC4-5D6E-409C-BE32-E72D297353CC}">
                  <c16:uniqueId val="{00000013-61CB-4C2F-96FD-626984A542E3}"/>
                </c:ext>
              </c:extLst>
            </c:dLbl>
            <c:dLbl>
              <c:idx val="1"/>
              <c:tx>
                <c:rich>
                  <a:bodyPr/>
                  <a:lstStyle/>
                  <a:p>
                    <a:fld id="{49946577-12DF-4F29-B896-A507F0832949}" type="CELLRANGE">
                      <a:rPr lang="en-US" altLang="zh-CN" sz="800" b="0">
                        <a:solidFill>
                          <a:schemeClr val="tx1"/>
                        </a:solidFill>
                      </a:rPr>
                      <a:pPr/>
                      <a:t>[CELLRANGE]</a:t>
                    </a:fld>
                    <a:endParaRPr lang="zh-CN" altLang="en-US"/>
                  </a:p>
                </c:rich>
              </c:tx>
              <c:dLblPos val="inBase"/>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4-61CB-4C2F-96FD-626984A542E3}"/>
                </c:ext>
              </c:extLst>
            </c:dLbl>
            <c:dLbl>
              <c:idx val="2"/>
              <c:tx>
                <c:rich>
                  <a:bodyPr/>
                  <a:lstStyle/>
                  <a:p>
                    <a:fld id="{9EACAE0B-E293-4B0E-A1E9-D1662FDAE8A0}" type="CELLRANGE">
                      <a:rPr lang="zh-CN" altLang="en-US"/>
                      <a:pPr/>
                      <a:t>[CELLRANGE]</a:t>
                    </a:fld>
                    <a:endParaRPr lang="zh-CN" altLang="en-US"/>
                  </a:p>
                </c:rich>
              </c:tx>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5-61CB-4C2F-96FD-626984A542E3}"/>
                </c:ext>
              </c:extLst>
            </c:dLbl>
            <c:dLbl>
              <c:idx val="3"/>
              <c:tx>
                <c:rich>
                  <a:bodyPr/>
                  <a:lstStyle/>
                  <a:p>
                    <a:fld id="{809F596D-92ED-49D1-8D77-D087D5D953CD}" type="CELLRANGE">
                      <a:rPr lang="zh-CN" altLang="en-US"/>
                      <a:pPr/>
                      <a:t>[CELLRANGE]</a:t>
                    </a:fld>
                    <a:endParaRPr lang="zh-CN" altLang="en-US"/>
                  </a:p>
                </c:rich>
              </c:tx>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6-61CB-4C2F-96FD-626984A542E3}"/>
                </c:ext>
              </c:extLst>
            </c:dLbl>
            <c:dLbl>
              <c:idx val="4"/>
              <c:layout>
                <c:manualLayout>
                  <c:x val="8.2359272836142208E-2"/>
                  <c:y val="5.9331488299084516E-17"/>
                </c:manualLayout>
              </c:layout>
              <c:tx>
                <c:rich>
                  <a:bodyPr/>
                  <a:lstStyle/>
                  <a:p>
                    <a:fld id="{4C411B12-63D4-4C14-AC38-1598442910D5}" type="CELLRANGE">
                      <a:rPr lang="en-US" altLang="zh-CN"/>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7-61CB-4C2F-96FD-626984A542E3}"/>
                </c:ext>
              </c:extLst>
            </c:dLbl>
            <c:dLbl>
              <c:idx val="5"/>
              <c:tx>
                <c:rich>
                  <a:bodyPr/>
                  <a:lstStyle/>
                  <a:p>
                    <a:fld id="{BB4B6665-D242-4690-8E4B-207C52CB23AE}" type="CELLRANGE">
                      <a:rPr lang="zh-CN" altLang="en-US"/>
                      <a:pPr/>
                      <a:t>[CELLRANGE]</a:t>
                    </a:fld>
                    <a:endParaRPr lang="zh-CN" altLang="en-US"/>
                  </a:p>
                </c:rich>
              </c:tx>
              <c:dLblPos val="inBase"/>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0-61CB-4C2F-96FD-626984A542E3}"/>
                </c:ext>
              </c:extLst>
            </c:dLbl>
            <c:dLbl>
              <c:idx val="6"/>
              <c:layout>
                <c:manualLayout>
                  <c:x val="-6.5116129871564885E-2"/>
                  <c:y val="0"/>
                </c:manualLayout>
              </c:layout>
              <c:tx>
                <c:rich>
                  <a:bodyPr/>
                  <a:lstStyle/>
                  <a:p>
                    <a:fld id="{4969321D-94CB-4660-A21E-918A664F2F36}" type="CELLRANGE">
                      <a:rPr lang="en-US" altLang="zh-CN" sz="800" b="0">
                        <a:solidFill>
                          <a:schemeClr val="tx1"/>
                        </a:solidFill>
                      </a:rPr>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2-61CB-4C2F-96FD-626984A542E3}"/>
                </c:ext>
              </c:extLst>
            </c:dLbl>
            <c:dLbl>
              <c:idx val="7"/>
              <c:delete val="1"/>
              <c:extLst>
                <c:ext xmlns:c15="http://schemas.microsoft.com/office/drawing/2012/chart" uri="{CE6537A1-D6FC-4f65-9D91-7224C49458BB}"/>
                <c:ext xmlns:c16="http://schemas.microsoft.com/office/drawing/2014/chart" uri="{C3380CC4-5D6E-409C-BE32-E72D297353CC}">
                  <c16:uniqueId val="{00000018-61CB-4C2F-96FD-626984A542E3}"/>
                </c:ext>
              </c:extLst>
            </c:dLbl>
            <c:numFmt formatCode="#,##0.00_);[Red]\(#,##0.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ea"/>
                    <a:ea typeface="+mn-ea"/>
                    <a:cs typeface="+mn-cs"/>
                  </a:defRPr>
                </a:pPr>
                <a:endParaRPr lang="zh-CN"/>
              </a:p>
            </c:txPr>
            <c:dLblPos val="inBase"/>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Sheet1!$A$2:$A$9</c:f>
              <c:strCache>
                <c:ptCount val="8"/>
                <c:pt idx="0">
                  <c:v>小鹏</c:v>
                </c:pt>
                <c:pt idx="1">
                  <c:v> 入店前沟通</c:v>
                </c:pt>
                <c:pt idx="2">
                  <c:v> 到店接待</c:v>
                </c:pt>
                <c:pt idx="3">
                  <c:v> 店内看车</c:v>
                </c:pt>
                <c:pt idx="4">
                  <c:v> 试乘试驾</c:v>
                </c:pt>
                <c:pt idx="5">
                  <c:v> 洽谈下定</c:v>
                </c:pt>
                <c:pt idx="6">
                  <c:v> 送别与回访</c:v>
                </c:pt>
                <c:pt idx="7">
                  <c:v>阿维塔</c:v>
                </c:pt>
              </c:strCache>
            </c:strRef>
          </c:cat>
          <c:val>
            <c:numRef>
              <c:f>Sheet1!$D$2:$D$9</c:f>
              <c:numCache>
                <c:formatCode>0.0</c:formatCode>
                <c:ptCount val="8"/>
                <c:pt idx="0">
                  <c:v>0</c:v>
                </c:pt>
                <c:pt idx="1">
                  <c:v>1.1804374607249883</c:v>
                </c:pt>
                <c:pt idx="2">
                  <c:v>14.739061676331062</c:v>
                </c:pt>
                <c:pt idx="3">
                  <c:v>10.355132255250169</c:v>
                </c:pt>
                <c:pt idx="4">
                  <c:v>34.489250674527966</c:v>
                </c:pt>
                <c:pt idx="5">
                  <c:v>9.902451768569108</c:v>
                </c:pt>
                <c:pt idx="6">
                  <c:v>3.8939365297211452</c:v>
                </c:pt>
                <c:pt idx="7" formatCode="General">
                  <c:v>0</c:v>
                </c:pt>
              </c:numCache>
            </c:numRef>
          </c:val>
          <c:extLst>
            <c:ext xmlns:c15="http://schemas.microsoft.com/office/drawing/2012/chart" uri="{02D57815-91ED-43cb-92C2-25804820EDAC}">
              <c15:datalabelsRange>
                <c15:f>Sheet1!$B$2:$B$9</c15:f>
                <c15:dlblRangeCache>
                  <c:ptCount val="8"/>
                  <c:pt idx="0">
                    <c:v>852</c:v>
                  </c:pt>
                  <c:pt idx="1">
                    <c:v>1.2</c:v>
                  </c:pt>
                  <c:pt idx="2">
                    <c:v>14.7</c:v>
                  </c:pt>
                  <c:pt idx="3">
                    <c:v>10.4</c:v>
                  </c:pt>
                  <c:pt idx="4">
                    <c:v>34.5</c:v>
                  </c:pt>
                  <c:pt idx="5">
                    <c:v>9.9</c:v>
                  </c:pt>
                  <c:pt idx="6">
                    <c:v>-3.9</c:v>
                  </c:pt>
                  <c:pt idx="7">
                    <c:v>869</c:v>
                  </c:pt>
                </c15:dlblRangeCache>
              </c15:datalabelsRange>
            </c:ext>
            <c:ext xmlns:c16="http://schemas.microsoft.com/office/drawing/2014/chart" uri="{C3380CC4-5D6E-409C-BE32-E72D297353CC}">
              <c16:uniqueId val="{00000019-61CB-4C2F-96FD-626984A542E3}"/>
            </c:ext>
          </c:extLst>
        </c:ser>
        <c:dLbls>
          <c:showLegendKey val="0"/>
          <c:showVal val="0"/>
          <c:showCatName val="0"/>
          <c:showSerName val="0"/>
          <c:showPercent val="0"/>
          <c:showBubbleSize val="0"/>
        </c:dLbls>
        <c:gapWidth val="50"/>
        <c:overlap val="100"/>
        <c:axId val="1624751583"/>
        <c:axId val="21874975"/>
      </c:barChart>
      <c:catAx>
        <c:axId val="1624751583"/>
        <c:scaling>
          <c:orientation val="maxMin"/>
        </c:scaling>
        <c:delete val="0"/>
        <c:axPos val="l"/>
        <c:numFmt formatCode="General" sourceLinked="1"/>
        <c:majorTickMark val="none"/>
        <c:minorTickMark val="none"/>
        <c:tickLblPos val="nextTo"/>
        <c:spPr>
          <a:noFill/>
          <a:ln w="9525" cap="flat" cmpd="sng" algn="ctr">
            <a:solidFill>
              <a:schemeClr val="accent1">
                <a:alpha val="94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ea"/>
                <a:ea typeface="+mn-ea"/>
                <a:cs typeface="+mn-cs"/>
              </a:defRPr>
            </a:pPr>
            <a:endParaRPr lang="zh-CN"/>
          </a:p>
        </c:txPr>
        <c:crossAx val="21874975"/>
        <c:crossesAt val="-200"/>
        <c:auto val="1"/>
        <c:lblAlgn val="ctr"/>
        <c:lblOffset val="100"/>
        <c:noMultiLvlLbl val="0"/>
      </c:catAx>
      <c:valAx>
        <c:axId val="21874975"/>
        <c:scaling>
          <c:orientation val="minMax"/>
          <c:max val="950"/>
          <c:min val="600"/>
        </c:scaling>
        <c:delete val="1"/>
        <c:axPos val="t"/>
        <c:numFmt formatCode="0" sourceLinked="1"/>
        <c:majorTickMark val="out"/>
        <c:minorTickMark val="none"/>
        <c:tickLblPos val="nextTo"/>
        <c:crossAx val="1624751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8903458875077015"/>
          <c:y val="6.8686890539056883E-2"/>
          <c:w val="0.66071898074198543"/>
          <c:h val="0.87713060883528771"/>
        </c:manualLayout>
      </c:layout>
      <c:barChart>
        <c:barDir val="bar"/>
        <c:grouping val="stacked"/>
        <c:varyColors val="0"/>
        <c:ser>
          <c:idx val="0"/>
          <c:order val="0"/>
          <c:tx>
            <c:strRef>
              <c:f>Sheet1!$C$1</c:f>
              <c:strCache>
                <c:ptCount val="1"/>
                <c:pt idx="0">
                  <c:v>列1</c:v>
                </c:pt>
              </c:strCache>
            </c:strRef>
          </c:tx>
          <c:spPr>
            <a:solidFill>
              <a:schemeClr val="accent1"/>
            </a:solidFill>
            <a:ln>
              <a:noFill/>
            </a:ln>
            <a:effectLst/>
          </c:spPr>
          <c:invertIfNegative val="0"/>
          <c:dPt>
            <c:idx val="0"/>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C-202E-4D24-BCCB-9014BC40B479}"/>
              </c:ext>
            </c:extLst>
          </c:dPt>
          <c:dPt>
            <c:idx val="1"/>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1-202E-4D24-BCCB-9014BC40B479}"/>
              </c:ext>
            </c:extLst>
          </c:dPt>
          <c:dPt>
            <c:idx val="2"/>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3-202E-4D24-BCCB-9014BC40B479}"/>
              </c:ext>
            </c:extLst>
          </c:dPt>
          <c:dPt>
            <c:idx val="3"/>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5-202E-4D24-BCCB-9014BC40B479}"/>
              </c:ext>
            </c:extLst>
          </c:dPt>
          <c:dPt>
            <c:idx val="4"/>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7-202E-4D24-BCCB-9014BC40B479}"/>
              </c:ext>
            </c:extLst>
          </c:dPt>
          <c:dPt>
            <c:idx val="5"/>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9-202E-4D24-BCCB-9014BC40B479}"/>
              </c:ext>
            </c:extLst>
          </c:dPt>
          <c:dPt>
            <c:idx val="6"/>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B-202E-4D24-BCCB-9014BC40B479}"/>
              </c:ext>
            </c:extLst>
          </c:dPt>
          <c:dLbls>
            <c:dLbl>
              <c:idx val="0"/>
              <c:tx>
                <c:rich>
                  <a:bodyPr/>
                  <a:lstStyle/>
                  <a:p>
                    <a:fld id="{C1750358-A045-4248-9EA1-95966925DED1}" type="VALUE">
                      <a:rPr lang="en-US" altLang="zh-CN">
                        <a:latin typeface="Abadi" panose="020B0604020104020204" pitchFamily="34" charset="0"/>
                      </a:rPr>
                      <a:pPr/>
                      <a:t>[值]</a:t>
                    </a:fld>
                    <a:endParaRPr lang="zh-CN"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202E-4D24-BCCB-9014BC40B479}"/>
                </c:ext>
              </c:extLst>
            </c:dLbl>
            <c:dLbl>
              <c:idx val="7"/>
              <c:tx>
                <c:rich>
                  <a:bodyPr/>
                  <a:lstStyle/>
                  <a:p>
                    <a:fld id="{6C8D4CDC-7E9A-4D7D-8232-481587BF6633}" type="VALUE">
                      <a:rPr lang="en-US" altLang="zh-CN">
                        <a:latin typeface="Abadi" panose="020B0604020104020204" pitchFamily="34" charset="0"/>
                      </a:rPr>
                      <a:pPr/>
                      <a:t>[值]</a:t>
                    </a:fld>
                    <a:endParaRPr lang="zh-CN"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202E-4D24-BCCB-9014BC40B479}"/>
                </c:ext>
              </c:extLst>
            </c:dLbl>
            <c:spPr>
              <a:noFill/>
              <a:ln>
                <a:noFill/>
              </a:ln>
              <a:effectLst/>
            </c:spPr>
            <c:txPr>
              <a:bodyPr rot="0" spcFirstLastPara="1" vertOverflow="ellipsis" vert="horz" wrap="square" lIns="38100" tIns="19050" rIns="38100" bIns="19050" anchor="ctr" anchorCtr="0">
                <a:spAutoFit/>
              </a:bodyPr>
              <a:lstStyle/>
              <a:p>
                <a:pPr algn="ctr">
                  <a:defRPr lang="en-US" altLang="zh-CN" sz="800" b="0" i="0" u="none" strike="noStrike" kern="1200" baseline="0">
                    <a:solidFill>
                      <a:schemeClr val="bg1"/>
                    </a:solidFill>
                    <a:latin typeface="+mn-ea"/>
                    <a:ea typeface="+mn-ea"/>
                    <a:cs typeface="+mn-cs"/>
                  </a:defRPr>
                </a:pPr>
                <a:endParaRPr lang="zh-CN"/>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特斯拉</c:v>
                </c:pt>
                <c:pt idx="1">
                  <c:v> 入店前沟通</c:v>
                </c:pt>
                <c:pt idx="2">
                  <c:v> 到店接待</c:v>
                </c:pt>
                <c:pt idx="3">
                  <c:v> 店内看车</c:v>
                </c:pt>
                <c:pt idx="4">
                  <c:v> 试乘试驾</c:v>
                </c:pt>
                <c:pt idx="5">
                  <c:v> 洽谈下定</c:v>
                </c:pt>
                <c:pt idx="6">
                  <c:v> 送别与回访</c:v>
                </c:pt>
                <c:pt idx="7">
                  <c:v>阿维塔</c:v>
                </c:pt>
              </c:strCache>
            </c:strRef>
          </c:cat>
          <c:val>
            <c:numRef>
              <c:f>Sheet1!$C$2:$C$9</c:f>
              <c:numCache>
                <c:formatCode>0</c:formatCode>
                <c:ptCount val="8"/>
                <c:pt idx="0">
                  <c:v>828.80866344775177</c:v>
                </c:pt>
                <c:pt idx="1">
                  <c:v>868.97544573302832</c:v>
                </c:pt>
                <c:pt idx="2">
                  <c:v>868.97544573302832</c:v>
                </c:pt>
                <c:pt idx="3">
                  <c:v>868.97544573302832</c:v>
                </c:pt>
                <c:pt idx="4">
                  <c:v>868.97544573302832</c:v>
                </c:pt>
                <c:pt idx="5">
                  <c:v>868.97544573302832</c:v>
                </c:pt>
                <c:pt idx="6">
                  <c:v>868.97544573302832</c:v>
                </c:pt>
                <c:pt idx="7">
                  <c:v>868.97544573302832</c:v>
                </c:pt>
              </c:numCache>
            </c:numRef>
          </c:val>
          <c:extLst>
            <c:ext xmlns:c16="http://schemas.microsoft.com/office/drawing/2014/chart" uri="{C3380CC4-5D6E-409C-BE32-E72D297353CC}">
              <c16:uniqueId val="{0000000E-202E-4D24-BCCB-9014BC40B479}"/>
            </c:ext>
          </c:extLst>
        </c:ser>
        <c:ser>
          <c:idx val="1"/>
          <c:order val="1"/>
          <c:tx>
            <c:strRef>
              <c:f>Sheet1!$D$1</c:f>
              <c:strCache>
                <c:ptCount val="1"/>
                <c:pt idx="0">
                  <c:v>列2</c:v>
                </c:pt>
              </c:strCache>
            </c:strRef>
          </c:tx>
          <c:spPr>
            <a:solidFill>
              <a:srgbClr val="4B8D56"/>
            </a:solidFill>
            <a:ln>
              <a:noFill/>
            </a:ln>
            <a:effectLst/>
          </c:spPr>
          <c:invertIfNegative val="0"/>
          <c:dPt>
            <c:idx val="5"/>
            <c:invertIfNegative val="0"/>
            <c:bubble3D val="0"/>
            <c:spPr>
              <a:solidFill>
                <a:srgbClr val="4B8D56"/>
              </a:solidFill>
              <a:ln>
                <a:noFill/>
              </a:ln>
              <a:effectLst/>
            </c:spPr>
            <c:extLst>
              <c:ext xmlns:c16="http://schemas.microsoft.com/office/drawing/2014/chart" uri="{C3380CC4-5D6E-409C-BE32-E72D297353CC}">
                <c16:uniqueId val="{00000010-202E-4D24-BCCB-9014BC40B479}"/>
              </c:ext>
            </c:extLst>
          </c:dPt>
          <c:dPt>
            <c:idx val="6"/>
            <c:invertIfNegative val="1"/>
            <c:bubble3D val="0"/>
            <c:spPr>
              <a:solidFill>
                <a:srgbClr val="4B8D56"/>
              </a:solidFill>
              <a:ln>
                <a:noFill/>
              </a:ln>
              <a:effectLst/>
            </c:spPr>
            <c:extLst>
              <c:ext xmlns:c16="http://schemas.microsoft.com/office/drawing/2014/chart" uri="{C3380CC4-5D6E-409C-BE32-E72D297353CC}">
                <c16:uniqueId val="{00000012-202E-4D24-BCCB-9014BC40B479}"/>
              </c:ext>
            </c:extLst>
          </c:dPt>
          <c:dLbls>
            <c:dLbl>
              <c:idx val="0"/>
              <c:delete val="1"/>
              <c:extLst>
                <c:ext xmlns:c15="http://schemas.microsoft.com/office/drawing/2012/chart" uri="{CE6537A1-D6FC-4f65-9D91-7224C49458BB}"/>
                <c:ext xmlns:c16="http://schemas.microsoft.com/office/drawing/2014/chart" uri="{C3380CC4-5D6E-409C-BE32-E72D297353CC}">
                  <c16:uniqueId val="{00000013-202E-4D24-BCCB-9014BC40B479}"/>
                </c:ext>
              </c:extLst>
            </c:dLbl>
            <c:dLbl>
              <c:idx val="1"/>
              <c:layout>
                <c:manualLayout>
                  <c:x val="8.2221431739127146E-2"/>
                  <c:y val="1.9417812198667152E-2"/>
                </c:manualLayout>
              </c:layout>
              <c:tx>
                <c:rich>
                  <a:bodyPr/>
                  <a:lstStyle/>
                  <a:p>
                    <a:fld id="{065AEDC7-6207-4E4E-9D37-5B045950285A}" type="CELLRANGE">
                      <a:rPr lang="en-US" altLang="zh-CN"/>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4-202E-4D24-BCCB-9014BC40B479}"/>
                </c:ext>
              </c:extLst>
            </c:dLbl>
            <c:dLbl>
              <c:idx val="2"/>
              <c:layout>
                <c:manualLayout>
                  <c:x val="9.1357146376807946E-2"/>
                  <c:y val="5.933151853760675E-17"/>
                </c:manualLayout>
              </c:layout>
              <c:tx>
                <c:rich>
                  <a:bodyPr/>
                  <a:lstStyle/>
                  <a:p>
                    <a:fld id="{4DA74AD9-C39D-46C3-87EE-59EBCBD3A3F4}" type="CELLRANGE">
                      <a:rPr lang="en-US" altLang="zh-CN"/>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5-202E-4D24-BCCB-9014BC40B479}"/>
                </c:ext>
              </c:extLst>
            </c:dLbl>
            <c:dLbl>
              <c:idx val="3"/>
              <c:layout>
                <c:manualLayout>
                  <c:x val="8.6789289057967386E-2"/>
                  <c:y val="0"/>
                </c:manualLayout>
              </c:layout>
              <c:tx>
                <c:rich>
                  <a:bodyPr/>
                  <a:lstStyle/>
                  <a:p>
                    <a:fld id="{2C9DAF13-1F32-4217-9FF8-1B1033421312}" type="CELLRANGE">
                      <a:rPr lang="en-US" altLang="zh-CN"/>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6-202E-4D24-BCCB-9014BC40B479}"/>
                </c:ext>
              </c:extLst>
            </c:dLbl>
            <c:dLbl>
              <c:idx val="4"/>
              <c:layout>
                <c:manualLayout>
                  <c:x val="9.1357146376807946E-2"/>
                  <c:y val="5.933151853760675E-17"/>
                </c:manualLayout>
              </c:layout>
              <c:tx>
                <c:rich>
                  <a:bodyPr/>
                  <a:lstStyle/>
                  <a:p>
                    <a:fld id="{FAAC8593-9303-458C-AB80-BFD24DEC4479}" type="CELLRANGE">
                      <a:rPr lang="en-US" altLang="zh-CN"/>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7-202E-4D24-BCCB-9014BC40B479}"/>
                </c:ext>
              </c:extLst>
            </c:dLbl>
            <c:dLbl>
              <c:idx val="5"/>
              <c:layout>
                <c:manualLayout>
                  <c:x val="7.7653574420286753E-2"/>
                  <c:y val="6.4726040662223842E-3"/>
                </c:manualLayout>
              </c:layout>
              <c:tx>
                <c:rich>
                  <a:bodyPr/>
                  <a:lstStyle/>
                  <a:p>
                    <a:fld id="{D0AED614-2525-40BB-85AA-BC14F3C6A295}" type="CELLRANGE">
                      <a:rPr lang="en-US" altLang="zh-CN"/>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0-202E-4D24-BCCB-9014BC40B479}"/>
                </c:ext>
              </c:extLst>
            </c:dLbl>
            <c:dLbl>
              <c:idx val="6"/>
              <c:layout>
                <c:manualLayout>
                  <c:x val="6.8517859782605953E-2"/>
                  <c:y val="6.472604066222503E-3"/>
                </c:manualLayout>
              </c:layout>
              <c:tx>
                <c:rich>
                  <a:bodyPr/>
                  <a:lstStyle/>
                  <a:p>
                    <a:fld id="{596B6CE8-17C1-4301-A0E7-26F5B151D03D}" type="CELLRANGE">
                      <a:rPr lang="en-US" altLang="zh-CN"/>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2-202E-4D24-BCCB-9014BC40B479}"/>
                </c:ext>
              </c:extLst>
            </c:dLbl>
            <c:dLbl>
              <c:idx val="7"/>
              <c:delete val="1"/>
              <c:extLst>
                <c:ext xmlns:c15="http://schemas.microsoft.com/office/drawing/2012/chart" uri="{CE6537A1-D6FC-4f65-9D91-7224C49458BB}"/>
                <c:ext xmlns:c16="http://schemas.microsoft.com/office/drawing/2014/chart" uri="{C3380CC4-5D6E-409C-BE32-E72D297353CC}">
                  <c16:uniqueId val="{00000018-202E-4D24-BCCB-9014BC40B479}"/>
                </c:ext>
              </c:extLst>
            </c:dLbl>
            <c:numFmt formatCode="#,##0_);[Red]\(#,##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ea"/>
                    <a:ea typeface="+mn-ea"/>
                    <a:cs typeface="+mn-cs"/>
                  </a:defRPr>
                </a:pPr>
                <a:endParaRPr lang="zh-CN"/>
              </a:p>
            </c:txP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Sheet1!$A$2:$A$9</c:f>
              <c:strCache>
                <c:ptCount val="8"/>
                <c:pt idx="0">
                  <c:v>特斯拉</c:v>
                </c:pt>
                <c:pt idx="1">
                  <c:v> 入店前沟通</c:v>
                </c:pt>
                <c:pt idx="2">
                  <c:v> 到店接待</c:v>
                </c:pt>
                <c:pt idx="3">
                  <c:v> 店内看车</c:v>
                </c:pt>
                <c:pt idx="4">
                  <c:v> 试乘试驾</c:v>
                </c:pt>
                <c:pt idx="5">
                  <c:v> 洽谈下定</c:v>
                </c:pt>
                <c:pt idx="6">
                  <c:v> 送别与回访</c:v>
                </c:pt>
                <c:pt idx="7">
                  <c:v>阿维塔</c:v>
                </c:pt>
              </c:strCache>
            </c:strRef>
          </c:cat>
          <c:val>
            <c:numRef>
              <c:f>Sheet1!$D$2:$D$9</c:f>
              <c:numCache>
                <c:formatCode>0.0</c:formatCode>
                <c:ptCount val="8"/>
                <c:pt idx="0">
                  <c:v>0</c:v>
                </c:pt>
                <c:pt idx="1">
                  <c:v>36.103968977646787</c:v>
                </c:pt>
                <c:pt idx="2">
                  <c:v>49.024775962045283</c:v>
                </c:pt>
                <c:pt idx="3">
                  <c:v>25.436185957627004</c:v>
                </c:pt>
                <c:pt idx="4">
                  <c:v>58.366399465411519</c:v>
                </c:pt>
                <c:pt idx="5">
                  <c:v>37.939931115870536</c:v>
                </c:pt>
                <c:pt idx="6">
                  <c:v>18.14630017606828</c:v>
                </c:pt>
                <c:pt idx="7" formatCode="General">
                  <c:v>0</c:v>
                </c:pt>
              </c:numCache>
            </c:numRef>
          </c:val>
          <c:extLst>
            <c:ext xmlns:c15="http://schemas.microsoft.com/office/drawing/2012/chart" uri="{02D57815-91ED-43cb-92C2-25804820EDAC}">
              <c15:datalabelsRange>
                <c15:f>Sheet1!$B$2:$B$9</c15:f>
                <c15:dlblRangeCache>
                  <c:ptCount val="8"/>
                  <c:pt idx="0">
                    <c:v>829</c:v>
                  </c:pt>
                  <c:pt idx="1">
                    <c:v>36.1</c:v>
                  </c:pt>
                  <c:pt idx="2">
                    <c:v>49.0</c:v>
                  </c:pt>
                  <c:pt idx="3">
                    <c:v>25.4</c:v>
                  </c:pt>
                  <c:pt idx="4">
                    <c:v>58.4</c:v>
                  </c:pt>
                  <c:pt idx="5">
                    <c:v>37.9</c:v>
                  </c:pt>
                  <c:pt idx="6">
                    <c:v>18.1</c:v>
                  </c:pt>
                  <c:pt idx="7">
                    <c:v>869</c:v>
                  </c:pt>
                </c15:dlblRangeCache>
              </c15:datalabelsRange>
            </c:ext>
            <c:ext xmlns:c16="http://schemas.microsoft.com/office/drawing/2014/chart" uri="{C3380CC4-5D6E-409C-BE32-E72D297353CC}">
              <c16:uniqueId val="{00000019-202E-4D24-BCCB-9014BC40B479}"/>
            </c:ext>
          </c:extLst>
        </c:ser>
        <c:dLbls>
          <c:showLegendKey val="0"/>
          <c:showVal val="0"/>
          <c:showCatName val="0"/>
          <c:showSerName val="0"/>
          <c:showPercent val="0"/>
          <c:showBubbleSize val="0"/>
        </c:dLbls>
        <c:gapWidth val="50"/>
        <c:overlap val="100"/>
        <c:axId val="1624751583"/>
        <c:axId val="21874975"/>
      </c:barChart>
      <c:catAx>
        <c:axId val="1624751583"/>
        <c:scaling>
          <c:orientation val="maxMin"/>
        </c:scaling>
        <c:delete val="0"/>
        <c:axPos val="l"/>
        <c:numFmt formatCode="General" sourceLinked="1"/>
        <c:majorTickMark val="none"/>
        <c:minorTickMark val="none"/>
        <c:tickLblPos val="nextTo"/>
        <c:spPr>
          <a:noFill/>
          <a:ln w="9525" cap="flat" cmpd="sng" algn="ctr">
            <a:solidFill>
              <a:schemeClr val="accent1">
                <a:alpha val="94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ea"/>
                <a:ea typeface="+mn-ea"/>
                <a:cs typeface="+mn-cs"/>
              </a:defRPr>
            </a:pPr>
            <a:endParaRPr lang="zh-CN"/>
          </a:p>
        </c:txPr>
        <c:crossAx val="21874975"/>
        <c:crossesAt val="-200"/>
        <c:auto val="1"/>
        <c:lblAlgn val="ctr"/>
        <c:lblOffset val="100"/>
        <c:noMultiLvlLbl val="0"/>
      </c:catAx>
      <c:valAx>
        <c:axId val="21874975"/>
        <c:scaling>
          <c:orientation val="minMax"/>
          <c:max val="950"/>
          <c:min val="600"/>
        </c:scaling>
        <c:delete val="1"/>
        <c:axPos val="t"/>
        <c:numFmt formatCode="0" sourceLinked="1"/>
        <c:majorTickMark val="out"/>
        <c:minorTickMark val="none"/>
        <c:tickLblPos val="nextTo"/>
        <c:crossAx val="1624751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stacked"/>
        <c:varyColors val="0"/>
        <c:ser>
          <c:idx val="0"/>
          <c:order val="0"/>
          <c:tx>
            <c:strRef>
              <c:f>Sheet1!$C$1</c:f>
              <c:strCache>
                <c:ptCount val="1"/>
                <c:pt idx="0">
                  <c:v>列1</c:v>
                </c:pt>
              </c:strCache>
            </c:strRef>
          </c:tx>
          <c:spPr>
            <a:solidFill>
              <a:schemeClr val="accent1"/>
            </a:solidFill>
            <a:ln>
              <a:noFill/>
            </a:ln>
            <a:effectLst/>
          </c:spPr>
          <c:invertIfNegative val="0"/>
          <c:dPt>
            <c:idx val="0"/>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18-CF77-4E46-893B-08DE3F8D1753}"/>
              </c:ext>
            </c:extLst>
          </c:dPt>
          <c:dPt>
            <c:idx val="1"/>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1-CF77-4E46-893B-08DE3F8D1753}"/>
              </c:ext>
            </c:extLst>
          </c:dPt>
          <c:dPt>
            <c:idx val="2"/>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3-CF77-4E46-893B-08DE3F8D1753}"/>
              </c:ext>
            </c:extLst>
          </c:dPt>
          <c:dPt>
            <c:idx val="3"/>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5-CF77-4E46-893B-08DE3F8D1753}"/>
              </c:ext>
            </c:extLst>
          </c:dPt>
          <c:dPt>
            <c:idx val="4"/>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7-CF77-4E46-893B-08DE3F8D1753}"/>
              </c:ext>
            </c:extLst>
          </c:dPt>
          <c:dPt>
            <c:idx val="5"/>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9-CF77-4E46-893B-08DE3F8D1753}"/>
              </c:ext>
            </c:extLst>
          </c:dPt>
          <c:dPt>
            <c:idx val="6"/>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B-CF77-4E46-893B-08DE3F8D1753}"/>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CF77-4E46-893B-08DE3F8D1753}"/>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CF77-4E46-893B-08DE3F8D1753}"/>
                </c:ext>
              </c:extLst>
            </c:dLbl>
            <c:spPr>
              <a:noFill/>
              <a:ln>
                <a:noFill/>
              </a:ln>
              <a:effectLst/>
            </c:spPr>
            <c:txPr>
              <a:bodyPr rot="0" spcFirstLastPara="1" vertOverflow="ellipsis" vert="horz" wrap="square" lIns="38100" tIns="19050" rIns="38100" bIns="19050" anchor="ctr" anchorCtr="0">
                <a:spAutoFit/>
              </a:bodyPr>
              <a:lstStyle/>
              <a:p>
                <a:pPr algn="ctr">
                  <a:defRPr lang="en-US" altLang="zh-CN" sz="800" b="0" i="0" u="none" strike="noStrike" kern="1200" baseline="0">
                    <a:solidFill>
                      <a:schemeClr val="bg1"/>
                    </a:solidFill>
                    <a:latin typeface="+mn-ea"/>
                    <a:ea typeface="+mn-ea"/>
                    <a:cs typeface="+mn-cs"/>
                  </a:defRPr>
                </a:pPr>
                <a:endParaRPr lang="zh-CN"/>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智己</c:v>
                </c:pt>
                <c:pt idx="1">
                  <c:v> 入店前沟通</c:v>
                </c:pt>
                <c:pt idx="2">
                  <c:v> 到店接待</c:v>
                </c:pt>
                <c:pt idx="3">
                  <c:v> 店内看车</c:v>
                </c:pt>
                <c:pt idx="4">
                  <c:v> 试乘试驾</c:v>
                </c:pt>
                <c:pt idx="5">
                  <c:v> 洽谈下定</c:v>
                </c:pt>
                <c:pt idx="6">
                  <c:v> 送别与回访</c:v>
                </c:pt>
                <c:pt idx="7">
                  <c:v>阿维塔</c:v>
                </c:pt>
              </c:strCache>
            </c:strRef>
          </c:cat>
          <c:val>
            <c:numRef>
              <c:f>Sheet1!$C$2:$C$9</c:f>
              <c:numCache>
                <c:formatCode>0</c:formatCode>
                <c:ptCount val="8"/>
                <c:pt idx="0">
                  <c:v>852.82649748209531</c:v>
                </c:pt>
                <c:pt idx="1">
                  <c:v>868.75397651936532</c:v>
                </c:pt>
                <c:pt idx="2">
                  <c:v>868.97544573302832</c:v>
                </c:pt>
                <c:pt idx="3">
                  <c:v>868.97544573302832</c:v>
                </c:pt>
                <c:pt idx="4">
                  <c:v>868.97544573302832</c:v>
                </c:pt>
                <c:pt idx="5">
                  <c:v>868.97544573302832</c:v>
                </c:pt>
                <c:pt idx="6">
                  <c:v>841.69728829156372</c:v>
                </c:pt>
                <c:pt idx="7">
                  <c:v>868.97544573302832</c:v>
                </c:pt>
              </c:numCache>
            </c:numRef>
          </c:val>
          <c:extLst>
            <c:ext xmlns:c16="http://schemas.microsoft.com/office/drawing/2014/chart" uri="{C3380CC4-5D6E-409C-BE32-E72D297353CC}">
              <c16:uniqueId val="{0000000C-CF77-4E46-893B-08DE3F8D1753}"/>
            </c:ext>
          </c:extLst>
        </c:ser>
        <c:ser>
          <c:idx val="1"/>
          <c:order val="1"/>
          <c:tx>
            <c:strRef>
              <c:f>Sheet1!$D$1</c:f>
              <c:strCache>
                <c:ptCount val="1"/>
                <c:pt idx="0">
                  <c:v>列2</c:v>
                </c:pt>
              </c:strCache>
            </c:strRef>
          </c:tx>
          <c:spPr>
            <a:solidFill>
              <a:srgbClr val="4B8D56"/>
            </a:solidFill>
            <a:ln>
              <a:noFill/>
            </a:ln>
            <a:effectLst/>
          </c:spPr>
          <c:invertIfNegative val="0"/>
          <c:dPt>
            <c:idx val="5"/>
            <c:invertIfNegative val="0"/>
            <c:bubble3D val="0"/>
            <c:spPr>
              <a:solidFill>
                <a:srgbClr val="4B8D56"/>
              </a:solidFill>
              <a:ln>
                <a:noFill/>
              </a:ln>
              <a:effectLst/>
            </c:spPr>
            <c:extLst>
              <c:ext xmlns:c16="http://schemas.microsoft.com/office/drawing/2014/chart" uri="{C3380CC4-5D6E-409C-BE32-E72D297353CC}">
                <c16:uniqueId val="{0000000E-CF77-4E46-893B-08DE3F8D1753}"/>
              </c:ext>
            </c:extLst>
          </c:dPt>
          <c:dPt>
            <c:idx val="6"/>
            <c:invertIfNegative val="1"/>
            <c:bubble3D val="0"/>
            <c:spPr>
              <a:solidFill>
                <a:srgbClr val="FF0000"/>
              </a:solidFill>
              <a:ln>
                <a:noFill/>
              </a:ln>
              <a:effectLst/>
            </c:spPr>
            <c:extLst>
              <c:ext xmlns:c16="http://schemas.microsoft.com/office/drawing/2014/chart" uri="{C3380CC4-5D6E-409C-BE32-E72D297353CC}">
                <c16:uniqueId val="{00000010-CF77-4E46-893B-08DE3F8D1753}"/>
              </c:ext>
            </c:extLst>
          </c:dPt>
          <c:dLbls>
            <c:dLbl>
              <c:idx val="0"/>
              <c:delete val="1"/>
              <c:extLst>
                <c:ext xmlns:c15="http://schemas.microsoft.com/office/drawing/2012/chart" uri="{CE6537A1-D6FC-4f65-9D91-7224C49458BB}"/>
                <c:ext xmlns:c16="http://schemas.microsoft.com/office/drawing/2014/chart" uri="{C3380CC4-5D6E-409C-BE32-E72D297353CC}">
                  <c16:uniqueId val="{00000011-CF77-4E46-893B-08DE3F8D1753}"/>
                </c:ext>
              </c:extLst>
            </c:dLbl>
            <c:dLbl>
              <c:idx val="1"/>
              <c:layout>
                <c:manualLayout>
                  <c:x val="-5.4192774794527949E-2"/>
                  <c:y val="0"/>
                </c:manualLayout>
              </c:layout>
              <c:tx>
                <c:rich>
                  <a:bodyPr/>
                  <a:lstStyle/>
                  <a:p>
                    <a:fld id="{7FD6BF67-8A7D-4B6B-8F61-9C0BEB1B6C80}" type="CELLRANGE">
                      <a:rPr lang="en-US" altLang="zh-CN">
                        <a:solidFill>
                          <a:schemeClr val="tx1"/>
                        </a:solidFill>
                      </a:rPr>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2-CF77-4E46-893B-08DE3F8D1753}"/>
                </c:ext>
              </c:extLst>
            </c:dLbl>
            <c:dLbl>
              <c:idx val="2"/>
              <c:layout>
                <c:manualLayout>
                  <c:x val="9.4837355890423913E-2"/>
                  <c:y val="6.4726040662223842E-3"/>
                </c:manualLayout>
              </c:layout>
              <c:tx>
                <c:rich>
                  <a:bodyPr/>
                  <a:lstStyle/>
                  <a:p>
                    <a:fld id="{CBA22F6E-9F58-4E10-AD33-B3CE29BA2FB8}" type="CELLRANGE">
                      <a:rPr lang="en-US" altLang="zh-CN"/>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3-CF77-4E46-893B-08DE3F8D1753}"/>
                </c:ext>
              </c:extLst>
            </c:dLbl>
            <c:dLbl>
              <c:idx val="3"/>
              <c:layout>
                <c:manualLayout>
                  <c:x val="6.7740968493160025E-2"/>
                  <c:y val="0"/>
                </c:manualLayout>
              </c:layout>
              <c:tx>
                <c:rich>
                  <a:bodyPr/>
                  <a:lstStyle/>
                  <a:p>
                    <a:fld id="{059A9D86-B736-4DD2-A987-6B5533870B5D}" type="CELLRANGE">
                      <a:rPr lang="en-US" altLang="zh-CN"/>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4-CF77-4E46-893B-08DE3F8D1753}"/>
                </c:ext>
              </c:extLst>
            </c:dLbl>
            <c:dLbl>
              <c:idx val="4"/>
              <c:layout>
                <c:manualLayout>
                  <c:x val="8.580522675800259E-2"/>
                  <c:y val="5.933151853760675E-17"/>
                </c:manualLayout>
              </c:layout>
              <c:tx>
                <c:rich>
                  <a:bodyPr/>
                  <a:lstStyle/>
                  <a:p>
                    <a:fld id="{D9A8F155-D778-4723-ADFA-F5D7750358C4}" type="CELLRANGE">
                      <a:rPr lang="en-US" altLang="zh-CN"/>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5-CF77-4E46-893B-08DE3F8D1753}"/>
                </c:ext>
              </c:extLst>
            </c:dLbl>
            <c:dLbl>
              <c:idx val="5"/>
              <c:layout>
                <c:manualLayout>
                  <c:x val="6.7740968493159942E-2"/>
                  <c:y val="6.4726040662223842E-3"/>
                </c:manualLayout>
              </c:layout>
              <c:tx>
                <c:rich>
                  <a:bodyPr/>
                  <a:lstStyle/>
                  <a:p>
                    <a:fld id="{F65CB3B5-B375-47C1-95FB-380D9047E7B5}" type="CELLRANGE">
                      <a:rPr lang="en-US" altLang="zh-CN">
                        <a:solidFill>
                          <a:schemeClr val="tx1"/>
                        </a:solidFill>
                      </a:rPr>
                      <a:pPr/>
                      <a:t>[CELLRANGE]</a:t>
                    </a:fld>
                    <a:endParaRPr lang="zh-CN" altLang="en-US"/>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E-CF77-4E46-893B-08DE3F8D1753}"/>
                </c:ext>
              </c:extLst>
            </c:dLbl>
            <c:dLbl>
              <c:idx val="6"/>
              <c:layout>
                <c:manualLayout>
                  <c:x val="-9.0321291324213335E-2"/>
                  <c:y val="1.186630370752135E-16"/>
                </c:manualLayout>
              </c:layout>
              <c:tx>
                <c:rich>
                  <a:bodyPr/>
                  <a:lstStyle/>
                  <a:p>
                    <a:fld id="{11FF774C-CB6D-4EFA-A342-059264A8E47D}" type="CELLRANGE">
                      <a:rPr lang="en-US" altLang="zh-CN"/>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0-CF77-4E46-893B-08DE3F8D1753}"/>
                </c:ext>
              </c:extLst>
            </c:dLbl>
            <c:dLbl>
              <c:idx val="7"/>
              <c:delete val="1"/>
              <c:extLst>
                <c:ext xmlns:c15="http://schemas.microsoft.com/office/drawing/2012/chart" uri="{CE6537A1-D6FC-4f65-9D91-7224C49458BB}"/>
                <c:ext xmlns:c16="http://schemas.microsoft.com/office/drawing/2014/chart" uri="{C3380CC4-5D6E-409C-BE32-E72D297353CC}">
                  <c16:uniqueId val="{00000016-CF77-4E46-893B-08DE3F8D1753}"/>
                </c:ext>
              </c:extLst>
            </c:dLbl>
            <c:numFmt formatCode="#,##0.00_);[Red]\(#,##0.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ea"/>
                    <a:ea typeface="+mn-ea"/>
                    <a:cs typeface="+mn-cs"/>
                  </a:defRPr>
                </a:pPr>
                <a:endParaRPr lang="zh-CN"/>
              </a:p>
            </c:txP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Sheet1!$A$2:$A$9</c:f>
              <c:strCache>
                <c:ptCount val="8"/>
                <c:pt idx="0">
                  <c:v>智己</c:v>
                </c:pt>
                <c:pt idx="1">
                  <c:v> 入店前沟通</c:v>
                </c:pt>
                <c:pt idx="2">
                  <c:v> 到店接待</c:v>
                </c:pt>
                <c:pt idx="3">
                  <c:v> 店内看车</c:v>
                </c:pt>
                <c:pt idx="4">
                  <c:v> 试乘试驾</c:v>
                </c:pt>
                <c:pt idx="5">
                  <c:v> 洽谈下定</c:v>
                </c:pt>
                <c:pt idx="6">
                  <c:v> 送别与回访</c:v>
                </c:pt>
                <c:pt idx="7">
                  <c:v>阿维塔</c:v>
                </c:pt>
              </c:strCache>
            </c:strRef>
          </c:cat>
          <c:val>
            <c:numRef>
              <c:f>Sheet1!$D$2:$D$9</c:f>
              <c:numCache>
                <c:formatCode>0.0</c:formatCode>
                <c:ptCount val="8"/>
                <c:pt idx="0">
                  <c:v>0</c:v>
                </c:pt>
                <c:pt idx="1">
                  <c:v>0.22146921366299921</c:v>
                </c:pt>
                <c:pt idx="2">
                  <c:v>52.993029930299258</c:v>
                </c:pt>
                <c:pt idx="3">
                  <c:v>12.03733181295263</c:v>
                </c:pt>
                <c:pt idx="4">
                  <c:v>29.958479734989282</c:v>
                </c:pt>
                <c:pt idx="5">
                  <c:v>8.374648420730523</c:v>
                </c:pt>
                <c:pt idx="6">
                  <c:v>27.2781574414646</c:v>
                </c:pt>
                <c:pt idx="7" formatCode="General">
                  <c:v>0</c:v>
                </c:pt>
              </c:numCache>
            </c:numRef>
          </c:val>
          <c:extLst>
            <c:ext xmlns:c15="http://schemas.microsoft.com/office/drawing/2012/chart" uri="{02D57815-91ED-43cb-92C2-25804820EDAC}">
              <c15:datalabelsRange>
                <c15:f>Sheet1!$B$2:$B$9</c15:f>
                <c15:dlblRangeCache>
                  <c:ptCount val="8"/>
                  <c:pt idx="0">
                    <c:v>853</c:v>
                  </c:pt>
                  <c:pt idx="1">
                    <c:v>-0.2</c:v>
                  </c:pt>
                  <c:pt idx="2">
                    <c:v>53.0</c:v>
                  </c:pt>
                  <c:pt idx="3">
                    <c:v>12.0</c:v>
                  </c:pt>
                  <c:pt idx="4">
                    <c:v>30.0</c:v>
                  </c:pt>
                  <c:pt idx="5">
                    <c:v>8.4</c:v>
                  </c:pt>
                  <c:pt idx="6">
                    <c:v>-27.3</c:v>
                  </c:pt>
                  <c:pt idx="7">
                    <c:v>869</c:v>
                  </c:pt>
                </c15:dlblRangeCache>
              </c15:datalabelsRange>
            </c:ext>
            <c:ext xmlns:c16="http://schemas.microsoft.com/office/drawing/2014/chart" uri="{C3380CC4-5D6E-409C-BE32-E72D297353CC}">
              <c16:uniqueId val="{00000017-CF77-4E46-893B-08DE3F8D1753}"/>
            </c:ext>
          </c:extLst>
        </c:ser>
        <c:dLbls>
          <c:showLegendKey val="0"/>
          <c:showVal val="0"/>
          <c:showCatName val="0"/>
          <c:showSerName val="0"/>
          <c:showPercent val="0"/>
          <c:showBubbleSize val="0"/>
        </c:dLbls>
        <c:gapWidth val="50"/>
        <c:overlap val="100"/>
        <c:axId val="1624751583"/>
        <c:axId val="21874975"/>
      </c:barChart>
      <c:catAx>
        <c:axId val="1624751583"/>
        <c:scaling>
          <c:orientation val="maxMin"/>
        </c:scaling>
        <c:delete val="0"/>
        <c:axPos val="l"/>
        <c:numFmt formatCode="General" sourceLinked="1"/>
        <c:majorTickMark val="none"/>
        <c:minorTickMark val="none"/>
        <c:tickLblPos val="nextTo"/>
        <c:spPr>
          <a:noFill/>
          <a:ln w="9525" cap="flat" cmpd="sng" algn="ctr">
            <a:solidFill>
              <a:schemeClr val="accent1">
                <a:alpha val="94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ea"/>
                <a:ea typeface="+mn-ea"/>
                <a:cs typeface="+mn-cs"/>
              </a:defRPr>
            </a:pPr>
            <a:endParaRPr lang="zh-CN"/>
          </a:p>
        </c:txPr>
        <c:crossAx val="21874975"/>
        <c:crossesAt val="-200"/>
        <c:auto val="1"/>
        <c:lblAlgn val="ctr"/>
        <c:lblOffset val="100"/>
        <c:noMultiLvlLbl val="0"/>
      </c:catAx>
      <c:valAx>
        <c:axId val="21874975"/>
        <c:scaling>
          <c:orientation val="minMax"/>
          <c:max val="950"/>
          <c:min val="600"/>
        </c:scaling>
        <c:delete val="1"/>
        <c:axPos val="t"/>
        <c:numFmt formatCode="0" sourceLinked="1"/>
        <c:majorTickMark val="out"/>
        <c:minorTickMark val="none"/>
        <c:tickLblPos val="nextTo"/>
        <c:crossAx val="1624751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stacked"/>
        <c:varyColors val="0"/>
        <c:ser>
          <c:idx val="0"/>
          <c:order val="0"/>
          <c:tx>
            <c:strRef>
              <c:f>Sheet1!$C$1</c:f>
              <c:strCache>
                <c:ptCount val="1"/>
                <c:pt idx="0">
                  <c:v>列1</c:v>
                </c:pt>
              </c:strCache>
            </c:strRef>
          </c:tx>
          <c:spPr>
            <a:solidFill>
              <a:schemeClr val="accent1"/>
            </a:solidFill>
            <a:ln>
              <a:noFill/>
            </a:ln>
            <a:effectLst/>
          </c:spPr>
          <c:invertIfNegative val="0"/>
          <c:dPt>
            <c:idx val="0"/>
            <c:invertIfNegative val="0"/>
            <c:bubble3D val="0"/>
            <c:spPr>
              <a:solidFill>
                <a:schemeClr val="tx1">
                  <a:lumMod val="50000"/>
                  <a:lumOff val="50000"/>
                </a:schemeClr>
              </a:solidFill>
              <a:ln>
                <a:noFill/>
              </a:ln>
              <a:effectLst/>
            </c:spPr>
            <c:extLst>
              <c:ext xmlns:c16="http://schemas.microsoft.com/office/drawing/2014/chart" uri="{C3380CC4-5D6E-409C-BE32-E72D297353CC}">
                <c16:uniqueId val="{0000000C-150B-47C6-A1B4-95DA541C1F5A}"/>
              </c:ext>
            </c:extLst>
          </c:dPt>
          <c:dPt>
            <c:idx val="1"/>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1-150B-47C6-A1B4-95DA541C1F5A}"/>
              </c:ext>
            </c:extLst>
          </c:dPt>
          <c:dPt>
            <c:idx val="2"/>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3-150B-47C6-A1B4-95DA541C1F5A}"/>
              </c:ext>
            </c:extLst>
          </c:dPt>
          <c:dPt>
            <c:idx val="3"/>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5-150B-47C6-A1B4-95DA541C1F5A}"/>
              </c:ext>
            </c:extLst>
          </c:dPt>
          <c:dPt>
            <c:idx val="4"/>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7-150B-47C6-A1B4-95DA541C1F5A}"/>
              </c:ext>
            </c:extLst>
          </c:dPt>
          <c:dPt>
            <c:idx val="5"/>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9-150B-47C6-A1B4-95DA541C1F5A}"/>
              </c:ext>
            </c:extLst>
          </c:dPt>
          <c:dPt>
            <c:idx val="6"/>
            <c:invertIfNegative val="0"/>
            <c:bubble3D val="0"/>
            <c:spPr>
              <a:solidFill>
                <a:schemeClr val="accent6">
                  <a:lumMod val="20000"/>
                  <a:lumOff val="80000"/>
                </a:schemeClr>
              </a:solidFill>
              <a:ln>
                <a:noFill/>
              </a:ln>
              <a:effectLst/>
            </c:spPr>
            <c:extLst>
              <c:ext xmlns:c16="http://schemas.microsoft.com/office/drawing/2014/chart" uri="{C3380CC4-5D6E-409C-BE32-E72D297353CC}">
                <c16:uniqueId val="{0000000B-150B-47C6-A1B4-95DA541C1F5A}"/>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50B-47C6-A1B4-95DA541C1F5A}"/>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150B-47C6-A1B4-95DA541C1F5A}"/>
                </c:ext>
              </c:extLst>
            </c:dLbl>
            <c:numFmt formatCode="#,##0_);[Red]\(#,##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ea"/>
                    <a:ea typeface="+mn-ea"/>
                    <a:cs typeface="+mn-cs"/>
                  </a:defRPr>
                </a:pPr>
                <a:endParaRPr lang="zh-CN"/>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上半年</c:v>
                </c:pt>
                <c:pt idx="1">
                  <c:v> 入店前沟通</c:v>
                </c:pt>
                <c:pt idx="2">
                  <c:v> 到店接待</c:v>
                </c:pt>
                <c:pt idx="3">
                  <c:v> 店内看车</c:v>
                </c:pt>
                <c:pt idx="4">
                  <c:v> 试乘试驾</c:v>
                </c:pt>
                <c:pt idx="5">
                  <c:v> 洽谈下定</c:v>
                </c:pt>
                <c:pt idx="6">
                  <c:v> 送别与回访</c:v>
                </c:pt>
                <c:pt idx="7">
                  <c:v>下半年</c:v>
                </c:pt>
              </c:strCache>
            </c:strRef>
          </c:cat>
          <c:val>
            <c:numRef>
              <c:f>Sheet1!$C$2:$C$9</c:f>
              <c:numCache>
                <c:formatCode>0.0</c:formatCode>
                <c:ptCount val="8"/>
                <c:pt idx="0">
                  <c:v>802.81627007795737</c:v>
                </c:pt>
                <c:pt idx="1">
                  <c:v>802.81627007795737</c:v>
                </c:pt>
                <c:pt idx="2">
                  <c:v>802.81627007795737</c:v>
                </c:pt>
                <c:pt idx="3">
                  <c:v>802.81627007795737</c:v>
                </c:pt>
                <c:pt idx="4">
                  <c:v>802.81627007795737</c:v>
                </c:pt>
                <c:pt idx="5">
                  <c:v>802.81627007795737</c:v>
                </c:pt>
                <c:pt idx="6">
                  <c:v>802.81627007795737</c:v>
                </c:pt>
                <c:pt idx="7">
                  <c:v>868.97544573302832</c:v>
                </c:pt>
              </c:numCache>
            </c:numRef>
          </c:val>
          <c:extLst>
            <c:ext xmlns:c16="http://schemas.microsoft.com/office/drawing/2014/chart" uri="{C3380CC4-5D6E-409C-BE32-E72D297353CC}">
              <c16:uniqueId val="{0000000E-150B-47C6-A1B4-95DA541C1F5A}"/>
            </c:ext>
          </c:extLst>
        </c:ser>
        <c:ser>
          <c:idx val="1"/>
          <c:order val="1"/>
          <c:tx>
            <c:strRef>
              <c:f>Sheet1!$D$1</c:f>
              <c:strCache>
                <c:ptCount val="1"/>
                <c:pt idx="0">
                  <c:v>列2</c:v>
                </c:pt>
              </c:strCache>
            </c:strRef>
          </c:tx>
          <c:spPr>
            <a:solidFill>
              <a:srgbClr val="4B8D56"/>
            </a:solidFill>
            <a:ln>
              <a:noFill/>
            </a:ln>
            <a:effectLst/>
          </c:spPr>
          <c:invertIfNegative val="0"/>
          <c:dPt>
            <c:idx val="1"/>
            <c:invertIfNegative val="0"/>
            <c:bubble3D val="0"/>
            <c:spPr>
              <a:solidFill>
                <a:srgbClr val="4B8D56"/>
              </a:solidFill>
              <a:ln>
                <a:noFill/>
              </a:ln>
              <a:effectLst/>
            </c:spPr>
            <c:extLst>
              <c:ext xmlns:c16="http://schemas.microsoft.com/office/drawing/2014/chart" uri="{C3380CC4-5D6E-409C-BE32-E72D297353CC}">
                <c16:uniqueId val="{00000010-150B-47C6-A1B4-95DA541C1F5A}"/>
              </c:ext>
            </c:extLst>
          </c:dPt>
          <c:dPt>
            <c:idx val="5"/>
            <c:invertIfNegative val="0"/>
            <c:bubble3D val="0"/>
            <c:spPr>
              <a:solidFill>
                <a:srgbClr val="4B8D56"/>
              </a:solidFill>
              <a:ln>
                <a:noFill/>
              </a:ln>
              <a:effectLst/>
            </c:spPr>
            <c:extLst>
              <c:ext xmlns:c16="http://schemas.microsoft.com/office/drawing/2014/chart" uri="{C3380CC4-5D6E-409C-BE32-E72D297353CC}">
                <c16:uniqueId val="{00000012-150B-47C6-A1B4-95DA541C1F5A}"/>
              </c:ext>
            </c:extLst>
          </c:dPt>
          <c:dPt>
            <c:idx val="6"/>
            <c:invertIfNegative val="1"/>
            <c:bubble3D val="0"/>
            <c:spPr>
              <a:solidFill>
                <a:srgbClr val="4B8D56"/>
              </a:solidFill>
              <a:ln>
                <a:noFill/>
              </a:ln>
              <a:effectLst/>
            </c:spPr>
            <c:extLst>
              <c:ext xmlns:c16="http://schemas.microsoft.com/office/drawing/2014/chart" uri="{C3380CC4-5D6E-409C-BE32-E72D297353CC}">
                <c16:uniqueId val="{00000014-150B-47C6-A1B4-95DA541C1F5A}"/>
              </c:ext>
            </c:extLst>
          </c:dPt>
          <c:dLbls>
            <c:dLbl>
              <c:idx val="0"/>
              <c:delete val="1"/>
              <c:extLst>
                <c:ext xmlns:c15="http://schemas.microsoft.com/office/drawing/2012/chart" uri="{CE6537A1-D6FC-4f65-9D91-7224C49458BB}"/>
                <c:ext xmlns:c16="http://schemas.microsoft.com/office/drawing/2014/chart" uri="{C3380CC4-5D6E-409C-BE32-E72D297353CC}">
                  <c16:uniqueId val="{00000015-150B-47C6-A1B4-95DA541C1F5A}"/>
                </c:ext>
              </c:extLst>
            </c:dLbl>
            <c:dLbl>
              <c:idx val="1"/>
              <c:tx>
                <c:rich>
                  <a:bodyPr/>
                  <a:lstStyle/>
                  <a:p>
                    <a:fld id="{64466662-08A1-4E12-A5ED-1FD08F516F5B}" type="CELLRANGE">
                      <a:rPr lang="en-US" altLang="zh-CN"/>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0-150B-47C6-A1B4-95DA541C1F5A}"/>
                </c:ext>
              </c:extLst>
            </c:dLbl>
            <c:dLbl>
              <c:idx val="2"/>
              <c:tx>
                <c:rich>
                  <a:bodyPr/>
                  <a:lstStyle/>
                  <a:p>
                    <a:fld id="{71BD91D7-3426-4901-A387-8D1849F2EB63}"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6-150B-47C6-A1B4-95DA541C1F5A}"/>
                </c:ext>
              </c:extLst>
            </c:dLbl>
            <c:dLbl>
              <c:idx val="3"/>
              <c:tx>
                <c:rich>
                  <a:bodyPr/>
                  <a:lstStyle/>
                  <a:p>
                    <a:fld id="{AC7259BC-805D-47FE-8E6E-9005129E58FE}"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7-150B-47C6-A1B4-95DA541C1F5A}"/>
                </c:ext>
              </c:extLst>
            </c:dLbl>
            <c:dLbl>
              <c:idx val="4"/>
              <c:tx>
                <c:rich>
                  <a:bodyPr/>
                  <a:lstStyle/>
                  <a:p>
                    <a:fld id="{26CB54D0-73B7-447C-B094-CFD1C5F5854A}"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8-150B-47C6-A1B4-95DA541C1F5A}"/>
                </c:ext>
              </c:extLst>
            </c:dLbl>
            <c:dLbl>
              <c:idx val="5"/>
              <c:tx>
                <c:rich>
                  <a:bodyPr/>
                  <a:lstStyle/>
                  <a:p>
                    <a:fld id="{05E3DC3E-2624-465C-BFAC-63C9E8FD4B86}"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2-150B-47C6-A1B4-95DA541C1F5A}"/>
                </c:ext>
              </c:extLst>
            </c:dLbl>
            <c:dLbl>
              <c:idx val="6"/>
              <c:tx>
                <c:rich>
                  <a:bodyPr/>
                  <a:lstStyle/>
                  <a:p>
                    <a:fld id="{652A9B8E-BEC6-456A-9B3F-376FC94D6439}"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4-150B-47C6-A1B4-95DA541C1F5A}"/>
                </c:ext>
              </c:extLst>
            </c:dLbl>
            <c:dLbl>
              <c:idx val="7"/>
              <c:delete val="1"/>
              <c:extLst>
                <c:ext xmlns:c15="http://schemas.microsoft.com/office/drawing/2012/chart" uri="{CE6537A1-D6FC-4f65-9D91-7224C49458BB}"/>
                <c:ext xmlns:c16="http://schemas.microsoft.com/office/drawing/2014/chart" uri="{C3380CC4-5D6E-409C-BE32-E72D297353CC}">
                  <c16:uniqueId val="{00000019-150B-47C6-A1B4-95DA541C1F5A}"/>
                </c:ext>
              </c:extLst>
            </c:dLbl>
            <c:numFmt formatCode="#,##0_);[Red]\(#,##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ea"/>
                    <a:ea typeface="+mn-ea"/>
                    <a:cs typeface="+mn-cs"/>
                  </a:defRPr>
                </a:pPr>
                <a:endParaRPr lang="zh-CN"/>
              </a:p>
            </c:txP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Sheet1!$A$2:$A$9</c:f>
              <c:strCache>
                <c:ptCount val="8"/>
                <c:pt idx="0">
                  <c:v>上半年</c:v>
                </c:pt>
                <c:pt idx="1">
                  <c:v> 入店前沟通</c:v>
                </c:pt>
                <c:pt idx="2">
                  <c:v> 到店接待</c:v>
                </c:pt>
                <c:pt idx="3">
                  <c:v> 店内看车</c:v>
                </c:pt>
                <c:pt idx="4">
                  <c:v> 试乘试驾</c:v>
                </c:pt>
                <c:pt idx="5">
                  <c:v> 洽谈下定</c:v>
                </c:pt>
                <c:pt idx="6">
                  <c:v> 送别与回访</c:v>
                </c:pt>
                <c:pt idx="7">
                  <c:v>下半年</c:v>
                </c:pt>
              </c:strCache>
            </c:strRef>
          </c:cat>
          <c:val>
            <c:numRef>
              <c:f>Sheet1!$D$2:$D$9</c:f>
              <c:numCache>
                <c:formatCode>0</c:formatCode>
                <c:ptCount val="8"/>
                <c:pt idx="0" formatCode="General">
                  <c:v>0</c:v>
                </c:pt>
                <c:pt idx="1">
                  <c:v>44.399549768614179</c:v>
                </c:pt>
                <c:pt idx="2">
                  <c:v>93.388285686999211</c:v>
                </c:pt>
                <c:pt idx="3">
                  <c:v>46.054270133547561</c:v>
                </c:pt>
                <c:pt idx="4">
                  <c:v>75.79347849098508</c:v>
                </c:pt>
                <c:pt idx="5">
                  <c:v>88.078829865702801</c:v>
                </c:pt>
                <c:pt idx="6">
                  <c:v>0</c:v>
                </c:pt>
                <c:pt idx="7">
                  <c:v>0</c:v>
                </c:pt>
              </c:numCache>
            </c:numRef>
          </c:val>
          <c:extLst>
            <c:ext xmlns:c15="http://schemas.microsoft.com/office/drawing/2012/chart" uri="{02D57815-91ED-43cb-92C2-25804820EDAC}">
              <c15:datalabelsRange>
                <c15:f>Sheet1!$B$2:$B$8</c15:f>
                <c15:dlblRangeCache>
                  <c:ptCount val="7"/>
                  <c:pt idx="0">
                    <c:v>802.8</c:v>
                  </c:pt>
                  <c:pt idx="1">
                    <c:v>44.4</c:v>
                  </c:pt>
                  <c:pt idx="2">
                    <c:v>93.4</c:v>
                  </c:pt>
                  <c:pt idx="3">
                    <c:v>46.1</c:v>
                  </c:pt>
                  <c:pt idx="4">
                    <c:v>75.8</c:v>
                  </c:pt>
                  <c:pt idx="5">
                    <c:v>88.1</c:v>
                  </c:pt>
                  <c:pt idx="6">
                    <c:v>-</c:v>
                  </c:pt>
                </c15:dlblRangeCache>
              </c15:datalabelsRange>
            </c:ext>
            <c:ext xmlns:c16="http://schemas.microsoft.com/office/drawing/2014/chart" uri="{C3380CC4-5D6E-409C-BE32-E72D297353CC}">
              <c16:uniqueId val="{0000001A-150B-47C6-A1B4-95DA541C1F5A}"/>
            </c:ext>
          </c:extLst>
        </c:ser>
        <c:dLbls>
          <c:showLegendKey val="0"/>
          <c:showVal val="0"/>
          <c:showCatName val="0"/>
          <c:showSerName val="0"/>
          <c:showPercent val="0"/>
          <c:showBubbleSize val="0"/>
        </c:dLbls>
        <c:gapWidth val="50"/>
        <c:overlap val="100"/>
        <c:axId val="1624751583"/>
        <c:axId val="21874975"/>
      </c:barChart>
      <c:catAx>
        <c:axId val="1624751583"/>
        <c:scaling>
          <c:orientation val="maxMin"/>
        </c:scaling>
        <c:delete val="0"/>
        <c:axPos val="l"/>
        <c:numFmt formatCode="General" sourceLinked="1"/>
        <c:majorTickMark val="none"/>
        <c:minorTickMark val="none"/>
        <c:tickLblPos val="nextTo"/>
        <c:spPr>
          <a:noFill/>
          <a:ln w="9525" cap="flat" cmpd="sng" algn="ctr">
            <a:solidFill>
              <a:schemeClr val="accent1">
                <a:alpha val="94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ea"/>
                <a:ea typeface="+mn-ea"/>
                <a:cs typeface="+mn-cs"/>
              </a:defRPr>
            </a:pPr>
            <a:endParaRPr lang="zh-CN"/>
          </a:p>
        </c:txPr>
        <c:crossAx val="21874975"/>
        <c:crossesAt val="-200"/>
        <c:auto val="1"/>
        <c:lblAlgn val="ctr"/>
        <c:lblOffset val="100"/>
        <c:noMultiLvlLbl val="0"/>
      </c:catAx>
      <c:valAx>
        <c:axId val="21874975"/>
        <c:scaling>
          <c:orientation val="minMax"/>
          <c:max val="950"/>
          <c:min val="600"/>
        </c:scaling>
        <c:delete val="1"/>
        <c:axPos val="t"/>
        <c:numFmt formatCode="0.0" sourceLinked="1"/>
        <c:majorTickMark val="out"/>
        <c:minorTickMark val="none"/>
        <c:tickLblPos val="nextTo"/>
        <c:crossAx val="1624751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055781053420637E-2"/>
          <c:y val="2.4207160890334777E-2"/>
          <c:w val="0.98794418402888173"/>
          <c:h val="0.49357997535346598"/>
        </c:manualLayout>
      </c:layout>
      <c:lineChart>
        <c:grouping val="standard"/>
        <c:varyColors val="0"/>
        <c:ser>
          <c:idx val="0"/>
          <c:order val="0"/>
          <c:tx>
            <c:strRef>
              <c:f>Sheet1!$B$1</c:f>
              <c:strCache>
                <c:ptCount val="1"/>
                <c:pt idx="0">
                  <c:v>阿维塔</c:v>
                </c:pt>
              </c:strCache>
            </c:strRef>
          </c:tx>
          <c:spPr>
            <a:ln w="28575" cap="rnd">
              <a:solidFill>
                <a:srgbClr val="4B8D56"/>
              </a:solidFill>
              <a:round/>
            </a:ln>
            <a:effectLst/>
          </c:spPr>
          <c:marker>
            <c:symbol val="none"/>
          </c:marker>
          <c:cat>
            <c:strRef>
              <c:f>Sheet1!$A$2:$A$29</c:f>
              <c:strCache>
                <c:ptCount val="28"/>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产品报价和下定政策介绍清晰程度</c:v>
                </c:pt>
                <c:pt idx="22">
                  <c:v>销售顾问对车主权益和服务的介绍清晰程度</c:v>
                </c:pt>
                <c:pt idx="23">
                  <c:v>金融服务体验满意度</c:v>
                </c:pt>
                <c:pt idx="24">
                  <c:v>保险服务的介绍及协助办理过程中的体验满意度</c:v>
                </c:pt>
                <c:pt idx="25">
                  <c:v>付款过程体验</c:v>
                </c:pt>
                <c:pt idx="26">
                  <c:v>离店送别服务表现</c:v>
                </c:pt>
                <c:pt idx="27">
                  <c:v>离店后的回访表现</c:v>
                </c:pt>
              </c:strCache>
            </c:strRef>
          </c:cat>
          <c:val>
            <c:numRef>
              <c:f>Sheet1!$B$2:$B$29</c:f>
              <c:numCache>
                <c:formatCode>0</c:formatCode>
                <c:ptCount val="28"/>
                <c:pt idx="0">
                  <c:v>8.2583732057416288</c:v>
                </c:pt>
                <c:pt idx="1">
                  <c:v>8.8009708737864099</c:v>
                </c:pt>
                <c:pt idx="2">
                  <c:v>8.918819188191879</c:v>
                </c:pt>
                <c:pt idx="3">
                  <c:v>8.6014760147601503</c:v>
                </c:pt>
                <c:pt idx="4">
                  <c:v>8.5018450184501901</c:v>
                </c:pt>
                <c:pt idx="5">
                  <c:v>8.6937269372693695</c:v>
                </c:pt>
                <c:pt idx="6">
                  <c:v>9.0627306273062693</c:v>
                </c:pt>
                <c:pt idx="7">
                  <c:v>8.6826568265682695</c:v>
                </c:pt>
                <c:pt idx="8">
                  <c:v>8.92619926199262</c:v>
                </c:pt>
                <c:pt idx="9">
                  <c:v>8.9114391143911398</c:v>
                </c:pt>
                <c:pt idx="10">
                  <c:v>8.5535055350553506</c:v>
                </c:pt>
                <c:pt idx="11">
                  <c:v>7.8782287822878194</c:v>
                </c:pt>
                <c:pt idx="12">
                  <c:v>8.4612546125461296</c:v>
                </c:pt>
                <c:pt idx="13">
                  <c:v>8.918819188191879</c:v>
                </c:pt>
                <c:pt idx="14">
                  <c:v>9.0405904059040605</c:v>
                </c:pt>
                <c:pt idx="15">
                  <c:v>8.9483394833948289</c:v>
                </c:pt>
                <c:pt idx="16">
                  <c:v>8.8745387453874507</c:v>
                </c:pt>
                <c:pt idx="17">
                  <c:v>9.0110701107011089</c:v>
                </c:pt>
                <c:pt idx="18">
                  <c:v>8.6789667896678999</c:v>
                </c:pt>
                <c:pt idx="19">
                  <c:v>8.6789667896678999</c:v>
                </c:pt>
                <c:pt idx="20">
                  <c:v>8.7859778597785994</c:v>
                </c:pt>
                <c:pt idx="21">
                  <c:v>8.5239852398524008</c:v>
                </c:pt>
                <c:pt idx="22">
                  <c:v>8.4428044280442798</c:v>
                </c:pt>
                <c:pt idx="23">
                  <c:v>8.875</c:v>
                </c:pt>
                <c:pt idx="24">
                  <c:v>8.6309963099631002</c:v>
                </c:pt>
                <c:pt idx="25">
                  <c:v>8.9483394833948289</c:v>
                </c:pt>
                <c:pt idx="26">
                  <c:v>8.6531365313653108</c:v>
                </c:pt>
                <c:pt idx="27">
                  <c:v>8.3136531365313697</c:v>
                </c:pt>
              </c:numCache>
            </c:numRef>
          </c:val>
          <c:smooth val="0"/>
          <c:extLst>
            <c:ext xmlns:c16="http://schemas.microsoft.com/office/drawing/2014/chart" uri="{C3380CC4-5D6E-409C-BE32-E72D297353CC}">
              <c16:uniqueId val="{00000000-25F0-451B-B3F1-6F59F0407506}"/>
            </c:ext>
          </c:extLst>
        </c:ser>
        <c:ser>
          <c:idx val="1"/>
          <c:order val="1"/>
          <c:tx>
            <c:strRef>
              <c:f>Sheet1!$C$1</c:f>
              <c:strCache>
                <c:ptCount val="1"/>
                <c:pt idx="0">
                  <c:v>蔚来</c:v>
                </c:pt>
              </c:strCache>
            </c:strRef>
          </c:tx>
          <c:spPr>
            <a:ln w="28575" cap="rnd">
              <a:solidFill>
                <a:srgbClr val="0070C0"/>
              </a:solidFill>
              <a:prstDash val="solid"/>
              <a:round/>
            </a:ln>
            <a:effectLst/>
          </c:spPr>
          <c:marker>
            <c:symbol val="none"/>
          </c:marker>
          <c:cat>
            <c:strRef>
              <c:f>Sheet1!$A$2:$A$29</c:f>
              <c:strCache>
                <c:ptCount val="28"/>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产品报价和下定政策介绍清晰程度</c:v>
                </c:pt>
                <c:pt idx="22">
                  <c:v>销售顾问对车主权益和服务的介绍清晰程度</c:v>
                </c:pt>
                <c:pt idx="23">
                  <c:v>金融服务体验满意度</c:v>
                </c:pt>
                <c:pt idx="24">
                  <c:v>保险服务的介绍及协助办理过程中的体验满意度</c:v>
                </c:pt>
                <c:pt idx="25">
                  <c:v>付款过程体验</c:v>
                </c:pt>
                <c:pt idx="26">
                  <c:v>离店送别服务表现</c:v>
                </c:pt>
                <c:pt idx="27">
                  <c:v>离店后的回访表现</c:v>
                </c:pt>
              </c:strCache>
            </c:strRef>
          </c:cat>
          <c:val>
            <c:numRef>
              <c:f>Sheet1!$C$2:$C$29</c:f>
              <c:numCache>
                <c:formatCode>0</c:formatCode>
                <c:ptCount val="28"/>
                <c:pt idx="0">
                  <c:v>8.6666666666666696</c:v>
                </c:pt>
                <c:pt idx="1">
                  <c:v>8.8148148148148202</c:v>
                </c:pt>
                <c:pt idx="2">
                  <c:v>8.6176470588235308</c:v>
                </c:pt>
                <c:pt idx="3">
                  <c:v>8.7647058823529402</c:v>
                </c:pt>
                <c:pt idx="4">
                  <c:v>8.5294117647058787</c:v>
                </c:pt>
                <c:pt idx="5">
                  <c:v>8.5882352941176503</c:v>
                </c:pt>
                <c:pt idx="6">
                  <c:v>8.7647058823529402</c:v>
                </c:pt>
                <c:pt idx="7">
                  <c:v>8.3823529411764692</c:v>
                </c:pt>
                <c:pt idx="8">
                  <c:v>8.9705882352941213</c:v>
                </c:pt>
                <c:pt idx="9">
                  <c:v>9.0294117647058787</c:v>
                </c:pt>
                <c:pt idx="10">
                  <c:v>8.7647058823529402</c:v>
                </c:pt>
                <c:pt idx="11">
                  <c:v>8.5</c:v>
                </c:pt>
                <c:pt idx="12">
                  <c:v>8.7352941176470598</c:v>
                </c:pt>
                <c:pt idx="13">
                  <c:v>8.7058823529411811</c:v>
                </c:pt>
                <c:pt idx="14">
                  <c:v>8.7941176470588189</c:v>
                </c:pt>
                <c:pt idx="15">
                  <c:v>8.6176470588235308</c:v>
                </c:pt>
                <c:pt idx="16">
                  <c:v>8.5882352941176503</c:v>
                </c:pt>
                <c:pt idx="17">
                  <c:v>8.7647058823529402</c:v>
                </c:pt>
                <c:pt idx="18">
                  <c:v>8.4705882352941213</c:v>
                </c:pt>
                <c:pt idx="19">
                  <c:v>8.7647058823529402</c:v>
                </c:pt>
                <c:pt idx="20">
                  <c:v>8.8235294117647101</c:v>
                </c:pt>
                <c:pt idx="21">
                  <c:v>8.6764705882352899</c:v>
                </c:pt>
                <c:pt idx="22">
                  <c:v>8.7647058823529402</c:v>
                </c:pt>
                <c:pt idx="23">
                  <c:v>8.6666666666666696</c:v>
                </c:pt>
                <c:pt idx="24">
                  <c:v>8.5588235294117609</c:v>
                </c:pt>
                <c:pt idx="25">
                  <c:v>8.7941176470588189</c:v>
                </c:pt>
                <c:pt idx="26">
                  <c:v>8.9117647058823497</c:v>
                </c:pt>
                <c:pt idx="27">
                  <c:v>8.5294117647058787</c:v>
                </c:pt>
              </c:numCache>
            </c:numRef>
          </c:val>
          <c:smooth val="0"/>
          <c:extLst>
            <c:ext xmlns:c16="http://schemas.microsoft.com/office/drawing/2014/chart" uri="{C3380CC4-5D6E-409C-BE32-E72D297353CC}">
              <c16:uniqueId val="{00000001-25F0-451B-B3F1-6F59F0407506}"/>
            </c:ext>
          </c:extLst>
        </c:ser>
        <c:ser>
          <c:idx val="2"/>
          <c:order val="2"/>
          <c:tx>
            <c:strRef>
              <c:f>Sheet1!$D$1</c:f>
              <c:strCache>
                <c:ptCount val="1"/>
                <c:pt idx="0">
                  <c:v>极氪</c:v>
                </c:pt>
              </c:strCache>
            </c:strRef>
          </c:tx>
          <c:spPr>
            <a:ln w="28575" cap="rnd">
              <a:solidFill>
                <a:srgbClr val="7030A0"/>
              </a:solidFill>
              <a:round/>
            </a:ln>
            <a:effectLst/>
          </c:spPr>
          <c:marker>
            <c:symbol val="none"/>
          </c:marker>
          <c:cat>
            <c:strRef>
              <c:f>Sheet1!$A$2:$A$29</c:f>
              <c:strCache>
                <c:ptCount val="28"/>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产品报价和下定政策介绍清晰程度</c:v>
                </c:pt>
                <c:pt idx="22">
                  <c:v>销售顾问对车主权益和服务的介绍清晰程度</c:v>
                </c:pt>
                <c:pt idx="23">
                  <c:v>金融服务体验满意度</c:v>
                </c:pt>
                <c:pt idx="24">
                  <c:v>保险服务的介绍及协助办理过程中的体验满意度</c:v>
                </c:pt>
                <c:pt idx="25">
                  <c:v>付款过程体验</c:v>
                </c:pt>
                <c:pt idx="26">
                  <c:v>离店送别服务表现</c:v>
                </c:pt>
                <c:pt idx="27">
                  <c:v>离店后的回访表现</c:v>
                </c:pt>
              </c:strCache>
            </c:strRef>
          </c:cat>
          <c:val>
            <c:numRef>
              <c:f>Sheet1!$D$2:$D$29</c:f>
              <c:numCache>
                <c:formatCode>0</c:formatCode>
                <c:ptCount val="28"/>
                <c:pt idx="0">
                  <c:v>8.46428571428571</c:v>
                </c:pt>
                <c:pt idx="1">
                  <c:v>8.84</c:v>
                </c:pt>
                <c:pt idx="2">
                  <c:v>8.5294117647058787</c:v>
                </c:pt>
                <c:pt idx="3">
                  <c:v>8.4411764705882391</c:v>
                </c:pt>
                <c:pt idx="4">
                  <c:v>8.6470588235294095</c:v>
                </c:pt>
                <c:pt idx="5">
                  <c:v>8.5882352941176503</c:v>
                </c:pt>
                <c:pt idx="6">
                  <c:v>8.8529411764705905</c:v>
                </c:pt>
                <c:pt idx="7">
                  <c:v>8.5588235294117609</c:v>
                </c:pt>
                <c:pt idx="8">
                  <c:v>8.7941176470588189</c:v>
                </c:pt>
                <c:pt idx="9">
                  <c:v>8.6470588235294095</c:v>
                </c:pt>
                <c:pt idx="10">
                  <c:v>8.4705882352941213</c:v>
                </c:pt>
                <c:pt idx="11">
                  <c:v>8.3235294117647101</c:v>
                </c:pt>
                <c:pt idx="12">
                  <c:v>8.5882352941176503</c:v>
                </c:pt>
                <c:pt idx="13">
                  <c:v>8.6176470588235308</c:v>
                </c:pt>
                <c:pt idx="14">
                  <c:v>8.7058823529411811</c:v>
                </c:pt>
                <c:pt idx="15">
                  <c:v>8.8235294117647101</c:v>
                </c:pt>
                <c:pt idx="16">
                  <c:v>8.7352941176470598</c:v>
                </c:pt>
                <c:pt idx="17">
                  <c:v>8.7647058823529402</c:v>
                </c:pt>
                <c:pt idx="18">
                  <c:v>8.7352941176470598</c:v>
                </c:pt>
                <c:pt idx="19">
                  <c:v>8.5588235294117609</c:v>
                </c:pt>
                <c:pt idx="20">
                  <c:v>8.6764705882352899</c:v>
                </c:pt>
                <c:pt idx="21">
                  <c:v>8.5294117647058787</c:v>
                </c:pt>
                <c:pt idx="22">
                  <c:v>8.6764705882352899</c:v>
                </c:pt>
                <c:pt idx="23">
                  <c:v>8.5</c:v>
                </c:pt>
                <c:pt idx="24">
                  <c:v>8.5882352941176503</c:v>
                </c:pt>
                <c:pt idx="25">
                  <c:v>8.7647058823529402</c:v>
                </c:pt>
                <c:pt idx="26">
                  <c:v>8.6470588235294095</c:v>
                </c:pt>
                <c:pt idx="27">
                  <c:v>8.4117647058823497</c:v>
                </c:pt>
              </c:numCache>
            </c:numRef>
          </c:val>
          <c:smooth val="0"/>
          <c:extLst>
            <c:ext xmlns:c16="http://schemas.microsoft.com/office/drawing/2014/chart" uri="{C3380CC4-5D6E-409C-BE32-E72D297353CC}">
              <c16:uniqueId val="{00000002-25F0-451B-B3F1-6F59F0407506}"/>
            </c:ext>
          </c:extLst>
        </c:ser>
        <c:ser>
          <c:idx val="3"/>
          <c:order val="3"/>
          <c:tx>
            <c:strRef>
              <c:f>Sheet1!$E$1</c:f>
              <c:strCache>
                <c:ptCount val="1"/>
                <c:pt idx="0">
                  <c:v>问界</c:v>
                </c:pt>
              </c:strCache>
            </c:strRef>
          </c:tx>
          <c:spPr>
            <a:ln w="28575" cap="rnd">
              <a:solidFill>
                <a:srgbClr val="00B0F0"/>
              </a:solidFill>
              <a:round/>
            </a:ln>
            <a:effectLst/>
          </c:spPr>
          <c:marker>
            <c:symbol val="none"/>
          </c:marker>
          <c:cat>
            <c:strRef>
              <c:f>Sheet1!$A$2:$A$29</c:f>
              <c:strCache>
                <c:ptCount val="28"/>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产品报价和下定政策介绍清晰程度</c:v>
                </c:pt>
                <c:pt idx="22">
                  <c:v>销售顾问对车主权益和服务的介绍清晰程度</c:v>
                </c:pt>
                <c:pt idx="23">
                  <c:v>金融服务体验满意度</c:v>
                </c:pt>
                <c:pt idx="24">
                  <c:v>保险服务的介绍及协助办理过程中的体验满意度</c:v>
                </c:pt>
                <c:pt idx="25">
                  <c:v>付款过程体验</c:v>
                </c:pt>
                <c:pt idx="26">
                  <c:v>离店送别服务表现</c:v>
                </c:pt>
                <c:pt idx="27">
                  <c:v>离店后的回访表现</c:v>
                </c:pt>
              </c:strCache>
            </c:strRef>
          </c:cat>
          <c:val>
            <c:numRef>
              <c:f>Sheet1!$E$2:$E$29</c:f>
              <c:numCache>
                <c:formatCode>0</c:formatCode>
                <c:ptCount val="28"/>
                <c:pt idx="0">
                  <c:v>8.4482758620689697</c:v>
                </c:pt>
                <c:pt idx="1">
                  <c:v>8.75</c:v>
                </c:pt>
                <c:pt idx="2">
                  <c:v>8.5428571428571392</c:v>
                </c:pt>
                <c:pt idx="3">
                  <c:v>8.4285714285714306</c:v>
                </c:pt>
                <c:pt idx="4">
                  <c:v>8.4571428571428608</c:v>
                </c:pt>
                <c:pt idx="5">
                  <c:v>8.4</c:v>
                </c:pt>
                <c:pt idx="6">
                  <c:v>8.9714285714285698</c:v>
                </c:pt>
                <c:pt idx="7">
                  <c:v>8.71428571428571</c:v>
                </c:pt>
                <c:pt idx="8">
                  <c:v>8.7714285714285705</c:v>
                </c:pt>
                <c:pt idx="9">
                  <c:v>8.71428571428571</c:v>
                </c:pt>
                <c:pt idx="10">
                  <c:v>8.6285714285714299</c:v>
                </c:pt>
                <c:pt idx="11">
                  <c:v>8.6285714285714299</c:v>
                </c:pt>
                <c:pt idx="12">
                  <c:v>8.8000000000000007</c:v>
                </c:pt>
                <c:pt idx="13">
                  <c:v>8.6</c:v>
                </c:pt>
                <c:pt idx="14">
                  <c:v>8.7714285714285705</c:v>
                </c:pt>
                <c:pt idx="15">
                  <c:v>8.6285714285714299</c:v>
                </c:pt>
                <c:pt idx="16">
                  <c:v>8.5714285714285694</c:v>
                </c:pt>
                <c:pt idx="17">
                  <c:v>8.7714285714285705</c:v>
                </c:pt>
                <c:pt idx="18">
                  <c:v>8.4857142857142893</c:v>
                </c:pt>
                <c:pt idx="19">
                  <c:v>8.6857142857142904</c:v>
                </c:pt>
                <c:pt idx="20">
                  <c:v>8.5714285714285694</c:v>
                </c:pt>
                <c:pt idx="21">
                  <c:v>8.5714285714285694</c:v>
                </c:pt>
                <c:pt idx="22">
                  <c:v>8.5142857142857107</c:v>
                </c:pt>
                <c:pt idx="23">
                  <c:v>8.2727272727272698</c:v>
                </c:pt>
                <c:pt idx="24">
                  <c:v>8.3428571428571399</c:v>
                </c:pt>
                <c:pt idx="25">
                  <c:v>8.8000000000000007</c:v>
                </c:pt>
                <c:pt idx="26">
                  <c:v>8.7428571428571402</c:v>
                </c:pt>
                <c:pt idx="27">
                  <c:v>8.4285714285714306</c:v>
                </c:pt>
              </c:numCache>
            </c:numRef>
          </c:val>
          <c:smooth val="0"/>
          <c:extLst>
            <c:ext xmlns:c16="http://schemas.microsoft.com/office/drawing/2014/chart" uri="{C3380CC4-5D6E-409C-BE32-E72D297353CC}">
              <c16:uniqueId val="{00000003-25F0-451B-B3F1-6F59F0407506}"/>
            </c:ext>
          </c:extLst>
        </c:ser>
        <c:ser>
          <c:idx val="4"/>
          <c:order val="4"/>
          <c:tx>
            <c:strRef>
              <c:f>Sheet1!$F$1</c:f>
              <c:strCache>
                <c:ptCount val="1"/>
                <c:pt idx="0">
                  <c:v>理想</c:v>
                </c:pt>
              </c:strCache>
            </c:strRef>
          </c:tx>
          <c:spPr>
            <a:ln w="28575" cap="rnd">
              <a:solidFill>
                <a:srgbClr val="92D050"/>
              </a:solidFill>
              <a:round/>
            </a:ln>
            <a:effectLst/>
          </c:spPr>
          <c:marker>
            <c:symbol val="none"/>
          </c:marker>
          <c:cat>
            <c:strRef>
              <c:f>Sheet1!$A$2:$A$29</c:f>
              <c:strCache>
                <c:ptCount val="28"/>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产品报价和下定政策介绍清晰程度</c:v>
                </c:pt>
                <c:pt idx="22">
                  <c:v>销售顾问对车主权益和服务的介绍清晰程度</c:v>
                </c:pt>
                <c:pt idx="23">
                  <c:v>金融服务体验满意度</c:v>
                </c:pt>
                <c:pt idx="24">
                  <c:v>保险服务的介绍及协助办理过程中的体验满意度</c:v>
                </c:pt>
                <c:pt idx="25">
                  <c:v>付款过程体验</c:v>
                </c:pt>
                <c:pt idx="26">
                  <c:v>离店送别服务表现</c:v>
                </c:pt>
                <c:pt idx="27">
                  <c:v>离店后的回访表现</c:v>
                </c:pt>
              </c:strCache>
            </c:strRef>
          </c:cat>
          <c:val>
            <c:numRef>
              <c:f>Sheet1!$F$2:$F$29</c:f>
              <c:numCache>
                <c:formatCode>0</c:formatCode>
                <c:ptCount val="28"/>
                <c:pt idx="0">
                  <c:v>8.3666666666666689</c:v>
                </c:pt>
                <c:pt idx="1">
                  <c:v>8.5769230769230802</c:v>
                </c:pt>
                <c:pt idx="2">
                  <c:v>8.5294117647058787</c:v>
                </c:pt>
                <c:pt idx="3">
                  <c:v>8.4705882352941213</c:v>
                </c:pt>
                <c:pt idx="4">
                  <c:v>8.6176470588235308</c:v>
                </c:pt>
                <c:pt idx="5">
                  <c:v>8.3823529411764692</c:v>
                </c:pt>
                <c:pt idx="6">
                  <c:v>8.8235294117647101</c:v>
                </c:pt>
                <c:pt idx="7">
                  <c:v>8.5588235294117609</c:v>
                </c:pt>
                <c:pt idx="8">
                  <c:v>8.6176470588235308</c:v>
                </c:pt>
                <c:pt idx="9">
                  <c:v>8.4705882352941213</c:v>
                </c:pt>
                <c:pt idx="10">
                  <c:v>8.6470588235294095</c:v>
                </c:pt>
                <c:pt idx="11">
                  <c:v>8.3235294117647101</c:v>
                </c:pt>
                <c:pt idx="12">
                  <c:v>8.5294117647058787</c:v>
                </c:pt>
                <c:pt idx="13">
                  <c:v>8.5882352941176503</c:v>
                </c:pt>
                <c:pt idx="14">
                  <c:v>8.5882352941176503</c:v>
                </c:pt>
                <c:pt idx="15">
                  <c:v>8.3823529411764692</c:v>
                </c:pt>
                <c:pt idx="16">
                  <c:v>8.5</c:v>
                </c:pt>
                <c:pt idx="17">
                  <c:v>8.5294117647058787</c:v>
                </c:pt>
                <c:pt idx="18">
                  <c:v>8.4411764705882391</c:v>
                </c:pt>
                <c:pt idx="19">
                  <c:v>8.6764705882352899</c:v>
                </c:pt>
                <c:pt idx="20">
                  <c:v>8.6470588235294095</c:v>
                </c:pt>
                <c:pt idx="21">
                  <c:v>8.5588235294117609</c:v>
                </c:pt>
                <c:pt idx="22">
                  <c:v>8.4117647058823497</c:v>
                </c:pt>
                <c:pt idx="23">
                  <c:v>8.71428571428571</c:v>
                </c:pt>
                <c:pt idx="24">
                  <c:v>8.5588235294117609</c:v>
                </c:pt>
                <c:pt idx="25">
                  <c:v>8.7352941176470598</c:v>
                </c:pt>
                <c:pt idx="26">
                  <c:v>8.7941176470588189</c:v>
                </c:pt>
                <c:pt idx="27">
                  <c:v>8.7352941176470598</c:v>
                </c:pt>
              </c:numCache>
            </c:numRef>
          </c:val>
          <c:smooth val="0"/>
          <c:extLst>
            <c:ext xmlns:c16="http://schemas.microsoft.com/office/drawing/2014/chart" uri="{C3380CC4-5D6E-409C-BE32-E72D297353CC}">
              <c16:uniqueId val="{00000004-25F0-451B-B3F1-6F59F0407506}"/>
            </c:ext>
          </c:extLst>
        </c:ser>
        <c:ser>
          <c:idx val="5"/>
          <c:order val="5"/>
          <c:tx>
            <c:strRef>
              <c:f>Sheet1!$G$1</c:f>
              <c:strCache>
                <c:ptCount val="1"/>
                <c:pt idx="0">
                  <c:v>小鹏</c:v>
                </c:pt>
              </c:strCache>
            </c:strRef>
          </c:tx>
          <c:spPr>
            <a:ln w="28575" cap="rnd">
              <a:solidFill>
                <a:srgbClr val="FFC000"/>
              </a:solidFill>
              <a:round/>
            </a:ln>
            <a:effectLst/>
          </c:spPr>
          <c:marker>
            <c:symbol val="none"/>
          </c:marker>
          <c:cat>
            <c:strRef>
              <c:f>Sheet1!$A$2:$A$29</c:f>
              <c:strCache>
                <c:ptCount val="28"/>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产品报价和下定政策介绍清晰程度</c:v>
                </c:pt>
                <c:pt idx="22">
                  <c:v>销售顾问对车主权益和服务的介绍清晰程度</c:v>
                </c:pt>
                <c:pt idx="23">
                  <c:v>金融服务体验满意度</c:v>
                </c:pt>
                <c:pt idx="24">
                  <c:v>保险服务的介绍及协助办理过程中的体验满意度</c:v>
                </c:pt>
                <c:pt idx="25">
                  <c:v>付款过程体验</c:v>
                </c:pt>
                <c:pt idx="26">
                  <c:v>离店送别服务表现</c:v>
                </c:pt>
                <c:pt idx="27">
                  <c:v>离店后的回访表现</c:v>
                </c:pt>
              </c:strCache>
            </c:strRef>
          </c:cat>
          <c:val>
            <c:numRef>
              <c:f>Sheet1!$G$2:$G$29</c:f>
              <c:numCache>
                <c:formatCode>0</c:formatCode>
                <c:ptCount val="28"/>
                <c:pt idx="0">
                  <c:v>8.5</c:v>
                </c:pt>
                <c:pt idx="1">
                  <c:v>8.5769230769230802</c:v>
                </c:pt>
                <c:pt idx="2">
                  <c:v>8.7714285714285705</c:v>
                </c:pt>
                <c:pt idx="3">
                  <c:v>8.5428571428571392</c:v>
                </c:pt>
                <c:pt idx="4">
                  <c:v>8.3714285714285701</c:v>
                </c:pt>
                <c:pt idx="5">
                  <c:v>8.3714285714285701</c:v>
                </c:pt>
                <c:pt idx="6">
                  <c:v>8.6857142857142904</c:v>
                </c:pt>
                <c:pt idx="7">
                  <c:v>8.4</c:v>
                </c:pt>
                <c:pt idx="8">
                  <c:v>8.6857142857142904</c:v>
                </c:pt>
                <c:pt idx="9">
                  <c:v>8.71428571428571</c:v>
                </c:pt>
                <c:pt idx="10">
                  <c:v>8.5428571428571392</c:v>
                </c:pt>
                <c:pt idx="11">
                  <c:v>8.2571428571428598</c:v>
                </c:pt>
                <c:pt idx="12">
                  <c:v>8.6571428571428601</c:v>
                </c:pt>
                <c:pt idx="13">
                  <c:v>8.4</c:v>
                </c:pt>
                <c:pt idx="14">
                  <c:v>8.6857142857142904</c:v>
                </c:pt>
                <c:pt idx="15">
                  <c:v>8.3142857142857096</c:v>
                </c:pt>
                <c:pt idx="16">
                  <c:v>8.4571428571428608</c:v>
                </c:pt>
                <c:pt idx="17">
                  <c:v>8.7714285714285705</c:v>
                </c:pt>
                <c:pt idx="18">
                  <c:v>8.4</c:v>
                </c:pt>
                <c:pt idx="19">
                  <c:v>8.5428571428571392</c:v>
                </c:pt>
                <c:pt idx="20">
                  <c:v>8.4857142857142893</c:v>
                </c:pt>
                <c:pt idx="21">
                  <c:v>8.4285714285714306</c:v>
                </c:pt>
                <c:pt idx="22">
                  <c:v>8.4571428571428608</c:v>
                </c:pt>
                <c:pt idx="23">
                  <c:v>8.6666666666666696</c:v>
                </c:pt>
                <c:pt idx="24">
                  <c:v>8.5142857142857107</c:v>
                </c:pt>
                <c:pt idx="25">
                  <c:v>8.71428571428571</c:v>
                </c:pt>
                <c:pt idx="26">
                  <c:v>8.5714285714285694</c:v>
                </c:pt>
                <c:pt idx="27">
                  <c:v>8.4571428571428608</c:v>
                </c:pt>
              </c:numCache>
            </c:numRef>
          </c:val>
          <c:smooth val="0"/>
          <c:extLst>
            <c:ext xmlns:c16="http://schemas.microsoft.com/office/drawing/2014/chart" uri="{C3380CC4-5D6E-409C-BE32-E72D297353CC}">
              <c16:uniqueId val="{00000005-25F0-451B-B3F1-6F59F0407506}"/>
            </c:ext>
          </c:extLst>
        </c:ser>
        <c:ser>
          <c:idx val="6"/>
          <c:order val="6"/>
          <c:tx>
            <c:strRef>
              <c:f>Sheet1!$H$1</c:f>
              <c:strCache>
                <c:ptCount val="1"/>
                <c:pt idx="0">
                  <c:v>特斯拉</c:v>
                </c:pt>
              </c:strCache>
            </c:strRef>
          </c:tx>
          <c:spPr>
            <a:ln w="28575" cap="rnd">
              <a:solidFill>
                <a:srgbClr val="C00000"/>
              </a:solidFill>
              <a:round/>
            </a:ln>
            <a:effectLst/>
          </c:spPr>
          <c:marker>
            <c:symbol val="none"/>
          </c:marker>
          <c:cat>
            <c:strRef>
              <c:f>Sheet1!$A$2:$A$29</c:f>
              <c:strCache>
                <c:ptCount val="28"/>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产品报价和下定政策介绍清晰程度</c:v>
                </c:pt>
                <c:pt idx="22">
                  <c:v>销售顾问对车主权益和服务的介绍清晰程度</c:v>
                </c:pt>
                <c:pt idx="23">
                  <c:v>金融服务体验满意度</c:v>
                </c:pt>
                <c:pt idx="24">
                  <c:v>保险服务的介绍及协助办理过程中的体验满意度</c:v>
                </c:pt>
                <c:pt idx="25">
                  <c:v>付款过程体验</c:v>
                </c:pt>
                <c:pt idx="26">
                  <c:v>离店送别服务表现</c:v>
                </c:pt>
                <c:pt idx="27">
                  <c:v>离店后的回访表现</c:v>
                </c:pt>
              </c:strCache>
            </c:strRef>
          </c:cat>
          <c:val>
            <c:numRef>
              <c:f>Sheet1!$H$2:$H$29</c:f>
              <c:numCache>
                <c:formatCode>0</c:formatCode>
                <c:ptCount val="28"/>
                <c:pt idx="0">
                  <c:v>8.0714285714285694</c:v>
                </c:pt>
                <c:pt idx="1">
                  <c:v>8.3000000000000007</c:v>
                </c:pt>
                <c:pt idx="2">
                  <c:v>8.4285714285714306</c:v>
                </c:pt>
                <c:pt idx="3">
                  <c:v>8.4571428571428608</c:v>
                </c:pt>
                <c:pt idx="4">
                  <c:v>8.3142857142857096</c:v>
                </c:pt>
                <c:pt idx="5">
                  <c:v>8.4285714285714306</c:v>
                </c:pt>
                <c:pt idx="6">
                  <c:v>8.4</c:v>
                </c:pt>
                <c:pt idx="7">
                  <c:v>8.3142857142857096</c:v>
                </c:pt>
                <c:pt idx="8">
                  <c:v>8.6285714285714299</c:v>
                </c:pt>
                <c:pt idx="9">
                  <c:v>8.5142857142857107</c:v>
                </c:pt>
                <c:pt idx="10">
                  <c:v>8.2285714285714295</c:v>
                </c:pt>
                <c:pt idx="11">
                  <c:v>8.1142857142857103</c:v>
                </c:pt>
                <c:pt idx="12">
                  <c:v>8.2285714285714295</c:v>
                </c:pt>
                <c:pt idx="13">
                  <c:v>8.5714285714285694</c:v>
                </c:pt>
                <c:pt idx="14">
                  <c:v>8.3142857142857096</c:v>
                </c:pt>
                <c:pt idx="15">
                  <c:v>8.0857142857142907</c:v>
                </c:pt>
                <c:pt idx="16">
                  <c:v>8.0857142857142907</c:v>
                </c:pt>
                <c:pt idx="17">
                  <c:v>8.4</c:v>
                </c:pt>
                <c:pt idx="18">
                  <c:v>8.1142857142857103</c:v>
                </c:pt>
                <c:pt idx="19">
                  <c:v>8.3428571428571399</c:v>
                </c:pt>
                <c:pt idx="20">
                  <c:v>8.1428571428571406</c:v>
                </c:pt>
                <c:pt idx="21">
                  <c:v>8.1142857142857103</c:v>
                </c:pt>
                <c:pt idx="22">
                  <c:v>8.1142857142857103</c:v>
                </c:pt>
                <c:pt idx="23">
                  <c:v>8.75</c:v>
                </c:pt>
                <c:pt idx="24">
                  <c:v>8.3428571428571399</c:v>
                </c:pt>
                <c:pt idx="25">
                  <c:v>8.4285714285714306</c:v>
                </c:pt>
                <c:pt idx="26">
                  <c:v>8.2285714285714295</c:v>
                </c:pt>
                <c:pt idx="27">
                  <c:v>8.3428571428571399</c:v>
                </c:pt>
              </c:numCache>
            </c:numRef>
          </c:val>
          <c:smooth val="0"/>
          <c:extLst>
            <c:ext xmlns:c16="http://schemas.microsoft.com/office/drawing/2014/chart" uri="{C3380CC4-5D6E-409C-BE32-E72D297353CC}">
              <c16:uniqueId val="{00000006-25F0-451B-B3F1-6F59F0407506}"/>
            </c:ext>
          </c:extLst>
        </c:ser>
        <c:ser>
          <c:idx val="7"/>
          <c:order val="7"/>
          <c:tx>
            <c:strRef>
              <c:f>Sheet1!$I$1</c:f>
              <c:strCache>
                <c:ptCount val="1"/>
                <c:pt idx="0">
                  <c:v>智己</c:v>
                </c:pt>
              </c:strCache>
            </c:strRef>
          </c:tx>
          <c:spPr>
            <a:ln w="28575" cap="rnd">
              <a:solidFill>
                <a:schemeClr val="bg1">
                  <a:lumMod val="50000"/>
                </a:schemeClr>
              </a:solidFill>
              <a:round/>
            </a:ln>
            <a:effectLst/>
          </c:spPr>
          <c:marker>
            <c:symbol val="none"/>
          </c:marker>
          <c:cat>
            <c:strRef>
              <c:f>Sheet1!$A$2:$A$29</c:f>
              <c:strCache>
                <c:ptCount val="28"/>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产品报价和下定政策介绍清晰程度</c:v>
                </c:pt>
                <c:pt idx="22">
                  <c:v>销售顾问对车主权益和服务的介绍清晰程度</c:v>
                </c:pt>
                <c:pt idx="23">
                  <c:v>金融服务体验满意度</c:v>
                </c:pt>
                <c:pt idx="24">
                  <c:v>保险服务的介绍及协助办理过程中的体验满意度</c:v>
                </c:pt>
                <c:pt idx="25">
                  <c:v>付款过程体验</c:v>
                </c:pt>
                <c:pt idx="26">
                  <c:v>离店送别服务表现</c:v>
                </c:pt>
                <c:pt idx="27">
                  <c:v>离店后的回访表现</c:v>
                </c:pt>
              </c:strCache>
            </c:strRef>
          </c:cat>
          <c:val>
            <c:numRef>
              <c:f>Sheet1!$I$2:$I$29</c:f>
              <c:numCache>
                <c:formatCode>0</c:formatCode>
                <c:ptCount val="28"/>
                <c:pt idx="0">
                  <c:v>8.4</c:v>
                </c:pt>
                <c:pt idx="1">
                  <c:v>9</c:v>
                </c:pt>
                <c:pt idx="2">
                  <c:v>8.3888888888888911</c:v>
                </c:pt>
                <c:pt idx="3">
                  <c:v>8.3888888888888911</c:v>
                </c:pt>
                <c:pt idx="4">
                  <c:v>8.3333333333333304</c:v>
                </c:pt>
                <c:pt idx="5">
                  <c:v>8.5</c:v>
                </c:pt>
                <c:pt idx="6">
                  <c:v>8.8888888888888911</c:v>
                </c:pt>
                <c:pt idx="7">
                  <c:v>8.6666666666666696</c:v>
                </c:pt>
                <c:pt idx="8">
                  <c:v>8.5</c:v>
                </c:pt>
                <c:pt idx="9">
                  <c:v>8.6666666666666696</c:v>
                </c:pt>
                <c:pt idx="10">
                  <c:v>8.3333333333333304</c:v>
                </c:pt>
                <c:pt idx="11">
                  <c:v>8.1111111111111089</c:v>
                </c:pt>
                <c:pt idx="12">
                  <c:v>8.5555555555555607</c:v>
                </c:pt>
                <c:pt idx="13">
                  <c:v>8.5555555555555607</c:v>
                </c:pt>
                <c:pt idx="14">
                  <c:v>8.5555555555555607</c:v>
                </c:pt>
                <c:pt idx="15">
                  <c:v>8.5555555555555607</c:v>
                </c:pt>
                <c:pt idx="16">
                  <c:v>8.5555555555555607</c:v>
                </c:pt>
                <c:pt idx="17">
                  <c:v>8.6111111111111089</c:v>
                </c:pt>
                <c:pt idx="18">
                  <c:v>8.4444444444444393</c:v>
                </c:pt>
                <c:pt idx="19">
                  <c:v>8.3888888888888911</c:v>
                </c:pt>
                <c:pt idx="20">
                  <c:v>8.7222222222222197</c:v>
                </c:pt>
                <c:pt idx="21">
                  <c:v>8.6111111111111089</c:v>
                </c:pt>
                <c:pt idx="22">
                  <c:v>8.5555555555555607</c:v>
                </c:pt>
                <c:pt idx="23">
                  <c:v>8.125</c:v>
                </c:pt>
                <c:pt idx="24">
                  <c:v>8.5</c:v>
                </c:pt>
                <c:pt idx="25">
                  <c:v>8.5</c:v>
                </c:pt>
                <c:pt idx="26">
                  <c:v>8.8333333333333304</c:v>
                </c:pt>
                <c:pt idx="27">
                  <c:v>8.6666666666666696</c:v>
                </c:pt>
              </c:numCache>
            </c:numRef>
          </c:val>
          <c:smooth val="0"/>
          <c:extLst>
            <c:ext xmlns:c16="http://schemas.microsoft.com/office/drawing/2014/chart" uri="{C3380CC4-5D6E-409C-BE32-E72D297353CC}">
              <c16:uniqueId val="{00000007-25F0-451B-B3F1-6F59F0407506}"/>
            </c:ext>
          </c:extLst>
        </c:ser>
        <c:dLbls>
          <c:showLegendKey val="0"/>
          <c:showVal val="0"/>
          <c:showCatName val="0"/>
          <c:showSerName val="0"/>
          <c:showPercent val="0"/>
          <c:showBubbleSize val="0"/>
        </c:dLbls>
        <c:smooth val="0"/>
        <c:axId val="405449200"/>
        <c:axId val="429461056"/>
      </c:lineChart>
      <c:catAx>
        <c:axId val="405449200"/>
        <c:scaling>
          <c:orientation val="minMax"/>
        </c:scaling>
        <c:delete val="1"/>
        <c:axPos val="b"/>
        <c:numFmt formatCode="General" sourceLinked="1"/>
        <c:majorTickMark val="out"/>
        <c:minorTickMark val="none"/>
        <c:tickLblPos val="nextTo"/>
        <c:crossAx val="429461056"/>
        <c:crosses val="autoZero"/>
        <c:auto val="1"/>
        <c:lblAlgn val="ctr"/>
        <c:lblOffset val="100"/>
        <c:noMultiLvlLbl val="0"/>
      </c:catAx>
      <c:valAx>
        <c:axId val="429461056"/>
        <c:scaling>
          <c:orientation val="minMax"/>
          <c:min val="7"/>
        </c:scaling>
        <c:delete val="1"/>
        <c:axPos val="l"/>
        <c:numFmt formatCode="0" sourceLinked="1"/>
        <c:majorTickMark val="out"/>
        <c:minorTickMark val="none"/>
        <c:tickLblPos val="nextTo"/>
        <c:crossAx val="40544920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11520850227937E-2"/>
          <c:y val="0.21555618629970932"/>
          <c:w val="0.98884791497720603"/>
          <c:h val="0.64206802161065168"/>
        </c:manualLayout>
      </c:layout>
      <c:barChart>
        <c:barDir val="col"/>
        <c:grouping val="clustered"/>
        <c:varyColors val="0"/>
        <c:ser>
          <c:idx val="0"/>
          <c:order val="0"/>
          <c:tx>
            <c:strRef>
              <c:f>Sheet1!$B$1</c:f>
              <c:strCache>
                <c:ptCount val="1"/>
                <c:pt idx="0">
                  <c:v>本品对阿维塔服务满意度</c:v>
                </c:pt>
              </c:strCache>
            </c:strRef>
          </c:tx>
          <c:spPr>
            <a:solidFill>
              <a:srgbClr val="4B8D56"/>
            </a:solidFill>
            <a:ln>
              <a:noFill/>
            </a:ln>
            <a:effectLst/>
          </c:spPr>
          <c:invertIfNegative val="0"/>
          <c:dPt>
            <c:idx val="0"/>
            <c:invertIfNegative val="0"/>
            <c:bubble3D val="0"/>
            <c:spPr>
              <a:solidFill>
                <a:srgbClr val="4B8D56"/>
              </a:solidFill>
              <a:ln>
                <a:noFill/>
              </a:ln>
              <a:effectLst/>
            </c:spPr>
            <c:extLst>
              <c:ext xmlns:c16="http://schemas.microsoft.com/office/drawing/2014/chart" uri="{C3380CC4-5D6E-409C-BE32-E72D297353CC}">
                <c16:uniqueId val="{00000001-915F-415B-9B67-60239ABEFFE1}"/>
              </c:ext>
            </c:extLst>
          </c:dPt>
          <c:dLbls>
            <c:numFmt formatCode="#,##0_);[Red]\(#,##0\)" sourceLinked="0"/>
            <c:spPr>
              <a:noFill/>
              <a:ln>
                <a:noFill/>
              </a:ln>
              <a:effectLst/>
            </c:spPr>
            <c:txPr>
              <a:bodyPr rot="0" spcFirstLastPara="1" vertOverflow="ellipsis" vert="horz" wrap="square" lIns="38100" tIns="19050" rIns="38100" bIns="19050" anchor="ctr" anchorCtr="0">
                <a:spAutoFit/>
              </a:bodyPr>
              <a:lstStyle/>
              <a:p>
                <a:pPr algn="ctr">
                  <a:defRPr lang="en-US" altLang="zh-CN" sz="1000" b="0" i="0" u="none" strike="noStrike" kern="1200" baseline="0">
                    <a:solidFill>
                      <a:schemeClr val="tx1">
                        <a:lumMod val="75000"/>
                        <a:lumOff val="25000"/>
                      </a:schemeClr>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总体</c:v>
                </c:pt>
                <c:pt idx="1">
                  <c:v>理想</c:v>
                </c:pt>
                <c:pt idx="2">
                  <c:v>蔚来</c:v>
                </c:pt>
                <c:pt idx="3">
                  <c:v>问界</c:v>
                </c:pt>
                <c:pt idx="4">
                  <c:v>小鹏</c:v>
                </c:pt>
                <c:pt idx="5">
                  <c:v>极氪</c:v>
                </c:pt>
                <c:pt idx="6">
                  <c:v>特斯拉</c:v>
                </c:pt>
                <c:pt idx="7">
                  <c:v>智己</c:v>
                </c:pt>
              </c:strCache>
            </c:strRef>
          </c:cat>
          <c:val>
            <c:numRef>
              <c:f>Sheet1!$B$2:$B$9</c:f>
              <c:numCache>
                <c:formatCode>General</c:formatCode>
                <c:ptCount val="8"/>
                <c:pt idx="0" formatCode="0">
                  <c:v>868.97544573302798</c:v>
                </c:pt>
                <c:pt idx="1">
                  <c:v>884.74872862186203</c:v>
                </c:pt>
                <c:pt idx="2">
                  <c:v>870.071404517715</c:v>
                </c:pt>
                <c:pt idx="3">
                  <c:v>880.23733453017201</c:v>
                </c:pt>
                <c:pt idx="4">
                  <c:v>841.603304768469</c:v>
                </c:pt>
                <c:pt idx="5">
                  <c:v>857.851728193913</c:v>
                </c:pt>
                <c:pt idx="6">
                  <c:v>876.51883539168</c:v>
                </c:pt>
                <c:pt idx="7">
                  <c:v>878.16847511773801</c:v>
                </c:pt>
              </c:numCache>
            </c:numRef>
          </c:val>
          <c:extLst>
            <c:ext xmlns:c16="http://schemas.microsoft.com/office/drawing/2014/chart" uri="{C3380CC4-5D6E-409C-BE32-E72D297353CC}">
              <c16:uniqueId val="{00000002-915F-415B-9B67-60239ABEFFE1}"/>
            </c:ext>
          </c:extLst>
        </c:ser>
        <c:ser>
          <c:idx val="1"/>
          <c:order val="1"/>
          <c:tx>
            <c:strRef>
              <c:f>Sheet1!$C$1</c:f>
              <c:strCache>
                <c:ptCount val="1"/>
                <c:pt idx="0">
                  <c:v>本品对竞品服务满意度</c:v>
                </c:pt>
              </c:strCache>
            </c:strRef>
          </c:tx>
          <c:spPr>
            <a:solidFill>
              <a:schemeClr val="accent2"/>
            </a:solidFill>
            <a:ln>
              <a:noFill/>
            </a:ln>
            <a:effectLst/>
          </c:spPr>
          <c:invertIfNegative val="0"/>
          <c:dLbls>
            <c:numFmt formatCode="#,##0_);[Red]\(#,##0\)" sourceLinked="0"/>
            <c:spPr>
              <a:noFill/>
              <a:ln>
                <a:noFill/>
              </a:ln>
              <a:effectLst/>
            </c:spPr>
            <c:txPr>
              <a:bodyPr rot="0" spcFirstLastPara="1" vertOverflow="ellipsis" vert="horz" wrap="square" lIns="38100" tIns="19050" rIns="38100" bIns="19050" anchor="ctr" anchorCtr="1">
                <a:spAutoFit/>
              </a:bodyPr>
              <a:lstStyle/>
              <a:p>
                <a:pPr>
                  <a:defRPr lang="zh-CN" sz="1000" b="0" i="0" u="none" strike="noStrike" kern="1200" baseline="0">
                    <a:solidFill>
                      <a:schemeClr val="tx1">
                        <a:lumMod val="75000"/>
                        <a:lumOff val="25000"/>
                      </a:schemeClr>
                    </a:solidFill>
                    <a:latin typeface="+mn-ea"/>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总体</c:v>
                </c:pt>
                <c:pt idx="1">
                  <c:v>理想</c:v>
                </c:pt>
                <c:pt idx="2">
                  <c:v>蔚来</c:v>
                </c:pt>
                <c:pt idx="3">
                  <c:v>问界</c:v>
                </c:pt>
                <c:pt idx="4">
                  <c:v>小鹏</c:v>
                </c:pt>
                <c:pt idx="5">
                  <c:v>极氪</c:v>
                </c:pt>
                <c:pt idx="6">
                  <c:v>特斯拉</c:v>
                </c:pt>
                <c:pt idx="7">
                  <c:v>智己</c:v>
                </c:pt>
              </c:strCache>
            </c:strRef>
          </c:cat>
          <c:val>
            <c:numRef>
              <c:f>Sheet1!$C$2:$C$9</c:f>
              <c:numCache>
                <c:formatCode>General</c:formatCode>
                <c:ptCount val="8"/>
                <c:pt idx="0" formatCode="0">
                  <c:v>802.19922651009995</c:v>
                </c:pt>
                <c:pt idx="1">
                  <c:v>838.05797101449298</c:v>
                </c:pt>
                <c:pt idx="2">
                  <c:v>826.91203703703695</c:v>
                </c:pt>
                <c:pt idx="3">
                  <c:v>818.05273261065895</c:v>
                </c:pt>
                <c:pt idx="4">
                  <c:v>789.283374033374</c:v>
                </c:pt>
                <c:pt idx="5">
                  <c:v>787.55038265306098</c:v>
                </c:pt>
                <c:pt idx="6">
                  <c:v>750.57558139534899</c:v>
                </c:pt>
                <c:pt idx="7">
                  <c:v>783.86458333333303</c:v>
                </c:pt>
              </c:numCache>
            </c:numRef>
          </c:val>
          <c:extLst>
            <c:ext xmlns:c16="http://schemas.microsoft.com/office/drawing/2014/chart" uri="{C3380CC4-5D6E-409C-BE32-E72D297353CC}">
              <c16:uniqueId val="{00000002-AD4B-42FB-AF5D-A6FEFFF586AF}"/>
            </c:ext>
          </c:extLst>
        </c:ser>
        <c:dLbls>
          <c:showLegendKey val="0"/>
          <c:showVal val="1"/>
          <c:showCatName val="0"/>
          <c:showSerName val="0"/>
          <c:showPercent val="0"/>
          <c:showBubbleSize val="0"/>
        </c:dLbls>
        <c:gapWidth val="219"/>
        <c:overlap val="-27"/>
        <c:axId val="152411152"/>
        <c:axId val="152399152"/>
      </c:barChart>
      <c:catAx>
        <c:axId val="152411152"/>
        <c:scaling>
          <c:orientation val="minMax"/>
        </c:scaling>
        <c:delete val="1"/>
        <c:axPos val="b"/>
        <c:numFmt formatCode="General" sourceLinked="1"/>
        <c:majorTickMark val="out"/>
        <c:minorTickMark val="none"/>
        <c:tickLblPos val="nextTo"/>
        <c:crossAx val="152399152"/>
        <c:crosses val="autoZero"/>
        <c:auto val="1"/>
        <c:lblAlgn val="ctr"/>
        <c:lblOffset val="100"/>
        <c:noMultiLvlLbl val="0"/>
      </c:catAx>
      <c:valAx>
        <c:axId val="152399152"/>
        <c:scaling>
          <c:orientation val="minMax"/>
          <c:min val="600"/>
        </c:scaling>
        <c:delete val="1"/>
        <c:axPos val="l"/>
        <c:numFmt formatCode="0" sourceLinked="1"/>
        <c:majorTickMark val="out"/>
        <c:minorTickMark val="none"/>
        <c:tickLblPos val="nextTo"/>
        <c:crossAx val="1524111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ea"/>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userShapes r:id="rId4"/>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11520850227937E-2"/>
          <c:y val="0.15332360077513685"/>
          <c:w val="0.98884791497720603"/>
          <c:h val="0.70430060713522413"/>
        </c:manualLayout>
      </c:layout>
      <c:barChart>
        <c:barDir val="col"/>
        <c:grouping val="clustered"/>
        <c:varyColors val="0"/>
        <c:ser>
          <c:idx val="0"/>
          <c:order val="0"/>
          <c:tx>
            <c:strRef>
              <c:f>Sheet1!$B$1</c:f>
              <c:strCache>
                <c:ptCount val="1"/>
                <c:pt idx="0">
                  <c:v>竞品对所购品牌服务满意度</c:v>
                </c:pt>
              </c:strCache>
            </c:strRef>
          </c:tx>
          <c:spPr>
            <a:solidFill>
              <a:schemeClr val="bg1">
                <a:lumMod val="75000"/>
              </a:schemeClr>
            </a:solidFill>
            <a:ln>
              <a:noFill/>
            </a:ln>
            <a:effectLst/>
          </c:spPr>
          <c:invertIfNegative val="0"/>
          <c:dPt>
            <c:idx val="0"/>
            <c:invertIfNegative val="0"/>
            <c:bubble3D val="0"/>
            <c:spPr>
              <a:solidFill>
                <a:schemeClr val="bg1">
                  <a:lumMod val="75000"/>
                </a:schemeClr>
              </a:solidFill>
              <a:ln>
                <a:noFill/>
              </a:ln>
              <a:effectLst/>
            </c:spPr>
            <c:extLst>
              <c:ext xmlns:c16="http://schemas.microsoft.com/office/drawing/2014/chart" uri="{C3380CC4-5D6E-409C-BE32-E72D297353CC}">
                <c16:uniqueId val="{00000001-C9F9-4A5F-A6B0-88DDB07639B5}"/>
              </c:ext>
            </c:extLst>
          </c:dPt>
          <c:dLbls>
            <c:numFmt formatCode="#,##0_);[Red]\(#,##0\)" sourceLinked="0"/>
            <c:spPr>
              <a:noFill/>
              <a:ln>
                <a:noFill/>
              </a:ln>
              <a:effectLst/>
            </c:spPr>
            <c:txPr>
              <a:bodyPr rot="0" spcFirstLastPara="1" vertOverflow="ellipsis" vert="horz" wrap="square" lIns="38100" tIns="19050" rIns="38100" bIns="19050" anchor="ctr" anchorCtr="0">
                <a:spAutoFit/>
              </a:bodyPr>
              <a:lstStyle/>
              <a:p>
                <a:pPr algn="ctr">
                  <a:defRPr lang="en-US" altLang="zh-CN" sz="1000" b="0" i="0" u="none" strike="noStrike" kern="1200" baseline="0">
                    <a:solidFill>
                      <a:schemeClr val="tx1">
                        <a:lumMod val="75000"/>
                        <a:lumOff val="25000"/>
                      </a:schemeClr>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竞品均值</c:v>
                </c:pt>
                <c:pt idx="1">
                  <c:v>理想</c:v>
                </c:pt>
                <c:pt idx="2">
                  <c:v>蔚来</c:v>
                </c:pt>
                <c:pt idx="3">
                  <c:v>问界</c:v>
                </c:pt>
                <c:pt idx="4">
                  <c:v>小鹏</c:v>
                </c:pt>
                <c:pt idx="5">
                  <c:v>极氪</c:v>
                </c:pt>
                <c:pt idx="6">
                  <c:v>特斯拉</c:v>
                </c:pt>
                <c:pt idx="7">
                  <c:v>智己</c:v>
                </c:pt>
              </c:strCache>
            </c:strRef>
          </c:cat>
          <c:val>
            <c:numRef>
              <c:f>Sheet1!$B$2:$B$9</c:f>
              <c:numCache>
                <c:formatCode>General</c:formatCode>
                <c:ptCount val="8"/>
                <c:pt idx="0" formatCode="0">
                  <c:v>854.24551951332899</c:v>
                </c:pt>
                <c:pt idx="1">
                  <c:v>855.09698840767498</c:v>
                </c:pt>
                <c:pt idx="2">
                  <c:v>870.06579967356004</c:v>
                </c:pt>
                <c:pt idx="3">
                  <c:v>859.91958855502401</c:v>
                </c:pt>
                <c:pt idx="4">
                  <c:v>851.52093613258398</c:v>
                </c:pt>
                <c:pt idx="5">
                  <c:v>861.47378106828501</c:v>
                </c:pt>
                <c:pt idx="6">
                  <c:v>828.808663447752</c:v>
                </c:pt>
                <c:pt idx="7">
                  <c:v>852.82649748209496</c:v>
                </c:pt>
              </c:numCache>
            </c:numRef>
          </c:val>
          <c:extLst>
            <c:ext xmlns:c16="http://schemas.microsoft.com/office/drawing/2014/chart" uri="{C3380CC4-5D6E-409C-BE32-E72D297353CC}">
              <c16:uniqueId val="{00000002-C9F9-4A5F-A6B0-88DDB07639B5}"/>
            </c:ext>
          </c:extLst>
        </c:ser>
        <c:ser>
          <c:idx val="1"/>
          <c:order val="1"/>
          <c:tx>
            <c:strRef>
              <c:f>Sheet1!$C$1</c:f>
              <c:strCache>
                <c:ptCount val="1"/>
                <c:pt idx="0">
                  <c:v>竞品对阿维塔服务满意度</c:v>
                </c:pt>
              </c:strCache>
            </c:strRef>
          </c:tx>
          <c:spPr>
            <a:solidFill>
              <a:srgbClr val="FF0000"/>
            </a:solidFill>
            <a:ln>
              <a:noFill/>
            </a:ln>
            <a:effectLst/>
          </c:spPr>
          <c:invertIfNegative val="0"/>
          <c:dLbls>
            <c:numFmt formatCode="#,##0_);[Red]\(#,##0\)" sourceLinked="0"/>
            <c:spPr>
              <a:noFill/>
              <a:ln>
                <a:noFill/>
              </a:ln>
              <a:effectLst/>
            </c:spPr>
            <c:txPr>
              <a:bodyPr rot="0" spcFirstLastPara="1" vertOverflow="ellipsis" vert="horz" wrap="square" lIns="38100" tIns="19050" rIns="38100" bIns="19050" anchor="ctr" anchorCtr="0">
                <a:spAutoFit/>
              </a:bodyPr>
              <a:lstStyle/>
              <a:p>
                <a:pPr algn="ctr">
                  <a:defRPr lang="en-US" altLang="zh-CN" sz="1000" b="0" i="0" u="none" strike="noStrike" kern="1200" baseline="0">
                    <a:solidFill>
                      <a:schemeClr val="tx1">
                        <a:lumMod val="75000"/>
                        <a:lumOff val="25000"/>
                      </a:schemeClr>
                    </a:solidFill>
                    <a:latin typeface="+mn-ea"/>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竞品均值</c:v>
                </c:pt>
                <c:pt idx="1">
                  <c:v>理想</c:v>
                </c:pt>
                <c:pt idx="2">
                  <c:v>蔚来</c:v>
                </c:pt>
                <c:pt idx="3">
                  <c:v>问界</c:v>
                </c:pt>
                <c:pt idx="4">
                  <c:v>小鹏</c:v>
                </c:pt>
                <c:pt idx="5">
                  <c:v>极氪</c:v>
                </c:pt>
                <c:pt idx="6">
                  <c:v>特斯拉</c:v>
                </c:pt>
                <c:pt idx="7">
                  <c:v>智己</c:v>
                </c:pt>
              </c:strCache>
            </c:strRef>
          </c:cat>
          <c:val>
            <c:numRef>
              <c:f>Sheet1!$C$2:$C$9</c:f>
              <c:numCache>
                <c:formatCode>General</c:formatCode>
                <c:ptCount val="8"/>
                <c:pt idx="0">
                  <c:v>786.74623456790096</c:v>
                </c:pt>
                <c:pt idx="1">
                  <c:v>773.88807189542501</c:v>
                </c:pt>
                <c:pt idx="2">
                  <c:v>803.850490196078</c:v>
                </c:pt>
                <c:pt idx="3">
                  <c:v>801.81547619047603</c:v>
                </c:pt>
                <c:pt idx="4">
                  <c:v>763.23333333333301</c:v>
                </c:pt>
                <c:pt idx="5">
                  <c:v>797.54779411764696</c:v>
                </c:pt>
                <c:pt idx="6">
                  <c:v>775.063095238095</c:v>
                </c:pt>
                <c:pt idx="7">
                  <c:v>797.45833333333303</c:v>
                </c:pt>
              </c:numCache>
            </c:numRef>
          </c:val>
          <c:extLst>
            <c:ext xmlns:c16="http://schemas.microsoft.com/office/drawing/2014/chart" uri="{C3380CC4-5D6E-409C-BE32-E72D297353CC}">
              <c16:uniqueId val="{00000002-3312-4C34-99DD-A5768FA8AB05}"/>
            </c:ext>
          </c:extLst>
        </c:ser>
        <c:dLbls>
          <c:showLegendKey val="0"/>
          <c:showVal val="1"/>
          <c:showCatName val="0"/>
          <c:showSerName val="0"/>
          <c:showPercent val="0"/>
          <c:showBubbleSize val="0"/>
        </c:dLbls>
        <c:gapWidth val="219"/>
        <c:overlap val="-27"/>
        <c:axId val="152411152"/>
        <c:axId val="152399152"/>
      </c:barChart>
      <c:catAx>
        <c:axId val="152411152"/>
        <c:scaling>
          <c:orientation val="minMax"/>
        </c:scaling>
        <c:delete val="1"/>
        <c:axPos val="b"/>
        <c:numFmt formatCode="General" sourceLinked="1"/>
        <c:majorTickMark val="out"/>
        <c:minorTickMark val="none"/>
        <c:tickLblPos val="nextTo"/>
        <c:crossAx val="152399152"/>
        <c:crosses val="autoZero"/>
        <c:auto val="1"/>
        <c:lblAlgn val="ctr"/>
        <c:lblOffset val="100"/>
        <c:noMultiLvlLbl val="0"/>
      </c:catAx>
      <c:valAx>
        <c:axId val="152399152"/>
        <c:scaling>
          <c:orientation val="minMax"/>
          <c:min val="600"/>
        </c:scaling>
        <c:delete val="1"/>
        <c:axPos val="l"/>
        <c:numFmt formatCode="0" sourceLinked="1"/>
        <c:majorTickMark val="out"/>
        <c:minorTickMark val="none"/>
        <c:tickLblPos val="nextTo"/>
        <c:crossAx val="1524111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ea"/>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userShapes r:id="rId4"/>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016599802018713"/>
          <c:y val="4.3219891173737202E-2"/>
          <c:w val="0.80451053335926637"/>
          <c:h val="0.81440444413094304"/>
        </c:manualLayout>
      </c:layout>
      <c:barChart>
        <c:barDir val="col"/>
        <c:grouping val="clustered"/>
        <c:varyColors val="0"/>
        <c:ser>
          <c:idx val="0"/>
          <c:order val="0"/>
          <c:tx>
            <c:strRef>
              <c:f>Sheet1!$B$1</c:f>
              <c:strCache>
                <c:ptCount val="1"/>
                <c:pt idx="0">
                  <c:v>本品对阿维塔服务满意度</c:v>
                </c:pt>
              </c:strCache>
            </c:strRef>
          </c:tx>
          <c:spPr>
            <a:solidFill>
              <a:srgbClr val="4B8D56"/>
            </a:solidFill>
            <a:ln>
              <a:noFill/>
            </a:ln>
            <a:effectLst/>
          </c:spPr>
          <c:invertIfNegative val="0"/>
          <c:dPt>
            <c:idx val="0"/>
            <c:invertIfNegative val="0"/>
            <c:bubble3D val="0"/>
            <c:spPr>
              <a:solidFill>
                <a:srgbClr val="4B8D56"/>
              </a:solidFill>
              <a:ln>
                <a:noFill/>
              </a:ln>
              <a:effectLst/>
            </c:spPr>
            <c:extLst>
              <c:ext xmlns:c16="http://schemas.microsoft.com/office/drawing/2014/chart" uri="{C3380CC4-5D6E-409C-BE32-E72D297353CC}">
                <c16:uniqueId val="{00000001-6DCB-45B4-8216-9977AB4C19D9}"/>
              </c:ext>
            </c:extLst>
          </c:dPt>
          <c:dPt>
            <c:idx val="1"/>
            <c:invertIfNegative val="0"/>
            <c:bubble3D val="0"/>
            <c:spPr>
              <a:solidFill>
                <a:srgbClr val="4B8D56"/>
              </a:solidFill>
              <a:ln>
                <a:noFill/>
              </a:ln>
              <a:effectLst/>
            </c:spPr>
            <c:extLst>
              <c:ext xmlns:c16="http://schemas.microsoft.com/office/drawing/2014/chart" uri="{C3380CC4-5D6E-409C-BE32-E72D297353CC}">
                <c16:uniqueId val="{00000004-6DCB-45B4-8216-9977AB4C19D9}"/>
              </c:ext>
            </c:extLst>
          </c:dPt>
          <c:dLbls>
            <c:numFmt formatCode="#,##0_);[Red]\(#,##0\)" sourceLinked="0"/>
            <c:spPr>
              <a:noFill/>
              <a:ln>
                <a:noFill/>
              </a:ln>
              <a:effectLst/>
            </c:spPr>
            <c:txPr>
              <a:bodyPr rot="0" spcFirstLastPara="1" vertOverflow="ellipsis" vert="horz" wrap="square" lIns="38100" tIns="19050" rIns="38100" bIns="19050" anchor="ctr" anchorCtr="0">
                <a:spAutoFit/>
              </a:bodyPr>
              <a:lstStyle/>
              <a:p>
                <a:pPr algn="ctr">
                  <a:defRPr lang="en-US" altLang="zh-CN" sz="1000" b="0" i="0" u="none" strike="noStrike" kern="1200" baseline="0">
                    <a:solidFill>
                      <a:schemeClr val="tx1">
                        <a:lumMod val="75000"/>
                        <a:lumOff val="25000"/>
                      </a:schemeClr>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 入店前沟通</c:v>
                </c:pt>
                <c:pt idx="1">
                  <c:v> 到店接待</c:v>
                </c:pt>
                <c:pt idx="2">
                  <c:v> 店内看车</c:v>
                </c:pt>
                <c:pt idx="3">
                  <c:v> 试乘试驾</c:v>
                </c:pt>
                <c:pt idx="4">
                  <c:v> 送别与回访</c:v>
                </c:pt>
              </c:strCache>
            </c:strRef>
          </c:cat>
          <c:val>
            <c:numRef>
              <c:f>Sheet1!$B$2:$B$6</c:f>
              <c:numCache>
                <c:formatCode>0</c:formatCode>
                <c:ptCount val="5"/>
                <c:pt idx="0">
                  <c:v>856.15438731981396</c:v>
                </c:pt>
                <c:pt idx="1">
                  <c:v>891.88191881918794</c:v>
                </c:pt>
                <c:pt idx="2">
                  <c:v>863.92869345157499</c:v>
                </c:pt>
                <c:pt idx="3" formatCode="General">
                  <c:v>885.29783768306197</c:v>
                </c:pt>
                <c:pt idx="4" formatCode="General">
                  <c:v>857.97567391603798</c:v>
                </c:pt>
              </c:numCache>
            </c:numRef>
          </c:val>
          <c:extLst>
            <c:ext xmlns:c16="http://schemas.microsoft.com/office/drawing/2014/chart" uri="{C3380CC4-5D6E-409C-BE32-E72D297353CC}">
              <c16:uniqueId val="{00000002-6DCB-45B4-8216-9977AB4C19D9}"/>
            </c:ext>
          </c:extLst>
        </c:ser>
        <c:ser>
          <c:idx val="1"/>
          <c:order val="1"/>
          <c:tx>
            <c:strRef>
              <c:f>Sheet1!$C$1</c:f>
              <c:strCache>
                <c:ptCount val="1"/>
                <c:pt idx="0">
                  <c:v>本品对竞品服务满意度</c:v>
                </c:pt>
              </c:strCache>
            </c:strRef>
          </c:tx>
          <c:spPr>
            <a:solidFill>
              <a:schemeClr val="accent2"/>
            </a:solidFill>
            <a:ln>
              <a:noFill/>
            </a:ln>
            <a:effectLst/>
          </c:spPr>
          <c:invertIfNegative val="0"/>
          <c:dLbls>
            <c:numFmt formatCode="#,##0_);[Red]\(#,##0\)" sourceLinked="0"/>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 入店前沟通</c:v>
                </c:pt>
                <c:pt idx="1">
                  <c:v> 到店接待</c:v>
                </c:pt>
                <c:pt idx="2">
                  <c:v> 店内看车</c:v>
                </c:pt>
                <c:pt idx="3">
                  <c:v> 试乘试驾</c:v>
                </c:pt>
                <c:pt idx="4">
                  <c:v> 送别与回访</c:v>
                </c:pt>
              </c:strCache>
            </c:strRef>
          </c:cat>
          <c:val>
            <c:numRef>
              <c:f>Sheet1!$C$2:$C$6</c:f>
              <c:numCache>
                <c:formatCode>0</c:formatCode>
                <c:ptCount val="5"/>
                <c:pt idx="0">
                  <c:v>810.27397260273995</c:v>
                </c:pt>
                <c:pt idx="1">
                  <c:v>811.85770750988104</c:v>
                </c:pt>
                <c:pt idx="2">
                  <c:v>812.56375227686704</c:v>
                </c:pt>
                <c:pt idx="3" formatCode="General">
                  <c:v>824.80848861283698</c:v>
                </c:pt>
                <c:pt idx="4" formatCode="General">
                  <c:v>793.436293436293</c:v>
                </c:pt>
              </c:numCache>
            </c:numRef>
          </c:val>
          <c:extLst>
            <c:ext xmlns:c16="http://schemas.microsoft.com/office/drawing/2014/chart" uri="{C3380CC4-5D6E-409C-BE32-E72D297353CC}">
              <c16:uniqueId val="{00000003-6DCB-45B4-8216-9977AB4C19D9}"/>
            </c:ext>
          </c:extLst>
        </c:ser>
        <c:dLbls>
          <c:showLegendKey val="0"/>
          <c:showVal val="1"/>
          <c:showCatName val="0"/>
          <c:showSerName val="0"/>
          <c:showPercent val="0"/>
          <c:showBubbleSize val="0"/>
        </c:dLbls>
        <c:gapWidth val="219"/>
        <c:overlap val="-27"/>
        <c:axId val="152411152"/>
        <c:axId val="152399152"/>
      </c:barChart>
      <c:catAx>
        <c:axId val="1524111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52399152"/>
        <c:crosses val="autoZero"/>
        <c:auto val="1"/>
        <c:lblAlgn val="ctr"/>
        <c:lblOffset val="100"/>
        <c:noMultiLvlLbl val="0"/>
      </c:catAx>
      <c:valAx>
        <c:axId val="152399152"/>
        <c:scaling>
          <c:orientation val="minMax"/>
          <c:min val="600"/>
        </c:scaling>
        <c:delete val="1"/>
        <c:axPos val="l"/>
        <c:numFmt formatCode="0" sourceLinked="1"/>
        <c:majorTickMark val="out"/>
        <c:minorTickMark val="none"/>
        <c:tickLblPos val="nextTo"/>
        <c:crossAx val="152411152"/>
        <c:crosses val="autoZero"/>
        <c:crossBetween val="between"/>
      </c:valAx>
      <c:spPr>
        <a:noFill/>
        <a:ln>
          <a:noFill/>
        </a:ln>
        <a:effectLst/>
      </c:spPr>
    </c:plotArea>
    <c:legend>
      <c:legendPos val="l"/>
      <c:layout>
        <c:manualLayout>
          <c:xMode val="edge"/>
          <c:yMode val="edge"/>
          <c:x val="0"/>
          <c:y val="0.26596684220703659"/>
          <c:w val="0.1944311594097719"/>
          <c:h val="0.60210535362319173"/>
        </c:manualLayout>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ea"/>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userShapes r:id="rId4"/>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203663481507997"/>
          <c:y val="4.3219891173737202E-2"/>
          <c:w val="0.82382507468761512"/>
          <c:h val="0.81440444413094304"/>
        </c:manualLayout>
      </c:layout>
      <c:barChart>
        <c:barDir val="col"/>
        <c:grouping val="clustered"/>
        <c:varyColors val="0"/>
        <c:ser>
          <c:idx val="0"/>
          <c:order val="0"/>
          <c:tx>
            <c:strRef>
              <c:f>Sheet1!$B$1</c:f>
              <c:strCache>
                <c:ptCount val="1"/>
                <c:pt idx="0">
                  <c:v>竞品对所购品牌服务满意度</c:v>
                </c:pt>
              </c:strCache>
            </c:strRef>
          </c:tx>
          <c:spPr>
            <a:solidFill>
              <a:schemeClr val="bg1">
                <a:lumMod val="75000"/>
              </a:schemeClr>
            </a:solidFill>
            <a:ln>
              <a:noFill/>
            </a:ln>
            <a:effectLst/>
          </c:spPr>
          <c:invertIfNegative val="0"/>
          <c:dPt>
            <c:idx val="0"/>
            <c:invertIfNegative val="0"/>
            <c:bubble3D val="0"/>
            <c:spPr>
              <a:solidFill>
                <a:schemeClr val="bg1">
                  <a:lumMod val="75000"/>
                </a:schemeClr>
              </a:solidFill>
              <a:ln>
                <a:noFill/>
              </a:ln>
              <a:effectLst/>
            </c:spPr>
            <c:extLst>
              <c:ext xmlns:c16="http://schemas.microsoft.com/office/drawing/2014/chart" uri="{C3380CC4-5D6E-409C-BE32-E72D297353CC}">
                <c16:uniqueId val="{00000001-33DF-43B0-8CB6-359214820944}"/>
              </c:ext>
            </c:extLst>
          </c:dPt>
          <c:dPt>
            <c:idx val="4"/>
            <c:invertIfNegative val="0"/>
            <c:bubble3D val="0"/>
            <c:spPr>
              <a:solidFill>
                <a:schemeClr val="bg1">
                  <a:lumMod val="75000"/>
                </a:schemeClr>
              </a:solidFill>
              <a:ln>
                <a:noFill/>
              </a:ln>
              <a:effectLst/>
            </c:spPr>
            <c:extLst>
              <c:ext xmlns:c16="http://schemas.microsoft.com/office/drawing/2014/chart" uri="{C3380CC4-5D6E-409C-BE32-E72D297353CC}">
                <c16:uniqueId val="{00000004-680A-4CF8-840D-5300B658BD98}"/>
              </c:ext>
            </c:extLst>
          </c:dPt>
          <c:dLbls>
            <c:numFmt formatCode="#,##0_);[Red]\(#,##0\)" sourceLinked="0"/>
            <c:spPr>
              <a:noFill/>
              <a:ln>
                <a:noFill/>
              </a:ln>
              <a:effectLst/>
            </c:spPr>
            <c:txPr>
              <a:bodyPr rot="0" spcFirstLastPara="1" vertOverflow="ellipsis" vert="horz" wrap="square" lIns="38100" tIns="19050" rIns="38100" bIns="19050" anchor="ctr" anchorCtr="0">
                <a:spAutoFit/>
              </a:bodyPr>
              <a:lstStyle/>
              <a:p>
                <a:pPr algn="ctr">
                  <a:defRPr lang="en-US" altLang="zh-CN" sz="1195" b="0" i="0" u="none" strike="noStrike" kern="1200" baseline="0">
                    <a:solidFill>
                      <a:schemeClr val="tx1">
                        <a:lumMod val="75000"/>
                        <a:lumOff val="25000"/>
                      </a:schemeClr>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 入店前沟通</c:v>
                </c:pt>
                <c:pt idx="1">
                  <c:v> 到店接待</c:v>
                </c:pt>
                <c:pt idx="2">
                  <c:v> 店内看车</c:v>
                </c:pt>
                <c:pt idx="3">
                  <c:v> 试乘试驾</c:v>
                </c:pt>
                <c:pt idx="4">
                  <c:v> 送别与回访</c:v>
                </c:pt>
              </c:strCache>
            </c:strRef>
          </c:cat>
          <c:val>
            <c:numRef>
              <c:f>Sheet1!$B$2:$B$6</c:f>
              <c:numCache>
                <c:formatCode>General</c:formatCode>
                <c:ptCount val="5"/>
                <c:pt idx="0" formatCode="0">
                  <c:v>849.37930760662198</c:v>
                </c:pt>
                <c:pt idx="1">
                  <c:v>855.555555555556</c:v>
                </c:pt>
                <c:pt idx="2">
                  <c:v>854.90146744567903</c:v>
                </c:pt>
                <c:pt idx="3">
                  <c:v>855.57285575086905</c:v>
                </c:pt>
                <c:pt idx="4">
                  <c:v>859.55523998426304</c:v>
                </c:pt>
              </c:numCache>
            </c:numRef>
          </c:val>
          <c:extLst>
            <c:ext xmlns:c16="http://schemas.microsoft.com/office/drawing/2014/chart" uri="{C3380CC4-5D6E-409C-BE32-E72D297353CC}">
              <c16:uniqueId val="{00000002-33DF-43B0-8CB6-359214820944}"/>
            </c:ext>
          </c:extLst>
        </c:ser>
        <c:ser>
          <c:idx val="1"/>
          <c:order val="1"/>
          <c:tx>
            <c:strRef>
              <c:f>Sheet1!$C$1</c:f>
              <c:strCache>
                <c:ptCount val="1"/>
                <c:pt idx="0">
                  <c:v>竞品对阿维塔服务满意度</c:v>
                </c:pt>
              </c:strCache>
            </c:strRef>
          </c:tx>
          <c:spPr>
            <a:solidFill>
              <a:srgbClr val="C00000"/>
            </a:solidFill>
            <a:ln>
              <a:noFill/>
            </a:ln>
            <a:effectLst/>
          </c:spPr>
          <c:invertIfNegative val="0"/>
          <c:dPt>
            <c:idx val="5"/>
            <c:invertIfNegative val="0"/>
            <c:bubble3D val="0"/>
            <c:spPr>
              <a:solidFill>
                <a:srgbClr val="C00000"/>
              </a:solidFill>
              <a:ln>
                <a:noFill/>
              </a:ln>
              <a:effectLst/>
            </c:spPr>
            <c:extLst>
              <c:ext xmlns:c16="http://schemas.microsoft.com/office/drawing/2014/chart" uri="{C3380CC4-5D6E-409C-BE32-E72D297353CC}">
                <c16:uniqueId val="{00000004-33DF-43B0-8CB6-359214820944}"/>
              </c:ext>
            </c:extLst>
          </c:dPt>
          <c:dLbls>
            <c:numFmt formatCode="#,##0_);[Red]\(#,##0\)" sourceLinked="0"/>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 入店前沟通</c:v>
                </c:pt>
                <c:pt idx="1">
                  <c:v> 到店接待</c:v>
                </c:pt>
                <c:pt idx="2">
                  <c:v> 店内看车</c:v>
                </c:pt>
                <c:pt idx="3">
                  <c:v> 试乘试驾</c:v>
                </c:pt>
                <c:pt idx="4">
                  <c:v> 送别与回访</c:v>
                </c:pt>
              </c:strCache>
            </c:strRef>
          </c:cat>
          <c:val>
            <c:numRef>
              <c:f>Sheet1!$C$2:$C$6</c:f>
              <c:numCache>
                <c:formatCode>General</c:formatCode>
                <c:ptCount val="5"/>
                <c:pt idx="0" formatCode="0">
                  <c:v>790.39408866995097</c:v>
                </c:pt>
                <c:pt idx="1">
                  <c:v>800.892857142857</c:v>
                </c:pt>
                <c:pt idx="2">
                  <c:v>787.133027522936</c:v>
                </c:pt>
                <c:pt idx="3">
                  <c:v>785.66753926701597</c:v>
                </c:pt>
                <c:pt idx="4">
                  <c:v>775.11111111111097</c:v>
                </c:pt>
              </c:numCache>
            </c:numRef>
          </c:val>
          <c:extLst>
            <c:ext xmlns:c16="http://schemas.microsoft.com/office/drawing/2014/chart" uri="{C3380CC4-5D6E-409C-BE32-E72D297353CC}">
              <c16:uniqueId val="{00000003-33DF-43B0-8CB6-359214820944}"/>
            </c:ext>
          </c:extLst>
        </c:ser>
        <c:dLbls>
          <c:showLegendKey val="0"/>
          <c:showVal val="1"/>
          <c:showCatName val="0"/>
          <c:showSerName val="0"/>
          <c:showPercent val="0"/>
          <c:showBubbleSize val="0"/>
        </c:dLbls>
        <c:gapWidth val="219"/>
        <c:overlap val="-27"/>
        <c:axId val="152411152"/>
        <c:axId val="152399152"/>
      </c:barChart>
      <c:catAx>
        <c:axId val="1524111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52399152"/>
        <c:crosses val="autoZero"/>
        <c:auto val="1"/>
        <c:lblAlgn val="ctr"/>
        <c:lblOffset val="100"/>
        <c:noMultiLvlLbl val="0"/>
      </c:catAx>
      <c:valAx>
        <c:axId val="152399152"/>
        <c:scaling>
          <c:orientation val="minMax"/>
          <c:min val="600"/>
        </c:scaling>
        <c:delete val="1"/>
        <c:axPos val="l"/>
        <c:numFmt formatCode="0" sourceLinked="1"/>
        <c:majorTickMark val="out"/>
        <c:minorTickMark val="none"/>
        <c:tickLblPos val="nextTo"/>
        <c:crossAx val="152411152"/>
        <c:crosses val="autoZero"/>
        <c:crossBetween val="between"/>
      </c:valAx>
      <c:spPr>
        <a:noFill/>
        <a:ln>
          <a:noFill/>
        </a:ln>
        <a:effectLst/>
      </c:spPr>
    </c:plotArea>
    <c:legend>
      <c:legendPos val="l"/>
      <c:layout>
        <c:manualLayout>
          <c:xMode val="edge"/>
          <c:yMode val="edge"/>
          <c:x val="1.3945592424139272E-2"/>
          <c:y val="0.27766664367340371"/>
          <c:w val="0.17357833652874072"/>
          <c:h val="0.51647316516588504"/>
        </c:manualLayout>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ea"/>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userShapes r:id="rId4"/>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8549530467333035"/>
          <c:y val="8.2360230797302453E-2"/>
          <c:w val="0.45257116147347726"/>
          <c:h val="0.83527953840539515"/>
        </c:manualLayout>
      </c:layout>
      <c:barChart>
        <c:barDir val="bar"/>
        <c:grouping val="clustered"/>
        <c:varyColors val="0"/>
        <c:ser>
          <c:idx val="0"/>
          <c:order val="0"/>
          <c:tx>
            <c:strRef>
              <c:f>Sheet1!$B$1</c:f>
              <c:strCache>
                <c:ptCount val="1"/>
                <c:pt idx="0">
                  <c:v>列1</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产品原因（车型意向不高）</c:v>
                </c:pt>
                <c:pt idx="1">
                  <c:v>没有优惠政策</c:v>
                </c:pt>
                <c:pt idx="2">
                  <c:v>价格超过预期</c:v>
                </c:pt>
                <c:pt idx="3">
                  <c:v>销售人员没有主动介绍价格政策</c:v>
                </c:pt>
                <c:pt idx="4">
                  <c:v>只是来询价比价</c:v>
                </c:pt>
              </c:strCache>
            </c:strRef>
          </c:cat>
          <c:val>
            <c:numRef>
              <c:f>Sheet1!$B$2:$B$6</c:f>
              <c:numCache>
                <c:formatCode>0.0%</c:formatCode>
                <c:ptCount val="5"/>
                <c:pt idx="0">
                  <c:v>0.49275362318840599</c:v>
                </c:pt>
                <c:pt idx="1">
                  <c:v>0.30434782608695599</c:v>
                </c:pt>
                <c:pt idx="2">
                  <c:v>0.28019323671497598</c:v>
                </c:pt>
                <c:pt idx="3">
                  <c:v>0.15458937198067599</c:v>
                </c:pt>
                <c:pt idx="4">
                  <c:v>0.101449275362319</c:v>
                </c:pt>
              </c:numCache>
            </c:numRef>
          </c:val>
          <c:extLst>
            <c:ext xmlns:c16="http://schemas.microsoft.com/office/drawing/2014/chart" uri="{C3380CC4-5D6E-409C-BE32-E72D297353CC}">
              <c16:uniqueId val="{00000000-0721-4DB0-A352-23F4F176A656}"/>
            </c:ext>
          </c:extLst>
        </c:ser>
        <c:dLbls>
          <c:dLblPos val="outEnd"/>
          <c:showLegendKey val="0"/>
          <c:showVal val="1"/>
          <c:showCatName val="0"/>
          <c:showSerName val="0"/>
          <c:showPercent val="0"/>
          <c:showBubbleSize val="0"/>
        </c:dLbls>
        <c:gapWidth val="219"/>
        <c:axId val="735722447"/>
        <c:axId val="1150417999"/>
      </c:barChart>
      <c:catAx>
        <c:axId val="735722447"/>
        <c:scaling>
          <c:orientation val="maxMin"/>
        </c:scaling>
        <c:delete val="0"/>
        <c:axPos val="l"/>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ea"/>
                <a:ea typeface="+mn-ea"/>
                <a:cs typeface="+mn-cs"/>
              </a:defRPr>
            </a:pPr>
            <a:endParaRPr lang="zh-CN"/>
          </a:p>
        </c:txPr>
        <c:crossAx val="1150417999"/>
        <c:crosses val="autoZero"/>
        <c:auto val="1"/>
        <c:lblAlgn val="ctr"/>
        <c:lblOffset val="100"/>
        <c:noMultiLvlLbl val="0"/>
      </c:catAx>
      <c:valAx>
        <c:axId val="1150417999"/>
        <c:scaling>
          <c:orientation val="minMax"/>
          <c:max val="0.8"/>
        </c:scaling>
        <c:delete val="1"/>
        <c:axPos val="t"/>
        <c:numFmt formatCode="0.0%" sourceLinked="1"/>
        <c:majorTickMark val="out"/>
        <c:minorTickMark val="none"/>
        <c:tickLblPos val="nextTo"/>
        <c:crossAx val="7357224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pPr>
      <a:endParaRPr lang="zh-CN"/>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8549530467333035"/>
          <c:y val="8.2360230797302453E-2"/>
          <c:w val="0.45257116147347726"/>
          <c:h val="0.83527953840539515"/>
        </c:manualLayout>
      </c:layout>
      <c:barChart>
        <c:barDir val="bar"/>
        <c:grouping val="clustered"/>
        <c:varyColors val="0"/>
        <c:ser>
          <c:idx val="0"/>
          <c:order val="0"/>
          <c:tx>
            <c:strRef>
              <c:f>Sheet1!$B$1</c:f>
              <c:strCache>
                <c:ptCount val="1"/>
                <c:pt idx="0">
                  <c:v>列1</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产品原因（车型意向不高）</c:v>
                </c:pt>
                <c:pt idx="1">
                  <c:v>没有提供心仪的试驾车型</c:v>
                </c:pt>
                <c:pt idx="2">
                  <c:v>排队等待时间太久</c:v>
                </c:pt>
                <c:pt idx="3">
                  <c:v>没有携带证件（身份证/驾驶证）</c:v>
                </c:pt>
                <c:pt idx="4">
                  <c:v>提前体验过了，没必要试乘试驾</c:v>
                </c:pt>
                <c:pt idx="5">
                  <c:v>销售人员没有邀请试乘试驾</c:v>
                </c:pt>
                <c:pt idx="6">
                  <c:v>试乘试驾申请流程太复杂</c:v>
                </c:pt>
              </c:strCache>
            </c:strRef>
          </c:cat>
          <c:val>
            <c:numRef>
              <c:f>Sheet1!$B$2:$B$8</c:f>
              <c:numCache>
                <c:formatCode>0.0%</c:formatCode>
                <c:ptCount val="7"/>
                <c:pt idx="0">
                  <c:v>0.39393939393939398</c:v>
                </c:pt>
                <c:pt idx="1">
                  <c:v>0.30303030303030298</c:v>
                </c:pt>
                <c:pt idx="2">
                  <c:v>0.18181818181818199</c:v>
                </c:pt>
                <c:pt idx="3">
                  <c:v>0.15151515151515099</c:v>
                </c:pt>
                <c:pt idx="4">
                  <c:v>0.12121212121212099</c:v>
                </c:pt>
                <c:pt idx="5">
                  <c:v>6.0606060606060601E-2</c:v>
                </c:pt>
                <c:pt idx="6">
                  <c:v>6.0606060606060601E-2</c:v>
                </c:pt>
              </c:numCache>
            </c:numRef>
          </c:val>
          <c:extLst>
            <c:ext xmlns:c16="http://schemas.microsoft.com/office/drawing/2014/chart" uri="{C3380CC4-5D6E-409C-BE32-E72D297353CC}">
              <c16:uniqueId val="{00000000-34D4-4D92-8988-3FDDCCB29DA9}"/>
            </c:ext>
          </c:extLst>
        </c:ser>
        <c:dLbls>
          <c:dLblPos val="outEnd"/>
          <c:showLegendKey val="0"/>
          <c:showVal val="1"/>
          <c:showCatName val="0"/>
          <c:showSerName val="0"/>
          <c:showPercent val="0"/>
          <c:showBubbleSize val="0"/>
        </c:dLbls>
        <c:gapWidth val="219"/>
        <c:axId val="735722447"/>
        <c:axId val="1150417999"/>
      </c:barChart>
      <c:catAx>
        <c:axId val="735722447"/>
        <c:scaling>
          <c:orientation val="maxMin"/>
        </c:scaling>
        <c:delete val="0"/>
        <c:axPos val="l"/>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ea"/>
                <a:ea typeface="+mn-ea"/>
                <a:cs typeface="+mn-cs"/>
              </a:defRPr>
            </a:pPr>
            <a:endParaRPr lang="zh-CN"/>
          </a:p>
        </c:txPr>
        <c:crossAx val="1150417999"/>
        <c:crosses val="autoZero"/>
        <c:auto val="1"/>
        <c:lblAlgn val="ctr"/>
        <c:lblOffset val="100"/>
        <c:noMultiLvlLbl val="0"/>
      </c:catAx>
      <c:valAx>
        <c:axId val="1150417999"/>
        <c:scaling>
          <c:orientation val="minMax"/>
          <c:max val="0.8"/>
        </c:scaling>
        <c:delete val="1"/>
        <c:axPos val="t"/>
        <c:numFmt formatCode="0.0%" sourceLinked="1"/>
        <c:majorTickMark val="out"/>
        <c:minorTickMark val="none"/>
        <c:tickLblPos val="nextTo"/>
        <c:crossAx val="7357224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pPr>
      <a:endParaRPr lang="zh-CN"/>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8549530467333035"/>
          <c:y val="8.2360230797302453E-2"/>
          <c:w val="0.45257116147347726"/>
          <c:h val="0.83527953840539515"/>
        </c:manualLayout>
      </c:layout>
      <c:barChart>
        <c:barDir val="bar"/>
        <c:grouping val="clustered"/>
        <c:varyColors val="0"/>
        <c:ser>
          <c:idx val="0"/>
          <c:order val="0"/>
          <c:tx>
            <c:strRef>
              <c:f>Sheet1!$B$1</c:f>
              <c:strCache>
                <c:ptCount val="1"/>
                <c:pt idx="0">
                  <c:v>列1</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3"/>
                <c:pt idx="0">
                  <c:v>担心销售人员电话骚扰</c:v>
                </c:pt>
                <c:pt idx="1">
                  <c:v>担心信息泄露</c:v>
                </c:pt>
                <c:pt idx="2">
                  <c:v>网上信息足够齐全</c:v>
                </c:pt>
              </c:strCache>
            </c:strRef>
          </c:cat>
          <c:val>
            <c:numRef>
              <c:f>Sheet1!$B$2:$B$8</c:f>
              <c:numCache>
                <c:formatCode>0.0%</c:formatCode>
                <c:ptCount val="7"/>
                <c:pt idx="0">
                  <c:v>0.54500000000000004</c:v>
                </c:pt>
                <c:pt idx="1">
                  <c:v>0.5</c:v>
                </c:pt>
                <c:pt idx="2">
                  <c:v>9.0999999999999998E-2</c:v>
                </c:pt>
              </c:numCache>
            </c:numRef>
          </c:val>
          <c:extLst>
            <c:ext xmlns:c16="http://schemas.microsoft.com/office/drawing/2014/chart" uri="{C3380CC4-5D6E-409C-BE32-E72D297353CC}">
              <c16:uniqueId val="{00000000-34D4-4D92-8988-3FDDCCB29DA9}"/>
            </c:ext>
          </c:extLst>
        </c:ser>
        <c:dLbls>
          <c:dLblPos val="outEnd"/>
          <c:showLegendKey val="0"/>
          <c:showVal val="1"/>
          <c:showCatName val="0"/>
          <c:showSerName val="0"/>
          <c:showPercent val="0"/>
          <c:showBubbleSize val="0"/>
        </c:dLbls>
        <c:gapWidth val="219"/>
        <c:axId val="735722447"/>
        <c:axId val="1150417999"/>
      </c:barChart>
      <c:catAx>
        <c:axId val="735722447"/>
        <c:scaling>
          <c:orientation val="maxMin"/>
        </c:scaling>
        <c:delete val="0"/>
        <c:axPos val="l"/>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ea"/>
                <a:ea typeface="+mn-ea"/>
                <a:cs typeface="+mn-cs"/>
              </a:defRPr>
            </a:pPr>
            <a:endParaRPr lang="zh-CN"/>
          </a:p>
        </c:txPr>
        <c:crossAx val="1150417999"/>
        <c:crosses val="autoZero"/>
        <c:auto val="1"/>
        <c:lblAlgn val="ctr"/>
        <c:lblOffset val="100"/>
        <c:noMultiLvlLbl val="0"/>
      </c:catAx>
      <c:valAx>
        <c:axId val="1150417999"/>
        <c:scaling>
          <c:orientation val="minMax"/>
          <c:max val="0.8"/>
        </c:scaling>
        <c:delete val="1"/>
        <c:axPos val="t"/>
        <c:numFmt formatCode="0.0%" sourceLinked="1"/>
        <c:majorTickMark val="out"/>
        <c:minorTickMark val="none"/>
        <c:tickLblPos val="nextTo"/>
        <c:crossAx val="7357224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pPr>
      <a:endParaRPr lang="zh-CN"/>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8549530467333035"/>
          <c:y val="8.2360230797302453E-2"/>
          <c:w val="0.45257116147347726"/>
          <c:h val="0.83527953840539515"/>
        </c:manualLayout>
      </c:layout>
      <c:barChart>
        <c:barDir val="bar"/>
        <c:grouping val="clustered"/>
        <c:varyColors val="0"/>
        <c:ser>
          <c:idx val="0"/>
          <c:order val="0"/>
          <c:tx>
            <c:strRef>
              <c:f>Sheet1!$B$1</c:f>
              <c:strCache>
                <c:ptCount val="1"/>
                <c:pt idx="0">
                  <c:v>列1</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品牌成熟可靠</c:v>
                </c:pt>
                <c:pt idx="1">
                  <c:v>试乘试驾体验</c:v>
                </c:pt>
                <c:pt idx="2">
                  <c:v>专业度</c:v>
                </c:pt>
                <c:pt idx="3">
                  <c:v>服务态度</c:v>
                </c:pt>
                <c:pt idx="4">
                  <c:v>车辆交付时间</c:v>
                </c:pt>
                <c:pt idx="5">
                  <c:v>门店分布和数量</c:v>
                </c:pt>
                <c:pt idx="6">
                  <c:v>门店设施环境</c:v>
                </c:pt>
              </c:strCache>
            </c:strRef>
          </c:cat>
          <c:val>
            <c:numRef>
              <c:f>Sheet1!$B$2:$B$8</c:f>
              <c:numCache>
                <c:formatCode>0.0%</c:formatCode>
                <c:ptCount val="7"/>
                <c:pt idx="0">
                  <c:v>0.35555555555555601</c:v>
                </c:pt>
                <c:pt idx="1">
                  <c:v>0.31555555555555498</c:v>
                </c:pt>
                <c:pt idx="2">
                  <c:v>0.137777777777778</c:v>
                </c:pt>
                <c:pt idx="3">
                  <c:v>0.11555555555555599</c:v>
                </c:pt>
                <c:pt idx="4">
                  <c:v>3.5555555555555597E-2</c:v>
                </c:pt>
                <c:pt idx="5">
                  <c:v>1.3333333333333299E-2</c:v>
                </c:pt>
                <c:pt idx="6">
                  <c:v>8.8888888888888906E-3</c:v>
                </c:pt>
              </c:numCache>
            </c:numRef>
          </c:val>
          <c:extLst>
            <c:ext xmlns:c16="http://schemas.microsoft.com/office/drawing/2014/chart" uri="{C3380CC4-5D6E-409C-BE32-E72D297353CC}">
              <c16:uniqueId val="{00000000-6D4E-4977-81FE-3ED5901B37B6}"/>
            </c:ext>
          </c:extLst>
        </c:ser>
        <c:dLbls>
          <c:dLblPos val="outEnd"/>
          <c:showLegendKey val="0"/>
          <c:showVal val="1"/>
          <c:showCatName val="0"/>
          <c:showSerName val="0"/>
          <c:showPercent val="0"/>
          <c:showBubbleSize val="0"/>
        </c:dLbls>
        <c:gapWidth val="219"/>
        <c:axId val="735722447"/>
        <c:axId val="1150417999"/>
      </c:barChart>
      <c:catAx>
        <c:axId val="735722447"/>
        <c:scaling>
          <c:orientation val="maxMin"/>
        </c:scaling>
        <c:delete val="0"/>
        <c:axPos val="l"/>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ea"/>
                <a:ea typeface="+mn-ea"/>
                <a:cs typeface="+mn-cs"/>
              </a:defRPr>
            </a:pPr>
            <a:endParaRPr lang="zh-CN"/>
          </a:p>
        </c:txPr>
        <c:crossAx val="1150417999"/>
        <c:crosses val="autoZero"/>
        <c:auto val="1"/>
        <c:lblAlgn val="ctr"/>
        <c:lblOffset val="100"/>
        <c:noMultiLvlLbl val="0"/>
      </c:catAx>
      <c:valAx>
        <c:axId val="1150417999"/>
        <c:scaling>
          <c:orientation val="minMax"/>
          <c:max val="0.8"/>
        </c:scaling>
        <c:delete val="1"/>
        <c:axPos val="t"/>
        <c:numFmt formatCode="0.0%" sourceLinked="1"/>
        <c:majorTickMark val="out"/>
        <c:minorTickMark val="none"/>
        <c:tickLblPos val="nextTo"/>
        <c:crossAx val="7357224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pPr>
      <a:endParaRPr lang="zh-CN"/>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1263192030417304"/>
          <c:y val="8.2360230797302453E-2"/>
          <c:w val="0.48736807969582702"/>
          <c:h val="0.83527953840539515"/>
        </c:manualLayout>
      </c:layout>
      <c:barChart>
        <c:barDir val="bar"/>
        <c:grouping val="clustered"/>
        <c:varyColors val="0"/>
        <c:ser>
          <c:idx val="0"/>
          <c:order val="0"/>
          <c:tx>
            <c:strRef>
              <c:f>Sheet1!$B$1</c:f>
              <c:strCache>
                <c:ptCount val="1"/>
                <c:pt idx="0">
                  <c:v>列1</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店内看车</c:v>
                </c:pt>
                <c:pt idx="1">
                  <c:v>试乘试驾</c:v>
                </c:pt>
                <c:pt idx="2">
                  <c:v>洽谈下定</c:v>
                </c:pt>
                <c:pt idx="3">
                  <c:v>线上查询信息/致电销售门店或4S店咨询</c:v>
                </c:pt>
              </c:strCache>
            </c:strRef>
          </c:cat>
          <c:val>
            <c:numRef>
              <c:f>Sheet1!$B$2:$B$5</c:f>
              <c:numCache>
                <c:formatCode>0.0%</c:formatCode>
                <c:ptCount val="4"/>
                <c:pt idx="0">
                  <c:v>0.42666666666666703</c:v>
                </c:pt>
                <c:pt idx="1">
                  <c:v>0.40888888888888902</c:v>
                </c:pt>
                <c:pt idx="2">
                  <c:v>0.20444444444444501</c:v>
                </c:pt>
                <c:pt idx="3">
                  <c:v>0.151111111111111</c:v>
                </c:pt>
              </c:numCache>
            </c:numRef>
          </c:val>
          <c:extLst>
            <c:ext xmlns:c16="http://schemas.microsoft.com/office/drawing/2014/chart" uri="{C3380CC4-5D6E-409C-BE32-E72D297353CC}">
              <c16:uniqueId val="{00000000-B17A-4DF6-A634-92BC9FBD530F}"/>
            </c:ext>
          </c:extLst>
        </c:ser>
        <c:dLbls>
          <c:dLblPos val="outEnd"/>
          <c:showLegendKey val="0"/>
          <c:showVal val="1"/>
          <c:showCatName val="0"/>
          <c:showSerName val="0"/>
          <c:showPercent val="0"/>
          <c:showBubbleSize val="0"/>
        </c:dLbls>
        <c:gapWidth val="219"/>
        <c:axId val="735722447"/>
        <c:axId val="1150417999"/>
      </c:barChart>
      <c:catAx>
        <c:axId val="735722447"/>
        <c:scaling>
          <c:orientation val="maxMin"/>
        </c:scaling>
        <c:delete val="0"/>
        <c:axPos val="l"/>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ea"/>
                <a:ea typeface="+mn-ea"/>
                <a:cs typeface="+mn-cs"/>
              </a:defRPr>
            </a:pPr>
            <a:endParaRPr lang="zh-CN"/>
          </a:p>
        </c:txPr>
        <c:crossAx val="1150417999"/>
        <c:crosses val="autoZero"/>
        <c:auto val="1"/>
        <c:lblAlgn val="ctr"/>
        <c:lblOffset val="100"/>
        <c:noMultiLvlLbl val="0"/>
      </c:catAx>
      <c:valAx>
        <c:axId val="1150417999"/>
        <c:scaling>
          <c:orientation val="minMax"/>
          <c:max val="0.8"/>
        </c:scaling>
        <c:delete val="1"/>
        <c:axPos val="t"/>
        <c:numFmt formatCode="0.0%" sourceLinked="1"/>
        <c:majorTickMark val="out"/>
        <c:minorTickMark val="none"/>
        <c:tickLblPos val="nextTo"/>
        <c:crossAx val="7357224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pPr>
      <a:endParaRPr lang="zh-CN"/>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8549530467333035"/>
          <c:y val="8.2360230797302453E-2"/>
          <c:w val="0.45257116147347726"/>
          <c:h val="0.83527953840539515"/>
        </c:manualLayout>
      </c:layout>
      <c:barChart>
        <c:barDir val="bar"/>
        <c:grouping val="clustered"/>
        <c:varyColors val="0"/>
        <c:ser>
          <c:idx val="0"/>
          <c:order val="0"/>
          <c:tx>
            <c:strRef>
              <c:f>Sheet1!$B$1</c:f>
              <c:strCache>
                <c:ptCount val="1"/>
                <c:pt idx="0">
                  <c:v>列1</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专业度</c:v>
                </c:pt>
                <c:pt idx="1">
                  <c:v>服务态度</c:v>
                </c:pt>
                <c:pt idx="2">
                  <c:v>品牌成熟可靠</c:v>
                </c:pt>
                <c:pt idx="3">
                  <c:v>试乘试驾体验</c:v>
                </c:pt>
                <c:pt idx="4">
                  <c:v>车辆交付时间</c:v>
                </c:pt>
                <c:pt idx="5">
                  <c:v>门店分布和数量</c:v>
                </c:pt>
                <c:pt idx="6">
                  <c:v>门店设施环境</c:v>
                </c:pt>
              </c:strCache>
            </c:strRef>
          </c:cat>
          <c:val>
            <c:numRef>
              <c:f>Sheet1!$B$2:$B$8</c:f>
              <c:numCache>
                <c:formatCode>0.0%</c:formatCode>
                <c:ptCount val="7"/>
                <c:pt idx="0">
                  <c:v>0.38666666666666699</c:v>
                </c:pt>
                <c:pt idx="1">
                  <c:v>0.28000000000000003</c:v>
                </c:pt>
                <c:pt idx="2">
                  <c:v>0.24</c:v>
                </c:pt>
                <c:pt idx="3">
                  <c:v>0.24</c:v>
                </c:pt>
                <c:pt idx="4">
                  <c:v>0.10666666666666701</c:v>
                </c:pt>
                <c:pt idx="5">
                  <c:v>9.3333333333333296E-2</c:v>
                </c:pt>
                <c:pt idx="6">
                  <c:v>2.66666666666667E-2</c:v>
                </c:pt>
              </c:numCache>
            </c:numRef>
          </c:val>
          <c:extLst>
            <c:ext xmlns:c16="http://schemas.microsoft.com/office/drawing/2014/chart" uri="{C3380CC4-5D6E-409C-BE32-E72D297353CC}">
              <c16:uniqueId val="{00000000-0790-4D0B-903C-A95E4737C607}"/>
            </c:ext>
          </c:extLst>
        </c:ser>
        <c:dLbls>
          <c:dLblPos val="outEnd"/>
          <c:showLegendKey val="0"/>
          <c:showVal val="1"/>
          <c:showCatName val="0"/>
          <c:showSerName val="0"/>
          <c:showPercent val="0"/>
          <c:showBubbleSize val="0"/>
        </c:dLbls>
        <c:gapWidth val="219"/>
        <c:axId val="735722447"/>
        <c:axId val="1150417999"/>
      </c:barChart>
      <c:catAx>
        <c:axId val="735722447"/>
        <c:scaling>
          <c:orientation val="maxMin"/>
        </c:scaling>
        <c:delete val="0"/>
        <c:axPos val="l"/>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ea"/>
                <a:ea typeface="+mn-ea"/>
                <a:cs typeface="+mn-cs"/>
              </a:defRPr>
            </a:pPr>
            <a:endParaRPr lang="zh-CN"/>
          </a:p>
        </c:txPr>
        <c:crossAx val="1150417999"/>
        <c:crosses val="autoZero"/>
        <c:auto val="1"/>
        <c:lblAlgn val="ctr"/>
        <c:lblOffset val="100"/>
        <c:noMultiLvlLbl val="0"/>
      </c:catAx>
      <c:valAx>
        <c:axId val="1150417999"/>
        <c:scaling>
          <c:orientation val="minMax"/>
          <c:max val="0.8"/>
        </c:scaling>
        <c:delete val="1"/>
        <c:axPos val="t"/>
        <c:numFmt formatCode="0.0%" sourceLinked="1"/>
        <c:majorTickMark val="out"/>
        <c:minorTickMark val="none"/>
        <c:tickLblPos val="nextTo"/>
        <c:crossAx val="7357224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pPr>
      <a:endParaRPr lang="zh-CN"/>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855255944866252E-3"/>
          <c:y val="5.7200809495259942E-2"/>
          <c:w val="0.94184632554964332"/>
          <c:h val="0.49357997968086409"/>
        </c:manualLayout>
      </c:layout>
      <c:lineChart>
        <c:grouping val="standard"/>
        <c:varyColors val="0"/>
        <c:ser>
          <c:idx val="0"/>
          <c:order val="0"/>
          <c:tx>
            <c:strRef>
              <c:f>Sheet1!$B$1</c:f>
              <c:strCache>
                <c:ptCount val="1"/>
                <c:pt idx="0">
                  <c:v>本品车主评价阿维塔</c:v>
                </c:pt>
              </c:strCache>
            </c:strRef>
          </c:tx>
          <c:spPr>
            <a:ln w="28575" cap="rnd">
              <a:solidFill>
                <a:srgbClr val="4B8D56"/>
              </a:solidFill>
              <a:round/>
            </a:ln>
            <a:effectLst/>
          </c:spPr>
          <c:marker>
            <c:symbol val="none"/>
          </c:marker>
          <c:cat>
            <c:strRef>
              <c:f>Sheet1!$A$2:$A$24</c:f>
              <c:strCache>
                <c:ptCount val="23"/>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离店送别服务表现</c:v>
                </c:pt>
                <c:pt idx="22">
                  <c:v>离店后的回访表现</c:v>
                </c:pt>
              </c:strCache>
            </c:strRef>
          </c:cat>
          <c:val>
            <c:numRef>
              <c:f>Sheet1!$B$2:$B$24</c:f>
              <c:numCache>
                <c:formatCode>0</c:formatCode>
                <c:ptCount val="23"/>
                <c:pt idx="0">
                  <c:v>8.2980769230769198</c:v>
                </c:pt>
                <c:pt idx="1">
                  <c:v>8.8009708737864099</c:v>
                </c:pt>
                <c:pt idx="2">
                  <c:v>8.9188191881918808</c:v>
                </c:pt>
                <c:pt idx="3">
                  <c:v>8.6014760147601503</c:v>
                </c:pt>
                <c:pt idx="4">
                  <c:v>8.56505576208178</c:v>
                </c:pt>
                <c:pt idx="5">
                  <c:v>8.7259259259259299</c:v>
                </c:pt>
                <c:pt idx="6">
                  <c:v>9.0627306273062693</c:v>
                </c:pt>
                <c:pt idx="7">
                  <c:v>8.7148148148148206</c:v>
                </c:pt>
                <c:pt idx="8">
                  <c:v>8.92619926199262</c:v>
                </c:pt>
                <c:pt idx="9">
                  <c:v>8.9114391143911398</c:v>
                </c:pt>
                <c:pt idx="10">
                  <c:v>8.5535055350553506</c:v>
                </c:pt>
                <c:pt idx="11">
                  <c:v>8.0263157894736796</c:v>
                </c:pt>
                <c:pt idx="12">
                  <c:v>8.4925925925925903</c:v>
                </c:pt>
                <c:pt idx="13">
                  <c:v>8.9188191881918808</c:v>
                </c:pt>
                <c:pt idx="14">
                  <c:v>9.0405904059040605</c:v>
                </c:pt>
                <c:pt idx="15">
                  <c:v>8.9483394833948307</c:v>
                </c:pt>
                <c:pt idx="16">
                  <c:v>8.8745387453874507</c:v>
                </c:pt>
                <c:pt idx="17">
                  <c:v>9.0110701107011106</c:v>
                </c:pt>
                <c:pt idx="18">
                  <c:v>8.6789667896678999</c:v>
                </c:pt>
                <c:pt idx="19">
                  <c:v>8.6789667896678999</c:v>
                </c:pt>
                <c:pt idx="20">
                  <c:v>8.8185185185185198</c:v>
                </c:pt>
                <c:pt idx="21">
                  <c:v>8.71747211895911</c:v>
                </c:pt>
                <c:pt idx="22">
                  <c:v>8.5018867924528294</c:v>
                </c:pt>
              </c:numCache>
            </c:numRef>
          </c:val>
          <c:smooth val="1"/>
          <c:extLst>
            <c:ext xmlns:c16="http://schemas.microsoft.com/office/drawing/2014/chart" uri="{C3380CC4-5D6E-409C-BE32-E72D297353CC}">
              <c16:uniqueId val="{00000000-1D46-423A-9864-1ACBB6D22081}"/>
            </c:ext>
          </c:extLst>
        </c:ser>
        <c:ser>
          <c:idx val="1"/>
          <c:order val="1"/>
          <c:tx>
            <c:strRef>
              <c:f>Sheet1!$C$1</c:f>
              <c:strCache>
                <c:ptCount val="1"/>
                <c:pt idx="0">
                  <c:v>本品车主评价竞品</c:v>
                </c:pt>
              </c:strCache>
            </c:strRef>
          </c:tx>
          <c:spPr>
            <a:ln w="28575" cap="rnd">
              <a:solidFill>
                <a:schemeClr val="tx1">
                  <a:lumMod val="50000"/>
                  <a:lumOff val="50000"/>
                </a:schemeClr>
              </a:solidFill>
              <a:round/>
            </a:ln>
            <a:effectLst/>
          </c:spPr>
          <c:marker>
            <c:symbol val="none"/>
          </c:marker>
          <c:cat>
            <c:strRef>
              <c:f>Sheet1!$A$2:$A$24</c:f>
              <c:strCache>
                <c:ptCount val="23"/>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离店送别服务表现</c:v>
                </c:pt>
                <c:pt idx="22">
                  <c:v>离店后的回访表现</c:v>
                </c:pt>
              </c:strCache>
            </c:strRef>
          </c:cat>
          <c:val>
            <c:numRef>
              <c:f>Sheet1!$C$2:$C$24</c:f>
              <c:numCache>
                <c:formatCode>0</c:formatCode>
                <c:ptCount val="23"/>
                <c:pt idx="0">
                  <c:v>8.0091324200913192</c:v>
                </c:pt>
                <c:pt idx="1">
                  <c:v>8.2336448598130794</c:v>
                </c:pt>
                <c:pt idx="2">
                  <c:v>8.1185770750988109</c:v>
                </c:pt>
                <c:pt idx="3">
                  <c:v>8.1535269709543599</c:v>
                </c:pt>
                <c:pt idx="4">
                  <c:v>8.0413223140495909</c:v>
                </c:pt>
                <c:pt idx="5">
                  <c:v>8.1701244813278002</c:v>
                </c:pt>
                <c:pt idx="6">
                  <c:v>8.2386831275720205</c:v>
                </c:pt>
                <c:pt idx="7">
                  <c:v>8.0829875518672196</c:v>
                </c:pt>
                <c:pt idx="8">
                  <c:v>8.3429752066115697</c:v>
                </c:pt>
                <c:pt idx="9">
                  <c:v>8.3949579831932795</c:v>
                </c:pt>
                <c:pt idx="10">
                  <c:v>8.2874999999999996</c:v>
                </c:pt>
                <c:pt idx="11">
                  <c:v>7.5431034482758603</c:v>
                </c:pt>
                <c:pt idx="12">
                  <c:v>7.99163179916318</c:v>
                </c:pt>
                <c:pt idx="13">
                  <c:v>8.2167487684729092</c:v>
                </c:pt>
                <c:pt idx="14">
                  <c:v>8.3512195121951205</c:v>
                </c:pt>
                <c:pt idx="15">
                  <c:v>8.0975609756097597</c:v>
                </c:pt>
                <c:pt idx="16">
                  <c:v>8.2766990291262097</c:v>
                </c:pt>
                <c:pt idx="17">
                  <c:v>8.4097560975609795</c:v>
                </c:pt>
                <c:pt idx="18">
                  <c:v>8.0873786407767003</c:v>
                </c:pt>
                <c:pt idx="19">
                  <c:v>8.2912621359223309</c:v>
                </c:pt>
                <c:pt idx="20">
                  <c:v>8.2330097087378604</c:v>
                </c:pt>
                <c:pt idx="21">
                  <c:v>7.93798449612403</c:v>
                </c:pt>
                <c:pt idx="22">
                  <c:v>7.9455252918287904</c:v>
                </c:pt>
              </c:numCache>
            </c:numRef>
          </c:val>
          <c:smooth val="1"/>
          <c:extLst>
            <c:ext xmlns:c16="http://schemas.microsoft.com/office/drawing/2014/chart" uri="{C3380CC4-5D6E-409C-BE32-E72D297353CC}">
              <c16:uniqueId val="{00000001-1D46-423A-9864-1ACBB6D22081}"/>
            </c:ext>
          </c:extLst>
        </c:ser>
        <c:dLbls>
          <c:showLegendKey val="0"/>
          <c:showVal val="0"/>
          <c:showCatName val="0"/>
          <c:showSerName val="0"/>
          <c:showPercent val="0"/>
          <c:showBubbleSize val="0"/>
        </c:dLbls>
        <c:smooth val="0"/>
        <c:axId val="405449200"/>
        <c:axId val="429461056"/>
      </c:lineChart>
      <c:catAx>
        <c:axId val="405449200"/>
        <c:scaling>
          <c:orientation val="minMax"/>
        </c:scaling>
        <c:delete val="0"/>
        <c:axPos val="b"/>
        <c:numFmt formatCode="General" sourceLinked="1"/>
        <c:majorTickMark val="in"/>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0"/>
          <a:lstStyle/>
          <a:p>
            <a:pPr>
              <a:defRPr sz="800" b="0" i="0" u="none" strike="noStrike" kern="1200" baseline="0">
                <a:solidFill>
                  <a:schemeClr val="tx1">
                    <a:lumMod val="65000"/>
                    <a:lumOff val="35000"/>
                  </a:schemeClr>
                </a:solidFill>
                <a:latin typeface="Microsoft YaHei" panose="020B0503020204020204" pitchFamily="34" charset="-122"/>
                <a:ea typeface="Microsoft YaHei" panose="020B0503020204020204" pitchFamily="34" charset="-122"/>
                <a:cs typeface="+mn-cs"/>
              </a:defRPr>
            </a:pPr>
            <a:endParaRPr lang="zh-CN"/>
          </a:p>
        </c:txPr>
        <c:crossAx val="429461056"/>
        <c:crosses val="autoZero"/>
        <c:auto val="1"/>
        <c:lblAlgn val="ctr"/>
        <c:lblOffset val="100"/>
        <c:noMultiLvlLbl val="0"/>
      </c:catAx>
      <c:valAx>
        <c:axId val="429461056"/>
        <c:scaling>
          <c:orientation val="minMax"/>
          <c:min val="6"/>
        </c:scaling>
        <c:delete val="1"/>
        <c:axPos val="l"/>
        <c:majorGridlines>
          <c:spPr>
            <a:ln w="9525" cap="flat" cmpd="sng" algn="ctr">
              <a:solidFill>
                <a:schemeClr val="tx1">
                  <a:lumMod val="15000"/>
                  <a:lumOff val="85000"/>
                </a:schemeClr>
              </a:solidFill>
              <a:prstDash val="dash"/>
              <a:round/>
            </a:ln>
            <a:effectLst/>
          </c:spPr>
        </c:majorGridlines>
        <c:numFmt formatCode="0" sourceLinked="1"/>
        <c:majorTickMark val="out"/>
        <c:minorTickMark val="none"/>
        <c:tickLblPos val="nextTo"/>
        <c:crossAx val="40544920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icrosoft YaHei" panose="020B0503020204020204" pitchFamily="34" charset="-122"/>
              <a:ea typeface="Microsoft YaHei" panose="020B0503020204020204"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855255944866252E-3"/>
          <c:y val="0.16855204082765912"/>
          <c:w val="0.94184632554964332"/>
          <c:h val="0.31541774876212958"/>
        </c:manualLayout>
      </c:layout>
      <c:lineChart>
        <c:grouping val="standard"/>
        <c:varyColors val="0"/>
        <c:ser>
          <c:idx val="0"/>
          <c:order val="0"/>
          <c:tx>
            <c:strRef>
              <c:f>Sheet1!$B$1</c:f>
              <c:strCache>
                <c:ptCount val="1"/>
                <c:pt idx="0">
                  <c:v>竞品车主评价所购品牌</c:v>
                </c:pt>
              </c:strCache>
            </c:strRef>
          </c:tx>
          <c:spPr>
            <a:ln w="28575" cap="rnd">
              <a:solidFill>
                <a:srgbClr val="002060"/>
              </a:solidFill>
              <a:round/>
            </a:ln>
            <a:effectLst/>
          </c:spPr>
          <c:marker>
            <c:symbol val="none"/>
          </c:marker>
          <c:cat>
            <c:strRef>
              <c:f>Sheet1!$A$2:$A$24</c:f>
              <c:strCache>
                <c:ptCount val="23"/>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离店送别服务表现</c:v>
                </c:pt>
                <c:pt idx="22">
                  <c:v>离店后的回访表现</c:v>
                </c:pt>
              </c:strCache>
            </c:strRef>
          </c:cat>
          <c:val>
            <c:numRef>
              <c:f>Sheet1!$B$2:$B$24</c:f>
              <c:numCache>
                <c:formatCode>0.00_ </c:formatCode>
                <c:ptCount val="23"/>
                <c:pt idx="0">
                  <c:v>8.4179894179894195</c:v>
                </c:pt>
                <c:pt idx="1">
                  <c:v>8.6609195402298909</c:v>
                </c:pt>
                <c:pt idx="2">
                  <c:v>8.5555555555555607</c:v>
                </c:pt>
                <c:pt idx="3">
                  <c:v>8.5066666666666695</c:v>
                </c:pt>
                <c:pt idx="4">
                  <c:v>8.4755555555555606</c:v>
                </c:pt>
                <c:pt idx="5">
                  <c:v>8.4622222222222199</c:v>
                </c:pt>
                <c:pt idx="6">
                  <c:v>8.76</c:v>
                </c:pt>
                <c:pt idx="7">
                  <c:v>8.5401785714285694</c:v>
                </c:pt>
                <c:pt idx="8">
                  <c:v>8.7244444444444404</c:v>
                </c:pt>
                <c:pt idx="9">
                  <c:v>8.68</c:v>
                </c:pt>
                <c:pt idx="10">
                  <c:v>8.5288888888888899</c:v>
                </c:pt>
                <c:pt idx="11">
                  <c:v>8.3377777777777808</c:v>
                </c:pt>
                <c:pt idx="12">
                  <c:v>8.5866666666666696</c:v>
                </c:pt>
                <c:pt idx="13">
                  <c:v>8.5777777777777793</c:v>
                </c:pt>
                <c:pt idx="14">
                  <c:v>8.6355555555555608</c:v>
                </c:pt>
                <c:pt idx="15">
                  <c:v>8.48</c:v>
                </c:pt>
                <c:pt idx="16">
                  <c:v>8.4933333333333305</c:v>
                </c:pt>
                <c:pt idx="17">
                  <c:v>8.6622222222222192</c:v>
                </c:pt>
                <c:pt idx="18">
                  <c:v>8.44</c:v>
                </c:pt>
                <c:pt idx="19">
                  <c:v>8.5777777777777793</c:v>
                </c:pt>
                <c:pt idx="20">
                  <c:v>8.5688888888888908</c:v>
                </c:pt>
                <c:pt idx="21">
                  <c:v>8.6622222222222192</c:v>
                </c:pt>
                <c:pt idx="22">
                  <c:v>8.53571428571429</c:v>
                </c:pt>
              </c:numCache>
            </c:numRef>
          </c:val>
          <c:smooth val="1"/>
          <c:extLst>
            <c:ext xmlns:c16="http://schemas.microsoft.com/office/drawing/2014/chart" uri="{C3380CC4-5D6E-409C-BE32-E72D297353CC}">
              <c16:uniqueId val="{00000000-C74F-48F4-92D8-C77E012F0E87}"/>
            </c:ext>
          </c:extLst>
        </c:ser>
        <c:ser>
          <c:idx val="1"/>
          <c:order val="1"/>
          <c:tx>
            <c:strRef>
              <c:f>Sheet1!$C$1</c:f>
              <c:strCache>
                <c:ptCount val="1"/>
                <c:pt idx="0">
                  <c:v>竞品车主评价阿维塔</c:v>
                </c:pt>
              </c:strCache>
            </c:strRef>
          </c:tx>
          <c:spPr>
            <a:ln w="28575" cap="rnd">
              <a:solidFill>
                <a:srgbClr val="C00000"/>
              </a:solidFill>
              <a:round/>
            </a:ln>
            <a:effectLst/>
          </c:spPr>
          <c:marker>
            <c:symbol val="none"/>
          </c:marker>
          <c:cat>
            <c:strRef>
              <c:f>Sheet1!$A$2:$A$24</c:f>
              <c:strCache>
                <c:ptCount val="23"/>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离店送别服务表现</c:v>
                </c:pt>
                <c:pt idx="22">
                  <c:v>离店后的回访表现</c:v>
                </c:pt>
              </c:strCache>
            </c:strRef>
          </c:cat>
          <c:val>
            <c:numRef>
              <c:f>Sheet1!$C$2:$C$24</c:f>
              <c:numCache>
                <c:formatCode>0.00_ </c:formatCode>
                <c:ptCount val="23"/>
                <c:pt idx="0">
                  <c:v>7.8669950738916299</c:v>
                </c:pt>
                <c:pt idx="1">
                  <c:v>7.9408866995073897</c:v>
                </c:pt>
                <c:pt idx="2">
                  <c:v>8.0089285714285694</c:v>
                </c:pt>
                <c:pt idx="3">
                  <c:v>7.7935779816513797</c:v>
                </c:pt>
                <c:pt idx="4">
                  <c:v>7.74770642201835</c:v>
                </c:pt>
                <c:pt idx="5">
                  <c:v>7.6926605504587204</c:v>
                </c:pt>
                <c:pt idx="6">
                  <c:v>8.0321100917431192</c:v>
                </c:pt>
                <c:pt idx="7">
                  <c:v>7.7614678899082596</c:v>
                </c:pt>
                <c:pt idx="8">
                  <c:v>8.2110091743119291</c:v>
                </c:pt>
                <c:pt idx="9">
                  <c:v>8.0458715596330297</c:v>
                </c:pt>
                <c:pt idx="10">
                  <c:v>7.8894009216589902</c:v>
                </c:pt>
                <c:pt idx="11">
                  <c:v>7.6728110599078301</c:v>
                </c:pt>
                <c:pt idx="12">
                  <c:v>7.8807339449541303</c:v>
                </c:pt>
                <c:pt idx="13">
                  <c:v>7.8691099476439801</c:v>
                </c:pt>
                <c:pt idx="14">
                  <c:v>7.8115183246073299</c:v>
                </c:pt>
                <c:pt idx="15">
                  <c:v>7.7486910994764404</c:v>
                </c:pt>
                <c:pt idx="16">
                  <c:v>7.6858638743455501</c:v>
                </c:pt>
                <c:pt idx="17">
                  <c:v>8.1570680628272196</c:v>
                </c:pt>
                <c:pt idx="18">
                  <c:v>7.7958115183246104</c:v>
                </c:pt>
                <c:pt idx="19">
                  <c:v>7.9162303664921501</c:v>
                </c:pt>
                <c:pt idx="20">
                  <c:v>7.8691099476439801</c:v>
                </c:pt>
                <c:pt idx="21">
                  <c:v>7.8666666666666698</c:v>
                </c:pt>
                <c:pt idx="22">
                  <c:v>7.64864864864865</c:v>
                </c:pt>
              </c:numCache>
            </c:numRef>
          </c:val>
          <c:smooth val="1"/>
          <c:extLst>
            <c:ext xmlns:c16="http://schemas.microsoft.com/office/drawing/2014/chart" uri="{C3380CC4-5D6E-409C-BE32-E72D297353CC}">
              <c16:uniqueId val="{00000001-C74F-48F4-92D8-C77E012F0E87}"/>
            </c:ext>
          </c:extLst>
        </c:ser>
        <c:dLbls>
          <c:showLegendKey val="0"/>
          <c:showVal val="0"/>
          <c:showCatName val="0"/>
          <c:showSerName val="0"/>
          <c:showPercent val="0"/>
          <c:showBubbleSize val="0"/>
        </c:dLbls>
        <c:smooth val="0"/>
        <c:axId val="405449200"/>
        <c:axId val="429461056"/>
      </c:lineChart>
      <c:catAx>
        <c:axId val="405449200"/>
        <c:scaling>
          <c:orientation val="minMax"/>
        </c:scaling>
        <c:delete val="0"/>
        <c:axPos val="b"/>
        <c:numFmt formatCode="General" sourceLinked="1"/>
        <c:majorTickMark val="in"/>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0"/>
          <a:lstStyle/>
          <a:p>
            <a:pPr>
              <a:defRPr sz="800" b="0" i="0" u="none" strike="noStrike" kern="1200" baseline="0">
                <a:solidFill>
                  <a:schemeClr val="tx1">
                    <a:lumMod val="65000"/>
                    <a:lumOff val="35000"/>
                  </a:schemeClr>
                </a:solidFill>
                <a:latin typeface="Microsoft YaHei" panose="020B0503020204020204" pitchFamily="34" charset="-122"/>
                <a:ea typeface="Microsoft YaHei" panose="020B0503020204020204" pitchFamily="34" charset="-122"/>
                <a:cs typeface="+mn-cs"/>
              </a:defRPr>
            </a:pPr>
            <a:endParaRPr lang="zh-CN"/>
          </a:p>
        </c:txPr>
        <c:crossAx val="429461056"/>
        <c:crosses val="autoZero"/>
        <c:auto val="1"/>
        <c:lblAlgn val="ctr"/>
        <c:lblOffset val="100"/>
        <c:noMultiLvlLbl val="0"/>
      </c:catAx>
      <c:valAx>
        <c:axId val="429461056"/>
        <c:scaling>
          <c:orientation val="minMax"/>
          <c:min val="6"/>
        </c:scaling>
        <c:delete val="1"/>
        <c:axPos val="l"/>
        <c:majorGridlines>
          <c:spPr>
            <a:ln w="9525" cap="flat" cmpd="sng" algn="ctr">
              <a:solidFill>
                <a:schemeClr val="tx1">
                  <a:lumMod val="15000"/>
                  <a:lumOff val="85000"/>
                </a:schemeClr>
              </a:solidFill>
              <a:prstDash val="dash"/>
              <a:round/>
            </a:ln>
            <a:effectLst/>
          </c:spPr>
        </c:majorGridlines>
        <c:numFmt formatCode="0.00_ " sourceLinked="1"/>
        <c:majorTickMark val="out"/>
        <c:minorTickMark val="none"/>
        <c:tickLblPos val="nextTo"/>
        <c:crossAx val="40544920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icrosoft YaHei" panose="020B0503020204020204" pitchFamily="34" charset="-122"/>
              <a:ea typeface="Microsoft YaHei" panose="020B0503020204020204"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855255944866252E-3"/>
          <c:y val="5.7200809495259942E-2"/>
          <c:w val="0.94184632554964332"/>
          <c:h val="0.49357997968086409"/>
        </c:manualLayout>
      </c:layout>
      <c:lineChart>
        <c:grouping val="standard"/>
        <c:varyColors val="0"/>
        <c:ser>
          <c:idx val="0"/>
          <c:order val="0"/>
          <c:tx>
            <c:strRef>
              <c:f>Sheet1!$B$1</c:f>
              <c:strCache>
                <c:ptCount val="1"/>
                <c:pt idx="0">
                  <c:v>本品车主评价阿维塔</c:v>
                </c:pt>
              </c:strCache>
            </c:strRef>
          </c:tx>
          <c:spPr>
            <a:ln w="28575" cap="rnd">
              <a:solidFill>
                <a:srgbClr val="4B8D56"/>
              </a:solidFill>
              <a:round/>
            </a:ln>
            <a:effectLst/>
          </c:spPr>
          <c:marker>
            <c:symbol val="none"/>
          </c:marker>
          <c:cat>
            <c:strRef>
              <c:f>Sheet1!$A$2:$A$24</c:f>
              <c:strCache>
                <c:ptCount val="23"/>
                <c:pt idx="0">
                  <c:v>咨询过程的专业度</c:v>
                </c:pt>
                <c:pt idx="1">
                  <c:v>预约便利性</c:v>
                </c:pt>
                <c:pt idx="2">
                  <c:v>人员接待及时性与主动性</c:v>
                </c:pt>
                <c:pt idx="3">
                  <c:v>销售人员对车型产品介绍专业性</c:v>
                </c:pt>
                <c:pt idx="4">
                  <c:v>销售顾问能够理解我的购车需求，并进行针对性推荐程度</c:v>
                </c:pt>
                <c:pt idx="5">
                  <c:v>车辆的静态演示和体验表现</c:v>
                </c:pt>
                <c:pt idx="6">
                  <c:v>销售人员的服务态度</c:v>
                </c:pt>
                <c:pt idx="7">
                  <c:v>销售顾问诚信度</c:v>
                </c:pt>
                <c:pt idx="8">
                  <c:v>销售人员的形象</c:v>
                </c:pt>
                <c:pt idx="9">
                  <c:v>门店展车的配置与整洁情况</c:v>
                </c:pt>
                <c:pt idx="10">
                  <c:v>店内硬件设施</c:v>
                </c:pt>
                <c:pt idx="11">
                  <c:v>店内提供的饮品服务</c:v>
                </c:pt>
                <c:pt idx="12">
                  <c:v>店内设计风格</c:v>
                </c:pt>
                <c:pt idx="13">
                  <c:v>整体门店试驾邀约满意度</c:v>
                </c:pt>
                <c:pt idx="14">
                  <c:v>试驾申请流程便捷程度</c:v>
                </c:pt>
                <c:pt idx="15">
                  <c:v>对试驾等待时间的满意度</c:v>
                </c:pt>
                <c:pt idx="16">
                  <c:v>试驾前的准备工作满意度</c:v>
                </c:pt>
                <c:pt idx="17">
                  <c:v>试乘试驾车辆状况</c:v>
                </c:pt>
                <c:pt idx="18">
                  <c:v>试驾时长与试驾流程安排合理性</c:v>
                </c:pt>
                <c:pt idx="19">
                  <c:v>试驾中的产品讲解专业性</c:v>
                </c:pt>
                <c:pt idx="20">
                  <c:v>试乘试驾结束后，服务人员持续服务的满意度</c:v>
                </c:pt>
                <c:pt idx="21">
                  <c:v>离店送别服务表现</c:v>
                </c:pt>
                <c:pt idx="22">
                  <c:v>离店后回访表现</c:v>
                </c:pt>
              </c:strCache>
            </c:strRef>
          </c:cat>
          <c:val>
            <c:numRef>
              <c:f>Sheet1!$B$2:$B$24</c:f>
              <c:numCache>
                <c:formatCode>0</c:formatCode>
                <c:ptCount val="23"/>
                <c:pt idx="0">
                  <c:v>8.4153846153846192</c:v>
                </c:pt>
                <c:pt idx="1">
                  <c:v>8.5967741935483897</c:v>
                </c:pt>
                <c:pt idx="2">
                  <c:v>8.8987341772151893</c:v>
                </c:pt>
                <c:pt idx="3">
                  <c:v>8.5822784810126596</c:v>
                </c:pt>
                <c:pt idx="4">
                  <c:v>8.5316455696202507</c:v>
                </c:pt>
                <c:pt idx="5">
                  <c:v>8.6962025316455698</c:v>
                </c:pt>
                <c:pt idx="6">
                  <c:v>9</c:v>
                </c:pt>
                <c:pt idx="7">
                  <c:v>8.7974683544303804</c:v>
                </c:pt>
                <c:pt idx="8">
                  <c:v>8.9367088607594898</c:v>
                </c:pt>
                <c:pt idx="9">
                  <c:v>8.8481012658227804</c:v>
                </c:pt>
                <c:pt idx="10">
                  <c:v>8.6329113924050596</c:v>
                </c:pt>
                <c:pt idx="11">
                  <c:v>8.0909090909090899</c:v>
                </c:pt>
                <c:pt idx="12">
                  <c:v>8.5569620253164604</c:v>
                </c:pt>
                <c:pt idx="13">
                  <c:v>8.8734177215189902</c:v>
                </c:pt>
                <c:pt idx="14">
                  <c:v>8.9620253164557013</c:v>
                </c:pt>
                <c:pt idx="15">
                  <c:v>8.9367088607594898</c:v>
                </c:pt>
                <c:pt idx="16">
                  <c:v>8.8860759493670898</c:v>
                </c:pt>
                <c:pt idx="17">
                  <c:v>9.0126582278480996</c:v>
                </c:pt>
                <c:pt idx="18">
                  <c:v>8.7974683544303804</c:v>
                </c:pt>
                <c:pt idx="19">
                  <c:v>8.5063291139240498</c:v>
                </c:pt>
                <c:pt idx="20">
                  <c:v>8.7341772151898702</c:v>
                </c:pt>
                <c:pt idx="21">
                  <c:v>8.6075949367088587</c:v>
                </c:pt>
                <c:pt idx="22">
                  <c:v>8.62025316455696</c:v>
                </c:pt>
              </c:numCache>
            </c:numRef>
          </c:val>
          <c:smooth val="1"/>
          <c:extLst>
            <c:ext xmlns:c16="http://schemas.microsoft.com/office/drawing/2014/chart" uri="{C3380CC4-5D6E-409C-BE32-E72D297353CC}">
              <c16:uniqueId val="{00000000-1D46-423A-9864-1ACBB6D22081}"/>
            </c:ext>
          </c:extLst>
        </c:ser>
        <c:ser>
          <c:idx val="1"/>
          <c:order val="1"/>
          <c:tx>
            <c:strRef>
              <c:f>Sheet1!$C$1</c:f>
              <c:strCache>
                <c:ptCount val="1"/>
                <c:pt idx="0">
                  <c:v>本品车主评价竞品</c:v>
                </c:pt>
              </c:strCache>
            </c:strRef>
          </c:tx>
          <c:spPr>
            <a:ln w="28575" cap="rnd">
              <a:solidFill>
                <a:schemeClr val="tx1">
                  <a:lumMod val="50000"/>
                  <a:lumOff val="50000"/>
                </a:schemeClr>
              </a:solidFill>
              <a:round/>
            </a:ln>
            <a:effectLst/>
          </c:spPr>
          <c:marker>
            <c:symbol val="none"/>
          </c:marker>
          <c:cat>
            <c:strRef>
              <c:f>Sheet1!$A$2:$A$24</c:f>
              <c:strCache>
                <c:ptCount val="23"/>
                <c:pt idx="0">
                  <c:v>咨询过程的专业度</c:v>
                </c:pt>
                <c:pt idx="1">
                  <c:v>预约便利性</c:v>
                </c:pt>
                <c:pt idx="2">
                  <c:v>人员接待及时性与主动性</c:v>
                </c:pt>
                <c:pt idx="3">
                  <c:v>销售人员对车型产品介绍专业性</c:v>
                </c:pt>
                <c:pt idx="4">
                  <c:v>销售顾问能够理解我的购车需求，并进行针对性推荐程度</c:v>
                </c:pt>
                <c:pt idx="5">
                  <c:v>车辆的静态演示和体验表现</c:v>
                </c:pt>
                <c:pt idx="6">
                  <c:v>销售人员的服务态度</c:v>
                </c:pt>
                <c:pt idx="7">
                  <c:v>销售顾问诚信度</c:v>
                </c:pt>
                <c:pt idx="8">
                  <c:v>销售人员的形象</c:v>
                </c:pt>
                <c:pt idx="9">
                  <c:v>门店展车的配置与整洁情况</c:v>
                </c:pt>
                <c:pt idx="10">
                  <c:v>店内硬件设施</c:v>
                </c:pt>
                <c:pt idx="11">
                  <c:v>店内提供的饮品服务</c:v>
                </c:pt>
                <c:pt idx="12">
                  <c:v>店内设计风格</c:v>
                </c:pt>
                <c:pt idx="13">
                  <c:v>整体门店试驾邀约满意度</c:v>
                </c:pt>
                <c:pt idx="14">
                  <c:v>试驾申请流程便捷程度</c:v>
                </c:pt>
                <c:pt idx="15">
                  <c:v>对试驾等待时间的满意度</c:v>
                </c:pt>
                <c:pt idx="16">
                  <c:v>试驾前的准备工作满意度</c:v>
                </c:pt>
                <c:pt idx="17">
                  <c:v>试乘试驾车辆状况</c:v>
                </c:pt>
                <c:pt idx="18">
                  <c:v>试驾时长与试驾流程安排合理性</c:v>
                </c:pt>
                <c:pt idx="19">
                  <c:v>试驾中的产品讲解专业性</c:v>
                </c:pt>
                <c:pt idx="20">
                  <c:v>试乘试驾结束后，服务人员持续服务的满意度</c:v>
                </c:pt>
                <c:pt idx="21">
                  <c:v>离店送别服务表现</c:v>
                </c:pt>
                <c:pt idx="22">
                  <c:v>离店后回访表现</c:v>
                </c:pt>
              </c:strCache>
            </c:strRef>
          </c:cat>
          <c:val>
            <c:numRef>
              <c:f>Sheet1!$C$2:$C$24</c:f>
              <c:numCache>
                <c:formatCode>0</c:formatCode>
                <c:ptCount val="23"/>
                <c:pt idx="0">
                  <c:v>8.1940298507462703</c:v>
                </c:pt>
                <c:pt idx="1">
                  <c:v>8.3432835820895495</c:v>
                </c:pt>
                <c:pt idx="2">
                  <c:v>8.3243243243243299</c:v>
                </c:pt>
                <c:pt idx="3">
                  <c:v>8.0422535211267601</c:v>
                </c:pt>
                <c:pt idx="4">
                  <c:v>8.0555555555555607</c:v>
                </c:pt>
                <c:pt idx="5">
                  <c:v>8.1111111111111089</c:v>
                </c:pt>
                <c:pt idx="6">
                  <c:v>8.2916666666666696</c:v>
                </c:pt>
                <c:pt idx="7">
                  <c:v>8.1388888888888911</c:v>
                </c:pt>
                <c:pt idx="8">
                  <c:v>8.4444444444444393</c:v>
                </c:pt>
                <c:pt idx="9">
                  <c:v>8.5</c:v>
                </c:pt>
                <c:pt idx="10">
                  <c:v>8.4109589041095898</c:v>
                </c:pt>
                <c:pt idx="11">
                  <c:v>7.8888888888888902</c:v>
                </c:pt>
                <c:pt idx="12">
                  <c:v>8.1666666666666696</c:v>
                </c:pt>
                <c:pt idx="13">
                  <c:v>8.2881355932203409</c:v>
                </c:pt>
                <c:pt idx="14">
                  <c:v>8.42372881355932</c:v>
                </c:pt>
                <c:pt idx="15">
                  <c:v>8.1016949152542388</c:v>
                </c:pt>
                <c:pt idx="16">
                  <c:v>8.1694915254237301</c:v>
                </c:pt>
                <c:pt idx="17">
                  <c:v>8.4137931034482794</c:v>
                </c:pt>
                <c:pt idx="18">
                  <c:v>8.0169491525423702</c:v>
                </c:pt>
                <c:pt idx="19">
                  <c:v>8.3833333333333311</c:v>
                </c:pt>
                <c:pt idx="20">
                  <c:v>8.3728813559322006</c:v>
                </c:pt>
                <c:pt idx="21">
                  <c:v>8.3076923076923102</c:v>
                </c:pt>
                <c:pt idx="22">
                  <c:v>8.2307692307692299</c:v>
                </c:pt>
              </c:numCache>
            </c:numRef>
          </c:val>
          <c:smooth val="1"/>
          <c:extLst>
            <c:ext xmlns:c16="http://schemas.microsoft.com/office/drawing/2014/chart" uri="{C3380CC4-5D6E-409C-BE32-E72D297353CC}">
              <c16:uniqueId val="{00000001-1D46-423A-9864-1ACBB6D22081}"/>
            </c:ext>
          </c:extLst>
        </c:ser>
        <c:dLbls>
          <c:showLegendKey val="0"/>
          <c:showVal val="0"/>
          <c:showCatName val="0"/>
          <c:showSerName val="0"/>
          <c:showPercent val="0"/>
          <c:showBubbleSize val="0"/>
        </c:dLbls>
        <c:smooth val="0"/>
        <c:axId val="405449200"/>
        <c:axId val="429461056"/>
      </c:lineChart>
      <c:catAx>
        <c:axId val="405449200"/>
        <c:scaling>
          <c:orientation val="minMax"/>
        </c:scaling>
        <c:delete val="0"/>
        <c:axPos val="b"/>
        <c:numFmt formatCode="General" sourceLinked="1"/>
        <c:majorTickMark val="in"/>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0"/>
          <a:lstStyle/>
          <a:p>
            <a:pPr>
              <a:defRPr sz="800" b="0" i="0" u="none" strike="noStrike" kern="1200" baseline="0">
                <a:solidFill>
                  <a:schemeClr val="tx1">
                    <a:lumMod val="65000"/>
                    <a:lumOff val="35000"/>
                  </a:schemeClr>
                </a:solidFill>
                <a:latin typeface="+mn-ea"/>
                <a:ea typeface="+mn-ea"/>
                <a:cs typeface="+mn-cs"/>
              </a:defRPr>
            </a:pPr>
            <a:endParaRPr lang="zh-CN"/>
          </a:p>
        </c:txPr>
        <c:crossAx val="429461056"/>
        <c:crosses val="autoZero"/>
        <c:auto val="1"/>
        <c:lblAlgn val="ctr"/>
        <c:lblOffset val="100"/>
        <c:noMultiLvlLbl val="0"/>
      </c:catAx>
      <c:valAx>
        <c:axId val="429461056"/>
        <c:scaling>
          <c:orientation val="minMax"/>
          <c:min val="6"/>
        </c:scaling>
        <c:delete val="1"/>
        <c:axPos val="l"/>
        <c:majorGridlines>
          <c:spPr>
            <a:ln w="9525" cap="flat" cmpd="sng" algn="ctr">
              <a:solidFill>
                <a:schemeClr val="tx1">
                  <a:lumMod val="15000"/>
                  <a:lumOff val="85000"/>
                </a:schemeClr>
              </a:solidFill>
              <a:prstDash val="dash"/>
              <a:round/>
            </a:ln>
            <a:effectLst/>
          </c:spPr>
        </c:majorGridlines>
        <c:numFmt formatCode="0" sourceLinked="1"/>
        <c:majorTickMark val="out"/>
        <c:minorTickMark val="none"/>
        <c:tickLblPos val="nextTo"/>
        <c:crossAx val="40544920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icrosoft YaHei" panose="020B0503020204020204" pitchFamily="34" charset="-122"/>
              <a:ea typeface="Microsoft YaHei" panose="020B0503020204020204"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855255944866252E-3"/>
          <c:y val="0.16855204082765912"/>
          <c:w val="0.94184632554964332"/>
          <c:h val="0.31541774876212958"/>
        </c:manualLayout>
      </c:layout>
      <c:lineChart>
        <c:grouping val="standard"/>
        <c:varyColors val="0"/>
        <c:ser>
          <c:idx val="0"/>
          <c:order val="0"/>
          <c:tx>
            <c:strRef>
              <c:f>Sheet1!$B$1</c:f>
              <c:strCache>
                <c:ptCount val="1"/>
                <c:pt idx="0">
                  <c:v>竞品车主评价所购品牌</c:v>
                </c:pt>
              </c:strCache>
            </c:strRef>
          </c:tx>
          <c:spPr>
            <a:ln w="28575" cap="rnd">
              <a:solidFill>
                <a:srgbClr val="002060"/>
              </a:solidFill>
              <a:round/>
            </a:ln>
            <a:effectLst/>
          </c:spPr>
          <c:marker>
            <c:symbol val="none"/>
          </c:marker>
          <c:cat>
            <c:strRef>
              <c:f>Sheet1!$A$2:$A$24</c:f>
              <c:strCache>
                <c:ptCount val="23"/>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离店送别服务表现</c:v>
                </c:pt>
                <c:pt idx="22">
                  <c:v>离店后的回访表现</c:v>
                </c:pt>
              </c:strCache>
            </c:strRef>
          </c:cat>
          <c:val>
            <c:numRef>
              <c:f>Sheet1!$B$2:$B$24</c:f>
              <c:numCache>
                <c:formatCode>0.00_ </c:formatCode>
                <c:ptCount val="23"/>
                <c:pt idx="0">
                  <c:v>8.6666666666666696</c:v>
                </c:pt>
                <c:pt idx="1">
                  <c:v>8.8148148148148202</c:v>
                </c:pt>
                <c:pt idx="2">
                  <c:v>8.6176470588235308</c:v>
                </c:pt>
                <c:pt idx="3">
                  <c:v>8.7647058823529402</c:v>
                </c:pt>
                <c:pt idx="4">
                  <c:v>8.5294117647058787</c:v>
                </c:pt>
                <c:pt idx="5">
                  <c:v>8.5882352941176503</c:v>
                </c:pt>
                <c:pt idx="6">
                  <c:v>8.7647058823529402</c:v>
                </c:pt>
                <c:pt idx="7">
                  <c:v>8.6363636363636402</c:v>
                </c:pt>
                <c:pt idx="8">
                  <c:v>8.9705882352941213</c:v>
                </c:pt>
                <c:pt idx="9">
                  <c:v>9.0294117647058787</c:v>
                </c:pt>
                <c:pt idx="10">
                  <c:v>8.7647058823529402</c:v>
                </c:pt>
                <c:pt idx="11">
                  <c:v>8.5</c:v>
                </c:pt>
                <c:pt idx="12">
                  <c:v>8.7352941176470598</c:v>
                </c:pt>
                <c:pt idx="13">
                  <c:v>8.7058823529411811</c:v>
                </c:pt>
                <c:pt idx="14">
                  <c:v>8.7941176470588189</c:v>
                </c:pt>
                <c:pt idx="15">
                  <c:v>8.6176470588235308</c:v>
                </c:pt>
                <c:pt idx="16">
                  <c:v>8.5882352941176503</c:v>
                </c:pt>
                <c:pt idx="17">
                  <c:v>8.7647058823529402</c:v>
                </c:pt>
                <c:pt idx="18">
                  <c:v>8.4705882352941213</c:v>
                </c:pt>
                <c:pt idx="19">
                  <c:v>8.7647058823529402</c:v>
                </c:pt>
                <c:pt idx="20">
                  <c:v>8.8235294117647101</c:v>
                </c:pt>
                <c:pt idx="21">
                  <c:v>8.9117647058823497</c:v>
                </c:pt>
                <c:pt idx="22">
                  <c:v>8.5294117647058787</c:v>
                </c:pt>
              </c:numCache>
            </c:numRef>
          </c:val>
          <c:smooth val="1"/>
          <c:extLst>
            <c:ext xmlns:c16="http://schemas.microsoft.com/office/drawing/2014/chart" uri="{C3380CC4-5D6E-409C-BE32-E72D297353CC}">
              <c16:uniqueId val="{00000000-C74F-48F4-92D8-C77E012F0E87}"/>
            </c:ext>
          </c:extLst>
        </c:ser>
        <c:ser>
          <c:idx val="1"/>
          <c:order val="1"/>
          <c:tx>
            <c:strRef>
              <c:f>Sheet1!$C$1</c:f>
              <c:strCache>
                <c:ptCount val="1"/>
                <c:pt idx="0">
                  <c:v>竞品车主评价阿维塔</c:v>
                </c:pt>
              </c:strCache>
            </c:strRef>
          </c:tx>
          <c:spPr>
            <a:ln w="28575" cap="rnd">
              <a:solidFill>
                <a:srgbClr val="C00000"/>
              </a:solidFill>
              <a:round/>
            </a:ln>
            <a:effectLst/>
          </c:spPr>
          <c:marker>
            <c:symbol val="none"/>
          </c:marker>
          <c:cat>
            <c:strRef>
              <c:f>Sheet1!$A$2:$A$24</c:f>
              <c:strCache>
                <c:ptCount val="23"/>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离店送别服务表现</c:v>
                </c:pt>
                <c:pt idx="22">
                  <c:v>离店后的回访表现</c:v>
                </c:pt>
              </c:strCache>
            </c:strRef>
          </c:cat>
          <c:val>
            <c:numRef>
              <c:f>Sheet1!$C$2:$C$24</c:f>
              <c:numCache>
                <c:formatCode>0.00_ </c:formatCode>
                <c:ptCount val="23"/>
                <c:pt idx="0">
                  <c:v>8.0322580645161299</c:v>
                </c:pt>
                <c:pt idx="1">
                  <c:v>7.8387096774193505</c:v>
                </c:pt>
                <c:pt idx="2">
                  <c:v>8.1470588235294095</c:v>
                </c:pt>
                <c:pt idx="3">
                  <c:v>8.0588235294117609</c:v>
                </c:pt>
                <c:pt idx="4">
                  <c:v>8.0294117647058787</c:v>
                </c:pt>
                <c:pt idx="5">
                  <c:v>8</c:v>
                </c:pt>
                <c:pt idx="6">
                  <c:v>8.2647058823529402</c:v>
                </c:pt>
                <c:pt idx="7">
                  <c:v>7.8235294117647092</c:v>
                </c:pt>
                <c:pt idx="8">
                  <c:v>8.3235294117647101</c:v>
                </c:pt>
                <c:pt idx="9">
                  <c:v>8.3235294117647101</c:v>
                </c:pt>
                <c:pt idx="10">
                  <c:v>8.1764705882352899</c:v>
                </c:pt>
                <c:pt idx="11">
                  <c:v>7.9411764705882399</c:v>
                </c:pt>
                <c:pt idx="12">
                  <c:v>7.9705882352941204</c:v>
                </c:pt>
                <c:pt idx="13">
                  <c:v>8.1785714285714306</c:v>
                </c:pt>
                <c:pt idx="14">
                  <c:v>8.21428571428571</c:v>
                </c:pt>
                <c:pt idx="15">
                  <c:v>8.1785714285714306</c:v>
                </c:pt>
                <c:pt idx="16">
                  <c:v>7.78571428571429</c:v>
                </c:pt>
                <c:pt idx="17">
                  <c:v>8.3928571428571406</c:v>
                </c:pt>
                <c:pt idx="18">
                  <c:v>8.03571428571429</c:v>
                </c:pt>
                <c:pt idx="19">
                  <c:v>8.3214285714285694</c:v>
                </c:pt>
                <c:pt idx="20">
                  <c:v>7.8928571428571397</c:v>
                </c:pt>
                <c:pt idx="21">
                  <c:v>8.1470588235294095</c:v>
                </c:pt>
                <c:pt idx="22">
                  <c:v>7.6470588235294095</c:v>
                </c:pt>
              </c:numCache>
            </c:numRef>
          </c:val>
          <c:smooth val="1"/>
          <c:extLst>
            <c:ext xmlns:c16="http://schemas.microsoft.com/office/drawing/2014/chart" uri="{C3380CC4-5D6E-409C-BE32-E72D297353CC}">
              <c16:uniqueId val="{00000001-C74F-48F4-92D8-C77E012F0E87}"/>
            </c:ext>
          </c:extLst>
        </c:ser>
        <c:dLbls>
          <c:showLegendKey val="0"/>
          <c:showVal val="0"/>
          <c:showCatName val="0"/>
          <c:showSerName val="0"/>
          <c:showPercent val="0"/>
          <c:showBubbleSize val="0"/>
        </c:dLbls>
        <c:smooth val="0"/>
        <c:axId val="405449200"/>
        <c:axId val="429461056"/>
      </c:lineChart>
      <c:catAx>
        <c:axId val="405449200"/>
        <c:scaling>
          <c:orientation val="minMax"/>
        </c:scaling>
        <c:delete val="0"/>
        <c:axPos val="b"/>
        <c:numFmt formatCode="General" sourceLinked="1"/>
        <c:majorTickMark val="in"/>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0"/>
          <a:lstStyle/>
          <a:p>
            <a:pPr>
              <a:defRPr sz="800" b="0" i="0" u="none" strike="noStrike" kern="1200" baseline="0">
                <a:solidFill>
                  <a:schemeClr val="tx1">
                    <a:lumMod val="65000"/>
                    <a:lumOff val="35000"/>
                  </a:schemeClr>
                </a:solidFill>
                <a:latin typeface="Microsoft YaHei" panose="020B0503020204020204" pitchFamily="34" charset="-122"/>
                <a:ea typeface="Microsoft YaHei" panose="020B0503020204020204" pitchFamily="34" charset="-122"/>
                <a:cs typeface="+mn-cs"/>
              </a:defRPr>
            </a:pPr>
            <a:endParaRPr lang="zh-CN"/>
          </a:p>
        </c:txPr>
        <c:crossAx val="429461056"/>
        <c:crosses val="autoZero"/>
        <c:auto val="1"/>
        <c:lblAlgn val="ctr"/>
        <c:lblOffset val="100"/>
        <c:noMultiLvlLbl val="0"/>
      </c:catAx>
      <c:valAx>
        <c:axId val="429461056"/>
        <c:scaling>
          <c:orientation val="minMax"/>
          <c:min val="6"/>
        </c:scaling>
        <c:delete val="1"/>
        <c:axPos val="l"/>
        <c:majorGridlines>
          <c:spPr>
            <a:ln w="9525" cap="flat" cmpd="sng" algn="ctr">
              <a:solidFill>
                <a:schemeClr val="tx1">
                  <a:lumMod val="15000"/>
                  <a:lumOff val="85000"/>
                </a:schemeClr>
              </a:solidFill>
              <a:prstDash val="dash"/>
              <a:round/>
            </a:ln>
            <a:effectLst/>
          </c:spPr>
        </c:majorGridlines>
        <c:numFmt formatCode="0.00_ " sourceLinked="1"/>
        <c:majorTickMark val="out"/>
        <c:minorTickMark val="none"/>
        <c:tickLblPos val="nextTo"/>
        <c:crossAx val="40544920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icrosoft YaHei" panose="020B0503020204020204" pitchFamily="34" charset="-122"/>
              <a:ea typeface="Microsoft YaHei" panose="020B0503020204020204"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 值</c:v>
                </c:pt>
              </c:strCache>
            </c:strRef>
          </c:tx>
          <c:spPr>
            <a:ln w="19050" cap="rnd">
              <a:noFill/>
              <a:round/>
            </a:ln>
            <a:effectLst/>
          </c:spPr>
          <c:marker>
            <c:symbol val="circle"/>
            <c:size val="5"/>
            <c:spPr>
              <a:solidFill>
                <a:schemeClr val="accent1"/>
              </a:solidFill>
              <a:ln w="9525">
                <a:solidFill>
                  <a:schemeClr val="accent1"/>
                </a:solidFill>
              </a:ln>
              <a:effectLst/>
            </c:spPr>
          </c:marker>
          <c:dLbls>
            <c:dLbl>
              <c:idx val="0"/>
              <c:tx>
                <c:rich>
                  <a:bodyPr/>
                  <a:lstStyle/>
                  <a:p>
                    <a:fld id="{7DE6BB0C-7125-4F01-B8E3-7DC70C57AEAA}"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EF0F-4825-9E26-E55E8F8B6D3D}"/>
                </c:ext>
              </c:extLst>
            </c:dLbl>
            <c:dLbl>
              <c:idx val="1"/>
              <c:layout>
                <c:manualLayout>
                  <c:x val="-0.15937500000000004"/>
                  <c:y val="-0.10010918613453142"/>
                </c:manualLayout>
              </c:layout>
              <c:tx>
                <c:rich>
                  <a:bodyPr/>
                  <a:lstStyle/>
                  <a:p>
                    <a:fld id="{EBDAA2C7-51C0-4A59-86C9-6E4C67AD329B}"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9-EF0F-4825-9E26-E55E8F8B6D3D}"/>
                </c:ext>
              </c:extLst>
            </c:dLbl>
            <c:dLbl>
              <c:idx val="2"/>
              <c:tx>
                <c:rich>
                  <a:bodyPr/>
                  <a:lstStyle/>
                  <a:p>
                    <a:fld id="{1084E7A4-BE05-43F1-9210-3ED0BD49CF93}"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EF0F-4825-9E26-E55E8F8B6D3D}"/>
                </c:ext>
              </c:extLst>
            </c:dLbl>
            <c:dLbl>
              <c:idx val="3"/>
              <c:layout>
                <c:manualLayout>
                  <c:x val="-0.18437500000000004"/>
                  <c:y val="0"/>
                </c:manualLayout>
              </c:layout>
              <c:tx>
                <c:rich>
                  <a:bodyPr/>
                  <a:lstStyle/>
                  <a:p>
                    <a:fld id="{07409A23-D2D8-4137-8792-C9274040408D}"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8-EF0F-4825-9E26-E55E8F8B6D3D}"/>
                </c:ext>
              </c:extLst>
            </c:dLbl>
            <c:dLbl>
              <c:idx val="4"/>
              <c:layout>
                <c:manualLayout>
                  <c:x val="-0.33046874999999998"/>
                  <c:y val="-3.1852803427455716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1D0C9F25-0E84-430D-B458-57BD98909C37}" type="CELLRANGE">
                      <a:rPr lang="zh-CN" altLang="en-US"/>
                      <a:pPr>
                        <a:defRPr sz="900"/>
                      </a:pPr>
                      <a:t>[CELLRANGE]</a:t>
                    </a:fld>
                    <a:endParaRPr lang="zh-CN" alt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0"/>
              <c:showCatName val="0"/>
              <c:showSerName val="0"/>
              <c:showPercent val="0"/>
              <c:showBubbleSize val="0"/>
              <c:extLst>
                <c:ext xmlns:c15="http://schemas.microsoft.com/office/drawing/2012/chart" uri="{CE6537A1-D6FC-4f65-9D91-7224C49458BB}">
                  <c15:layout>
                    <c:manualLayout>
                      <c:w val="0.27656249999999999"/>
                      <c:h val="5.9034083702363023E-2"/>
                    </c:manualLayout>
                  </c15:layout>
                  <c15:dlblFieldTable/>
                  <c15:showDataLabelsRange val="1"/>
                </c:ext>
                <c:ext xmlns:c16="http://schemas.microsoft.com/office/drawing/2014/chart" uri="{C3380CC4-5D6E-409C-BE32-E72D297353CC}">
                  <c16:uniqueId val="{00000007-EF0F-4825-9E26-E55E8F8B6D3D}"/>
                </c:ext>
              </c:extLst>
            </c:dLbl>
            <c:dLbl>
              <c:idx val="5"/>
              <c:layout>
                <c:manualLayout>
                  <c:x val="-0.140625"/>
                  <c:y val="-0.10010918613453136"/>
                </c:manualLayout>
              </c:layout>
              <c:tx>
                <c:rich>
                  <a:bodyPr/>
                  <a:lstStyle/>
                  <a:p>
                    <a:fld id="{7291308E-FC6D-462B-9EE1-58233BFD2DBB}"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EF0F-4825-9E26-E55E8F8B6D3D}"/>
                </c:ext>
              </c:extLst>
            </c:dLbl>
            <c:dLbl>
              <c:idx val="6"/>
              <c:layout>
                <c:manualLayout>
                  <c:x val="3.2812500000000001E-2"/>
                  <c:y val="1.5168058505232025E-2"/>
                </c:manualLayout>
              </c:layout>
              <c:tx>
                <c:rich>
                  <a:bodyPr/>
                  <a:lstStyle/>
                  <a:p>
                    <a:fld id="{2DFE309F-6E1F-48A4-B18E-37F5089183B2}"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EF0F-4825-9E26-E55E8F8B6D3D}"/>
                </c:ext>
              </c:extLst>
            </c:dLbl>
            <c:dLbl>
              <c:idx val="7"/>
              <c:tx>
                <c:rich>
                  <a:bodyPr/>
                  <a:lstStyle/>
                  <a:p>
                    <a:fld id="{A8EF8604-DC58-4B00-9ED3-E20BA13E2036}"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EF0F-4825-9E26-E55E8F8B6D3D}"/>
                </c:ext>
              </c:extLst>
            </c:dLbl>
            <c:dLbl>
              <c:idx val="8"/>
              <c:layout>
                <c:manualLayout>
                  <c:x val="6.2500000000000003E-3"/>
                  <c:y val="-3.3369728711510567E-2"/>
                </c:manualLayout>
              </c:layout>
              <c:tx>
                <c:rich>
                  <a:bodyPr/>
                  <a:lstStyle/>
                  <a:p>
                    <a:fld id="{048D0270-6A88-428A-ACFB-FA4D156599C7}"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3-EF0F-4825-9E26-E55E8F8B6D3D}"/>
                </c:ext>
              </c:extLst>
            </c:dLbl>
            <c:dLbl>
              <c:idx val="9"/>
              <c:tx>
                <c:rich>
                  <a:bodyPr/>
                  <a:lstStyle/>
                  <a:p>
                    <a:fld id="{1AC73F3E-5E1B-4285-9E7D-2ADF6FD72CC5}"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EF0F-4825-9E26-E55E8F8B6D3D}"/>
                </c:ext>
              </c:extLst>
            </c:dLbl>
            <c:dLbl>
              <c:idx val="10"/>
              <c:tx>
                <c:rich>
                  <a:bodyPr/>
                  <a:lstStyle/>
                  <a:p>
                    <a:fld id="{DFA6BD3C-A0D5-429A-ADCA-800B28A7C744}"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EF0F-4825-9E26-E55E8F8B6D3D}"/>
                </c:ext>
              </c:extLst>
            </c:dLbl>
            <c:dLbl>
              <c:idx val="11"/>
              <c:tx>
                <c:rich>
                  <a:bodyPr/>
                  <a:lstStyle/>
                  <a:p>
                    <a:fld id="{2C4EEE08-3170-4590-80B3-F3C07A5B5C18}"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0-EF0F-4825-9E26-E55E8F8B6D3D}"/>
                </c:ext>
              </c:extLst>
            </c:dLbl>
            <c:dLbl>
              <c:idx val="12"/>
              <c:tx>
                <c:rich>
                  <a:bodyPr/>
                  <a:lstStyle/>
                  <a:p>
                    <a:fld id="{D5643305-4541-4A60-9DD4-809E6F22307A}"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1-EF0F-4825-9E26-E55E8F8B6D3D}"/>
                </c:ext>
              </c:extLst>
            </c:dLbl>
            <c:dLbl>
              <c:idx val="13"/>
              <c:tx>
                <c:rich>
                  <a:bodyPr/>
                  <a:lstStyle/>
                  <a:p>
                    <a:fld id="{B5527F1F-8C7D-4439-9789-2305C1F39E31}"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2-EF0F-4825-9E26-E55E8F8B6D3D}"/>
                </c:ext>
              </c:extLst>
            </c:dLbl>
            <c:dLbl>
              <c:idx val="14"/>
              <c:layout>
                <c:manualLayout>
                  <c:x val="3.1249999999998852E-3"/>
                  <c:y val="-4.8537787216742477E-2"/>
                </c:manualLayout>
              </c:layout>
              <c:tx>
                <c:rich>
                  <a:bodyPr/>
                  <a:lstStyle/>
                  <a:p>
                    <a:fld id="{A9E520BC-C0C5-4EE4-8EE1-D93353C59CCC}"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3-EF0F-4825-9E26-E55E8F8B6D3D}"/>
                </c:ext>
              </c:extLst>
            </c:dLbl>
            <c:dLbl>
              <c:idx val="15"/>
              <c:layout>
                <c:manualLayout>
                  <c:x val="2.8125000000000001E-2"/>
                  <c:y val="-5.4605010618835347E-2"/>
                </c:manualLayout>
              </c:layout>
              <c:tx>
                <c:rich>
                  <a:bodyPr/>
                  <a:lstStyle/>
                  <a:p>
                    <a:fld id="{E69489A2-0A02-4CE2-8EB8-170C3BBABAA5}"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EF0F-4825-9E26-E55E8F8B6D3D}"/>
                </c:ext>
              </c:extLst>
            </c:dLbl>
            <c:dLbl>
              <c:idx val="16"/>
              <c:tx>
                <c:rich>
                  <a:bodyPr/>
                  <a:lstStyle/>
                  <a:p>
                    <a:fld id="{2D15D22A-C0A0-4807-8E43-9BB081617E05}"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4-EF0F-4825-9E26-E55E8F8B6D3D}"/>
                </c:ext>
              </c:extLst>
            </c:dLbl>
            <c:dLbl>
              <c:idx val="17"/>
              <c:layout>
                <c:manualLayout>
                  <c:x val="7.8124999999998855E-3"/>
                  <c:y val="-6.0672234020929215E-3"/>
                </c:manualLayout>
              </c:layout>
              <c:tx>
                <c:rich>
                  <a:bodyPr/>
                  <a:lstStyle/>
                  <a:p>
                    <a:fld id="{24E76802-F5F9-45BC-B291-6B19FBEB8308}"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2-EF0F-4825-9E26-E55E8F8B6D3D}"/>
                </c:ext>
              </c:extLst>
            </c:dLbl>
            <c:dLbl>
              <c:idx val="18"/>
              <c:tx>
                <c:rich>
                  <a:bodyPr/>
                  <a:lstStyle/>
                  <a:p>
                    <a:fld id="{3FDB6C49-AFF5-4203-A866-54FD8AECFF94}"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5-EF0F-4825-9E26-E55E8F8B6D3D}"/>
                </c:ext>
              </c:extLst>
            </c:dLbl>
            <c:dLbl>
              <c:idx val="19"/>
              <c:layout>
                <c:manualLayout>
                  <c:x val="-4.3749999999999997E-2"/>
                  <c:y val="6.0672234020928098E-2"/>
                </c:manualLayout>
              </c:layout>
              <c:tx>
                <c:rich>
                  <a:bodyPr/>
                  <a:lstStyle/>
                  <a:p>
                    <a:fld id="{4EF1E043-9AB9-49A4-A930-8496DA9BAD2D}"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EF0F-4825-9E26-E55E8F8B6D3D}"/>
                </c:ext>
              </c:extLst>
            </c:dLbl>
            <c:dLbl>
              <c:idx val="20"/>
              <c:layout>
                <c:manualLayout>
                  <c:x val="4.6874999999999426E-3"/>
                  <c:y val="-5.7638622319881747E-2"/>
                </c:manualLayout>
              </c:layout>
              <c:tx>
                <c:rich>
                  <a:bodyPr/>
                  <a:lstStyle/>
                  <a:p>
                    <a:fld id="{661B1C02-544A-44A3-AA4F-17BFB11EA9D2}"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6-EF0F-4825-9E26-E55E8F8B6D3D}"/>
                </c:ext>
              </c:extLst>
            </c:dLbl>
            <c:dLbl>
              <c:idx val="21"/>
              <c:tx>
                <c:rich>
                  <a:bodyPr/>
                  <a:lstStyle/>
                  <a:p>
                    <a:fld id="{34289318-749C-4AF5-8D86-A579EA8F4726}"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7-EF0F-4825-9E26-E55E8F8B6D3D}"/>
                </c:ext>
              </c:extLst>
            </c:dLbl>
            <c:dLbl>
              <c:idx val="22"/>
              <c:layout>
                <c:manualLayout>
                  <c:x val="-0.12968750000000001"/>
                  <c:y val="3.0336117010464048E-3"/>
                </c:manualLayout>
              </c:layout>
              <c:tx>
                <c:rich>
                  <a:bodyPr/>
                  <a:lstStyle/>
                  <a:p>
                    <a:fld id="{A8E4F4E7-8AB5-4569-99C7-CD8BB62570B9}"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EF0F-4825-9E26-E55E8F8B6D3D}"/>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xVal>
            <c:numRef>
              <c:f>Sheet1!$A$2:$A$24</c:f>
              <c:numCache>
                <c:formatCode>0.00_ </c:formatCode>
                <c:ptCount val="23"/>
                <c:pt idx="0">
                  <c:v>0.28894450298560098</c:v>
                </c:pt>
                <c:pt idx="1">
                  <c:v>0.56732601397332505</c:v>
                </c:pt>
                <c:pt idx="2">
                  <c:v>0.80024211309306603</c:v>
                </c:pt>
                <c:pt idx="3">
                  <c:v>0.44794904380579398</c:v>
                </c:pt>
                <c:pt idx="4">
                  <c:v>0.52373344803219302</c:v>
                </c:pt>
                <c:pt idx="5">
                  <c:v>0.55580144459812997</c:v>
                </c:pt>
                <c:pt idx="6">
                  <c:v>0.82404749973425195</c:v>
                </c:pt>
                <c:pt idx="7">
                  <c:v>0.63182726294760105</c:v>
                </c:pt>
                <c:pt idx="8">
                  <c:v>0.58322405538105004</c:v>
                </c:pt>
                <c:pt idx="9">
                  <c:v>0.51648113119786199</c:v>
                </c:pt>
                <c:pt idx="10">
                  <c:v>0.26600553505535102</c:v>
                </c:pt>
                <c:pt idx="11">
                  <c:v>0.48321234119781797</c:v>
                </c:pt>
                <c:pt idx="12">
                  <c:v>0.50096079342941002</c:v>
                </c:pt>
                <c:pt idx="13">
                  <c:v>0.70207041971897499</c:v>
                </c:pt>
                <c:pt idx="14">
                  <c:v>0.689370893708938</c:v>
                </c:pt>
                <c:pt idx="15">
                  <c:v>0.85077850778507402</c:v>
                </c:pt>
                <c:pt idx="16">
                  <c:v>0.597839716261237</c:v>
                </c:pt>
                <c:pt idx="17">
                  <c:v>0.601314013140135</c:v>
                </c:pt>
                <c:pt idx="18">
                  <c:v>0.59158814889120104</c:v>
                </c:pt>
                <c:pt idx="19">
                  <c:v>0.38770465374556901</c:v>
                </c:pt>
                <c:pt idx="20">
                  <c:v>0.585508809780656</c:v>
                </c:pt>
                <c:pt idx="21">
                  <c:v>0.779487622835079</c:v>
                </c:pt>
                <c:pt idx="22">
                  <c:v>0.556361500624035</c:v>
                </c:pt>
              </c:numCache>
            </c:numRef>
          </c:xVal>
          <c:yVal>
            <c:numRef>
              <c:f>Sheet1!$B$2:$B$24</c:f>
              <c:numCache>
                <c:formatCode>0.00_ </c:formatCode>
                <c:ptCount val="23"/>
                <c:pt idx="0">
                  <c:v>0.55099434409778902</c:v>
                </c:pt>
                <c:pt idx="1">
                  <c:v>0.72003284072249996</c:v>
                </c:pt>
                <c:pt idx="2">
                  <c:v>0.54662698412699096</c:v>
                </c:pt>
                <c:pt idx="3">
                  <c:v>0.71308868501528999</c:v>
                </c:pt>
                <c:pt idx="4">
                  <c:v>0.72784913353721103</c:v>
                </c:pt>
                <c:pt idx="5">
                  <c:v>0.76956167176349899</c:v>
                </c:pt>
                <c:pt idx="6">
                  <c:v>0.72788990825687905</c:v>
                </c:pt>
                <c:pt idx="7">
                  <c:v>0.77871068152030898</c:v>
                </c:pt>
                <c:pt idx="8">
                  <c:v>0.51343527013251</c:v>
                </c:pt>
                <c:pt idx="9">
                  <c:v>0.63412844036697003</c:v>
                </c:pt>
                <c:pt idx="10">
                  <c:v>0.63948796722989998</c:v>
                </c:pt>
                <c:pt idx="11">
                  <c:v>0.66496671786995099</c:v>
                </c:pt>
                <c:pt idx="12">
                  <c:v>0.70593272171253896</c:v>
                </c:pt>
                <c:pt idx="13">
                  <c:v>0.70866783013379897</c:v>
                </c:pt>
                <c:pt idx="14">
                  <c:v>0.824037230948231</c:v>
                </c:pt>
                <c:pt idx="15">
                  <c:v>0.73130890052356001</c:v>
                </c:pt>
                <c:pt idx="16">
                  <c:v>0.80746945898778</c:v>
                </c:pt>
                <c:pt idx="17">
                  <c:v>0.50515415939499997</c:v>
                </c:pt>
                <c:pt idx="18">
                  <c:v>0.644188481675389</c:v>
                </c:pt>
                <c:pt idx="19">
                  <c:v>0.66154741128562899</c:v>
                </c:pt>
                <c:pt idx="20">
                  <c:v>0.69977894124491102</c:v>
                </c:pt>
                <c:pt idx="21">
                  <c:v>0.79555555555554902</c:v>
                </c:pt>
                <c:pt idx="22">
                  <c:v>0.88706563706564001</c:v>
                </c:pt>
              </c:numCache>
            </c:numRef>
          </c:yVal>
          <c:smooth val="0"/>
          <c:extLst>
            <c:ext xmlns:c15="http://schemas.microsoft.com/office/drawing/2012/chart" uri="{02D57815-91ED-43cb-92C2-25804820EDAC}">
              <c15:datalabelsRange>
                <c15:f>Sheet1!$C$2:$C$24</c15:f>
                <c15:dlblRangeCache>
                  <c:ptCount val="23"/>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离店送别服务表现</c:v>
                  </c:pt>
                  <c:pt idx="22">
                    <c:v>离店后的回访表现</c:v>
                  </c:pt>
                </c15:dlblRangeCache>
              </c15:datalabelsRange>
            </c:ext>
            <c:ext xmlns:c16="http://schemas.microsoft.com/office/drawing/2014/chart" uri="{C3380CC4-5D6E-409C-BE32-E72D297353CC}">
              <c16:uniqueId val="{00000000-EF0F-4825-9E26-E55E8F8B6D3D}"/>
            </c:ext>
          </c:extLst>
        </c:ser>
        <c:dLbls>
          <c:showLegendKey val="0"/>
          <c:showVal val="0"/>
          <c:showCatName val="0"/>
          <c:showSerName val="0"/>
          <c:showPercent val="0"/>
          <c:showBubbleSize val="0"/>
        </c:dLbls>
        <c:axId val="1343970448"/>
        <c:axId val="977734560"/>
      </c:scatterChart>
      <c:valAx>
        <c:axId val="1343970448"/>
        <c:scaling>
          <c:orientation val="minMax"/>
          <c:max val="1"/>
          <c:min val="0.2"/>
        </c:scaling>
        <c:delete val="0"/>
        <c:axPos val="b"/>
        <c:numFmt formatCode="0.00_ " sourceLinked="1"/>
        <c:majorTickMark val="none"/>
        <c:minorTickMark val="none"/>
        <c:tickLblPos val="none"/>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977734560"/>
        <c:crossesAt val="0.69380343400000022"/>
        <c:crossBetween val="midCat"/>
      </c:valAx>
      <c:valAx>
        <c:axId val="977734560"/>
        <c:scaling>
          <c:orientation val="minMax"/>
          <c:min val="0.4"/>
        </c:scaling>
        <c:delete val="0"/>
        <c:axPos val="l"/>
        <c:numFmt formatCode="0.00_ " sourceLinked="1"/>
        <c:majorTickMark val="none"/>
        <c:minorTickMark val="none"/>
        <c:tickLblPos val="none"/>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1343970448"/>
        <c:crossesAt val="0.57964258600000007"/>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11520850227937E-2"/>
          <c:y val="4.3219891173737202E-2"/>
          <c:w val="0.98884791497720603"/>
          <c:h val="0.81440444413094304"/>
        </c:manualLayout>
      </c:layout>
      <c:barChart>
        <c:barDir val="col"/>
        <c:grouping val="clustered"/>
        <c:varyColors val="0"/>
        <c:ser>
          <c:idx val="0"/>
          <c:order val="0"/>
          <c:tx>
            <c:strRef>
              <c:f>Sheet1!$B$1</c:f>
              <c:strCache>
                <c:ptCount val="1"/>
                <c:pt idx="0">
                  <c:v>列1</c:v>
                </c:pt>
              </c:strCache>
            </c:strRef>
          </c:tx>
          <c:spPr>
            <a:solidFill>
              <a:schemeClr val="bg1">
                <a:lumMod val="75000"/>
              </a:schemeClr>
            </a:solidFill>
            <a:ln>
              <a:noFill/>
            </a:ln>
            <a:effectLst/>
          </c:spPr>
          <c:invertIfNegative val="0"/>
          <c:dPt>
            <c:idx val="0"/>
            <c:invertIfNegative val="0"/>
            <c:bubble3D val="0"/>
            <c:spPr>
              <a:solidFill>
                <a:schemeClr val="bg1">
                  <a:lumMod val="50000"/>
                </a:schemeClr>
              </a:solidFill>
              <a:ln>
                <a:noFill/>
              </a:ln>
              <a:effectLst/>
            </c:spPr>
            <c:extLst>
              <c:ext xmlns:c16="http://schemas.microsoft.com/office/drawing/2014/chart" uri="{C3380CC4-5D6E-409C-BE32-E72D297353CC}">
                <c16:uniqueId val="{00000001-915F-415B-9B67-60239ABEFFE1}"/>
              </c:ext>
            </c:extLst>
          </c:dPt>
          <c:dLbls>
            <c:numFmt formatCode="#,##0.0_);[Red]\(#,##0.0\)" sourceLinked="0"/>
            <c:spPr>
              <a:noFill/>
              <a:ln>
                <a:noFill/>
              </a:ln>
              <a:effectLst/>
            </c:spPr>
            <c:txPr>
              <a:bodyPr rot="0" spcFirstLastPara="1" vertOverflow="ellipsis" vert="horz" wrap="square" lIns="38100" tIns="19050" rIns="38100" bIns="19050" anchor="ctr" anchorCtr="0">
                <a:spAutoFit/>
              </a:bodyPr>
              <a:lstStyle/>
              <a:p>
                <a:pPr algn="ctr">
                  <a:defRPr lang="en-US" altLang="zh-CN" sz="1000" b="0" i="0" u="none" strike="noStrike" kern="1200" baseline="0">
                    <a:solidFill>
                      <a:schemeClr val="tx1">
                        <a:lumMod val="75000"/>
                        <a:lumOff val="25000"/>
                      </a:schemeClr>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竞品均值</c:v>
                </c:pt>
                <c:pt idx="1">
                  <c:v>理想</c:v>
                </c:pt>
                <c:pt idx="2">
                  <c:v>特斯拉</c:v>
                </c:pt>
                <c:pt idx="3">
                  <c:v>蔚来</c:v>
                </c:pt>
                <c:pt idx="4">
                  <c:v>小鹏</c:v>
                </c:pt>
                <c:pt idx="5">
                  <c:v>问界</c:v>
                </c:pt>
                <c:pt idx="6">
                  <c:v>极氪</c:v>
                </c:pt>
                <c:pt idx="7">
                  <c:v>智己</c:v>
                </c:pt>
              </c:strCache>
            </c:strRef>
          </c:cat>
          <c:val>
            <c:numRef>
              <c:f>Sheet1!$B$2:$B$9</c:f>
              <c:numCache>
                <c:formatCode>0.0_ </c:formatCode>
                <c:ptCount val="8"/>
                <c:pt idx="0">
                  <c:v>831.36031175059998</c:v>
                </c:pt>
                <c:pt idx="1">
                  <c:v>827.75</c:v>
                </c:pt>
                <c:pt idx="2" formatCode="0">
                  <c:v>844.60312499999998</c:v>
                </c:pt>
                <c:pt idx="3" formatCode="General">
                  <c:v>824.58333333333303</c:v>
                </c:pt>
                <c:pt idx="4" formatCode="General">
                  <c:v>838.234375</c:v>
                </c:pt>
                <c:pt idx="5" formatCode="General">
                  <c:v>832.90416666666704</c:v>
                </c:pt>
                <c:pt idx="6" formatCode="General">
                  <c:v>830.97187499999995</c:v>
                </c:pt>
                <c:pt idx="7" formatCode="General">
                  <c:v>819.90241228070204</c:v>
                </c:pt>
              </c:numCache>
            </c:numRef>
          </c:val>
          <c:extLst>
            <c:ext xmlns:c16="http://schemas.microsoft.com/office/drawing/2014/chart" uri="{C3380CC4-5D6E-409C-BE32-E72D297353CC}">
              <c16:uniqueId val="{00000002-915F-415B-9B67-60239ABEFFE1}"/>
            </c:ext>
          </c:extLst>
        </c:ser>
        <c:ser>
          <c:idx val="1"/>
          <c:order val="1"/>
          <c:tx>
            <c:strRef>
              <c:f>Sheet1!$C$1</c:f>
              <c:strCache>
                <c:ptCount val="1"/>
                <c:pt idx="0">
                  <c:v>列2</c:v>
                </c:pt>
              </c:strCache>
            </c:strRef>
          </c:tx>
          <c:spPr>
            <a:solidFill>
              <a:schemeClr val="accent2"/>
            </a:solidFill>
            <a:ln>
              <a:noFill/>
            </a:ln>
            <a:effectLst/>
          </c:spPr>
          <c:invertIfNegative val="0"/>
          <c:dLbls>
            <c:numFmt formatCode="#,##0.0_);[Red]\(#,##0.0\)" sourceLinked="0"/>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竞品均值</c:v>
                </c:pt>
                <c:pt idx="1">
                  <c:v>理想</c:v>
                </c:pt>
                <c:pt idx="2">
                  <c:v>特斯拉</c:v>
                </c:pt>
                <c:pt idx="3">
                  <c:v>蔚来</c:v>
                </c:pt>
                <c:pt idx="4">
                  <c:v>小鹏</c:v>
                </c:pt>
                <c:pt idx="5">
                  <c:v>问界</c:v>
                </c:pt>
                <c:pt idx="6">
                  <c:v>极氪</c:v>
                </c:pt>
                <c:pt idx="7">
                  <c:v>智己</c:v>
                </c:pt>
              </c:strCache>
            </c:strRef>
          </c:cat>
          <c:val>
            <c:numRef>
              <c:f>Sheet1!$C$2:$C$9</c:f>
              <c:numCache>
                <c:formatCode>General</c:formatCode>
                <c:ptCount val="8"/>
                <c:pt idx="0">
                  <c:v>835.990857314148</c:v>
                </c:pt>
                <c:pt idx="1">
                  <c:v>846.73263888888903</c:v>
                </c:pt>
                <c:pt idx="2">
                  <c:v>841.35416666666697</c:v>
                </c:pt>
                <c:pt idx="3">
                  <c:v>838.41875000000005</c:v>
                </c:pt>
                <c:pt idx="4">
                  <c:v>838.02708333333305</c:v>
                </c:pt>
                <c:pt idx="5">
                  <c:v>834.20902777777803</c:v>
                </c:pt>
                <c:pt idx="6">
                  <c:v>827.37708333333296</c:v>
                </c:pt>
                <c:pt idx="7">
                  <c:v>825.28179824561403</c:v>
                </c:pt>
              </c:numCache>
            </c:numRef>
          </c:val>
          <c:extLst>
            <c:ext xmlns:c16="http://schemas.microsoft.com/office/drawing/2014/chart" uri="{C3380CC4-5D6E-409C-BE32-E72D297353CC}">
              <c16:uniqueId val="{00000002-33E7-49B7-BAC3-F88356F30664}"/>
            </c:ext>
          </c:extLst>
        </c:ser>
        <c:dLbls>
          <c:showLegendKey val="0"/>
          <c:showVal val="1"/>
          <c:showCatName val="0"/>
          <c:showSerName val="0"/>
          <c:showPercent val="0"/>
          <c:showBubbleSize val="0"/>
        </c:dLbls>
        <c:gapWidth val="219"/>
        <c:overlap val="-27"/>
        <c:axId val="152411152"/>
        <c:axId val="152399152"/>
      </c:barChart>
      <c:catAx>
        <c:axId val="152411152"/>
        <c:scaling>
          <c:orientation val="minMax"/>
        </c:scaling>
        <c:delete val="1"/>
        <c:axPos val="b"/>
        <c:numFmt formatCode="General" sourceLinked="1"/>
        <c:majorTickMark val="out"/>
        <c:minorTickMark val="none"/>
        <c:tickLblPos val="nextTo"/>
        <c:crossAx val="152399152"/>
        <c:crosses val="autoZero"/>
        <c:auto val="1"/>
        <c:lblAlgn val="ctr"/>
        <c:lblOffset val="100"/>
        <c:noMultiLvlLbl val="0"/>
      </c:catAx>
      <c:valAx>
        <c:axId val="152399152"/>
        <c:scaling>
          <c:orientation val="minMax"/>
          <c:min val="750"/>
        </c:scaling>
        <c:delete val="1"/>
        <c:axPos val="l"/>
        <c:numFmt formatCode="0.0_ " sourceLinked="1"/>
        <c:majorTickMark val="out"/>
        <c:minorTickMark val="none"/>
        <c:tickLblPos val="nextTo"/>
        <c:crossAx val="152411152"/>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userShapes r:id="rId4"/>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388702695751358E-2"/>
          <c:y val="4.3219891173737202E-2"/>
          <c:w val="0.94078949243633347"/>
          <c:h val="0.81440444413094304"/>
        </c:manualLayout>
      </c:layout>
      <c:barChart>
        <c:barDir val="col"/>
        <c:grouping val="clustered"/>
        <c:varyColors val="0"/>
        <c:ser>
          <c:idx val="0"/>
          <c:order val="0"/>
          <c:tx>
            <c:strRef>
              <c:f>Sheet1!$B$1</c:f>
              <c:strCache>
                <c:ptCount val="1"/>
                <c:pt idx="0">
                  <c:v>阿维塔</c:v>
                </c:pt>
              </c:strCache>
            </c:strRef>
          </c:tx>
          <c:spPr>
            <a:solidFill>
              <a:schemeClr val="bg1">
                <a:lumMod val="50000"/>
              </a:schemeClr>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1-6DCB-45B4-8216-9977AB4C19D9}"/>
              </c:ext>
            </c:extLst>
          </c:dPt>
          <c:dPt>
            <c:idx val="1"/>
            <c:invertIfNegative val="0"/>
            <c:bubble3D val="0"/>
            <c:spPr>
              <a:solidFill>
                <a:schemeClr val="bg1">
                  <a:lumMod val="50000"/>
                </a:schemeClr>
              </a:solidFill>
              <a:ln>
                <a:noFill/>
              </a:ln>
              <a:effectLst/>
            </c:spPr>
            <c:extLst>
              <c:ext xmlns:c16="http://schemas.microsoft.com/office/drawing/2014/chart" uri="{C3380CC4-5D6E-409C-BE32-E72D297353CC}">
                <c16:uniqueId val="{00000004-6DCB-45B4-8216-9977AB4C19D9}"/>
              </c:ext>
            </c:extLst>
          </c:dPt>
          <c:dPt>
            <c:idx val="3"/>
            <c:invertIfNegative val="0"/>
            <c:bubble3D val="0"/>
            <c:spPr>
              <a:solidFill>
                <a:srgbClr val="FF0000"/>
              </a:solidFill>
              <a:ln>
                <a:noFill/>
              </a:ln>
              <a:effectLst/>
            </c:spPr>
            <c:extLst>
              <c:ext xmlns:c16="http://schemas.microsoft.com/office/drawing/2014/chart" uri="{C3380CC4-5D6E-409C-BE32-E72D297353CC}">
                <c16:uniqueId val="{00000004-ACF1-41DF-830E-06163ED08FB8}"/>
              </c:ext>
            </c:extLst>
          </c:dPt>
          <c:dLbls>
            <c:numFmt formatCode="#,##0_);[Red]\(#,##0\)" sourceLinked="0"/>
            <c:spPr>
              <a:noFill/>
              <a:ln>
                <a:noFill/>
              </a:ln>
              <a:effectLst/>
            </c:spPr>
            <c:txPr>
              <a:bodyPr rot="0" spcFirstLastPara="1" vertOverflow="ellipsis" vert="horz" wrap="square" lIns="38100" tIns="19050" rIns="38100" bIns="19050" anchor="ctr" anchorCtr="0">
                <a:spAutoFit/>
              </a:bodyPr>
              <a:lstStyle/>
              <a:p>
                <a:pPr algn="ctr">
                  <a:defRPr lang="en-US" altLang="zh-CN" sz="1000" b="0" i="0" u="none" strike="noStrike" kern="1200" baseline="0">
                    <a:solidFill>
                      <a:schemeClr val="tx1">
                        <a:lumMod val="75000"/>
                        <a:lumOff val="25000"/>
                      </a:schemeClr>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 入店前沟通</c:v>
                </c:pt>
                <c:pt idx="1">
                  <c:v> 到店接待</c:v>
                </c:pt>
                <c:pt idx="2">
                  <c:v> 店内看车</c:v>
                </c:pt>
                <c:pt idx="3">
                  <c:v> 试乘试驾</c:v>
                </c:pt>
                <c:pt idx="4">
                  <c:v> 送别与回访</c:v>
                </c:pt>
              </c:strCache>
            </c:strRef>
          </c:cat>
          <c:val>
            <c:numRef>
              <c:f>Sheet1!$B$2:$B$6</c:f>
              <c:numCache>
                <c:formatCode>0.0_ </c:formatCode>
                <c:ptCount val="5"/>
                <c:pt idx="0">
                  <c:v>827.16535433070896</c:v>
                </c:pt>
                <c:pt idx="1">
                  <c:v>845.68345323741005</c:v>
                </c:pt>
                <c:pt idx="2">
                  <c:v>834.82014388489199</c:v>
                </c:pt>
                <c:pt idx="3">
                  <c:v>828.347280334728</c:v>
                </c:pt>
                <c:pt idx="4">
                  <c:v>821.58273381294998</c:v>
                </c:pt>
              </c:numCache>
            </c:numRef>
          </c:val>
          <c:extLst>
            <c:ext xmlns:c16="http://schemas.microsoft.com/office/drawing/2014/chart" uri="{C3380CC4-5D6E-409C-BE32-E72D297353CC}">
              <c16:uniqueId val="{00000002-6DCB-45B4-8216-9977AB4C19D9}"/>
            </c:ext>
          </c:extLst>
        </c:ser>
        <c:ser>
          <c:idx val="1"/>
          <c:order val="1"/>
          <c:tx>
            <c:strRef>
              <c:f>Sheet1!$C$1</c:f>
              <c:strCache>
                <c:ptCount val="1"/>
                <c:pt idx="0">
                  <c:v>竞品均值</c:v>
                </c:pt>
              </c:strCache>
            </c:strRef>
          </c:tx>
          <c:spPr>
            <a:solidFill>
              <a:schemeClr val="bg1">
                <a:lumMod val="75000"/>
              </a:schemeClr>
            </a:solidFill>
            <a:ln>
              <a:noFill/>
            </a:ln>
            <a:effectLst/>
          </c:spPr>
          <c:invertIfNegative val="0"/>
          <c:dLbls>
            <c:numFmt formatCode="#,##0_);[Red]\(#,##0\)" sourceLinked="0"/>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 入店前沟通</c:v>
                </c:pt>
                <c:pt idx="1">
                  <c:v> 到店接待</c:v>
                </c:pt>
                <c:pt idx="2">
                  <c:v> 店内看车</c:v>
                </c:pt>
                <c:pt idx="3">
                  <c:v> 试乘试驾</c:v>
                </c:pt>
                <c:pt idx="4">
                  <c:v> 送别与回访</c:v>
                </c:pt>
              </c:strCache>
            </c:strRef>
          </c:cat>
          <c:val>
            <c:numRef>
              <c:f>Sheet1!$C$2:$C$6</c:f>
              <c:numCache>
                <c:formatCode>0.0_ </c:formatCode>
                <c:ptCount val="5"/>
                <c:pt idx="0">
                  <c:v>838.740458015267</c:v>
                </c:pt>
                <c:pt idx="1">
                  <c:v>850.36231884057997</c:v>
                </c:pt>
                <c:pt idx="2">
                  <c:v>835.83025830258305</c:v>
                </c:pt>
                <c:pt idx="3">
                  <c:v>834.27884615384596</c:v>
                </c:pt>
                <c:pt idx="4">
                  <c:v>826.61870503597095</c:v>
                </c:pt>
              </c:numCache>
            </c:numRef>
          </c:val>
          <c:extLst>
            <c:ext xmlns:c16="http://schemas.microsoft.com/office/drawing/2014/chart" uri="{C3380CC4-5D6E-409C-BE32-E72D297353CC}">
              <c16:uniqueId val="{00000003-6DCB-45B4-8216-9977AB4C19D9}"/>
            </c:ext>
          </c:extLst>
        </c:ser>
        <c:dLbls>
          <c:showLegendKey val="0"/>
          <c:showVal val="1"/>
          <c:showCatName val="0"/>
          <c:showSerName val="0"/>
          <c:showPercent val="0"/>
          <c:showBubbleSize val="0"/>
        </c:dLbls>
        <c:gapWidth val="219"/>
        <c:overlap val="-27"/>
        <c:axId val="152411152"/>
        <c:axId val="152399152"/>
      </c:barChart>
      <c:catAx>
        <c:axId val="1524111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152399152"/>
        <c:crosses val="autoZero"/>
        <c:auto val="1"/>
        <c:lblAlgn val="ctr"/>
        <c:lblOffset val="100"/>
        <c:noMultiLvlLbl val="0"/>
      </c:catAx>
      <c:valAx>
        <c:axId val="152399152"/>
        <c:scaling>
          <c:orientation val="minMax"/>
          <c:min val="600"/>
        </c:scaling>
        <c:delete val="1"/>
        <c:axPos val="l"/>
        <c:numFmt formatCode="0.0_ " sourceLinked="1"/>
        <c:majorTickMark val="out"/>
        <c:minorTickMark val="none"/>
        <c:tickLblPos val="nextTo"/>
        <c:crossAx val="1524111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ea"/>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userShapes r:id="rId4"/>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8855255944866252E-3"/>
          <c:y val="5.7200809495259942E-2"/>
          <c:w val="0.94184632554964332"/>
          <c:h val="0.49357997968086409"/>
        </c:manualLayout>
      </c:layout>
      <c:lineChart>
        <c:grouping val="standard"/>
        <c:varyColors val="0"/>
        <c:ser>
          <c:idx val="0"/>
          <c:order val="0"/>
          <c:tx>
            <c:strRef>
              <c:f>Sheet1!$B$1</c:f>
              <c:strCache>
                <c:ptCount val="1"/>
                <c:pt idx="0">
                  <c:v>阿维塔</c:v>
                </c:pt>
              </c:strCache>
            </c:strRef>
          </c:tx>
          <c:spPr>
            <a:ln w="28575" cap="rnd">
              <a:solidFill>
                <a:srgbClr val="00B050"/>
              </a:solidFill>
              <a:round/>
            </a:ln>
            <a:effectLst/>
          </c:spPr>
          <c:marker>
            <c:symbol val="none"/>
          </c:marker>
          <c:cat>
            <c:strRef>
              <c:f>Sheet1!$A$2:$A$24</c:f>
              <c:strCache>
                <c:ptCount val="23"/>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离店送别服务表现</c:v>
                </c:pt>
                <c:pt idx="22">
                  <c:v>离店后的回访表现</c:v>
                </c:pt>
              </c:strCache>
            </c:strRef>
          </c:cat>
          <c:val>
            <c:numRef>
              <c:f>Sheet1!$B$2:$B$24</c:f>
              <c:numCache>
                <c:formatCode>0.0_ </c:formatCode>
                <c:ptCount val="23"/>
                <c:pt idx="0">
                  <c:v>820.40816326530603</c:v>
                </c:pt>
                <c:pt idx="1">
                  <c:v>839.901477832512</c:v>
                </c:pt>
                <c:pt idx="2">
                  <c:v>845.68345323741005</c:v>
                </c:pt>
                <c:pt idx="3">
                  <c:v>838.84892086330899</c:v>
                </c:pt>
                <c:pt idx="4">
                  <c:v>824.10071942445995</c:v>
                </c:pt>
                <c:pt idx="5">
                  <c:v>821.58273381294998</c:v>
                </c:pt>
                <c:pt idx="6">
                  <c:v>848.92086330935297</c:v>
                </c:pt>
                <c:pt idx="7">
                  <c:v>827.697841726619</c:v>
                </c:pt>
                <c:pt idx="8">
                  <c:v>855.755395683453</c:v>
                </c:pt>
                <c:pt idx="9">
                  <c:v>848.56115107913695</c:v>
                </c:pt>
                <c:pt idx="10">
                  <c:v>834.17266187050302</c:v>
                </c:pt>
                <c:pt idx="11">
                  <c:v>815.46762589928096</c:v>
                </c:pt>
                <c:pt idx="12">
                  <c:v>833.09352517985599</c:v>
                </c:pt>
                <c:pt idx="13">
                  <c:v>829.28870292886995</c:v>
                </c:pt>
                <c:pt idx="14">
                  <c:v>830.54393305439305</c:v>
                </c:pt>
                <c:pt idx="15">
                  <c:v>821.75732217573204</c:v>
                </c:pt>
                <c:pt idx="16">
                  <c:v>825.523012552301</c:v>
                </c:pt>
                <c:pt idx="17">
                  <c:v>843.93305439330504</c:v>
                </c:pt>
                <c:pt idx="18">
                  <c:v>815.481171548117</c:v>
                </c:pt>
                <c:pt idx="19">
                  <c:v>832.63598326359795</c:v>
                </c:pt>
                <c:pt idx="20">
                  <c:v>827.61506276150601</c:v>
                </c:pt>
                <c:pt idx="21">
                  <c:v>824.46043165467597</c:v>
                </c:pt>
                <c:pt idx="22">
                  <c:v>818.77256317689501</c:v>
                </c:pt>
              </c:numCache>
            </c:numRef>
          </c:val>
          <c:smooth val="1"/>
          <c:extLst>
            <c:ext xmlns:c16="http://schemas.microsoft.com/office/drawing/2014/chart" uri="{C3380CC4-5D6E-409C-BE32-E72D297353CC}">
              <c16:uniqueId val="{00000000-1D46-423A-9864-1ACBB6D22081}"/>
            </c:ext>
          </c:extLst>
        </c:ser>
        <c:ser>
          <c:idx val="1"/>
          <c:order val="1"/>
          <c:tx>
            <c:strRef>
              <c:f>Sheet1!$C$1</c:f>
              <c:strCache>
                <c:ptCount val="1"/>
                <c:pt idx="0">
                  <c:v>竞品总体</c:v>
                </c:pt>
              </c:strCache>
            </c:strRef>
          </c:tx>
          <c:spPr>
            <a:ln w="28575" cap="rnd">
              <a:solidFill>
                <a:schemeClr val="bg1">
                  <a:lumMod val="50000"/>
                </a:schemeClr>
              </a:solidFill>
              <a:round/>
            </a:ln>
            <a:effectLst/>
          </c:spPr>
          <c:marker>
            <c:symbol val="none"/>
          </c:marker>
          <c:cat>
            <c:strRef>
              <c:f>Sheet1!$A$2:$A$24</c:f>
              <c:strCache>
                <c:ptCount val="23"/>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店内设计风格</c:v>
                </c:pt>
                <c:pt idx="13">
                  <c:v>门店试驾邀约满意度</c:v>
                </c:pt>
                <c:pt idx="14">
                  <c:v>试驾申请流程便捷程度</c:v>
                </c:pt>
                <c:pt idx="15">
                  <c:v>对试驾等待时间的满意度</c:v>
                </c:pt>
                <c:pt idx="16">
                  <c:v>试驾前的准备工作满意度</c:v>
                </c:pt>
                <c:pt idx="17">
                  <c:v>试乘试驾车辆状况</c:v>
                </c:pt>
                <c:pt idx="18">
                  <c:v>试驾时长与试驾路线安排</c:v>
                </c:pt>
                <c:pt idx="19">
                  <c:v>销售顾问或试驾专员的讲解专业性</c:v>
                </c:pt>
                <c:pt idx="20">
                  <c:v>试驾结束后的持续服务</c:v>
                </c:pt>
                <c:pt idx="21">
                  <c:v>离店送别服务表现</c:v>
                </c:pt>
                <c:pt idx="22">
                  <c:v>离店后的回访表现</c:v>
                </c:pt>
              </c:strCache>
            </c:strRef>
          </c:cat>
          <c:val>
            <c:numRef>
              <c:f>Sheet1!$C$2:$C$24</c:f>
              <c:numCache>
                <c:formatCode>0.0_ </c:formatCode>
                <c:ptCount val="23"/>
                <c:pt idx="0">
                  <c:v>838.93129770992402</c:v>
                </c:pt>
                <c:pt idx="1">
                  <c:v>840.07936507936495</c:v>
                </c:pt>
                <c:pt idx="2">
                  <c:v>850.36231884057997</c:v>
                </c:pt>
                <c:pt idx="3">
                  <c:v>841.32841328413303</c:v>
                </c:pt>
                <c:pt idx="4">
                  <c:v>839.48339483394795</c:v>
                </c:pt>
                <c:pt idx="5">
                  <c:v>824.72324723247198</c:v>
                </c:pt>
                <c:pt idx="6">
                  <c:v>854.98154981549806</c:v>
                </c:pt>
                <c:pt idx="7">
                  <c:v>828.04428044280405</c:v>
                </c:pt>
                <c:pt idx="8">
                  <c:v>864.20664206642095</c:v>
                </c:pt>
                <c:pt idx="9">
                  <c:v>845.75645756457595</c:v>
                </c:pt>
                <c:pt idx="10">
                  <c:v>823.61623616236204</c:v>
                </c:pt>
                <c:pt idx="11">
                  <c:v>805.53505535055399</c:v>
                </c:pt>
                <c:pt idx="12">
                  <c:v>830.62730627306303</c:v>
                </c:pt>
                <c:pt idx="13">
                  <c:v>828.07692307692298</c:v>
                </c:pt>
                <c:pt idx="14">
                  <c:v>834.61538461538498</c:v>
                </c:pt>
                <c:pt idx="15">
                  <c:v>823.07692307692298</c:v>
                </c:pt>
                <c:pt idx="16">
                  <c:v>833.461538461538</c:v>
                </c:pt>
                <c:pt idx="17">
                  <c:v>848.84615384615404</c:v>
                </c:pt>
                <c:pt idx="18">
                  <c:v>829.61538461538498</c:v>
                </c:pt>
                <c:pt idx="19">
                  <c:v>840</c:v>
                </c:pt>
                <c:pt idx="20">
                  <c:v>836.53846153846098</c:v>
                </c:pt>
                <c:pt idx="21">
                  <c:v>830.93525179856101</c:v>
                </c:pt>
                <c:pt idx="22">
                  <c:v>822.38267148014404</c:v>
                </c:pt>
              </c:numCache>
            </c:numRef>
          </c:val>
          <c:smooth val="1"/>
          <c:extLst>
            <c:ext xmlns:c16="http://schemas.microsoft.com/office/drawing/2014/chart" uri="{C3380CC4-5D6E-409C-BE32-E72D297353CC}">
              <c16:uniqueId val="{00000001-1D46-423A-9864-1ACBB6D22081}"/>
            </c:ext>
          </c:extLst>
        </c:ser>
        <c:dLbls>
          <c:showLegendKey val="0"/>
          <c:showVal val="0"/>
          <c:showCatName val="0"/>
          <c:showSerName val="0"/>
          <c:showPercent val="0"/>
          <c:showBubbleSize val="0"/>
        </c:dLbls>
        <c:smooth val="0"/>
        <c:axId val="405449200"/>
        <c:axId val="429461056"/>
      </c:lineChart>
      <c:catAx>
        <c:axId val="405449200"/>
        <c:scaling>
          <c:orientation val="minMax"/>
        </c:scaling>
        <c:delete val="0"/>
        <c:axPos val="b"/>
        <c:numFmt formatCode="General" sourceLinked="1"/>
        <c:majorTickMark val="in"/>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0"/>
          <a:lstStyle/>
          <a:p>
            <a:pPr>
              <a:defRPr sz="900" b="0" i="0" u="none" strike="noStrike" kern="1200" baseline="0">
                <a:solidFill>
                  <a:schemeClr val="tx1">
                    <a:lumMod val="65000"/>
                    <a:lumOff val="35000"/>
                  </a:schemeClr>
                </a:solidFill>
                <a:latin typeface="Microsoft YaHei" panose="020B0503020204020204" pitchFamily="34" charset="-122"/>
                <a:ea typeface="Microsoft YaHei" panose="020B0503020204020204" pitchFamily="34" charset="-122"/>
                <a:cs typeface="+mn-cs"/>
              </a:defRPr>
            </a:pPr>
            <a:endParaRPr lang="zh-CN"/>
          </a:p>
        </c:txPr>
        <c:crossAx val="429461056"/>
        <c:crosses val="autoZero"/>
        <c:auto val="1"/>
        <c:lblAlgn val="ctr"/>
        <c:lblOffset val="100"/>
        <c:noMultiLvlLbl val="0"/>
      </c:catAx>
      <c:valAx>
        <c:axId val="429461056"/>
        <c:scaling>
          <c:orientation val="minMax"/>
        </c:scaling>
        <c:delete val="1"/>
        <c:axPos val="l"/>
        <c:numFmt formatCode="0.0_ " sourceLinked="1"/>
        <c:majorTickMark val="out"/>
        <c:minorTickMark val="none"/>
        <c:tickLblPos val="nextTo"/>
        <c:crossAx val="405449200"/>
        <c:crosses val="autoZero"/>
        <c:crossBetween val="between"/>
      </c:valAx>
      <c:spPr>
        <a:noFill/>
        <a:ln>
          <a:noFill/>
        </a:ln>
        <a:effectLst/>
      </c:spPr>
    </c:plotArea>
    <c:legend>
      <c:legendPos val="t"/>
      <c:layout>
        <c:manualLayout>
          <c:xMode val="edge"/>
          <c:yMode val="edge"/>
          <c:x val="0.42164077468069566"/>
          <c:y val="0.10110734280594616"/>
          <c:w val="0.15671836837174882"/>
          <c:h val="8.6884447200772819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icrosoft YaHei" panose="020B0503020204020204" pitchFamily="34" charset="-122"/>
              <a:ea typeface="Microsoft YaHei" panose="020B0503020204020204"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 值</c:v>
                </c:pt>
              </c:strCache>
            </c:strRef>
          </c:tx>
          <c:spPr>
            <a:ln w="19050" cap="rnd">
              <a:noFill/>
              <a:round/>
            </a:ln>
            <a:effectLst/>
          </c:spPr>
          <c:marker>
            <c:symbol val="circle"/>
            <c:size val="5"/>
            <c:spPr>
              <a:solidFill>
                <a:schemeClr val="accent1"/>
              </a:solidFill>
              <a:ln w="9525">
                <a:solidFill>
                  <a:schemeClr val="accent1"/>
                </a:solidFill>
              </a:ln>
              <a:effectLst/>
            </c:spPr>
          </c:marker>
          <c:dLbls>
            <c:dLbl>
              <c:idx val="0"/>
              <c:layout>
                <c:manualLayout>
                  <c:x val="-0.15156250000000002"/>
                  <c:y val="-3.0336117010464608E-3"/>
                </c:manualLayout>
              </c:layout>
              <c:tx>
                <c:rich>
                  <a:bodyPr/>
                  <a:lstStyle/>
                  <a:p>
                    <a:fld id="{C89EB4FF-05AE-454D-B6F7-226A0E42357F}"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EF0F-4825-9E26-E55E8F8B6D3D}"/>
                </c:ext>
              </c:extLst>
            </c:dLbl>
            <c:dLbl>
              <c:idx val="1"/>
              <c:layout>
                <c:manualLayout>
                  <c:x val="2.1874999999999999E-2"/>
                  <c:y val="-3.0336117010463493E-3"/>
                </c:manualLayout>
              </c:layout>
              <c:tx>
                <c:rich>
                  <a:bodyPr/>
                  <a:lstStyle/>
                  <a:p>
                    <a:fld id="{3007750E-18F2-4F39-A6D4-3A2C21995FEE}"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9-EF0F-4825-9E26-E55E8F8B6D3D}"/>
                </c:ext>
              </c:extLst>
            </c:dLbl>
            <c:dLbl>
              <c:idx val="2"/>
              <c:layout>
                <c:manualLayout>
                  <c:x val="-0.121875"/>
                  <c:y val="-6.3705845721974505E-2"/>
                </c:manualLayout>
              </c:layout>
              <c:tx>
                <c:rich>
                  <a:bodyPr/>
                  <a:lstStyle/>
                  <a:p>
                    <a:fld id="{66AE435B-1897-48C7-9CB4-B7F629B03B8C}"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C-EF0F-4825-9E26-E55E8F8B6D3D}"/>
                </c:ext>
              </c:extLst>
            </c:dLbl>
            <c:dLbl>
              <c:idx val="3"/>
              <c:layout>
                <c:manualLayout>
                  <c:x val="-0.11562500000000001"/>
                  <c:y val="-0.10921002123767058"/>
                </c:manualLayout>
              </c:layout>
              <c:tx>
                <c:rich>
                  <a:bodyPr/>
                  <a:lstStyle/>
                  <a:p>
                    <a:fld id="{45A873FF-CEBF-4981-A8EC-6E3E0BADCFDF}"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8-EF0F-4825-9E26-E55E8F8B6D3D}"/>
                </c:ext>
              </c:extLst>
            </c:dLbl>
            <c:dLbl>
              <c:idx val="4"/>
              <c:layout>
                <c:manualLayout>
                  <c:x val="-0.25598129921259843"/>
                  <c:y val="-5.9155308736873358E-2"/>
                </c:manualLayout>
              </c:layout>
              <c:tx>
                <c:rich>
                  <a:bodyPr rot="0" spcFirstLastPara="1" vertOverflow="ellipsis" vert="horz" wrap="square" lIns="38100" tIns="19050" rIns="38100" bIns="19050" anchor="ctr" anchorCtr="1">
                    <a:noAutofit/>
                  </a:bodyPr>
                  <a:lstStyle/>
                  <a:p>
                    <a:pPr>
                      <a:defRPr sz="800" b="0" i="0" u="none" strike="noStrike" kern="1200" baseline="0">
                        <a:solidFill>
                          <a:schemeClr val="tx1">
                            <a:lumMod val="75000"/>
                            <a:lumOff val="25000"/>
                          </a:schemeClr>
                        </a:solidFill>
                        <a:latin typeface="+mn-ea"/>
                        <a:ea typeface="+mn-ea"/>
                        <a:cs typeface="+mn-cs"/>
                      </a:defRPr>
                    </a:pPr>
                    <a:fld id="{79AB6F3F-D556-4E3C-8CD3-05F89BD163D9}" type="CELLRANGE">
                      <a:rPr lang="zh-CN" altLang="en-US"/>
                      <a:pPr>
                        <a:defRPr sz="800">
                          <a:latin typeface="+mn-ea"/>
                        </a:defRPr>
                      </a:pPr>
                      <a:t>[CELLRANGE]</a:t>
                    </a:fld>
                    <a:endParaRPr lang="zh-CN" altLang="en-US"/>
                  </a:p>
                </c:rich>
              </c:tx>
              <c:spPr>
                <a:noFill/>
                <a:ln>
                  <a:noFill/>
                </a:ln>
                <a:effectLst/>
              </c:spPr>
              <c:txPr>
                <a:bodyPr rot="0" spcFirstLastPara="1" vertOverflow="ellipsis" vert="horz" wrap="square" lIns="38100" tIns="19050" rIns="38100" bIns="19050" anchor="ctr" anchorCtr="1">
                  <a:noAutofit/>
                </a:bodyPr>
                <a:lstStyle/>
                <a:p>
                  <a:pPr>
                    <a:defRPr sz="800" b="0" i="0" u="none" strike="noStrike" kern="1200" baseline="0">
                      <a:solidFill>
                        <a:schemeClr val="tx1">
                          <a:lumMod val="75000"/>
                          <a:lumOff val="25000"/>
                        </a:schemeClr>
                      </a:solidFill>
                      <a:latin typeface="+mn-ea"/>
                      <a:ea typeface="+mn-ea"/>
                      <a:cs typeface="+mn-cs"/>
                    </a:defRPr>
                  </a:pPr>
                  <a:endParaRPr lang="zh-CN"/>
                </a:p>
              </c:txPr>
              <c:showLegendKey val="0"/>
              <c:showVal val="0"/>
              <c:showCatName val="0"/>
              <c:showSerName val="0"/>
              <c:showPercent val="0"/>
              <c:showBubbleSize val="0"/>
              <c:extLst>
                <c:ext xmlns:c15="http://schemas.microsoft.com/office/drawing/2012/chart" uri="{CE6537A1-D6FC-4f65-9D91-7224C49458BB}">
                  <c15:layout>
                    <c:manualLayout>
                      <c:w val="0.27656249999999999"/>
                      <c:h val="5.9034083702363023E-2"/>
                    </c:manualLayout>
                  </c15:layout>
                  <c15:dlblFieldTable/>
                  <c15:showDataLabelsRange val="1"/>
                </c:ext>
                <c:ext xmlns:c16="http://schemas.microsoft.com/office/drawing/2014/chart" uri="{C3380CC4-5D6E-409C-BE32-E72D297353CC}">
                  <c16:uniqueId val="{00000007-EF0F-4825-9E26-E55E8F8B6D3D}"/>
                </c:ext>
              </c:extLst>
            </c:dLbl>
            <c:dLbl>
              <c:idx val="5"/>
              <c:layout>
                <c:manualLayout>
                  <c:x val="-0.2265625"/>
                  <c:y val="-0.10617640953662418"/>
                </c:manualLayout>
              </c:layout>
              <c:tx>
                <c:rich>
                  <a:bodyPr/>
                  <a:lstStyle/>
                  <a:p>
                    <a:fld id="{17518B67-A613-49B1-A782-15AC5F4F69AF}"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EF0F-4825-9E26-E55E8F8B6D3D}"/>
                </c:ext>
              </c:extLst>
            </c:dLbl>
            <c:dLbl>
              <c:idx val="6"/>
              <c:layout>
                <c:manualLayout>
                  <c:x val="1.5624999999998854E-3"/>
                  <c:y val="-3.0336117010464048E-3"/>
                </c:manualLayout>
              </c:layout>
              <c:tx>
                <c:rich>
                  <a:bodyPr/>
                  <a:lstStyle/>
                  <a:p>
                    <a:fld id="{F601E07A-3C83-4ABA-A389-0DB886579B4D}"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EF0F-4825-9E26-E55E8F8B6D3D}"/>
                </c:ext>
              </c:extLst>
            </c:dLbl>
            <c:dLbl>
              <c:idx val="7"/>
              <c:layout>
                <c:manualLayout>
                  <c:x val="-0.12031250000000006"/>
                  <c:y val="0.17291586695964509"/>
                </c:manualLayout>
              </c:layout>
              <c:tx>
                <c:rich>
                  <a:bodyPr/>
                  <a:lstStyle/>
                  <a:p>
                    <a:fld id="{11B817B9-4162-4E37-B5D5-2B61D43957E1}"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D-EF0F-4825-9E26-E55E8F8B6D3D}"/>
                </c:ext>
              </c:extLst>
            </c:dLbl>
            <c:dLbl>
              <c:idx val="8"/>
              <c:layout>
                <c:manualLayout>
                  <c:x val="6.2500000000000003E-3"/>
                  <c:y val="-3.3369728711510567E-2"/>
                </c:manualLayout>
              </c:layout>
              <c:tx>
                <c:rich>
                  <a:bodyPr/>
                  <a:lstStyle/>
                  <a:p>
                    <a:fld id="{047AD5CC-45F5-4199-B0BE-372C5CC18479}"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3-EF0F-4825-9E26-E55E8F8B6D3D}"/>
                </c:ext>
              </c:extLst>
            </c:dLbl>
            <c:dLbl>
              <c:idx val="9"/>
              <c:tx>
                <c:rich>
                  <a:bodyPr/>
                  <a:lstStyle/>
                  <a:p>
                    <a:fld id="{AD23A9FD-8C35-4301-B064-A4F76A1E9D7A}"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EF0F-4825-9E26-E55E8F8B6D3D}"/>
                </c:ext>
              </c:extLst>
            </c:dLbl>
            <c:dLbl>
              <c:idx val="10"/>
              <c:tx>
                <c:rich>
                  <a:bodyPr/>
                  <a:lstStyle/>
                  <a:p>
                    <a:fld id="{5B86C6C3-855C-4AC3-BD89-06FB27495F65}"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EF0F-4825-9E26-E55E8F8B6D3D}"/>
                </c:ext>
              </c:extLst>
            </c:dLbl>
            <c:dLbl>
              <c:idx val="11"/>
              <c:tx>
                <c:rich>
                  <a:bodyPr/>
                  <a:lstStyle/>
                  <a:p>
                    <a:fld id="{68D68168-A251-445B-B52D-4791AAD4645A}"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0-EF0F-4825-9E26-E55E8F8B6D3D}"/>
                </c:ext>
              </c:extLst>
            </c:dLbl>
            <c:dLbl>
              <c:idx val="12"/>
              <c:delete val="1"/>
              <c:extLst>
                <c:ext xmlns:c15="http://schemas.microsoft.com/office/drawing/2012/chart" uri="{CE6537A1-D6FC-4f65-9D91-7224C49458BB}"/>
                <c:ext xmlns:c16="http://schemas.microsoft.com/office/drawing/2014/chart" uri="{C3380CC4-5D6E-409C-BE32-E72D297353CC}">
                  <c16:uniqueId val="{00000011-EF0F-4825-9E26-E55E8F8B6D3D}"/>
                </c:ext>
              </c:extLst>
            </c:dLbl>
            <c:dLbl>
              <c:idx val="13"/>
              <c:layout>
                <c:manualLayout>
                  <c:x val="-4.6875E-2"/>
                  <c:y val="0.10010918613453136"/>
                </c:manualLayout>
              </c:layout>
              <c:tx>
                <c:rich>
                  <a:bodyPr/>
                  <a:lstStyle/>
                  <a:p>
                    <a:fld id="{D6E67601-91A8-40A7-887B-86D6C1D1AEBE}"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2-EF0F-4825-9E26-E55E8F8B6D3D}"/>
                </c:ext>
              </c:extLst>
            </c:dLbl>
            <c:dLbl>
              <c:idx val="14"/>
              <c:layout>
                <c:manualLayout>
                  <c:x val="-8.7499999999999994E-2"/>
                  <c:y val="3.6403340412556856E-2"/>
                </c:manualLayout>
              </c:layout>
              <c:tx>
                <c:rich>
                  <a:bodyPr/>
                  <a:lstStyle/>
                  <a:p>
                    <a:fld id="{4AD7C108-9E66-43E8-804C-5684D29F1EA6}"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3-EF0F-4825-9E26-E55E8F8B6D3D}"/>
                </c:ext>
              </c:extLst>
            </c:dLbl>
            <c:dLbl>
              <c:idx val="15"/>
              <c:layout>
                <c:manualLayout>
                  <c:x val="2.8125000000000001E-2"/>
                  <c:y val="-5.4605010618835347E-2"/>
                </c:manualLayout>
              </c:layout>
              <c:tx>
                <c:rich>
                  <a:bodyPr/>
                  <a:lstStyle/>
                  <a:p>
                    <a:fld id="{8DBDED80-A974-419A-A675-FB7EDF99D8BC}"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EF0F-4825-9E26-E55E8F8B6D3D}"/>
                </c:ext>
              </c:extLst>
            </c:dLbl>
            <c:dLbl>
              <c:idx val="16"/>
              <c:layout>
                <c:manualLayout>
                  <c:x val="-0.20468749999999999"/>
                  <c:y val="0.20325198397010913"/>
                </c:manualLayout>
              </c:layout>
              <c:tx>
                <c:rich>
                  <a:bodyPr/>
                  <a:lstStyle/>
                  <a:p>
                    <a:fld id="{BF264D91-FEBA-4BB4-A086-DE840A87C3A0}"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4-EF0F-4825-9E26-E55E8F8B6D3D}"/>
                </c:ext>
              </c:extLst>
            </c:dLbl>
            <c:dLbl>
              <c:idx val="17"/>
              <c:layout>
                <c:manualLayout>
                  <c:x val="-4.2187500000000003E-2"/>
                  <c:y val="6.370584572197445E-2"/>
                </c:manualLayout>
              </c:layout>
              <c:tx>
                <c:rich>
                  <a:bodyPr/>
                  <a:lstStyle/>
                  <a:p>
                    <a:fld id="{049A1805-5434-4C3F-AFE6-163316BC873A}"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2-EF0F-4825-9E26-E55E8F8B6D3D}"/>
                </c:ext>
              </c:extLst>
            </c:dLbl>
            <c:dLbl>
              <c:idx val="18"/>
              <c:layout>
                <c:manualLayout>
                  <c:x val="-0.121875"/>
                  <c:y val="3.0336117010464049E-2"/>
                </c:manualLayout>
              </c:layout>
              <c:tx>
                <c:rich>
                  <a:bodyPr/>
                  <a:lstStyle/>
                  <a:p>
                    <a:fld id="{509D9D5B-FB18-4F2B-A51A-FBECA8637EC4}"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5-EF0F-4825-9E26-E55E8F8B6D3D}"/>
                </c:ext>
              </c:extLst>
            </c:dLbl>
            <c:dLbl>
              <c:idx val="19"/>
              <c:layout>
                <c:manualLayout>
                  <c:x val="-4.3749999999999997E-2"/>
                  <c:y val="6.0672234020928098E-2"/>
                </c:manualLayout>
              </c:layout>
              <c:tx>
                <c:rich>
                  <a:bodyPr/>
                  <a:lstStyle/>
                  <a:p>
                    <a:fld id="{7A6C6D59-1DD0-4E88-9FF1-7F0B05A2FD33}"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EF0F-4825-9E26-E55E8F8B6D3D}"/>
                </c:ext>
              </c:extLst>
            </c:dLbl>
            <c:dLbl>
              <c:idx val="20"/>
              <c:layout>
                <c:manualLayout>
                  <c:x val="-4.6875E-2"/>
                  <c:y val="-0.11527724463976338"/>
                </c:manualLayout>
              </c:layout>
              <c:tx>
                <c:rich>
                  <a:bodyPr/>
                  <a:lstStyle/>
                  <a:p>
                    <a:fld id="{7BAFEE8F-8100-45CF-998A-598CA1DBE6E6}"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6-EF0F-4825-9E26-E55E8F8B6D3D}"/>
                </c:ext>
              </c:extLst>
            </c:dLbl>
            <c:dLbl>
              <c:idx val="21"/>
              <c:layout>
                <c:manualLayout>
                  <c:x val="-8.59375E-2"/>
                  <c:y val="1.2134446804185508E-2"/>
                </c:manualLayout>
              </c:layout>
              <c:tx>
                <c:rich>
                  <a:bodyPr/>
                  <a:lstStyle/>
                  <a:p>
                    <a:fld id="{C943A64A-E540-47EC-B21B-5543D6D122AB}" type="CELLRANGE">
                      <a:rPr lang="zh-CN" altLang="en-US"/>
                      <a:pPr/>
                      <a:t>[CELLRANGE]</a:t>
                    </a:fld>
                    <a:endParaRPr lang="zh-CN" alt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7-EF0F-4825-9E26-E55E8F8B6D3D}"/>
                </c:ext>
              </c:extLst>
            </c:dLbl>
            <c:dLbl>
              <c:idx val="22"/>
              <c:layout>
                <c:manualLayout>
                  <c:x val="-0.12968750000000001"/>
                  <c:y val="3.0336117010464048E-3"/>
                </c:manualLayout>
              </c:layout>
              <c:showLegendKey val="0"/>
              <c:showVal val="0"/>
              <c:showCatName val="0"/>
              <c:showSerName val="0"/>
              <c:showPercent val="0"/>
              <c:showBubbleSize val="0"/>
              <c:extLst>
                <c:ext xmlns:c15="http://schemas.microsoft.com/office/drawing/2012/chart" uri="{CE6537A1-D6FC-4f65-9D91-7224C49458BB}">
                  <c15:showDataLabelsRange val="1"/>
                </c:ext>
                <c:ext xmlns:c16="http://schemas.microsoft.com/office/drawing/2014/chart" uri="{C3380CC4-5D6E-409C-BE32-E72D297353CC}">
                  <c16:uniqueId val="{00000001-EF0F-4825-9E26-E55E8F8B6D3D}"/>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ea"/>
                    <a:ea typeface="+mn-ea"/>
                    <a:cs typeface="+mn-cs"/>
                  </a:defRPr>
                </a:pPr>
                <a:endParaRPr lang="zh-CN"/>
              </a:p>
            </c:txP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xVal>
            <c:numRef>
              <c:f>Sheet1!$A$2:$A$23</c:f>
              <c:numCache>
                <c:formatCode>0.0_ </c:formatCode>
                <c:ptCount val="22"/>
                <c:pt idx="0">
                  <c:v>8.2040816326530592</c:v>
                </c:pt>
                <c:pt idx="1">
                  <c:v>8.3990147783251192</c:v>
                </c:pt>
                <c:pt idx="2">
                  <c:v>8.4568345323740992</c:v>
                </c:pt>
                <c:pt idx="3">
                  <c:v>8.3884892086330893</c:v>
                </c:pt>
                <c:pt idx="4">
                  <c:v>8.2410071942446006</c:v>
                </c:pt>
                <c:pt idx="5">
                  <c:v>8.2158273381295004</c:v>
                </c:pt>
                <c:pt idx="6">
                  <c:v>8.4892086330935292</c:v>
                </c:pt>
                <c:pt idx="7">
                  <c:v>8.2769784172661893</c:v>
                </c:pt>
                <c:pt idx="8">
                  <c:v>8.5575539568345302</c:v>
                </c:pt>
                <c:pt idx="9">
                  <c:v>8.4856115107913705</c:v>
                </c:pt>
                <c:pt idx="10">
                  <c:v>8.3417266187050405</c:v>
                </c:pt>
                <c:pt idx="11">
                  <c:v>8.1546762589928097</c:v>
                </c:pt>
                <c:pt idx="12">
                  <c:v>8.2928870292886998</c:v>
                </c:pt>
                <c:pt idx="13">
                  <c:v>8.3054393305439298</c:v>
                </c:pt>
                <c:pt idx="14">
                  <c:v>8.2175732217573199</c:v>
                </c:pt>
                <c:pt idx="15">
                  <c:v>8.2552301255230098</c:v>
                </c:pt>
                <c:pt idx="16">
                  <c:v>8.4393305439330604</c:v>
                </c:pt>
                <c:pt idx="17">
                  <c:v>8.1548117154811699</c:v>
                </c:pt>
                <c:pt idx="18">
                  <c:v>8.3263598326359798</c:v>
                </c:pt>
                <c:pt idx="19">
                  <c:v>8.2761506276150598</c:v>
                </c:pt>
                <c:pt idx="20">
                  <c:v>8.2446043165467593</c:v>
                </c:pt>
                <c:pt idx="21">
                  <c:v>8.1877256317689504</c:v>
                </c:pt>
              </c:numCache>
            </c:numRef>
          </c:xVal>
          <c:yVal>
            <c:numRef>
              <c:f>Sheet1!$B$2:$B$23</c:f>
              <c:numCache>
                <c:formatCode>0.0_ </c:formatCode>
                <c:ptCount val="22"/>
                <c:pt idx="0">
                  <c:v>8.3893129770992392</c:v>
                </c:pt>
                <c:pt idx="1">
                  <c:v>8.4007936507936503</c:v>
                </c:pt>
                <c:pt idx="2">
                  <c:v>8.5036231884058004</c:v>
                </c:pt>
                <c:pt idx="3">
                  <c:v>8.4132841328413299</c:v>
                </c:pt>
                <c:pt idx="4">
                  <c:v>8.39483394833948</c:v>
                </c:pt>
                <c:pt idx="5">
                  <c:v>8.2472324723247201</c:v>
                </c:pt>
                <c:pt idx="6">
                  <c:v>8.5498154981549792</c:v>
                </c:pt>
                <c:pt idx="7">
                  <c:v>8.2804428044280396</c:v>
                </c:pt>
                <c:pt idx="8">
                  <c:v>8.6420664206642108</c:v>
                </c:pt>
                <c:pt idx="9">
                  <c:v>8.45756457564576</c:v>
                </c:pt>
                <c:pt idx="10">
                  <c:v>8.2361623616236201</c:v>
                </c:pt>
                <c:pt idx="11">
                  <c:v>8.0553505535055407</c:v>
                </c:pt>
                <c:pt idx="12">
                  <c:v>8.2807692307692307</c:v>
                </c:pt>
                <c:pt idx="13">
                  <c:v>8.3461538461538503</c:v>
                </c:pt>
                <c:pt idx="14">
                  <c:v>8.2307692307692299</c:v>
                </c:pt>
                <c:pt idx="15">
                  <c:v>8.3346153846153808</c:v>
                </c:pt>
                <c:pt idx="16">
                  <c:v>8.4884615384615394</c:v>
                </c:pt>
                <c:pt idx="17">
                  <c:v>8.2961538461538495</c:v>
                </c:pt>
                <c:pt idx="18">
                  <c:v>8.4</c:v>
                </c:pt>
                <c:pt idx="19">
                  <c:v>8.3653846153846096</c:v>
                </c:pt>
                <c:pt idx="20">
                  <c:v>8.3093525179856105</c:v>
                </c:pt>
                <c:pt idx="21">
                  <c:v>8.2238267148014401</c:v>
                </c:pt>
              </c:numCache>
            </c:numRef>
          </c:yVal>
          <c:smooth val="0"/>
          <c:extLst>
            <c:ext xmlns:c15="http://schemas.microsoft.com/office/drawing/2012/chart" uri="{02D57815-91ED-43cb-92C2-25804820EDAC}">
              <c15:datalabelsRange>
                <c15:f>Sheet1!$C$2:$C$23</c15:f>
                <c15:dlblRangeCache>
                  <c:ptCount val="22"/>
                  <c:pt idx="0">
                    <c:v>咨询过程的专业度</c:v>
                  </c:pt>
                  <c:pt idx="1">
                    <c:v>预约便利性</c:v>
                  </c:pt>
                  <c:pt idx="2">
                    <c:v>人员接待及时性与主动性</c:v>
                  </c:pt>
                  <c:pt idx="3">
                    <c:v>销售顾问对车型介绍专业性</c:v>
                  </c:pt>
                  <c:pt idx="4">
                    <c:v>销售顾问理解购车需求及针对性的推荐程度</c:v>
                  </c:pt>
                  <c:pt idx="5">
                    <c:v>门店静态演示和体验表现</c:v>
                  </c:pt>
                  <c:pt idx="6">
                    <c:v>销售顾问的服务态度</c:v>
                  </c:pt>
                  <c:pt idx="7">
                    <c:v>销售顾问诚信度</c:v>
                  </c:pt>
                  <c:pt idx="8">
                    <c:v>销售顾问的形象</c:v>
                  </c:pt>
                  <c:pt idx="9">
                    <c:v>展车情况</c:v>
                  </c:pt>
                  <c:pt idx="10">
                    <c:v>店内硬件设施</c:v>
                  </c:pt>
                  <c:pt idx="11">
                    <c:v>提供的饮料服务</c:v>
                  </c:pt>
                  <c:pt idx="12">
                    <c:v>门店试驾邀约</c:v>
                  </c:pt>
                  <c:pt idx="13">
                    <c:v>试驾申请流程便捷程度</c:v>
                  </c:pt>
                  <c:pt idx="14">
                    <c:v>对试驾等待时间</c:v>
                  </c:pt>
                  <c:pt idx="15">
                    <c:v>试驾前的准备工作</c:v>
                  </c:pt>
                  <c:pt idx="16">
                    <c:v>试乘试驾车辆状况</c:v>
                  </c:pt>
                  <c:pt idx="17">
                    <c:v>试驾时长与试驾路线安排</c:v>
                  </c:pt>
                  <c:pt idx="18">
                    <c:v>销售顾问或试驾专员的讲解专业性</c:v>
                  </c:pt>
                  <c:pt idx="19">
                    <c:v>试驾结束后的持续服务</c:v>
                  </c:pt>
                  <c:pt idx="20">
                    <c:v>离店送别服务表现</c:v>
                  </c:pt>
                  <c:pt idx="21">
                    <c:v>离店后的回访表现</c:v>
                  </c:pt>
                </c15:dlblRangeCache>
              </c15:datalabelsRange>
            </c:ext>
            <c:ext xmlns:c16="http://schemas.microsoft.com/office/drawing/2014/chart" uri="{C3380CC4-5D6E-409C-BE32-E72D297353CC}">
              <c16:uniqueId val="{00000000-EF0F-4825-9E26-E55E8F8B6D3D}"/>
            </c:ext>
          </c:extLst>
        </c:ser>
        <c:dLbls>
          <c:showLegendKey val="0"/>
          <c:showVal val="0"/>
          <c:showCatName val="0"/>
          <c:showSerName val="0"/>
          <c:showPercent val="0"/>
          <c:showBubbleSize val="0"/>
        </c:dLbls>
        <c:axId val="1343970448"/>
        <c:axId val="977734560"/>
      </c:scatterChart>
      <c:valAx>
        <c:axId val="1343970448"/>
        <c:scaling>
          <c:orientation val="minMax"/>
        </c:scaling>
        <c:delete val="0"/>
        <c:axPos val="b"/>
        <c:numFmt formatCode="0.0_ " sourceLinked="1"/>
        <c:majorTickMark val="out"/>
        <c:minorTickMark val="none"/>
        <c:tickLblPos val="none"/>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977734560"/>
        <c:crossesAt val="8.3500000000000014"/>
        <c:crossBetween val="midCat"/>
      </c:valAx>
      <c:valAx>
        <c:axId val="977734560"/>
        <c:scaling>
          <c:orientation val="minMax"/>
        </c:scaling>
        <c:delete val="0"/>
        <c:axPos val="l"/>
        <c:numFmt formatCode="0.0_ " sourceLinked="1"/>
        <c:majorTickMark val="out"/>
        <c:minorTickMark val="none"/>
        <c:tickLblPos val="none"/>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1343970448"/>
        <c:crossesAt val="8.31"/>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263783062228E-2"/>
          <c:y val="8.5971082454083594E-2"/>
          <c:w val="0.95736216937772001"/>
          <c:h val="0.83798893603067703"/>
        </c:manualLayout>
      </c:layout>
      <c:barChart>
        <c:barDir val="col"/>
        <c:grouping val="clustered"/>
        <c:varyColors val="0"/>
        <c:ser>
          <c:idx val="0"/>
          <c:order val="0"/>
          <c:tx>
            <c:strRef>
              <c:f>Sheet1!$B$1</c:f>
              <c:strCache>
                <c:ptCount val="1"/>
                <c:pt idx="0">
                  <c:v>系列 1</c:v>
                </c:pt>
              </c:strCache>
            </c:strRef>
          </c:tx>
          <c:spPr>
            <a:solidFill>
              <a:srgbClr val="9FA0A0"/>
            </a:solidFill>
            <a:ln>
              <a:noFill/>
            </a:ln>
            <a:effectLst/>
          </c:spPr>
          <c:invertIfNegative val="0"/>
          <c:dPt>
            <c:idx val="0"/>
            <c:invertIfNegative val="0"/>
            <c:bubble3D val="0"/>
            <c:spPr>
              <a:solidFill>
                <a:srgbClr val="69A35B"/>
              </a:solidFill>
              <a:ln>
                <a:noFill/>
              </a:ln>
              <a:effectLst/>
            </c:spPr>
            <c:extLst>
              <c:ext xmlns:c16="http://schemas.microsoft.com/office/drawing/2014/chart" uri="{C3380CC4-5D6E-409C-BE32-E72D297353CC}">
                <c16:uniqueId val="{00000001-5132-4F26-9E26-FA4507AC034F}"/>
              </c:ext>
            </c:extLst>
          </c:dPt>
          <c:dPt>
            <c:idx val="1"/>
            <c:invertIfNegative val="0"/>
            <c:bubble3D val="0"/>
            <c:spPr>
              <a:solidFill>
                <a:srgbClr val="69A35B"/>
              </a:solidFill>
              <a:ln>
                <a:noFill/>
              </a:ln>
              <a:effectLst/>
            </c:spPr>
            <c:extLst>
              <c:ext xmlns:c16="http://schemas.microsoft.com/office/drawing/2014/chart" uri="{C3380CC4-5D6E-409C-BE32-E72D297353CC}">
                <c16:uniqueId val="{00000003-5132-4F26-9E26-FA4507AC034F}"/>
              </c:ext>
            </c:extLst>
          </c:dPt>
          <c:dPt>
            <c:idx val="2"/>
            <c:invertIfNegative val="0"/>
            <c:bubble3D val="0"/>
            <c:spPr>
              <a:solidFill>
                <a:srgbClr val="9FA0A0"/>
              </a:solidFill>
              <a:ln>
                <a:noFill/>
              </a:ln>
              <a:effectLst/>
            </c:spPr>
            <c:extLst>
              <c:ext xmlns:c16="http://schemas.microsoft.com/office/drawing/2014/chart" uri="{C3380CC4-5D6E-409C-BE32-E72D297353CC}">
                <c16:uniqueId val="{00000005-5132-4F26-9E26-FA4507AC034F}"/>
              </c:ext>
            </c:extLst>
          </c:dPt>
          <c:dPt>
            <c:idx val="3"/>
            <c:invertIfNegative val="0"/>
            <c:bubble3D val="0"/>
            <c:spPr>
              <a:solidFill>
                <a:srgbClr val="9FA0A0"/>
              </a:solidFill>
              <a:ln>
                <a:noFill/>
              </a:ln>
              <a:effectLst/>
            </c:spPr>
            <c:extLst>
              <c:ext xmlns:c16="http://schemas.microsoft.com/office/drawing/2014/chart" uri="{C3380CC4-5D6E-409C-BE32-E72D297353CC}">
                <c16:uniqueId val="{00000007-5132-4F26-9E26-FA4507AC034F}"/>
              </c:ext>
            </c:extLst>
          </c:dPt>
          <c:dPt>
            <c:idx val="4"/>
            <c:invertIfNegative val="0"/>
            <c:bubble3D val="0"/>
            <c:spPr>
              <a:solidFill>
                <a:srgbClr val="9FA0A0"/>
              </a:solidFill>
              <a:ln>
                <a:noFill/>
              </a:ln>
              <a:effectLst/>
            </c:spPr>
            <c:extLst>
              <c:ext xmlns:c16="http://schemas.microsoft.com/office/drawing/2014/chart" uri="{C3380CC4-5D6E-409C-BE32-E72D297353CC}">
                <c16:uniqueId val="{00000009-5132-4F26-9E26-FA4507AC034F}"/>
              </c:ext>
            </c:extLst>
          </c:dPt>
          <c:dPt>
            <c:idx val="5"/>
            <c:invertIfNegative val="0"/>
            <c:bubble3D val="0"/>
            <c:spPr>
              <a:solidFill>
                <a:srgbClr val="9FA0A0"/>
              </a:solidFill>
              <a:ln>
                <a:noFill/>
              </a:ln>
              <a:effectLst/>
            </c:spPr>
            <c:extLst>
              <c:ext xmlns:c16="http://schemas.microsoft.com/office/drawing/2014/chart" uri="{C3380CC4-5D6E-409C-BE32-E72D297353CC}">
                <c16:uniqueId val="{0000000B-5132-4F26-9E26-FA4507AC034F}"/>
              </c:ext>
            </c:extLst>
          </c:dPt>
          <c:dPt>
            <c:idx val="6"/>
            <c:invertIfNegative val="0"/>
            <c:bubble3D val="0"/>
            <c:spPr>
              <a:solidFill>
                <a:srgbClr val="CC4545"/>
              </a:solidFill>
              <a:ln>
                <a:noFill/>
              </a:ln>
              <a:effectLst/>
            </c:spPr>
            <c:extLst>
              <c:ext xmlns:c16="http://schemas.microsoft.com/office/drawing/2014/chart" uri="{C3380CC4-5D6E-409C-BE32-E72D297353CC}">
                <c16:uniqueId val="{0000000D-BA49-4C7F-97A5-9D5ED1924606}"/>
              </c:ext>
            </c:extLst>
          </c:dPt>
          <c:dPt>
            <c:idx val="7"/>
            <c:invertIfNegative val="0"/>
            <c:bubble3D val="0"/>
            <c:spPr>
              <a:solidFill>
                <a:srgbClr val="CC4545"/>
              </a:solidFill>
              <a:ln>
                <a:noFill/>
              </a:ln>
              <a:effectLst/>
            </c:spPr>
            <c:extLst>
              <c:ext xmlns:c16="http://schemas.microsoft.com/office/drawing/2014/chart" uri="{C3380CC4-5D6E-409C-BE32-E72D297353CC}">
                <c16:uniqueId val="{0000000E-BA49-4C7F-97A5-9D5ED1924606}"/>
              </c:ext>
            </c:extLst>
          </c:dPt>
          <c:dLbls>
            <c:numFmt formatCode="#,##0_);[Red]\(#,##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北一区</c:v>
                </c:pt>
                <c:pt idx="1">
                  <c:v>东二区</c:v>
                </c:pt>
                <c:pt idx="2">
                  <c:v>东三区</c:v>
                </c:pt>
                <c:pt idx="3">
                  <c:v>西一区</c:v>
                </c:pt>
                <c:pt idx="4">
                  <c:v>南二区</c:v>
                </c:pt>
                <c:pt idx="5">
                  <c:v>西二区</c:v>
                </c:pt>
                <c:pt idx="6">
                  <c:v>东一区</c:v>
                </c:pt>
                <c:pt idx="7">
                  <c:v>南一区</c:v>
                </c:pt>
              </c:strCache>
            </c:strRef>
          </c:cat>
          <c:val>
            <c:numRef>
              <c:f>Sheet1!$B$2:$B$9</c:f>
              <c:numCache>
                <c:formatCode>General</c:formatCode>
                <c:ptCount val="8"/>
                <c:pt idx="0">
                  <c:v>918</c:v>
                </c:pt>
                <c:pt idx="1">
                  <c:v>884</c:v>
                </c:pt>
                <c:pt idx="2">
                  <c:v>883</c:v>
                </c:pt>
                <c:pt idx="3">
                  <c:v>876</c:v>
                </c:pt>
                <c:pt idx="4">
                  <c:v>856</c:v>
                </c:pt>
                <c:pt idx="5">
                  <c:v>850</c:v>
                </c:pt>
                <c:pt idx="6">
                  <c:v>849</c:v>
                </c:pt>
                <c:pt idx="7">
                  <c:v>840</c:v>
                </c:pt>
              </c:numCache>
            </c:numRef>
          </c:val>
          <c:extLst>
            <c:ext xmlns:c16="http://schemas.microsoft.com/office/drawing/2014/chart" uri="{C3380CC4-5D6E-409C-BE32-E72D297353CC}">
              <c16:uniqueId val="{0000000C-5132-4F26-9E26-FA4507AC034F}"/>
            </c:ext>
          </c:extLst>
        </c:ser>
        <c:ser>
          <c:idx val="1"/>
          <c:order val="1"/>
          <c:tx>
            <c:strRef>
              <c:f>Sheet1!$C$1</c:f>
              <c:strCache>
                <c:ptCount val="1"/>
                <c:pt idx="0">
                  <c:v>系列 1</c:v>
                </c:pt>
              </c:strCache>
            </c:strRef>
          </c:tx>
          <c:spPr>
            <a:solidFill>
              <a:srgbClr val="E2E2E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北一区</c:v>
                </c:pt>
                <c:pt idx="1">
                  <c:v>东二区</c:v>
                </c:pt>
                <c:pt idx="2">
                  <c:v>东三区</c:v>
                </c:pt>
                <c:pt idx="3">
                  <c:v>西一区</c:v>
                </c:pt>
                <c:pt idx="4">
                  <c:v>南二区</c:v>
                </c:pt>
                <c:pt idx="5">
                  <c:v>西二区</c:v>
                </c:pt>
                <c:pt idx="6">
                  <c:v>东一区</c:v>
                </c:pt>
                <c:pt idx="7">
                  <c:v>南一区</c:v>
                </c:pt>
              </c:strCache>
            </c:strRef>
          </c:cat>
          <c:val>
            <c:numRef>
              <c:f>Sheet1!$C$2:$C$9</c:f>
              <c:numCache>
                <c:formatCode>0_ </c:formatCode>
                <c:ptCount val="8"/>
                <c:pt idx="0">
                  <c:v>811.56494077813068</c:v>
                </c:pt>
                <c:pt idx="1">
                  <c:v>839.26404552298777</c:v>
                </c:pt>
                <c:pt idx="3">
                  <c:v>750.01323946657544</c:v>
                </c:pt>
                <c:pt idx="4">
                  <c:v>767.09074813336531</c:v>
                </c:pt>
                <c:pt idx="6">
                  <c:v>846.45727295213885</c:v>
                </c:pt>
                <c:pt idx="7">
                  <c:v>821.5065121567709</c:v>
                </c:pt>
              </c:numCache>
            </c:numRef>
          </c:val>
          <c:extLst>
            <c:ext xmlns:c16="http://schemas.microsoft.com/office/drawing/2014/chart" uri="{C3380CC4-5D6E-409C-BE32-E72D297353CC}">
              <c16:uniqueId val="{0000000C-BA49-4C7F-97A5-9D5ED1924606}"/>
            </c:ext>
          </c:extLst>
        </c:ser>
        <c:dLbls>
          <c:showLegendKey val="0"/>
          <c:showVal val="1"/>
          <c:showCatName val="0"/>
          <c:showSerName val="0"/>
          <c:showPercent val="0"/>
          <c:showBubbleSize val="0"/>
        </c:dLbls>
        <c:gapWidth val="219"/>
        <c:overlap val="-27"/>
        <c:axId val="370353377"/>
        <c:axId val="657175826"/>
      </c:barChart>
      <c:catAx>
        <c:axId val="370353377"/>
        <c:scaling>
          <c:orientation val="minMax"/>
        </c:scaling>
        <c:delete val="1"/>
        <c:axPos val="b"/>
        <c:numFmt formatCode="General" sourceLinked="0"/>
        <c:majorTickMark val="none"/>
        <c:minorTickMark val="none"/>
        <c:tickLblPos val="nextTo"/>
        <c:crossAx val="657175826"/>
        <c:crosses val="autoZero"/>
        <c:auto val="1"/>
        <c:lblAlgn val="ctr"/>
        <c:lblOffset val="100"/>
        <c:noMultiLvlLbl val="0"/>
      </c:catAx>
      <c:valAx>
        <c:axId val="657175826"/>
        <c:scaling>
          <c:orientation val="minMax"/>
          <c:max val="950"/>
          <c:min val="600"/>
        </c:scaling>
        <c:delete val="1"/>
        <c:axPos val="l"/>
        <c:majorGridlines>
          <c:spPr>
            <a:ln w="9525" cap="flat" cmpd="sng" algn="ctr">
              <a:noFill/>
              <a:round/>
            </a:ln>
            <a:effectLst/>
          </c:spPr>
        </c:majorGridlines>
        <c:numFmt formatCode="General" sourceLinked="1"/>
        <c:majorTickMark val="out"/>
        <c:minorTickMark val="none"/>
        <c:tickLblPos val="nextTo"/>
        <c:crossAx val="370353377"/>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03225806451613"/>
          <c:y val="4.7942945629679629E-2"/>
          <c:w val="0.82258064516129037"/>
          <c:h val="0.92968367974313659"/>
        </c:manualLayout>
      </c:layout>
      <c:barChart>
        <c:barDir val="bar"/>
        <c:grouping val="clustered"/>
        <c:varyColors val="0"/>
        <c:ser>
          <c:idx val="0"/>
          <c:order val="0"/>
          <c:tx>
            <c:strRef>
              <c:f>Sheet1!$B$1</c:f>
              <c:strCache>
                <c:ptCount val="1"/>
                <c:pt idx="0">
                  <c:v>东一区</c:v>
                </c:pt>
              </c:strCache>
            </c:strRef>
          </c:tx>
          <c:spPr>
            <a:solidFill>
              <a:srgbClr val="E2E2E2"/>
            </a:solidFill>
            <a:ln>
              <a:noFill/>
            </a:ln>
            <a:effectLst/>
          </c:spPr>
          <c:invertIfNegative val="0"/>
          <c:dPt>
            <c:idx val="0"/>
            <c:invertIfNegative val="0"/>
            <c:bubble3D val="0"/>
            <c:extLst>
              <c:ext xmlns:c16="http://schemas.microsoft.com/office/drawing/2014/chart" uri="{C3380CC4-5D6E-409C-BE32-E72D297353CC}">
                <c16:uniqueId val="{00000003-2786-40E5-B69A-489F05407997}"/>
              </c:ext>
            </c:extLst>
          </c:dPt>
          <c:dLbls>
            <c:spPr>
              <a:noFill/>
              <a:ln>
                <a:noFill/>
              </a:ln>
              <a:effectLst/>
            </c:spPr>
            <c:txPr>
              <a:bodyPr rot="0" spcFirstLastPara="1" vertOverflow="ellipsis" vert="horz" wrap="square" lIns="0" tIns="19050" rIns="0" bIns="19050" anchor="ctr" anchorCtr="0">
                <a:spAutoFit/>
              </a:bodyPr>
              <a:lstStyle/>
              <a:p>
                <a:pPr algn="ctr">
                  <a:defRPr lang="en-US" altLang="zh-CN" sz="1000" b="0" i="0" u="none" strike="noStrike" kern="1200" baseline="0">
                    <a:solidFill>
                      <a:schemeClr val="tx1"/>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送别与回访</c:v>
                </c:pt>
                <c:pt idx="1">
                  <c:v> 洽谈下定</c:v>
                </c:pt>
                <c:pt idx="2">
                  <c:v> 试乘试驾</c:v>
                </c:pt>
                <c:pt idx="3">
                  <c:v> 店内看车</c:v>
                </c:pt>
                <c:pt idx="4">
                  <c:v> 到店接待</c:v>
                </c:pt>
                <c:pt idx="5">
                  <c:v>入店前沟通</c:v>
                </c:pt>
              </c:strCache>
            </c:strRef>
          </c:cat>
          <c:val>
            <c:numRef>
              <c:f>Sheet1!$B$2:$B$7</c:f>
              <c:numCache>
                <c:formatCode>0.0</c:formatCode>
                <c:ptCount val="6"/>
                <c:pt idx="1">
                  <c:v>8.0573520306269728</c:v>
                </c:pt>
                <c:pt idx="2">
                  <c:v>8.5167890773541775</c:v>
                </c:pt>
                <c:pt idx="3">
                  <c:v>8.6779573493062632</c:v>
                </c:pt>
                <c:pt idx="4">
                  <c:v>8.3253208502873957</c:v>
                </c:pt>
                <c:pt idx="5">
                  <c:v>8.5493887233314663</c:v>
                </c:pt>
              </c:numCache>
            </c:numRef>
          </c:val>
          <c:extLst>
            <c:ext xmlns:c16="http://schemas.microsoft.com/office/drawing/2014/chart" uri="{C3380CC4-5D6E-409C-BE32-E72D297353CC}">
              <c16:uniqueId val="{00000000-2786-40E5-B69A-489F05407997}"/>
            </c:ext>
          </c:extLst>
        </c:ser>
        <c:ser>
          <c:idx val="1"/>
          <c:order val="1"/>
          <c:tx>
            <c:strRef>
              <c:f>Sheet1!$C$1</c:f>
              <c:strCache>
                <c:ptCount val="1"/>
                <c:pt idx="0">
                  <c:v>东一区2</c:v>
                </c:pt>
              </c:strCache>
            </c:strRef>
          </c:tx>
          <c:invertIfNegative val="0"/>
          <c:dPt>
            <c:idx val="5"/>
            <c:invertIfNegative val="0"/>
            <c:bubble3D val="0"/>
            <c:spPr>
              <a:solidFill>
                <a:srgbClr val="C00000"/>
              </a:solidFill>
            </c:spPr>
            <c:extLst>
              <c:ext xmlns:c16="http://schemas.microsoft.com/office/drawing/2014/chart" uri="{C3380CC4-5D6E-409C-BE32-E72D297353CC}">
                <c16:uniqueId val="{00000004-B37A-442E-84D7-160F18F928DC}"/>
              </c:ext>
            </c:extLst>
          </c:dPt>
          <c:dLbls>
            <c:spPr>
              <a:noFill/>
              <a:ln>
                <a:noFill/>
              </a:ln>
              <a:effectLst/>
            </c:spPr>
            <c:txPr>
              <a:bodyPr wrap="square" lIns="38100" tIns="19050" rIns="38100" bIns="19050" anchor="ctr">
                <a:spAutoFit/>
              </a:bodyPr>
              <a:lstStyle/>
              <a:p>
                <a:pPr>
                  <a:defRPr>
                    <a:latin typeface="+mn-ea"/>
                    <a:ea typeface="+mn-ea"/>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送别与回访</c:v>
                </c:pt>
                <c:pt idx="1">
                  <c:v> 洽谈下定</c:v>
                </c:pt>
                <c:pt idx="2">
                  <c:v> 试乘试驾</c:v>
                </c:pt>
                <c:pt idx="3">
                  <c:v> 店内看车</c:v>
                </c:pt>
                <c:pt idx="4">
                  <c:v> 到店接待</c:v>
                </c:pt>
                <c:pt idx="5">
                  <c:v>入店前沟通</c:v>
                </c:pt>
              </c:strCache>
            </c:strRef>
          </c:cat>
          <c:val>
            <c:numRef>
              <c:f>Sheet1!$C$2:$C$7</c:f>
              <c:numCache>
                <c:formatCode>0.0</c:formatCode>
                <c:ptCount val="6"/>
                <c:pt idx="0">
                  <c:v>8.5</c:v>
                </c:pt>
                <c:pt idx="1">
                  <c:v>8.4</c:v>
                </c:pt>
                <c:pt idx="2">
                  <c:v>8.5</c:v>
                </c:pt>
                <c:pt idx="3">
                  <c:v>8.5</c:v>
                </c:pt>
                <c:pt idx="4">
                  <c:v>8.6</c:v>
                </c:pt>
                <c:pt idx="5">
                  <c:v>8.4</c:v>
                </c:pt>
              </c:numCache>
            </c:numRef>
          </c:val>
          <c:extLst>
            <c:ext xmlns:c16="http://schemas.microsoft.com/office/drawing/2014/chart" uri="{C3380CC4-5D6E-409C-BE32-E72D297353CC}">
              <c16:uniqueId val="{00000003-B37A-442E-84D7-160F18F928DC}"/>
            </c:ext>
          </c:extLst>
        </c:ser>
        <c:dLbls>
          <c:dLblPos val="outEnd"/>
          <c:showLegendKey val="0"/>
          <c:showVal val="1"/>
          <c:showCatName val="0"/>
          <c:showSerName val="0"/>
          <c:showPercent val="0"/>
          <c:showBubbleSize val="0"/>
        </c:dLbls>
        <c:gapWidth val="250"/>
        <c:axId val="1619867968"/>
        <c:axId val="1757341936"/>
      </c:barChart>
      <c:catAx>
        <c:axId val="1619867968"/>
        <c:scaling>
          <c:orientation val="minMax"/>
        </c:scaling>
        <c:delete val="0"/>
        <c:axPos val="l"/>
        <c:numFmt formatCode="General" sourceLinked="1"/>
        <c:majorTickMark val="out"/>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757341936"/>
        <c:crosses val="autoZero"/>
        <c:auto val="1"/>
        <c:lblAlgn val="ctr"/>
        <c:lblOffset val="100"/>
        <c:noMultiLvlLbl val="0"/>
      </c:catAx>
      <c:valAx>
        <c:axId val="1757341936"/>
        <c:scaling>
          <c:orientation val="minMax"/>
          <c:max val="10"/>
          <c:min val="7"/>
        </c:scaling>
        <c:delete val="1"/>
        <c:axPos val="b"/>
        <c:numFmt formatCode="0.0" sourceLinked="1"/>
        <c:majorTickMark val="out"/>
        <c:minorTickMark val="none"/>
        <c:tickLblPos val="nextTo"/>
        <c:crossAx val="16198679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03225806451613"/>
          <c:y val="4.7942945629679629E-2"/>
          <c:w val="0.82258064516129037"/>
          <c:h val="0.92968367974313659"/>
        </c:manualLayout>
      </c:layout>
      <c:barChart>
        <c:barDir val="bar"/>
        <c:grouping val="clustered"/>
        <c:varyColors val="0"/>
        <c:ser>
          <c:idx val="0"/>
          <c:order val="0"/>
          <c:tx>
            <c:strRef>
              <c:f>Sheet1!$B$1</c:f>
              <c:strCache>
                <c:ptCount val="1"/>
                <c:pt idx="0">
                  <c:v>东二区</c:v>
                </c:pt>
              </c:strCache>
            </c:strRef>
          </c:tx>
          <c:spPr>
            <a:solidFill>
              <a:srgbClr val="E2E2E2"/>
            </a:solidFill>
            <a:ln>
              <a:noFill/>
            </a:ln>
            <a:effectLst/>
          </c:spPr>
          <c:invertIfNegative val="0"/>
          <c:dPt>
            <c:idx val="0"/>
            <c:invertIfNegative val="0"/>
            <c:bubble3D val="0"/>
            <c:extLst>
              <c:ext xmlns:c16="http://schemas.microsoft.com/office/drawing/2014/chart" uri="{C3380CC4-5D6E-409C-BE32-E72D297353CC}">
                <c16:uniqueId val="{00000001-8EBA-4B8A-B8E4-A805FB707CCD}"/>
              </c:ext>
            </c:extLst>
          </c:dPt>
          <c:dLbls>
            <c:spPr>
              <a:noFill/>
              <a:ln>
                <a:noFill/>
              </a:ln>
              <a:effectLst/>
            </c:spPr>
            <c:txPr>
              <a:bodyPr rot="0" spcFirstLastPara="1" vertOverflow="ellipsis" vert="horz" wrap="square" lIns="0" tIns="19050" rIns="0" bIns="19050" anchor="ctr" anchorCtr="0">
                <a:spAutoFit/>
              </a:bodyPr>
              <a:lstStyle/>
              <a:p>
                <a:pPr algn="ctr">
                  <a:defRPr lang="en-US" altLang="zh-CN" sz="1000" b="0" i="0" u="none" strike="noStrike" kern="1200" baseline="0">
                    <a:solidFill>
                      <a:schemeClr val="tx1"/>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送别与回访</c:v>
                </c:pt>
                <c:pt idx="1">
                  <c:v> 洽谈下定</c:v>
                </c:pt>
                <c:pt idx="2">
                  <c:v> 试乘试驾</c:v>
                </c:pt>
                <c:pt idx="3">
                  <c:v> 店内看车</c:v>
                </c:pt>
                <c:pt idx="4">
                  <c:v> 到店接待</c:v>
                </c:pt>
                <c:pt idx="5">
                  <c:v>入店前沟通</c:v>
                </c:pt>
              </c:strCache>
            </c:strRef>
          </c:cat>
          <c:val>
            <c:numRef>
              <c:f>Sheet1!$B$2:$B$7</c:f>
              <c:numCache>
                <c:formatCode>0.0</c:formatCode>
                <c:ptCount val="6"/>
                <c:pt idx="0">
                  <c:v>7.9224427238576389</c:v>
                </c:pt>
                <c:pt idx="1">
                  <c:v>7.9224427238576389</c:v>
                </c:pt>
                <c:pt idx="2">
                  <c:v>8.5140012933819555</c:v>
                </c:pt>
                <c:pt idx="3">
                  <c:v>8.5340141709019033</c:v>
                </c:pt>
                <c:pt idx="4">
                  <c:v>8.2716545345862933</c:v>
                </c:pt>
                <c:pt idx="5">
                  <c:v>8.5392664679977592</c:v>
                </c:pt>
              </c:numCache>
            </c:numRef>
          </c:val>
          <c:extLst>
            <c:ext xmlns:c16="http://schemas.microsoft.com/office/drawing/2014/chart" uri="{C3380CC4-5D6E-409C-BE32-E72D297353CC}">
              <c16:uniqueId val="{00000000-8EBA-4B8A-B8E4-A805FB707CCD}"/>
            </c:ext>
          </c:extLst>
        </c:ser>
        <c:ser>
          <c:idx val="1"/>
          <c:order val="1"/>
          <c:tx>
            <c:strRef>
              <c:f>Sheet1!$C$1</c:f>
              <c:strCache>
                <c:ptCount val="1"/>
                <c:pt idx="0">
                  <c:v>东二区2</c:v>
                </c:pt>
              </c:strCache>
            </c:strRef>
          </c:tx>
          <c:spPr>
            <a:solidFill>
              <a:srgbClr val="595757"/>
            </a:solidFill>
          </c:spPr>
          <c:invertIfNegative val="0"/>
          <c:dPt>
            <c:idx val="0"/>
            <c:invertIfNegative val="0"/>
            <c:bubble3D val="0"/>
            <c:extLst>
              <c:ext xmlns:c16="http://schemas.microsoft.com/office/drawing/2014/chart" uri="{C3380CC4-5D6E-409C-BE32-E72D297353CC}">
                <c16:uniqueId val="{00000004-F01B-4E30-A0DD-B89B7DDCD7B5}"/>
              </c:ext>
            </c:extLst>
          </c:dPt>
          <c:dPt>
            <c:idx val="5"/>
            <c:invertIfNegative val="0"/>
            <c:bubble3D val="0"/>
            <c:spPr>
              <a:solidFill>
                <a:srgbClr val="C00000"/>
              </a:solidFill>
            </c:spPr>
            <c:extLst>
              <c:ext xmlns:c16="http://schemas.microsoft.com/office/drawing/2014/chart" uri="{C3380CC4-5D6E-409C-BE32-E72D297353CC}">
                <c16:uniqueId val="{00000003-6AA5-431D-B739-6CFDAB92D065}"/>
              </c:ext>
            </c:extLst>
          </c:dPt>
          <c:dLbls>
            <c:spPr>
              <a:noFill/>
              <a:ln>
                <a:noFill/>
              </a:ln>
              <a:effectLst/>
            </c:spPr>
            <c:txPr>
              <a:bodyPr wrap="square" lIns="38100" tIns="19050" rIns="38100" bIns="19050" anchor="ctr" anchorCtr="0">
                <a:spAutoFit/>
              </a:bodyPr>
              <a:lstStyle/>
              <a:p>
                <a:pPr algn="ctr">
                  <a:defRPr lang="en-US" altLang="zh-CN" sz="1000" b="0" i="0" u="none" strike="noStrike" kern="1200" baseline="0">
                    <a:solidFill>
                      <a:schemeClr val="tx1"/>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送别与回访</c:v>
                </c:pt>
                <c:pt idx="1">
                  <c:v> 洽谈下定</c:v>
                </c:pt>
                <c:pt idx="2">
                  <c:v> 试乘试驾</c:v>
                </c:pt>
                <c:pt idx="3">
                  <c:v> 店内看车</c:v>
                </c:pt>
                <c:pt idx="4">
                  <c:v> 到店接待</c:v>
                </c:pt>
                <c:pt idx="5">
                  <c:v>入店前沟通</c:v>
                </c:pt>
              </c:strCache>
            </c:strRef>
          </c:cat>
          <c:val>
            <c:numRef>
              <c:f>Sheet1!$C$2:$C$7</c:f>
              <c:numCache>
                <c:formatCode>0.0</c:formatCode>
                <c:ptCount val="6"/>
                <c:pt idx="0">
                  <c:v>8.6999999999999993</c:v>
                </c:pt>
                <c:pt idx="1">
                  <c:v>8.8000000000000007</c:v>
                </c:pt>
                <c:pt idx="2">
                  <c:v>9</c:v>
                </c:pt>
                <c:pt idx="3">
                  <c:v>8.8000000000000007</c:v>
                </c:pt>
                <c:pt idx="4">
                  <c:v>9</c:v>
                </c:pt>
                <c:pt idx="5">
                  <c:v>8.6</c:v>
                </c:pt>
              </c:numCache>
            </c:numRef>
          </c:val>
          <c:extLst>
            <c:ext xmlns:c16="http://schemas.microsoft.com/office/drawing/2014/chart" uri="{C3380CC4-5D6E-409C-BE32-E72D297353CC}">
              <c16:uniqueId val="{00000003-F01B-4E30-A0DD-B89B7DDCD7B5}"/>
            </c:ext>
          </c:extLst>
        </c:ser>
        <c:dLbls>
          <c:showLegendKey val="0"/>
          <c:showVal val="0"/>
          <c:showCatName val="0"/>
          <c:showSerName val="0"/>
          <c:showPercent val="0"/>
          <c:showBubbleSize val="0"/>
        </c:dLbls>
        <c:gapWidth val="250"/>
        <c:axId val="1619867968"/>
        <c:axId val="1757341936"/>
      </c:barChart>
      <c:catAx>
        <c:axId val="1619867968"/>
        <c:scaling>
          <c:orientation val="minMax"/>
        </c:scaling>
        <c:delete val="0"/>
        <c:axPos val="l"/>
        <c:numFmt formatCode="General" sourceLinked="1"/>
        <c:majorTickMark val="out"/>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757341936"/>
        <c:crosses val="autoZero"/>
        <c:auto val="1"/>
        <c:lblAlgn val="ctr"/>
        <c:lblOffset val="100"/>
        <c:noMultiLvlLbl val="0"/>
      </c:catAx>
      <c:valAx>
        <c:axId val="1757341936"/>
        <c:scaling>
          <c:orientation val="minMax"/>
          <c:max val="10"/>
          <c:min val="7"/>
        </c:scaling>
        <c:delete val="1"/>
        <c:axPos val="b"/>
        <c:numFmt formatCode="0.0" sourceLinked="1"/>
        <c:majorTickMark val="out"/>
        <c:minorTickMark val="none"/>
        <c:tickLblPos val="nextTo"/>
        <c:crossAx val="16198679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03225806451613"/>
          <c:y val="4.7942945629679629E-2"/>
          <c:w val="0.82258064516129037"/>
          <c:h val="0.92968367974313659"/>
        </c:manualLayout>
      </c:layout>
      <c:barChart>
        <c:barDir val="bar"/>
        <c:grouping val="clustered"/>
        <c:varyColors val="0"/>
        <c:ser>
          <c:idx val="0"/>
          <c:order val="0"/>
          <c:tx>
            <c:strRef>
              <c:f>Sheet1!$B$1</c:f>
              <c:strCache>
                <c:ptCount val="1"/>
                <c:pt idx="0">
                  <c:v>南一区</c:v>
                </c:pt>
              </c:strCache>
            </c:strRef>
          </c:tx>
          <c:spPr>
            <a:solidFill>
              <a:srgbClr val="E2E2E2"/>
            </a:solidFill>
            <a:ln>
              <a:noFill/>
            </a:ln>
            <a:effectLst/>
          </c:spPr>
          <c:invertIfNegative val="0"/>
          <c:dPt>
            <c:idx val="4"/>
            <c:invertIfNegative val="0"/>
            <c:bubble3D val="0"/>
            <c:extLst>
              <c:ext xmlns:c16="http://schemas.microsoft.com/office/drawing/2014/chart" uri="{C3380CC4-5D6E-409C-BE32-E72D297353CC}">
                <c16:uniqueId val="{00000001-81B2-4475-A3F2-DB09361655FD}"/>
              </c:ext>
            </c:extLst>
          </c:dPt>
          <c:dLbls>
            <c:spPr>
              <a:noFill/>
              <a:ln>
                <a:noFill/>
              </a:ln>
              <a:effectLst/>
            </c:spPr>
            <c:txPr>
              <a:bodyPr rot="0" spcFirstLastPara="1" vertOverflow="ellipsis" vert="horz" wrap="square" lIns="0" tIns="19050" rIns="0" bIns="19050" anchor="ctr" anchorCtr="0">
                <a:spAutoFit/>
              </a:bodyPr>
              <a:lstStyle/>
              <a:p>
                <a:pPr algn="ctr">
                  <a:defRPr lang="en-US" altLang="zh-CN" sz="1000" b="0" i="0" u="none" strike="noStrike" kern="1200" baseline="0">
                    <a:solidFill>
                      <a:schemeClr val="tx1"/>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送别与回访</c:v>
                </c:pt>
                <c:pt idx="1">
                  <c:v> 洽谈下定</c:v>
                </c:pt>
                <c:pt idx="2">
                  <c:v> 试乘试驾</c:v>
                </c:pt>
                <c:pt idx="3">
                  <c:v> 店内看车</c:v>
                </c:pt>
                <c:pt idx="4">
                  <c:v> 到店接待</c:v>
                </c:pt>
                <c:pt idx="5">
                  <c:v>入店前沟通</c:v>
                </c:pt>
              </c:strCache>
            </c:strRef>
          </c:cat>
          <c:val>
            <c:numRef>
              <c:f>Sheet1!$B$2:$B$7</c:f>
              <c:numCache>
                <c:formatCode>0.0</c:formatCode>
                <c:ptCount val="6"/>
                <c:pt idx="1">
                  <c:v>8.1938947987640081</c:v>
                </c:pt>
                <c:pt idx="2">
                  <c:v>8.1991909805977876</c:v>
                </c:pt>
                <c:pt idx="3">
                  <c:v>8.3231430861511804</c:v>
                </c:pt>
                <c:pt idx="4">
                  <c:v>8.1503208502873985</c:v>
                </c:pt>
                <c:pt idx="5">
                  <c:v>7.9459050541923402</c:v>
                </c:pt>
              </c:numCache>
            </c:numRef>
          </c:val>
          <c:extLst>
            <c:ext xmlns:c16="http://schemas.microsoft.com/office/drawing/2014/chart" uri="{C3380CC4-5D6E-409C-BE32-E72D297353CC}">
              <c16:uniqueId val="{00000000-81B2-4475-A3F2-DB09361655FD}"/>
            </c:ext>
          </c:extLst>
        </c:ser>
        <c:ser>
          <c:idx val="1"/>
          <c:order val="1"/>
          <c:tx>
            <c:strRef>
              <c:f>Sheet1!$C$1</c:f>
              <c:strCache>
                <c:ptCount val="1"/>
                <c:pt idx="0">
                  <c:v>南一区2</c:v>
                </c:pt>
              </c:strCache>
            </c:strRef>
          </c:tx>
          <c:invertIfNegative val="0"/>
          <c:dPt>
            <c:idx val="0"/>
            <c:invertIfNegative val="0"/>
            <c:bubble3D val="0"/>
            <c:spPr>
              <a:solidFill>
                <a:srgbClr val="595757"/>
              </a:solidFill>
            </c:spPr>
            <c:extLst>
              <c:ext xmlns:c16="http://schemas.microsoft.com/office/drawing/2014/chart" uri="{C3380CC4-5D6E-409C-BE32-E72D297353CC}">
                <c16:uniqueId val="{00000005-244E-4C1D-A6CA-7ED31577F3A4}"/>
              </c:ext>
            </c:extLst>
          </c:dPt>
          <c:dPt>
            <c:idx val="5"/>
            <c:invertIfNegative val="0"/>
            <c:bubble3D val="0"/>
            <c:spPr>
              <a:solidFill>
                <a:srgbClr val="C00000"/>
              </a:solidFill>
            </c:spPr>
            <c:extLst>
              <c:ext xmlns:c16="http://schemas.microsoft.com/office/drawing/2014/chart" uri="{C3380CC4-5D6E-409C-BE32-E72D297353CC}">
                <c16:uniqueId val="{00000003-68AF-4FBD-B5AF-EF5C3A4E7872}"/>
              </c:ext>
            </c:extLst>
          </c:dPt>
          <c:dLbls>
            <c:spPr>
              <a:noFill/>
              <a:ln>
                <a:noFill/>
              </a:ln>
              <a:effectLst/>
            </c:spPr>
            <c:txPr>
              <a:bodyPr wrap="square" lIns="38100" tIns="19050" rIns="38100" bIns="19050" anchor="ctr" anchorCtr="0">
                <a:spAutoFit/>
              </a:bodyPr>
              <a:lstStyle/>
              <a:p>
                <a:pPr algn="ctr">
                  <a:defRPr lang="en-US" altLang="zh-CN" sz="1000" b="0" i="0" u="none" strike="noStrike" kern="1200" baseline="0">
                    <a:solidFill>
                      <a:schemeClr val="tx1"/>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送别与回访</c:v>
                </c:pt>
                <c:pt idx="1">
                  <c:v> 洽谈下定</c:v>
                </c:pt>
                <c:pt idx="2">
                  <c:v> 试乘试驾</c:v>
                </c:pt>
                <c:pt idx="3">
                  <c:v> 店内看车</c:v>
                </c:pt>
                <c:pt idx="4">
                  <c:v> 到店接待</c:v>
                </c:pt>
                <c:pt idx="5">
                  <c:v>入店前沟通</c:v>
                </c:pt>
              </c:strCache>
            </c:strRef>
          </c:cat>
          <c:val>
            <c:numRef>
              <c:f>Sheet1!$C$2:$C$7</c:f>
              <c:numCache>
                <c:formatCode>0.0</c:formatCode>
                <c:ptCount val="6"/>
                <c:pt idx="0">
                  <c:v>8.1</c:v>
                </c:pt>
                <c:pt idx="1">
                  <c:v>8.4</c:v>
                </c:pt>
                <c:pt idx="2">
                  <c:v>8.6</c:v>
                </c:pt>
                <c:pt idx="3">
                  <c:v>8.4</c:v>
                </c:pt>
                <c:pt idx="4">
                  <c:v>8.5</c:v>
                </c:pt>
                <c:pt idx="5">
                  <c:v>8.1</c:v>
                </c:pt>
              </c:numCache>
            </c:numRef>
          </c:val>
          <c:extLst>
            <c:ext xmlns:c16="http://schemas.microsoft.com/office/drawing/2014/chart" uri="{C3380CC4-5D6E-409C-BE32-E72D297353CC}">
              <c16:uniqueId val="{00000004-244E-4C1D-A6CA-7ED31577F3A4}"/>
            </c:ext>
          </c:extLst>
        </c:ser>
        <c:dLbls>
          <c:showLegendKey val="0"/>
          <c:showVal val="0"/>
          <c:showCatName val="0"/>
          <c:showSerName val="0"/>
          <c:showPercent val="0"/>
          <c:showBubbleSize val="0"/>
        </c:dLbls>
        <c:gapWidth val="250"/>
        <c:axId val="1619867968"/>
        <c:axId val="1757341936"/>
      </c:barChart>
      <c:catAx>
        <c:axId val="1619867968"/>
        <c:scaling>
          <c:orientation val="minMax"/>
        </c:scaling>
        <c:delete val="0"/>
        <c:axPos val="l"/>
        <c:numFmt formatCode="General" sourceLinked="1"/>
        <c:majorTickMark val="out"/>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757341936"/>
        <c:crosses val="autoZero"/>
        <c:auto val="1"/>
        <c:lblAlgn val="ctr"/>
        <c:lblOffset val="100"/>
        <c:noMultiLvlLbl val="0"/>
      </c:catAx>
      <c:valAx>
        <c:axId val="1757341936"/>
        <c:scaling>
          <c:orientation val="minMax"/>
          <c:max val="10"/>
          <c:min val="7"/>
        </c:scaling>
        <c:delete val="1"/>
        <c:axPos val="b"/>
        <c:numFmt formatCode="0.0" sourceLinked="1"/>
        <c:majorTickMark val="out"/>
        <c:minorTickMark val="none"/>
        <c:tickLblPos val="nextTo"/>
        <c:crossAx val="16198679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03225806451613"/>
          <c:y val="4.7942945629679629E-2"/>
          <c:w val="0.82258064516129037"/>
          <c:h val="0.92968367974313659"/>
        </c:manualLayout>
      </c:layout>
      <c:barChart>
        <c:barDir val="bar"/>
        <c:grouping val="clustered"/>
        <c:varyColors val="0"/>
        <c:ser>
          <c:idx val="0"/>
          <c:order val="0"/>
          <c:tx>
            <c:strRef>
              <c:f>Sheet1!$B$1</c:f>
              <c:strCache>
                <c:ptCount val="1"/>
                <c:pt idx="0">
                  <c:v>北一区</c:v>
                </c:pt>
              </c:strCache>
            </c:strRef>
          </c:tx>
          <c:spPr>
            <a:solidFill>
              <a:srgbClr val="E2E2E2"/>
            </a:solidFill>
            <a:ln>
              <a:noFill/>
            </a:ln>
            <a:effectLst/>
          </c:spPr>
          <c:invertIfNegative val="0"/>
          <c:dPt>
            <c:idx val="0"/>
            <c:invertIfNegative val="0"/>
            <c:bubble3D val="0"/>
            <c:extLst>
              <c:ext xmlns:c16="http://schemas.microsoft.com/office/drawing/2014/chart" uri="{C3380CC4-5D6E-409C-BE32-E72D297353CC}">
                <c16:uniqueId val="{00000001-F577-4E0B-8181-63B5254E4683}"/>
              </c:ext>
            </c:extLst>
          </c:dPt>
          <c:dLbls>
            <c:spPr>
              <a:noFill/>
              <a:ln>
                <a:noFill/>
              </a:ln>
              <a:effectLst/>
            </c:spPr>
            <c:txPr>
              <a:bodyPr rot="0" spcFirstLastPara="1" vertOverflow="ellipsis" vert="horz" wrap="square" lIns="0" tIns="19050" rIns="0" bIns="19050" anchor="ctr" anchorCtr="0">
                <a:spAutoFit/>
              </a:bodyPr>
              <a:lstStyle/>
              <a:p>
                <a:pPr algn="ctr">
                  <a:defRPr lang="en-US" altLang="zh-CN" sz="1000" b="0" i="0" u="none" strike="noStrike" kern="1200" baseline="0">
                    <a:solidFill>
                      <a:schemeClr val="tx1"/>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送别与回访</c:v>
                </c:pt>
                <c:pt idx="1">
                  <c:v> 洽谈下定</c:v>
                </c:pt>
                <c:pt idx="2">
                  <c:v> 试乘试驾</c:v>
                </c:pt>
                <c:pt idx="3">
                  <c:v> 店内看车</c:v>
                </c:pt>
                <c:pt idx="4">
                  <c:v> 到店接待</c:v>
                </c:pt>
                <c:pt idx="5">
                  <c:v>入店前沟通</c:v>
                </c:pt>
              </c:strCache>
            </c:strRef>
          </c:cat>
          <c:val>
            <c:numRef>
              <c:f>Sheet1!$B$2:$B$7</c:f>
              <c:numCache>
                <c:formatCode>0.0</c:formatCode>
                <c:ptCount val="6"/>
                <c:pt idx="1">
                  <c:v>7.3463845553627962</c:v>
                </c:pt>
                <c:pt idx="2">
                  <c:v>8.3505794797450985</c:v>
                </c:pt>
                <c:pt idx="3">
                  <c:v>8.241385875408989</c:v>
                </c:pt>
                <c:pt idx="4">
                  <c:v>8.1345745029611312</c:v>
                </c:pt>
                <c:pt idx="5">
                  <c:v>8.4042729869297261</c:v>
                </c:pt>
              </c:numCache>
            </c:numRef>
          </c:val>
          <c:extLst>
            <c:ext xmlns:c16="http://schemas.microsoft.com/office/drawing/2014/chart" uri="{C3380CC4-5D6E-409C-BE32-E72D297353CC}">
              <c16:uniqueId val="{00000000-F577-4E0B-8181-63B5254E4683}"/>
            </c:ext>
          </c:extLst>
        </c:ser>
        <c:ser>
          <c:idx val="1"/>
          <c:order val="1"/>
          <c:tx>
            <c:strRef>
              <c:f>Sheet1!$C$1</c:f>
              <c:strCache>
                <c:ptCount val="1"/>
                <c:pt idx="0">
                  <c:v>北一区2</c:v>
                </c:pt>
              </c:strCache>
            </c:strRef>
          </c:tx>
          <c:invertIfNegative val="0"/>
          <c:dPt>
            <c:idx val="3"/>
            <c:invertIfNegative val="0"/>
            <c:bubble3D val="0"/>
            <c:spPr>
              <a:solidFill>
                <a:srgbClr val="CC4545"/>
              </a:solidFill>
            </c:spPr>
            <c:extLst>
              <c:ext xmlns:c16="http://schemas.microsoft.com/office/drawing/2014/chart" uri="{C3380CC4-5D6E-409C-BE32-E72D297353CC}">
                <c16:uniqueId val="{00000003-058B-4A57-956F-865C6C3241CB}"/>
              </c:ext>
            </c:extLst>
          </c:dPt>
          <c:dLbls>
            <c:spPr>
              <a:noFill/>
              <a:ln>
                <a:noFill/>
              </a:ln>
              <a:effectLst/>
            </c:spPr>
            <c:txPr>
              <a:bodyPr wrap="square" lIns="38100" tIns="19050" rIns="38100" bIns="19050" anchor="ctr" anchorCtr="0">
                <a:spAutoFit/>
              </a:bodyPr>
              <a:lstStyle/>
              <a:p>
                <a:pPr algn="ctr">
                  <a:defRPr lang="en-US" altLang="zh-CN" sz="1000" b="0" i="0" u="none" strike="noStrike" kern="1200" baseline="0">
                    <a:solidFill>
                      <a:schemeClr val="tx1"/>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送别与回访</c:v>
                </c:pt>
                <c:pt idx="1">
                  <c:v> 洽谈下定</c:v>
                </c:pt>
                <c:pt idx="2">
                  <c:v> 试乘试驾</c:v>
                </c:pt>
                <c:pt idx="3">
                  <c:v> 店内看车</c:v>
                </c:pt>
                <c:pt idx="4">
                  <c:v> 到店接待</c:v>
                </c:pt>
                <c:pt idx="5">
                  <c:v>入店前沟通</c:v>
                </c:pt>
              </c:strCache>
            </c:strRef>
          </c:cat>
          <c:val>
            <c:numRef>
              <c:f>Sheet1!$C$2:$C$7</c:f>
              <c:numCache>
                <c:formatCode>0.0</c:formatCode>
                <c:ptCount val="6"/>
                <c:pt idx="0">
                  <c:v>9.1999999999999993</c:v>
                </c:pt>
                <c:pt idx="1">
                  <c:v>9.1</c:v>
                </c:pt>
                <c:pt idx="2">
                  <c:v>9.5</c:v>
                </c:pt>
                <c:pt idx="3">
                  <c:v>9</c:v>
                </c:pt>
                <c:pt idx="4">
                  <c:v>9.5</c:v>
                </c:pt>
                <c:pt idx="5">
                  <c:v>9.4</c:v>
                </c:pt>
              </c:numCache>
            </c:numRef>
          </c:val>
          <c:extLst>
            <c:ext xmlns:c16="http://schemas.microsoft.com/office/drawing/2014/chart" uri="{C3380CC4-5D6E-409C-BE32-E72D297353CC}">
              <c16:uniqueId val="{00000002-058B-4A57-956F-865C6C3241CB}"/>
            </c:ext>
          </c:extLst>
        </c:ser>
        <c:dLbls>
          <c:dLblPos val="outEnd"/>
          <c:showLegendKey val="0"/>
          <c:showVal val="1"/>
          <c:showCatName val="0"/>
          <c:showSerName val="0"/>
          <c:showPercent val="0"/>
          <c:showBubbleSize val="0"/>
        </c:dLbls>
        <c:gapWidth val="250"/>
        <c:axId val="1619867968"/>
        <c:axId val="1757341936"/>
      </c:barChart>
      <c:catAx>
        <c:axId val="1619867968"/>
        <c:scaling>
          <c:orientation val="minMax"/>
        </c:scaling>
        <c:delete val="0"/>
        <c:axPos val="l"/>
        <c:numFmt formatCode="General" sourceLinked="1"/>
        <c:majorTickMark val="out"/>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757341936"/>
        <c:crosses val="autoZero"/>
        <c:auto val="1"/>
        <c:lblAlgn val="ctr"/>
        <c:lblOffset val="100"/>
        <c:noMultiLvlLbl val="0"/>
      </c:catAx>
      <c:valAx>
        <c:axId val="1757341936"/>
        <c:scaling>
          <c:orientation val="minMax"/>
          <c:max val="10"/>
          <c:min val="7"/>
        </c:scaling>
        <c:delete val="1"/>
        <c:axPos val="b"/>
        <c:numFmt formatCode="0.0" sourceLinked="1"/>
        <c:majorTickMark val="out"/>
        <c:minorTickMark val="none"/>
        <c:tickLblPos val="nextTo"/>
        <c:crossAx val="16198679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03225806451613"/>
          <c:y val="4.7942945629679629E-2"/>
          <c:w val="0.82258064516129037"/>
          <c:h val="0.92968367974313659"/>
        </c:manualLayout>
      </c:layout>
      <c:barChart>
        <c:barDir val="bar"/>
        <c:grouping val="clustered"/>
        <c:varyColors val="0"/>
        <c:ser>
          <c:idx val="0"/>
          <c:order val="0"/>
          <c:tx>
            <c:strRef>
              <c:f>Sheet1!$B$1</c:f>
              <c:strCache>
                <c:ptCount val="1"/>
                <c:pt idx="0">
                  <c:v>南二区</c:v>
                </c:pt>
              </c:strCache>
            </c:strRef>
          </c:tx>
          <c:spPr>
            <a:solidFill>
              <a:srgbClr val="E2E2E2"/>
            </a:solidFill>
            <a:ln>
              <a:noFill/>
            </a:ln>
            <a:effectLst/>
          </c:spPr>
          <c:invertIfNegative val="0"/>
          <c:dPt>
            <c:idx val="3"/>
            <c:invertIfNegative val="0"/>
            <c:bubble3D val="0"/>
            <c:extLst>
              <c:ext xmlns:c16="http://schemas.microsoft.com/office/drawing/2014/chart" uri="{C3380CC4-5D6E-409C-BE32-E72D297353CC}">
                <c16:uniqueId val="{00000001-4BCC-40DD-93D8-1B11BB242A5F}"/>
              </c:ext>
            </c:extLst>
          </c:dPt>
          <c:dLbls>
            <c:spPr>
              <a:noFill/>
              <a:ln>
                <a:noFill/>
              </a:ln>
              <a:effectLst/>
            </c:spPr>
            <c:txPr>
              <a:bodyPr rot="0" spcFirstLastPara="1" vertOverflow="ellipsis" vert="horz" wrap="square" lIns="0" tIns="19050" rIns="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送别与回访</c:v>
                </c:pt>
                <c:pt idx="1">
                  <c:v> 洽谈下定</c:v>
                </c:pt>
                <c:pt idx="2">
                  <c:v> 试乘试驾</c:v>
                </c:pt>
                <c:pt idx="3">
                  <c:v> 店内看车</c:v>
                </c:pt>
                <c:pt idx="4">
                  <c:v> 到店接待</c:v>
                </c:pt>
                <c:pt idx="5">
                  <c:v>入店前沟通</c:v>
                </c:pt>
              </c:strCache>
            </c:strRef>
          </c:cat>
          <c:val>
            <c:numRef>
              <c:f>Sheet1!$B$2:$B$7</c:f>
              <c:numCache>
                <c:formatCode>0.0</c:formatCode>
                <c:ptCount val="6"/>
                <c:pt idx="1">
                  <c:v>7.6550583469477793</c:v>
                </c:pt>
                <c:pt idx="2">
                  <c:v>7.6935799385609602</c:v>
                </c:pt>
                <c:pt idx="3">
                  <c:v>7.6980093785857617</c:v>
                </c:pt>
                <c:pt idx="4">
                  <c:v>7.3897704960009811</c:v>
                </c:pt>
                <c:pt idx="5">
                  <c:v>7.7078239361095546</c:v>
                </c:pt>
              </c:numCache>
            </c:numRef>
          </c:val>
          <c:extLst>
            <c:ext xmlns:c16="http://schemas.microsoft.com/office/drawing/2014/chart" uri="{C3380CC4-5D6E-409C-BE32-E72D297353CC}">
              <c16:uniqueId val="{00000000-4BCC-40DD-93D8-1B11BB242A5F}"/>
            </c:ext>
          </c:extLst>
        </c:ser>
        <c:ser>
          <c:idx val="1"/>
          <c:order val="1"/>
          <c:tx>
            <c:strRef>
              <c:f>Sheet1!$C$1</c:f>
              <c:strCache>
                <c:ptCount val="1"/>
                <c:pt idx="0">
                  <c:v>南二区2</c:v>
                </c:pt>
              </c:strCache>
            </c:strRef>
          </c:tx>
          <c:invertIfNegative val="0"/>
          <c:dPt>
            <c:idx val="5"/>
            <c:invertIfNegative val="0"/>
            <c:bubble3D val="0"/>
            <c:spPr>
              <a:solidFill>
                <a:srgbClr val="CC4545"/>
              </a:solidFill>
            </c:spPr>
            <c:extLst>
              <c:ext xmlns:c16="http://schemas.microsoft.com/office/drawing/2014/chart" uri="{C3380CC4-5D6E-409C-BE32-E72D297353CC}">
                <c16:uniqueId val="{00000003-4FD1-4701-87E0-FA00DDC43357}"/>
              </c:ext>
            </c:extLst>
          </c:dPt>
          <c:dLbls>
            <c:spPr>
              <a:noFill/>
              <a:ln>
                <a:noFill/>
              </a:ln>
              <a:effectLst/>
            </c:spPr>
            <c:txPr>
              <a:bodyPr wrap="square" lIns="38100" tIns="19050" rIns="38100" bIns="19050" anchor="ctr" anchorCtr="0">
                <a:spAutoFit/>
              </a:bodyPr>
              <a:lstStyle/>
              <a:p>
                <a:pPr algn="ctr">
                  <a:defRPr lang="en-US" altLang="zh-CN" sz="1000" b="0" i="0" u="none" strike="noStrike" kern="1200" baseline="0">
                    <a:solidFill>
                      <a:schemeClr val="tx1"/>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送别与回访</c:v>
                </c:pt>
                <c:pt idx="1">
                  <c:v> 洽谈下定</c:v>
                </c:pt>
                <c:pt idx="2">
                  <c:v> 试乘试驾</c:v>
                </c:pt>
                <c:pt idx="3">
                  <c:v> 店内看车</c:v>
                </c:pt>
                <c:pt idx="4">
                  <c:v> 到店接待</c:v>
                </c:pt>
                <c:pt idx="5">
                  <c:v>入店前沟通</c:v>
                </c:pt>
              </c:strCache>
            </c:strRef>
          </c:cat>
          <c:val>
            <c:numRef>
              <c:f>Sheet1!$C$2:$C$7</c:f>
              <c:numCache>
                <c:formatCode>0.0</c:formatCode>
                <c:ptCount val="6"/>
                <c:pt idx="0">
                  <c:v>8.6</c:v>
                </c:pt>
                <c:pt idx="1">
                  <c:v>8.5</c:v>
                </c:pt>
                <c:pt idx="2">
                  <c:v>8.5</c:v>
                </c:pt>
                <c:pt idx="3">
                  <c:v>8.6</c:v>
                </c:pt>
                <c:pt idx="4">
                  <c:v>8.6</c:v>
                </c:pt>
                <c:pt idx="5">
                  <c:v>8.5</c:v>
                </c:pt>
              </c:numCache>
            </c:numRef>
          </c:val>
          <c:extLst>
            <c:ext xmlns:c16="http://schemas.microsoft.com/office/drawing/2014/chart" uri="{C3380CC4-5D6E-409C-BE32-E72D297353CC}">
              <c16:uniqueId val="{00000002-4FD1-4701-87E0-FA00DDC43357}"/>
            </c:ext>
          </c:extLst>
        </c:ser>
        <c:dLbls>
          <c:dLblPos val="outEnd"/>
          <c:showLegendKey val="0"/>
          <c:showVal val="1"/>
          <c:showCatName val="0"/>
          <c:showSerName val="0"/>
          <c:showPercent val="0"/>
          <c:showBubbleSize val="0"/>
        </c:dLbls>
        <c:gapWidth val="250"/>
        <c:axId val="1619867968"/>
        <c:axId val="1757341936"/>
      </c:barChart>
      <c:catAx>
        <c:axId val="1619867968"/>
        <c:scaling>
          <c:orientation val="minMax"/>
        </c:scaling>
        <c:delete val="0"/>
        <c:axPos val="l"/>
        <c:numFmt formatCode="General" sourceLinked="1"/>
        <c:majorTickMark val="out"/>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757341936"/>
        <c:crosses val="autoZero"/>
        <c:auto val="1"/>
        <c:lblAlgn val="ctr"/>
        <c:lblOffset val="100"/>
        <c:noMultiLvlLbl val="0"/>
      </c:catAx>
      <c:valAx>
        <c:axId val="1757341936"/>
        <c:scaling>
          <c:orientation val="minMax"/>
          <c:max val="10"/>
          <c:min val="7"/>
        </c:scaling>
        <c:delete val="1"/>
        <c:axPos val="b"/>
        <c:numFmt formatCode="0.0" sourceLinked="1"/>
        <c:majorTickMark val="out"/>
        <c:minorTickMark val="none"/>
        <c:tickLblPos val="nextTo"/>
        <c:crossAx val="16198679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03225806451613"/>
          <c:y val="4.7942945629679629E-2"/>
          <c:w val="0.82258064516129037"/>
          <c:h val="0.92968367974313659"/>
        </c:manualLayout>
      </c:layout>
      <c:barChart>
        <c:barDir val="bar"/>
        <c:grouping val="clustered"/>
        <c:varyColors val="0"/>
        <c:ser>
          <c:idx val="0"/>
          <c:order val="0"/>
          <c:tx>
            <c:strRef>
              <c:f>Sheet1!$B$1</c:f>
              <c:strCache>
                <c:ptCount val="1"/>
                <c:pt idx="0">
                  <c:v>西一区</c:v>
                </c:pt>
              </c:strCache>
            </c:strRef>
          </c:tx>
          <c:spPr>
            <a:solidFill>
              <a:srgbClr val="E2E2E2"/>
            </a:solidFill>
            <a:ln>
              <a:noFill/>
            </a:ln>
            <a:effectLst/>
          </c:spPr>
          <c:invertIfNegative val="0"/>
          <c:dPt>
            <c:idx val="0"/>
            <c:invertIfNegative val="0"/>
            <c:bubble3D val="0"/>
            <c:extLst>
              <c:ext xmlns:c16="http://schemas.microsoft.com/office/drawing/2014/chart" uri="{C3380CC4-5D6E-409C-BE32-E72D297353CC}">
                <c16:uniqueId val="{00000001-1FCC-4360-95A5-0EF460245AA6}"/>
              </c:ext>
            </c:extLst>
          </c:dPt>
          <c:dPt>
            <c:idx val="1"/>
            <c:invertIfNegative val="0"/>
            <c:bubble3D val="0"/>
            <c:extLst>
              <c:ext xmlns:c16="http://schemas.microsoft.com/office/drawing/2014/chart" uri="{C3380CC4-5D6E-409C-BE32-E72D297353CC}">
                <c16:uniqueId val="{00000002-1FCC-4360-95A5-0EF460245AA6}"/>
              </c:ext>
            </c:extLst>
          </c:dPt>
          <c:dPt>
            <c:idx val="4"/>
            <c:invertIfNegative val="0"/>
            <c:bubble3D val="0"/>
            <c:extLst>
              <c:ext xmlns:c16="http://schemas.microsoft.com/office/drawing/2014/chart" uri="{C3380CC4-5D6E-409C-BE32-E72D297353CC}">
                <c16:uniqueId val="{00000003-1FCC-4360-95A5-0EF460245AA6}"/>
              </c:ext>
            </c:extLst>
          </c:dPt>
          <c:dLbls>
            <c:spPr>
              <a:noFill/>
              <a:ln>
                <a:noFill/>
              </a:ln>
              <a:effectLst/>
            </c:spPr>
            <c:txPr>
              <a:bodyPr rot="0" spcFirstLastPara="1" vertOverflow="ellipsis" vert="horz" wrap="square" lIns="0" tIns="19050" rIns="0" bIns="19050" anchor="ctr" anchorCtr="0">
                <a:spAutoFit/>
              </a:bodyPr>
              <a:lstStyle/>
              <a:p>
                <a:pPr algn="ctr">
                  <a:defRPr lang="en-US" altLang="zh-CN" sz="1000" b="0" i="0" u="none" strike="noStrike" kern="1200" baseline="0">
                    <a:solidFill>
                      <a:schemeClr val="tx1"/>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 送别与回访</c:v>
                </c:pt>
                <c:pt idx="1">
                  <c:v> 洽谈下定</c:v>
                </c:pt>
                <c:pt idx="2">
                  <c:v> 试乘试驾</c:v>
                </c:pt>
                <c:pt idx="3">
                  <c:v> 店内看车</c:v>
                </c:pt>
                <c:pt idx="4">
                  <c:v> 到店接待</c:v>
                </c:pt>
                <c:pt idx="5">
                  <c:v>入店前沟通</c:v>
                </c:pt>
              </c:strCache>
            </c:strRef>
          </c:cat>
          <c:val>
            <c:numRef>
              <c:f>Sheet1!$B$2:$B$7</c:f>
              <c:numCache>
                <c:formatCode>0.0</c:formatCode>
                <c:ptCount val="6"/>
                <c:pt idx="1">
                  <c:v>7.1978321336162256</c:v>
                </c:pt>
                <c:pt idx="2">
                  <c:v>7.5014615373636895</c:v>
                </c:pt>
                <c:pt idx="3">
                  <c:v>7.6195805643639858</c:v>
                </c:pt>
                <c:pt idx="4">
                  <c:v>7.8727887652586563</c:v>
                </c:pt>
                <c:pt idx="5">
                  <c:v>7.5469436166573285</c:v>
                </c:pt>
              </c:numCache>
            </c:numRef>
          </c:val>
          <c:extLst>
            <c:ext xmlns:c16="http://schemas.microsoft.com/office/drawing/2014/chart" uri="{C3380CC4-5D6E-409C-BE32-E72D297353CC}">
              <c16:uniqueId val="{00000000-1FCC-4360-95A5-0EF460245AA6}"/>
            </c:ext>
          </c:extLst>
        </c:ser>
        <c:ser>
          <c:idx val="1"/>
          <c:order val="1"/>
          <c:tx>
            <c:strRef>
              <c:f>Sheet1!$C$1</c:f>
              <c:strCache>
                <c:ptCount val="1"/>
                <c:pt idx="0">
                  <c:v>西一区2</c:v>
                </c:pt>
              </c:strCache>
            </c:strRef>
          </c:tx>
          <c:invertIfNegative val="0"/>
          <c:dPt>
            <c:idx val="0"/>
            <c:invertIfNegative val="0"/>
            <c:bubble3D val="0"/>
            <c:spPr>
              <a:solidFill>
                <a:srgbClr val="595757"/>
              </a:solidFill>
            </c:spPr>
            <c:extLst>
              <c:ext xmlns:c16="http://schemas.microsoft.com/office/drawing/2014/chart" uri="{C3380CC4-5D6E-409C-BE32-E72D297353CC}">
                <c16:uniqueId val="{00000007-FCFC-413F-A8F7-73D8D77FC0EE}"/>
              </c:ext>
            </c:extLst>
          </c:dPt>
          <c:dPt>
            <c:idx val="3"/>
            <c:invertIfNegative val="0"/>
            <c:bubble3D val="0"/>
            <c:spPr>
              <a:solidFill>
                <a:srgbClr val="C00000"/>
              </a:solidFill>
            </c:spPr>
            <c:extLst>
              <c:ext xmlns:c16="http://schemas.microsoft.com/office/drawing/2014/chart" uri="{C3380CC4-5D6E-409C-BE32-E72D297353CC}">
                <c16:uniqueId val="{00000005-AD0B-4E91-966D-454E39201264}"/>
              </c:ext>
            </c:extLst>
          </c:dPt>
          <c:dLbls>
            <c:spPr>
              <a:noFill/>
              <a:ln>
                <a:noFill/>
              </a:ln>
              <a:effectLst/>
            </c:spPr>
            <c:txPr>
              <a:bodyPr wrap="square" lIns="38100" tIns="19050" rIns="38100" bIns="19050" anchor="ctr" anchorCtr="0">
                <a:spAutoFit/>
              </a:bodyPr>
              <a:lstStyle/>
              <a:p>
                <a:pPr algn="ctr">
                  <a:defRPr lang="en-US" altLang="zh-CN" sz="1000" b="0" i="0" u="none" strike="noStrike" kern="1200" baseline="0">
                    <a:solidFill>
                      <a:schemeClr val="tx1"/>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 送别与回访</c:v>
                </c:pt>
                <c:pt idx="1">
                  <c:v> 洽谈下定</c:v>
                </c:pt>
                <c:pt idx="2">
                  <c:v> 试乘试驾</c:v>
                </c:pt>
                <c:pt idx="3">
                  <c:v> 店内看车</c:v>
                </c:pt>
                <c:pt idx="4">
                  <c:v> 到店接待</c:v>
                </c:pt>
                <c:pt idx="5">
                  <c:v>入店前沟通</c:v>
                </c:pt>
              </c:strCache>
            </c:strRef>
          </c:cat>
          <c:val>
            <c:numRef>
              <c:f>Sheet1!$C$2:$C$7</c:f>
              <c:numCache>
                <c:formatCode>0.0</c:formatCode>
                <c:ptCount val="6"/>
                <c:pt idx="0">
                  <c:v>8.6999999999999993</c:v>
                </c:pt>
                <c:pt idx="1">
                  <c:v>8.6999999999999993</c:v>
                </c:pt>
                <c:pt idx="2">
                  <c:v>9</c:v>
                </c:pt>
                <c:pt idx="3">
                  <c:v>8.6</c:v>
                </c:pt>
                <c:pt idx="4">
                  <c:v>9</c:v>
                </c:pt>
                <c:pt idx="5">
                  <c:v>8.6999999999999993</c:v>
                </c:pt>
              </c:numCache>
            </c:numRef>
          </c:val>
          <c:extLst>
            <c:ext xmlns:c16="http://schemas.microsoft.com/office/drawing/2014/chart" uri="{C3380CC4-5D6E-409C-BE32-E72D297353CC}">
              <c16:uniqueId val="{00000006-FCFC-413F-A8F7-73D8D77FC0EE}"/>
            </c:ext>
          </c:extLst>
        </c:ser>
        <c:dLbls>
          <c:dLblPos val="outEnd"/>
          <c:showLegendKey val="0"/>
          <c:showVal val="1"/>
          <c:showCatName val="0"/>
          <c:showSerName val="0"/>
          <c:showPercent val="0"/>
          <c:showBubbleSize val="0"/>
        </c:dLbls>
        <c:gapWidth val="250"/>
        <c:axId val="1619867968"/>
        <c:axId val="1757341936"/>
      </c:barChart>
      <c:catAx>
        <c:axId val="1619867968"/>
        <c:scaling>
          <c:orientation val="minMax"/>
        </c:scaling>
        <c:delete val="0"/>
        <c:axPos val="l"/>
        <c:numFmt formatCode="General" sourceLinked="1"/>
        <c:majorTickMark val="out"/>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757341936"/>
        <c:crosses val="autoZero"/>
        <c:auto val="1"/>
        <c:lblAlgn val="ctr"/>
        <c:lblOffset val="100"/>
        <c:noMultiLvlLbl val="0"/>
      </c:catAx>
      <c:valAx>
        <c:axId val="1757341936"/>
        <c:scaling>
          <c:orientation val="minMax"/>
          <c:max val="10"/>
          <c:min val="7"/>
        </c:scaling>
        <c:delete val="1"/>
        <c:axPos val="b"/>
        <c:numFmt formatCode="0.0" sourceLinked="1"/>
        <c:majorTickMark val="out"/>
        <c:minorTickMark val="none"/>
        <c:tickLblPos val="nextTo"/>
        <c:crossAx val="16198679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03225806451613"/>
          <c:y val="4.7942945629679629E-2"/>
          <c:w val="0.82258064516129037"/>
          <c:h val="0.92968367974313659"/>
        </c:manualLayout>
      </c:layout>
      <c:barChart>
        <c:barDir val="bar"/>
        <c:grouping val="clustered"/>
        <c:varyColors val="0"/>
        <c:ser>
          <c:idx val="0"/>
          <c:order val="0"/>
          <c:tx>
            <c:strRef>
              <c:f>Sheet1!$B$1</c:f>
              <c:strCache>
                <c:ptCount val="1"/>
                <c:pt idx="0">
                  <c:v>列1</c:v>
                </c:pt>
              </c:strCache>
            </c:strRef>
          </c:tx>
          <c:spPr>
            <a:solidFill>
              <a:srgbClr val="E2E2E2"/>
            </a:solidFill>
            <a:ln>
              <a:noFill/>
            </a:ln>
            <a:effectLst/>
          </c:spPr>
          <c:invertIfNegative val="0"/>
          <c:dPt>
            <c:idx val="3"/>
            <c:invertIfNegative val="0"/>
            <c:bubble3D val="0"/>
            <c:extLst>
              <c:ext xmlns:c16="http://schemas.microsoft.com/office/drawing/2014/chart" uri="{C3380CC4-5D6E-409C-BE32-E72D297353CC}">
                <c16:uniqueId val="{00000000-030E-4A89-B2EC-26DC100CA577}"/>
              </c:ext>
            </c:extLst>
          </c:dPt>
          <c:dLbls>
            <c:spPr>
              <a:noFill/>
              <a:ln>
                <a:noFill/>
              </a:ln>
              <a:effectLst/>
            </c:spPr>
            <c:txPr>
              <a:bodyPr rot="0" spcFirstLastPara="1" vertOverflow="ellipsis" vert="horz" wrap="square" lIns="0" tIns="19050" rIns="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送别与回访</c:v>
                </c:pt>
                <c:pt idx="1">
                  <c:v> 洽谈下定</c:v>
                </c:pt>
                <c:pt idx="2">
                  <c:v> 试乘试驾</c:v>
                </c:pt>
                <c:pt idx="3">
                  <c:v> 店内看车</c:v>
                </c:pt>
                <c:pt idx="4">
                  <c:v> 到店接待</c:v>
                </c:pt>
                <c:pt idx="5">
                  <c:v>入店前沟通</c:v>
                </c:pt>
              </c:strCache>
            </c:strRef>
          </c:cat>
          <c:val>
            <c:numRef>
              <c:f>Sheet1!$B$2:$B$7</c:f>
              <c:numCache>
                <c:formatCode>General</c:formatCode>
                <c:ptCount val="6"/>
              </c:numCache>
            </c:numRef>
          </c:val>
          <c:extLst>
            <c:ext xmlns:c16="http://schemas.microsoft.com/office/drawing/2014/chart" uri="{C3380CC4-5D6E-409C-BE32-E72D297353CC}">
              <c16:uniqueId val="{00000001-030E-4A89-B2EC-26DC100CA577}"/>
            </c:ext>
          </c:extLst>
        </c:ser>
        <c:ser>
          <c:idx val="1"/>
          <c:order val="1"/>
          <c:tx>
            <c:strRef>
              <c:f>Sheet1!$C$1</c:f>
              <c:strCache>
                <c:ptCount val="1"/>
                <c:pt idx="0">
                  <c:v>东三区</c:v>
                </c:pt>
              </c:strCache>
            </c:strRef>
          </c:tx>
          <c:spPr>
            <a:solidFill>
              <a:schemeClr val="accent2"/>
            </a:solidFill>
          </c:spPr>
          <c:invertIfNegative val="0"/>
          <c:dPt>
            <c:idx val="1"/>
            <c:invertIfNegative val="0"/>
            <c:bubble3D val="0"/>
            <c:spPr>
              <a:solidFill>
                <a:srgbClr val="CC4545"/>
              </a:solidFill>
            </c:spPr>
            <c:extLst>
              <c:ext xmlns:c16="http://schemas.microsoft.com/office/drawing/2014/chart" uri="{C3380CC4-5D6E-409C-BE32-E72D297353CC}">
                <c16:uniqueId val="{00000005-030E-4A89-B2EC-26DC100CA577}"/>
              </c:ext>
            </c:extLst>
          </c:dPt>
          <c:dPt>
            <c:idx val="5"/>
            <c:invertIfNegative val="0"/>
            <c:bubble3D val="0"/>
            <c:extLst>
              <c:ext xmlns:c16="http://schemas.microsoft.com/office/drawing/2014/chart" uri="{C3380CC4-5D6E-409C-BE32-E72D297353CC}">
                <c16:uniqueId val="{00000003-030E-4A89-B2EC-26DC100CA577}"/>
              </c:ext>
            </c:extLst>
          </c:dPt>
          <c:dLbls>
            <c:spPr>
              <a:noFill/>
              <a:ln>
                <a:noFill/>
              </a:ln>
              <a:effectLst/>
            </c:spPr>
            <c:txPr>
              <a:bodyPr wrap="square" lIns="38100" tIns="19050" rIns="38100" bIns="19050" anchor="ctr" anchorCtr="0">
                <a:spAutoFit/>
              </a:bodyPr>
              <a:lstStyle/>
              <a:p>
                <a:pPr algn="ctr">
                  <a:defRPr lang="en-US" altLang="zh-CN" sz="1000" b="0" i="0" u="none" strike="noStrike" kern="1200" baseline="0">
                    <a:solidFill>
                      <a:schemeClr val="tx1"/>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送别与回访</c:v>
                </c:pt>
                <c:pt idx="1">
                  <c:v> 洽谈下定</c:v>
                </c:pt>
                <c:pt idx="2">
                  <c:v> 试乘试驾</c:v>
                </c:pt>
                <c:pt idx="3">
                  <c:v> 店内看车</c:v>
                </c:pt>
                <c:pt idx="4">
                  <c:v> 到店接待</c:v>
                </c:pt>
                <c:pt idx="5">
                  <c:v>入店前沟通</c:v>
                </c:pt>
              </c:strCache>
            </c:strRef>
          </c:cat>
          <c:val>
            <c:numRef>
              <c:f>Sheet1!$C$2:$C$7</c:f>
              <c:numCache>
                <c:formatCode>0.0</c:formatCode>
                <c:ptCount val="6"/>
                <c:pt idx="0">
                  <c:v>9</c:v>
                </c:pt>
                <c:pt idx="1">
                  <c:v>8.6</c:v>
                </c:pt>
                <c:pt idx="2">
                  <c:v>9</c:v>
                </c:pt>
                <c:pt idx="3">
                  <c:v>8.8000000000000007</c:v>
                </c:pt>
                <c:pt idx="4">
                  <c:v>9.4</c:v>
                </c:pt>
                <c:pt idx="5">
                  <c:v>8.8000000000000007</c:v>
                </c:pt>
              </c:numCache>
            </c:numRef>
          </c:val>
          <c:extLst>
            <c:ext xmlns:c16="http://schemas.microsoft.com/office/drawing/2014/chart" uri="{C3380CC4-5D6E-409C-BE32-E72D297353CC}">
              <c16:uniqueId val="{00000004-030E-4A89-B2EC-26DC100CA577}"/>
            </c:ext>
          </c:extLst>
        </c:ser>
        <c:dLbls>
          <c:dLblPos val="outEnd"/>
          <c:showLegendKey val="0"/>
          <c:showVal val="1"/>
          <c:showCatName val="0"/>
          <c:showSerName val="0"/>
          <c:showPercent val="0"/>
          <c:showBubbleSize val="0"/>
        </c:dLbls>
        <c:gapWidth val="250"/>
        <c:axId val="1619867968"/>
        <c:axId val="1757341936"/>
      </c:barChart>
      <c:catAx>
        <c:axId val="1619867968"/>
        <c:scaling>
          <c:orientation val="minMax"/>
        </c:scaling>
        <c:delete val="0"/>
        <c:axPos val="l"/>
        <c:numFmt formatCode="General" sourceLinked="1"/>
        <c:majorTickMark val="out"/>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757341936"/>
        <c:crosses val="autoZero"/>
        <c:auto val="1"/>
        <c:lblAlgn val="ctr"/>
        <c:lblOffset val="100"/>
        <c:noMultiLvlLbl val="0"/>
      </c:catAx>
      <c:valAx>
        <c:axId val="1757341936"/>
        <c:scaling>
          <c:orientation val="minMax"/>
          <c:max val="10"/>
          <c:min val="7"/>
        </c:scaling>
        <c:delete val="1"/>
        <c:axPos val="b"/>
        <c:numFmt formatCode="General" sourceLinked="1"/>
        <c:majorTickMark val="out"/>
        <c:minorTickMark val="none"/>
        <c:tickLblPos val="nextTo"/>
        <c:crossAx val="16198679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03225806451613"/>
          <c:y val="4.7942945629679629E-2"/>
          <c:w val="0.82258064516129037"/>
          <c:h val="0.92968367974313659"/>
        </c:manualLayout>
      </c:layout>
      <c:barChart>
        <c:barDir val="bar"/>
        <c:grouping val="clustered"/>
        <c:varyColors val="0"/>
        <c:ser>
          <c:idx val="0"/>
          <c:order val="0"/>
          <c:tx>
            <c:strRef>
              <c:f>Sheet1!$B$1</c:f>
              <c:strCache>
                <c:ptCount val="1"/>
                <c:pt idx="0">
                  <c:v>列1</c:v>
                </c:pt>
              </c:strCache>
            </c:strRef>
          </c:tx>
          <c:spPr>
            <a:solidFill>
              <a:srgbClr val="E2E2E2"/>
            </a:solidFill>
            <a:ln>
              <a:noFill/>
            </a:ln>
            <a:effectLst/>
          </c:spPr>
          <c:invertIfNegative val="0"/>
          <c:dPt>
            <c:idx val="0"/>
            <c:invertIfNegative val="0"/>
            <c:bubble3D val="0"/>
            <c:extLst>
              <c:ext xmlns:c16="http://schemas.microsoft.com/office/drawing/2014/chart" uri="{C3380CC4-5D6E-409C-BE32-E72D297353CC}">
                <c16:uniqueId val="{00000000-65BF-41F4-83C5-030AD0DFF03B}"/>
              </c:ext>
            </c:extLst>
          </c:dPt>
          <c:dPt>
            <c:idx val="1"/>
            <c:invertIfNegative val="0"/>
            <c:bubble3D val="0"/>
            <c:extLst>
              <c:ext xmlns:c16="http://schemas.microsoft.com/office/drawing/2014/chart" uri="{C3380CC4-5D6E-409C-BE32-E72D297353CC}">
                <c16:uniqueId val="{00000001-65BF-41F4-83C5-030AD0DFF03B}"/>
              </c:ext>
            </c:extLst>
          </c:dPt>
          <c:dPt>
            <c:idx val="4"/>
            <c:invertIfNegative val="0"/>
            <c:bubble3D val="0"/>
            <c:extLst>
              <c:ext xmlns:c16="http://schemas.microsoft.com/office/drawing/2014/chart" uri="{C3380CC4-5D6E-409C-BE32-E72D297353CC}">
                <c16:uniqueId val="{00000002-65BF-41F4-83C5-030AD0DFF03B}"/>
              </c:ext>
            </c:extLst>
          </c:dPt>
          <c:dLbls>
            <c:spPr>
              <a:noFill/>
              <a:ln>
                <a:noFill/>
              </a:ln>
              <a:effectLst/>
            </c:spPr>
            <c:txPr>
              <a:bodyPr rot="0" spcFirstLastPara="1" vertOverflow="ellipsis" vert="horz" wrap="square" lIns="0" tIns="19050" rIns="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 送别与回访</c:v>
                </c:pt>
                <c:pt idx="1">
                  <c:v> 洽谈下定</c:v>
                </c:pt>
                <c:pt idx="2">
                  <c:v> 试乘试驾</c:v>
                </c:pt>
                <c:pt idx="3">
                  <c:v> 店内看车</c:v>
                </c:pt>
                <c:pt idx="4">
                  <c:v> 到店接待</c:v>
                </c:pt>
                <c:pt idx="5">
                  <c:v>入店前沟通</c:v>
                </c:pt>
              </c:strCache>
            </c:strRef>
          </c:cat>
          <c:val>
            <c:numRef>
              <c:f>Sheet1!$B$2:$B$7</c:f>
              <c:numCache>
                <c:formatCode>General</c:formatCode>
                <c:ptCount val="6"/>
              </c:numCache>
            </c:numRef>
          </c:val>
          <c:extLst>
            <c:ext xmlns:c16="http://schemas.microsoft.com/office/drawing/2014/chart" uri="{C3380CC4-5D6E-409C-BE32-E72D297353CC}">
              <c16:uniqueId val="{00000003-65BF-41F4-83C5-030AD0DFF03B}"/>
            </c:ext>
          </c:extLst>
        </c:ser>
        <c:ser>
          <c:idx val="1"/>
          <c:order val="1"/>
          <c:tx>
            <c:strRef>
              <c:f>Sheet1!$C$1</c:f>
              <c:strCache>
                <c:ptCount val="1"/>
                <c:pt idx="0">
                  <c:v>西二区</c:v>
                </c:pt>
              </c:strCache>
            </c:strRef>
          </c:tx>
          <c:invertIfNegative val="0"/>
          <c:dPt>
            <c:idx val="0"/>
            <c:invertIfNegative val="0"/>
            <c:bubble3D val="0"/>
            <c:spPr>
              <a:solidFill>
                <a:srgbClr val="CC4545"/>
              </a:solidFill>
            </c:spPr>
            <c:extLst>
              <c:ext xmlns:c16="http://schemas.microsoft.com/office/drawing/2014/chart" uri="{C3380CC4-5D6E-409C-BE32-E72D297353CC}">
                <c16:uniqueId val="{00000005-65BF-41F4-83C5-030AD0DFF03B}"/>
              </c:ext>
            </c:extLst>
          </c:dPt>
          <c:dLbls>
            <c:spPr>
              <a:noFill/>
              <a:ln>
                <a:noFill/>
              </a:ln>
              <a:effectLst/>
            </c:spPr>
            <c:txPr>
              <a:bodyPr wrap="square" lIns="38100" tIns="19050" rIns="38100" bIns="19050" anchor="ctr" anchorCtr="0">
                <a:spAutoFit/>
              </a:bodyPr>
              <a:lstStyle/>
              <a:p>
                <a:pPr algn="ctr">
                  <a:defRPr lang="en-US" altLang="zh-CN" sz="1000" b="0" i="0" u="none" strike="noStrike" kern="1200" baseline="0">
                    <a:solidFill>
                      <a:schemeClr val="tx1"/>
                    </a:solidFill>
                    <a:latin typeface="+mn-ea"/>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Sheet1!$A$2:$A$7</c:f>
              <c:strCache>
                <c:ptCount val="6"/>
                <c:pt idx="0">
                  <c:v> 送别与回访</c:v>
                </c:pt>
                <c:pt idx="1">
                  <c:v> 洽谈下定</c:v>
                </c:pt>
                <c:pt idx="2">
                  <c:v> 试乘试驾</c:v>
                </c:pt>
                <c:pt idx="3">
                  <c:v> 店内看车</c:v>
                </c:pt>
                <c:pt idx="4">
                  <c:v> 到店接待</c:v>
                </c:pt>
                <c:pt idx="5">
                  <c:v>入店前沟通</c:v>
                </c:pt>
              </c:strCache>
            </c:strRef>
          </c:cat>
          <c:val>
            <c:numRef>
              <c:f>Sheet1!$C$2:$C$7</c:f>
              <c:numCache>
                <c:formatCode>0.0</c:formatCode>
                <c:ptCount val="6"/>
                <c:pt idx="0">
                  <c:v>8</c:v>
                </c:pt>
                <c:pt idx="1">
                  <c:v>8.6999999999999993</c:v>
                </c:pt>
                <c:pt idx="2">
                  <c:v>8.6999999999999993</c:v>
                </c:pt>
                <c:pt idx="3">
                  <c:v>8.4</c:v>
                </c:pt>
                <c:pt idx="4">
                  <c:v>8.8000000000000007</c:v>
                </c:pt>
                <c:pt idx="5">
                  <c:v>8.3000000000000007</c:v>
                </c:pt>
              </c:numCache>
            </c:numRef>
          </c:val>
          <c:extLst>
            <c:ext xmlns:c16="http://schemas.microsoft.com/office/drawing/2014/chart" uri="{C3380CC4-5D6E-409C-BE32-E72D297353CC}">
              <c16:uniqueId val="{00000006-65BF-41F4-83C5-030AD0DFF03B}"/>
            </c:ext>
          </c:extLst>
        </c:ser>
        <c:dLbls>
          <c:dLblPos val="outEnd"/>
          <c:showLegendKey val="0"/>
          <c:showVal val="1"/>
          <c:showCatName val="0"/>
          <c:showSerName val="0"/>
          <c:showPercent val="0"/>
          <c:showBubbleSize val="0"/>
        </c:dLbls>
        <c:gapWidth val="250"/>
        <c:axId val="1619867968"/>
        <c:axId val="1757341936"/>
      </c:barChart>
      <c:catAx>
        <c:axId val="1619867968"/>
        <c:scaling>
          <c:orientation val="minMax"/>
        </c:scaling>
        <c:delete val="0"/>
        <c:axPos val="l"/>
        <c:numFmt formatCode="General" sourceLinked="1"/>
        <c:majorTickMark val="out"/>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757341936"/>
        <c:crosses val="autoZero"/>
        <c:auto val="1"/>
        <c:lblAlgn val="ctr"/>
        <c:lblOffset val="100"/>
        <c:noMultiLvlLbl val="0"/>
      </c:catAx>
      <c:valAx>
        <c:axId val="1757341936"/>
        <c:scaling>
          <c:orientation val="minMax"/>
          <c:max val="10"/>
          <c:min val="7"/>
        </c:scaling>
        <c:delete val="1"/>
        <c:axPos val="b"/>
        <c:numFmt formatCode="General" sourceLinked="1"/>
        <c:majorTickMark val="out"/>
        <c:minorTickMark val="none"/>
        <c:tickLblPos val="nextTo"/>
        <c:crossAx val="16198679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03225806451613"/>
          <c:y val="4.7942945629679629E-2"/>
          <c:w val="0.82258064516129037"/>
          <c:h val="0.92968367974313659"/>
        </c:manualLayout>
      </c:layout>
      <c:barChart>
        <c:barDir val="bar"/>
        <c:grouping val="clustered"/>
        <c:varyColors val="0"/>
        <c:ser>
          <c:idx val="0"/>
          <c:order val="0"/>
          <c:tx>
            <c:strRef>
              <c:f>Sheet1!$B$1</c:f>
              <c:strCache>
                <c:ptCount val="1"/>
                <c:pt idx="0">
                  <c:v>上半年</c:v>
                </c:pt>
              </c:strCache>
            </c:strRef>
          </c:tx>
          <c:spPr>
            <a:solidFill>
              <a:srgbClr val="E2E2E2"/>
            </a:solidFill>
            <a:ln>
              <a:noFill/>
            </a:ln>
            <a:effectLst/>
          </c:spPr>
          <c:invertIfNegative val="0"/>
          <c:dPt>
            <c:idx val="0"/>
            <c:invertIfNegative val="0"/>
            <c:bubble3D val="0"/>
            <c:extLst>
              <c:ext xmlns:c16="http://schemas.microsoft.com/office/drawing/2014/chart" uri="{C3380CC4-5D6E-409C-BE32-E72D297353CC}">
                <c16:uniqueId val="{00000000-218F-437C-9342-99BBCD006D12}"/>
              </c:ext>
            </c:extLst>
          </c:dPt>
          <c:dLbls>
            <c:spPr>
              <a:noFill/>
              <a:ln>
                <a:noFill/>
              </a:ln>
              <a:effectLst/>
            </c:spPr>
            <c:txPr>
              <a:bodyPr rot="0" spcFirstLastPara="1" vertOverflow="ellipsis" vert="horz" wrap="square" lIns="0" tIns="19050" rIns="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Sheet1!$B$2</c:f>
              <c:numCache>
                <c:formatCode>0.0</c:formatCode>
                <c:ptCount val="1"/>
              </c:numCache>
            </c:numRef>
          </c:val>
          <c:extLst>
            <c:ext xmlns:c16="http://schemas.microsoft.com/office/drawing/2014/chart" uri="{C3380CC4-5D6E-409C-BE32-E72D297353CC}">
              <c16:uniqueId val="{00000001-218F-437C-9342-99BBCD006D12}"/>
            </c:ext>
          </c:extLst>
        </c:ser>
        <c:ser>
          <c:idx val="1"/>
          <c:order val="1"/>
          <c:tx>
            <c:strRef>
              <c:f>Sheet1!$C$1</c:f>
              <c:strCache>
                <c:ptCount val="1"/>
                <c:pt idx="0">
                  <c:v>下半年</c:v>
                </c:pt>
              </c:strCache>
            </c:strRef>
          </c:tx>
          <c:invertIfNegative val="0"/>
          <c:dPt>
            <c:idx val="5"/>
            <c:invertIfNegative val="0"/>
            <c:bubble3D val="0"/>
            <c:spPr>
              <a:solidFill>
                <a:srgbClr val="C00000"/>
              </a:solidFill>
            </c:spPr>
            <c:extLst>
              <c:ext xmlns:c16="http://schemas.microsoft.com/office/drawing/2014/chart" uri="{C3380CC4-5D6E-409C-BE32-E72D297353CC}">
                <c16:uniqueId val="{00000003-218F-437C-9342-99BBCD006D12}"/>
              </c:ext>
            </c:extLst>
          </c:dPt>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Sheet1!$A$2</c:f>
              <c:numCache>
                <c:formatCode>General</c:formatCode>
                <c:ptCount val="1"/>
              </c:numCache>
            </c:numRef>
          </c:cat>
          <c:val>
            <c:numRef>
              <c:f>Sheet1!$C$2</c:f>
              <c:numCache>
                <c:formatCode>0.0</c:formatCode>
                <c:ptCount val="1"/>
              </c:numCache>
            </c:numRef>
          </c:val>
          <c:extLst>
            <c:ext xmlns:c16="http://schemas.microsoft.com/office/drawing/2014/chart" uri="{C3380CC4-5D6E-409C-BE32-E72D297353CC}">
              <c16:uniqueId val="{00000004-218F-437C-9342-99BBCD006D12}"/>
            </c:ext>
          </c:extLst>
        </c:ser>
        <c:dLbls>
          <c:dLblPos val="outEnd"/>
          <c:showLegendKey val="0"/>
          <c:showVal val="1"/>
          <c:showCatName val="0"/>
          <c:showSerName val="0"/>
          <c:showPercent val="0"/>
          <c:showBubbleSize val="0"/>
        </c:dLbls>
        <c:gapWidth val="250"/>
        <c:axId val="1619867968"/>
        <c:axId val="1757341936"/>
      </c:barChart>
      <c:catAx>
        <c:axId val="1619867968"/>
        <c:scaling>
          <c:orientation val="minMax"/>
        </c:scaling>
        <c:delete val="1"/>
        <c:axPos val="l"/>
        <c:numFmt formatCode="General" sourceLinked="1"/>
        <c:majorTickMark val="out"/>
        <c:minorTickMark val="none"/>
        <c:tickLblPos val="none"/>
        <c:crossAx val="1757341936"/>
        <c:crosses val="autoZero"/>
        <c:auto val="1"/>
        <c:lblAlgn val="ctr"/>
        <c:lblOffset val="100"/>
        <c:noMultiLvlLbl val="0"/>
      </c:catAx>
      <c:valAx>
        <c:axId val="1757341936"/>
        <c:scaling>
          <c:orientation val="minMax"/>
          <c:max val="10"/>
          <c:min val="7"/>
        </c:scaling>
        <c:delete val="1"/>
        <c:axPos val="b"/>
        <c:numFmt formatCode="0.0" sourceLinked="1"/>
        <c:majorTickMark val="out"/>
        <c:minorTickMark val="none"/>
        <c:tickLblPos val="nextTo"/>
        <c:crossAx val="1619867968"/>
        <c:crosses val="autoZero"/>
        <c:crossBetween val="between"/>
      </c:valAx>
      <c:spPr>
        <a:noFill/>
        <a:ln>
          <a:noFill/>
        </a:ln>
        <a:effectLst/>
      </c:spPr>
    </c:plotArea>
    <c:legend>
      <c:legendPos val="b"/>
      <c:overlay val="0"/>
      <c:txPr>
        <a:bodyPr/>
        <a:lstStyle/>
        <a:p>
          <a:pPr>
            <a:defRPr sz="1100">
              <a:latin typeface="+mn-ea"/>
              <a:ea typeface="+mn-ea"/>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阿维塔-官方APP</c:v>
                </c:pt>
              </c:strCache>
            </c:strRef>
          </c:tx>
          <c:explosion val="1"/>
          <c:dPt>
            <c:idx val="0"/>
            <c:bubble3D val="0"/>
            <c:spPr>
              <a:solidFill>
                <a:srgbClr val="4B8D56"/>
              </a:solidFill>
              <a:ln w="19050">
                <a:solidFill>
                  <a:schemeClr val="lt1"/>
                </a:solidFill>
              </a:ln>
              <a:effectLst/>
            </c:spPr>
            <c:extLst>
              <c:ext xmlns:c16="http://schemas.microsoft.com/office/drawing/2014/chart" uri="{C3380CC4-5D6E-409C-BE32-E72D297353CC}">
                <c16:uniqueId val="{00000001-8076-4589-89FE-5DC0B463B76C}"/>
              </c:ext>
            </c:extLst>
          </c:dPt>
          <c:dPt>
            <c:idx val="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2-8076-4589-89FE-5DC0B463B76C}"/>
              </c:ext>
            </c:extLst>
          </c:dPt>
          <c:dLbls>
            <c:dLbl>
              <c:idx val="0"/>
              <c:layout>
                <c:manualLayout>
                  <c:x val="-0.23167596472735683"/>
                  <c:y val="-0.23901094247864663"/>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zh-CN"/>
                </a:p>
              </c:txPr>
              <c:dLblPos val="bestFit"/>
              <c:showLegendKey val="0"/>
              <c:showVal val="1"/>
              <c:showCatName val="0"/>
              <c:showSerName val="0"/>
              <c:showPercent val="0"/>
              <c:showBubbleSize val="0"/>
              <c:extLst>
                <c:ext xmlns:c15="http://schemas.microsoft.com/office/drawing/2012/chart" uri="{CE6537A1-D6FC-4f65-9D91-7224C49458BB}">
                  <c15:layout>
                    <c:manualLayout>
                      <c:w val="0.41895604395604397"/>
                      <c:h val="0.26579658830293834"/>
                    </c:manualLayout>
                  </c15:layout>
                </c:ext>
                <c:ext xmlns:c16="http://schemas.microsoft.com/office/drawing/2014/chart" uri="{C3380CC4-5D6E-409C-BE32-E72D297353CC}">
                  <c16:uniqueId val="{00000001-8076-4589-89FE-5DC0B463B76C}"/>
                </c:ext>
              </c:extLst>
            </c:dLbl>
            <c:dLbl>
              <c:idx val="1"/>
              <c:delete val="1"/>
              <c:extLst>
                <c:ext xmlns:c15="http://schemas.microsoft.com/office/drawing/2012/chart" uri="{CE6537A1-D6FC-4f65-9D91-7224C49458BB}"/>
                <c:ext xmlns:c16="http://schemas.microsoft.com/office/drawing/2014/chart" uri="{C3380CC4-5D6E-409C-BE32-E72D297353CC}">
                  <c16:uniqueId val="{00000002-8076-4589-89FE-5DC0B463B76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使用人数</c:v>
                </c:pt>
                <c:pt idx="1">
                  <c:v>未使用人数</c:v>
                </c:pt>
              </c:strCache>
            </c:strRef>
          </c:cat>
          <c:val>
            <c:numRef>
              <c:f>Sheet1!$B$2:$B$3</c:f>
              <c:numCache>
                <c:formatCode>0.00%</c:formatCode>
                <c:ptCount val="2"/>
                <c:pt idx="0">
                  <c:v>0.83399999999999996</c:v>
                </c:pt>
                <c:pt idx="1">
                  <c:v>0.16600000000000004</c:v>
                </c:pt>
              </c:numCache>
            </c:numRef>
          </c:val>
          <c:extLst>
            <c:ext xmlns:c16="http://schemas.microsoft.com/office/drawing/2014/chart" uri="{C3380CC4-5D6E-409C-BE32-E72D297353CC}">
              <c16:uniqueId val="{00000000-8076-4589-89FE-5DC0B463B76C}"/>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阿维塔-微信订阅号</c:v>
                </c:pt>
              </c:strCache>
            </c:strRef>
          </c:tx>
          <c:dPt>
            <c:idx val="0"/>
            <c:bubble3D val="0"/>
            <c:spPr>
              <a:solidFill>
                <a:srgbClr val="4B8D56"/>
              </a:solidFill>
              <a:ln w="19050">
                <a:solidFill>
                  <a:schemeClr val="lt1"/>
                </a:solidFill>
              </a:ln>
              <a:effectLst/>
            </c:spPr>
            <c:extLst>
              <c:ext xmlns:c16="http://schemas.microsoft.com/office/drawing/2014/chart" uri="{C3380CC4-5D6E-409C-BE32-E72D297353CC}">
                <c16:uniqueId val="{00000001-B267-4330-9C9B-CFE016B2CDB3}"/>
              </c:ext>
            </c:extLst>
          </c:dPt>
          <c:dPt>
            <c:idx val="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3-B267-4330-9C9B-CFE016B2CDB3}"/>
              </c:ext>
            </c:extLst>
          </c:dPt>
          <c:dLbls>
            <c:dLbl>
              <c:idx val="0"/>
              <c:layout>
                <c:manualLayout>
                  <c:x val="0"/>
                  <c:y val="5.8941416309449039E-2"/>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4B8D56"/>
                        </a:solidFill>
                        <a:latin typeface="+mn-lt"/>
                        <a:ea typeface="+mn-ea"/>
                        <a:cs typeface="+mn-cs"/>
                      </a:defRPr>
                    </a:pPr>
                    <a:fld id="{6E849AD2-0067-4625-B1B0-893C2F43B001}" type="VALUE">
                      <a:rPr lang="en-US" altLang="zh-CN" sz="1200" dirty="0">
                        <a:solidFill>
                          <a:srgbClr val="4B8D56"/>
                        </a:solidFill>
                      </a:rPr>
                      <a:pPr>
                        <a:defRPr>
                          <a:solidFill>
                            <a:srgbClr val="4B8D56"/>
                          </a:solidFill>
                        </a:defRPr>
                      </a:pPr>
                      <a:t>[值]</a:t>
                    </a:fld>
                    <a:endParaRPr lang="zh-CN" altLang="en-US"/>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4B8D56"/>
                      </a:solidFill>
                      <a:latin typeface="+mn-lt"/>
                      <a:ea typeface="+mn-ea"/>
                      <a:cs typeface="+mn-cs"/>
                    </a:defRPr>
                  </a:pPr>
                  <a:endParaRPr lang="zh-CN"/>
                </a:p>
              </c:txPr>
              <c:dLblPos val="bestFit"/>
              <c:showLegendKey val="0"/>
              <c:showVal val="1"/>
              <c:showCatName val="0"/>
              <c:showSerName val="0"/>
              <c:showPercent val="0"/>
              <c:showBubbleSize val="0"/>
              <c:extLst>
                <c:ext xmlns:c15="http://schemas.microsoft.com/office/drawing/2012/chart" uri="{CE6537A1-D6FC-4f65-9D91-7224C49458BB}">
                  <c15:layout>
                    <c:manualLayout>
                      <c:w val="0.49391983957631697"/>
                      <c:h val="0.22990790594251592"/>
                    </c:manualLayout>
                  </c15:layout>
                  <c15:dlblFieldTable/>
                  <c15:showDataLabelsRange val="0"/>
                </c:ext>
                <c:ext xmlns:c16="http://schemas.microsoft.com/office/drawing/2014/chart" uri="{C3380CC4-5D6E-409C-BE32-E72D297353CC}">
                  <c16:uniqueId val="{00000001-B267-4330-9C9B-CFE016B2CDB3}"/>
                </c:ext>
              </c:extLst>
            </c:dLbl>
            <c:dLbl>
              <c:idx val="1"/>
              <c:delete val="1"/>
              <c:extLst>
                <c:ext xmlns:c15="http://schemas.microsoft.com/office/drawing/2012/chart" uri="{CE6537A1-D6FC-4f65-9D91-7224C49458BB}"/>
                <c:ext xmlns:c16="http://schemas.microsoft.com/office/drawing/2014/chart" uri="{C3380CC4-5D6E-409C-BE32-E72D297353CC}">
                  <c16:uniqueId val="{00000003-B267-4330-9C9B-CFE016B2CDB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B8D56"/>
                    </a:solidFill>
                    <a:latin typeface="+mn-lt"/>
                    <a:ea typeface="+mn-ea"/>
                    <a:cs typeface="+mn-cs"/>
                  </a:defRPr>
                </a:pPr>
                <a:endParaRPr lang="zh-CN"/>
              </a:p>
            </c:txPr>
            <c:dLblPos val="bestFit"/>
            <c:showLegendKey val="0"/>
            <c:showVal val="1"/>
            <c:showCatName val="0"/>
            <c:showSerName val="0"/>
            <c:showPercent val="0"/>
            <c:showBubbleSize val="0"/>
            <c:showLeaderLines val="0"/>
            <c:extLst>
              <c:ext xmlns:c15="http://schemas.microsoft.com/office/drawing/2012/chart" uri="{CE6537A1-D6FC-4f65-9D91-7224C49458BB}"/>
            </c:extLst>
          </c:dLbls>
          <c:cat>
            <c:strRef>
              <c:f>Sheet1!$A$2:$A$3</c:f>
              <c:strCache>
                <c:ptCount val="2"/>
                <c:pt idx="0">
                  <c:v>使用人数</c:v>
                </c:pt>
                <c:pt idx="1">
                  <c:v>未使用人数</c:v>
                </c:pt>
              </c:strCache>
            </c:strRef>
          </c:cat>
          <c:val>
            <c:numRef>
              <c:f>Sheet1!$B$2:$B$3</c:f>
              <c:numCache>
                <c:formatCode>0.00%</c:formatCode>
                <c:ptCount val="2"/>
                <c:pt idx="0">
                  <c:v>0.19926199261992619</c:v>
                </c:pt>
                <c:pt idx="1">
                  <c:v>0.80073800738007384</c:v>
                </c:pt>
              </c:numCache>
            </c:numRef>
          </c:val>
          <c:extLst>
            <c:ext xmlns:c16="http://schemas.microsoft.com/office/drawing/2014/chart" uri="{C3380CC4-5D6E-409C-BE32-E72D297353CC}">
              <c16:uniqueId val="{00000004-B267-4330-9C9B-CFE016B2CDB3}"/>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阿维塔-微信小程序</c:v>
                </c:pt>
              </c:strCache>
            </c:strRef>
          </c:tx>
          <c:explosion val="1"/>
          <c:dPt>
            <c:idx val="0"/>
            <c:bubble3D val="0"/>
            <c:spPr>
              <a:solidFill>
                <a:srgbClr val="69A35B"/>
              </a:solidFill>
              <a:ln w="19050">
                <a:solidFill>
                  <a:schemeClr val="lt1"/>
                </a:solidFill>
              </a:ln>
              <a:effectLst/>
            </c:spPr>
            <c:extLst>
              <c:ext xmlns:c16="http://schemas.microsoft.com/office/drawing/2014/chart" uri="{C3380CC4-5D6E-409C-BE32-E72D297353CC}">
                <c16:uniqueId val="{00000001-EBAF-41C8-A5F5-0EF40DB43D1E}"/>
              </c:ext>
            </c:extLst>
          </c:dPt>
          <c:dPt>
            <c:idx val="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3-EBAF-41C8-A5F5-0EF40DB43D1E}"/>
              </c:ext>
            </c:extLst>
          </c:dPt>
          <c:dLbls>
            <c:dLbl>
              <c:idx val="0"/>
              <c:layout>
                <c:manualLayout>
                  <c:x val="-4.9948765788042154E-4"/>
                  <c:y val="3.0650254642474107E-2"/>
                </c:manualLayout>
              </c:layout>
              <c:tx>
                <c:rich>
                  <a:bodyPr/>
                  <a:lstStyle/>
                  <a:p>
                    <a:fld id="{52DF901A-7799-4041-966C-808D15B889FC}" type="VALUE">
                      <a:rPr lang="en-US" altLang="zh-CN" sz="1200">
                        <a:solidFill>
                          <a:srgbClr val="69A35B"/>
                        </a:solidFill>
                      </a:rPr>
                      <a:pPr/>
                      <a:t>[值]</a:t>
                    </a:fld>
                    <a:endParaRPr lang="zh-CN" altLang="en-US"/>
                  </a:p>
                </c:rich>
              </c:tx>
              <c:dLblPos val="bestFit"/>
              <c:showLegendKey val="0"/>
              <c:showVal val="1"/>
              <c:showCatName val="0"/>
              <c:showSerName val="0"/>
              <c:showPercent val="0"/>
              <c:showBubbleSize val="0"/>
              <c:extLst>
                <c:ext xmlns:c15="http://schemas.microsoft.com/office/drawing/2012/chart" uri="{CE6537A1-D6FC-4f65-9D91-7224C49458BB}">
                  <c15:layout>
                    <c:manualLayout>
                      <c:w val="0.40812916163200247"/>
                      <c:h val="0.34013740400467402"/>
                    </c:manualLayout>
                  </c15:layout>
                  <c15:dlblFieldTable/>
                  <c15:showDataLabelsRange val="0"/>
                </c:ext>
                <c:ext xmlns:c16="http://schemas.microsoft.com/office/drawing/2014/chart" uri="{C3380CC4-5D6E-409C-BE32-E72D297353CC}">
                  <c16:uniqueId val="{00000001-EBAF-41C8-A5F5-0EF40DB43D1E}"/>
                </c:ext>
              </c:extLst>
            </c:dLbl>
            <c:dLbl>
              <c:idx val="1"/>
              <c:delete val="1"/>
              <c:extLst>
                <c:ext xmlns:c15="http://schemas.microsoft.com/office/drawing/2012/chart" uri="{CE6537A1-D6FC-4f65-9D91-7224C49458BB}"/>
                <c:ext xmlns:c16="http://schemas.microsoft.com/office/drawing/2014/chart" uri="{C3380CC4-5D6E-409C-BE32-E72D297353CC}">
                  <c16:uniqueId val="{00000003-EBAF-41C8-A5F5-0EF40DB43D1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使用人数</c:v>
                </c:pt>
                <c:pt idx="1">
                  <c:v>未使用人数</c:v>
                </c:pt>
              </c:strCache>
            </c:strRef>
          </c:cat>
          <c:val>
            <c:numRef>
              <c:f>Sheet1!$B$2:$B$3</c:f>
              <c:numCache>
                <c:formatCode>0.00%</c:formatCode>
                <c:ptCount val="2"/>
                <c:pt idx="0">
                  <c:v>0.13653136531365309</c:v>
                </c:pt>
                <c:pt idx="1">
                  <c:v>0.86346863468634694</c:v>
                </c:pt>
              </c:numCache>
            </c:numRef>
          </c:val>
          <c:extLst>
            <c:ext xmlns:c16="http://schemas.microsoft.com/office/drawing/2014/chart" uri="{C3380CC4-5D6E-409C-BE32-E72D297353CC}">
              <c16:uniqueId val="{00000004-EBAF-41C8-A5F5-0EF40DB43D1E}"/>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阿维塔-官方APP</c:v>
                </c:pt>
              </c:strCache>
            </c:strRef>
          </c:tx>
          <c:explosion val="1"/>
          <c:dPt>
            <c:idx val="0"/>
            <c:bubble3D val="0"/>
            <c:spPr>
              <a:solidFill>
                <a:srgbClr val="4B8D56"/>
              </a:solidFill>
              <a:ln w="19050">
                <a:solidFill>
                  <a:schemeClr val="lt1"/>
                </a:solidFill>
              </a:ln>
              <a:effectLst/>
            </c:spPr>
            <c:extLst>
              <c:ext xmlns:c16="http://schemas.microsoft.com/office/drawing/2014/chart" uri="{C3380CC4-5D6E-409C-BE32-E72D297353CC}">
                <c16:uniqueId val="{00000001-C7CD-45A1-8941-A53F72EF1596}"/>
              </c:ext>
            </c:extLst>
          </c:dPt>
          <c:dPt>
            <c:idx val="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3-C7CD-45A1-8941-A53F72EF1596}"/>
              </c:ext>
            </c:extLst>
          </c:dPt>
          <c:dLbls>
            <c:dLbl>
              <c:idx val="0"/>
              <c:layout>
                <c:manualLayout>
                  <c:x val="0.13992999827382951"/>
                  <c:y val="3.3875545311590653E-7"/>
                </c:manualLayout>
              </c:layout>
              <c:tx>
                <c:rich>
                  <a:bodyPr/>
                  <a:lstStyle/>
                  <a:p>
                    <a:fld id="{A75E467B-7E59-40FD-8CAA-8070DC3F56D3}" type="VALUE">
                      <a:rPr lang="en-US" altLang="zh-CN">
                        <a:solidFill>
                          <a:srgbClr val="69A35B"/>
                        </a:solidFill>
                      </a:rPr>
                      <a:pPr/>
                      <a:t>[值]</a:t>
                    </a:fld>
                    <a:endParaRPr lang="zh-CN" altLang="en-US"/>
                  </a:p>
                </c:rich>
              </c:tx>
              <c:dLblPos val="bestFit"/>
              <c:showLegendKey val="0"/>
              <c:showVal val="1"/>
              <c:showCatName val="0"/>
              <c:showSerName val="0"/>
              <c:showPercent val="0"/>
              <c:showBubbleSize val="0"/>
              <c:extLst>
                <c:ext xmlns:c15="http://schemas.microsoft.com/office/drawing/2012/chart" uri="{CE6537A1-D6FC-4f65-9D91-7224C49458BB}">
                  <c15:layout>
                    <c:manualLayout>
                      <c:w val="0.34932550802669321"/>
                      <c:h val="0.40627523256113846"/>
                    </c:manualLayout>
                  </c15:layout>
                  <c15:dlblFieldTable/>
                  <c15:showDataLabelsRange val="0"/>
                </c:ext>
                <c:ext xmlns:c16="http://schemas.microsoft.com/office/drawing/2014/chart" uri="{C3380CC4-5D6E-409C-BE32-E72D297353CC}">
                  <c16:uniqueId val="{00000001-C7CD-45A1-8941-A53F72EF1596}"/>
                </c:ext>
              </c:extLst>
            </c:dLbl>
            <c:dLbl>
              <c:idx val="1"/>
              <c:delete val="1"/>
              <c:extLst>
                <c:ext xmlns:c15="http://schemas.microsoft.com/office/drawing/2012/chart" uri="{CE6537A1-D6FC-4f65-9D91-7224C49458BB}"/>
                <c:ext xmlns:c16="http://schemas.microsoft.com/office/drawing/2014/chart" uri="{C3380CC4-5D6E-409C-BE32-E72D297353CC}">
                  <c16:uniqueId val="{00000003-C7CD-45A1-8941-A53F72EF159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B8D56"/>
                    </a:solidFill>
                    <a:latin typeface="+mn-lt"/>
                    <a:ea typeface="+mn-ea"/>
                    <a:cs typeface="+mn-cs"/>
                  </a:defRPr>
                </a:pPr>
                <a:endParaRPr lang="zh-CN"/>
              </a:p>
            </c:txPr>
            <c:dLblPos val="bestFit"/>
            <c:showLegendKey val="0"/>
            <c:showVal val="1"/>
            <c:showCatName val="0"/>
            <c:showSerName val="0"/>
            <c:showPercent val="0"/>
            <c:showBubbleSize val="0"/>
            <c:showLeaderLines val="0"/>
            <c:extLst>
              <c:ext xmlns:c15="http://schemas.microsoft.com/office/drawing/2012/chart" uri="{CE6537A1-D6FC-4f65-9D91-7224C49458BB}"/>
            </c:extLst>
          </c:dLbls>
          <c:cat>
            <c:strRef>
              <c:f>Sheet1!$A$2:$A$3</c:f>
              <c:strCache>
                <c:ptCount val="2"/>
                <c:pt idx="0">
                  <c:v>使用人数</c:v>
                </c:pt>
                <c:pt idx="1">
                  <c:v>未使用人数</c:v>
                </c:pt>
              </c:strCache>
            </c:strRef>
          </c:cat>
          <c:val>
            <c:numRef>
              <c:f>Sheet1!$B$2:$B$3</c:f>
              <c:numCache>
                <c:formatCode>0.00%</c:formatCode>
                <c:ptCount val="2"/>
                <c:pt idx="0">
                  <c:v>4.797047970479705E-2</c:v>
                </c:pt>
                <c:pt idx="1">
                  <c:v>0.95202952029520294</c:v>
                </c:pt>
              </c:numCache>
            </c:numRef>
          </c:val>
          <c:extLst>
            <c:ext xmlns:c16="http://schemas.microsoft.com/office/drawing/2014/chart" uri="{C3380CC4-5D6E-409C-BE32-E72D297353CC}">
              <c16:uniqueId val="{00000004-C7CD-45A1-8941-A53F72EF1596}"/>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阿维塔-官方APP</c:v>
                </c:pt>
              </c:strCache>
            </c:strRef>
          </c:tx>
          <c:spPr>
            <a:solidFill>
              <a:srgbClr val="69A35B"/>
            </a:solidFill>
          </c:spPr>
          <c:explosion val="1"/>
          <c:dPt>
            <c:idx val="0"/>
            <c:bubble3D val="0"/>
            <c:spPr>
              <a:solidFill>
                <a:srgbClr val="4B8D56"/>
              </a:solidFill>
              <a:ln w="19050">
                <a:solidFill>
                  <a:schemeClr val="lt1"/>
                </a:solidFill>
              </a:ln>
              <a:effectLst/>
            </c:spPr>
            <c:extLst>
              <c:ext xmlns:c16="http://schemas.microsoft.com/office/drawing/2014/chart" uri="{C3380CC4-5D6E-409C-BE32-E72D297353CC}">
                <c16:uniqueId val="{00000001-AAE8-4164-9B2F-B12A0AF77851}"/>
              </c:ext>
            </c:extLst>
          </c:dPt>
          <c:dPt>
            <c:idx val="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3-AAE8-4164-9B2F-B12A0AF77851}"/>
              </c:ext>
            </c:extLst>
          </c:dPt>
          <c:dLbls>
            <c:dLbl>
              <c:idx val="0"/>
              <c:layout>
                <c:manualLayout>
                  <c:x val="0.13214203078459963"/>
                  <c:y val="2.5813165527432076E-2"/>
                </c:manualLayout>
              </c:layout>
              <c:tx>
                <c:rich>
                  <a:bodyPr/>
                  <a:lstStyle/>
                  <a:p>
                    <a:fld id="{15DE0CC2-575D-493A-B2F7-2BC192D86500}" type="VALUE">
                      <a:rPr lang="en-US" altLang="zh-CN">
                        <a:solidFill>
                          <a:srgbClr val="4B8D56"/>
                        </a:solidFill>
                      </a:rPr>
                      <a:pPr/>
                      <a:t>[值]</a:t>
                    </a:fld>
                    <a:endParaRPr lang="zh-CN" altLang="en-US"/>
                  </a:p>
                </c:rich>
              </c:tx>
              <c:dLblPos val="bestFit"/>
              <c:showLegendKey val="0"/>
              <c:showVal val="1"/>
              <c:showCatName val="0"/>
              <c:showSerName val="0"/>
              <c:showPercent val="0"/>
              <c:showBubbleSize val="0"/>
              <c:extLst>
                <c:ext xmlns:c15="http://schemas.microsoft.com/office/drawing/2012/chart" uri="{CE6537A1-D6FC-4f65-9D91-7224C49458BB}">
                  <c15:layout>
                    <c:manualLayout>
                      <c:w val="0.41895604395604397"/>
                      <c:h val="0.26579658830293834"/>
                    </c:manualLayout>
                  </c15:layout>
                  <c15:dlblFieldTable/>
                  <c15:showDataLabelsRange val="0"/>
                </c:ext>
                <c:ext xmlns:c16="http://schemas.microsoft.com/office/drawing/2014/chart" uri="{C3380CC4-5D6E-409C-BE32-E72D297353CC}">
                  <c16:uniqueId val="{00000001-AAE8-4164-9B2F-B12A0AF77851}"/>
                </c:ext>
              </c:extLst>
            </c:dLbl>
            <c:dLbl>
              <c:idx val="1"/>
              <c:delete val="1"/>
              <c:extLst>
                <c:ext xmlns:c15="http://schemas.microsoft.com/office/drawing/2012/chart" uri="{CE6537A1-D6FC-4f65-9D91-7224C49458BB}"/>
                <c:ext xmlns:c16="http://schemas.microsoft.com/office/drawing/2014/chart" uri="{C3380CC4-5D6E-409C-BE32-E72D297353CC}">
                  <c16:uniqueId val="{00000003-AAE8-4164-9B2F-B12A0AF7785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4B8D56"/>
                    </a:solidFill>
                    <a:latin typeface="+mn-lt"/>
                    <a:ea typeface="+mn-ea"/>
                    <a:cs typeface="+mn-cs"/>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使用人数</c:v>
                </c:pt>
                <c:pt idx="1">
                  <c:v>未使用人数</c:v>
                </c:pt>
              </c:strCache>
            </c:strRef>
          </c:cat>
          <c:val>
            <c:numRef>
              <c:f>Sheet1!$B$2:$B$3</c:f>
              <c:numCache>
                <c:formatCode>0.00%</c:formatCode>
                <c:ptCount val="2"/>
                <c:pt idx="0">
                  <c:v>2.583025830258303E-2</c:v>
                </c:pt>
                <c:pt idx="1">
                  <c:v>0.97416974169741699</c:v>
                </c:pt>
              </c:numCache>
            </c:numRef>
          </c:val>
          <c:extLst>
            <c:ext xmlns:c16="http://schemas.microsoft.com/office/drawing/2014/chart" uri="{C3380CC4-5D6E-409C-BE32-E72D297353CC}">
              <c16:uniqueId val="{00000004-AAE8-4164-9B2F-B12A0AF77851}"/>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阿维塔-官方APP</c:v>
                </c:pt>
              </c:strCache>
            </c:strRef>
          </c:tx>
          <c:spPr>
            <a:solidFill>
              <a:schemeClr val="accent6">
                <a:lumMod val="50000"/>
              </a:schemeClr>
            </a:solidFill>
          </c:spPr>
          <c:explosion val="1"/>
          <c:dPt>
            <c:idx val="0"/>
            <c:bubble3D val="0"/>
            <c:spPr>
              <a:solidFill>
                <a:schemeClr val="accent6">
                  <a:lumMod val="50000"/>
                </a:schemeClr>
              </a:solidFill>
              <a:ln w="19050">
                <a:solidFill>
                  <a:schemeClr val="lt1"/>
                </a:solidFill>
              </a:ln>
              <a:effectLst/>
            </c:spPr>
            <c:extLst>
              <c:ext xmlns:c16="http://schemas.microsoft.com/office/drawing/2014/chart" uri="{C3380CC4-5D6E-409C-BE32-E72D297353CC}">
                <c16:uniqueId val="{00000001-8736-4D78-A967-F497A629D676}"/>
              </c:ext>
            </c:extLst>
          </c:dPt>
          <c:dPt>
            <c:idx val="1"/>
            <c:bubble3D val="0"/>
            <c:spPr>
              <a:solidFill>
                <a:schemeClr val="accent6">
                  <a:lumMod val="40000"/>
                  <a:lumOff val="60000"/>
                </a:schemeClr>
              </a:solidFill>
              <a:ln w="19050">
                <a:solidFill>
                  <a:schemeClr val="lt1"/>
                </a:solidFill>
              </a:ln>
              <a:effectLst/>
            </c:spPr>
            <c:extLst>
              <c:ext xmlns:c16="http://schemas.microsoft.com/office/drawing/2014/chart" uri="{C3380CC4-5D6E-409C-BE32-E72D297353CC}">
                <c16:uniqueId val="{00000003-8736-4D78-A967-F497A629D676}"/>
              </c:ext>
            </c:extLst>
          </c:dPt>
          <c:dLbls>
            <c:dLbl>
              <c:idx val="0"/>
              <c:layout>
                <c:manualLayout>
                  <c:x val="-0.18503263196941372"/>
                  <c:y val="-0.10134072633234213"/>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zh-CN"/>
                </a:p>
              </c:txPr>
              <c:dLblPos val="bestFit"/>
              <c:showLegendKey val="0"/>
              <c:showVal val="1"/>
              <c:showCatName val="0"/>
              <c:showSerName val="0"/>
              <c:showPercent val="0"/>
              <c:showBubbleSize val="0"/>
              <c:extLst>
                <c:ext xmlns:c15="http://schemas.microsoft.com/office/drawing/2012/chart" uri="{CE6537A1-D6FC-4f65-9D91-7224C49458BB}">
                  <c15:layout>
                    <c:manualLayout>
                      <c:w val="0.41895604395604397"/>
                      <c:h val="0.26579658830293834"/>
                    </c:manualLayout>
                  </c15:layout>
                </c:ext>
                <c:ext xmlns:c16="http://schemas.microsoft.com/office/drawing/2014/chart" uri="{C3380CC4-5D6E-409C-BE32-E72D297353CC}">
                  <c16:uniqueId val="{00000001-8736-4D78-A967-F497A629D676}"/>
                </c:ext>
              </c:extLst>
            </c:dLbl>
            <c:dLbl>
              <c:idx val="1"/>
              <c:delete val="1"/>
              <c:extLst>
                <c:ext xmlns:c15="http://schemas.microsoft.com/office/drawing/2012/chart" uri="{CE6537A1-D6FC-4f65-9D91-7224C49458BB}"/>
                <c:ext xmlns:c16="http://schemas.microsoft.com/office/drawing/2014/chart" uri="{C3380CC4-5D6E-409C-BE32-E72D297353CC}">
                  <c16:uniqueId val="{00000003-8736-4D78-A967-F497A629D67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使用人数</c:v>
                </c:pt>
                <c:pt idx="1">
                  <c:v>未使用人数</c:v>
                </c:pt>
              </c:strCache>
            </c:strRef>
          </c:cat>
          <c:val>
            <c:numRef>
              <c:f>Sheet1!$B$2:$B$3</c:f>
              <c:numCache>
                <c:formatCode>0.00%</c:formatCode>
                <c:ptCount val="2"/>
                <c:pt idx="0">
                  <c:v>0.64</c:v>
                </c:pt>
                <c:pt idx="1">
                  <c:v>0.36</c:v>
                </c:pt>
              </c:numCache>
            </c:numRef>
          </c:val>
          <c:extLst>
            <c:ext xmlns:c16="http://schemas.microsoft.com/office/drawing/2014/chart" uri="{C3380CC4-5D6E-409C-BE32-E72D297353CC}">
              <c16:uniqueId val="{00000004-8736-4D78-A967-F497A629D676}"/>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微信订阅号</c:v>
                </c:pt>
              </c:strCache>
            </c:strRef>
          </c:tx>
          <c:spPr>
            <a:solidFill>
              <a:srgbClr val="515151"/>
            </a:solidFill>
          </c:spPr>
          <c:dPt>
            <c:idx val="0"/>
            <c:bubble3D val="0"/>
            <c:spPr>
              <a:solidFill>
                <a:srgbClr val="515151"/>
              </a:solidFill>
              <a:ln w="19050">
                <a:solidFill>
                  <a:schemeClr val="lt1"/>
                </a:solidFill>
              </a:ln>
              <a:effectLst/>
            </c:spPr>
            <c:extLst>
              <c:ext xmlns:c16="http://schemas.microsoft.com/office/drawing/2014/chart" uri="{C3380CC4-5D6E-409C-BE32-E72D297353CC}">
                <c16:uniqueId val="{00000001-B360-4352-A2B2-216655DBF083}"/>
              </c:ext>
            </c:extLst>
          </c:dPt>
          <c:dPt>
            <c:idx val="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3-B360-4352-A2B2-216655DBF083}"/>
              </c:ext>
            </c:extLst>
          </c:dPt>
          <c:dLbls>
            <c:dLbl>
              <c:idx val="0"/>
              <c:layout>
                <c:manualLayout>
                  <c:x val="0"/>
                  <c:y val="7.3150852545848756E-3"/>
                </c:manualLayout>
              </c:layout>
              <c:tx>
                <c:rich>
                  <a:bodyPr rot="0" spcFirstLastPara="1" vertOverflow="ellipsis" vert="horz" wrap="square" lIns="38100" tIns="19050" rIns="38100" bIns="19050" anchor="ctr" anchorCtr="1">
                    <a:noAutofit/>
                  </a:bodyPr>
                  <a:lstStyle/>
                  <a:p>
                    <a:pPr>
                      <a:defRPr sz="1197" b="0" i="0" u="none" strike="noStrike" kern="1200" baseline="0">
                        <a:solidFill>
                          <a:schemeClr val="tx1"/>
                        </a:solidFill>
                        <a:latin typeface="+mn-lt"/>
                        <a:ea typeface="+mn-ea"/>
                        <a:cs typeface="+mn-cs"/>
                      </a:defRPr>
                    </a:pPr>
                    <a:fld id="{6E849AD2-0067-4625-B1B0-893C2F43B001}" type="VALUE">
                      <a:rPr lang="en-US" altLang="zh-CN" sz="1200" dirty="0">
                        <a:solidFill>
                          <a:schemeClr val="tx1"/>
                        </a:solidFill>
                      </a:rPr>
                      <a:pPr>
                        <a:defRPr>
                          <a:solidFill>
                            <a:schemeClr val="tx1"/>
                          </a:solidFill>
                        </a:defRPr>
                      </a:pPr>
                      <a:t>[值]</a:t>
                    </a:fld>
                    <a:endParaRPr lang="zh-CN" altLang="en-US"/>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solidFill>
                      <a:latin typeface="+mn-lt"/>
                      <a:ea typeface="+mn-ea"/>
                      <a:cs typeface="+mn-cs"/>
                    </a:defRPr>
                  </a:pPr>
                  <a:endParaRPr lang="zh-CN"/>
                </a:p>
              </c:txPr>
              <c:dLblPos val="bestFit"/>
              <c:showLegendKey val="0"/>
              <c:showVal val="1"/>
              <c:showCatName val="0"/>
              <c:showSerName val="0"/>
              <c:showPercent val="0"/>
              <c:showBubbleSize val="0"/>
              <c:extLst>
                <c:ext xmlns:c15="http://schemas.microsoft.com/office/drawing/2012/chart" uri="{CE6537A1-D6FC-4f65-9D91-7224C49458BB}">
                  <c15:layout>
                    <c:manualLayout>
                      <c:w val="0.49391983957631697"/>
                      <c:h val="0.22990790594251592"/>
                    </c:manualLayout>
                  </c15:layout>
                  <c15:dlblFieldTable/>
                  <c15:showDataLabelsRange val="0"/>
                </c:ext>
                <c:ext xmlns:c16="http://schemas.microsoft.com/office/drawing/2014/chart" uri="{C3380CC4-5D6E-409C-BE32-E72D297353CC}">
                  <c16:uniqueId val="{00000001-B360-4352-A2B2-216655DBF083}"/>
                </c:ext>
              </c:extLst>
            </c:dLbl>
            <c:dLbl>
              <c:idx val="1"/>
              <c:delete val="1"/>
              <c:extLst>
                <c:ext xmlns:c15="http://schemas.microsoft.com/office/drawing/2012/chart" uri="{CE6537A1-D6FC-4f65-9D91-7224C49458BB}"/>
                <c:ext xmlns:c16="http://schemas.microsoft.com/office/drawing/2014/chart" uri="{C3380CC4-5D6E-409C-BE32-E72D297353CC}">
                  <c16:uniqueId val="{00000003-B360-4352-A2B2-216655DBF08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0"/>
            <c:showBubbleSize val="0"/>
            <c:showLeaderLines val="0"/>
            <c:extLst>
              <c:ext xmlns:c15="http://schemas.microsoft.com/office/drawing/2012/chart" uri="{CE6537A1-D6FC-4f65-9D91-7224C49458BB}"/>
            </c:extLst>
          </c:dLbls>
          <c:cat>
            <c:strRef>
              <c:f>Sheet1!$A$2:$A$3</c:f>
              <c:strCache>
                <c:ptCount val="2"/>
                <c:pt idx="0">
                  <c:v>使用人数</c:v>
                </c:pt>
                <c:pt idx="1">
                  <c:v>未使用人数</c:v>
                </c:pt>
              </c:strCache>
            </c:strRef>
          </c:cat>
          <c:val>
            <c:numRef>
              <c:f>Sheet1!$B$2:$B$3</c:f>
              <c:numCache>
                <c:formatCode>0.00%</c:formatCode>
                <c:ptCount val="2"/>
                <c:pt idx="0">
                  <c:v>0.24444399999999999</c:v>
                </c:pt>
                <c:pt idx="1">
                  <c:v>0.75555600000000001</c:v>
                </c:pt>
              </c:numCache>
            </c:numRef>
          </c:val>
          <c:extLst>
            <c:ext xmlns:c16="http://schemas.microsoft.com/office/drawing/2014/chart" uri="{C3380CC4-5D6E-409C-BE32-E72D297353CC}">
              <c16:uniqueId val="{00000004-B360-4352-A2B2-216655DBF083}"/>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微信小程序</c:v>
                </c:pt>
              </c:strCache>
            </c:strRef>
          </c:tx>
          <c:explosion val="1"/>
          <c:dPt>
            <c:idx val="0"/>
            <c:bubble3D val="0"/>
            <c:spPr>
              <a:solidFill>
                <a:srgbClr val="515151"/>
              </a:solidFill>
              <a:ln w="19050">
                <a:solidFill>
                  <a:schemeClr val="lt1"/>
                </a:solidFill>
              </a:ln>
              <a:effectLst/>
            </c:spPr>
            <c:extLst>
              <c:ext xmlns:c16="http://schemas.microsoft.com/office/drawing/2014/chart" uri="{C3380CC4-5D6E-409C-BE32-E72D297353CC}">
                <c16:uniqueId val="{00000001-73B3-498E-B633-DC2BDEA3A566}"/>
              </c:ext>
            </c:extLst>
          </c:dPt>
          <c:dPt>
            <c:idx val="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3-73B3-498E-B633-DC2BDEA3A566}"/>
              </c:ext>
            </c:extLst>
          </c:dPt>
          <c:dLbls>
            <c:dLbl>
              <c:idx val="0"/>
              <c:layout>
                <c:manualLayout>
                  <c:x val="-5.1638209336747351E-3"/>
                  <c:y val="0"/>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fld id="{52DF901A-7799-4041-966C-808D15B889FC}" type="VALUE">
                      <a:rPr lang="en-US" altLang="zh-CN" sz="1200">
                        <a:solidFill>
                          <a:schemeClr val="tx1"/>
                        </a:solidFill>
                      </a:rPr>
                      <a:pPr>
                        <a:defRPr>
                          <a:solidFill>
                            <a:schemeClr val="tx1"/>
                          </a:solidFill>
                        </a:defRPr>
                      </a:pPr>
                      <a:t>[值]</a:t>
                    </a:fld>
                    <a:endParaRPr lang="zh-CN" altLang="en-US"/>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zh-CN"/>
                </a:p>
              </c:txPr>
              <c:dLblPos val="bestFit"/>
              <c:showLegendKey val="0"/>
              <c:showVal val="1"/>
              <c:showCatName val="0"/>
              <c:showSerName val="0"/>
              <c:showPercent val="0"/>
              <c:showBubbleSize val="0"/>
              <c:extLst>
                <c:ext xmlns:c15="http://schemas.microsoft.com/office/drawing/2012/chart" uri="{CE6537A1-D6FC-4f65-9D91-7224C49458BB}">
                  <c15:layout>
                    <c:manualLayout>
                      <c:w val="0.4547724943899456"/>
                      <c:h val="0.34013757536461942"/>
                    </c:manualLayout>
                  </c15:layout>
                  <c15:dlblFieldTable/>
                  <c15:showDataLabelsRange val="0"/>
                </c:ext>
                <c:ext xmlns:c16="http://schemas.microsoft.com/office/drawing/2014/chart" uri="{C3380CC4-5D6E-409C-BE32-E72D297353CC}">
                  <c16:uniqueId val="{00000001-73B3-498E-B633-DC2BDEA3A566}"/>
                </c:ext>
              </c:extLst>
            </c:dLbl>
            <c:dLbl>
              <c:idx val="1"/>
              <c:delete val="1"/>
              <c:extLst>
                <c:ext xmlns:c15="http://schemas.microsoft.com/office/drawing/2012/chart" uri="{CE6537A1-D6FC-4f65-9D91-7224C49458BB}"/>
                <c:ext xmlns:c16="http://schemas.microsoft.com/office/drawing/2014/chart" uri="{C3380CC4-5D6E-409C-BE32-E72D297353CC}">
                  <c16:uniqueId val="{00000003-73B3-498E-B633-DC2BDEA3A56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使用人数</c:v>
                </c:pt>
                <c:pt idx="1">
                  <c:v>未使用人数</c:v>
                </c:pt>
              </c:strCache>
            </c:strRef>
          </c:cat>
          <c:val>
            <c:numRef>
              <c:f>Sheet1!$B$2:$B$3</c:f>
              <c:numCache>
                <c:formatCode>0.00%</c:formatCode>
                <c:ptCount val="2"/>
                <c:pt idx="0">
                  <c:v>0.19555555555555557</c:v>
                </c:pt>
                <c:pt idx="1">
                  <c:v>0.80444444444444441</c:v>
                </c:pt>
              </c:numCache>
            </c:numRef>
          </c:val>
          <c:extLst>
            <c:ext xmlns:c16="http://schemas.microsoft.com/office/drawing/2014/chart" uri="{C3380CC4-5D6E-409C-BE32-E72D297353CC}">
              <c16:uniqueId val="{00000004-73B3-498E-B633-DC2BDEA3A566}"/>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抖音</c:v>
                </c:pt>
              </c:strCache>
            </c:strRef>
          </c:tx>
          <c:explosion val="1"/>
          <c:dPt>
            <c:idx val="0"/>
            <c:bubble3D val="0"/>
            <c:spPr>
              <a:solidFill>
                <a:srgbClr val="515151"/>
              </a:solidFill>
              <a:ln w="19050">
                <a:solidFill>
                  <a:schemeClr val="lt1"/>
                </a:solidFill>
              </a:ln>
              <a:effectLst/>
            </c:spPr>
            <c:extLst>
              <c:ext xmlns:c16="http://schemas.microsoft.com/office/drawing/2014/chart" uri="{C3380CC4-5D6E-409C-BE32-E72D297353CC}">
                <c16:uniqueId val="{00000001-71E5-4E1B-B735-6D9B7A3E492D}"/>
              </c:ext>
            </c:extLst>
          </c:dPt>
          <c:dPt>
            <c:idx val="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3-71E5-4E1B-B735-6D9B7A3E492D}"/>
              </c:ext>
            </c:extLst>
          </c:dPt>
          <c:dLbls>
            <c:dLbl>
              <c:idx val="0"/>
              <c:layout>
                <c:manualLayout>
                  <c:x val="0.13992999827382951"/>
                  <c:y val="3.3875545311590653E-7"/>
                </c:manualLayout>
              </c:layout>
              <c:tx>
                <c:rich>
                  <a:bodyPr/>
                  <a:lstStyle/>
                  <a:p>
                    <a:fld id="{A75E467B-7E59-40FD-8CAA-8070DC3F56D3}" type="VALUE">
                      <a:rPr lang="en-US" altLang="zh-CN">
                        <a:solidFill>
                          <a:srgbClr val="515151"/>
                        </a:solidFill>
                      </a:rPr>
                      <a:pPr/>
                      <a:t>[值]</a:t>
                    </a:fld>
                    <a:endParaRPr lang="zh-CN" altLang="en-US"/>
                  </a:p>
                </c:rich>
              </c:tx>
              <c:dLblPos val="bestFit"/>
              <c:showLegendKey val="0"/>
              <c:showVal val="1"/>
              <c:showCatName val="0"/>
              <c:showSerName val="0"/>
              <c:showPercent val="0"/>
              <c:showBubbleSize val="0"/>
              <c:extLst>
                <c:ext xmlns:c15="http://schemas.microsoft.com/office/drawing/2012/chart" uri="{CE6537A1-D6FC-4f65-9D91-7224C49458BB}">
                  <c15:layout>
                    <c:manualLayout>
                      <c:w val="0.34932550802669321"/>
                      <c:h val="0.40627523256113846"/>
                    </c:manualLayout>
                  </c15:layout>
                  <c15:dlblFieldTable/>
                  <c15:showDataLabelsRange val="0"/>
                </c:ext>
                <c:ext xmlns:c16="http://schemas.microsoft.com/office/drawing/2014/chart" uri="{C3380CC4-5D6E-409C-BE32-E72D297353CC}">
                  <c16:uniqueId val="{00000001-71E5-4E1B-B735-6D9B7A3E492D}"/>
                </c:ext>
              </c:extLst>
            </c:dLbl>
            <c:dLbl>
              <c:idx val="1"/>
              <c:delete val="1"/>
              <c:extLst>
                <c:ext xmlns:c15="http://schemas.microsoft.com/office/drawing/2012/chart" uri="{CE6537A1-D6FC-4f65-9D91-7224C49458BB}"/>
                <c:ext xmlns:c16="http://schemas.microsoft.com/office/drawing/2014/chart" uri="{C3380CC4-5D6E-409C-BE32-E72D297353CC}">
                  <c16:uniqueId val="{00000003-71E5-4E1B-B735-6D9B7A3E492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0"/>
            <c:showBubbleSize val="0"/>
            <c:showLeaderLines val="0"/>
            <c:extLst>
              <c:ext xmlns:c15="http://schemas.microsoft.com/office/drawing/2012/chart" uri="{CE6537A1-D6FC-4f65-9D91-7224C49458BB}"/>
            </c:extLst>
          </c:dLbls>
          <c:cat>
            <c:strRef>
              <c:f>Sheet1!$A$2:$A$3</c:f>
              <c:strCache>
                <c:ptCount val="2"/>
                <c:pt idx="0">
                  <c:v>使用人数</c:v>
                </c:pt>
                <c:pt idx="1">
                  <c:v>未使用人数</c:v>
                </c:pt>
              </c:strCache>
            </c:strRef>
          </c:cat>
          <c:val>
            <c:numRef>
              <c:f>Sheet1!$B$2:$B$3</c:f>
              <c:numCache>
                <c:formatCode>0.00%</c:formatCode>
                <c:ptCount val="2"/>
                <c:pt idx="0">
                  <c:v>6.2222E-2</c:v>
                </c:pt>
                <c:pt idx="1">
                  <c:v>0.937778</c:v>
                </c:pt>
              </c:numCache>
            </c:numRef>
          </c:val>
          <c:extLst>
            <c:ext xmlns:c16="http://schemas.microsoft.com/office/drawing/2014/chart" uri="{C3380CC4-5D6E-409C-BE32-E72D297353CC}">
              <c16:uniqueId val="{00000004-71E5-4E1B-B735-6D9B7A3E492D}"/>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小红书</c:v>
                </c:pt>
              </c:strCache>
            </c:strRef>
          </c:tx>
          <c:spPr>
            <a:solidFill>
              <a:srgbClr val="515151"/>
            </a:solidFill>
          </c:spPr>
          <c:explosion val="1"/>
          <c:dPt>
            <c:idx val="0"/>
            <c:bubble3D val="0"/>
            <c:spPr>
              <a:solidFill>
                <a:srgbClr val="515151"/>
              </a:solidFill>
              <a:ln w="19050">
                <a:solidFill>
                  <a:schemeClr val="lt1"/>
                </a:solidFill>
              </a:ln>
              <a:effectLst/>
            </c:spPr>
            <c:extLst>
              <c:ext xmlns:c16="http://schemas.microsoft.com/office/drawing/2014/chart" uri="{C3380CC4-5D6E-409C-BE32-E72D297353CC}">
                <c16:uniqueId val="{00000001-52A5-40C6-B045-A6FF015CDFD3}"/>
              </c:ext>
            </c:extLst>
          </c:dPt>
          <c:dPt>
            <c:idx val="1"/>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3-52A5-40C6-B045-A6FF015CDFD3}"/>
              </c:ext>
            </c:extLst>
          </c:dPt>
          <c:dLbls>
            <c:dLbl>
              <c:idx val="0"/>
              <c:layout>
                <c:manualLayout>
                  <c:x val="0.13214203078459963"/>
                  <c:y val="2.5813165527432076E-2"/>
                </c:manualLayout>
              </c:layout>
              <c:tx>
                <c:rich>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fld id="{15DE0CC2-575D-493A-B2F7-2BC192D86500}" type="VALUE">
                      <a:rPr lang="en-US" altLang="zh-CN">
                        <a:solidFill>
                          <a:srgbClr val="515151"/>
                        </a:solidFill>
                      </a:rPr>
                      <a:pPr>
                        <a:defRPr>
                          <a:solidFill>
                            <a:schemeClr val="bg1"/>
                          </a:solidFill>
                        </a:defRPr>
                      </a:pPr>
                      <a:t>[值]</a:t>
                    </a:fld>
                    <a:endParaRPr lang="zh-CN" altLang="en-US"/>
                  </a:p>
                </c:rich>
              </c:tx>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zh-CN"/>
                </a:p>
              </c:txPr>
              <c:dLblPos val="bestFit"/>
              <c:showLegendKey val="0"/>
              <c:showVal val="1"/>
              <c:showCatName val="0"/>
              <c:showSerName val="0"/>
              <c:showPercent val="0"/>
              <c:showBubbleSize val="0"/>
              <c:extLst>
                <c:ext xmlns:c15="http://schemas.microsoft.com/office/drawing/2012/chart" uri="{CE6537A1-D6FC-4f65-9D91-7224C49458BB}">
                  <c15:layout>
                    <c:manualLayout>
                      <c:w val="0.41895604395604397"/>
                      <c:h val="0.26579658830293834"/>
                    </c:manualLayout>
                  </c15:layout>
                  <c15:dlblFieldTable/>
                  <c15:showDataLabelsRange val="0"/>
                </c:ext>
                <c:ext xmlns:c16="http://schemas.microsoft.com/office/drawing/2014/chart" uri="{C3380CC4-5D6E-409C-BE32-E72D297353CC}">
                  <c16:uniqueId val="{00000001-52A5-40C6-B045-A6FF015CDFD3}"/>
                </c:ext>
              </c:extLst>
            </c:dLbl>
            <c:dLbl>
              <c:idx val="1"/>
              <c:delete val="1"/>
              <c:extLst>
                <c:ext xmlns:c15="http://schemas.microsoft.com/office/drawing/2012/chart" uri="{CE6537A1-D6FC-4f65-9D91-7224C49458BB}"/>
                <c:ext xmlns:c16="http://schemas.microsoft.com/office/drawing/2014/chart" uri="{C3380CC4-5D6E-409C-BE32-E72D297353CC}">
                  <c16:uniqueId val="{00000003-52A5-40C6-B045-A6FF015CDFD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使用人数</c:v>
                </c:pt>
                <c:pt idx="1">
                  <c:v>未使用人数</c:v>
                </c:pt>
              </c:strCache>
            </c:strRef>
          </c:cat>
          <c:val>
            <c:numRef>
              <c:f>Sheet1!$B$2:$B$3</c:f>
              <c:numCache>
                <c:formatCode>0.00%</c:formatCode>
                <c:ptCount val="2"/>
                <c:pt idx="0">
                  <c:v>2.6667E-2</c:v>
                </c:pt>
                <c:pt idx="1">
                  <c:v>0.973333</c:v>
                </c:pt>
              </c:numCache>
            </c:numRef>
          </c:val>
          <c:extLst>
            <c:ext xmlns:c16="http://schemas.microsoft.com/office/drawing/2014/chart" uri="{C3380CC4-5D6E-409C-BE32-E72D297353CC}">
              <c16:uniqueId val="{00000004-52A5-40C6-B045-A6FF015CDFD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34643275917804"/>
          <c:y val="0.12382699555138633"/>
          <c:w val="0.50378489714753372"/>
          <c:h val="0.72065016257337777"/>
        </c:manualLayout>
      </c:layout>
      <c:radarChart>
        <c:radarStyle val="marker"/>
        <c:varyColors val="0"/>
        <c:ser>
          <c:idx val="0"/>
          <c:order val="0"/>
          <c:tx>
            <c:strRef>
              <c:f>Sheet1!$B$1</c:f>
              <c:strCache>
                <c:ptCount val="1"/>
                <c:pt idx="0">
                  <c:v>阿维塔</c:v>
                </c:pt>
              </c:strCache>
            </c:strRef>
          </c:tx>
          <c:spPr>
            <a:ln w="22225" cap="rnd">
              <a:solidFill>
                <a:srgbClr val="9FA0A0"/>
              </a:solidFill>
              <a:round/>
            </a:ln>
            <a:effectLst/>
          </c:spPr>
          <c:marker>
            <c:symbol val="none"/>
          </c:marker>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Sheet1!$B$2:$B$8</c:f>
              <c:numCache>
                <c:formatCode>0.0</c:formatCode>
                <c:ptCount val="7"/>
                <c:pt idx="0">
                  <c:v>7.7781764027218596</c:v>
                </c:pt>
                <c:pt idx="1">
                  <c:v>7.6515151515151496</c:v>
                </c:pt>
                <c:pt idx="2">
                  <c:v>8.0192307692307701</c:v>
                </c:pt>
                <c:pt idx="3">
                  <c:v>7.625</c:v>
                </c:pt>
                <c:pt idx="4">
                  <c:v>8.1999999999999993</c:v>
                </c:pt>
                <c:pt idx="5">
                  <c:v>7.6124557913351003</c:v>
                </c:pt>
              </c:numCache>
            </c:numRef>
          </c:val>
          <c:extLst>
            <c:ext xmlns:c16="http://schemas.microsoft.com/office/drawing/2014/chart" uri="{C3380CC4-5D6E-409C-BE32-E72D297353CC}">
              <c16:uniqueId val="{00000000-C114-4496-9DE6-54664C15B946}"/>
            </c:ext>
          </c:extLst>
        </c:ser>
        <c:ser>
          <c:idx val="1"/>
          <c:order val="1"/>
          <c:tx>
            <c:strRef>
              <c:f>Sheet1!$C$1</c:f>
              <c:strCache>
                <c:ptCount val="1"/>
                <c:pt idx="0">
                  <c:v>阿维塔2</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Sheet1!$C$2:$C$8</c:f>
              <c:numCache>
                <c:formatCode>0.0</c:formatCode>
                <c:ptCount val="7"/>
                <c:pt idx="0">
                  <c:v>8.3259215071715076</c:v>
                </c:pt>
                <c:pt idx="1">
                  <c:v>8.625</c:v>
                </c:pt>
                <c:pt idx="2">
                  <c:v>8.7432432432432439</c:v>
                </c:pt>
                <c:pt idx="3">
                  <c:v>7.6923076923076925</c:v>
                </c:pt>
                <c:pt idx="4">
                  <c:v>8.428571428571427</c:v>
                </c:pt>
                <c:pt idx="5">
                  <c:v>8.5981338481338447</c:v>
                </c:pt>
                <c:pt idx="6">
                  <c:v>8.4421487603305785</c:v>
                </c:pt>
              </c:numCache>
            </c:numRef>
          </c:val>
          <c:extLst>
            <c:ext xmlns:c16="http://schemas.microsoft.com/office/drawing/2014/chart" uri="{C3380CC4-5D6E-409C-BE32-E72D297353CC}">
              <c16:uniqueId val="{00000000-2C21-4DC2-86CB-5CFE2130C031}"/>
            </c:ext>
          </c:extLst>
        </c:ser>
        <c:dLbls>
          <c:showLegendKey val="0"/>
          <c:showVal val="0"/>
          <c:showCatName val="0"/>
          <c:showSerName val="0"/>
          <c:showPercent val="0"/>
          <c:showBubbleSize val="0"/>
        </c:dLbls>
        <c:axId val="181603040"/>
        <c:axId val="181612160"/>
      </c:radarChart>
      <c:catAx>
        <c:axId val="181603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81612160"/>
        <c:crosses val="autoZero"/>
        <c:auto val="1"/>
        <c:lblAlgn val="ctr"/>
        <c:lblOffset val="100"/>
        <c:noMultiLvlLbl val="0"/>
      </c:catAx>
      <c:valAx>
        <c:axId val="181612160"/>
        <c:scaling>
          <c:orientation val="minMax"/>
          <c:max val="10"/>
          <c:min val="6"/>
        </c:scaling>
        <c:delete val="1"/>
        <c:axPos val="l"/>
        <c:majorGridlines>
          <c:spPr>
            <a:ln w="9525" cap="flat" cmpd="sng" algn="ctr">
              <a:solidFill>
                <a:schemeClr val="accent6">
                  <a:lumMod val="75000"/>
                </a:schemeClr>
              </a:solidFill>
              <a:round/>
            </a:ln>
            <a:effectLst/>
          </c:spPr>
        </c:majorGridlines>
        <c:numFmt formatCode="0.0" sourceLinked="1"/>
        <c:majorTickMark val="out"/>
        <c:minorTickMark val="none"/>
        <c:tickLblPos val="nextTo"/>
        <c:crossAx val="181603040"/>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178927467788349"/>
          <c:y val="0.17859518250188322"/>
          <c:w val="0.42008852984275702"/>
          <c:h val="0.64879421832683082"/>
        </c:manualLayout>
      </c:layout>
      <c:radarChart>
        <c:radarStyle val="marker"/>
        <c:varyColors val="0"/>
        <c:ser>
          <c:idx val="0"/>
          <c:order val="0"/>
          <c:tx>
            <c:strRef>
              <c:f>Sheet1!$B$1</c:f>
              <c:strCache>
                <c:ptCount val="1"/>
                <c:pt idx="0">
                  <c:v>特斯拉</c:v>
                </c:pt>
              </c:strCache>
            </c:strRef>
          </c:tx>
          <c:spPr>
            <a:ln w="28575" cap="rnd">
              <a:solidFill>
                <a:srgbClr val="9FA0A0"/>
              </a:solidFill>
              <a:round/>
            </a:ln>
            <a:effectLst/>
          </c:spPr>
          <c:marker>
            <c:symbol val="none"/>
          </c:marker>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Sheet1!$B$2:$B$8</c:f>
              <c:numCache>
                <c:formatCode>0.0</c:formatCode>
                <c:ptCount val="7"/>
                <c:pt idx="0">
                  <c:v>7.4527361319340297</c:v>
                </c:pt>
                <c:pt idx="1">
                  <c:v>7.171875</c:v>
                </c:pt>
                <c:pt idx="2">
                  <c:v>7.4583333333333304</c:v>
                </c:pt>
                <c:pt idx="3" formatCode="0.0_);[Red]\(0.0\)">
                  <c:v>7.5333333333333341</c:v>
                </c:pt>
                <c:pt idx="4">
                  <c:v>8</c:v>
                </c:pt>
                <c:pt idx="5">
                  <c:v>7.7974137931034502</c:v>
                </c:pt>
              </c:numCache>
            </c:numRef>
          </c:val>
          <c:extLst>
            <c:ext xmlns:c16="http://schemas.microsoft.com/office/drawing/2014/chart" uri="{C3380CC4-5D6E-409C-BE32-E72D297353CC}">
              <c16:uniqueId val="{00000000-42EB-49E6-9C27-D07F25EAA88E}"/>
            </c:ext>
          </c:extLst>
        </c:ser>
        <c:ser>
          <c:idx val="1"/>
          <c:order val="1"/>
          <c:tx>
            <c:strRef>
              <c:f>Sheet1!$C$1</c:f>
              <c:strCache>
                <c:ptCount val="1"/>
                <c:pt idx="0">
                  <c:v>特斯拉2</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Sheet1!$C$2:$C$8</c:f>
              <c:numCache>
                <c:formatCode>0.0</c:formatCode>
                <c:ptCount val="7"/>
                <c:pt idx="0">
                  <c:v>8.5299036281179141</c:v>
                </c:pt>
                <c:pt idx="1">
                  <c:v>8</c:v>
                </c:pt>
                <c:pt idx="2">
                  <c:v>8.25</c:v>
                </c:pt>
                <c:pt idx="3">
                  <c:v>8.1111111111111107</c:v>
                </c:pt>
                <c:pt idx="5">
                  <c:v>8.6485714285714277</c:v>
                </c:pt>
                <c:pt idx="6">
                  <c:v>8.5757575757575761</c:v>
                </c:pt>
              </c:numCache>
            </c:numRef>
          </c:val>
          <c:extLst>
            <c:ext xmlns:c16="http://schemas.microsoft.com/office/drawing/2014/chart" uri="{C3380CC4-5D6E-409C-BE32-E72D297353CC}">
              <c16:uniqueId val="{00000000-9643-4AE3-AD82-085CDCAAB994}"/>
            </c:ext>
          </c:extLst>
        </c:ser>
        <c:dLbls>
          <c:showLegendKey val="0"/>
          <c:showVal val="0"/>
          <c:showCatName val="0"/>
          <c:showSerName val="0"/>
          <c:showPercent val="0"/>
          <c:showBubbleSize val="0"/>
        </c:dLbls>
        <c:axId val="181603040"/>
        <c:axId val="181612160"/>
      </c:radarChart>
      <c:catAx>
        <c:axId val="181603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81612160"/>
        <c:crosses val="autoZero"/>
        <c:auto val="1"/>
        <c:lblAlgn val="ctr"/>
        <c:lblOffset val="100"/>
        <c:noMultiLvlLbl val="0"/>
      </c:catAx>
      <c:valAx>
        <c:axId val="181612160"/>
        <c:scaling>
          <c:orientation val="minMax"/>
          <c:max val="10"/>
          <c:min val="6"/>
        </c:scaling>
        <c:delete val="1"/>
        <c:axPos val="l"/>
        <c:majorGridlines>
          <c:spPr>
            <a:ln w="9525" cap="flat" cmpd="sng" algn="ctr">
              <a:solidFill>
                <a:schemeClr val="accent6">
                  <a:lumMod val="75000"/>
                </a:schemeClr>
              </a:solidFill>
              <a:round/>
            </a:ln>
            <a:effectLst/>
          </c:spPr>
        </c:majorGridlines>
        <c:numFmt formatCode="0.0" sourceLinked="1"/>
        <c:majorTickMark val="out"/>
        <c:minorTickMark val="none"/>
        <c:tickLblPos val="nextTo"/>
        <c:crossAx val="181603040"/>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7249127347375651"/>
          <c:y val="0.2791072459326453"/>
          <c:w val="0.4639931597786931"/>
          <c:h val="0.57508782094298672"/>
        </c:manualLayout>
      </c:layout>
      <c:radarChart>
        <c:radarStyle val="marker"/>
        <c:varyColors val="0"/>
        <c:ser>
          <c:idx val="0"/>
          <c:order val="0"/>
          <c:tx>
            <c:strRef>
              <c:f>Sheet1!$B$1</c:f>
              <c:strCache>
                <c:ptCount val="1"/>
                <c:pt idx="0">
                  <c:v>极氪2</c:v>
                </c:pt>
              </c:strCache>
            </c:strRef>
          </c:tx>
          <c:spPr>
            <a:ln w="28575" cap="rnd">
              <a:solidFill>
                <a:srgbClr val="9FA0A0"/>
              </a:solidFill>
              <a:round/>
            </a:ln>
            <a:effectLst/>
          </c:spPr>
          <c:marker>
            <c:symbol val="none"/>
          </c:marker>
          <c:dLbls>
            <c:delete val="1"/>
          </c:dLbls>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Sheet1!$B$2:$B$8</c:f>
              <c:numCache>
                <c:formatCode>0.0</c:formatCode>
                <c:ptCount val="7"/>
                <c:pt idx="0">
                  <c:v>7.5566790352504603</c:v>
                </c:pt>
                <c:pt idx="1">
                  <c:v>7.7592592592592604</c:v>
                </c:pt>
                <c:pt idx="2">
                  <c:v>7.734375</c:v>
                </c:pt>
                <c:pt idx="3" formatCode="0.0_);[Red]\(0.0\)">
                  <c:v>5.2244444444444431</c:v>
                </c:pt>
                <c:pt idx="5">
                  <c:v>7.3328872526102504</c:v>
                </c:pt>
              </c:numCache>
            </c:numRef>
          </c:val>
          <c:extLst>
            <c:ext xmlns:c16="http://schemas.microsoft.com/office/drawing/2014/chart" uri="{C3380CC4-5D6E-409C-BE32-E72D297353CC}">
              <c16:uniqueId val="{00000000-6E3C-45CE-B7A9-92E9415085E9}"/>
            </c:ext>
          </c:extLst>
        </c:ser>
        <c:ser>
          <c:idx val="1"/>
          <c:order val="1"/>
          <c:tx>
            <c:strRef>
              <c:f>Sheet1!$C$1</c:f>
              <c:strCache>
                <c:ptCount val="1"/>
                <c:pt idx="0">
                  <c:v>极氪22</c:v>
                </c:pt>
              </c:strCache>
            </c:strRef>
          </c:tx>
          <c:spPr>
            <a:ln w="28575" cap="rnd">
              <a:solidFill>
                <a:schemeClr val="accent2"/>
              </a:solidFill>
              <a:round/>
            </a:ln>
            <a:effectLst/>
          </c:spPr>
          <c:marker>
            <c:symbol val="none"/>
          </c:marker>
          <c:dLbls>
            <c:dLbl>
              <c:idx val="3"/>
              <c:layout>
                <c:manualLayout>
                  <c:x val="-2.2052906833588071E-2"/>
                  <c:y val="-2.186645707007563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74E-4152-AB2B-9419ECC311DA}"/>
                </c:ext>
              </c:extLst>
            </c:dLbl>
            <c:dLbl>
              <c:idx val="4"/>
              <c:layout>
                <c:manualLayout>
                  <c:x val="-3.0874069567023339E-2"/>
                  <c:y val="-4.37329141401511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74E-4152-AB2B-9419ECC311DA}"/>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Sheet1!$C$2:$C$8</c:f>
              <c:numCache>
                <c:formatCode>0.0</c:formatCode>
                <c:ptCount val="7"/>
                <c:pt idx="0">
                  <c:v>8.5096972347159756</c:v>
                </c:pt>
                <c:pt idx="1">
                  <c:v>8.34375</c:v>
                </c:pt>
                <c:pt idx="2">
                  <c:v>8.65</c:v>
                </c:pt>
                <c:pt idx="3">
                  <c:v>9</c:v>
                </c:pt>
                <c:pt idx="4">
                  <c:v>9</c:v>
                </c:pt>
                <c:pt idx="5">
                  <c:v>8.5183908045977006</c:v>
                </c:pt>
                <c:pt idx="6">
                  <c:v>8.741935483870968</c:v>
                </c:pt>
              </c:numCache>
            </c:numRef>
          </c:val>
          <c:extLst>
            <c:ext xmlns:c16="http://schemas.microsoft.com/office/drawing/2014/chart" uri="{C3380CC4-5D6E-409C-BE32-E72D297353CC}">
              <c16:uniqueId val="{00000001-074E-4152-AB2B-9419ECC311DA}"/>
            </c:ext>
          </c:extLst>
        </c:ser>
        <c:dLbls>
          <c:showLegendKey val="0"/>
          <c:showVal val="1"/>
          <c:showCatName val="0"/>
          <c:showSerName val="0"/>
          <c:showPercent val="0"/>
          <c:showBubbleSize val="0"/>
        </c:dLbls>
        <c:axId val="181603040"/>
        <c:axId val="181612160"/>
      </c:radarChart>
      <c:catAx>
        <c:axId val="181603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81612160"/>
        <c:crosses val="autoZero"/>
        <c:auto val="1"/>
        <c:lblAlgn val="ctr"/>
        <c:lblOffset val="100"/>
        <c:noMultiLvlLbl val="0"/>
      </c:catAx>
      <c:valAx>
        <c:axId val="181612160"/>
        <c:scaling>
          <c:orientation val="minMax"/>
          <c:max val="10"/>
          <c:min val="6"/>
        </c:scaling>
        <c:delete val="1"/>
        <c:axPos val="l"/>
        <c:majorGridlines>
          <c:spPr>
            <a:ln w="9525" cap="flat" cmpd="sng" algn="ctr">
              <a:solidFill>
                <a:schemeClr val="accent6">
                  <a:lumMod val="75000"/>
                </a:schemeClr>
              </a:solidFill>
              <a:round/>
            </a:ln>
            <a:effectLst/>
          </c:spPr>
        </c:majorGridlines>
        <c:numFmt formatCode="0.0" sourceLinked="1"/>
        <c:majorTickMark val="out"/>
        <c:minorTickMark val="none"/>
        <c:tickLblPos val="nextTo"/>
        <c:crossAx val="181603040"/>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923218074920645"/>
          <c:y val="0.13093411534409299"/>
          <c:w val="0.44319829157227592"/>
          <c:h val="0.67838435778956319"/>
        </c:manualLayout>
      </c:layout>
      <c:radarChart>
        <c:radarStyle val="marker"/>
        <c:varyColors val="0"/>
        <c:ser>
          <c:idx val="0"/>
          <c:order val="0"/>
          <c:tx>
            <c:strRef>
              <c:f>Sheet1!$B$1</c:f>
              <c:strCache>
                <c:ptCount val="1"/>
                <c:pt idx="0">
                  <c:v>蔚来</c:v>
                </c:pt>
              </c:strCache>
            </c:strRef>
          </c:tx>
          <c:spPr>
            <a:ln w="28575" cap="rnd">
              <a:solidFill>
                <a:srgbClr val="9FA0A0"/>
              </a:solidFill>
              <a:round/>
            </a:ln>
            <a:effectLst/>
          </c:spPr>
          <c:marker>
            <c:symbol val="none"/>
          </c:marker>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Sheet1!$B$2:$B$8</c:f>
              <c:numCache>
                <c:formatCode>0.0</c:formatCode>
                <c:ptCount val="7"/>
                <c:pt idx="0">
                  <c:v>7.6253875968992304</c:v>
                </c:pt>
                <c:pt idx="1">
                  <c:v>7.5760869565217401</c:v>
                </c:pt>
                <c:pt idx="2">
                  <c:v>7.7115384615384599</c:v>
                </c:pt>
                <c:pt idx="3" formatCode="0.0_);[Red]\(0.0\)">
                  <c:v>7.3999999999999995</c:v>
                </c:pt>
                <c:pt idx="4">
                  <c:v>7.1666666666666696</c:v>
                </c:pt>
                <c:pt idx="5">
                  <c:v>7.6370320855614997</c:v>
                </c:pt>
              </c:numCache>
            </c:numRef>
          </c:val>
          <c:extLst>
            <c:ext xmlns:c16="http://schemas.microsoft.com/office/drawing/2014/chart" uri="{C3380CC4-5D6E-409C-BE32-E72D297353CC}">
              <c16:uniqueId val="{00000000-4BE5-4EF4-A529-CA66DAE1E69B}"/>
            </c:ext>
          </c:extLst>
        </c:ser>
        <c:ser>
          <c:idx val="1"/>
          <c:order val="1"/>
          <c:tx>
            <c:strRef>
              <c:f>Sheet1!$C$1</c:f>
              <c:strCache>
                <c:ptCount val="1"/>
                <c:pt idx="0">
                  <c:v>蔚来2</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Sheet1!$C$2:$C$8</c:f>
              <c:numCache>
                <c:formatCode>0.0</c:formatCode>
                <c:ptCount val="7"/>
                <c:pt idx="0">
                  <c:v>8.5829033613445382</c:v>
                </c:pt>
                <c:pt idx="1">
                  <c:v>8.59375</c:v>
                </c:pt>
                <c:pt idx="2">
                  <c:v>8.6875</c:v>
                </c:pt>
                <c:pt idx="3">
                  <c:v>8.5555555555555571</c:v>
                </c:pt>
                <c:pt idx="4">
                  <c:v>7.666666666666667</c:v>
                </c:pt>
                <c:pt idx="5">
                  <c:v>8.7651960784313712</c:v>
                </c:pt>
                <c:pt idx="6">
                  <c:v>8.741935483870968</c:v>
                </c:pt>
              </c:numCache>
            </c:numRef>
          </c:val>
          <c:extLst>
            <c:ext xmlns:c16="http://schemas.microsoft.com/office/drawing/2014/chart" uri="{C3380CC4-5D6E-409C-BE32-E72D297353CC}">
              <c16:uniqueId val="{00000000-3F72-4209-8A2B-DFFF1269B86A}"/>
            </c:ext>
          </c:extLst>
        </c:ser>
        <c:dLbls>
          <c:showLegendKey val="0"/>
          <c:showVal val="0"/>
          <c:showCatName val="0"/>
          <c:showSerName val="0"/>
          <c:showPercent val="0"/>
          <c:showBubbleSize val="0"/>
        </c:dLbls>
        <c:axId val="181603040"/>
        <c:axId val="181612160"/>
      </c:radarChart>
      <c:catAx>
        <c:axId val="181603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81612160"/>
        <c:crosses val="autoZero"/>
        <c:auto val="1"/>
        <c:lblAlgn val="ctr"/>
        <c:lblOffset val="100"/>
        <c:noMultiLvlLbl val="0"/>
      </c:catAx>
      <c:valAx>
        <c:axId val="181612160"/>
        <c:scaling>
          <c:orientation val="minMax"/>
          <c:max val="10"/>
          <c:min val="6"/>
        </c:scaling>
        <c:delete val="1"/>
        <c:axPos val="l"/>
        <c:majorGridlines>
          <c:spPr>
            <a:ln w="9525" cap="flat" cmpd="sng" algn="ctr">
              <a:solidFill>
                <a:schemeClr val="accent6">
                  <a:lumMod val="75000"/>
                </a:schemeClr>
              </a:solidFill>
              <a:round/>
            </a:ln>
            <a:effectLst/>
          </c:spPr>
        </c:majorGridlines>
        <c:numFmt formatCode="0.0" sourceLinked="1"/>
        <c:majorTickMark val="out"/>
        <c:minorTickMark val="none"/>
        <c:tickLblPos val="nextTo"/>
        <c:crossAx val="181603040"/>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34643275917804"/>
          <c:y val="0.14244835456988594"/>
          <c:w val="0.48473870997871876"/>
          <c:h val="0.63947713053001987"/>
        </c:manualLayout>
      </c:layout>
      <c:radarChart>
        <c:radarStyle val="marker"/>
        <c:varyColors val="0"/>
        <c:ser>
          <c:idx val="0"/>
          <c:order val="0"/>
          <c:tx>
            <c:strRef>
              <c:f>Sheet1!$B$1</c:f>
              <c:strCache>
                <c:ptCount val="1"/>
                <c:pt idx="0">
                  <c:v>阿维塔</c:v>
                </c:pt>
              </c:strCache>
            </c:strRef>
          </c:tx>
          <c:spPr>
            <a:ln w="31750" cap="rnd">
              <a:solidFill>
                <a:srgbClr val="9FA0A0"/>
              </a:solidFill>
              <a:round/>
            </a:ln>
            <a:effectLst/>
          </c:spPr>
          <c:marker>
            <c:symbol val="none"/>
          </c:marker>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Sheet1!$B$2:$B$8</c:f>
              <c:numCache>
                <c:formatCode>0.0</c:formatCode>
                <c:ptCount val="7"/>
                <c:pt idx="0">
                  <c:v>7.7781764027218596</c:v>
                </c:pt>
                <c:pt idx="1">
                  <c:v>7.6515151515151496</c:v>
                </c:pt>
                <c:pt idx="2">
                  <c:v>8.0192307692307701</c:v>
                </c:pt>
                <c:pt idx="3" formatCode="0.0_);[Red]\(0.0\)">
                  <c:v>7.4616666666666696</c:v>
                </c:pt>
                <c:pt idx="4">
                  <c:v>8.1999999999999993</c:v>
                </c:pt>
                <c:pt idx="5">
                  <c:v>7.6124557913351003</c:v>
                </c:pt>
              </c:numCache>
            </c:numRef>
          </c:val>
          <c:extLst>
            <c:ext xmlns:c16="http://schemas.microsoft.com/office/drawing/2014/chart" uri="{C3380CC4-5D6E-409C-BE32-E72D297353CC}">
              <c16:uniqueId val="{00000000-9AAD-4A90-B7DD-174C6DB9AFE3}"/>
            </c:ext>
          </c:extLst>
        </c:ser>
        <c:ser>
          <c:idx val="1"/>
          <c:order val="1"/>
          <c:tx>
            <c:strRef>
              <c:f>Sheet1!$C$1</c:f>
              <c:strCache>
                <c:ptCount val="1"/>
                <c:pt idx="0">
                  <c:v>阿维塔2</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Sheet1!$C$2:$C$8</c:f>
              <c:numCache>
                <c:formatCode>0.0</c:formatCode>
                <c:ptCount val="7"/>
                <c:pt idx="0">
                  <c:v>8.3259215071715076</c:v>
                </c:pt>
                <c:pt idx="1">
                  <c:v>8.625</c:v>
                </c:pt>
                <c:pt idx="2">
                  <c:v>8.7432432432432439</c:v>
                </c:pt>
                <c:pt idx="3">
                  <c:v>7.6923076923076925</c:v>
                </c:pt>
                <c:pt idx="4">
                  <c:v>8.428571428571427</c:v>
                </c:pt>
                <c:pt idx="5">
                  <c:v>8.5981338481338447</c:v>
                </c:pt>
                <c:pt idx="6">
                  <c:v>8.4421487603305785</c:v>
                </c:pt>
              </c:numCache>
            </c:numRef>
          </c:val>
          <c:extLst>
            <c:ext xmlns:c16="http://schemas.microsoft.com/office/drawing/2014/chart" uri="{C3380CC4-5D6E-409C-BE32-E72D297353CC}">
              <c16:uniqueId val="{00000000-2C26-4F4A-880F-D2835AE66155}"/>
            </c:ext>
          </c:extLst>
        </c:ser>
        <c:dLbls>
          <c:showLegendKey val="0"/>
          <c:showVal val="0"/>
          <c:showCatName val="0"/>
          <c:showSerName val="0"/>
          <c:showPercent val="0"/>
          <c:showBubbleSize val="0"/>
        </c:dLbls>
        <c:axId val="181603040"/>
        <c:axId val="181612160"/>
      </c:radarChart>
      <c:catAx>
        <c:axId val="181603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81612160"/>
        <c:crosses val="autoZero"/>
        <c:auto val="1"/>
        <c:lblAlgn val="ctr"/>
        <c:lblOffset val="100"/>
        <c:noMultiLvlLbl val="0"/>
      </c:catAx>
      <c:valAx>
        <c:axId val="181612160"/>
        <c:scaling>
          <c:orientation val="minMax"/>
          <c:max val="10"/>
          <c:min val="6"/>
        </c:scaling>
        <c:delete val="1"/>
        <c:axPos val="l"/>
        <c:majorGridlines>
          <c:spPr>
            <a:ln w="9525" cap="flat" cmpd="sng" algn="ctr">
              <a:solidFill>
                <a:schemeClr val="accent6">
                  <a:lumMod val="75000"/>
                </a:schemeClr>
              </a:solidFill>
              <a:round/>
            </a:ln>
            <a:effectLst/>
          </c:spPr>
        </c:majorGridlines>
        <c:numFmt formatCode="0.0" sourceLinked="1"/>
        <c:majorTickMark val="out"/>
        <c:minorTickMark val="none"/>
        <c:tickLblPos val="nextTo"/>
        <c:crossAx val="181603040"/>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34643275917804"/>
          <c:y val="0.14244835456988594"/>
          <c:w val="0.48473870997871876"/>
          <c:h val="0.63947713053001987"/>
        </c:manualLayout>
      </c:layout>
      <c:radarChart>
        <c:radarStyle val="marker"/>
        <c:varyColors val="0"/>
        <c:ser>
          <c:idx val="0"/>
          <c:order val="0"/>
          <c:tx>
            <c:strRef>
              <c:f>Sheet1!$B$1</c:f>
              <c:strCache>
                <c:ptCount val="1"/>
                <c:pt idx="0">
                  <c:v>小鹏</c:v>
                </c:pt>
              </c:strCache>
            </c:strRef>
          </c:tx>
          <c:spPr>
            <a:ln w="31750" cap="rnd">
              <a:solidFill>
                <a:srgbClr val="9FA0A0"/>
              </a:solidFill>
              <a:round/>
            </a:ln>
            <a:effectLst/>
          </c:spPr>
          <c:marker>
            <c:symbol val="none"/>
          </c:marker>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Sheet1!$B$2:$B$8</c:f>
              <c:numCache>
                <c:formatCode>General</c:formatCode>
                <c:ptCount val="7"/>
                <c:pt idx="0">
                  <c:v>7.8</c:v>
                </c:pt>
                <c:pt idx="1">
                  <c:v>7.6</c:v>
                </c:pt>
                <c:pt idx="2">
                  <c:v>7.5</c:v>
                </c:pt>
                <c:pt idx="3">
                  <c:v>7.9</c:v>
                </c:pt>
                <c:pt idx="5">
                  <c:v>8</c:v>
                </c:pt>
              </c:numCache>
            </c:numRef>
          </c:val>
          <c:extLst>
            <c:ext xmlns:c16="http://schemas.microsoft.com/office/drawing/2014/chart" uri="{C3380CC4-5D6E-409C-BE32-E72D297353CC}">
              <c16:uniqueId val="{00000000-255D-4BEB-9187-E60F9555FD85}"/>
            </c:ext>
          </c:extLst>
        </c:ser>
        <c:ser>
          <c:idx val="1"/>
          <c:order val="1"/>
          <c:tx>
            <c:strRef>
              <c:f>Sheet1!$C$1</c:f>
              <c:strCache>
                <c:ptCount val="1"/>
                <c:pt idx="0">
                  <c:v>小鹏2</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Sheet1!$C$2:$C$8</c:f>
              <c:numCache>
                <c:formatCode>0.0</c:formatCode>
                <c:ptCount val="7"/>
                <c:pt idx="0">
                  <c:v>8.4017559523809524</c:v>
                </c:pt>
                <c:pt idx="1">
                  <c:v>8.53125</c:v>
                </c:pt>
                <c:pt idx="2">
                  <c:v>7.916666666666667</c:v>
                </c:pt>
                <c:pt idx="3">
                  <c:v>7</c:v>
                </c:pt>
                <c:pt idx="4">
                  <c:v>7.333333333333333</c:v>
                </c:pt>
                <c:pt idx="5">
                  <c:v>8.4504761904761914</c:v>
                </c:pt>
                <c:pt idx="6">
                  <c:v>8.59375</c:v>
                </c:pt>
              </c:numCache>
            </c:numRef>
          </c:val>
          <c:extLst>
            <c:ext xmlns:c16="http://schemas.microsoft.com/office/drawing/2014/chart" uri="{C3380CC4-5D6E-409C-BE32-E72D297353CC}">
              <c16:uniqueId val="{00000001-255D-4BEB-9187-E60F9555FD85}"/>
            </c:ext>
          </c:extLst>
        </c:ser>
        <c:dLbls>
          <c:showLegendKey val="0"/>
          <c:showVal val="0"/>
          <c:showCatName val="0"/>
          <c:showSerName val="0"/>
          <c:showPercent val="0"/>
          <c:showBubbleSize val="0"/>
        </c:dLbls>
        <c:axId val="181603040"/>
        <c:axId val="181612160"/>
      </c:radarChart>
      <c:catAx>
        <c:axId val="181603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81612160"/>
        <c:crosses val="autoZero"/>
        <c:auto val="1"/>
        <c:lblAlgn val="ctr"/>
        <c:lblOffset val="100"/>
        <c:noMultiLvlLbl val="0"/>
      </c:catAx>
      <c:valAx>
        <c:axId val="181612160"/>
        <c:scaling>
          <c:orientation val="minMax"/>
          <c:max val="10"/>
          <c:min val="6"/>
        </c:scaling>
        <c:delete val="1"/>
        <c:axPos val="l"/>
        <c:majorGridlines>
          <c:spPr>
            <a:ln w="9525" cap="flat" cmpd="sng" algn="ctr">
              <a:solidFill>
                <a:schemeClr val="accent6">
                  <a:lumMod val="75000"/>
                </a:schemeClr>
              </a:solidFill>
              <a:round/>
            </a:ln>
            <a:effectLst/>
          </c:spPr>
        </c:majorGridlines>
        <c:numFmt formatCode="General" sourceLinked="1"/>
        <c:majorTickMark val="out"/>
        <c:minorTickMark val="none"/>
        <c:tickLblPos val="nextTo"/>
        <c:crossAx val="181603040"/>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34643275917804"/>
          <c:y val="0.14244835456988594"/>
          <c:w val="0.48473870997871876"/>
          <c:h val="0.63947713053001987"/>
        </c:manualLayout>
      </c:layout>
      <c:radarChart>
        <c:radarStyle val="marker"/>
        <c:varyColors val="0"/>
        <c:ser>
          <c:idx val="0"/>
          <c:order val="0"/>
          <c:tx>
            <c:strRef>
              <c:f>Sheet1!$B$1</c:f>
              <c:strCache>
                <c:ptCount val="1"/>
                <c:pt idx="0">
                  <c:v>问界</c:v>
                </c:pt>
              </c:strCache>
            </c:strRef>
          </c:tx>
          <c:spPr>
            <a:ln w="31750" cap="rnd">
              <a:solidFill>
                <a:srgbClr val="9FA0A0"/>
              </a:solidFill>
              <a:round/>
            </a:ln>
            <a:effectLst/>
          </c:spPr>
          <c:marker>
            <c:symbol val="none"/>
          </c:marker>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Sheet1!$B$2:$B$8</c:f>
              <c:numCache>
                <c:formatCode>General</c:formatCode>
                <c:ptCount val="7"/>
                <c:pt idx="0">
                  <c:v>7.5</c:v>
                </c:pt>
                <c:pt idx="1">
                  <c:v>7.6</c:v>
                </c:pt>
                <c:pt idx="2">
                  <c:v>7.8</c:v>
                </c:pt>
                <c:pt idx="3">
                  <c:v>7.3</c:v>
                </c:pt>
                <c:pt idx="4">
                  <c:v>6.8</c:v>
                </c:pt>
                <c:pt idx="5">
                  <c:v>7.3</c:v>
                </c:pt>
              </c:numCache>
            </c:numRef>
          </c:val>
          <c:extLst>
            <c:ext xmlns:c16="http://schemas.microsoft.com/office/drawing/2014/chart" uri="{C3380CC4-5D6E-409C-BE32-E72D297353CC}">
              <c16:uniqueId val="{00000000-2521-4126-A6A7-73B18EECACD6}"/>
            </c:ext>
          </c:extLst>
        </c:ser>
        <c:ser>
          <c:idx val="1"/>
          <c:order val="1"/>
          <c:tx>
            <c:strRef>
              <c:f>Sheet1!$C$1</c:f>
              <c:strCache>
                <c:ptCount val="1"/>
                <c:pt idx="0">
                  <c:v>问界2</c:v>
                </c:pt>
              </c:strCache>
            </c:strRef>
          </c:tx>
          <c:spPr>
            <a:ln w="28575" cap="rnd">
              <a:solidFill>
                <a:schemeClr val="accent2"/>
              </a:solidFill>
              <a:round/>
            </a:ln>
            <a:effectLst/>
          </c:spPr>
          <c:marker>
            <c:symbol val="none"/>
          </c:marker>
          <c:dLbls>
            <c:dLbl>
              <c:idx val="3"/>
              <c:layout>
                <c:manualLayout>
                  <c:x val="-6.4036949824276629E-2"/>
                  <c:y val="-8.144355727868594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521-4126-A6A7-73B18EECACD6}"/>
                </c:ext>
              </c:extLst>
            </c:dLbl>
            <c:dLbl>
              <c:idx val="6"/>
              <c:layout>
                <c:manualLayout>
                  <c:x val="-1.2006928092051854E-2"/>
                  <c:y val="4.65391755878204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521-4126-A6A7-73B18EECACD6}"/>
                </c:ext>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Sheet1!$C$2:$C$8</c:f>
              <c:numCache>
                <c:formatCode>0.0</c:formatCode>
                <c:ptCount val="7"/>
                <c:pt idx="0">
                  <c:v>8.5630026516535445</c:v>
                </c:pt>
                <c:pt idx="1">
                  <c:v>8.4285714285714288</c:v>
                </c:pt>
                <c:pt idx="2">
                  <c:v>8.9166666666666661</c:v>
                </c:pt>
                <c:pt idx="3">
                  <c:v>10</c:v>
                </c:pt>
                <c:pt idx="5">
                  <c:v>8.7372549019607852</c:v>
                </c:pt>
                <c:pt idx="6">
                  <c:v>9.0322580645161299</c:v>
                </c:pt>
              </c:numCache>
            </c:numRef>
          </c:val>
          <c:extLst>
            <c:ext xmlns:c16="http://schemas.microsoft.com/office/drawing/2014/chart" uri="{C3380CC4-5D6E-409C-BE32-E72D297353CC}">
              <c16:uniqueId val="{00000001-2521-4126-A6A7-73B18EECACD6}"/>
            </c:ext>
          </c:extLst>
        </c:ser>
        <c:dLbls>
          <c:showLegendKey val="0"/>
          <c:showVal val="0"/>
          <c:showCatName val="0"/>
          <c:showSerName val="0"/>
          <c:showPercent val="0"/>
          <c:showBubbleSize val="0"/>
        </c:dLbls>
        <c:axId val="181603040"/>
        <c:axId val="181612160"/>
      </c:radarChart>
      <c:catAx>
        <c:axId val="181603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81612160"/>
        <c:crosses val="autoZero"/>
        <c:auto val="1"/>
        <c:lblAlgn val="ctr"/>
        <c:lblOffset val="100"/>
        <c:noMultiLvlLbl val="0"/>
      </c:catAx>
      <c:valAx>
        <c:axId val="181612160"/>
        <c:scaling>
          <c:orientation val="minMax"/>
          <c:max val="10"/>
          <c:min val="6"/>
        </c:scaling>
        <c:delete val="1"/>
        <c:axPos val="l"/>
        <c:majorGridlines>
          <c:spPr>
            <a:ln w="9525" cap="flat" cmpd="sng" algn="ctr">
              <a:solidFill>
                <a:schemeClr val="accent6">
                  <a:lumMod val="75000"/>
                </a:schemeClr>
              </a:solidFill>
              <a:round/>
            </a:ln>
            <a:effectLst/>
          </c:spPr>
        </c:majorGridlines>
        <c:numFmt formatCode="General" sourceLinked="1"/>
        <c:majorTickMark val="out"/>
        <c:minorTickMark val="none"/>
        <c:tickLblPos val="nextTo"/>
        <c:crossAx val="181603040"/>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34643275917804"/>
          <c:y val="0.14244835456988594"/>
          <c:w val="0.48473870997871876"/>
          <c:h val="0.63947713053001987"/>
        </c:manualLayout>
      </c:layout>
      <c:radarChart>
        <c:radarStyle val="marker"/>
        <c:varyColors val="0"/>
        <c:ser>
          <c:idx val="0"/>
          <c:order val="0"/>
          <c:tx>
            <c:strRef>
              <c:f>Sheet1!$B$1</c:f>
              <c:strCache>
                <c:ptCount val="1"/>
                <c:pt idx="0">
                  <c:v>理想</c:v>
                </c:pt>
              </c:strCache>
            </c:strRef>
          </c:tx>
          <c:spPr>
            <a:ln w="31750" cap="rnd">
              <a:solidFill>
                <a:srgbClr val="9FA0A0"/>
              </a:solidFill>
              <a:round/>
            </a:ln>
            <a:effectLst/>
          </c:spPr>
          <c:marker>
            <c:symbol val="none"/>
          </c:marker>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Sheet1!$B$2:$B$8</c:f>
              <c:numCache>
                <c:formatCode>General</c:formatCode>
                <c:ptCount val="7"/>
                <c:pt idx="0">
                  <c:v>7.2</c:v>
                </c:pt>
                <c:pt idx="1">
                  <c:v>7.3</c:v>
                </c:pt>
                <c:pt idx="2">
                  <c:v>7.5</c:v>
                </c:pt>
                <c:pt idx="3">
                  <c:v>5.4</c:v>
                </c:pt>
                <c:pt idx="5">
                  <c:v>7.1</c:v>
                </c:pt>
              </c:numCache>
            </c:numRef>
          </c:val>
          <c:extLst>
            <c:ext xmlns:c16="http://schemas.microsoft.com/office/drawing/2014/chart" uri="{C3380CC4-5D6E-409C-BE32-E72D297353CC}">
              <c16:uniqueId val="{00000000-5176-4FC3-B72E-65A00639541A}"/>
            </c:ext>
          </c:extLst>
        </c:ser>
        <c:ser>
          <c:idx val="1"/>
          <c:order val="1"/>
          <c:tx>
            <c:strRef>
              <c:f>Sheet1!$C$1</c:f>
              <c:strCache>
                <c:ptCount val="1"/>
                <c:pt idx="0">
                  <c:v>理想2</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Sheet1!$C$2:$C$8</c:f>
              <c:numCache>
                <c:formatCode>0.0</c:formatCode>
                <c:ptCount val="7"/>
                <c:pt idx="0">
                  <c:v>8.5719298245614048</c:v>
                </c:pt>
                <c:pt idx="1">
                  <c:v>8.4166666666666661</c:v>
                </c:pt>
                <c:pt idx="2">
                  <c:v>8.34375</c:v>
                </c:pt>
                <c:pt idx="3">
                  <c:v>8.1666666666666661</c:v>
                </c:pt>
                <c:pt idx="4">
                  <c:v>7.7777777777777786</c:v>
                </c:pt>
                <c:pt idx="5">
                  <c:v>8.6657142857142837</c:v>
                </c:pt>
                <c:pt idx="6">
                  <c:v>8.7096774193548381</c:v>
                </c:pt>
              </c:numCache>
            </c:numRef>
          </c:val>
          <c:extLst>
            <c:ext xmlns:c16="http://schemas.microsoft.com/office/drawing/2014/chart" uri="{C3380CC4-5D6E-409C-BE32-E72D297353CC}">
              <c16:uniqueId val="{00000001-5176-4FC3-B72E-65A00639541A}"/>
            </c:ext>
          </c:extLst>
        </c:ser>
        <c:dLbls>
          <c:showLegendKey val="0"/>
          <c:showVal val="0"/>
          <c:showCatName val="0"/>
          <c:showSerName val="0"/>
          <c:showPercent val="0"/>
          <c:showBubbleSize val="0"/>
        </c:dLbls>
        <c:axId val="181603040"/>
        <c:axId val="181612160"/>
      </c:radarChart>
      <c:catAx>
        <c:axId val="181603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81612160"/>
        <c:crosses val="autoZero"/>
        <c:auto val="1"/>
        <c:lblAlgn val="ctr"/>
        <c:lblOffset val="100"/>
        <c:noMultiLvlLbl val="0"/>
      </c:catAx>
      <c:valAx>
        <c:axId val="181612160"/>
        <c:scaling>
          <c:orientation val="minMax"/>
          <c:max val="10"/>
          <c:min val="6"/>
        </c:scaling>
        <c:delete val="1"/>
        <c:axPos val="l"/>
        <c:majorGridlines>
          <c:spPr>
            <a:ln w="9525" cap="flat" cmpd="sng" algn="ctr">
              <a:solidFill>
                <a:schemeClr val="accent6">
                  <a:lumMod val="75000"/>
                </a:schemeClr>
              </a:solidFill>
              <a:round/>
            </a:ln>
            <a:effectLst/>
          </c:spPr>
        </c:majorGridlines>
        <c:numFmt formatCode="General" sourceLinked="1"/>
        <c:majorTickMark val="out"/>
        <c:minorTickMark val="none"/>
        <c:tickLblPos val="nextTo"/>
        <c:crossAx val="181603040"/>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34643275917804"/>
          <c:y val="0.14244835456988594"/>
          <c:w val="0.48473870997871876"/>
          <c:h val="0.63947713053001987"/>
        </c:manualLayout>
      </c:layout>
      <c:radarChart>
        <c:radarStyle val="marker"/>
        <c:varyColors val="0"/>
        <c:ser>
          <c:idx val="0"/>
          <c:order val="0"/>
          <c:tx>
            <c:strRef>
              <c:f>Sheet1!$B$1</c:f>
              <c:strCache>
                <c:ptCount val="1"/>
                <c:pt idx="0">
                  <c:v>智己</c:v>
                </c:pt>
              </c:strCache>
            </c:strRef>
          </c:tx>
          <c:spPr>
            <a:ln w="31750" cap="rnd">
              <a:solidFill>
                <a:srgbClr val="9FA0A0"/>
              </a:solidFill>
              <a:round/>
            </a:ln>
            <a:effectLst/>
          </c:spPr>
          <c:marker>
            <c:symbol val="none"/>
          </c:marker>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Sheet1!$B$2:$B$8</c:f>
              <c:numCache>
                <c:formatCode>General</c:formatCode>
                <c:ptCount val="7"/>
                <c:pt idx="0">
                  <c:v>7.8</c:v>
                </c:pt>
                <c:pt idx="1">
                  <c:v>7.8</c:v>
                </c:pt>
                <c:pt idx="2">
                  <c:v>8.6999999999999993</c:v>
                </c:pt>
                <c:pt idx="3">
                  <c:v>8.3000000000000007</c:v>
                </c:pt>
                <c:pt idx="5">
                  <c:v>6.2</c:v>
                </c:pt>
              </c:numCache>
            </c:numRef>
          </c:val>
          <c:extLst>
            <c:ext xmlns:c16="http://schemas.microsoft.com/office/drawing/2014/chart" uri="{C3380CC4-5D6E-409C-BE32-E72D297353CC}">
              <c16:uniqueId val="{00000000-FB75-4E85-B4F6-41C71AE262C3}"/>
            </c:ext>
          </c:extLst>
        </c:ser>
        <c:ser>
          <c:idx val="1"/>
          <c:order val="1"/>
          <c:tx>
            <c:strRef>
              <c:f>Sheet1!$C$1</c:f>
              <c:strCache>
                <c:ptCount val="1"/>
                <c:pt idx="0">
                  <c:v>智己2</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 官方APP</c:v>
                </c:pt>
                <c:pt idx="1">
                  <c:v> 微信订阅号</c:v>
                </c:pt>
                <c:pt idx="2">
                  <c:v> 微信小程序</c:v>
                </c:pt>
                <c:pt idx="3">
                  <c:v> 抖音</c:v>
                </c:pt>
                <c:pt idx="4">
                  <c:v> 小红书</c:v>
                </c:pt>
                <c:pt idx="5">
                  <c:v>商城及积分</c:v>
                </c:pt>
                <c:pt idx="6">
                  <c:v>平台客服沟通</c:v>
                </c:pt>
              </c:strCache>
            </c:strRef>
          </c:cat>
          <c:val>
            <c:numRef>
              <c:f>Sheet1!$C$2:$C$8</c:f>
              <c:numCache>
                <c:formatCode>0.0</c:formatCode>
                <c:ptCount val="7"/>
                <c:pt idx="0">
                  <c:v>8.4186202686202698</c:v>
                </c:pt>
                <c:pt idx="1">
                  <c:v>8.1875</c:v>
                </c:pt>
                <c:pt idx="2">
                  <c:v>8.4166666666666661</c:v>
                </c:pt>
                <c:pt idx="3">
                  <c:v>8.6666666666666679</c:v>
                </c:pt>
                <c:pt idx="5">
                  <c:v>8.382539682539683</c:v>
                </c:pt>
                <c:pt idx="6">
                  <c:v>8.8125</c:v>
                </c:pt>
              </c:numCache>
            </c:numRef>
          </c:val>
          <c:extLst>
            <c:ext xmlns:c16="http://schemas.microsoft.com/office/drawing/2014/chart" uri="{C3380CC4-5D6E-409C-BE32-E72D297353CC}">
              <c16:uniqueId val="{00000001-FB75-4E85-B4F6-41C71AE262C3}"/>
            </c:ext>
          </c:extLst>
        </c:ser>
        <c:dLbls>
          <c:showLegendKey val="0"/>
          <c:showVal val="0"/>
          <c:showCatName val="0"/>
          <c:showSerName val="0"/>
          <c:showPercent val="0"/>
          <c:showBubbleSize val="0"/>
        </c:dLbls>
        <c:axId val="181603040"/>
        <c:axId val="181612160"/>
      </c:radarChart>
      <c:catAx>
        <c:axId val="181603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81612160"/>
        <c:crosses val="autoZero"/>
        <c:auto val="1"/>
        <c:lblAlgn val="ctr"/>
        <c:lblOffset val="100"/>
        <c:noMultiLvlLbl val="0"/>
      </c:catAx>
      <c:valAx>
        <c:axId val="181612160"/>
        <c:scaling>
          <c:orientation val="minMax"/>
          <c:max val="10"/>
          <c:min val="6"/>
        </c:scaling>
        <c:delete val="1"/>
        <c:axPos val="l"/>
        <c:majorGridlines>
          <c:spPr>
            <a:ln w="9525" cap="flat" cmpd="sng" algn="ctr">
              <a:solidFill>
                <a:schemeClr val="accent6">
                  <a:lumMod val="75000"/>
                </a:schemeClr>
              </a:solidFill>
              <a:round/>
            </a:ln>
            <a:effectLst/>
          </c:spPr>
        </c:majorGridlines>
        <c:numFmt formatCode="General" sourceLinked="1"/>
        <c:majorTickMark val="out"/>
        <c:minorTickMark val="none"/>
        <c:tickLblPos val="nextTo"/>
        <c:crossAx val="181603040"/>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055781053420637E-2"/>
          <c:y val="2.4207160890334777E-2"/>
          <c:w val="0.93264230810146997"/>
          <c:h val="0.49357997535346598"/>
        </c:manualLayout>
      </c:layout>
      <c:lineChart>
        <c:grouping val="standard"/>
        <c:varyColors val="0"/>
        <c:ser>
          <c:idx val="0"/>
          <c:order val="0"/>
          <c:tx>
            <c:strRef>
              <c:f>Sheet1!$B$1</c:f>
              <c:strCache>
                <c:ptCount val="1"/>
                <c:pt idx="0">
                  <c:v>阿维塔</c:v>
                </c:pt>
              </c:strCache>
            </c:strRef>
          </c:tx>
          <c:spPr>
            <a:ln w="22225" cap="rnd">
              <a:solidFill>
                <a:srgbClr val="4B8D56"/>
              </a:solidFill>
              <a:round/>
            </a:ln>
            <a:effectLst/>
          </c:spPr>
          <c:marker>
            <c:symbol val="none"/>
          </c:marker>
          <c:dLbls>
            <c:dLbl>
              <c:idx val="0"/>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140-4801-B0F6-D4C5C19A1640}"/>
                </c:ext>
              </c:extLst>
            </c:dLbl>
            <c:dLbl>
              <c:idx val="1"/>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140-4801-B0F6-D4C5C19A1640}"/>
                </c:ext>
              </c:extLst>
            </c:dLbl>
            <c:dLbl>
              <c:idx val="2"/>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140-4801-B0F6-D4C5C19A1640}"/>
                </c:ext>
              </c:extLst>
            </c:dLbl>
            <c:dLbl>
              <c:idx val="5"/>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140-4801-B0F6-D4C5C19A1640}"/>
                </c:ext>
              </c:extLst>
            </c:dLbl>
            <c:dLbl>
              <c:idx val="7"/>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140-4801-B0F6-D4C5C19A1640}"/>
                </c:ext>
              </c:extLst>
            </c:dLbl>
            <c:dLbl>
              <c:idx val="10"/>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140-4801-B0F6-D4C5C19A1640}"/>
                </c:ext>
              </c:extLst>
            </c:dLbl>
            <c:dLbl>
              <c:idx val="11"/>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140-4801-B0F6-D4C5C19A1640}"/>
                </c:ext>
              </c:extLst>
            </c:dLbl>
            <c:dLbl>
              <c:idx val="13"/>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7140-4801-B0F6-D4C5C19A1640}"/>
                </c:ext>
              </c:extLst>
            </c:dLbl>
            <c:dLbl>
              <c:idx val="14"/>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7140-4801-B0F6-D4C5C19A1640}"/>
                </c:ext>
              </c:extLst>
            </c:dLbl>
            <c:dLbl>
              <c:idx val="15"/>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7140-4801-B0F6-D4C5C19A1640}"/>
                </c:ext>
              </c:extLst>
            </c:dLbl>
            <c:dLbl>
              <c:idx val="25"/>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7140-4801-B0F6-D4C5C19A1640}"/>
                </c:ext>
              </c:extLst>
            </c:dLbl>
            <c:dLbl>
              <c:idx val="26"/>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7140-4801-B0F6-D4C5C19A1640}"/>
                </c:ext>
              </c:extLst>
            </c:dLbl>
            <c:dLbl>
              <c:idx val="27"/>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7140-4801-B0F6-D4C5C19A1640}"/>
                </c:ext>
              </c:extLst>
            </c:dLbl>
            <c:dLbl>
              <c:idx val="29"/>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7140-4801-B0F6-D4C5C19A1640}"/>
                </c:ext>
              </c:extLst>
            </c:dLbl>
            <c:dLbl>
              <c:idx val="31"/>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7140-4801-B0F6-D4C5C19A1640}"/>
                </c:ext>
              </c:extLst>
            </c:dLbl>
            <c:dLbl>
              <c:idx val="34"/>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7140-4801-B0F6-D4C5C19A1640}"/>
                </c:ext>
              </c:extLst>
            </c:dLbl>
            <c:dLbl>
              <c:idx val="35"/>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7140-4801-B0F6-D4C5C19A1640}"/>
                </c:ext>
              </c:extLst>
            </c:dLbl>
            <c:spPr>
              <a:noFill/>
              <a:ln>
                <a:noFill/>
              </a:ln>
              <a:effectLst/>
            </c:spPr>
            <c:txPr>
              <a:bodyPr rot="0" spcFirstLastPara="1" vertOverflow="overflow" horzOverflow="overflow" vert="horz" wrap="none" lIns="36000" tIns="0" rIns="36000" bIns="0" anchor="ctr" anchorCtr="1">
                <a:spAutoFit/>
              </a:bodyPr>
              <a:lstStyle/>
              <a:p>
                <a:pPr>
                  <a:defRPr lang="zh-CN" sz="900" b="0" i="0" u="none" strike="noStrike" kern="1200" baseline="0">
                    <a:solidFill>
                      <a:srgbClr val="4B8D56"/>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Sheet1!$A$2:$A$38</c:f>
              <c:strCache>
                <c:ptCount val="37"/>
                <c:pt idx="0">
                  <c:v>官方平台客服沟通</c:v>
                </c:pt>
                <c:pt idx="1">
                  <c:v>官方APP的整体流畅度</c:v>
                </c:pt>
                <c:pt idx="2">
                  <c:v>官方APP的功能丰富程度</c:v>
                </c:pt>
                <c:pt idx="3">
                  <c:v>产品信息类功能满意度</c:v>
                </c:pt>
                <c:pt idx="4">
                  <c:v>购车辅助类功能满意度</c:v>
                </c:pt>
                <c:pt idx="5">
                  <c:v>控车功能类功能满意度</c:v>
                </c:pt>
                <c:pt idx="6">
                  <c:v>用车辅助类功能满意度</c:v>
                </c:pt>
                <c:pt idx="7">
                  <c:v>商城购物类功能满意度</c:v>
                </c:pt>
                <c:pt idx="8">
                  <c:v>社交社群类功能满意度</c:v>
                </c:pt>
                <c:pt idx="9">
                  <c:v>信息资讯类功能满意度</c:v>
                </c:pt>
                <c:pt idx="10">
                  <c:v>线上互动活动功能满意度</c:v>
                </c:pt>
                <c:pt idx="11">
                  <c:v>信息反馈类功能满意度</c:v>
                </c:pt>
                <c:pt idx="12">
                  <c:v>官方APP的设计美观程度</c:v>
                </c:pt>
                <c:pt idx="13">
                  <c:v>官方APP的资讯及信息内容质量</c:v>
                </c:pt>
                <c:pt idx="14">
                  <c:v>官方APP的车辆控制功能丰富程度</c:v>
                </c:pt>
                <c:pt idx="15">
                  <c:v>官方APP的车辆服务功能丰富程度</c:v>
                </c:pt>
                <c:pt idx="16">
                  <c:v>官方APP的互动体验</c:v>
                </c:pt>
                <c:pt idx="17">
                  <c:v>官方微信订阅号等的使用流畅度</c:v>
                </c:pt>
                <c:pt idx="18">
                  <c:v>官方微信订阅号等的内容丰富度</c:v>
                </c:pt>
                <c:pt idx="19">
                  <c:v>官方微信订阅号等的设计美观度</c:v>
                </c:pt>
                <c:pt idx="20">
                  <c:v>官方微信订阅号等的整体内容质量</c:v>
                </c:pt>
                <c:pt idx="21">
                  <c:v>官方微信小程序的整体流畅度</c:v>
                </c:pt>
                <c:pt idx="22">
                  <c:v>官方微信小程序的内容丰富度</c:v>
                </c:pt>
                <c:pt idx="23">
                  <c:v>官方微信小程序的页面设计美观程度</c:v>
                </c:pt>
                <c:pt idx="24">
                  <c:v>官方微信小程序的整体内容质量</c:v>
                </c:pt>
                <c:pt idx="25">
                  <c:v>官方抖音作品的吸引力和印象深度程度</c:v>
                </c:pt>
                <c:pt idx="26">
                  <c:v>官方抖音作品的制作精良水平</c:v>
                </c:pt>
                <c:pt idx="27">
                  <c:v>官方抖音账号的作品更新频率</c:v>
                </c:pt>
                <c:pt idx="28">
                  <c:v>官方小红书作品的吸引力和印象深度程度</c:v>
                </c:pt>
                <c:pt idx="29">
                  <c:v>官方小红书作品的制作精良水平</c:v>
                </c:pt>
                <c:pt idx="30">
                  <c:v>官方小红书账号的作品更新频率</c:v>
                </c:pt>
                <c:pt idx="31">
                  <c:v>会员商城的商品丰富性</c:v>
                </c:pt>
                <c:pt idx="32">
                  <c:v>会员商城的订单处理及发货体验</c:v>
                </c:pt>
                <c:pt idx="33">
                  <c:v>线上商城的退货流程合理程度</c:v>
                </c:pt>
                <c:pt idx="34">
                  <c:v>线上商城的总体评价如何</c:v>
                </c:pt>
                <c:pt idx="35">
                  <c:v>会员积分使用渠道丰富性</c:v>
                </c:pt>
                <c:pt idx="36">
                  <c:v>会员积分的兑换快捷度</c:v>
                </c:pt>
              </c:strCache>
            </c:strRef>
          </c:cat>
          <c:val>
            <c:numRef>
              <c:f>Sheet1!$B$2:$B$38</c:f>
              <c:numCache>
                <c:formatCode>0.0</c:formatCode>
                <c:ptCount val="37"/>
                <c:pt idx="0">
                  <c:v>8.4</c:v>
                </c:pt>
                <c:pt idx="1">
                  <c:v>8.4</c:v>
                </c:pt>
                <c:pt idx="2">
                  <c:v>8.1</c:v>
                </c:pt>
                <c:pt idx="3">
                  <c:v>8.6</c:v>
                </c:pt>
                <c:pt idx="4">
                  <c:v>8.9</c:v>
                </c:pt>
                <c:pt idx="5">
                  <c:v>8.4</c:v>
                </c:pt>
                <c:pt idx="6">
                  <c:v>8.4</c:v>
                </c:pt>
                <c:pt idx="7">
                  <c:v>7.8</c:v>
                </c:pt>
                <c:pt idx="8">
                  <c:v>8.4</c:v>
                </c:pt>
                <c:pt idx="9">
                  <c:v>8.6</c:v>
                </c:pt>
                <c:pt idx="10">
                  <c:v>8.1</c:v>
                </c:pt>
                <c:pt idx="11">
                  <c:v>7.8</c:v>
                </c:pt>
                <c:pt idx="12">
                  <c:v>8.5</c:v>
                </c:pt>
                <c:pt idx="13">
                  <c:v>8.1</c:v>
                </c:pt>
                <c:pt idx="14">
                  <c:v>8.4</c:v>
                </c:pt>
                <c:pt idx="15">
                  <c:v>8.1999999999999993</c:v>
                </c:pt>
                <c:pt idx="16">
                  <c:v>8.6999999999999993</c:v>
                </c:pt>
                <c:pt idx="17">
                  <c:v>8.6999999999999993</c:v>
                </c:pt>
                <c:pt idx="18">
                  <c:v>8.6</c:v>
                </c:pt>
                <c:pt idx="19">
                  <c:v>8.6</c:v>
                </c:pt>
                <c:pt idx="20">
                  <c:v>8.6</c:v>
                </c:pt>
                <c:pt idx="21">
                  <c:v>9</c:v>
                </c:pt>
                <c:pt idx="22">
                  <c:v>8.8000000000000007</c:v>
                </c:pt>
                <c:pt idx="23">
                  <c:v>8.6</c:v>
                </c:pt>
                <c:pt idx="24" formatCode="0.0_);[Red]\(0.0\)">
                  <c:v>8.5</c:v>
                </c:pt>
                <c:pt idx="25" formatCode="0.0_);[Red]\(0.0\)">
                  <c:v>7.6</c:v>
                </c:pt>
                <c:pt idx="26" formatCode="0.0_);[Red]\(0.0\)">
                  <c:v>7.8</c:v>
                </c:pt>
                <c:pt idx="27">
                  <c:v>7.6</c:v>
                </c:pt>
                <c:pt idx="28">
                  <c:v>8.9</c:v>
                </c:pt>
                <c:pt idx="29">
                  <c:v>8.1</c:v>
                </c:pt>
                <c:pt idx="30">
                  <c:v>8.3000000000000007</c:v>
                </c:pt>
                <c:pt idx="31">
                  <c:v>8.1999999999999993</c:v>
                </c:pt>
                <c:pt idx="32">
                  <c:v>8.8000000000000007</c:v>
                </c:pt>
                <c:pt idx="33">
                  <c:v>8.8000000000000007</c:v>
                </c:pt>
                <c:pt idx="34">
                  <c:v>8.5</c:v>
                </c:pt>
                <c:pt idx="35">
                  <c:v>8.6</c:v>
                </c:pt>
                <c:pt idx="36" formatCode="General">
                  <c:v>8.6999999999999993</c:v>
                </c:pt>
              </c:numCache>
            </c:numRef>
          </c:val>
          <c:smooth val="0"/>
          <c:extLst>
            <c:ext xmlns:c16="http://schemas.microsoft.com/office/drawing/2014/chart" uri="{C3380CC4-5D6E-409C-BE32-E72D297353CC}">
              <c16:uniqueId val="{00000000-7EED-49D5-AF2F-463DEFECA822}"/>
            </c:ext>
          </c:extLst>
        </c:ser>
        <c:ser>
          <c:idx val="1"/>
          <c:order val="1"/>
          <c:tx>
            <c:strRef>
              <c:f>Sheet1!$C$1</c:f>
              <c:strCache>
                <c:ptCount val="1"/>
                <c:pt idx="0">
                  <c:v>竞品</c:v>
                </c:pt>
              </c:strCache>
            </c:strRef>
          </c:tx>
          <c:spPr>
            <a:ln w="22225" cap="rnd">
              <a:solidFill>
                <a:schemeClr val="accent2"/>
              </a:solidFill>
              <a:round/>
            </a:ln>
            <a:effectLst/>
          </c:spPr>
          <c:marker>
            <c:symbol val="none"/>
          </c:marker>
          <c:cat>
            <c:strRef>
              <c:f>Sheet1!$A$2:$A$38</c:f>
              <c:strCache>
                <c:ptCount val="37"/>
                <c:pt idx="0">
                  <c:v>官方平台客服沟通</c:v>
                </c:pt>
                <c:pt idx="1">
                  <c:v>官方APP的整体流畅度</c:v>
                </c:pt>
                <c:pt idx="2">
                  <c:v>官方APP的功能丰富程度</c:v>
                </c:pt>
                <c:pt idx="3">
                  <c:v>产品信息类功能满意度</c:v>
                </c:pt>
                <c:pt idx="4">
                  <c:v>购车辅助类功能满意度</c:v>
                </c:pt>
                <c:pt idx="5">
                  <c:v>控车功能类功能满意度</c:v>
                </c:pt>
                <c:pt idx="6">
                  <c:v>用车辅助类功能满意度</c:v>
                </c:pt>
                <c:pt idx="7">
                  <c:v>商城购物类功能满意度</c:v>
                </c:pt>
                <c:pt idx="8">
                  <c:v>社交社群类功能满意度</c:v>
                </c:pt>
                <c:pt idx="9">
                  <c:v>信息资讯类功能满意度</c:v>
                </c:pt>
                <c:pt idx="10">
                  <c:v>线上互动活动功能满意度</c:v>
                </c:pt>
                <c:pt idx="11">
                  <c:v>信息反馈类功能满意度</c:v>
                </c:pt>
                <c:pt idx="12">
                  <c:v>官方APP的设计美观程度</c:v>
                </c:pt>
                <c:pt idx="13">
                  <c:v>官方APP的资讯及信息内容质量</c:v>
                </c:pt>
                <c:pt idx="14">
                  <c:v>官方APP的车辆控制功能丰富程度</c:v>
                </c:pt>
                <c:pt idx="15">
                  <c:v>官方APP的车辆服务功能丰富程度</c:v>
                </c:pt>
                <c:pt idx="16">
                  <c:v>官方APP的互动体验</c:v>
                </c:pt>
                <c:pt idx="17">
                  <c:v>官方微信订阅号等的使用流畅度</c:v>
                </c:pt>
                <c:pt idx="18">
                  <c:v>官方微信订阅号等的内容丰富度</c:v>
                </c:pt>
                <c:pt idx="19">
                  <c:v>官方微信订阅号等的设计美观度</c:v>
                </c:pt>
                <c:pt idx="20">
                  <c:v>官方微信订阅号等的整体内容质量</c:v>
                </c:pt>
                <c:pt idx="21">
                  <c:v>官方微信小程序的整体流畅度</c:v>
                </c:pt>
                <c:pt idx="22">
                  <c:v>官方微信小程序的内容丰富度</c:v>
                </c:pt>
                <c:pt idx="23">
                  <c:v>官方微信小程序的页面设计美观程度</c:v>
                </c:pt>
                <c:pt idx="24">
                  <c:v>官方微信小程序的整体内容质量</c:v>
                </c:pt>
                <c:pt idx="25">
                  <c:v>官方抖音作品的吸引力和印象深度程度</c:v>
                </c:pt>
                <c:pt idx="26">
                  <c:v>官方抖音作品的制作精良水平</c:v>
                </c:pt>
                <c:pt idx="27">
                  <c:v>官方抖音账号的作品更新频率</c:v>
                </c:pt>
                <c:pt idx="28">
                  <c:v>官方小红书作品的吸引力和印象深度程度</c:v>
                </c:pt>
                <c:pt idx="29">
                  <c:v>官方小红书作品的制作精良水平</c:v>
                </c:pt>
                <c:pt idx="30">
                  <c:v>官方小红书账号的作品更新频率</c:v>
                </c:pt>
                <c:pt idx="31">
                  <c:v>会员商城的商品丰富性</c:v>
                </c:pt>
                <c:pt idx="32">
                  <c:v>会员商城的订单处理及发货体验</c:v>
                </c:pt>
                <c:pt idx="33">
                  <c:v>线上商城的退货流程合理程度</c:v>
                </c:pt>
                <c:pt idx="34">
                  <c:v>线上商城的总体评价如何</c:v>
                </c:pt>
                <c:pt idx="35">
                  <c:v>会员积分使用渠道丰富性</c:v>
                </c:pt>
                <c:pt idx="36">
                  <c:v>会员积分的兑换快捷度</c:v>
                </c:pt>
              </c:strCache>
            </c:strRef>
          </c:cat>
          <c:val>
            <c:numRef>
              <c:f>Sheet1!$C$2:$C$38</c:f>
              <c:numCache>
                <c:formatCode>General</c:formatCode>
                <c:ptCount val="37"/>
                <c:pt idx="0">
                  <c:v>8.6999999999999993</c:v>
                </c:pt>
                <c:pt idx="1">
                  <c:v>8.6</c:v>
                </c:pt>
                <c:pt idx="2">
                  <c:v>8.5</c:v>
                </c:pt>
                <c:pt idx="3">
                  <c:v>8.5</c:v>
                </c:pt>
                <c:pt idx="4">
                  <c:v>8.4</c:v>
                </c:pt>
                <c:pt idx="5">
                  <c:v>8.5</c:v>
                </c:pt>
                <c:pt idx="6">
                  <c:v>8.5</c:v>
                </c:pt>
                <c:pt idx="7">
                  <c:v>8.3000000000000007</c:v>
                </c:pt>
                <c:pt idx="8">
                  <c:v>8.3000000000000007</c:v>
                </c:pt>
                <c:pt idx="9">
                  <c:v>8.4</c:v>
                </c:pt>
                <c:pt idx="10">
                  <c:v>8.1999999999999993</c:v>
                </c:pt>
                <c:pt idx="11">
                  <c:v>8.1</c:v>
                </c:pt>
                <c:pt idx="12">
                  <c:v>8.5</c:v>
                </c:pt>
                <c:pt idx="13">
                  <c:v>8.4</c:v>
                </c:pt>
                <c:pt idx="14">
                  <c:v>8.6</c:v>
                </c:pt>
                <c:pt idx="15">
                  <c:v>8.5</c:v>
                </c:pt>
                <c:pt idx="16">
                  <c:v>8.5</c:v>
                </c:pt>
                <c:pt idx="17">
                  <c:v>8.5</c:v>
                </c:pt>
                <c:pt idx="18">
                  <c:v>8.3000000000000007</c:v>
                </c:pt>
                <c:pt idx="19">
                  <c:v>8.4</c:v>
                </c:pt>
                <c:pt idx="20">
                  <c:v>8.3000000000000007</c:v>
                </c:pt>
                <c:pt idx="21">
                  <c:v>8.5</c:v>
                </c:pt>
                <c:pt idx="22">
                  <c:v>8.4</c:v>
                </c:pt>
                <c:pt idx="23">
                  <c:v>8.4</c:v>
                </c:pt>
                <c:pt idx="24">
                  <c:v>8.3000000000000007</c:v>
                </c:pt>
                <c:pt idx="25">
                  <c:v>8.6</c:v>
                </c:pt>
                <c:pt idx="26">
                  <c:v>8.1</c:v>
                </c:pt>
                <c:pt idx="27">
                  <c:v>8.3000000000000007</c:v>
                </c:pt>
                <c:pt idx="28">
                  <c:v>7.7</c:v>
                </c:pt>
                <c:pt idx="29">
                  <c:v>8.1999999999999993</c:v>
                </c:pt>
                <c:pt idx="30">
                  <c:v>7.8</c:v>
                </c:pt>
                <c:pt idx="31">
                  <c:v>8.5</c:v>
                </c:pt>
                <c:pt idx="32">
                  <c:v>8.6999999999999993</c:v>
                </c:pt>
                <c:pt idx="33">
                  <c:v>8.6</c:v>
                </c:pt>
                <c:pt idx="34">
                  <c:v>8.6</c:v>
                </c:pt>
                <c:pt idx="35">
                  <c:v>8.6999999999999993</c:v>
                </c:pt>
                <c:pt idx="36">
                  <c:v>8.5</c:v>
                </c:pt>
              </c:numCache>
            </c:numRef>
          </c:val>
          <c:smooth val="0"/>
          <c:extLst>
            <c:ext xmlns:c16="http://schemas.microsoft.com/office/drawing/2014/chart" uri="{C3380CC4-5D6E-409C-BE32-E72D297353CC}">
              <c16:uniqueId val="{00000000-7140-4801-B0F6-D4C5C19A1640}"/>
            </c:ext>
          </c:extLst>
        </c:ser>
        <c:dLbls>
          <c:showLegendKey val="0"/>
          <c:showVal val="0"/>
          <c:showCatName val="0"/>
          <c:showSerName val="0"/>
          <c:showPercent val="0"/>
          <c:showBubbleSize val="0"/>
        </c:dLbls>
        <c:smooth val="0"/>
        <c:axId val="405449200"/>
        <c:axId val="429461056"/>
      </c:lineChart>
      <c:catAx>
        <c:axId val="405449200"/>
        <c:scaling>
          <c:orientation val="minMax"/>
        </c:scaling>
        <c:delete val="1"/>
        <c:axPos val="b"/>
        <c:numFmt formatCode="General" sourceLinked="1"/>
        <c:majorTickMark val="out"/>
        <c:minorTickMark val="none"/>
        <c:tickLblPos val="nextTo"/>
        <c:crossAx val="429461056"/>
        <c:crosses val="autoZero"/>
        <c:auto val="1"/>
        <c:lblAlgn val="ctr"/>
        <c:lblOffset val="100"/>
        <c:noMultiLvlLbl val="0"/>
      </c:catAx>
      <c:valAx>
        <c:axId val="429461056"/>
        <c:scaling>
          <c:orientation val="minMax"/>
          <c:min val="6.5"/>
        </c:scaling>
        <c:delete val="1"/>
        <c:axPos val="l"/>
        <c:numFmt formatCode="0.0" sourceLinked="1"/>
        <c:majorTickMark val="out"/>
        <c:minorTickMark val="none"/>
        <c:tickLblPos val="nextTo"/>
        <c:crossAx val="405449200"/>
        <c:crosses val="autoZero"/>
        <c:crossBetween val="between"/>
      </c:valAx>
      <c:spPr>
        <a:noFill/>
        <a:ln>
          <a:noFill/>
        </a:ln>
        <a:effectLst/>
      </c:spPr>
    </c:plotArea>
    <c:legend>
      <c:legendPos val="r"/>
      <c:layout>
        <c:manualLayout>
          <c:xMode val="edge"/>
          <c:yMode val="edge"/>
          <c:x val="5.2709926456045008E-3"/>
          <c:y val="0.39863718230413225"/>
          <c:w val="7.5778184943411667E-2"/>
          <c:h val="9.4969583243542391E-2"/>
        </c:manualLayout>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percentStacked"/>
        <c:varyColors val="0"/>
        <c:ser>
          <c:idx val="0"/>
          <c:order val="0"/>
          <c:tx>
            <c:strRef>
              <c:f>Sheet1!$B$1</c:f>
              <c:strCache>
                <c:ptCount val="1"/>
                <c:pt idx="0">
                  <c:v>新能源基础设施</c:v>
                </c:pt>
              </c:strCache>
            </c:strRef>
          </c:tx>
          <c:spPr>
            <a:solidFill>
              <a:schemeClr val="accent1">
                <a:tint val="100000"/>
                <a:shade val="100000"/>
                <a:hueMod val="100000"/>
                <a:satMod val="100000"/>
              </a:schemeClr>
            </a:solidFill>
            <a:ln>
              <a:noFill/>
            </a:ln>
            <a:effectLst/>
          </c:spPr>
          <c:dLbls>
            <c:dLbl>
              <c:idx val="0"/>
              <c:layout>
                <c:manualLayout>
                  <c:x val="2.7206769844116276E-2"/>
                  <c:y val="6.38137402539585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C4B-4E08-957C-4249D00DF033}"/>
                </c:ext>
              </c:extLst>
            </c:dLbl>
            <c:dLbl>
              <c:idx val="3"/>
              <c:layout>
                <c:manualLayout>
                  <c:x val="-2.9474000664459467E-2"/>
                  <c:y val="-1.27627480507917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C4B-4E08-957C-4249D00DF033}"/>
                </c:ext>
              </c:extLst>
            </c:dLbl>
            <c:spPr>
              <a:solidFill>
                <a:srgbClr val="002060"/>
              </a:solidFill>
              <a:ln>
                <a:noFill/>
              </a:ln>
              <a:effectLst/>
            </c:spPr>
            <c:txPr>
              <a:bodyPr rot="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c:f>
              <c:numCache>
                <c:formatCode>General</c:formatCode>
                <c:ptCount val="4"/>
                <c:pt idx="0">
                  <c:v>2020</c:v>
                </c:pt>
                <c:pt idx="1">
                  <c:v>2025</c:v>
                </c:pt>
                <c:pt idx="2">
                  <c:v>2030</c:v>
                </c:pt>
                <c:pt idx="3">
                  <c:v>2035</c:v>
                </c:pt>
              </c:numCache>
            </c:numRef>
          </c:cat>
          <c:val>
            <c:numRef>
              <c:f>Sheet1!$B$2:$B$5</c:f>
              <c:numCache>
                <c:formatCode>0%</c:formatCode>
                <c:ptCount val="4"/>
                <c:pt idx="0">
                  <c:v>0.01</c:v>
                </c:pt>
                <c:pt idx="1">
                  <c:v>0.01</c:v>
                </c:pt>
                <c:pt idx="2">
                  <c:v>0.02</c:v>
                </c:pt>
                <c:pt idx="3">
                  <c:v>0.02</c:v>
                </c:pt>
              </c:numCache>
            </c:numRef>
          </c:val>
          <c:extLst>
            <c:ext xmlns:c16="http://schemas.microsoft.com/office/drawing/2014/chart" uri="{C3380CC4-5D6E-409C-BE32-E72D297353CC}">
              <c16:uniqueId val="{00000002-7C4B-4E08-957C-4249D00DF033}"/>
            </c:ext>
          </c:extLst>
        </c:ser>
        <c:ser>
          <c:idx val="1"/>
          <c:order val="1"/>
          <c:tx>
            <c:strRef>
              <c:f>Sheet1!$C$1</c:f>
              <c:strCache>
                <c:ptCount val="1"/>
                <c:pt idx="0">
                  <c:v>共享出行服务</c:v>
                </c:pt>
              </c:strCache>
            </c:strRef>
          </c:tx>
          <c:spPr>
            <a:solidFill>
              <a:srgbClr val="235888"/>
            </a:solidFill>
            <a:ln>
              <a:noFill/>
            </a:ln>
            <a:effectLst/>
          </c:spPr>
          <c:dLbls>
            <c:dLbl>
              <c:idx val="0"/>
              <c:layout>
                <c:manualLayout>
                  <c:x val="2.7206769844116276E-2"/>
                  <c:y val="-1.1699050564795298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C4B-4E08-957C-4249D00DF033}"/>
                </c:ext>
              </c:extLst>
            </c:dLbl>
            <c:dLbl>
              <c:idx val="3"/>
              <c:layout>
                <c:manualLayout>
                  <c:x val="-2.9474000664459467E-2"/>
                  <c:y val="9.572061038093788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C4B-4E08-957C-4249D00DF033}"/>
                </c:ext>
              </c:extLst>
            </c:dLbl>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c:f>
              <c:numCache>
                <c:formatCode>General</c:formatCode>
                <c:ptCount val="4"/>
                <c:pt idx="0">
                  <c:v>2020</c:v>
                </c:pt>
                <c:pt idx="1">
                  <c:v>2025</c:v>
                </c:pt>
                <c:pt idx="2">
                  <c:v>2030</c:v>
                </c:pt>
                <c:pt idx="3">
                  <c:v>2035</c:v>
                </c:pt>
              </c:numCache>
            </c:numRef>
          </c:cat>
          <c:val>
            <c:numRef>
              <c:f>Sheet1!$C$2:$C$5</c:f>
              <c:numCache>
                <c:formatCode>0%</c:formatCode>
                <c:ptCount val="4"/>
                <c:pt idx="0">
                  <c:v>2.9999999999999923E-2</c:v>
                </c:pt>
                <c:pt idx="1">
                  <c:v>7.9999999999999974E-2</c:v>
                </c:pt>
                <c:pt idx="2">
                  <c:v>0.15</c:v>
                </c:pt>
                <c:pt idx="3">
                  <c:v>0.33</c:v>
                </c:pt>
              </c:numCache>
            </c:numRef>
          </c:val>
          <c:extLst>
            <c:ext xmlns:c16="http://schemas.microsoft.com/office/drawing/2014/chart" uri="{C3380CC4-5D6E-409C-BE32-E72D297353CC}">
              <c16:uniqueId val="{00000005-7C4B-4E08-957C-4249D00DF033}"/>
            </c:ext>
          </c:extLst>
        </c:ser>
        <c:ser>
          <c:idx val="2"/>
          <c:order val="2"/>
          <c:tx>
            <c:strRef>
              <c:f>Sheet1!$D$1</c:f>
              <c:strCache>
                <c:ptCount val="1"/>
                <c:pt idx="0">
                  <c:v>数据服务</c:v>
                </c:pt>
              </c:strCache>
            </c:strRef>
          </c:tx>
          <c:spPr>
            <a:solidFill>
              <a:schemeClr val="accent3">
                <a:tint val="100000"/>
                <a:shade val="100000"/>
                <a:hueMod val="100000"/>
                <a:satMod val="100000"/>
              </a:schemeClr>
            </a:solidFill>
            <a:ln w="25400">
              <a:noFill/>
            </a:ln>
            <a:effectLst/>
          </c:spPr>
          <c:dLbls>
            <c:dLbl>
              <c:idx val="0"/>
              <c:layout>
                <c:manualLayout>
                  <c:x val="2.7206769844116276E-2"/>
                  <c:y val="-1.27627480507917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C4B-4E08-957C-4249D00DF033}"/>
                </c:ext>
              </c:extLst>
            </c:dLbl>
            <c:dLbl>
              <c:idx val="3"/>
              <c:layout>
                <c:manualLayout>
                  <c:x val="-3.1741231484802325E-2"/>
                  <c:y val="1.595343506348953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C4B-4E08-957C-4249D00DF033}"/>
                </c:ext>
              </c:extLst>
            </c:dLbl>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c:f>
              <c:numCache>
                <c:formatCode>General</c:formatCode>
                <c:ptCount val="4"/>
                <c:pt idx="0">
                  <c:v>2020</c:v>
                </c:pt>
                <c:pt idx="1">
                  <c:v>2025</c:v>
                </c:pt>
                <c:pt idx="2">
                  <c:v>2030</c:v>
                </c:pt>
                <c:pt idx="3">
                  <c:v>2035</c:v>
                </c:pt>
              </c:numCache>
            </c:numRef>
          </c:cat>
          <c:val>
            <c:numRef>
              <c:f>Sheet1!$D$2:$D$5</c:f>
              <c:numCache>
                <c:formatCode>0%</c:formatCode>
                <c:ptCount val="4"/>
                <c:pt idx="0">
                  <c:v>0</c:v>
                </c:pt>
                <c:pt idx="1">
                  <c:v>0</c:v>
                </c:pt>
                <c:pt idx="2">
                  <c:v>0</c:v>
                </c:pt>
                <c:pt idx="3">
                  <c:v>0.01</c:v>
                </c:pt>
              </c:numCache>
            </c:numRef>
          </c:val>
          <c:extLst>
            <c:ext xmlns:c16="http://schemas.microsoft.com/office/drawing/2014/chart" uri="{C3380CC4-5D6E-409C-BE32-E72D297353CC}">
              <c16:uniqueId val="{00000008-7C4B-4E08-957C-4249D00DF033}"/>
            </c:ext>
          </c:extLst>
        </c:ser>
        <c:ser>
          <c:idx val="3"/>
          <c:order val="3"/>
          <c:tx>
            <c:strRef>
              <c:f>Sheet1!$E$1</c:f>
              <c:strCache>
                <c:ptCount val="1"/>
                <c:pt idx="0">
                  <c:v>能源</c:v>
                </c:pt>
              </c:strCache>
            </c:strRef>
          </c:tx>
          <c:spPr>
            <a:solidFill>
              <a:srgbClr val="5D9CD5"/>
            </a:solidFill>
            <a:ln w="25400">
              <a:noFill/>
            </a:ln>
            <a:effectLst/>
          </c:spPr>
          <c:dLbls>
            <c:dLbl>
              <c:idx val="0"/>
              <c:layout>
                <c:manualLayout>
                  <c:x val="3.400846230514535E-2"/>
                  <c:y val="-1.1699050564795298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C4B-4E08-957C-4249D00DF033}"/>
                </c:ext>
              </c:extLst>
            </c:dLbl>
            <c:dLbl>
              <c:idx val="3"/>
              <c:layout>
                <c:manualLayout>
                  <c:x val="-3.1741231484802325E-2"/>
                  <c:y val="6.38137402539585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C4B-4E08-957C-4249D00DF033}"/>
                </c:ext>
              </c:extLst>
            </c:dLbl>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c:f>
              <c:numCache>
                <c:formatCode>General</c:formatCode>
                <c:ptCount val="4"/>
                <c:pt idx="0">
                  <c:v>2020</c:v>
                </c:pt>
                <c:pt idx="1">
                  <c:v>2025</c:v>
                </c:pt>
                <c:pt idx="2">
                  <c:v>2030</c:v>
                </c:pt>
                <c:pt idx="3">
                  <c:v>2035</c:v>
                </c:pt>
              </c:numCache>
            </c:numRef>
          </c:cat>
          <c:val>
            <c:numRef>
              <c:f>Sheet1!$E$2:$E$5</c:f>
              <c:numCache>
                <c:formatCode>0%</c:formatCode>
                <c:ptCount val="4"/>
                <c:pt idx="0">
                  <c:v>0.15</c:v>
                </c:pt>
                <c:pt idx="1">
                  <c:v>0.13</c:v>
                </c:pt>
                <c:pt idx="2">
                  <c:v>0.1</c:v>
                </c:pt>
                <c:pt idx="3">
                  <c:v>0.06</c:v>
                </c:pt>
              </c:numCache>
            </c:numRef>
          </c:val>
          <c:extLst>
            <c:ext xmlns:c16="http://schemas.microsoft.com/office/drawing/2014/chart" uri="{C3380CC4-5D6E-409C-BE32-E72D297353CC}">
              <c16:uniqueId val="{0000000B-7C4B-4E08-957C-4249D00DF033}"/>
            </c:ext>
          </c:extLst>
        </c:ser>
        <c:ser>
          <c:idx val="4"/>
          <c:order val="4"/>
          <c:tx>
            <c:strRef>
              <c:f>Sheet1!$F$1</c:f>
              <c:strCache>
                <c:ptCount val="1"/>
                <c:pt idx="0">
                  <c:v>汽车后市场</c:v>
                </c:pt>
              </c:strCache>
            </c:strRef>
          </c:tx>
          <c:spPr>
            <a:solidFill>
              <a:srgbClr val="ADD6FF"/>
            </a:solidFill>
            <a:ln w="25400">
              <a:noFill/>
            </a:ln>
            <a:effectLst/>
          </c:spPr>
          <c:dLbls>
            <c:dLbl>
              <c:idx val="0"/>
              <c:layout>
                <c:manualLayout>
                  <c:x val="2.94740006644593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C4B-4E08-957C-4249D00DF033}"/>
                </c:ext>
              </c:extLst>
            </c:dLbl>
            <c:dLbl>
              <c:idx val="3"/>
              <c:layout>
                <c:manualLayout>
                  <c:x val="-3.1741231484802325E-2"/>
                  <c:y val="6.381374025395800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C4B-4E08-957C-4249D00DF033}"/>
                </c:ext>
              </c:extLst>
            </c:dLbl>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c:f>
              <c:numCache>
                <c:formatCode>General</c:formatCode>
                <c:ptCount val="4"/>
                <c:pt idx="0">
                  <c:v>2020</c:v>
                </c:pt>
                <c:pt idx="1">
                  <c:v>2025</c:v>
                </c:pt>
                <c:pt idx="2">
                  <c:v>2030</c:v>
                </c:pt>
                <c:pt idx="3">
                  <c:v>2035</c:v>
                </c:pt>
              </c:numCache>
            </c:numRef>
          </c:cat>
          <c:val>
            <c:numRef>
              <c:f>Sheet1!$F$2:$F$5</c:f>
              <c:numCache>
                <c:formatCode>0%</c:formatCode>
                <c:ptCount val="4"/>
                <c:pt idx="0">
                  <c:v>0.06</c:v>
                </c:pt>
                <c:pt idx="1">
                  <c:v>7.0000000000000007E-2</c:v>
                </c:pt>
                <c:pt idx="2">
                  <c:v>0.05</c:v>
                </c:pt>
                <c:pt idx="3">
                  <c:v>0.04</c:v>
                </c:pt>
              </c:numCache>
            </c:numRef>
          </c:val>
          <c:extLst>
            <c:ext xmlns:c16="http://schemas.microsoft.com/office/drawing/2014/chart" uri="{C3380CC4-5D6E-409C-BE32-E72D297353CC}">
              <c16:uniqueId val="{0000000E-7C4B-4E08-957C-4249D00DF033}"/>
            </c:ext>
          </c:extLst>
        </c:ser>
        <c:ser>
          <c:idx val="5"/>
          <c:order val="5"/>
          <c:tx>
            <c:strRef>
              <c:f>Sheet1!$G$1</c:f>
              <c:strCache>
                <c:ptCount val="1"/>
                <c:pt idx="0">
                  <c:v>汽车金融</c:v>
                </c:pt>
              </c:strCache>
            </c:strRef>
          </c:tx>
          <c:spPr>
            <a:solidFill>
              <a:srgbClr val="C9DEF1"/>
            </a:solidFill>
            <a:ln w="25400">
              <a:noFill/>
            </a:ln>
            <a:effectLst/>
          </c:spPr>
          <c:dLbls>
            <c:dLbl>
              <c:idx val="0"/>
              <c:layout>
                <c:manualLayout>
                  <c:x val="3.6275693125488367E-2"/>
                  <c:y val="3.1906870126979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7C4B-4E08-957C-4249D00DF033}"/>
                </c:ext>
              </c:extLst>
            </c:dLbl>
            <c:dLbl>
              <c:idx val="3"/>
              <c:layout>
                <c:manualLayout>
                  <c:x val="-3.6275693125488367E-2"/>
                  <c:y val="6.38137402539585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7C4B-4E08-957C-4249D00DF033}"/>
                </c:ext>
              </c:extLst>
            </c:dLbl>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c:f>
              <c:numCache>
                <c:formatCode>General</c:formatCode>
                <c:ptCount val="4"/>
                <c:pt idx="0">
                  <c:v>2020</c:v>
                </c:pt>
                <c:pt idx="1">
                  <c:v>2025</c:v>
                </c:pt>
                <c:pt idx="2">
                  <c:v>2030</c:v>
                </c:pt>
                <c:pt idx="3">
                  <c:v>2035</c:v>
                </c:pt>
              </c:numCache>
            </c:numRef>
          </c:cat>
          <c:val>
            <c:numRef>
              <c:f>Sheet1!$G$2:$G$5</c:f>
              <c:numCache>
                <c:formatCode>0%</c:formatCode>
                <c:ptCount val="4"/>
                <c:pt idx="0">
                  <c:v>0.2</c:v>
                </c:pt>
                <c:pt idx="1">
                  <c:v>0.19</c:v>
                </c:pt>
                <c:pt idx="2">
                  <c:v>0.18</c:v>
                </c:pt>
                <c:pt idx="3">
                  <c:v>0.15</c:v>
                </c:pt>
              </c:numCache>
            </c:numRef>
          </c:val>
          <c:extLst>
            <c:ext xmlns:c16="http://schemas.microsoft.com/office/drawing/2014/chart" uri="{C3380CC4-5D6E-409C-BE32-E72D297353CC}">
              <c16:uniqueId val="{00000011-7C4B-4E08-957C-4249D00DF033}"/>
            </c:ext>
          </c:extLst>
        </c:ser>
        <c:ser>
          <c:idx val="6"/>
          <c:order val="6"/>
          <c:tx>
            <c:strRef>
              <c:f>Sheet1!$H$1</c:f>
              <c:strCache>
                <c:ptCount val="1"/>
                <c:pt idx="0">
                  <c:v>销售&amp;服务</c:v>
                </c:pt>
              </c:strCache>
            </c:strRef>
          </c:tx>
          <c:spPr>
            <a:solidFill>
              <a:schemeClr val="tx1">
                <a:lumMod val="10000"/>
                <a:lumOff val="90000"/>
              </a:schemeClr>
            </a:solidFill>
            <a:ln w="25400">
              <a:noFill/>
            </a:ln>
            <a:effectLst/>
          </c:spPr>
          <c:dLbls>
            <c:dLbl>
              <c:idx val="0"/>
              <c:layout>
                <c:manualLayout>
                  <c:x val="3.6275693125488367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7C4B-4E08-957C-4249D00DF033}"/>
                </c:ext>
              </c:extLst>
            </c:dLbl>
            <c:dLbl>
              <c:idx val="3"/>
              <c:layout>
                <c:manualLayout>
                  <c:x val="-3.8542923945831559E-2"/>
                  <c:y val="3.1906870126979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7C4B-4E08-957C-4249D00DF033}"/>
                </c:ext>
              </c:extLst>
            </c:dLbl>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c:f>
              <c:numCache>
                <c:formatCode>General</c:formatCode>
                <c:ptCount val="4"/>
                <c:pt idx="0">
                  <c:v>2020</c:v>
                </c:pt>
                <c:pt idx="1">
                  <c:v>2025</c:v>
                </c:pt>
                <c:pt idx="2">
                  <c:v>2030</c:v>
                </c:pt>
                <c:pt idx="3">
                  <c:v>2035</c:v>
                </c:pt>
              </c:numCache>
            </c:numRef>
          </c:cat>
          <c:val>
            <c:numRef>
              <c:f>Sheet1!$H$2:$H$5</c:f>
              <c:numCache>
                <c:formatCode>0%</c:formatCode>
                <c:ptCount val="4"/>
                <c:pt idx="0">
                  <c:v>0.28000000000000003</c:v>
                </c:pt>
                <c:pt idx="1">
                  <c:v>0.25</c:v>
                </c:pt>
                <c:pt idx="2">
                  <c:v>0.23</c:v>
                </c:pt>
                <c:pt idx="3">
                  <c:v>0.17</c:v>
                </c:pt>
              </c:numCache>
            </c:numRef>
          </c:val>
          <c:extLst>
            <c:ext xmlns:c16="http://schemas.microsoft.com/office/drawing/2014/chart" uri="{C3380CC4-5D6E-409C-BE32-E72D297353CC}">
              <c16:uniqueId val="{00000014-7C4B-4E08-957C-4249D00DF033}"/>
            </c:ext>
          </c:extLst>
        </c:ser>
        <c:ser>
          <c:idx val="7"/>
          <c:order val="7"/>
          <c:tx>
            <c:strRef>
              <c:f>Sheet1!$I$1</c:f>
              <c:strCache>
                <c:ptCount val="1"/>
                <c:pt idx="0">
                  <c:v>主机厂</c:v>
                </c:pt>
              </c:strCache>
            </c:strRef>
          </c:tx>
          <c:spPr>
            <a:solidFill>
              <a:srgbClr val="C9DEF1"/>
            </a:solidFill>
            <a:ln w="25400">
              <a:noFill/>
            </a:ln>
            <a:effectLst/>
          </c:spPr>
          <c:dLbls>
            <c:dLbl>
              <c:idx val="0"/>
              <c:layout>
                <c:manualLayout>
                  <c:x val="3.400846230514535E-2"/>
                  <c:y val="3.1906870126979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7C4B-4E08-957C-4249D00DF033}"/>
                </c:ext>
              </c:extLst>
            </c:dLbl>
            <c:dLbl>
              <c:idx val="3"/>
              <c:layout>
                <c:manualLayout>
                  <c:x val="-3.6275693125488367E-2"/>
                  <c:y val="1.27627480507916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7C4B-4E08-957C-4249D00DF033}"/>
                </c:ext>
              </c:extLst>
            </c:dLbl>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c:f>
              <c:numCache>
                <c:formatCode>General</c:formatCode>
                <c:ptCount val="4"/>
                <c:pt idx="0">
                  <c:v>2020</c:v>
                </c:pt>
                <c:pt idx="1">
                  <c:v>2025</c:v>
                </c:pt>
                <c:pt idx="2">
                  <c:v>2030</c:v>
                </c:pt>
                <c:pt idx="3">
                  <c:v>2035</c:v>
                </c:pt>
              </c:numCache>
            </c:numRef>
          </c:cat>
          <c:val>
            <c:numRef>
              <c:f>Sheet1!$I$2:$I$5</c:f>
              <c:numCache>
                <c:formatCode>0%</c:formatCode>
                <c:ptCount val="4"/>
                <c:pt idx="0">
                  <c:v>0.17</c:v>
                </c:pt>
                <c:pt idx="1">
                  <c:v>0.17</c:v>
                </c:pt>
                <c:pt idx="2">
                  <c:v>0.17</c:v>
                </c:pt>
                <c:pt idx="3">
                  <c:v>0.13</c:v>
                </c:pt>
              </c:numCache>
            </c:numRef>
          </c:val>
          <c:extLst>
            <c:ext xmlns:c16="http://schemas.microsoft.com/office/drawing/2014/chart" uri="{C3380CC4-5D6E-409C-BE32-E72D297353CC}">
              <c16:uniqueId val="{00000017-7C4B-4E08-957C-4249D00DF033}"/>
            </c:ext>
          </c:extLst>
        </c:ser>
        <c:ser>
          <c:idx val="8"/>
          <c:order val="8"/>
          <c:tx>
            <c:strRef>
              <c:f>Sheet1!$J$1</c:f>
              <c:strCache>
                <c:ptCount val="1"/>
                <c:pt idx="0">
                  <c:v>零部件开发&amp;制造</c:v>
                </c:pt>
              </c:strCache>
            </c:strRef>
          </c:tx>
          <c:spPr>
            <a:solidFill>
              <a:schemeClr val="accent5">
                <a:lumMod val="20000"/>
                <a:lumOff val="80000"/>
              </a:schemeClr>
            </a:solidFill>
            <a:ln w="25400">
              <a:noFill/>
            </a:ln>
            <a:effectLst/>
          </c:spPr>
          <c:dLbls>
            <c:dLbl>
              <c:idx val="0"/>
              <c:layout>
                <c:manualLayout>
                  <c:x val="3.400846230514535E-2"/>
                  <c:y val="-7.3119066029970612E-1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7C4B-4E08-957C-4249D00DF033}"/>
                </c:ext>
              </c:extLst>
            </c:dLbl>
            <c:dLbl>
              <c:idx val="3"/>
              <c:layout>
                <c:manualLayout>
                  <c:x val="-2.9474000664459467E-2"/>
                  <c:y val="-6.38137402539585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7C4B-4E08-957C-4249D00DF033}"/>
                </c:ext>
              </c:extLst>
            </c:dLbl>
            <c:spPr>
              <a:noFill/>
              <a:ln>
                <a:noFill/>
              </a:ln>
              <a:effectLst/>
            </c:spPr>
            <c:txPr>
              <a:bodyPr rot="0" spcFirstLastPara="1" vertOverflow="ellipsis" vert="horz" wrap="square" anchor="ctr" anchorCtr="1"/>
              <a:lstStyle/>
              <a:p>
                <a:pPr>
                  <a:defRPr sz="1197"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c:f>
              <c:numCache>
                <c:formatCode>General</c:formatCode>
                <c:ptCount val="4"/>
                <c:pt idx="0">
                  <c:v>2020</c:v>
                </c:pt>
                <c:pt idx="1">
                  <c:v>2025</c:v>
                </c:pt>
                <c:pt idx="2">
                  <c:v>2030</c:v>
                </c:pt>
                <c:pt idx="3">
                  <c:v>2035</c:v>
                </c:pt>
              </c:numCache>
            </c:numRef>
          </c:cat>
          <c:val>
            <c:numRef>
              <c:f>Sheet1!$J$2:$J$5</c:f>
              <c:numCache>
                <c:formatCode>0%</c:formatCode>
                <c:ptCount val="4"/>
                <c:pt idx="0">
                  <c:v>0.1</c:v>
                </c:pt>
                <c:pt idx="1">
                  <c:v>0.1</c:v>
                </c:pt>
                <c:pt idx="2">
                  <c:v>0.1</c:v>
                </c:pt>
                <c:pt idx="3">
                  <c:v>0.08</c:v>
                </c:pt>
              </c:numCache>
            </c:numRef>
          </c:val>
          <c:extLst>
            <c:ext xmlns:c16="http://schemas.microsoft.com/office/drawing/2014/chart" uri="{C3380CC4-5D6E-409C-BE32-E72D297353CC}">
              <c16:uniqueId val="{0000001A-7C4B-4E08-957C-4249D00DF033}"/>
            </c:ext>
          </c:extLst>
        </c:ser>
        <c:dLbls>
          <c:showLegendKey val="0"/>
          <c:showVal val="1"/>
          <c:showCatName val="0"/>
          <c:showSerName val="0"/>
          <c:showPercent val="0"/>
          <c:showBubbleSize val="0"/>
        </c:dLbls>
        <c:axId val="1830158655"/>
        <c:axId val="782159664"/>
      </c:areaChart>
      <c:catAx>
        <c:axId val="183015865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ea"/>
                <a:ea typeface="+mn-ea"/>
                <a:cs typeface="+mn-cs"/>
              </a:defRPr>
            </a:pPr>
            <a:endParaRPr lang="zh-CN"/>
          </a:p>
        </c:txPr>
        <c:crossAx val="782159664"/>
        <c:crosses val="autoZero"/>
        <c:auto val="1"/>
        <c:lblAlgn val="ctr"/>
        <c:lblOffset val="100"/>
        <c:noMultiLvlLbl val="0"/>
      </c:catAx>
      <c:valAx>
        <c:axId val="782159664"/>
        <c:scaling>
          <c:orientation val="minMax"/>
        </c:scaling>
        <c:delete val="1"/>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830158655"/>
        <c:crosses val="autoZero"/>
        <c:crossBetween val="midCat"/>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ea"/>
          <a:ea typeface="+mn-ea"/>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23DB4F-2214-4BB4-8F15-7D0304FBC1B9}"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zh-CN" altLang="en-US"/>
        </a:p>
      </dgm:t>
    </dgm:pt>
    <dgm:pt modelId="{1BF76F04-9E7D-4711-B9FC-4A163D89D596}">
      <dgm:prSet phldrT="[文本]" custT="1"/>
      <dgm:spPr>
        <a:solidFill>
          <a:schemeClr val="bg1">
            <a:lumMod val="85000"/>
          </a:schemeClr>
        </a:solidFill>
      </dgm:spPr>
      <dgm:t>
        <a:bodyPr/>
        <a:lstStyle/>
        <a:p>
          <a:r>
            <a:rPr lang="zh-CN" altLang="en-US" sz="1000" b="1" dirty="0">
              <a:solidFill>
                <a:schemeClr val="tx1"/>
              </a:solidFill>
              <a:latin typeface="微软雅黑" panose="020B0503020204020204" pitchFamily="34" charset="-122"/>
              <a:ea typeface="微软雅黑" panose="020B0503020204020204" pitchFamily="34" charset="-122"/>
            </a:rPr>
            <a:t>   </a:t>
          </a:r>
          <a:r>
            <a:rPr lang="zh-CN" altLang="en-US" sz="900" b="1" dirty="0">
              <a:solidFill>
                <a:schemeClr val="tx1"/>
              </a:solidFill>
              <a:latin typeface="微软雅黑" panose="020B0503020204020204" pitchFamily="34" charset="-122"/>
              <a:ea typeface="微软雅黑" panose="020B0503020204020204" pitchFamily="34" charset="-122"/>
            </a:rPr>
            <a:t>人性直观</a:t>
          </a:r>
          <a:endParaRPr lang="en-US" altLang="zh-CN" sz="1000" b="1" dirty="0">
            <a:solidFill>
              <a:schemeClr val="tx1"/>
            </a:solidFill>
            <a:latin typeface="微软雅黑" panose="020B0503020204020204" pitchFamily="34" charset="-122"/>
            <a:ea typeface="微软雅黑" panose="020B0503020204020204" pitchFamily="34" charset="-122"/>
          </a:endParaRPr>
        </a:p>
        <a:p>
          <a:r>
            <a:rPr lang="zh-CN" altLang="en-US" sz="900" dirty="0">
              <a:solidFill>
                <a:schemeClr val="tx1"/>
              </a:solidFill>
              <a:latin typeface="微软雅黑" panose="020B0503020204020204" pitchFamily="34" charset="-122"/>
              <a:ea typeface="微软雅黑" panose="020B0503020204020204" pitchFamily="34" charset="-122"/>
            </a:rPr>
            <a:t>实用、直观，以人为本的品质服务</a:t>
          </a:r>
        </a:p>
      </dgm:t>
    </dgm:pt>
    <dgm:pt modelId="{8A66F10D-5A10-46C1-AE6B-FD16896D9F5A}" type="parTrans" cxnId="{9352B061-1D45-400A-8D84-E03DE1D7DC05}">
      <dgm:prSet/>
      <dgm:spPr/>
      <dgm:t>
        <a:bodyPr/>
        <a:lstStyle/>
        <a:p>
          <a:endParaRPr lang="zh-CN" altLang="en-US">
            <a:solidFill>
              <a:schemeClr val="tx1"/>
            </a:solidFill>
          </a:endParaRPr>
        </a:p>
      </dgm:t>
    </dgm:pt>
    <dgm:pt modelId="{B84BC635-CF3E-4BBD-97DA-D67509F93C62}" type="sibTrans" cxnId="{9352B061-1D45-400A-8D84-E03DE1D7DC05}">
      <dgm:prSet/>
      <dgm:spPr/>
      <dgm:t>
        <a:bodyPr/>
        <a:lstStyle/>
        <a:p>
          <a:endParaRPr lang="zh-CN" altLang="en-US">
            <a:solidFill>
              <a:schemeClr val="tx1"/>
            </a:solidFill>
          </a:endParaRPr>
        </a:p>
      </dgm:t>
    </dgm:pt>
    <dgm:pt modelId="{54EC9B13-D21E-4A60-B46F-D7D1ED053086}">
      <dgm:prSet phldrT="[文本]"/>
      <dgm:spPr>
        <a:solidFill>
          <a:schemeClr val="bg1">
            <a:lumMod val="85000"/>
          </a:schemeClr>
        </a:solidFill>
      </dgm:spPr>
      <dgm:t>
        <a:bodyPr/>
        <a:lstStyle/>
        <a:p>
          <a:r>
            <a:rPr lang="zh-CN" altLang="en-US" b="1" dirty="0">
              <a:solidFill>
                <a:schemeClr val="tx1"/>
              </a:solidFill>
              <a:latin typeface="微软雅黑" panose="020B0503020204020204" pitchFamily="34" charset="-122"/>
              <a:ea typeface="微软雅黑" panose="020B0503020204020204" pitchFamily="34" charset="-122"/>
            </a:rPr>
            <a:t>  合众互联</a:t>
          </a:r>
          <a:endParaRPr lang="en-US" altLang="zh-CN" b="1" dirty="0">
            <a:solidFill>
              <a:schemeClr val="tx1"/>
            </a:solidFill>
            <a:latin typeface="微软雅黑" panose="020B0503020204020204" pitchFamily="34" charset="-122"/>
            <a:ea typeface="微软雅黑" panose="020B0503020204020204" pitchFamily="34" charset="-122"/>
          </a:endParaRPr>
        </a:p>
        <a:p>
          <a:r>
            <a:rPr lang="zh-CN" altLang="en-US" dirty="0">
              <a:solidFill>
                <a:schemeClr val="tx1"/>
              </a:solidFill>
              <a:latin typeface="微软雅黑" panose="020B0503020204020204" pitchFamily="34" charset="-122"/>
              <a:ea typeface="微软雅黑" panose="020B0503020204020204" pitchFamily="34" charset="-122"/>
            </a:rPr>
            <a:t>智能出行互联方案，连接人与人、人与服务</a:t>
          </a:r>
          <a:endParaRPr lang="en-US" altLang="zh-CN" dirty="0">
            <a:solidFill>
              <a:schemeClr val="tx1"/>
            </a:solidFill>
            <a:latin typeface="微软雅黑" panose="020B0503020204020204" pitchFamily="34" charset="-122"/>
            <a:ea typeface="微软雅黑" panose="020B0503020204020204" pitchFamily="34" charset="-122"/>
          </a:endParaRPr>
        </a:p>
      </dgm:t>
    </dgm:pt>
    <dgm:pt modelId="{E618A795-0DE8-4D27-8CC7-91BB6E528C82}" type="parTrans" cxnId="{DD42CE89-3F2A-4D81-B06D-A41422153AE9}">
      <dgm:prSet/>
      <dgm:spPr/>
      <dgm:t>
        <a:bodyPr/>
        <a:lstStyle/>
        <a:p>
          <a:endParaRPr lang="zh-CN" altLang="en-US">
            <a:solidFill>
              <a:schemeClr val="tx1"/>
            </a:solidFill>
          </a:endParaRPr>
        </a:p>
      </dgm:t>
    </dgm:pt>
    <dgm:pt modelId="{AB56BCAB-DA44-4337-B75F-995688F38459}" type="sibTrans" cxnId="{DD42CE89-3F2A-4D81-B06D-A41422153AE9}">
      <dgm:prSet/>
      <dgm:spPr/>
      <dgm:t>
        <a:bodyPr/>
        <a:lstStyle/>
        <a:p>
          <a:endParaRPr lang="zh-CN" altLang="en-US">
            <a:solidFill>
              <a:schemeClr val="tx1"/>
            </a:solidFill>
          </a:endParaRPr>
        </a:p>
      </dgm:t>
    </dgm:pt>
    <dgm:pt modelId="{83E28C92-042C-4729-BD3B-E200B28E6683}">
      <dgm:prSet phldrT="[文本]"/>
      <dgm:spPr>
        <a:solidFill>
          <a:schemeClr val="bg1">
            <a:lumMod val="85000"/>
          </a:schemeClr>
        </a:solidFill>
      </dgm:spPr>
      <dgm:t>
        <a:bodyPr/>
        <a:lstStyle/>
        <a:p>
          <a:r>
            <a:rPr lang="zh-CN" altLang="en-US" b="1" dirty="0">
              <a:solidFill>
                <a:schemeClr val="tx1"/>
              </a:solidFill>
              <a:latin typeface="微软雅黑" panose="020B0503020204020204" pitchFamily="34" charset="-122"/>
              <a:ea typeface="微软雅黑" panose="020B0503020204020204" pitchFamily="34" charset="-122"/>
            </a:rPr>
            <a:t>净效科技</a:t>
          </a:r>
          <a:endParaRPr lang="en-US" altLang="zh-CN" b="1" dirty="0">
            <a:solidFill>
              <a:schemeClr val="tx1"/>
            </a:solidFill>
            <a:latin typeface="微软雅黑" panose="020B0503020204020204" pitchFamily="34" charset="-122"/>
            <a:ea typeface="微软雅黑" panose="020B0503020204020204" pitchFamily="34" charset="-122"/>
          </a:endParaRPr>
        </a:p>
        <a:p>
          <a:r>
            <a:rPr lang="zh-CN" altLang="en-US" dirty="0">
              <a:solidFill>
                <a:schemeClr val="tx1"/>
              </a:solidFill>
              <a:latin typeface="微软雅黑" panose="020B0503020204020204" pitchFamily="34" charset="-122"/>
              <a:ea typeface="微软雅黑" panose="020B0503020204020204" pitchFamily="34" charset="-122"/>
            </a:rPr>
            <a:t>运营</a:t>
          </a:r>
          <a:r>
            <a:rPr lang="en-US" altLang="zh-CN" dirty="0">
              <a:solidFill>
                <a:schemeClr val="tx1"/>
              </a:solidFill>
              <a:latin typeface="微软雅黑" panose="020B0503020204020204" pitchFamily="34" charset="-122"/>
              <a:ea typeface="微软雅黑" panose="020B0503020204020204" pitchFamily="34" charset="-122"/>
            </a:rPr>
            <a:t>IT</a:t>
          </a:r>
          <a:r>
            <a:rPr lang="zh-CN" altLang="en-US" dirty="0">
              <a:solidFill>
                <a:schemeClr val="tx1"/>
              </a:solidFill>
              <a:latin typeface="微软雅黑" panose="020B0503020204020204" pitchFamily="34" charset="-122"/>
              <a:ea typeface="微软雅黑" panose="020B0503020204020204" pitchFamily="34" charset="-122"/>
            </a:rPr>
            <a:t>等技术手段高效解决问题</a:t>
          </a:r>
        </a:p>
      </dgm:t>
    </dgm:pt>
    <dgm:pt modelId="{799D7710-0E39-43F5-A74E-E33C3CD781AF}" type="parTrans" cxnId="{01F938F3-C7C1-4092-9789-BAE58B812A8F}">
      <dgm:prSet/>
      <dgm:spPr/>
      <dgm:t>
        <a:bodyPr/>
        <a:lstStyle/>
        <a:p>
          <a:endParaRPr lang="zh-CN" altLang="en-US">
            <a:solidFill>
              <a:schemeClr val="tx1"/>
            </a:solidFill>
          </a:endParaRPr>
        </a:p>
      </dgm:t>
    </dgm:pt>
    <dgm:pt modelId="{D72C6445-A12A-4ACF-B16C-0E4D24C546E4}" type="sibTrans" cxnId="{01F938F3-C7C1-4092-9789-BAE58B812A8F}">
      <dgm:prSet/>
      <dgm:spPr/>
      <dgm:t>
        <a:bodyPr/>
        <a:lstStyle/>
        <a:p>
          <a:endParaRPr lang="zh-CN" altLang="en-US">
            <a:solidFill>
              <a:schemeClr val="tx1"/>
            </a:solidFill>
          </a:endParaRPr>
        </a:p>
      </dgm:t>
    </dgm:pt>
    <dgm:pt modelId="{C1C9A09A-8DC9-4669-9B17-C108E6A9BEFD}">
      <dgm:prSet phldrT="[文本]"/>
      <dgm:spPr>
        <a:solidFill>
          <a:schemeClr val="bg1">
            <a:lumMod val="85000"/>
          </a:schemeClr>
        </a:solidFill>
      </dgm:spPr>
      <dgm:t>
        <a:bodyPr/>
        <a:lstStyle/>
        <a:p>
          <a:r>
            <a:rPr lang="zh-CN" altLang="en-US" b="1" dirty="0">
              <a:solidFill>
                <a:schemeClr val="tx1"/>
              </a:solidFill>
              <a:latin typeface="微软雅黑" panose="020B0503020204020204" pitchFamily="34" charset="-122"/>
              <a:ea typeface="微软雅黑" panose="020B0503020204020204" pitchFamily="34" charset="-122"/>
            </a:rPr>
            <a:t>智能驾驶</a:t>
          </a:r>
          <a:endParaRPr lang="en-US" altLang="zh-CN" b="1" dirty="0">
            <a:solidFill>
              <a:schemeClr val="tx1"/>
            </a:solidFill>
            <a:latin typeface="微软雅黑" panose="020B0503020204020204" pitchFamily="34" charset="-122"/>
            <a:ea typeface="微软雅黑" panose="020B0503020204020204" pitchFamily="34" charset="-122"/>
          </a:endParaRPr>
        </a:p>
        <a:p>
          <a:r>
            <a:rPr lang="zh-CN" altLang="en-US" dirty="0">
              <a:solidFill>
                <a:schemeClr val="tx1"/>
              </a:solidFill>
              <a:latin typeface="微软雅黑" panose="020B0503020204020204" pitchFamily="34" charset="-122"/>
              <a:ea typeface="微软雅黑" panose="020B0503020204020204" pitchFamily="34" charset="-122"/>
            </a:rPr>
            <a:t>自动化、趣味驾驶，驾车新体验</a:t>
          </a:r>
        </a:p>
      </dgm:t>
    </dgm:pt>
    <dgm:pt modelId="{6A5F98B9-1581-458B-A12F-7E0EB5B59AB1}" type="parTrans" cxnId="{1C8523FC-596B-4E2C-8D04-333EBE0F26BD}">
      <dgm:prSet/>
      <dgm:spPr/>
      <dgm:t>
        <a:bodyPr/>
        <a:lstStyle/>
        <a:p>
          <a:endParaRPr lang="zh-CN" altLang="en-US">
            <a:solidFill>
              <a:schemeClr val="tx1"/>
            </a:solidFill>
          </a:endParaRPr>
        </a:p>
      </dgm:t>
    </dgm:pt>
    <dgm:pt modelId="{020E4AB4-84D9-4DEF-8C18-8A774A9D9CF2}" type="sibTrans" cxnId="{1C8523FC-596B-4E2C-8D04-333EBE0F26BD}">
      <dgm:prSet/>
      <dgm:spPr/>
      <dgm:t>
        <a:bodyPr/>
        <a:lstStyle/>
        <a:p>
          <a:endParaRPr lang="zh-CN" altLang="en-US">
            <a:solidFill>
              <a:schemeClr val="tx1"/>
            </a:solidFill>
          </a:endParaRPr>
        </a:p>
      </dgm:t>
    </dgm:pt>
    <dgm:pt modelId="{D4AF4A20-8ADA-4442-9737-7EEAFCAC2027}">
      <dgm:prSet phldrT="[文本]"/>
      <dgm:spPr>
        <a:solidFill>
          <a:srgbClr val="003366"/>
        </a:solidFill>
      </dgm:spPr>
      <dgm:t>
        <a:bodyPr/>
        <a:lstStyle/>
        <a:p>
          <a:r>
            <a:rPr lang="en-US" altLang="zh-CN" b="1" dirty="0">
              <a:solidFill>
                <a:schemeClr val="tx1"/>
              </a:solidFill>
              <a:latin typeface="微软雅黑" panose="020B0503020204020204" pitchFamily="34" charset="-122"/>
              <a:ea typeface="微软雅黑" panose="020B0503020204020204" pitchFamily="34" charset="-122"/>
            </a:rPr>
            <a:t> </a:t>
          </a:r>
          <a:r>
            <a:rPr lang="zh-CN" altLang="en-US" b="1" dirty="0">
              <a:solidFill>
                <a:schemeClr val="bg1"/>
              </a:solidFill>
              <a:latin typeface="微软雅黑" panose="020B0503020204020204" pitchFamily="34" charset="-122"/>
              <a:ea typeface="微软雅黑" panose="020B0503020204020204" pitchFamily="34" charset="-122"/>
            </a:rPr>
            <a:t>服务理念</a:t>
          </a:r>
        </a:p>
      </dgm:t>
    </dgm:pt>
    <dgm:pt modelId="{9CD9A63A-CB0B-4932-8B5B-B70F27CD9F56}" type="sibTrans" cxnId="{31EC4B95-956D-419C-B03F-D6C3562B3A3E}">
      <dgm:prSet/>
      <dgm:spPr/>
      <dgm:t>
        <a:bodyPr/>
        <a:lstStyle/>
        <a:p>
          <a:endParaRPr lang="zh-CN" altLang="en-US">
            <a:solidFill>
              <a:schemeClr val="tx1"/>
            </a:solidFill>
          </a:endParaRPr>
        </a:p>
      </dgm:t>
    </dgm:pt>
    <dgm:pt modelId="{95647EE7-2AA9-422F-BE5C-5B99FB006403}" type="parTrans" cxnId="{31EC4B95-956D-419C-B03F-D6C3562B3A3E}">
      <dgm:prSet/>
      <dgm:spPr/>
      <dgm:t>
        <a:bodyPr/>
        <a:lstStyle/>
        <a:p>
          <a:endParaRPr lang="zh-CN" altLang="en-US">
            <a:solidFill>
              <a:schemeClr val="tx1"/>
            </a:solidFill>
          </a:endParaRPr>
        </a:p>
      </dgm:t>
    </dgm:pt>
    <dgm:pt modelId="{CF8664B6-39B0-4A59-9755-3910738EA68D}" type="pres">
      <dgm:prSet presAssocID="{7923DB4F-2214-4BB4-8F15-7D0304FBC1B9}" presName="diagram" presStyleCnt="0">
        <dgm:presLayoutVars>
          <dgm:chMax val="1"/>
          <dgm:dir/>
          <dgm:animLvl val="ctr"/>
          <dgm:resizeHandles val="exact"/>
        </dgm:presLayoutVars>
      </dgm:prSet>
      <dgm:spPr/>
    </dgm:pt>
    <dgm:pt modelId="{B0DBBAEA-172C-4642-A431-70AFA0431CC0}" type="pres">
      <dgm:prSet presAssocID="{7923DB4F-2214-4BB4-8F15-7D0304FBC1B9}" presName="matrix" presStyleCnt="0"/>
      <dgm:spPr/>
    </dgm:pt>
    <dgm:pt modelId="{013225AC-AFC8-42D4-A498-1540E8D92E3B}" type="pres">
      <dgm:prSet presAssocID="{7923DB4F-2214-4BB4-8F15-7D0304FBC1B9}" presName="tile1" presStyleLbl="node1" presStyleIdx="0" presStyleCnt="4"/>
      <dgm:spPr/>
    </dgm:pt>
    <dgm:pt modelId="{A8F973CC-8C41-4BA5-8013-B6B83C052E83}" type="pres">
      <dgm:prSet presAssocID="{7923DB4F-2214-4BB4-8F15-7D0304FBC1B9}" presName="tile1text" presStyleLbl="node1" presStyleIdx="0" presStyleCnt="4">
        <dgm:presLayoutVars>
          <dgm:chMax val="0"/>
          <dgm:chPref val="0"/>
          <dgm:bulletEnabled val="1"/>
        </dgm:presLayoutVars>
      </dgm:prSet>
      <dgm:spPr/>
    </dgm:pt>
    <dgm:pt modelId="{5205994F-D4A2-45CF-A959-8E571D3D6D26}" type="pres">
      <dgm:prSet presAssocID="{7923DB4F-2214-4BB4-8F15-7D0304FBC1B9}" presName="tile2" presStyleLbl="node1" presStyleIdx="1" presStyleCnt="4"/>
      <dgm:spPr/>
    </dgm:pt>
    <dgm:pt modelId="{95811BDF-4F85-403D-9861-8635AC6485D4}" type="pres">
      <dgm:prSet presAssocID="{7923DB4F-2214-4BB4-8F15-7D0304FBC1B9}" presName="tile2text" presStyleLbl="node1" presStyleIdx="1" presStyleCnt="4">
        <dgm:presLayoutVars>
          <dgm:chMax val="0"/>
          <dgm:chPref val="0"/>
          <dgm:bulletEnabled val="1"/>
        </dgm:presLayoutVars>
      </dgm:prSet>
      <dgm:spPr/>
    </dgm:pt>
    <dgm:pt modelId="{CCCA1FD4-43DF-4045-807B-E2E6DEF87A93}" type="pres">
      <dgm:prSet presAssocID="{7923DB4F-2214-4BB4-8F15-7D0304FBC1B9}" presName="tile3" presStyleLbl="node1" presStyleIdx="2" presStyleCnt="4"/>
      <dgm:spPr/>
    </dgm:pt>
    <dgm:pt modelId="{B57D0F61-DFF9-4D53-BB20-EA0AF47AD13B}" type="pres">
      <dgm:prSet presAssocID="{7923DB4F-2214-4BB4-8F15-7D0304FBC1B9}" presName="tile3text" presStyleLbl="node1" presStyleIdx="2" presStyleCnt="4">
        <dgm:presLayoutVars>
          <dgm:chMax val="0"/>
          <dgm:chPref val="0"/>
          <dgm:bulletEnabled val="1"/>
        </dgm:presLayoutVars>
      </dgm:prSet>
      <dgm:spPr/>
    </dgm:pt>
    <dgm:pt modelId="{7F6CBD08-DB24-40CA-9260-9144BBF1424D}" type="pres">
      <dgm:prSet presAssocID="{7923DB4F-2214-4BB4-8F15-7D0304FBC1B9}" presName="tile4" presStyleLbl="node1" presStyleIdx="3" presStyleCnt="4"/>
      <dgm:spPr/>
    </dgm:pt>
    <dgm:pt modelId="{DD59B8CD-3DF1-441E-AB6F-7FD6D799FEC5}" type="pres">
      <dgm:prSet presAssocID="{7923DB4F-2214-4BB4-8F15-7D0304FBC1B9}" presName="tile4text" presStyleLbl="node1" presStyleIdx="3" presStyleCnt="4">
        <dgm:presLayoutVars>
          <dgm:chMax val="0"/>
          <dgm:chPref val="0"/>
          <dgm:bulletEnabled val="1"/>
        </dgm:presLayoutVars>
      </dgm:prSet>
      <dgm:spPr/>
    </dgm:pt>
    <dgm:pt modelId="{B35202BA-FB91-486B-A25C-B4A9F8809758}" type="pres">
      <dgm:prSet presAssocID="{7923DB4F-2214-4BB4-8F15-7D0304FBC1B9}" presName="centerTile" presStyleLbl="fgShp" presStyleIdx="0" presStyleCnt="1" custFlipVert="0" custScaleY="66918">
        <dgm:presLayoutVars>
          <dgm:chMax val="0"/>
          <dgm:chPref val="0"/>
        </dgm:presLayoutVars>
      </dgm:prSet>
      <dgm:spPr/>
    </dgm:pt>
  </dgm:ptLst>
  <dgm:cxnLst>
    <dgm:cxn modelId="{A3AC7103-BA75-49FA-AE9C-2B5D18F877DC}" type="presOf" srcId="{83E28C92-042C-4729-BD3B-E200B28E6683}" destId="{B57D0F61-DFF9-4D53-BB20-EA0AF47AD13B}" srcOrd="1" destOrd="0" presId="urn:microsoft.com/office/officeart/2005/8/layout/matrix1"/>
    <dgm:cxn modelId="{2877140B-129F-439F-9F9D-01DD76061E58}" type="presOf" srcId="{C1C9A09A-8DC9-4669-9B17-C108E6A9BEFD}" destId="{DD59B8CD-3DF1-441E-AB6F-7FD6D799FEC5}" srcOrd="1" destOrd="0" presId="urn:microsoft.com/office/officeart/2005/8/layout/matrix1"/>
    <dgm:cxn modelId="{9352B061-1D45-400A-8D84-E03DE1D7DC05}" srcId="{D4AF4A20-8ADA-4442-9737-7EEAFCAC2027}" destId="{1BF76F04-9E7D-4711-B9FC-4A163D89D596}" srcOrd="0" destOrd="0" parTransId="{8A66F10D-5A10-46C1-AE6B-FD16896D9F5A}" sibTransId="{B84BC635-CF3E-4BBD-97DA-D67509F93C62}"/>
    <dgm:cxn modelId="{48667946-3E96-4501-91BD-F980EE04B781}" type="presOf" srcId="{1BF76F04-9E7D-4711-B9FC-4A163D89D596}" destId="{A8F973CC-8C41-4BA5-8013-B6B83C052E83}" srcOrd="1" destOrd="0" presId="urn:microsoft.com/office/officeart/2005/8/layout/matrix1"/>
    <dgm:cxn modelId="{D04CF86A-1C4C-460B-95C8-E77F8A727EAD}" type="presOf" srcId="{54EC9B13-D21E-4A60-B46F-D7D1ED053086}" destId="{95811BDF-4F85-403D-9861-8635AC6485D4}" srcOrd="1" destOrd="0" presId="urn:microsoft.com/office/officeart/2005/8/layout/matrix1"/>
    <dgm:cxn modelId="{304BFC82-36BE-49A3-8774-F5E42F8C7AB0}" type="presOf" srcId="{54EC9B13-D21E-4A60-B46F-D7D1ED053086}" destId="{5205994F-D4A2-45CF-A959-8E571D3D6D26}" srcOrd="0" destOrd="0" presId="urn:microsoft.com/office/officeart/2005/8/layout/matrix1"/>
    <dgm:cxn modelId="{10801589-520D-4D69-9FE4-DC84DFB866F1}" type="presOf" srcId="{7923DB4F-2214-4BB4-8F15-7D0304FBC1B9}" destId="{CF8664B6-39B0-4A59-9755-3910738EA68D}" srcOrd="0" destOrd="0" presId="urn:microsoft.com/office/officeart/2005/8/layout/matrix1"/>
    <dgm:cxn modelId="{DD42CE89-3F2A-4D81-B06D-A41422153AE9}" srcId="{D4AF4A20-8ADA-4442-9737-7EEAFCAC2027}" destId="{54EC9B13-D21E-4A60-B46F-D7D1ED053086}" srcOrd="1" destOrd="0" parTransId="{E618A795-0DE8-4D27-8CC7-91BB6E528C82}" sibTransId="{AB56BCAB-DA44-4337-B75F-995688F38459}"/>
    <dgm:cxn modelId="{31EC4B95-956D-419C-B03F-D6C3562B3A3E}" srcId="{7923DB4F-2214-4BB4-8F15-7D0304FBC1B9}" destId="{D4AF4A20-8ADA-4442-9737-7EEAFCAC2027}" srcOrd="0" destOrd="0" parTransId="{95647EE7-2AA9-422F-BE5C-5B99FB006403}" sibTransId="{9CD9A63A-CB0B-4932-8B5B-B70F27CD9F56}"/>
    <dgm:cxn modelId="{2F098FCE-2276-4A80-8858-0C5EA44EA6B2}" type="presOf" srcId="{C1C9A09A-8DC9-4669-9B17-C108E6A9BEFD}" destId="{7F6CBD08-DB24-40CA-9260-9144BBF1424D}" srcOrd="0" destOrd="0" presId="urn:microsoft.com/office/officeart/2005/8/layout/matrix1"/>
    <dgm:cxn modelId="{3969F2D4-DAAA-4E3D-8F38-876E2E02960C}" type="presOf" srcId="{83E28C92-042C-4729-BD3B-E200B28E6683}" destId="{CCCA1FD4-43DF-4045-807B-E2E6DEF87A93}" srcOrd="0" destOrd="0" presId="urn:microsoft.com/office/officeart/2005/8/layout/matrix1"/>
    <dgm:cxn modelId="{01F938F3-C7C1-4092-9789-BAE58B812A8F}" srcId="{D4AF4A20-8ADA-4442-9737-7EEAFCAC2027}" destId="{83E28C92-042C-4729-BD3B-E200B28E6683}" srcOrd="2" destOrd="0" parTransId="{799D7710-0E39-43F5-A74E-E33C3CD781AF}" sibTransId="{D72C6445-A12A-4ACF-B16C-0E4D24C546E4}"/>
    <dgm:cxn modelId="{D705DAF5-137E-4988-9733-1E47723C39C1}" type="presOf" srcId="{1BF76F04-9E7D-4711-B9FC-4A163D89D596}" destId="{013225AC-AFC8-42D4-A498-1540E8D92E3B}" srcOrd="0" destOrd="0" presId="urn:microsoft.com/office/officeart/2005/8/layout/matrix1"/>
    <dgm:cxn modelId="{A32F5AF6-4F98-4D00-AD92-A600C2ADCD8E}" type="presOf" srcId="{D4AF4A20-8ADA-4442-9737-7EEAFCAC2027}" destId="{B35202BA-FB91-486B-A25C-B4A9F8809758}" srcOrd="0" destOrd="0" presId="urn:microsoft.com/office/officeart/2005/8/layout/matrix1"/>
    <dgm:cxn modelId="{1C8523FC-596B-4E2C-8D04-333EBE0F26BD}" srcId="{D4AF4A20-8ADA-4442-9737-7EEAFCAC2027}" destId="{C1C9A09A-8DC9-4669-9B17-C108E6A9BEFD}" srcOrd="3" destOrd="0" parTransId="{6A5F98B9-1581-458B-A12F-7E0EB5B59AB1}" sibTransId="{020E4AB4-84D9-4DEF-8C18-8A774A9D9CF2}"/>
    <dgm:cxn modelId="{7A53926B-1C8C-453D-A68F-7D54016E756F}" type="presParOf" srcId="{CF8664B6-39B0-4A59-9755-3910738EA68D}" destId="{B0DBBAEA-172C-4642-A431-70AFA0431CC0}" srcOrd="0" destOrd="0" presId="urn:microsoft.com/office/officeart/2005/8/layout/matrix1"/>
    <dgm:cxn modelId="{74F766D0-36D9-4BF1-A49B-7A83942D1CF2}" type="presParOf" srcId="{B0DBBAEA-172C-4642-A431-70AFA0431CC0}" destId="{013225AC-AFC8-42D4-A498-1540E8D92E3B}" srcOrd="0" destOrd="0" presId="urn:microsoft.com/office/officeart/2005/8/layout/matrix1"/>
    <dgm:cxn modelId="{5A18F0BE-F5C0-4807-A593-169A2E620CA4}" type="presParOf" srcId="{B0DBBAEA-172C-4642-A431-70AFA0431CC0}" destId="{A8F973CC-8C41-4BA5-8013-B6B83C052E83}" srcOrd="1" destOrd="0" presId="urn:microsoft.com/office/officeart/2005/8/layout/matrix1"/>
    <dgm:cxn modelId="{98E106EE-1242-40F5-8A0D-EF520607536D}" type="presParOf" srcId="{B0DBBAEA-172C-4642-A431-70AFA0431CC0}" destId="{5205994F-D4A2-45CF-A959-8E571D3D6D26}" srcOrd="2" destOrd="0" presId="urn:microsoft.com/office/officeart/2005/8/layout/matrix1"/>
    <dgm:cxn modelId="{8284D92B-C2A0-4C53-BD97-497C5A2804E5}" type="presParOf" srcId="{B0DBBAEA-172C-4642-A431-70AFA0431CC0}" destId="{95811BDF-4F85-403D-9861-8635AC6485D4}" srcOrd="3" destOrd="0" presId="urn:microsoft.com/office/officeart/2005/8/layout/matrix1"/>
    <dgm:cxn modelId="{B3FD839B-F827-4961-8ED3-2A04BE1E946B}" type="presParOf" srcId="{B0DBBAEA-172C-4642-A431-70AFA0431CC0}" destId="{CCCA1FD4-43DF-4045-807B-E2E6DEF87A93}" srcOrd="4" destOrd="0" presId="urn:microsoft.com/office/officeart/2005/8/layout/matrix1"/>
    <dgm:cxn modelId="{ED7DDA7C-3FF3-41D9-BCEB-FC0A730E5933}" type="presParOf" srcId="{B0DBBAEA-172C-4642-A431-70AFA0431CC0}" destId="{B57D0F61-DFF9-4D53-BB20-EA0AF47AD13B}" srcOrd="5" destOrd="0" presId="urn:microsoft.com/office/officeart/2005/8/layout/matrix1"/>
    <dgm:cxn modelId="{A2FDA377-6213-4146-88D2-D0FD6D53FB02}" type="presParOf" srcId="{B0DBBAEA-172C-4642-A431-70AFA0431CC0}" destId="{7F6CBD08-DB24-40CA-9260-9144BBF1424D}" srcOrd="6" destOrd="0" presId="urn:microsoft.com/office/officeart/2005/8/layout/matrix1"/>
    <dgm:cxn modelId="{70A0E056-8262-4284-BFCF-E076804A02E1}" type="presParOf" srcId="{B0DBBAEA-172C-4642-A431-70AFA0431CC0}" destId="{DD59B8CD-3DF1-441E-AB6F-7FD6D799FEC5}" srcOrd="7" destOrd="0" presId="urn:microsoft.com/office/officeart/2005/8/layout/matrix1"/>
    <dgm:cxn modelId="{40B93457-6570-4856-9B19-1E66081F0DFA}" type="presParOf" srcId="{CF8664B6-39B0-4A59-9755-3910738EA68D}" destId="{B35202BA-FB91-486B-A25C-B4A9F8809758}" srcOrd="1" destOrd="0" presId="urn:microsoft.com/office/officeart/2005/8/layout/matrix1"/>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3225AC-AFC8-42D4-A498-1540E8D92E3B}">
      <dsp:nvSpPr>
        <dsp:cNvPr id="0" name=""/>
        <dsp:cNvSpPr/>
      </dsp:nvSpPr>
      <dsp:spPr>
        <a:xfrm rot="16200000">
          <a:off x="112878" y="-112878"/>
          <a:ext cx="1079950" cy="1305706"/>
        </a:xfrm>
        <a:prstGeom prst="round1Rect">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zh-CN" altLang="en-US" sz="1000" b="1" kern="1200" dirty="0">
              <a:solidFill>
                <a:schemeClr val="tx1"/>
              </a:solidFill>
              <a:latin typeface="微软雅黑" panose="020B0503020204020204" pitchFamily="34" charset="-122"/>
              <a:ea typeface="微软雅黑" panose="020B0503020204020204" pitchFamily="34" charset="-122"/>
            </a:rPr>
            <a:t>   </a:t>
          </a:r>
          <a:r>
            <a:rPr lang="zh-CN" altLang="en-US" sz="900" b="1" kern="1200" dirty="0">
              <a:solidFill>
                <a:schemeClr val="tx1"/>
              </a:solidFill>
              <a:latin typeface="微软雅黑" panose="020B0503020204020204" pitchFamily="34" charset="-122"/>
              <a:ea typeface="微软雅黑" panose="020B0503020204020204" pitchFamily="34" charset="-122"/>
            </a:rPr>
            <a:t>人性直观</a:t>
          </a:r>
          <a:endParaRPr lang="en-US" altLang="zh-CN" sz="1000" b="1" kern="1200" dirty="0">
            <a:solidFill>
              <a:schemeClr val="tx1"/>
            </a:solidFill>
            <a:latin typeface="微软雅黑" panose="020B0503020204020204" pitchFamily="34" charset="-122"/>
            <a:ea typeface="微软雅黑" panose="020B0503020204020204" pitchFamily="34" charset="-122"/>
          </a:endParaRPr>
        </a:p>
        <a:p>
          <a:pPr marL="0" lvl="0" indent="0" algn="ctr" defTabSz="444500">
            <a:lnSpc>
              <a:spcPct val="90000"/>
            </a:lnSpc>
            <a:spcBef>
              <a:spcPct val="0"/>
            </a:spcBef>
            <a:spcAft>
              <a:spcPct val="35000"/>
            </a:spcAft>
            <a:buNone/>
          </a:pPr>
          <a:r>
            <a:rPr lang="zh-CN" altLang="en-US" sz="900" kern="1200" dirty="0">
              <a:solidFill>
                <a:schemeClr val="tx1"/>
              </a:solidFill>
              <a:latin typeface="微软雅黑" panose="020B0503020204020204" pitchFamily="34" charset="-122"/>
              <a:ea typeface="微软雅黑" panose="020B0503020204020204" pitchFamily="34" charset="-122"/>
            </a:rPr>
            <a:t>实用、直观，以人为本的品质服务</a:t>
          </a:r>
        </a:p>
      </dsp:txBody>
      <dsp:txXfrm rot="5400000">
        <a:off x="-1" y="1"/>
        <a:ext cx="1305706" cy="809962"/>
      </dsp:txXfrm>
    </dsp:sp>
    <dsp:sp modelId="{5205994F-D4A2-45CF-A959-8E571D3D6D26}">
      <dsp:nvSpPr>
        <dsp:cNvPr id="0" name=""/>
        <dsp:cNvSpPr/>
      </dsp:nvSpPr>
      <dsp:spPr>
        <a:xfrm>
          <a:off x="1305706" y="0"/>
          <a:ext cx="1305706" cy="1079950"/>
        </a:xfrm>
        <a:prstGeom prst="round1Rect">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solidFill>
                <a:schemeClr val="tx1"/>
              </a:solidFill>
              <a:latin typeface="微软雅黑" panose="020B0503020204020204" pitchFamily="34" charset="-122"/>
              <a:ea typeface="微软雅黑" panose="020B0503020204020204" pitchFamily="34" charset="-122"/>
            </a:rPr>
            <a:t>  合众互联</a:t>
          </a:r>
          <a:endParaRPr lang="en-US" altLang="zh-CN" sz="900" b="1" kern="1200" dirty="0">
            <a:solidFill>
              <a:schemeClr val="tx1"/>
            </a:solidFill>
            <a:latin typeface="微软雅黑" panose="020B0503020204020204" pitchFamily="34" charset="-122"/>
            <a:ea typeface="微软雅黑" panose="020B0503020204020204" pitchFamily="34" charset="-122"/>
          </a:endParaRPr>
        </a:p>
        <a:p>
          <a:pPr marL="0" lvl="0" indent="0" algn="ctr" defTabSz="400050">
            <a:lnSpc>
              <a:spcPct val="90000"/>
            </a:lnSpc>
            <a:spcBef>
              <a:spcPct val="0"/>
            </a:spcBef>
            <a:spcAft>
              <a:spcPct val="35000"/>
            </a:spcAft>
            <a:buNone/>
          </a:pPr>
          <a:r>
            <a:rPr lang="zh-CN" altLang="en-US" sz="900" kern="1200" dirty="0">
              <a:solidFill>
                <a:schemeClr val="tx1"/>
              </a:solidFill>
              <a:latin typeface="微软雅黑" panose="020B0503020204020204" pitchFamily="34" charset="-122"/>
              <a:ea typeface="微软雅黑" panose="020B0503020204020204" pitchFamily="34" charset="-122"/>
            </a:rPr>
            <a:t>智能出行互联方案，连接人与人、人与服务</a:t>
          </a:r>
          <a:endParaRPr lang="en-US" altLang="zh-CN" sz="900" kern="1200" dirty="0">
            <a:solidFill>
              <a:schemeClr val="tx1"/>
            </a:solidFill>
            <a:latin typeface="微软雅黑" panose="020B0503020204020204" pitchFamily="34" charset="-122"/>
            <a:ea typeface="微软雅黑" panose="020B0503020204020204" pitchFamily="34" charset="-122"/>
          </a:endParaRPr>
        </a:p>
      </dsp:txBody>
      <dsp:txXfrm>
        <a:off x="1305706" y="0"/>
        <a:ext cx="1305706" cy="809962"/>
      </dsp:txXfrm>
    </dsp:sp>
    <dsp:sp modelId="{CCCA1FD4-43DF-4045-807B-E2E6DEF87A93}">
      <dsp:nvSpPr>
        <dsp:cNvPr id="0" name=""/>
        <dsp:cNvSpPr/>
      </dsp:nvSpPr>
      <dsp:spPr>
        <a:xfrm rot="10800000">
          <a:off x="0" y="1079950"/>
          <a:ext cx="1305706" cy="1079950"/>
        </a:xfrm>
        <a:prstGeom prst="round1Rect">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solidFill>
                <a:schemeClr val="tx1"/>
              </a:solidFill>
              <a:latin typeface="微软雅黑" panose="020B0503020204020204" pitchFamily="34" charset="-122"/>
              <a:ea typeface="微软雅黑" panose="020B0503020204020204" pitchFamily="34" charset="-122"/>
            </a:rPr>
            <a:t>净效科技</a:t>
          </a:r>
          <a:endParaRPr lang="en-US" altLang="zh-CN" sz="900" b="1" kern="1200" dirty="0">
            <a:solidFill>
              <a:schemeClr val="tx1"/>
            </a:solidFill>
            <a:latin typeface="微软雅黑" panose="020B0503020204020204" pitchFamily="34" charset="-122"/>
            <a:ea typeface="微软雅黑" panose="020B0503020204020204" pitchFamily="34" charset="-122"/>
          </a:endParaRPr>
        </a:p>
        <a:p>
          <a:pPr marL="0" lvl="0" indent="0" algn="ctr" defTabSz="400050">
            <a:lnSpc>
              <a:spcPct val="90000"/>
            </a:lnSpc>
            <a:spcBef>
              <a:spcPct val="0"/>
            </a:spcBef>
            <a:spcAft>
              <a:spcPct val="35000"/>
            </a:spcAft>
            <a:buNone/>
          </a:pPr>
          <a:r>
            <a:rPr lang="zh-CN" altLang="en-US" sz="900" kern="1200" dirty="0">
              <a:solidFill>
                <a:schemeClr val="tx1"/>
              </a:solidFill>
              <a:latin typeface="微软雅黑" panose="020B0503020204020204" pitchFamily="34" charset="-122"/>
              <a:ea typeface="微软雅黑" panose="020B0503020204020204" pitchFamily="34" charset="-122"/>
            </a:rPr>
            <a:t>运营</a:t>
          </a:r>
          <a:r>
            <a:rPr lang="en-US" altLang="zh-CN" sz="900" kern="1200" dirty="0">
              <a:solidFill>
                <a:schemeClr val="tx1"/>
              </a:solidFill>
              <a:latin typeface="微软雅黑" panose="020B0503020204020204" pitchFamily="34" charset="-122"/>
              <a:ea typeface="微软雅黑" panose="020B0503020204020204" pitchFamily="34" charset="-122"/>
            </a:rPr>
            <a:t>IT</a:t>
          </a:r>
          <a:r>
            <a:rPr lang="zh-CN" altLang="en-US" sz="900" kern="1200" dirty="0">
              <a:solidFill>
                <a:schemeClr val="tx1"/>
              </a:solidFill>
              <a:latin typeface="微软雅黑" panose="020B0503020204020204" pitchFamily="34" charset="-122"/>
              <a:ea typeface="微软雅黑" panose="020B0503020204020204" pitchFamily="34" charset="-122"/>
            </a:rPr>
            <a:t>等技术手段高效解决问题</a:t>
          </a:r>
        </a:p>
      </dsp:txBody>
      <dsp:txXfrm rot="10800000">
        <a:off x="0" y="1349937"/>
        <a:ext cx="1305706" cy="809962"/>
      </dsp:txXfrm>
    </dsp:sp>
    <dsp:sp modelId="{7F6CBD08-DB24-40CA-9260-9144BBF1424D}">
      <dsp:nvSpPr>
        <dsp:cNvPr id="0" name=""/>
        <dsp:cNvSpPr/>
      </dsp:nvSpPr>
      <dsp:spPr>
        <a:xfrm rot="5400000">
          <a:off x="1418584" y="967071"/>
          <a:ext cx="1079950" cy="1305706"/>
        </a:xfrm>
        <a:prstGeom prst="round1Rect">
          <a:avLst/>
        </a:prstGeom>
        <a:solidFill>
          <a:schemeClr val="bg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solidFill>
                <a:schemeClr val="tx1"/>
              </a:solidFill>
              <a:latin typeface="微软雅黑" panose="020B0503020204020204" pitchFamily="34" charset="-122"/>
              <a:ea typeface="微软雅黑" panose="020B0503020204020204" pitchFamily="34" charset="-122"/>
            </a:rPr>
            <a:t>智能驾驶</a:t>
          </a:r>
          <a:endParaRPr lang="en-US" altLang="zh-CN" sz="900" b="1" kern="1200" dirty="0">
            <a:solidFill>
              <a:schemeClr val="tx1"/>
            </a:solidFill>
            <a:latin typeface="微软雅黑" panose="020B0503020204020204" pitchFamily="34" charset="-122"/>
            <a:ea typeface="微软雅黑" panose="020B0503020204020204" pitchFamily="34" charset="-122"/>
          </a:endParaRPr>
        </a:p>
        <a:p>
          <a:pPr marL="0" lvl="0" indent="0" algn="ctr" defTabSz="400050">
            <a:lnSpc>
              <a:spcPct val="90000"/>
            </a:lnSpc>
            <a:spcBef>
              <a:spcPct val="0"/>
            </a:spcBef>
            <a:spcAft>
              <a:spcPct val="35000"/>
            </a:spcAft>
            <a:buNone/>
          </a:pPr>
          <a:r>
            <a:rPr lang="zh-CN" altLang="en-US" sz="900" kern="1200" dirty="0">
              <a:solidFill>
                <a:schemeClr val="tx1"/>
              </a:solidFill>
              <a:latin typeface="微软雅黑" panose="020B0503020204020204" pitchFamily="34" charset="-122"/>
              <a:ea typeface="微软雅黑" panose="020B0503020204020204" pitchFamily="34" charset="-122"/>
            </a:rPr>
            <a:t>自动化、趣味驾驶，驾车新体验</a:t>
          </a:r>
        </a:p>
      </dsp:txBody>
      <dsp:txXfrm rot="-5400000">
        <a:off x="1305706" y="1349937"/>
        <a:ext cx="1305706" cy="809962"/>
      </dsp:txXfrm>
    </dsp:sp>
    <dsp:sp modelId="{B35202BA-FB91-486B-A25C-B4A9F8809758}">
      <dsp:nvSpPr>
        <dsp:cNvPr id="0" name=""/>
        <dsp:cNvSpPr/>
      </dsp:nvSpPr>
      <dsp:spPr>
        <a:xfrm>
          <a:off x="913994" y="899279"/>
          <a:ext cx="783423" cy="361340"/>
        </a:xfrm>
        <a:prstGeom prst="roundRect">
          <a:avLst/>
        </a:prstGeom>
        <a:solidFill>
          <a:srgbClr val="00336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altLang="zh-CN" sz="900" b="1" kern="1200" dirty="0">
              <a:solidFill>
                <a:schemeClr val="tx1"/>
              </a:solidFill>
              <a:latin typeface="微软雅黑" panose="020B0503020204020204" pitchFamily="34" charset="-122"/>
              <a:ea typeface="微软雅黑" panose="020B0503020204020204" pitchFamily="34" charset="-122"/>
            </a:rPr>
            <a:t> </a:t>
          </a:r>
          <a:r>
            <a:rPr lang="zh-CN" altLang="en-US" sz="900" b="1" kern="1200" dirty="0">
              <a:solidFill>
                <a:schemeClr val="bg1"/>
              </a:solidFill>
              <a:latin typeface="微软雅黑" panose="020B0503020204020204" pitchFamily="34" charset="-122"/>
              <a:ea typeface="微软雅黑" panose="020B0503020204020204" pitchFamily="34" charset="-122"/>
            </a:rPr>
            <a:t>服务理念</a:t>
          </a:r>
        </a:p>
      </dsp:txBody>
      <dsp:txXfrm>
        <a:off x="931633" y="916918"/>
        <a:ext cx="748145" cy="326062"/>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0.21357</cdr:x>
      <cdr:y>0.3421</cdr:y>
    </cdr:from>
    <cdr:to>
      <cdr:x>0.32293</cdr:x>
      <cdr:y>0.43971</cdr:y>
    </cdr:to>
    <cdr:sp macro="" textlink="">
      <cdr:nvSpPr>
        <cdr:cNvPr id="2" name="文本框 1">
          <a:extLst xmlns:a="http://schemas.openxmlformats.org/drawingml/2006/main">
            <a:ext uri="{FF2B5EF4-FFF2-40B4-BE49-F238E27FC236}">
              <a16:creationId xmlns:a16="http://schemas.microsoft.com/office/drawing/2014/main" id="{AA10C85F-760A-81DF-8AB0-0A2950EA1171}"/>
            </a:ext>
          </a:extLst>
        </cdr:cNvPr>
        <cdr:cNvSpPr txBox="1"/>
      </cdr:nvSpPr>
      <cdr:spPr>
        <a:xfrm xmlns:a="http://schemas.openxmlformats.org/drawingml/2006/main">
          <a:off x="2014210" y="1105785"/>
          <a:ext cx="1031359" cy="31550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0.21357</cdr:x>
      <cdr:y>0.3421</cdr:y>
    </cdr:from>
    <cdr:to>
      <cdr:x>0.32293</cdr:x>
      <cdr:y>0.43971</cdr:y>
    </cdr:to>
    <cdr:sp macro="" textlink="">
      <cdr:nvSpPr>
        <cdr:cNvPr id="2" name="文本框 1">
          <a:extLst xmlns:a="http://schemas.openxmlformats.org/drawingml/2006/main">
            <a:ext uri="{FF2B5EF4-FFF2-40B4-BE49-F238E27FC236}">
              <a16:creationId xmlns:a16="http://schemas.microsoft.com/office/drawing/2014/main" id="{AA10C85F-760A-81DF-8AB0-0A2950EA1171}"/>
            </a:ext>
          </a:extLst>
        </cdr:cNvPr>
        <cdr:cNvSpPr txBox="1"/>
      </cdr:nvSpPr>
      <cdr:spPr>
        <a:xfrm xmlns:a="http://schemas.openxmlformats.org/drawingml/2006/main">
          <a:off x="2014210" y="1105785"/>
          <a:ext cx="1031359" cy="31550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dirty="0"/>
        </a:p>
      </cdr:txBody>
    </cdr:sp>
  </cdr:relSizeAnchor>
</c:userShapes>
</file>

<file path=ppt/drawings/drawing3.xml><?xml version="1.0" encoding="utf-8"?>
<c:userShapes xmlns:c="http://schemas.openxmlformats.org/drawingml/2006/chart">
  <cdr:relSizeAnchor xmlns:cdr="http://schemas.openxmlformats.org/drawingml/2006/chartDrawing">
    <cdr:from>
      <cdr:x>0.21357</cdr:x>
      <cdr:y>0.3421</cdr:y>
    </cdr:from>
    <cdr:to>
      <cdr:x>0.32293</cdr:x>
      <cdr:y>0.43971</cdr:y>
    </cdr:to>
    <cdr:sp macro="" textlink="">
      <cdr:nvSpPr>
        <cdr:cNvPr id="2" name="文本框 1">
          <a:extLst xmlns:a="http://schemas.openxmlformats.org/drawingml/2006/main">
            <a:ext uri="{FF2B5EF4-FFF2-40B4-BE49-F238E27FC236}">
              <a16:creationId xmlns:a16="http://schemas.microsoft.com/office/drawing/2014/main" id="{AA10C85F-760A-81DF-8AB0-0A2950EA1171}"/>
            </a:ext>
          </a:extLst>
        </cdr:cNvPr>
        <cdr:cNvSpPr txBox="1"/>
      </cdr:nvSpPr>
      <cdr:spPr>
        <a:xfrm xmlns:a="http://schemas.openxmlformats.org/drawingml/2006/main">
          <a:off x="2014210" y="1105785"/>
          <a:ext cx="1031359" cy="31550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dirty="0"/>
        </a:p>
      </cdr:txBody>
    </cdr:sp>
  </cdr:relSizeAnchor>
</c:userShapes>
</file>

<file path=ppt/drawings/drawing4.xml><?xml version="1.0" encoding="utf-8"?>
<c:userShapes xmlns:c="http://schemas.openxmlformats.org/drawingml/2006/chart">
  <cdr:relSizeAnchor xmlns:cdr="http://schemas.openxmlformats.org/drawingml/2006/chartDrawing">
    <cdr:from>
      <cdr:x>0.21357</cdr:x>
      <cdr:y>0.3421</cdr:y>
    </cdr:from>
    <cdr:to>
      <cdr:x>0.32293</cdr:x>
      <cdr:y>0.43971</cdr:y>
    </cdr:to>
    <cdr:sp macro="" textlink="">
      <cdr:nvSpPr>
        <cdr:cNvPr id="2" name="文本框 1">
          <a:extLst xmlns:a="http://schemas.openxmlformats.org/drawingml/2006/main">
            <a:ext uri="{FF2B5EF4-FFF2-40B4-BE49-F238E27FC236}">
              <a16:creationId xmlns:a16="http://schemas.microsoft.com/office/drawing/2014/main" id="{AA10C85F-760A-81DF-8AB0-0A2950EA1171}"/>
            </a:ext>
          </a:extLst>
        </cdr:cNvPr>
        <cdr:cNvSpPr txBox="1"/>
      </cdr:nvSpPr>
      <cdr:spPr>
        <a:xfrm xmlns:a="http://schemas.openxmlformats.org/drawingml/2006/main">
          <a:off x="2014210" y="1105785"/>
          <a:ext cx="1031359" cy="31550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dirty="0"/>
        </a:p>
      </cdr:txBody>
    </cdr:sp>
  </cdr:relSizeAnchor>
</c:userShapes>
</file>

<file path=ppt/drawings/drawing5.xml><?xml version="1.0" encoding="utf-8"?>
<c:userShapes xmlns:c="http://schemas.openxmlformats.org/drawingml/2006/chart">
  <cdr:relSizeAnchor xmlns:cdr="http://schemas.openxmlformats.org/drawingml/2006/chartDrawing">
    <cdr:from>
      <cdr:x>0.21357</cdr:x>
      <cdr:y>0.3421</cdr:y>
    </cdr:from>
    <cdr:to>
      <cdr:x>0.32293</cdr:x>
      <cdr:y>0.43971</cdr:y>
    </cdr:to>
    <cdr:sp macro="" textlink="">
      <cdr:nvSpPr>
        <cdr:cNvPr id="2" name="文本框 1">
          <a:extLst xmlns:a="http://schemas.openxmlformats.org/drawingml/2006/main">
            <a:ext uri="{FF2B5EF4-FFF2-40B4-BE49-F238E27FC236}">
              <a16:creationId xmlns:a16="http://schemas.microsoft.com/office/drawing/2014/main" id="{AA10C85F-760A-81DF-8AB0-0A2950EA1171}"/>
            </a:ext>
          </a:extLst>
        </cdr:cNvPr>
        <cdr:cNvSpPr txBox="1"/>
      </cdr:nvSpPr>
      <cdr:spPr>
        <a:xfrm xmlns:a="http://schemas.openxmlformats.org/drawingml/2006/main">
          <a:off x="2014210" y="1105785"/>
          <a:ext cx="1031359" cy="31550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dirty="0"/>
        </a:p>
      </cdr:txBody>
    </cdr:sp>
  </cdr:relSizeAnchor>
</c:userShapes>
</file>

<file path=ppt/drawings/drawing6.xml><?xml version="1.0" encoding="utf-8"?>
<c:userShapes xmlns:c="http://schemas.openxmlformats.org/drawingml/2006/chart">
  <cdr:relSizeAnchor xmlns:cdr="http://schemas.openxmlformats.org/drawingml/2006/chartDrawing">
    <cdr:from>
      <cdr:x>0.21357</cdr:x>
      <cdr:y>0.3421</cdr:y>
    </cdr:from>
    <cdr:to>
      <cdr:x>0.32293</cdr:x>
      <cdr:y>0.43971</cdr:y>
    </cdr:to>
    <cdr:sp macro="" textlink="">
      <cdr:nvSpPr>
        <cdr:cNvPr id="2" name="文本框 1">
          <a:extLst xmlns:a="http://schemas.openxmlformats.org/drawingml/2006/main">
            <a:ext uri="{FF2B5EF4-FFF2-40B4-BE49-F238E27FC236}">
              <a16:creationId xmlns:a16="http://schemas.microsoft.com/office/drawing/2014/main" id="{AA10C85F-760A-81DF-8AB0-0A2950EA1171}"/>
            </a:ext>
          </a:extLst>
        </cdr:cNvPr>
        <cdr:cNvSpPr txBox="1"/>
      </cdr:nvSpPr>
      <cdr:spPr>
        <a:xfrm xmlns:a="http://schemas.openxmlformats.org/drawingml/2006/main">
          <a:off x="2014210" y="1105785"/>
          <a:ext cx="1031359" cy="31550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2A7695-B368-4FBF-AE75-A9B07000E170}" type="datetimeFigureOut">
              <a:rPr lang="zh-CN" altLang="en-US" smtClean="0"/>
              <a:t>2026/7/26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5CDCBF-D754-461B-A484-E068AD7936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5CDCBF-D754-461B-A484-E068AD7936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0" dirty="0">
                <a:solidFill>
                  <a:srgbClr val="595757"/>
                </a:solidFill>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rPr>
              <a:t>已申请项目预算： </a:t>
            </a:r>
            <a:r>
              <a:rPr lang="en-US" altLang="zh-CN" sz="1200" kern="0" dirty="0">
                <a:solidFill>
                  <a:srgbClr val="595757"/>
                </a:solidFill>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rPr>
              <a:t>¥140,6043.17</a:t>
            </a:r>
            <a:r>
              <a:rPr lang="zh-CN" altLang="en-US" sz="1200" kern="0" dirty="0">
                <a:solidFill>
                  <a:srgbClr val="595757"/>
                </a:solidFill>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rPr>
              <a:t>元（税后）</a:t>
            </a:r>
            <a:endParaRPr lang="zh-CN" altLang="en-US" dirty="0"/>
          </a:p>
        </p:txBody>
      </p:sp>
      <p:sp>
        <p:nvSpPr>
          <p:cNvPr id="4" name="灯片编号占位符 3"/>
          <p:cNvSpPr>
            <a:spLocks noGrp="1"/>
          </p:cNvSpPr>
          <p:nvPr>
            <p:ph type="sldNum" sz="quarter" idx="5"/>
          </p:nvPr>
        </p:nvSpPr>
        <p:spPr/>
        <p:txBody>
          <a:bodyPr/>
          <a:lstStyle/>
          <a:p>
            <a:fld id="{B4F2E594-ECB8-4F49-A692-0728042DA96D}" type="slidenum">
              <a:rPr lang="en-US" smtClean="0"/>
              <a:t>10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95CDCBF-D754-461B-A484-E068AD7936B5}" type="slidenum">
              <a:rPr lang="zh-CN" altLang="en-US" smtClean="0"/>
              <a:t>23</a:t>
            </a:fld>
            <a:endParaRPr lang="zh-CN" altLang="en-US"/>
          </a:p>
        </p:txBody>
      </p:sp>
    </p:spTree>
    <p:extLst>
      <p:ext uri="{BB962C8B-B14F-4D97-AF65-F5344CB8AC3E}">
        <p14:creationId xmlns:p14="http://schemas.microsoft.com/office/powerpoint/2010/main" val="4085098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097143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850249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5CDCBF-D754-461B-A484-E068AD7936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93328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95CDCBF-D754-461B-A484-E068AD7936B5}" type="slidenum">
              <a:rPr lang="zh-CN" altLang="en-US" smtClean="0"/>
              <a:t>50</a:t>
            </a:fld>
            <a:endParaRPr lang="zh-CN" altLang="en-US"/>
          </a:p>
        </p:txBody>
      </p:sp>
    </p:spTree>
    <p:extLst>
      <p:ext uri="{BB962C8B-B14F-4D97-AF65-F5344CB8AC3E}">
        <p14:creationId xmlns:p14="http://schemas.microsoft.com/office/powerpoint/2010/main" val="1422434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83ACF-407B-479E-BD2E-A8544008FE7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6084943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983ACF-407B-479E-BD2E-A8544008FE7D}"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988934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4F2E594-ECB8-4F49-A692-0728042DA96D}" type="slidenum">
              <a:rPr lang="en-US" smtClean="0"/>
              <a:t>55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9.xml"/></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9.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2.jpeg"/></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页-青柠绿">
    <p:spTree>
      <p:nvGrpSpPr>
        <p:cNvPr id="1" name=""/>
        <p:cNvGrpSpPr/>
        <p:nvPr/>
      </p:nvGrpSpPr>
      <p:grpSpPr>
        <a:xfrm>
          <a:off x="0" y="0"/>
          <a:ext cx="0" cy="0"/>
          <a:chOff x="0" y="0"/>
          <a:chExt cx="0" cy="0"/>
        </a:xfrm>
      </p:grpSpPr>
      <p:cxnSp>
        <p:nvCxnSpPr>
          <p:cNvPr id="8" name="直接连接符 7"/>
          <p:cNvCxnSpPr/>
          <p:nvPr userDrawn="1"/>
        </p:nvCxnSpPr>
        <p:spPr>
          <a:xfrm>
            <a:off x="731838" y="6160258"/>
            <a:ext cx="9684642" cy="0"/>
          </a:xfrm>
          <a:prstGeom prst="line">
            <a:avLst/>
          </a:prstGeom>
          <a:ln w="12700">
            <a:solidFill>
              <a:srgbClr val="B0CC14"/>
            </a:solidFill>
          </a:ln>
        </p:spPr>
        <p:style>
          <a:lnRef idx="1">
            <a:schemeClr val="accent1"/>
          </a:lnRef>
          <a:fillRef idx="0">
            <a:schemeClr val="accent1"/>
          </a:fillRef>
          <a:effectRef idx="0">
            <a:schemeClr val="accent1"/>
          </a:effectRef>
          <a:fontRef idx="minor">
            <a:schemeClr val="tx1"/>
          </a:fontRef>
        </p:style>
      </p:cxnSp>
      <p:pic>
        <p:nvPicPr>
          <p:cNvPr id="3" name="Picture 11" descr="Text&#10;&#10;Description automatically generated"/>
          <p:cNvPicPr>
            <a:picLocks noChangeAspect="1"/>
          </p:cNvPicPr>
          <p:nvPr userDrawn="1"/>
        </p:nvPicPr>
        <p:blipFill>
          <a:blip r:embed="rId2"/>
          <a:stretch>
            <a:fillRect/>
          </a:stretch>
        </p:blipFill>
        <p:spPr>
          <a:xfrm>
            <a:off x="10493255" y="5767770"/>
            <a:ext cx="1288283" cy="772625"/>
          </a:xfrm>
          <a:prstGeom prst="rect">
            <a:avLst/>
          </a:prstGeom>
        </p:spPr>
      </p:pic>
      <p:sp>
        <p:nvSpPr>
          <p:cNvPr id="5" name="VISUAL…"/>
          <p:cNvSpPr txBox="1"/>
          <p:nvPr userDrawn="1"/>
        </p:nvSpPr>
        <p:spPr>
          <a:xfrm>
            <a:off x="731838" y="6222699"/>
            <a:ext cx="7598939" cy="98489"/>
          </a:xfrm>
          <a:prstGeom prst="rect">
            <a:avLst/>
          </a:prstGeom>
          <a:noFill/>
        </p:spPr>
        <p:txBody>
          <a:bodyPr wrap="square" lIns="0" tIns="0" rIns="0" bIns="0" rtlCol="0">
            <a:spAutoFit/>
          </a:bodyPr>
          <a:lstStyle>
            <a:defPPr>
              <a:defRPr lang="zh-CN"/>
            </a:defPPr>
            <a:lvl1pPr>
              <a:lnSpc>
                <a:spcPct val="80000"/>
              </a:lnSpc>
              <a:defRPr sz="3600" spc="180">
                <a:solidFill>
                  <a:srgbClr val="FFFFFF"/>
                </a:solidFill>
                <a:latin typeface="Helvetica Light"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800" spc="0" baseline="0" dirty="0">
                <a:solidFill>
                  <a:schemeClr val="bg1"/>
                </a:solidFill>
                <a:latin typeface="+mn-lt"/>
              </a:rPr>
              <a:t>Confidential @ AVATR 2023</a:t>
            </a:r>
            <a:r>
              <a:rPr lang="zh-CN" altLang="en-US" sz="800" spc="0" baseline="0" dirty="0">
                <a:solidFill>
                  <a:schemeClr val="bg1"/>
                </a:solidFill>
                <a:latin typeface="+mn-lt"/>
              </a:rPr>
              <a:t> </a:t>
            </a:r>
            <a:r>
              <a:rPr lang="en-US" altLang="zh-CN" sz="800" spc="0" baseline="0" dirty="0">
                <a:solidFill>
                  <a:schemeClr val="bg1"/>
                </a:solidFill>
                <a:latin typeface="+mn-lt"/>
              </a:rPr>
              <a:t>All rights reserved</a:t>
            </a:r>
          </a:p>
        </p:txBody>
      </p:sp>
      <p:sp>
        <p:nvSpPr>
          <p:cNvPr id="6" name="Text Placeholder 13"/>
          <p:cNvSpPr>
            <a:spLocks noGrp="1"/>
          </p:cNvSpPr>
          <p:nvPr>
            <p:ph type="body" sz="quarter" idx="10" hasCustomPrompt="1"/>
          </p:nvPr>
        </p:nvSpPr>
        <p:spPr>
          <a:xfrm>
            <a:off x="688884" y="2691324"/>
            <a:ext cx="8145842" cy="902298"/>
          </a:xfrm>
          <a:prstGeom prst="rect">
            <a:avLst/>
          </a:prstGeom>
        </p:spPr>
        <p:txBody>
          <a:bodyPr wrap="square" lIns="0" tIns="0" rIns="0" bIns="0" anchor="t" anchorCtr="0">
            <a:spAutoFit/>
          </a:bodyPr>
          <a:lstStyle>
            <a:lvl1pPr marL="12700" indent="0">
              <a:buNone/>
              <a:defRPr lang="zh-CN" altLang="en-US" sz="6400" b="0" i="0" kern="1200" spc="-150" baseline="0" dirty="0" smtClean="0">
                <a:solidFill>
                  <a:srgbClr val="F5F3F3"/>
                </a:solidFill>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请在此处输入封面标题</a:t>
            </a:r>
          </a:p>
        </p:txBody>
      </p:sp>
      <p:sp>
        <p:nvSpPr>
          <p:cNvPr id="7" name="Content Placeholder 15"/>
          <p:cNvSpPr>
            <a:spLocks noGrp="1"/>
          </p:cNvSpPr>
          <p:nvPr>
            <p:ph sz="quarter" idx="11" hasCustomPrompt="1"/>
          </p:nvPr>
        </p:nvSpPr>
        <p:spPr>
          <a:xfrm>
            <a:off x="685774" y="3495396"/>
            <a:ext cx="5417895" cy="370678"/>
          </a:xfrm>
          <a:prstGeom prst="rect">
            <a:avLst/>
          </a:prstGeom>
        </p:spPr>
        <p:txBody>
          <a:bodyPr lIns="0" tIns="0" rIns="0" bIns="0" anchor="ctr" anchorCtr="0"/>
          <a:lstStyle>
            <a:lvl1pPr marL="46355" indent="0">
              <a:buNone/>
              <a:defRPr sz="1600" b="0" i="0" spc="0" baseline="0">
                <a:solidFill>
                  <a:schemeClr val="accent1">
                    <a:lumMod val="40000"/>
                    <a:lumOff val="60000"/>
                  </a:schemeClr>
                </a:solidFill>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0" name="Content Placeholder 15"/>
          <p:cNvSpPr>
            <a:spLocks noGrp="1"/>
          </p:cNvSpPr>
          <p:nvPr>
            <p:ph sz="quarter" idx="12" hasCustomPrompt="1"/>
          </p:nvPr>
        </p:nvSpPr>
        <p:spPr>
          <a:xfrm>
            <a:off x="690393" y="3804817"/>
            <a:ext cx="5417895" cy="370678"/>
          </a:xfrm>
          <a:prstGeom prst="rect">
            <a:avLst/>
          </a:prstGeom>
        </p:spPr>
        <p:txBody>
          <a:bodyPr lIns="0" tIns="0" rIns="0" bIns="0" anchor="ctr" anchorCtr="0"/>
          <a:lstStyle>
            <a:lvl1pPr marL="46355"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0" i="0" spc="0" baseline="0">
                <a:solidFill>
                  <a:schemeClr val="accent1">
                    <a:lumMod val="40000"/>
                    <a:lumOff val="60000"/>
                  </a:schemeClr>
                </a:solidFill>
                <a:latin typeface="DIN Pro Regular" panose="02000503040000020003" pitchFamily="50" charset="0"/>
                <a:ea typeface="Alibaba PuHuiTi 2.0 55 Regular" pitchFamily="18" charset="-122"/>
                <a:cs typeface="Alibaba PuHuiTi 2.0 55 Regular" pitchFamily="18" charset="-122"/>
              </a:defRPr>
            </a:lvl1pPr>
          </a:lstStyle>
          <a:p>
            <a:pPr marL="46355"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请在此处输入日期</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页-午夜蓝">
    <p:spTree>
      <p:nvGrpSpPr>
        <p:cNvPr id="1" name=""/>
        <p:cNvGrpSpPr/>
        <p:nvPr/>
      </p:nvGrpSpPr>
      <p:grpSpPr>
        <a:xfrm>
          <a:off x="0" y="0"/>
          <a:ext cx="0" cy="0"/>
          <a:chOff x="0" y="0"/>
          <a:chExt cx="0" cy="0"/>
        </a:xfrm>
      </p:grpSpPr>
      <p:cxnSp>
        <p:nvCxnSpPr>
          <p:cNvPr id="8" name="直接连接符 7"/>
          <p:cNvCxnSpPr/>
          <p:nvPr userDrawn="1"/>
        </p:nvCxnSpPr>
        <p:spPr>
          <a:xfrm>
            <a:off x="731838" y="6160258"/>
            <a:ext cx="9684642" cy="0"/>
          </a:xfrm>
          <a:prstGeom prst="line">
            <a:avLst/>
          </a:prstGeom>
          <a:ln w="12700">
            <a:solidFill>
              <a:srgbClr val="4553FF"/>
            </a:solidFill>
          </a:ln>
        </p:spPr>
        <p:style>
          <a:lnRef idx="1">
            <a:schemeClr val="accent1"/>
          </a:lnRef>
          <a:fillRef idx="0">
            <a:schemeClr val="accent1"/>
          </a:fillRef>
          <a:effectRef idx="0">
            <a:schemeClr val="accent1"/>
          </a:effectRef>
          <a:fontRef idx="minor">
            <a:schemeClr val="tx1"/>
          </a:fontRef>
        </p:style>
      </p:cxnSp>
      <p:pic>
        <p:nvPicPr>
          <p:cNvPr id="3" name="Picture 11" descr="Text&#10;&#10;Description automatically generated"/>
          <p:cNvPicPr>
            <a:picLocks noChangeAspect="1"/>
          </p:cNvPicPr>
          <p:nvPr userDrawn="1"/>
        </p:nvPicPr>
        <p:blipFill>
          <a:blip r:embed="rId2"/>
          <a:stretch>
            <a:fillRect/>
          </a:stretch>
        </p:blipFill>
        <p:spPr>
          <a:xfrm>
            <a:off x="10493255" y="5767770"/>
            <a:ext cx="1288283" cy="772625"/>
          </a:xfrm>
          <a:prstGeom prst="rect">
            <a:avLst/>
          </a:prstGeom>
        </p:spPr>
      </p:pic>
      <p:sp>
        <p:nvSpPr>
          <p:cNvPr id="5" name="VISUAL…"/>
          <p:cNvSpPr txBox="1"/>
          <p:nvPr userDrawn="1"/>
        </p:nvSpPr>
        <p:spPr>
          <a:xfrm>
            <a:off x="731838" y="6222699"/>
            <a:ext cx="7598939" cy="98489"/>
          </a:xfrm>
          <a:prstGeom prst="rect">
            <a:avLst/>
          </a:prstGeom>
          <a:noFill/>
        </p:spPr>
        <p:txBody>
          <a:bodyPr wrap="square" lIns="0" tIns="0" rIns="0" bIns="0" rtlCol="0">
            <a:spAutoFit/>
          </a:bodyPr>
          <a:lstStyle>
            <a:defPPr>
              <a:defRPr lang="zh-CN"/>
            </a:defPPr>
            <a:lvl1pPr>
              <a:lnSpc>
                <a:spcPct val="80000"/>
              </a:lnSpc>
              <a:defRPr sz="3600" spc="180">
                <a:solidFill>
                  <a:srgbClr val="FFFFFF"/>
                </a:solidFill>
                <a:latin typeface="Helvetica Light"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800" spc="0" baseline="0" dirty="0">
                <a:solidFill>
                  <a:schemeClr val="bg1"/>
                </a:solidFill>
                <a:latin typeface="+mn-lt"/>
              </a:rPr>
              <a:t>Confidential @ AVATR 2023</a:t>
            </a:r>
            <a:r>
              <a:rPr lang="zh-CN" altLang="en-US" sz="800" spc="0" baseline="0" dirty="0">
                <a:solidFill>
                  <a:schemeClr val="bg1"/>
                </a:solidFill>
                <a:latin typeface="+mn-lt"/>
              </a:rPr>
              <a:t> </a:t>
            </a:r>
            <a:r>
              <a:rPr lang="en-US" altLang="zh-CN" sz="800" spc="0" baseline="0" dirty="0">
                <a:solidFill>
                  <a:schemeClr val="bg1"/>
                </a:solidFill>
                <a:latin typeface="+mn-lt"/>
              </a:rPr>
              <a:t>All rights reserved</a:t>
            </a:r>
          </a:p>
        </p:txBody>
      </p:sp>
      <p:sp>
        <p:nvSpPr>
          <p:cNvPr id="6" name="Text Placeholder 13"/>
          <p:cNvSpPr>
            <a:spLocks noGrp="1"/>
          </p:cNvSpPr>
          <p:nvPr>
            <p:ph type="body" sz="quarter" idx="10" hasCustomPrompt="1"/>
          </p:nvPr>
        </p:nvSpPr>
        <p:spPr>
          <a:xfrm>
            <a:off x="688884" y="2691324"/>
            <a:ext cx="8145842" cy="902298"/>
          </a:xfrm>
          <a:prstGeom prst="rect">
            <a:avLst/>
          </a:prstGeom>
        </p:spPr>
        <p:txBody>
          <a:bodyPr wrap="square" lIns="0" tIns="0" rIns="0" bIns="0" anchor="t" anchorCtr="0">
            <a:spAutoFit/>
          </a:bodyPr>
          <a:lstStyle>
            <a:lvl1pPr marL="12700" indent="0">
              <a:buNone/>
              <a:defRPr lang="zh-CN" altLang="en-US" sz="6400" b="0" i="0" kern="1200" spc="-150" baseline="0" dirty="0" smtClean="0">
                <a:solidFill>
                  <a:srgbClr val="F5F3F3"/>
                </a:solidFill>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请在此处输入封面标题</a:t>
            </a:r>
          </a:p>
        </p:txBody>
      </p:sp>
      <p:sp>
        <p:nvSpPr>
          <p:cNvPr id="7" name="Content Placeholder 15"/>
          <p:cNvSpPr>
            <a:spLocks noGrp="1"/>
          </p:cNvSpPr>
          <p:nvPr>
            <p:ph sz="quarter" idx="11" hasCustomPrompt="1"/>
          </p:nvPr>
        </p:nvSpPr>
        <p:spPr>
          <a:xfrm>
            <a:off x="685774" y="3495396"/>
            <a:ext cx="5417895" cy="370678"/>
          </a:xfrm>
          <a:prstGeom prst="rect">
            <a:avLst/>
          </a:prstGeom>
        </p:spPr>
        <p:txBody>
          <a:bodyPr lIns="0" tIns="0" rIns="0" bIns="0" anchor="ctr" anchorCtr="0"/>
          <a:lstStyle>
            <a:lvl1pPr marL="46355" indent="0">
              <a:buNone/>
              <a:defRPr sz="1600" b="0" i="0" spc="0" baseline="0">
                <a:solidFill>
                  <a:schemeClr val="accent1">
                    <a:lumMod val="40000"/>
                    <a:lumOff val="60000"/>
                  </a:schemeClr>
                </a:solidFill>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0" name="Content Placeholder 15"/>
          <p:cNvSpPr>
            <a:spLocks noGrp="1"/>
          </p:cNvSpPr>
          <p:nvPr>
            <p:ph sz="quarter" idx="12" hasCustomPrompt="1"/>
          </p:nvPr>
        </p:nvSpPr>
        <p:spPr>
          <a:xfrm>
            <a:off x="690393" y="3804817"/>
            <a:ext cx="5417895" cy="370678"/>
          </a:xfrm>
          <a:prstGeom prst="rect">
            <a:avLst/>
          </a:prstGeom>
        </p:spPr>
        <p:txBody>
          <a:bodyPr lIns="0" tIns="0" rIns="0" bIns="0" anchor="ctr" anchorCtr="0"/>
          <a:lstStyle>
            <a:lvl1pPr marL="46355" indent="0">
              <a:buNone/>
              <a:defRPr sz="1600" b="0" i="0" spc="0" baseline="0">
                <a:solidFill>
                  <a:schemeClr val="accent1">
                    <a:lumMod val="40000"/>
                    <a:lumOff val="60000"/>
                  </a:schemeClr>
                </a:solidFill>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请在此处输入日期</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页_热品红">
    <p:spTree>
      <p:nvGrpSpPr>
        <p:cNvPr id="1" name=""/>
        <p:cNvGrpSpPr/>
        <p:nvPr/>
      </p:nvGrpSpPr>
      <p:grpSpPr>
        <a:xfrm>
          <a:off x="0" y="0"/>
          <a:ext cx="0" cy="0"/>
          <a:chOff x="0" y="0"/>
          <a:chExt cx="0" cy="0"/>
        </a:xfrm>
      </p:grpSpPr>
      <p:cxnSp>
        <p:nvCxnSpPr>
          <p:cNvPr id="8" name="直接连接符 7"/>
          <p:cNvCxnSpPr/>
          <p:nvPr userDrawn="1"/>
        </p:nvCxnSpPr>
        <p:spPr>
          <a:xfrm>
            <a:off x="731838" y="6160258"/>
            <a:ext cx="9684642" cy="0"/>
          </a:xfrm>
          <a:prstGeom prst="line">
            <a:avLst/>
          </a:prstGeom>
          <a:ln w="12700">
            <a:solidFill>
              <a:srgbClr val="FF1DCE"/>
            </a:solidFill>
          </a:ln>
        </p:spPr>
        <p:style>
          <a:lnRef idx="1">
            <a:schemeClr val="accent1"/>
          </a:lnRef>
          <a:fillRef idx="0">
            <a:schemeClr val="accent1"/>
          </a:fillRef>
          <a:effectRef idx="0">
            <a:schemeClr val="accent1"/>
          </a:effectRef>
          <a:fontRef idx="minor">
            <a:schemeClr val="tx1"/>
          </a:fontRef>
        </p:style>
      </p:cxnSp>
      <p:pic>
        <p:nvPicPr>
          <p:cNvPr id="3" name="Picture 11" descr="Text&#10;&#10;Description automatically generated"/>
          <p:cNvPicPr>
            <a:picLocks noChangeAspect="1"/>
          </p:cNvPicPr>
          <p:nvPr userDrawn="1"/>
        </p:nvPicPr>
        <p:blipFill>
          <a:blip r:embed="rId2"/>
          <a:stretch>
            <a:fillRect/>
          </a:stretch>
        </p:blipFill>
        <p:spPr>
          <a:xfrm>
            <a:off x="10493255" y="5767770"/>
            <a:ext cx="1288283" cy="772625"/>
          </a:xfrm>
          <a:prstGeom prst="rect">
            <a:avLst/>
          </a:prstGeom>
        </p:spPr>
      </p:pic>
      <p:sp>
        <p:nvSpPr>
          <p:cNvPr id="5" name="VISUAL…"/>
          <p:cNvSpPr txBox="1"/>
          <p:nvPr userDrawn="1"/>
        </p:nvSpPr>
        <p:spPr>
          <a:xfrm>
            <a:off x="731838" y="6222699"/>
            <a:ext cx="7598939" cy="98489"/>
          </a:xfrm>
          <a:prstGeom prst="rect">
            <a:avLst/>
          </a:prstGeom>
          <a:noFill/>
        </p:spPr>
        <p:txBody>
          <a:bodyPr wrap="square" lIns="0" tIns="0" rIns="0" bIns="0" rtlCol="0">
            <a:spAutoFit/>
          </a:bodyPr>
          <a:lstStyle>
            <a:defPPr>
              <a:defRPr lang="zh-CN"/>
            </a:defPPr>
            <a:lvl1pPr>
              <a:lnSpc>
                <a:spcPct val="80000"/>
              </a:lnSpc>
              <a:defRPr sz="3600" spc="180">
                <a:solidFill>
                  <a:srgbClr val="FFFFFF"/>
                </a:solidFill>
                <a:latin typeface="Helvetica Light"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800" spc="0" baseline="0" dirty="0">
                <a:solidFill>
                  <a:schemeClr val="bg1"/>
                </a:solidFill>
                <a:latin typeface="+mn-lt"/>
              </a:rPr>
              <a:t>Confidential @ AVATR 2023</a:t>
            </a:r>
            <a:r>
              <a:rPr lang="zh-CN" altLang="en-US" sz="800" spc="0" baseline="0" dirty="0">
                <a:solidFill>
                  <a:schemeClr val="bg1"/>
                </a:solidFill>
                <a:latin typeface="+mn-lt"/>
              </a:rPr>
              <a:t> </a:t>
            </a:r>
            <a:r>
              <a:rPr lang="en-US" altLang="zh-CN" sz="800" spc="0" baseline="0" dirty="0">
                <a:solidFill>
                  <a:schemeClr val="bg1"/>
                </a:solidFill>
                <a:latin typeface="+mn-lt"/>
              </a:rPr>
              <a:t>All rights reserved</a:t>
            </a:r>
          </a:p>
        </p:txBody>
      </p:sp>
      <p:sp>
        <p:nvSpPr>
          <p:cNvPr id="6" name="Text Placeholder 13"/>
          <p:cNvSpPr>
            <a:spLocks noGrp="1"/>
          </p:cNvSpPr>
          <p:nvPr>
            <p:ph type="body" sz="quarter" idx="10" hasCustomPrompt="1"/>
          </p:nvPr>
        </p:nvSpPr>
        <p:spPr>
          <a:xfrm>
            <a:off x="688884" y="2691324"/>
            <a:ext cx="8145842" cy="902298"/>
          </a:xfrm>
          <a:prstGeom prst="rect">
            <a:avLst/>
          </a:prstGeom>
        </p:spPr>
        <p:txBody>
          <a:bodyPr wrap="square" lIns="0" tIns="0" rIns="0" bIns="0" anchor="t" anchorCtr="0">
            <a:spAutoFit/>
          </a:bodyPr>
          <a:lstStyle>
            <a:lvl1pPr marL="12700" indent="0">
              <a:buNone/>
              <a:defRPr lang="zh-CN" altLang="en-US" sz="6400" b="0" i="0" kern="1200" spc="-150" baseline="0" dirty="0" smtClean="0">
                <a:solidFill>
                  <a:srgbClr val="F5F3F3"/>
                </a:solidFill>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请在此处输入封面标题</a:t>
            </a:r>
          </a:p>
        </p:txBody>
      </p:sp>
      <p:sp>
        <p:nvSpPr>
          <p:cNvPr id="7" name="Content Placeholder 15"/>
          <p:cNvSpPr>
            <a:spLocks noGrp="1"/>
          </p:cNvSpPr>
          <p:nvPr>
            <p:ph sz="quarter" idx="11" hasCustomPrompt="1"/>
          </p:nvPr>
        </p:nvSpPr>
        <p:spPr>
          <a:xfrm>
            <a:off x="685774" y="3495396"/>
            <a:ext cx="5417895" cy="370678"/>
          </a:xfrm>
          <a:prstGeom prst="rect">
            <a:avLst/>
          </a:prstGeom>
        </p:spPr>
        <p:txBody>
          <a:bodyPr lIns="0" tIns="0" rIns="0" bIns="0" anchor="ctr" anchorCtr="0"/>
          <a:lstStyle>
            <a:lvl1pPr marL="46355" indent="0">
              <a:buNone/>
              <a:defRPr sz="1600" b="0" i="0" spc="0" baseline="0">
                <a:solidFill>
                  <a:schemeClr val="accent1">
                    <a:lumMod val="40000"/>
                    <a:lumOff val="60000"/>
                  </a:schemeClr>
                </a:solidFill>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0" name="Content Placeholder 15"/>
          <p:cNvSpPr>
            <a:spLocks noGrp="1"/>
          </p:cNvSpPr>
          <p:nvPr>
            <p:ph sz="quarter" idx="12" hasCustomPrompt="1"/>
          </p:nvPr>
        </p:nvSpPr>
        <p:spPr>
          <a:xfrm>
            <a:off x="690393" y="3804817"/>
            <a:ext cx="5417895" cy="370678"/>
          </a:xfrm>
          <a:prstGeom prst="rect">
            <a:avLst/>
          </a:prstGeom>
        </p:spPr>
        <p:txBody>
          <a:bodyPr lIns="0" tIns="0" rIns="0" bIns="0" anchor="ctr" anchorCtr="0"/>
          <a:lstStyle>
            <a:lvl1pPr marL="46355" indent="0">
              <a:buNone/>
              <a:defRPr sz="1600" b="0" i="0" spc="0" baseline="0">
                <a:solidFill>
                  <a:schemeClr val="accent1">
                    <a:lumMod val="40000"/>
                    <a:lumOff val="60000"/>
                  </a:schemeClr>
                </a:solidFill>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请在此处输入日期</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图文分割页-绿">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6100726" y="0"/>
            <a:ext cx="6096000" cy="6858000"/>
          </a:xfrm>
          <a:prstGeom prst="rect">
            <a:avLst/>
          </a:prstGeom>
          <a:solidFill>
            <a:schemeClr val="accent6">
              <a:lumMod val="20000"/>
              <a:lumOff val="80000"/>
            </a:schemeClr>
          </a:solidFill>
        </p:spPr>
        <p:txBody>
          <a:bodyPr/>
          <a:lstStyle>
            <a:lvl1pPr>
              <a:defRPr sz="1600"/>
            </a:lvl1pPr>
          </a:lstStyle>
          <a:p>
            <a:r>
              <a:rPr lang="en-US" dirty="0"/>
              <a:t>请在此处插入图片</a:t>
            </a:r>
          </a:p>
        </p:txBody>
      </p:sp>
      <p:sp>
        <p:nvSpPr>
          <p:cNvPr id="9" name="Text Placeholder 3"/>
          <p:cNvSpPr>
            <a:spLocks noGrp="1"/>
          </p:cNvSpPr>
          <p:nvPr>
            <p:ph type="body" sz="quarter" idx="11" hasCustomPrompt="1"/>
          </p:nvPr>
        </p:nvSpPr>
        <p:spPr>
          <a:xfrm>
            <a:off x="344101" y="2247899"/>
            <a:ext cx="5282963" cy="1898649"/>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11" name="Text Placeholder 3"/>
          <p:cNvSpPr>
            <a:spLocks noGrp="1"/>
          </p:cNvSpPr>
          <p:nvPr>
            <p:ph type="body" sz="quarter" idx="13" hasCustomPrompt="1"/>
          </p:nvPr>
        </p:nvSpPr>
        <p:spPr>
          <a:xfrm>
            <a:off x="342356" y="4146548"/>
            <a:ext cx="52848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accent1">
                    <a:lumMod val="40000"/>
                    <a:lumOff val="6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0" name="Rectangle 5"/>
          <p:cNvSpPr/>
          <p:nvPr userDrawn="1"/>
        </p:nvSpPr>
        <p:spPr>
          <a:xfrm>
            <a:off x="-4689" y="2247899"/>
            <a:ext cx="45719" cy="2265627"/>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7"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tx1"/>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序号分割页-青柠绿">
    <p:spTree>
      <p:nvGrpSpPr>
        <p:cNvPr id="1" name=""/>
        <p:cNvGrpSpPr/>
        <p:nvPr/>
      </p:nvGrpSpPr>
      <p:grpSpPr>
        <a:xfrm>
          <a:off x="0" y="0"/>
          <a:ext cx="0" cy="0"/>
          <a:chOff x="0" y="0"/>
          <a:chExt cx="0" cy="0"/>
        </a:xfrm>
      </p:grpSpPr>
      <p:sp>
        <p:nvSpPr>
          <p:cNvPr id="3" name="Text Placeholder 3"/>
          <p:cNvSpPr>
            <a:spLocks noGrp="1"/>
          </p:cNvSpPr>
          <p:nvPr>
            <p:ph type="body" sz="quarter" idx="10" hasCustomPrompt="1"/>
          </p:nvPr>
        </p:nvSpPr>
        <p:spPr>
          <a:xfrm>
            <a:off x="1892236" y="3464931"/>
            <a:ext cx="88812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accent1">
                    <a:lumMod val="40000"/>
                    <a:lumOff val="6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6" name="Rectangle 5"/>
          <p:cNvSpPr/>
          <p:nvPr userDrawn="1"/>
        </p:nvSpPr>
        <p:spPr>
          <a:xfrm>
            <a:off x="-9626" y="2502725"/>
            <a:ext cx="45719" cy="1380015"/>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9" name="Text Placeholder 3"/>
          <p:cNvSpPr>
            <a:spLocks noGrp="1"/>
          </p:cNvSpPr>
          <p:nvPr>
            <p:ph type="body" sz="quarter" idx="13" hasCustomPrompt="1"/>
          </p:nvPr>
        </p:nvSpPr>
        <p:spPr>
          <a:xfrm>
            <a:off x="1892739" y="2546499"/>
            <a:ext cx="8881200" cy="914400"/>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8" name="Text Placeholder 3"/>
          <p:cNvSpPr>
            <a:spLocks noGrp="1"/>
          </p:cNvSpPr>
          <p:nvPr>
            <p:ph type="body" sz="quarter" idx="12" hasCustomPrompt="1"/>
          </p:nvPr>
        </p:nvSpPr>
        <p:spPr>
          <a:xfrm>
            <a:off x="854251" y="2037507"/>
            <a:ext cx="1010710" cy="1794402"/>
          </a:xfrm>
          <a:prstGeom prst="rect">
            <a:avLst/>
          </a:prstGeom>
        </p:spPr>
        <p:txBody>
          <a:bodyPr lIns="0" tIns="0" rIns="0" bIns="0" anchor="ctr" anchorCtr="0">
            <a:spAutoFit/>
          </a:bodyPr>
          <a:lstStyle>
            <a:lvl1pPr marL="0" indent="0">
              <a:buNone/>
              <a:defRPr kumimoji="0" lang="zh-CN" altLang="en-US" sz="12800" b="0" i="0" u="none" strike="noStrike" kern="0" cap="none" spc="0" normalizeH="0" baseline="0" dirty="0">
                <a:ln>
                  <a:noFill/>
                </a:ln>
                <a:solidFill>
                  <a:srgbClr val="FFFFFF"/>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en-US" altLang="zh-CN" dirty="0"/>
              <a:t>1</a:t>
            </a:r>
            <a:endParaRPr lang="zh-CN" altLang="en-US" dirty="0"/>
          </a:p>
        </p:txBody>
      </p:sp>
      <p:sp>
        <p:nvSpPr>
          <p:cNvPr id="7"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单文本框文字内容页-青柠绿">
    <p:spTree>
      <p:nvGrpSpPr>
        <p:cNvPr id="1" name=""/>
        <p:cNvGrpSpPr/>
        <p:nvPr/>
      </p:nvGrpSpPr>
      <p:grpSpPr>
        <a:xfrm>
          <a:off x="0" y="0"/>
          <a:ext cx="0" cy="0"/>
          <a:chOff x="0" y="0"/>
          <a:chExt cx="0" cy="0"/>
        </a:xfrm>
      </p:grpSpPr>
      <p:sp>
        <p:nvSpPr>
          <p:cNvPr id="11" name="Text Placeholder 10"/>
          <p:cNvSpPr>
            <a:spLocks noGrp="1"/>
          </p:cNvSpPr>
          <p:nvPr>
            <p:ph type="body" sz="quarter" idx="14" hasCustomPrompt="1"/>
          </p:nvPr>
        </p:nvSpPr>
        <p:spPr>
          <a:xfrm>
            <a:off x="297723" y="1538573"/>
            <a:ext cx="11589477" cy="4480121"/>
          </a:xfrm>
          <a:prstGeom prst="rect">
            <a:avLst/>
          </a:prstGeom>
        </p:spPr>
        <p:txBody>
          <a:bodyPr lIns="0" tIns="0" rIns="0" bIns="0"/>
          <a:lstStyle>
            <a:lvl1pPr marL="12700" indent="0">
              <a:lnSpc>
                <a:spcPct val="150000"/>
              </a:lnSpc>
              <a:buNone/>
              <a:defRPr sz="16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sz="1200" b="0" i="0">
                <a:latin typeface="Alibaba PuHuiTi 2.0 55 Regular" pitchFamily="18" charset="-122"/>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US" dirty="0"/>
          </a:p>
        </p:txBody>
      </p:sp>
      <p:sp>
        <p:nvSpPr>
          <p:cNvPr id="18" name="Text Placeholder 24"/>
          <p:cNvSpPr>
            <a:spLocks noGrp="1"/>
          </p:cNvSpPr>
          <p:nvPr>
            <p:ph type="body" sz="quarter" idx="21" hasCustomPrompt="1"/>
          </p:nvPr>
        </p:nvSpPr>
        <p:spPr>
          <a:xfrm>
            <a:off x="302944" y="339516"/>
            <a:ext cx="11547559" cy="499789"/>
          </a:xfrm>
          <a:prstGeom prst="rect">
            <a:avLst/>
          </a:prstGeom>
        </p:spPr>
        <p:txBody>
          <a:bodyPr lIns="0" tIns="0" rIns="0" bIns="0" anchor="ctr" anchorCtr="0"/>
          <a:lstStyle>
            <a:lvl1pPr marL="0" indent="0" algn="l">
              <a:buNone/>
              <a:defRPr sz="24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9" name="Text Placeholder 3"/>
          <p:cNvSpPr>
            <a:spLocks noGrp="1"/>
          </p:cNvSpPr>
          <p:nvPr>
            <p:ph type="body" sz="quarter" idx="22" hasCustomPrompt="1"/>
          </p:nvPr>
        </p:nvSpPr>
        <p:spPr>
          <a:xfrm>
            <a:off x="311065" y="906889"/>
            <a:ext cx="11547560" cy="345747"/>
          </a:xfrm>
          <a:prstGeom prst="rect">
            <a:avLst/>
          </a:prstGeom>
          <a:noFill/>
        </p:spPr>
        <p:txBody>
          <a:bodyPr lIns="0" tIns="0" rIns="0" bIns="0" anchor="t" anchorCtr="0"/>
          <a:lstStyle>
            <a:lvl1pPr marL="0" indent="0" algn="l">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E00B666-AD48-5640-8D08-2A4A6036569F}"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cxnSp>
        <p:nvCxnSpPr>
          <p:cNvPr id="3" name="直接连接符 2"/>
          <p:cNvCxnSpPr/>
          <p:nvPr userDrawn="1"/>
        </p:nvCxnSpPr>
        <p:spPr>
          <a:xfrm>
            <a:off x="282490" y="859265"/>
            <a:ext cx="11576135"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12" name="Text Placeholder 3"/>
          <p:cNvSpPr>
            <a:spLocks noGrp="1"/>
          </p:cNvSpPr>
          <p:nvPr>
            <p:ph type="body" sz="quarter" idx="15" hasCustomPrompt="1"/>
          </p:nvPr>
        </p:nvSpPr>
        <p:spPr>
          <a:xfrm>
            <a:off x="1375682" y="1896779"/>
            <a:ext cx="7716667" cy="367490"/>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会议日程一</a:t>
            </a:r>
          </a:p>
        </p:txBody>
      </p:sp>
      <p:sp>
        <p:nvSpPr>
          <p:cNvPr id="13" name="Text Placeholder 135"/>
          <p:cNvSpPr>
            <a:spLocks noGrp="1"/>
          </p:cNvSpPr>
          <p:nvPr>
            <p:ph type="body" sz="quarter" idx="16" hasCustomPrompt="1"/>
          </p:nvPr>
        </p:nvSpPr>
        <p:spPr>
          <a:xfrm>
            <a:off x="160491" y="1899144"/>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01</a:t>
            </a:r>
            <a:endParaRPr lang="zh-CN" altLang="en-US" dirty="0"/>
          </a:p>
        </p:txBody>
      </p:sp>
      <p:cxnSp>
        <p:nvCxnSpPr>
          <p:cNvPr id="31" name="Straight Connector 30"/>
          <p:cNvCxnSpPr/>
          <p:nvPr userDrawn="1"/>
        </p:nvCxnSpPr>
        <p:spPr>
          <a:xfrm>
            <a:off x="312912" y="1188079"/>
            <a:ext cx="11579051" cy="0"/>
          </a:xfrm>
          <a:prstGeom prst="line">
            <a:avLst/>
          </a:prstGeom>
          <a:ln w="19050">
            <a:solidFill>
              <a:schemeClr val="accent4"/>
            </a:solidFill>
            <a:prstDash val="solid"/>
          </a:ln>
        </p:spPr>
        <p:style>
          <a:lnRef idx="1">
            <a:schemeClr val="accent1"/>
          </a:lnRef>
          <a:fillRef idx="0">
            <a:schemeClr val="accent1"/>
          </a:fillRef>
          <a:effectRef idx="0">
            <a:schemeClr val="accent1"/>
          </a:effectRef>
          <a:fontRef idx="minor">
            <a:schemeClr val="tx1"/>
          </a:fontRef>
        </p:style>
      </p:cxnSp>
      <p:sp>
        <p:nvSpPr>
          <p:cNvPr id="42" name="Text Placeholder 3"/>
          <p:cNvSpPr>
            <a:spLocks noGrp="1"/>
          </p:cNvSpPr>
          <p:nvPr>
            <p:ph type="body" sz="quarter" idx="23" hasCustomPrompt="1"/>
          </p:nvPr>
        </p:nvSpPr>
        <p:spPr>
          <a:xfrm>
            <a:off x="1375682" y="2603298"/>
            <a:ext cx="7716667" cy="356980"/>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会议日程二</a:t>
            </a:r>
          </a:p>
        </p:txBody>
      </p:sp>
      <p:sp>
        <p:nvSpPr>
          <p:cNvPr id="43" name="Text Placeholder 135"/>
          <p:cNvSpPr>
            <a:spLocks noGrp="1"/>
          </p:cNvSpPr>
          <p:nvPr>
            <p:ph type="body" sz="quarter" idx="24" hasCustomPrompt="1"/>
          </p:nvPr>
        </p:nvSpPr>
        <p:spPr>
          <a:xfrm>
            <a:off x="160491" y="2601262"/>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02</a:t>
            </a:r>
            <a:endParaRPr lang="zh-CN" altLang="en-US" dirty="0"/>
          </a:p>
        </p:txBody>
      </p:sp>
      <p:sp>
        <p:nvSpPr>
          <p:cNvPr id="44" name="Text Placeholder 3"/>
          <p:cNvSpPr>
            <a:spLocks noGrp="1"/>
          </p:cNvSpPr>
          <p:nvPr>
            <p:ph type="body" sz="quarter" idx="25" hasCustomPrompt="1"/>
          </p:nvPr>
        </p:nvSpPr>
        <p:spPr>
          <a:xfrm>
            <a:off x="1375682" y="3299307"/>
            <a:ext cx="7716667" cy="365126"/>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会议日程三</a:t>
            </a:r>
          </a:p>
        </p:txBody>
      </p:sp>
      <p:sp>
        <p:nvSpPr>
          <p:cNvPr id="45" name="Text Placeholder 135"/>
          <p:cNvSpPr>
            <a:spLocks noGrp="1"/>
          </p:cNvSpPr>
          <p:nvPr>
            <p:ph type="body" sz="quarter" idx="26" hasCustomPrompt="1"/>
          </p:nvPr>
        </p:nvSpPr>
        <p:spPr>
          <a:xfrm>
            <a:off x="160491" y="3303380"/>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03</a:t>
            </a:r>
            <a:endParaRPr lang="zh-CN" altLang="en-US" dirty="0"/>
          </a:p>
        </p:txBody>
      </p:sp>
      <p:sp>
        <p:nvSpPr>
          <p:cNvPr id="46" name="Text Placeholder 3"/>
          <p:cNvSpPr>
            <a:spLocks noGrp="1"/>
          </p:cNvSpPr>
          <p:nvPr>
            <p:ph type="body" sz="quarter" idx="27" hasCustomPrompt="1"/>
          </p:nvPr>
        </p:nvSpPr>
        <p:spPr>
          <a:xfrm>
            <a:off x="1375682" y="4003461"/>
            <a:ext cx="7716667" cy="365126"/>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会议日程四</a:t>
            </a:r>
          </a:p>
        </p:txBody>
      </p:sp>
      <p:sp>
        <p:nvSpPr>
          <p:cNvPr id="47" name="Text Placeholder 135"/>
          <p:cNvSpPr>
            <a:spLocks noGrp="1"/>
          </p:cNvSpPr>
          <p:nvPr>
            <p:ph type="body" sz="quarter" idx="28" hasCustomPrompt="1"/>
          </p:nvPr>
        </p:nvSpPr>
        <p:spPr>
          <a:xfrm>
            <a:off x="160491" y="4005498"/>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04</a:t>
            </a:r>
            <a:endParaRPr lang="zh-CN" altLang="en-US" dirty="0"/>
          </a:p>
        </p:txBody>
      </p:sp>
      <p:sp>
        <p:nvSpPr>
          <p:cNvPr id="48" name="Text Placeholder 3"/>
          <p:cNvSpPr>
            <a:spLocks noGrp="1"/>
          </p:cNvSpPr>
          <p:nvPr>
            <p:ph type="body" sz="quarter" idx="29" hasCustomPrompt="1"/>
          </p:nvPr>
        </p:nvSpPr>
        <p:spPr>
          <a:xfrm>
            <a:off x="1375682" y="4707615"/>
            <a:ext cx="7716667" cy="365125"/>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会议日程五</a:t>
            </a:r>
          </a:p>
        </p:txBody>
      </p:sp>
      <p:sp>
        <p:nvSpPr>
          <p:cNvPr id="49" name="Text Placeholder 135"/>
          <p:cNvSpPr>
            <a:spLocks noGrp="1"/>
          </p:cNvSpPr>
          <p:nvPr>
            <p:ph type="body" sz="quarter" idx="30" hasCustomPrompt="1"/>
          </p:nvPr>
        </p:nvSpPr>
        <p:spPr>
          <a:xfrm>
            <a:off x="160491" y="4707615"/>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05</a:t>
            </a:r>
            <a:endParaRPr lang="zh-CN" altLang="en-US" dirty="0"/>
          </a:p>
        </p:txBody>
      </p:sp>
      <p:sp>
        <p:nvSpPr>
          <p:cNvPr id="23" name="Text Placeholder 3"/>
          <p:cNvSpPr>
            <a:spLocks noGrp="1"/>
          </p:cNvSpPr>
          <p:nvPr>
            <p:ph type="body" sz="quarter" idx="22" hasCustomPrompt="1"/>
          </p:nvPr>
        </p:nvSpPr>
        <p:spPr>
          <a:xfrm>
            <a:off x="314303" y="859165"/>
            <a:ext cx="1800000" cy="280736"/>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en-US" altLang="zh-CN" dirty="0"/>
              <a:t>Agenda</a:t>
            </a:r>
            <a:endParaRPr lang="zh-CN" altLang="en-US" dirty="0"/>
          </a:p>
        </p:txBody>
      </p:sp>
      <p:sp>
        <p:nvSpPr>
          <p:cNvPr id="26" name="Text Placeholder 24"/>
          <p:cNvSpPr>
            <a:spLocks noGrp="1"/>
          </p:cNvSpPr>
          <p:nvPr>
            <p:ph type="body" sz="quarter" idx="21" hasCustomPrompt="1"/>
          </p:nvPr>
        </p:nvSpPr>
        <p:spPr>
          <a:xfrm>
            <a:off x="252079" y="329891"/>
            <a:ext cx="1862224" cy="588880"/>
          </a:xfrm>
          <a:prstGeom prst="rect">
            <a:avLst/>
          </a:prstGeom>
        </p:spPr>
        <p:txBody>
          <a:bodyPr lIns="0" tIns="0" rIns="0" bIns="0" anchor="ctr" anchorCtr="0"/>
          <a:lstStyle>
            <a:lvl1pPr marL="0" indent="0" algn="l">
              <a:buNone/>
              <a:defRPr sz="3200" b="0" i="0" baseline="0">
                <a:latin typeface="Alibaba PuHuiTi 2.0 55 Regular" pitchFamily="18" charset="-122"/>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目录</a:t>
            </a:r>
            <a:endParaRPr lang="en-US" dirty="0"/>
          </a:p>
        </p:txBody>
      </p:sp>
      <p:sp>
        <p:nvSpPr>
          <p:cNvPr id="16"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单文本框文字内容页-青柠绿">
    <p:spTree>
      <p:nvGrpSpPr>
        <p:cNvPr id="1" name=""/>
        <p:cNvGrpSpPr/>
        <p:nvPr/>
      </p:nvGrpSpPr>
      <p:grpSpPr>
        <a:xfrm>
          <a:off x="0" y="0"/>
          <a:ext cx="0" cy="0"/>
          <a:chOff x="0" y="0"/>
          <a:chExt cx="0" cy="0"/>
        </a:xfrm>
      </p:grpSpPr>
      <p:sp>
        <p:nvSpPr>
          <p:cNvPr id="11" name="Text Placeholder 10"/>
          <p:cNvSpPr>
            <a:spLocks noGrp="1"/>
          </p:cNvSpPr>
          <p:nvPr>
            <p:ph type="body" sz="quarter" idx="14" hasCustomPrompt="1"/>
          </p:nvPr>
        </p:nvSpPr>
        <p:spPr>
          <a:xfrm>
            <a:off x="297723" y="1538573"/>
            <a:ext cx="11589477" cy="4480121"/>
          </a:xfrm>
          <a:prstGeom prst="rect">
            <a:avLst/>
          </a:prstGeom>
        </p:spPr>
        <p:txBody>
          <a:bodyPr lIns="0" tIns="0" rIns="0" bIns="0"/>
          <a:lstStyle>
            <a:lvl1pPr marL="12700" indent="0">
              <a:lnSpc>
                <a:spcPct val="150000"/>
              </a:lnSpc>
              <a:buNone/>
              <a:defRPr sz="16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sz="1200" b="0" i="0">
                <a:latin typeface="Alibaba PuHuiTi 2.0 55 Regular" pitchFamily="18" charset="-122"/>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US" dirty="0"/>
          </a:p>
        </p:txBody>
      </p:sp>
      <p:sp>
        <p:nvSpPr>
          <p:cNvPr id="18"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9"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E00B666-AD48-5640-8D08-2A4A6036569F}"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单文本框文字内容页-青柠绿">
    <p:spTree>
      <p:nvGrpSpPr>
        <p:cNvPr id="1" name=""/>
        <p:cNvGrpSpPr/>
        <p:nvPr/>
      </p:nvGrpSpPr>
      <p:grpSpPr>
        <a:xfrm>
          <a:off x="0" y="0"/>
          <a:ext cx="0" cy="0"/>
          <a:chOff x="0" y="0"/>
          <a:chExt cx="0" cy="0"/>
        </a:xfrm>
      </p:grpSpPr>
      <p:sp>
        <p:nvSpPr>
          <p:cNvPr id="11" name="Text Placeholder 10"/>
          <p:cNvSpPr>
            <a:spLocks noGrp="1"/>
          </p:cNvSpPr>
          <p:nvPr>
            <p:ph type="body" sz="quarter" idx="14" hasCustomPrompt="1"/>
          </p:nvPr>
        </p:nvSpPr>
        <p:spPr>
          <a:xfrm>
            <a:off x="297723" y="1538573"/>
            <a:ext cx="11589477" cy="4480121"/>
          </a:xfrm>
          <a:prstGeom prst="rect">
            <a:avLst/>
          </a:prstGeom>
        </p:spPr>
        <p:txBody>
          <a:bodyPr lIns="0" tIns="0" rIns="0" bIns="0"/>
          <a:lstStyle>
            <a:lvl1pPr marL="12700" indent="0">
              <a:lnSpc>
                <a:spcPct val="150000"/>
              </a:lnSpc>
              <a:buNone/>
              <a:defRPr sz="16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sz="1200" b="0" i="0">
                <a:latin typeface="Alibaba PuHuiTi 2.0 55 Regular" pitchFamily="18" charset="-122"/>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US" dirty="0"/>
          </a:p>
        </p:txBody>
      </p:sp>
      <p:sp>
        <p:nvSpPr>
          <p:cNvPr id="18" name="Text Placeholder 24"/>
          <p:cNvSpPr>
            <a:spLocks noGrp="1"/>
          </p:cNvSpPr>
          <p:nvPr>
            <p:ph type="body" sz="quarter" idx="21" hasCustomPrompt="1"/>
          </p:nvPr>
        </p:nvSpPr>
        <p:spPr>
          <a:xfrm>
            <a:off x="302944" y="339516"/>
            <a:ext cx="11547559" cy="499789"/>
          </a:xfrm>
          <a:prstGeom prst="rect">
            <a:avLst/>
          </a:prstGeom>
        </p:spPr>
        <p:txBody>
          <a:bodyPr lIns="0" tIns="0" rIns="0" bIns="0" anchor="ctr" anchorCtr="0"/>
          <a:lstStyle>
            <a:lvl1pPr marL="0" indent="0" algn="l">
              <a:buNone/>
              <a:defRPr sz="24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9" name="Text Placeholder 3"/>
          <p:cNvSpPr>
            <a:spLocks noGrp="1"/>
          </p:cNvSpPr>
          <p:nvPr>
            <p:ph type="body" sz="quarter" idx="22" hasCustomPrompt="1"/>
          </p:nvPr>
        </p:nvSpPr>
        <p:spPr>
          <a:xfrm>
            <a:off x="311065" y="906889"/>
            <a:ext cx="11547560" cy="345747"/>
          </a:xfrm>
          <a:prstGeom prst="rect">
            <a:avLst/>
          </a:prstGeom>
          <a:noFill/>
        </p:spPr>
        <p:txBody>
          <a:bodyPr lIns="0" tIns="0" rIns="0" bIns="0" anchor="t" anchorCtr="0"/>
          <a:lstStyle>
            <a:lvl1pPr marL="0" indent="0" algn="l">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E00B666-AD48-5640-8D08-2A4A6036569F}"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cxnSp>
        <p:nvCxnSpPr>
          <p:cNvPr id="3" name="直接连接符 2"/>
          <p:cNvCxnSpPr/>
          <p:nvPr userDrawn="1"/>
        </p:nvCxnSpPr>
        <p:spPr>
          <a:xfrm>
            <a:off x="282490" y="859265"/>
            <a:ext cx="11576135"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49A7500D-4214-FEC8-7024-1CA6641A38AD}"/>
              </a:ext>
            </a:extLst>
          </p:cNvPr>
          <p:cNvSpPr txBox="1"/>
          <p:nvPr userDrawn="1"/>
        </p:nvSpPr>
        <p:spPr>
          <a:xfrm>
            <a:off x="-1396002" y="1580854"/>
            <a:ext cx="1303562" cy="276999"/>
          </a:xfrm>
          <a:prstGeom prst="rect">
            <a:avLst/>
          </a:prstGeom>
          <a:noFill/>
        </p:spPr>
        <p:txBody>
          <a:bodyPr wrap="none" rtlCol="0">
            <a:spAutoFit/>
          </a:bodyPr>
          <a:lstStyle/>
          <a:p>
            <a:r>
              <a:rPr kumimoji="1" lang="zh-CN" altLang="en-US" sz="1200" dirty="0"/>
              <a:t>标题栏：高度</a:t>
            </a:r>
            <a:r>
              <a:rPr kumimoji="1" lang="en-US" altLang="zh-CN" sz="1200" dirty="0"/>
              <a:t>1.2</a:t>
            </a:r>
            <a:endParaRPr kumimoji="1" lang="zh-CN" altLang="en-US" sz="1200" dirty="0"/>
          </a:p>
        </p:txBody>
      </p:sp>
      <p:sp>
        <p:nvSpPr>
          <p:cNvPr id="4" name="矩形 3">
            <a:extLst>
              <a:ext uri="{FF2B5EF4-FFF2-40B4-BE49-F238E27FC236}">
                <a16:creationId xmlns:a16="http://schemas.microsoft.com/office/drawing/2014/main" id="{F000CF6A-38A5-58DB-D320-24D820ED1395}"/>
              </a:ext>
            </a:extLst>
          </p:cNvPr>
          <p:cNvSpPr/>
          <p:nvPr userDrawn="1"/>
        </p:nvSpPr>
        <p:spPr>
          <a:xfrm>
            <a:off x="-1396002" y="2208810"/>
            <a:ext cx="1303562" cy="36813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底纹</a:t>
            </a:r>
          </a:p>
        </p:txBody>
      </p:sp>
      <p:sp>
        <p:nvSpPr>
          <p:cNvPr id="5" name="矩形 4">
            <a:extLst>
              <a:ext uri="{FF2B5EF4-FFF2-40B4-BE49-F238E27FC236}">
                <a16:creationId xmlns:a16="http://schemas.microsoft.com/office/drawing/2014/main" id="{97F884CF-5726-1886-F7FC-E97D6B1E0A66}"/>
              </a:ext>
            </a:extLst>
          </p:cNvPr>
          <p:cNvSpPr/>
          <p:nvPr userDrawn="1"/>
        </p:nvSpPr>
        <p:spPr>
          <a:xfrm>
            <a:off x="-1396002" y="2743834"/>
            <a:ext cx="1303562" cy="368135"/>
          </a:xfrm>
          <a:prstGeom prst="rect">
            <a:avLst/>
          </a:prstGeom>
          <a:solidFill>
            <a:srgbClr val="4B8D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2"/>
                </a:solidFill>
              </a:rPr>
              <a:t>色块</a:t>
            </a: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166" userDrawn="1">
          <p15:clr>
            <a:srgbClr val="FBAE40"/>
          </p15:clr>
        </p15:guide>
        <p15:guide id="4" pos="7514" userDrawn="1">
          <p15:clr>
            <a:srgbClr val="FBAE40"/>
          </p15:clr>
        </p15:guide>
        <p15:guide id="5" orient="horz" pos="3952" userDrawn="1">
          <p15:clr>
            <a:srgbClr val="FBAE40"/>
          </p15:clr>
        </p15:guide>
        <p15:guide id="6" orient="horz" pos="935" userDrawn="1">
          <p15:clr>
            <a:srgbClr val="FBAE40"/>
          </p15:clr>
        </p15:guide>
        <p15:guide id="7" orient="horz" pos="120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单文本框文字内容页-午夜蓝">
    <p:spTree>
      <p:nvGrpSpPr>
        <p:cNvPr id="1" name=""/>
        <p:cNvGrpSpPr/>
        <p:nvPr/>
      </p:nvGrpSpPr>
      <p:grpSpPr>
        <a:xfrm>
          <a:off x="0" y="0"/>
          <a:ext cx="0" cy="0"/>
          <a:chOff x="0" y="0"/>
          <a:chExt cx="0" cy="0"/>
        </a:xfrm>
      </p:grpSpPr>
      <p:sp>
        <p:nvSpPr>
          <p:cNvPr id="5"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6"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8" name="Text Placeholder 10"/>
          <p:cNvSpPr>
            <a:spLocks noGrp="1"/>
          </p:cNvSpPr>
          <p:nvPr>
            <p:ph type="body" sz="quarter" idx="14" hasCustomPrompt="1"/>
          </p:nvPr>
        </p:nvSpPr>
        <p:spPr>
          <a:xfrm>
            <a:off x="297723" y="1538573"/>
            <a:ext cx="11589477" cy="4480121"/>
          </a:xfrm>
          <a:prstGeom prst="rect">
            <a:avLst/>
          </a:prstGeom>
        </p:spPr>
        <p:txBody>
          <a:bodyPr lIns="0" tIns="0" rIns="0" bIns="0"/>
          <a:lstStyle>
            <a:lvl1pPr marL="12700" indent="0">
              <a:lnSpc>
                <a:spcPct val="150000"/>
              </a:lnSpc>
              <a:buNone/>
              <a:defRPr sz="16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sz="1200" b="0" i="0">
                <a:latin typeface="Alibaba PuHuiTi 2.0 55 Regular" pitchFamily="18" charset="-122"/>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US" dirty="0"/>
          </a:p>
        </p:txBody>
      </p:sp>
      <p:sp>
        <p:nvSpPr>
          <p:cNvPr id="11"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04824671-56D2-5D44-834F-250C3DA554E9}"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单文本框文字内容页-热品红">
    <p:spTree>
      <p:nvGrpSpPr>
        <p:cNvPr id="1" name=""/>
        <p:cNvGrpSpPr/>
        <p:nvPr/>
      </p:nvGrpSpPr>
      <p:grpSpPr>
        <a:xfrm>
          <a:off x="0" y="0"/>
          <a:ext cx="0" cy="0"/>
          <a:chOff x="0" y="0"/>
          <a:chExt cx="0" cy="0"/>
        </a:xfrm>
      </p:grpSpPr>
      <p:sp>
        <p:nvSpPr>
          <p:cNvPr id="5"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6"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8" name="Text Placeholder 10"/>
          <p:cNvSpPr>
            <a:spLocks noGrp="1"/>
          </p:cNvSpPr>
          <p:nvPr>
            <p:ph type="body" sz="quarter" idx="14" hasCustomPrompt="1"/>
          </p:nvPr>
        </p:nvSpPr>
        <p:spPr>
          <a:xfrm>
            <a:off x="297723" y="1538573"/>
            <a:ext cx="11589477" cy="4480121"/>
          </a:xfrm>
          <a:prstGeom prst="rect">
            <a:avLst/>
          </a:prstGeom>
        </p:spPr>
        <p:txBody>
          <a:bodyPr lIns="0" tIns="0" rIns="0" bIns="0"/>
          <a:lstStyle>
            <a:lvl1pPr marL="12700" indent="0">
              <a:lnSpc>
                <a:spcPct val="150000"/>
              </a:lnSpc>
              <a:buNone/>
              <a:defRPr sz="16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sz="1200" b="0" i="0">
                <a:latin typeface="Alibaba PuHuiTi 2.0 55 Regular" pitchFamily="18" charset="-122"/>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US" dirty="0"/>
          </a:p>
        </p:txBody>
      </p:sp>
      <p:sp>
        <p:nvSpPr>
          <p:cNvPr id="11"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单文本框分级文字内容页-青柠绿">
    <p:spTree>
      <p:nvGrpSpPr>
        <p:cNvPr id="1" name=""/>
        <p:cNvGrpSpPr/>
        <p:nvPr/>
      </p:nvGrpSpPr>
      <p:grpSpPr>
        <a:xfrm>
          <a:off x="0" y="0"/>
          <a:ext cx="0" cy="0"/>
          <a:chOff x="0" y="0"/>
          <a:chExt cx="0" cy="0"/>
        </a:xfrm>
      </p:grpSpPr>
      <p:sp>
        <p:nvSpPr>
          <p:cNvPr id="15"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6"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9" name="Text Placeholder 10"/>
          <p:cNvSpPr>
            <a:spLocks noGrp="1"/>
          </p:cNvSpPr>
          <p:nvPr>
            <p:ph type="body" sz="quarter" idx="14" hasCustomPrompt="1"/>
          </p:nvPr>
        </p:nvSpPr>
        <p:spPr>
          <a:xfrm>
            <a:off x="297723" y="1528948"/>
            <a:ext cx="11589477" cy="4480121"/>
          </a:xfrm>
          <a:prstGeom prst="rect">
            <a:avLst/>
          </a:prstGeom>
        </p:spPr>
        <p:txBody>
          <a:bodyPr lIns="0" tIns="0" rIns="0" bIns="0"/>
          <a:lstStyle>
            <a:lvl1pPr marL="298450" indent="-285750">
              <a:lnSpc>
                <a:spcPct val="150000"/>
              </a:lnSpc>
              <a:buFont typeface="Arial" panose="020B0604020202020204" pitchFamily="34" charset="0"/>
              <a:buChar char="•"/>
              <a:defRPr sz="1600" b="0" i="0" baseline="0">
                <a:latin typeface="DIN Pro Regular" panose="02000503040000020003" pitchFamily="50" charset="0"/>
                <a:ea typeface="Alibaba PuHuiTi 2.0 55 Regular" pitchFamily="18" charset="-122"/>
                <a:cs typeface="Alibaba PuHuiTi 2.0 55 Regular" pitchFamily="18" charset="-122"/>
              </a:defRPr>
            </a:lvl1pPr>
            <a:lvl2pPr marL="628650" indent="-171450">
              <a:buFont typeface="Courier New" panose="02070309020205020404" pitchFamily="49" charset="0"/>
              <a:buChar char="o"/>
              <a:defRPr sz="1600" b="0" i="0" baseline="0">
                <a:latin typeface="DIN Pro Regular" panose="02000503040000020003" pitchFamily="50" charset="0"/>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r>
              <a:rPr lang="en-GB" dirty="0"/>
              <a:t> </a:t>
            </a:r>
          </a:p>
          <a:p>
            <a:pPr lvl="1"/>
            <a:r>
              <a:rPr lang="en-GB" dirty="0" err="1"/>
              <a:t>请在此处输入正文</a:t>
            </a:r>
            <a:r>
              <a:rPr lang="en-GB" dirty="0"/>
              <a:t> </a:t>
            </a:r>
            <a:endParaRPr lang="en-US" dirty="0"/>
          </a:p>
        </p:txBody>
      </p:sp>
      <p:sp>
        <p:nvSpPr>
          <p:cNvPr id="20"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单文本框分级文字内容页-午夜蓝">
    <p:spTree>
      <p:nvGrpSpPr>
        <p:cNvPr id="1" name=""/>
        <p:cNvGrpSpPr/>
        <p:nvPr/>
      </p:nvGrpSpPr>
      <p:grpSpPr>
        <a:xfrm>
          <a:off x="0" y="0"/>
          <a:ext cx="0" cy="0"/>
          <a:chOff x="0" y="0"/>
          <a:chExt cx="0" cy="0"/>
        </a:xfrm>
      </p:grpSpPr>
      <p:sp>
        <p:nvSpPr>
          <p:cNvPr id="4"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5"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 name="Text Placeholder 10"/>
          <p:cNvSpPr>
            <a:spLocks noGrp="1"/>
          </p:cNvSpPr>
          <p:nvPr>
            <p:ph type="body" sz="quarter" idx="14" hasCustomPrompt="1"/>
          </p:nvPr>
        </p:nvSpPr>
        <p:spPr>
          <a:xfrm>
            <a:off x="297723" y="1528948"/>
            <a:ext cx="11589477" cy="4480121"/>
          </a:xfrm>
          <a:prstGeom prst="rect">
            <a:avLst/>
          </a:prstGeom>
        </p:spPr>
        <p:txBody>
          <a:bodyPr lIns="0" tIns="0" rIns="0" bIns="0"/>
          <a:lstStyle>
            <a:lvl1pPr marL="298450" indent="-285750">
              <a:lnSpc>
                <a:spcPct val="150000"/>
              </a:lnSpc>
              <a:buFont typeface="Arial" panose="020B0604020202020204" pitchFamily="34" charset="0"/>
              <a:buChar char="•"/>
              <a:defRPr sz="1600" b="0" i="0" baseline="0">
                <a:latin typeface="DIN Pro Regular" panose="02000503040000020003" pitchFamily="50" charset="0"/>
                <a:ea typeface="Alibaba PuHuiTi 2.0 55 Regular" pitchFamily="18" charset="-122"/>
                <a:cs typeface="Alibaba PuHuiTi 2.0 55 Regular" pitchFamily="18" charset="-122"/>
              </a:defRPr>
            </a:lvl1pPr>
            <a:lvl2pPr marL="628650" indent="-171450">
              <a:buFont typeface="Courier New" panose="02070309020205020404" pitchFamily="49" charset="0"/>
              <a:buChar char="o"/>
              <a:defRPr sz="1600" b="0" i="0" baseline="0">
                <a:latin typeface="DIN Pro Regular" panose="02000503040000020003" pitchFamily="50" charset="0"/>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GB" dirty="0"/>
          </a:p>
          <a:p>
            <a:pPr lvl="1"/>
            <a:r>
              <a:rPr lang="en-GB" dirty="0" err="1"/>
              <a:t>请在此处输入正文</a:t>
            </a:r>
            <a:endParaRPr lang="en-US" dirty="0"/>
          </a:p>
        </p:txBody>
      </p:sp>
      <p:sp>
        <p:nvSpPr>
          <p:cNvPr id="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9" name="Rectangle 5"/>
          <p:cNvSpPr/>
          <p:nvPr userDrawn="1"/>
        </p:nvSpPr>
        <p:spPr>
          <a:xfrm flipH="1">
            <a:off x="-2408" y="339517"/>
            <a:ext cx="45719" cy="913122"/>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单文本框分级文字内容页-热品红">
    <p:spTree>
      <p:nvGrpSpPr>
        <p:cNvPr id="1" name=""/>
        <p:cNvGrpSpPr/>
        <p:nvPr/>
      </p:nvGrpSpPr>
      <p:grpSpPr>
        <a:xfrm>
          <a:off x="0" y="0"/>
          <a:ext cx="0" cy="0"/>
          <a:chOff x="0" y="0"/>
          <a:chExt cx="0" cy="0"/>
        </a:xfrm>
      </p:grpSpPr>
      <p:sp>
        <p:nvSpPr>
          <p:cNvPr id="4"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5"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 name="Text Placeholder 10"/>
          <p:cNvSpPr>
            <a:spLocks noGrp="1"/>
          </p:cNvSpPr>
          <p:nvPr>
            <p:ph type="body" sz="quarter" idx="14" hasCustomPrompt="1"/>
          </p:nvPr>
        </p:nvSpPr>
        <p:spPr>
          <a:xfrm>
            <a:off x="297723" y="1528948"/>
            <a:ext cx="11589477" cy="4480121"/>
          </a:xfrm>
          <a:prstGeom prst="rect">
            <a:avLst/>
          </a:prstGeom>
        </p:spPr>
        <p:txBody>
          <a:bodyPr lIns="0" tIns="0" rIns="0" bIns="0"/>
          <a:lstStyle>
            <a:lvl1pPr marL="298450" indent="-285750">
              <a:lnSpc>
                <a:spcPct val="150000"/>
              </a:lnSpc>
              <a:buFont typeface="Arial" panose="020B0604020202020204" pitchFamily="34" charset="0"/>
              <a:buChar char="•"/>
              <a:defRPr sz="1600" b="0" i="0" baseline="0">
                <a:latin typeface="DIN Pro Regular" panose="02000503040000020003" pitchFamily="50" charset="0"/>
                <a:ea typeface="Alibaba PuHuiTi 2.0 55 Regular" pitchFamily="18" charset="-122"/>
                <a:cs typeface="Alibaba PuHuiTi 2.0 55 Regular" pitchFamily="18" charset="-122"/>
              </a:defRPr>
            </a:lvl1pPr>
            <a:lvl2pPr marL="628650" indent="-171450">
              <a:buFont typeface="Courier New" panose="02070309020205020404" pitchFamily="49" charset="0"/>
              <a:buChar char="o"/>
              <a:defRPr sz="1600" b="0" i="0" baseline="0">
                <a:latin typeface="DIN Pro Regular" panose="02000503040000020003" pitchFamily="50" charset="0"/>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GB" dirty="0"/>
          </a:p>
          <a:p>
            <a:pPr lvl="1"/>
            <a:r>
              <a:rPr lang="en-GB" dirty="0" err="1"/>
              <a:t>请在此处输入正文</a:t>
            </a:r>
            <a:endParaRPr lang="en-US" dirty="0"/>
          </a:p>
        </p:txBody>
      </p:sp>
      <p:sp>
        <p:nvSpPr>
          <p:cNvPr id="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9" name="Rectangle 5"/>
          <p:cNvSpPr/>
          <p:nvPr userDrawn="1"/>
        </p:nvSpPr>
        <p:spPr>
          <a:xfrm flipH="1">
            <a:off x="-2408" y="339517"/>
            <a:ext cx="45719" cy="913122"/>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双文本框文字内容页-青柠绿">
    <p:spTree>
      <p:nvGrpSpPr>
        <p:cNvPr id="1" name=""/>
        <p:cNvGrpSpPr/>
        <p:nvPr/>
      </p:nvGrpSpPr>
      <p:grpSpPr>
        <a:xfrm>
          <a:off x="0" y="0"/>
          <a:ext cx="0" cy="0"/>
          <a:chOff x="0" y="0"/>
          <a:chExt cx="0" cy="0"/>
        </a:xfrm>
      </p:grpSpPr>
      <p:grpSp>
        <p:nvGrpSpPr>
          <p:cNvPr id="6" name="Group 5"/>
          <p:cNvGrpSpPr/>
          <p:nvPr userDrawn="1"/>
        </p:nvGrpSpPr>
        <p:grpSpPr>
          <a:xfrm>
            <a:off x="5969920" y="334392"/>
            <a:ext cx="280736" cy="2894582"/>
            <a:chOff x="5778501" y="1581985"/>
            <a:chExt cx="280736" cy="2894582"/>
          </a:xfrm>
        </p:grpSpPr>
        <p:sp>
          <p:nvSpPr>
            <p:cNvPr id="7"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8" name="Line"/>
            <p:cNvSpPr/>
            <p:nvPr userDrawn="1"/>
          </p:nvSpPr>
          <p:spPr>
            <a:xfrm flipV="1">
              <a:off x="5904581" y="1929262"/>
              <a:ext cx="14289" cy="2547305"/>
            </a:xfrm>
            <a:prstGeom prst="line">
              <a:avLst/>
            </a:prstGeom>
            <a:ln w="12700">
              <a:solidFill>
                <a:srgbClr val="B0CC14"/>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12" name="Text Placeholder 14"/>
          <p:cNvSpPr>
            <a:spLocks noGrp="1"/>
          </p:cNvSpPr>
          <p:nvPr>
            <p:ph type="body" sz="quarter" idx="14" hasCustomPrompt="1"/>
          </p:nvPr>
        </p:nvSpPr>
        <p:spPr>
          <a:xfrm>
            <a:off x="5970588" y="334392"/>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1</a:t>
            </a:r>
            <a:endParaRPr lang="en-US" dirty="0"/>
          </a:p>
        </p:txBody>
      </p:sp>
      <p:sp>
        <p:nvSpPr>
          <p:cNvPr id="14" name="Text Placeholder 3"/>
          <p:cNvSpPr>
            <a:spLocks noGrp="1"/>
          </p:cNvSpPr>
          <p:nvPr>
            <p:ph type="body" sz="quarter" idx="19" hasCustomPrompt="1"/>
          </p:nvPr>
        </p:nvSpPr>
        <p:spPr>
          <a:xfrm>
            <a:off x="6360440" y="645865"/>
            <a:ext cx="3817175" cy="2583109"/>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5" name="Text Placeholder 3"/>
          <p:cNvSpPr>
            <a:spLocks noGrp="1"/>
          </p:cNvSpPr>
          <p:nvPr>
            <p:ph type="body" sz="quarter" idx="20" hasCustomPrompt="1"/>
          </p:nvPr>
        </p:nvSpPr>
        <p:spPr>
          <a:xfrm>
            <a:off x="6360440" y="302371"/>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grpSp>
        <p:nvGrpSpPr>
          <p:cNvPr id="18" name="Group 17"/>
          <p:cNvGrpSpPr/>
          <p:nvPr userDrawn="1"/>
        </p:nvGrpSpPr>
        <p:grpSpPr>
          <a:xfrm>
            <a:off x="5965157" y="3429205"/>
            <a:ext cx="280736" cy="2894582"/>
            <a:chOff x="5778501" y="1581985"/>
            <a:chExt cx="280736" cy="2894582"/>
          </a:xfrm>
        </p:grpSpPr>
        <p:sp>
          <p:nvSpPr>
            <p:cNvPr id="19"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20" name="Line"/>
            <p:cNvSpPr/>
            <p:nvPr userDrawn="1"/>
          </p:nvSpPr>
          <p:spPr>
            <a:xfrm flipV="1">
              <a:off x="5904581" y="1929262"/>
              <a:ext cx="14289" cy="2547305"/>
            </a:xfrm>
            <a:prstGeom prst="line">
              <a:avLst/>
            </a:prstGeom>
            <a:ln w="12700">
              <a:solidFill>
                <a:srgbClr val="B0CC14"/>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21" name="Text Placeholder 14"/>
          <p:cNvSpPr>
            <a:spLocks noGrp="1"/>
          </p:cNvSpPr>
          <p:nvPr>
            <p:ph type="body" sz="quarter" idx="21" hasCustomPrompt="1"/>
          </p:nvPr>
        </p:nvSpPr>
        <p:spPr>
          <a:xfrm>
            <a:off x="5965825" y="3429205"/>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2</a:t>
            </a:r>
            <a:endParaRPr lang="en-US" dirty="0"/>
          </a:p>
        </p:txBody>
      </p:sp>
      <p:sp>
        <p:nvSpPr>
          <p:cNvPr id="22" name="Text Placeholder 3"/>
          <p:cNvSpPr>
            <a:spLocks noGrp="1"/>
          </p:cNvSpPr>
          <p:nvPr>
            <p:ph type="body" sz="quarter" idx="22" hasCustomPrompt="1"/>
          </p:nvPr>
        </p:nvSpPr>
        <p:spPr>
          <a:xfrm>
            <a:off x="6355677" y="3709942"/>
            <a:ext cx="3817175" cy="2613846"/>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23" name="Text Placeholder 3"/>
          <p:cNvSpPr>
            <a:spLocks noGrp="1"/>
          </p:cNvSpPr>
          <p:nvPr>
            <p:ph type="body" sz="quarter" idx="23" hasCustomPrompt="1"/>
          </p:nvPr>
        </p:nvSpPr>
        <p:spPr>
          <a:xfrm>
            <a:off x="6355677" y="3366448"/>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25" name="Text Placeholder 24"/>
          <p:cNvSpPr>
            <a:spLocks noGrp="1"/>
          </p:cNvSpPr>
          <p:nvPr>
            <p:ph type="body" sz="quarter" idx="24"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26" name="Text Placeholder 3"/>
          <p:cNvSpPr>
            <a:spLocks noGrp="1"/>
          </p:cNvSpPr>
          <p:nvPr>
            <p:ph type="body" sz="quarter" idx="25"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7"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24"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双文本框文字内容页-午夜蓝">
    <p:spTree>
      <p:nvGrpSpPr>
        <p:cNvPr id="1" name=""/>
        <p:cNvGrpSpPr/>
        <p:nvPr/>
      </p:nvGrpSpPr>
      <p:grpSpPr>
        <a:xfrm>
          <a:off x="0" y="0"/>
          <a:ext cx="0" cy="0"/>
          <a:chOff x="0" y="0"/>
          <a:chExt cx="0" cy="0"/>
        </a:xfrm>
      </p:grpSpPr>
      <p:grpSp>
        <p:nvGrpSpPr>
          <p:cNvPr id="4" name="Group 5"/>
          <p:cNvGrpSpPr/>
          <p:nvPr userDrawn="1"/>
        </p:nvGrpSpPr>
        <p:grpSpPr>
          <a:xfrm>
            <a:off x="5969920" y="334392"/>
            <a:ext cx="280736" cy="2894582"/>
            <a:chOff x="5778501" y="1581985"/>
            <a:chExt cx="280736" cy="2894582"/>
          </a:xfrm>
        </p:grpSpPr>
        <p:sp>
          <p:nvSpPr>
            <p:cNvPr id="5"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6" name="Line"/>
            <p:cNvSpPr/>
            <p:nvPr userDrawn="1"/>
          </p:nvSpPr>
          <p:spPr>
            <a:xfrm flipV="1">
              <a:off x="5904581" y="1929262"/>
              <a:ext cx="14289" cy="2547305"/>
            </a:xfrm>
            <a:prstGeom prst="line">
              <a:avLst/>
            </a:prstGeom>
            <a:ln w="12700">
              <a:solidFill>
                <a:srgbClr val="4553FF"/>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7" name="Text Placeholder 14"/>
          <p:cNvSpPr>
            <a:spLocks noGrp="1"/>
          </p:cNvSpPr>
          <p:nvPr>
            <p:ph type="body" sz="quarter" idx="14" hasCustomPrompt="1"/>
          </p:nvPr>
        </p:nvSpPr>
        <p:spPr>
          <a:xfrm>
            <a:off x="5970588" y="334392"/>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1</a:t>
            </a:r>
            <a:endParaRPr lang="en-US" dirty="0"/>
          </a:p>
        </p:txBody>
      </p:sp>
      <p:sp>
        <p:nvSpPr>
          <p:cNvPr id="8" name="Text Placeholder 3"/>
          <p:cNvSpPr>
            <a:spLocks noGrp="1"/>
          </p:cNvSpPr>
          <p:nvPr>
            <p:ph type="body" sz="quarter" idx="19" hasCustomPrompt="1"/>
          </p:nvPr>
        </p:nvSpPr>
        <p:spPr>
          <a:xfrm>
            <a:off x="6360440" y="645865"/>
            <a:ext cx="3817175" cy="2583109"/>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9" name="Text Placeholder 3"/>
          <p:cNvSpPr>
            <a:spLocks noGrp="1"/>
          </p:cNvSpPr>
          <p:nvPr>
            <p:ph type="body" sz="quarter" idx="20" hasCustomPrompt="1"/>
          </p:nvPr>
        </p:nvSpPr>
        <p:spPr>
          <a:xfrm>
            <a:off x="6360440" y="302371"/>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grpSp>
        <p:nvGrpSpPr>
          <p:cNvPr id="10" name="Group 17"/>
          <p:cNvGrpSpPr/>
          <p:nvPr userDrawn="1"/>
        </p:nvGrpSpPr>
        <p:grpSpPr>
          <a:xfrm>
            <a:off x="5965157" y="3429205"/>
            <a:ext cx="280736" cy="2894582"/>
            <a:chOff x="5778501" y="1581985"/>
            <a:chExt cx="280736" cy="2894582"/>
          </a:xfrm>
        </p:grpSpPr>
        <p:sp>
          <p:nvSpPr>
            <p:cNvPr id="11"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12" name="Line"/>
            <p:cNvSpPr/>
            <p:nvPr userDrawn="1"/>
          </p:nvSpPr>
          <p:spPr>
            <a:xfrm flipV="1">
              <a:off x="5904581" y="1929262"/>
              <a:ext cx="14289" cy="2547305"/>
            </a:xfrm>
            <a:prstGeom prst="line">
              <a:avLst/>
            </a:prstGeom>
            <a:ln w="12700">
              <a:solidFill>
                <a:srgbClr val="4553FF"/>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13" name="Text Placeholder 14"/>
          <p:cNvSpPr>
            <a:spLocks noGrp="1"/>
          </p:cNvSpPr>
          <p:nvPr>
            <p:ph type="body" sz="quarter" idx="21" hasCustomPrompt="1"/>
          </p:nvPr>
        </p:nvSpPr>
        <p:spPr>
          <a:xfrm>
            <a:off x="5965825" y="3429205"/>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2</a:t>
            </a:r>
            <a:endParaRPr lang="en-US" dirty="0"/>
          </a:p>
        </p:txBody>
      </p:sp>
      <p:sp>
        <p:nvSpPr>
          <p:cNvPr id="14" name="Text Placeholder 3"/>
          <p:cNvSpPr>
            <a:spLocks noGrp="1"/>
          </p:cNvSpPr>
          <p:nvPr>
            <p:ph type="body" sz="quarter" idx="22" hasCustomPrompt="1"/>
          </p:nvPr>
        </p:nvSpPr>
        <p:spPr>
          <a:xfrm>
            <a:off x="6355677" y="3709942"/>
            <a:ext cx="3817175" cy="2613846"/>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5" name="Text Placeholder 3"/>
          <p:cNvSpPr>
            <a:spLocks noGrp="1"/>
          </p:cNvSpPr>
          <p:nvPr>
            <p:ph type="body" sz="quarter" idx="23" hasCustomPrompt="1"/>
          </p:nvPr>
        </p:nvSpPr>
        <p:spPr>
          <a:xfrm>
            <a:off x="6355677" y="3366448"/>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6" name="Text Placeholder 24"/>
          <p:cNvSpPr>
            <a:spLocks noGrp="1"/>
          </p:cNvSpPr>
          <p:nvPr>
            <p:ph type="body" sz="quarter" idx="24"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7" name="Text Placeholder 3"/>
          <p:cNvSpPr>
            <a:spLocks noGrp="1"/>
          </p:cNvSpPr>
          <p:nvPr>
            <p:ph type="body" sz="quarter" idx="25"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19" name="Rectangle 5"/>
          <p:cNvSpPr/>
          <p:nvPr userDrawn="1"/>
        </p:nvSpPr>
        <p:spPr>
          <a:xfrm flipH="1">
            <a:off x="-2408" y="339517"/>
            <a:ext cx="45719" cy="913122"/>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双文本框文字内容页-热品红">
    <p:spTree>
      <p:nvGrpSpPr>
        <p:cNvPr id="1" name=""/>
        <p:cNvGrpSpPr/>
        <p:nvPr/>
      </p:nvGrpSpPr>
      <p:grpSpPr>
        <a:xfrm>
          <a:off x="0" y="0"/>
          <a:ext cx="0" cy="0"/>
          <a:chOff x="0" y="0"/>
          <a:chExt cx="0" cy="0"/>
        </a:xfrm>
      </p:grpSpPr>
      <p:grpSp>
        <p:nvGrpSpPr>
          <p:cNvPr id="4" name="Group 5"/>
          <p:cNvGrpSpPr/>
          <p:nvPr userDrawn="1"/>
        </p:nvGrpSpPr>
        <p:grpSpPr>
          <a:xfrm>
            <a:off x="5969920" y="334392"/>
            <a:ext cx="280736" cy="2894582"/>
            <a:chOff x="5778501" y="1581985"/>
            <a:chExt cx="280736" cy="2894582"/>
          </a:xfrm>
        </p:grpSpPr>
        <p:sp>
          <p:nvSpPr>
            <p:cNvPr id="5"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6" name="Line"/>
            <p:cNvSpPr/>
            <p:nvPr userDrawn="1"/>
          </p:nvSpPr>
          <p:spPr>
            <a:xfrm flipV="1">
              <a:off x="5904581" y="1929262"/>
              <a:ext cx="14289" cy="2547305"/>
            </a:xfrm>
            <a:prstGeom prst="line">
              <a:avLst/>
            </a:prstGeom>
            <a:ln w="12700">
              <a:solidFill>
                <a:srgbClr val="FF1DCE"/>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7" name="Text Placeholder 14"/>
          <p:cNvSpPr>
            <a:spLocks noGrp="1"/>
          </p:cNvSpPr>
          <p:nvPr>
            <p:ph type="body" sz="quarter" idx="14" hasCustomPrompt="1"/>
          </p:nvPr>
        </p:nvSpPr>
        <p:spPr>
          <a:xfrm>
            <a:off x="5970588" y="334392"/>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1</a:t>
            </a:r>
            <a:endParaRPr lang="en-US" dirty="0"/>
          </a:p>
        </p:txBody>
      </p:sp>
      <p:sp>
        <p:nvSpPr>
          <p:cNvPr id="8" name="Text Placeholder 3"/>
          <p:cNvSpPr>
            <a:spLocks noGrp="1"/>
          </p:cNvSpPr>
          <p:nvPr>
            <p:ph type="body" sz="quarter" idx="19" hasCustomPrompt="1"/>
          </p:nvPr>
        </p:nvSpPr>
        <p:spPr>
          <a:xfrm>
            <a:off x="6360440" y="645865"/>
            <a:ext cx="3817175" cy="2583109"/>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9" name="Text Placeholder 3"/>
          <p:cNvSpPr>
            <a:spLocks noGrp="1"/>
          </p:cNvSpPr>
          <p:nvPr>
            <p:ph type="body" sz="quarter" idx="20" hasCustomPrompt="1"/>
          </p:nvPr>
        </p:nvSpPr>
        <p:spPr>
          <a:xfrm>
            <a:off x="6360440" y="302371"/>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grpSp>
        <p:nvGrpSpPr>
          <p:cNvPr id="10" name="Group 17"/>
          <p:cNvGrpSpPr/>
          <p:nvPr userDrawn="1"/>
        </p:nvGrpSpPr>
        <p:grpSpPr>
          <a:xfrm>
            <a:off x="5965157" y="3429205"/>
            <a:ext cx="280736" cy="2894582"/>
            <a:chOff x="5778501" y="1581985"/>
            <a:chExt cx="280736" cy="2894582"/>
          </a:xfrm>
        </p:grpSpPr>
        <p:sp>
          <p:nvSpPr>
            <p:cNvPr id="11"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12" name="Line"/>
            <p:cNvSpPr/>
            <p:nvPr userDrawn="1"/>
          </p:nvSpPr>
          <p:spPr>
            <a:xfrm flipV="1">
              <a:off x="5904581" y="1929262"/>
              <a:ext cx="14289" cy="2547305"/>
            </a:xfrm>
            <a:prstGeom prst="line">
              <a:avLst/>
            </a:prstGeom>
            <a:ln w="12700">
              <a:solidFill>
                <a:srgbClr val="FF1DCE"/>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13" name="Text Placeholder 14"/>
          <p:cNvSpPr>
            <a:spLocks noGrp="1"/>
          </p:cNvSpPr>
          <p:nvPr>
            <p:ph type="body" sz="quarter" idx="21" hasCustomPrompt="1"/>
          </p:nvPr>
        </p:nvSpPr>
        <p:spPr>
          <a:xfrm>
            <a:off x="5965825" y="3429205"/>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2</a:t>
            </a:r>
            <a:endParaRPr lang="en-US" dirty="0"/>
          </a:p>
        </p:txBody>
      </p:sp>
      <p:sp>
        <p:nvSpPr>
          <p:cNvPr id="14" name="Text Placeholder 3"/>
          <p:cNvSpPr>
            <a:spLocks noGrp="1"/>
          </p:cNvSpPr>
          <p:nvPr>
            <p:ph type="body" sz="quarter" idx="22" hasCustomPrompt="1"/>
          </p:nvPr>
        </p:nvSpPr>
        <p:spPr>
          <a:xfrm>
            <a:off x="6355677" y="3709942"/>
            <a:ext cx="3817175" cy="2613846"/>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5" name="Text Placeholder 3"/>
          <p:cNvSpPr>
            <a:spLocks noGrp="1"/>
          </p:cNvSpPr>
          <p:nvPr>
            <p:ph type="body" sz="quarter" idx="23" hasCustomPrompt="1"/>
          </p:nvPr>
        </p:nvSpPr>
        <p:spPr>
          <a:xfrm>
            <a:off x="6355677" y="3366448"/>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6" name="Text Placeholder 24"/>
          <p:cNvSpPr>
            <a:spLocks noGrp="1"/>
          </p:cNvSpPr>
          <p:nvPr>
            <p:ph type="body" sz="quarter" idx="24"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7" name="Text Placeholder 3"/>
          <p:cNvSpPr>
            <a:spLocks noGrp="1"/>
          </p:cNvSpPr>
          <p:nvPr>
            <p:ph type="body" sz="quarter" idx="25"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19" name="Rectangle 5"/>
          <p:cNvSpPr/>
          <p:nvPr userDrawn="1"/>
        </p:nvSpPr>
        <p:spPr>
          <a:xfrm flipH="1">
            <a:off x="-2408" y="339517"/>
            <a:ext cx="45719" cy="913122"/>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三文本框文字内容页-青柠绿">
    <p:bg>
      <p:bgPr>
        <a:solidFill>
          <a:srgbClr val="FBFBFB"/>
        </a:solidFill>
        <a:effectLst/>
      </p:bgPr>
    </p:bg>
    <p:spTree>
      <p:nvGrpSpPr>
        <p:cNvPr id="1" name=""/>
        <p:cNvGrpSpPr/>
        <p:nvPr/>
      </p:nvGrpSpPr>
      <p:grpSpPr>
        <a:xfrm>
          <a:off x="0" y="0"/>
          <a:ext cx="0" cy="0"/>
          <a:chOff x="0" y="0"/>
          <a:chExt cx="0" cy="0"/>
        </a:xfrm>
      </p:grpSpPr>
      <p:sp>
        <p:nvSpPr>
          <p:cNvPr id="36" name="矩形 35"/>
          <p:cNvSpPr/>
          <p:nvPr userDrawn="1"/>
        </p:nvSpPr>
        <p:spPr>
          <a:xfrm>
            <a:off x="8221876"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4271043"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320209"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 Placeholder 24"/>
          <p:cNvSpPr>
            <a:spLocks noGrp="1"/>
          </p:cNvSpPr>
          <p:nvPr>
            <p:ph type="body" sz="quarter" idx="21"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20" name="Text Placeholder 3"/>
          <p:cNvSpPr>
            <a:spLocks noGrp="1"/>
          </p:cNvSpPr>
          <p:nvPr>
            <p:ph type="body" sz="quarter" idx="22"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1" name="Text Placeholder 3"/>
          <p:cNvSpPr>
            <a:spLocks noGrp="1"/>
          </p:cNvSpPr>
          <p:nvPr userDrawn="1">
            <p:ph type="body" sz="quarter" idx="34" hasCustomPrompt="1"/>
          </p:nvPr>
        </p:nvSpPr>
        <p:spPr>
          <a:xfrm>
            <a:off x="452038"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72" name="Text Placeholder 3"/>
          <p:cNvSpPr>
            <a:spLocks noGrp="1"/>
          </p:cNvSpPr>
          <p:nvPr userDrawn="1">
            <p:ph type="body" sz="quarter" idx="36" hasCustomPrompt="1"/>
          </p:nvPr>
        </p:nvSpPr>
        <p:spPr>
          <a:xfrm>
            <a:off x="449838"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类别一 </a:t>
            </a:r>
          </a:p>
        </p:txBody>
      </p:sp>
      <p:sp>
        <p:nvSpPr>
          <p:cNvPr id="125" name="Text Placeholder 3"/>
          <p:cNvSpPr>
            <a:spLocks noGrp="1"/>
          </p:cNvSpPr>
          <p:nvPr userDrawn="1">
            <p:ph type="body" sz="quarter" idx="40" hasCustomPrompt="1"/>
          </p:nvPr>
        </p:nvSpPr>
        <p:spPr>
          <a:xfrm>
            <a:off x="4404861"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6" name="Text Placeholder 3"/>
          <p:cNvSpPr>
            <a:spLocks noGrp="1"/>
          </p:cNvSpPr>
          <p:nvPr userDrawn="1">
            <p:ph type="body" sz="quarter" idx="41" hasCustomPrompt="1"/>
          </p:nvPr>
        </p:nvSpPr>
        <p:spPr>
          <a:xfrm>
            <a:off x="4402661"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类别二 </a:t>
            </a:r>
          </a:p>
        </p:txBody>
      </p:sp>
      <p:sp>
        <p:nvSpPr>
          <p:cNvPr id="127" name="Text Placeholder 3"/>
          <p:cNvSpPr>
            <a:spLocks noGrp="1"/>
          </p:cNvSpPr>
          <p:nvPr userDrawn="1">
            <p:ph type="body" sz="quarter" idx="42" hasCustomPrompt="1"/>
          </p:nvPr>
        </p:nvSpPr>
        <p:spPr>
          <a:xfrm>
            <a:off x="8339938" y="2344613"/>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8" name="Text Placeholder 3"/>
          <p:cNvSpPr>
            <a:spLocks noGrp="1"/>
          </p:cNvSpPr>
          <p:nvPr userDrawn="1">
            <p:ph type="body" sz="quarter" idx="43" hasCustomPrompt="1"/>
          </p:nvPr>
        </p:nvSpPr>
        <p:spPr>
          <a:xfrm>
            <a:off x="8337738" y="1823892"/>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类别三 </a:t>
            </a:r>
          </a:p>
        </p:txBody>
      </p:sp>
      <p:sp>
        <p:nvSpPr>
          <p:cNvPr id="129" name="Slide Number Placeholder 2"/>
          <p:cNvSpPr>
            <a:spLocks noGrp="1"/>
          </p:cNvSpPr>
          <p:nvPr userDrawn="1">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32"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三文本框文字内容页-午夜蓝">
    <p:bg>
      <p:bgPr>
        <a:solidFill>
          <a:srgbClr val="FBFBFB"/>
        </a:solidFill>
        <a:effectLst/>
      </p:bgPr>
    </p:bg>
    <p:spTree>
      <p:nvGrpSpPr>
        <p:cNvPr id="1" name=""/>
        <p:cNvGrpSpPr/>
        <p:nvPr/>
      </p:nvGrpSpPr>
      <p:grpSpPr>
        <a:xfrm>
          <a:off x="0" y="0"/>
          <a:ext cx="0" cy="0"/>
          <a:chOff x="0" y="0"/>
          <a:chExt cx="0" cy="0"/>
        </a:xfrm>
      </p:grpSpPr>
      <p:sp>
        <p:nvSpPr>
          <p:cNvPr id="36" name="矩形 35"/>
          <p:cNvSpPr/>
          <p:nvPr userDrawn="1"/>
        </p:nvSpPr>
        <p:spPr>
          <a:xfrm>
            <a:off x="8221876"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4271043"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320209"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 Placeholder 24"/>
          <p:cNvSpPr>
            <a:spLocks noGrp="1"/>
          </p:cNvSpPr>
          <p:nvPr>
            <p:ph type="body" sz="quarter" idx="21"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20" name="Text Placeholder 3"/>
          <p:cNvSpPr>
            <a:spLocks noGrp="1"/>
          </p:cNvSpPr>
          <p:nvPr>
            <p:ph type="body" sz="quarter" idx="22"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1" name="Text Placeholder 3"/>
          <p:cNvSpPr>
            <a:spLocks noGrp="1"/>
          </p:cNvSpPr>
          <p:nvPr userDrawn="1">
            <p:ph type="body" sz="quarter" idx="34" hasCustomPrompt="1"/>
          </p:nvPr>
        </p:nvSpPr>
        <p:spPr>
          <a:xfrm>
            <a:off x="452038"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72" name="Text Placeholder 3"/>
          <p:cNvSpPr>
            <a:spLocks noGrp="1"/>
          </p:cNvSpPr>
          <p:nvPr userDrawn="1">
            <p:ph type="body" sz="quarter" idx="36" hasCustomPrompt="1"/>
          </p:nvPr>
        </p:nvSpPr>
        <p:spPr>
          <a:xfrm>
            <a:off x="449838"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类别一 </a:t>
            </a:r>
          </a:p>
        </p:txBody>
      </p:sp>
      <p:sp>
        <p:nvSpPr>
          <p:cNvPr id="125" name="Text Placeholder 3"/>
          <p:cNvSpPr>
            <a:spLocks noGrp="1"/>
          </p:cNvSpPr>
          <p:nvPr userDrawn="1">
            <p:ph type="body" sz="quarter" idx="40" hasCustomPrompt="1"/>
          </p:nvPr>
        </p:nvSpPr>
        <p:spPr>
          <a:xfrm>
            <a:off x="4404861"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6" name="Text Placeholder 3"/>
          <p:cNvSpPr>
            <a:spLocks noGrp="1"/>
          </p:cNvSpPr>
          <p:nvPr userDrawn="1">
            <p:ph type="body" sz="quarter" idx="41" hasCustomPrompt="1"/>
          </p:nvPr>
        </p:nvSpPr>
        <p:spPr>
          <a:xfrm>
            <a:off x="4402661"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类别二 </a:t>
            </a:r>
          </a:p>
        </p:txBody>
      </p:sp>
      <p:sp>
        <p:nvSpPr>
          <p:cNvPr id="127" name="Text Placeholder 3"/>
          <p:cNvSpPr>
            <a:spLocks noGrp="1"/>
          </p:cNvSpPr>
          <p:nvPr userDrawn="1">
            <p:ph type="body" sz="quarter" idx="42" hasCustomPrompt="1"/>
          </p:nvPr>
        </p:nvSpPr>
        <p:spPr>
          <a:xfrm>
            <a:off x="8339938" y="2344613"/>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8" name="Text Placeholder 3"/>
          <p:cNvSpPr>
            <a:spLocks noGrp="1"/>
          </p:cNvSpPr>
          <p:nvPr userDrawn="1">
            <p:ph type="body" sz="quarter" idx="43" hasCustomPrompt="1"/>
          </p:nvPr>
        </p:nvSpPr>
        <p:spPr>
          <a:xfrm>
            <a:off x="8337738" y="1823892"/>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类别三 </a:t>
            </a:r>
          </a:p>
        </p:txBody>
      </p:sp>
      <p:sp>
        <p:nvSpPr>
          <p:cNvPr id="129" name="Slide Number Placeholder 2"/>
          <p:cNvSpPr>
            <a:spLocks noGrp="1"/>
          </p:cNvSpPr>
          <p:nvPr userDrawn="1">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32" name="Rectangle 5"/>
          <p:cNvSpPr/>
          <p:nvPr userDrawn="1"/>
        </p:nvSpPr>
        <p:spPr>
          <a:xfrm flipH="1">
            <a:off x="-2408" y="339517"/>
            <a:ext cx="45719" cy="913122"/>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三文本框文字内容页-热品红">
    <p:bg>
      <p:bgPr>
        <a:solidFill>
          <a:srgbClr val="FBFBFB"/>
        </a:solidFill>
        <a:effectLst/>
      </p:bgPr>
    </p:bg>
    <p:spTree>
      <p:nvGrpSpPr>
        <p:cNvPr id="1" name=""/>
        <p:cNvGrpSpPr/>
        <p:nvPr/>
      </p:nvGrpSpPr>
      <p:grpSpPr>
        <a:xfrm>
          <a:off x="0" y="0"/>
          <a:ext cx="0" cy="0"/>
          <a:chOff x="0" y="0"/>
          <a:chExt cx="0" cy="0"/>
        </a:xfrm>
      </p:grpSpPr>
      <p:sp>
        <p:nvSpPr>
          <p:cNvPr id="36" name="矩形 35"/>
          <p:cNvSpPr/>
          <p:nvPr userDrawn="1"/>
        </p:nvSpPr>
        <p:spPr>
          <a:xfrm>
            <a:off x="8221876"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4271043"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320209"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 Placeholder 24"/>
          <p:cNvSpPr>
            <a:spLocks noGrp="1"/>
          </p:cNvSpPr>
          <p:nvPr>
            <p:ph type="body" sz="quarter" idx="21"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20" name="Text Placeholder 3"/>
          <p:cNvSpPr>
            <a:spLocks noGrp="1"/>
          </p:cNvSpPr>
          <p:nvPr>
            <p:ph type="body" sz="quarter" idx="22"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1" name="Text Placeholder 3"/>
          <p:cNvSpPr>
            <a:spLocks noGrp="1"/>
          </p:cNvSpPr>
          <p:nvPr userDrawn="1">
            <p:ph type="body" sz="quarter" idx="34" hasCustomPrompt="1"/>
          </p:nvPr>
        </p:nvSpPr>
        <p:spPr>
          <a:xfrm>
            <a:off x="452038"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72" name="Text Placeholder 3"/>
          <p:cNvSpPr>
            <a:spLocks noGrp="1"/>
          </p:cNvSpPr>
          <p:nvPr userDrawn="1">
            <p:ph type="body" sz="quarter" idx="36" hasCustomPrompt="1"/>
          </p:nvPr>
        </p:nvSpPr>
        <p:spPr>
          <a:xfrm>
            <a:off x="449838"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类别一 </a:t>
            </a:r>
          </a:p>
        </p:txBody>
      </p:sp>
      <p:sp>
        <p:nvSpPr>
          <p:cNvPr id="125" name="Text Placeholder 3"/>
          <p:cNvSpPr>
            <a:spLocks noGrp="1"/>
          </p:cNvSpPr>
          <p:nvPr userDrawn="1">
            <p:ph type="body" sz="quarter" idx="40" hasCustomPrompt="1"/>
          </p:nvPr>
        </p:nvSpPr>
        <p:spPr>
          <a:xfrm>
            <a:off x="4404861"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6" name="Text Placeholder 3"/>
          <p:cNvSpPr>
            <a:spLocks noGrp="1"/>
          </p:cNvSpPr>
          <p:nvPr userDrawn="1">
            <p:ph type="body" sz="quarter" idx="41" hasCustomPrompt="1"/>
          </p:nvPr>
        </p:nvSpPr>
        <p:spPr>
          <a:xfrm>
            <a:off x="4402661"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类别二 </a:t>
            </a:r>
          </a:p>
        </p:txBody>
      </p:sp>
      <p:sp>
        <p:nvSpPr>
          <p:cNvPr id="127" name="Text Placeholder 3"/>
          <p:cNvSpPr>
            <a:spLocks noGrp="1"/>
          </p:cNvSpPr>
          <p:nvPr userDrawn="1">
            <p:ph type="body" sz="quarter" idx="42" hasCustomPrompt="1"/>
          </p:nvPr>
        </p:nvSpPr>
        <p:spPr>
          <a:xfrm>
            <a:off x="8339938" y="2344613"/>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8" name="Text Placeholder 3"/>
          <p:cNvSpPr>
            <a:spLocks noGrp="1"/>
          </p:cNvSpPr>
          <p:nvPr userDrawn="1">
            <p:ph type="body" sz="quarter" idx="43" hasCustomPrompt="1"/>
          </p:nvPr>
        </p:nvSpPr>
        <p:spPr>
          <a:xfrm>
            <a:off x="8337738" y="1823892"/>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类别三 </a:t>
            </a:r>
          </a:p>
        </p:txBody>
      </p:sp>
      <p:sp>
        <p:nvSpPr>
          <p:cNvPr id="129" name="Slide Number Placeholder 2"/>
          <p:cNvSpPr>
            <a:spLocks noGrp="1"/>
          </p:cNvSpPr>
          <p:nvPr userDrawn="1">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32" name="Rectangle 5"/>
          <p:cNvSpPr/>
          <p:nvPr userDrawn="1"/>
        </p:nvSpPr>
        <p:spPr>
          <a:xfrm flipH="1">
            <a:off x="-2408" y="339517"/>
            <a:ext cx="45719" cy="913122"/>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结尾页_青柠绿">
    <p:spTree>
      <p:nvGrpSpPr>
        <p:cNvPr id="1" name=""/>
        <p:cNvGrpSpPr/>
        <p:nvPr/>
      </p:nvGrpSpPr>
      <p:grpSpPr>
        <a:xfrm>
          <a:off x="0" y="0"/>
          <a:ext cx="0" cy="0"/>
          <a:chOff x="0" y="0"/>
          <a:chExt cx="0" cy="0"/>
        </a:xfrm>
      </p:grpSpPr>
      <p:cxnSp>
        <p:nvCxnSpPr>
          <p:cNvPr id="8" name="直接连接符 7"/>
          <p:cNvCxnSpPr/>
          <p:nvPr userDrawn="1"/>
        </p:nvCxnSpPr>
        <p:spPr>
          <a:xfrm>
            <a:off x="731838" y="6160258"/>
            <a:ext cx="9684642" cy="0"/>
          </a:xfrm>
          <a:prstGeom prst="line">
            <a:avLst/>
          </a:prstGeom>
          <a:ln w="12700">
            <a:solidFill>
              <a:srgbClr val="B0CC14"/>
            </a:solidFill>
          </a:ln>
        </p:spPr>
        <p:style>
          <a:lnRef idx="1">
            <a:schemeClr val="accent1"/>
          </a:lnRef>
          <a:fillRef idx="0">
            <a:schemeClr val="accent1"/>
          </a:fillRef>
          <a:effectRef idx="0">
            <a:schemeClr val="accent1"/>
          </a:effectRef>
          <a:fontRef idx="minor">
            <a:schemeClr val="tx1"/>
          </a:fontRef>
        </p:style>
      </p:cxnSp>
      <p:sp>
        <p:nvSpPr>
          <p:cNvPr id="2" name="Text Placeholder 13"/>
          <p:cNvSpPr>
            <a:spLocks noGrp="1"/>
          </p:cNvSpPr>
          <p:nvPr>
            <p:ph type="body" sz="quarter" idx="10" hasCustomPrompt="1"/>
          </p:nvPr>
        </p:nvSpPr>
        <p:spPr>
          <a:xfrm>
            <a:off x="678996" y="2977017"/>
            <a:ext cx="7705367" cy="903965"/>
          </a:xfrm>
          <a:prstGeom prst="rect">
            <a:avLst/>
          </a:prstGeom>
        </p:spPr>
        <p:txBody>
          <a:bodyPr lIns="0" tIns="0" rIns="0" bIns="0" anchor="ctr" anchorCtr="0">
            <a:spAutoFit/>
          </a:bodyPr>
          <a:lstStyle>
            <a:lvl1pPr marL="0" indent="0">
              <a:buNone/>
              <a:defRPr sz="6400" b="0" i="0" kern="1200" spc="0" baseline="0">
                <a:solidFill>
                  <a:schemeClr val="bg1"/>
                </a:solidFill>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谢谢！</a:t>
            </a:r>
          </a:p>
        </p:txBody>
      </p:sp>
      <p:pic>
        <p:nvPicPr>
          <p:cNvPr id="5" name="Picture 11" descr="Text&#10;&#10;Description automatically generated"/>
          <p:cNvPicPr>
            <a:picLocks noChangeAspect="1"/>
          </p:cNvPicPr>
          <p:nvPr userDrawn="1"/>
        </p:nvPicPr>
        <p:blipFill>
          <a:blip r:embed="rId2"/>
          <a:stretch>
            <a:fillRect/>
          </a:stretch>
        </p:blipFill>
        <p:spPr>
          <a:xfrm>
            <a:off x="10493255" y="5767770"/>
            <a:ext cx="1288283" cy="772625"/>
          </a:xfrm>
          <a:prstGeom prst="rect">
            <a:avLst/>
          </a:prstGeom>
        </p:spPr>
      </p:pic>
      <p:sp>
        <p:nvSpPr>
          <p:cNvPr id="7" name="VISUAL…"/>
          <p:cNvSpPr txBox="1"/>
          <p:nvPr userDrawn="1"/>
        </p:nvSpPr>
        <p:spPr>
          <a:xfrm>
            <a:off x="731838" y="6222699"/>
            <a:ext cx="7598939" cy="98489"/>
          </a:xfrm>
          <a:prstGeom prst="rect">
            <a:avLst/>
          </a:prstGeom>
          <a:noFill/>
        </p:spPr>
        <p:txBody>
          <a:bodyPr wrap="square" lIns="0" tIns="0" rIns="0" bIns="0" rtlCol="0">
            <a:spAutoFit/>
          </a:bodyPr>
          <a:lstStyle>
            <a:defPPr>
              <a:defRPr lang="zh-CN"/>
            </a:defPPr>
            <a:lvl1pPr>
              <a:lnSpc>
                <a:spcPct val="80000"/>
              </a:lnSpc>
              <a:defRPr sz="3600" spc="180">
                <a:solidFill>
                  <a:srgbClr val="FFFFFF"/>
                </a:solidFill>
                <a:latin typeface="Helvetica Light"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800" spc="0" baseline="0" dirty="0">
                <a:solidFill>
                  <a:schemeClr val="bg1"/>
                </a:solidFill>
                <a:latin typeface="+mn-lt"/>
              </a:rPr>
              <a:t>Confidential @ AVATR 2023</a:t>
            </a:r>
            <a:r>
              <a:rPr lang="zh-CN" altLang="en-US" sz="800" spc="0" baseline="0" dirty="0">
                <a:solidFill>
                  <a:schemeClr val="bg1"/>
                </a:solidFill>
                <a:latin typeface="+mn-lt"/>
              </a:rPr>
              <a:t> </a:t>
            </a:r>
            <a:r>
              <a:rPr lang="en-US" altLang="zh-CN" sz="800" spc="0" baseline="0" dirty="0">
                <a:solidFill>
                  <a:schemeClr val="bg1"/>
                </a:solidFill>
                <a:latin typeface="+mn-lt"/>
              </a:rPr>
              <a:t>All rights reserved</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标题 1"/>
          <p:cNvSpPr>
            <a:spLocks noGrp="1"/>
          </p:cNvSpPr>
          <p:nvPr>
            <p:ph type="title"/>
          </p:nvPr>
        </p:nvSpPr>
        <p:spPr>
          <a:xfrm>
            <a:off x="777631" y="1213136"/>
            <a:ext cx="10621108" cy="806450"/>
          </a:xfrm>
        </p:spPr>
        <p:txBody>
          <a:bodyPr/>
          <a:lstStyle>
            <a:lvl1pPr>
              <a:defRPr sz="1800" b="1"/>
            </a:lvl1pPr>
          </a:lstStyle>
          <a:p>
            <a:r>
              <a:rPr lang="zh-CN" altLang="en-US"/>
              <a:t>单击此处编辑母版标题样式</a:t>
            </a:r>
          </a:p>
        </p:txBody>
      </p:sp>
      <p:sp>
        <p:nvSpPr>
          <p:cNvPr id="7" name="内容占位符 2"/>
          <p:cNvSpPr>
            <a:spLocks noGrp="1"/>
          </p:cNvSpPr>
          <p:nvPr>
            <p:ph idx="12"/>
          </p:nvPr>
        </p:nvSpPr>
        <p:spPr>
          <a:xfrm>
            <a:off x="777629" y="695049"/>
            <a:ext cx="7002250" cy="461665"/>
          </a:xfrm>
          <a:prstGeom prst="rect">
            <a:avLst/>
          </a:prstGeom>
          <a:noFill/>
        </p:spPr>
        <p:txBody>
          <a:bodyPr wrap="square" rtlCol="0" anchor="ctr">
            <a:spAutoFit/>
          </a:bodyPr>
          <a:lstStyle>
            <a:lvl1pPr marL="0" indent="0" algn="l">
              <a:buNone/>
              <a:defRPr lang="zh-CN" altLang="en-US" sz="2400" b="1" kern="1200" dirty="0">
                <a:solidFill>
                  <a:srgbClr val="0070C0"/>
                </a:solidFill>
                <a:latin typeface="长安引力体" panose="02000500000000000000" pitchFamily="2" charset="-122"/>
                <a:ea typeface="长安引力体" panose="02000500000000000000" pitchFamily="2" charset="-122"/>
                <a:cs typeface="+mn-cs"/>
              </a:defRPr>
            </a:lvl1pPr>
          </a:lstStyle>
          <a:p>
            <a:pPr marL="186055" lvl="0" indent="-186055" algn="l" defTabSz="457200" rtl="0" eaLnBrk="1" fontAlgn="base" latinLnBrk="0" hangingPunct="1">
              <a:spcBef>
                <a:spcPct val="20000"/>
              </a:spcBef>
              <a:spcAft>
                <a:spcPct val="0"/>
              </a:spcAft>
              <a:buFont typeface="Arial" panose="020B0604020202020204" pitchFamily="34" charset="0"/>
              <a:buNone/>
            </a:pPr>
            <a:r>
              <a:rPr lang="zh-CN" altLang="en-US" dirty="0"/>
              <a:t>单击此处编辑母版文本样式</a:t>
            </a:r>
          </a:p>
        </p:txBody>
      </p:sp>
      <p:sp>
        <p:nvSpPr>
          <p:cNvPr id="8" name="灯片编号占位符 5"/>
          <p:cNvSpPr txBox="1"/>
          <p:nvPr userDrawn="1"/>
        </p:nvSpPr>
        <p:spPr>
          <a:xfrm>
            <a:off x="8569569" y="6524630"/>
            <a:ext cx="2844800" cy="333375"/>
          </a:xfrm>
          <a:prstGeom prst="rect">
            <a:avLst/>
          </a:prstGeom>
        </p:spPr>
        <p:txBody>
          <a:bodyPr vert="horz" wrap="square" lIns="91440" tIns="45720" rIns="91440" bIns="45720" numCol="1" rtlCol="0" anchor="ctr" anchorCtr="0" compatLnSpc="1"/>
          <a:lstStyle>
            <a:defPPr>
              <a:defRPr lang="zh-CN"/>
            </a:defPPr>
            <a:lvl1pPr marL="0" algn="r" defTabSz="914400" rtl="0" eaLnBrk="1" latinLnBrk="0" hangingPunct="1">
              <a:defRPr sz="1000" b="0" kern="1200">
                <a:solidFill>
                  <a:srgbClr val="898989"/>
                </a:solidFill>
                <a:latin typeface="+mn-lt"/>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1A62F2E3-2743-4B53-83E6-0F26FBBB6D65}" type="slidenum">
              <a:rPr lang="zh-CN" altLang="en-US" sz="1000" smtClean="0">
                <a:ea typeface="Alibaba PuHuiTi 2.0 55 Regular"/>
              </a:rPr>
              <a:t>‹#›</a:t>
            </a:fld>
            <a:endParaRPr lang="zh-CN" altLang="en-US" sz="1000" dirty="0">
              <a:ea typeface="Alibaba PuHuiTi 2.0 55 Regular"/>
            </a:endParaRPr>
          </a:p>
        </p:txBody>
      </p:sp>
      <p:cxnSp>
        <p:nvCxnSpPr>
          <p:cNvPr id="3" name="直接连接符 2"/>
          <p:cNvCxnSpPr/>
          <p:nvPr userDrawn="1"/>
        </p:nvCxnSpPr>
        <p:spPr>
          <a:xfrm>
            <a:off x="2558829" y="509774"/>
            <a:ext cx="9633171"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userDrawn="1"/>
        </p:nvCxnSpPr>
        <p:spPr>
          <a:xfrm>
            <a:off x="-5782" y="509774"/>
            <a:ext cx="334243"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结尾页_青柠绿">
    <p:spTree>
      <p:nvGrpSpPr>
        <p:cNvPr id="1" name=""/>
        <p:cNvGrpSpPr/>
        <p:nvPr/>
      </p:nvGrpSpPr>
      <p:grpSpPr>
        <a:xfrm>
          <a:off x="0" y="0"/>
          <a:ext cx="0" cy="0"/>
          <a:chOff x="0" y="0"/>
          <a:chExt cx="0" cy="0"/>
        </a:xfrm>
      </p:grpSpPr>
      <p:cxnSp>
        <p:nvCxnSpPr>
          <p:cNvPr id="8" name="直接连接符 7"/>
          <p:cNvCxnSpPr/>
          <p:nvPr userDrawn="1"/>
        </p:nvCxnSpPr>
        <p:spPr>
          <a:xfrm>
            <a:off x="731838" y="6160258"/>
            <a:ext cx="9684642" cy="0"/>
          </a:xfrm>
          <a:prstGeom prst="line">
            <a:avLst/>
          </a:prstGeom>
          <a:ln w="12700">
            <a:solidFill>
              <a:srgbClr val="B0CC14"/>
            </a:solidFill>
          </a:ln>
        </p:spPr>
        <p:style>
          <a:lnRef idx="1">
            <a:schemeClr val="accent1"/>
          </a:lnRef>
          <a:fillRef idx="0">
            <a:schemeClr val="accent1"/>
          </a:fillRef>
          <a:effectRef idx="0">
            <a:schemeClr val="accent1"/>
          </a:effectRef>
          <a:fontRef idx="minor">
            <a:schemeClr val="tx1"/>
          </a:fontRef>
        </p:style>
      </p:cxnSp>
      <p:sp>
        <p:nvSpPr>
          <p:cNvPr id="2" name="Text Placeholder 13"/>
          <p:cNvSpPr>
            <a:spLocks noGrp="1"/>
          </p:cNvSpPr>
          <p:nvPr>
            <p:ph type="body" sz="quarter" idx="10" hasCustomPrompt="1"/>
          </p:nvPr>
        </p:nvSpPr>
        <p:spPr>
          <a:xfrm>
            <a:off x="678996" y="2977017"/>
            <a:ext cx="7705367" cy="903965"/>
          </a:xfrm>
          <a:prstGeom prst="rect">
            <a:avLst/>
          </a:prstGeom>
        </p:spPr>
        <p:txBody>
          <a:bodyPr lIns="0" tIns="0" rIns="0" bIns="0" anchor="ctr" anchorCtr="0">
            <a:spAutoFit/>
          </a:bodyPr>
          <a:lstStyle>
            <a:lvl1pPr marL="0" indent="0">
              <a:buNone/>
              <a:defRPr sz="6400" b="0" i="0" kern="1200" spc="0" baseline="0">
                <a:solidFill>
                  <a:schemeClr val="bg1"/>
                </a:solidFill>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谢谢！</a:t>
            </a:r>
          </a:p>
        </p:txBody>
      </p:sp>
      <p:pic>
        <p:nvPicPr>
          <p:cNvPr id="5" name="Picture 11" descr="Text&#10;&#10;Description automatically generated"/>
          <p:cNvPicPr>
            <a:picLocks noChangeAspect="1"/>
          </p:cNvPicPr>
          <p:nvPr userDrawn="1"/>
        </p:nvPicPr>
        <p:blipFill>
          <a:blip r:embed="rId2"/>
          <a:stretch>
            <a:fillRect/>
          </a:stretch>
        </p:blipFill>
        <p:spPr>
          <a:xfrm>
            <a:off x="10493255" y="5767770"/>
            <a:ext cx="1288283" cy="772625"/>
          </a:xfrm>
          <a:prstGeom prst="rect">
            <a:avLst/>
          </a:prstGeom>
        </p:spPr>
      </p:pic>
      <p:sp>
        <p:nvSpPr>
          <p:cNvPr id="7" name="VISUAL…"/>
          <p:cNvSpPr txBox="1"/>
          <p:nvPr userDrawn="1"/>
        </p:nvSpPr>
        <p:spPr>
          <a:xfrm>
            <a:off x="731838" y="6222699"/>
            <a:ext cx="7598939" cy="98489"/>
          </a:xfrm>
          <a:prstGeom prst="rect">
            <a:avLst/>
          </a:prstGeom>
          <a:noFill/>
        </p:spPr>
        <p:txBody>
          <a:bodyPr wrap="square" lIns="0" tIns="0" rIns="0" bIns="0" rtlCol="0">
            <a:spAutoFit/>
          </a:bodyPr>
          <a:lstStyle>
            <a:defPPr>
              <a:defRPr lang="zh-CN"/>
            </a:defPPr>
            <a:lvl1pPr>
              <a:lnSpc>
                <a:spcPct val="80000"/>
              </a:lnSpc>
              <a:defRPr sz="3600" spc="180">
                <a:solidFill>
                  <a:srgbClr val="FFFFFF"/>
                </a:solidFill>
                <a:latin typeface="Helvetica Light"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800" spc="0" baseline="0" dirty="0">
                <a:solidFill>
                  <a:schemeClr val="bg1"/>
                </a:solidFill>
                <a:latin typeface="+mn-lt"/>
              </a:rPr>
              <a:t>Confidential @ AVATR 2023</a:t>
            </a:r>
            <a:r>
              <a:rPr lang="zh-CN" altLang="en-US" sz="800" spc="0" baseline="0" dirty="0">
                <a:solidFill>
                  <a:schemeClr val="bg1"/>
                </a:solidFill>
                <a:latin typeface="+mn-lt"/>
              </a:rPr>
              <a:t> </a:t>
            </a:r>
            <a:r>
              <a:rPr lang="en-US" altLang="zh-CN" sz="800" spc="0" baseline="0" dirty="0">
                <a:solidFill>
                  <a:schemeClr val="bg1"/>
                </a:solidFill>
                <a:latin typeface="+mn-lt"/>
              </a:rPr>
              <a:t>All rights reserved</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结尾页_午夜蓝">
    <p:spTree>
      <p:nvGrpSpPr>
        <p:cNvPr id="1" name=""/>
        <p:cNvGrpSpPr/>
        <p:nvPr/>
      </p:nvGrpSpPr>
      <p:grpSpPr>
        <a:xfrm>
          <a:off x="0" y="0"/>
          <a:ext cx="0" cy="0"/>
          <a:chOff x="0" y="0"/>
          <a:chExt cx="0" cy="0"/>
        </a:xfrm>
      </p:grpSpPr>
      <p:cxnSp>
        <p:nvCxnSpPr>
          <p:cNvPr id="8" name="直接连接符 7"/>
          <p:cNvCxnSpPr/>
          <p:nvPr userDrawn="1"/>
        </p:nvCxnSpPr>
        <p:spPr>
          <a:xfrm>
            <a:off x="731838" y="6160258"/>
            <a:ext cx="9684642" cy="0"/>
          </a:xfrm>
          <a:prstGeom prst="line">
            <a:avLst/>
          </a:prstGeom>
          <a:ln w="12700">
            <a:solidFill>
              <a:srgbClr val="4553FF"/>
            </a:solidFill>
          </a:ln>
        </p:spPr>
        <p:style>
          <a:lnRef idx="1">
            <a:schemeClr val="accent1"/>
          </a:lnRef>
          <a:fillRef idx="0">
            <a:schemeClr val="accent1"/>
          </a:fillRef>
          <a:effectRef idx="0">
            <a:schemeClr val="accent1"/>
          </a:effectRef>
          <a:fontRef idx="minor">
            <a:schemeClr val="tx1"/>
          </a:fontRef>
        </p:style>
      </p:cxnSp>
      <p:sp>
        <p:nvSpPr>
          <p:cNvPr id="2" name="Text Placeholder 13"/>
          <p:cNvSpPr>
            <a:spLocks noGrp="1"/>
          </p:cNvSpPr>
          <p:nvPr>
            <p:ph type="body" sz="quarter" idx="10" hasCustomPrompt="1"/>
          </p:nvPr>
        </p:nvSpPr>
        <p:spPr>
          <a:xfrm>
            <a:off x="678996" y="2977017"/>
            <a:ext cx="7705367" cy="903965"/>
          </a:xfrm>
          <a:prstGeom prst="rect">
            <a:avLst/>
          </a:prstGeom>
        </p:spPr>
        <p:txBody>
          <a:bodyPr lIns="0" tIns="0" rIns="0" bIns="0" anchor="ctr" anchorCtr="0">
            <a:spAutoFit/>
          </a:bodyPr>
          <a:lstStyle>
            <a:lvl1pPr marL="0" indent="0">
              <a:buNone/>
              <a:defRPr sz="6400" b="0" i="0" kern="1200" spc="0" baseline="0">
                <a:solidFill>
                  <a:schemeClr val="bg1"/>
                </a:solidFill>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谢谢！</a:t>
            </a:r>
          </a:p>
        </p:txBody>
      </p:sp>
      <p:pic>
        <p:nvPicPr>
          <p:cNvPr id="5" name="Picture 11" descr="Text&#10;&#10;Description automatically generated"/>
          <p:cNvPicPr>
            <a:picLocks noChangeAspect="1"/>
          </p:cNvPicPr>
          <p:nvPr userDrawn="1"/>
        </p:nvPicPr>
        <p:blipFill>
          <a:blip r:embed="rId2"/>
          <a:stretch>
            <a:fillRect/>
          </a:stretch>
        </p:blipFill>
        <p:spPr>
          <a:xfrm>
            <a:off x="10493255" y="5767770"/>
            <a:ext cx="1288283" cy="772625"/>
          </a:xfrm>
          <a:prstGeom prst="rect">
            <a:avLst/>
          </a:prstGeom>
        </p:spPr>
      </p:pic>
      <p:sp>
        <p:nvSpPr>
          <p:cNvPr id="7" name="VISUAL…"/>
          <p:cNvSpPr txBox="1"/>
          <p:nvPr userDrawn="1"/>
        </p:nvSpPr>
        <p:spPr>
          <a:xfrm>
            <a:off x="731838" y="6222699"/>
            <a:ext cx="7598939" cy="98489"/>
          </a:xfrm>
          <a:prstGeom prst="rect">
            <a:avLst/>
          </a:prstGeom>
          <a:noFill/>
        </p:spPr>
        <p:txBody>
          <a:bodyPr wrap="square" lIns="0" tIns="0" rIns="0" bIns="0" rtlCol="0">
            <a:spAutoFit/>
          </a:bodyPr>
          <a:lstStyle>
            <a:defPPr>
              <a:defRPr lang="zh-CN"/>
            </a:defPPr>
            <a:lvl1pPr>
              <a:lnSpc>
                <a:spcPct val="80000"/>
              </a:lnSpc>
              <a:defRPr sz="3600" spc="180">
                <a:solidFill>
                  <a:srgbClr val="FFFFFF"/>
                </a:solidFill>
                <a:latin typeface="Helvetica Light"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800" spc="0" baseline="0" dirty="0">
                <a:solidFill>
                  <a:schemeClr val="bg1"/>
                </a:solidFill>
                <a:latin typeface="+mn-lt"/>
              </a:rPr>
              <a:t>Confidential @ AVATR 2023</a:t>
            </a:r>
            <a:r>
              <a:rPr lang="zh-CN" altLang="en-US" sz="800" spc="0" baseline="0" dirty="0">
                <a:solidFill>
                  <a:schemeClr val="bg1"/>
                </a:solidFill>
                <a:latin typeface="+mn-lt"/>
              </a:rPr>
              <a:t> </a:t>
            </a:r>
            <a:r>
              <a:rPr lang="en-US" altLang="zh-CN" sz="800" spc="0" baseline="0" dirty="0">
                <a:solidFill>
                  <a:schemeClr val="bg1"/>
                </a:solidFill>
                <a:latin typeface="+mn-lt"/>
              </a:rPr>
              <a:t>All rights reserved</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结尾页_热品红">
    <p:spTree>
      <p:nvGrpSpPr>
        <p:cNvPr id="1" name=""/>
        <p:cNvGrpSpPr/>
        <p:nvPr/>
      </p:nvGrpSpPr>
      <p:grpSpPr>
        <a:xfrm>
          <a:off x="0" y="0"/>
          <a:ext cx="0" cy="0"/>
          <a:chOff x="0" y="0"/>
          <a:chExt cx="0" cy="0"/>
        </a:xfrm>
      </p:grpSpPr>
      <p:cxnSp>
        <p:nvCxnSpPr>
          <p:cNvPr id="8" name="直接连接符 7"/>
          <p:cNvCxnSpPr/>
          <p:nvPr userDrawn="1"/>
        </p:nvCxnSpPr>
        <p:spPr>
          <a:xfrm>
            <a:off x="731838" y="6160258"/>
            <a:ext cx="9684642" cy="0"/>
          </a:xfrm>
          <a:prstGeom prst="line">
            <a:avLst/>
          </a:prstGeom>
          <a:ln w="12700">
            <a:solidFill>
              <a:srgbClr val="FF1DCE"/>
            </a:solidFill>
          </a:ln>
        </p:spPr>
        <p:style>
          <a:lnRef idx="1">
            <a:schemeClr val="accent1"/>
          </a:lnRef>
          <a:fillRef idx="0">
            <a:schemeClr val="accent1"/>
          </a:fillRef>
          <a:effectRef idx="0">
            <a:schemeClr val="accent1"/>
          </a:effectRef>
          <a:fontRef idx="minor">
            <a:schemeClr val="tx1"/>
          </a:fontRef>
        </p:style>
      </p:cxnSp>
      <p:sp>
        <p:nvSpPr>
          <p:cNvPr id="2" name="Text Placeholder 13"/>
          <p:cNvSpPr>
            <a:spLocks noGrp="1"/>
          </p:cNvSpPr>
          <p:nvPr>
            <p:ph type="body" sz="quarter" idx="10" hasCustomPrompt="1"/>
          </p:nvPr>
        </p:nvSpPr>
        <p:spPr>
          <a:xfrm>
            <a:off x="678996" y="2977017"/>
            <a:ext cx="7705367" cy="903965"/>
          </a:xfrm>
          <a:prstGeom prst="rect">
            <a:avLst/>
          </a:prstGeom>
        </p:spPr>
        <p:txBody>
          <a:bodyPr lIns="0" tIns="0" rIns="0" bIns="0" anchor="ctr" anchorCtr="0">
            <a:spAutoFit/>
          </a:bodyPr>
          <a:lstStyle>
            <a:lvl1pPr marL="0" indent="0">
              <a:buNone/>
              <a:defRPr sz="6400" b="0" i="0" kern="1200" spc="0" baseline="0">
                <a:solidFill>
                  <a:schemeClr val="bg1"/>
                </a:solidFill>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谢谢！</a:t>
            </a:r>
          </a:p>
        </p:txBody>
      </p:sp>
      <p:pic>
        <p:nvPicPr>
          <p:cNvPr id="5" name="Picture 11" descr="Text&#10;&#10;Description automatically generated"/>
          <p:cNvPicPr>
            <a:picLocks noChangeAspect="1"/>
          </p:cNvPicPr>
          <p:nvPr userDrawn="1"/>
        </p:nvPicPr>
        <p:blipFill>
          <a:blip r:embed="rId2"/>
          <a:stretch>
            <a:fillRect/>
          </a:stretch>
        </p:blipFill>
        <p:spPr>
          <a:xfrm>
            <a:off x="10493255" y="5767770"/>
            <a:ext cx="1288283" cy="772625"/>
          </a:xfrm>
          <a:prstGeom prst="rect">
            <a:avLst/>
          </a:prstGeom>
        </p:spPr>
      </p:pic>
      <p:sp>
        <p:nvSpPr>
          <p:cNvPr id="7" name="VISUAL…"/>
          <p:cNvSpPr txBox="1"/>
          <p:nvPr userDrawn="1"/>
        </p:nvSpPr>
        <p:spPr>
          <a:xfrm>
            <a:off x="731838" y="6222699"/>
            <a:ext cx="7598939" cy="98489"/>
          </a:xfrm>
          <a:prstGeom prst="rect">
            <a:avLst/>
          </a:prstGeom>
          <a:noFill/>
        </p:spPr>
        <p:txBody>
          <a:bodyPr wrap="square" lIns="0" tIns="0" rIns="0" bIns="0" rtlCol="0">
            <a:spAutoFit/>
          </a:bodyPr>
          <a:lstStyle>
            <a:defPPr>
              <a:defRPr lang="zh-CN"/>
            </a:defPPr>
            <a:lvl1pPr>
              <a:lnSpc>
                <a:spcPct val="80000"/>
              </a:lnSpc>
              <a:defRPr sz="3600" spc="180">
                <a:solidFill>
                  <a:srgbClr val="FFFFFF"/>
                </a:solidFill>
                <a:latin typeface="Helvetica Light"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800" spc="0" baseline="0" dirty="0">
                <a:solidFill>
                  <a:schemeClr val="bg1"/>
                </a:solidFill>
                <a:latin typeface="+mn-lt"/>
              </a:rPr>
              <a:t>Confidential @ AVATR 2023</a:t>
            </a:r>
            <a:r>
              <a:rPr lang="zh-CN" altLang="en-US" sz="800" spc="0" baseline="0" dirty="0">
                <a:solidFill>
                  <a:schemeClr val="bg1"/>
                </a:solidFill>
                <a:latin typeface="+mn-lt"/>
              </a:rPr>
              <a:t> </a:t>
            </a:r>
            <a:r>
              <a:rPr lang="en-US" altLang="zh-CN" sz="800" spc="0" baseline="0" dirty="0">
                <a:solidFill>
                  <a:schemeClr val="bg1"/>
                </a:solidFill>
                <a:latin typeface="+mn-lt"/>
              </a:rPr>
              <a:t>All rights reserved</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序号分割页-青柠绿">
    <p:spTree>
      <p:nvGrpSpPr>
        <p:cNvPr id="1" name=""/>
        <p:cNvGrpSpPr/>
        <p:nvPr/>
      </p:nvGrpSpPr>
      <p:grpSpPr>
        <a:xfrm>
          <a:off x="0" y="0"/>
          <a:ext cx="0" cy="0"/>
          <a:chOff x="0" y="0"/>
          <a:chExt cx="0" cy="0"/>
        </a:xfrm>
      </p:grpSpPr>
      <p:sp>
        <p:nvSpPr>
          <p:cNvPr id="3" name="Text Placeholder 3"/>
          <p:cNvSpPr>
            <a:spLocks noGrp="1"/>
          </p:cNvSpPr>
          <p:nvPr>
            <p:ph type="body" sz="quarter" idx="10" hasCustomPrompt="1"/>
          </p:nvPr>
        </p:nvSpPr>
        <p:spPr>
          <a:xfrm>
            <a:off x="1892236" y="3464931"/>
            <a:ext cx="88812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accent1">
                    <a:lumMod val="40000"/>
                    <a:lumOff val="6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6" name="Rectangle 5"/>
          <p:cNvSpPr/>
          <p:nvPr userDrawn="1"/>
        </p:nvSpPr>
        <p:spPr>
          <a:xfrm>
            <a:off x="-9626" y="2502725"/>
            <a:ext cx="45719" cy="1380015"/>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9" name="Text Placeholder 3"/>
          <p:cNvSpPr>
            <a:spLocks noGrp="1"/>
          </p:cNvSpPr>
          <p:nvPr>
            <p:ph type="body" sz="quarter" idx="13" hasCustomPrompt="1"/>
          </p:nvPr>
        </p:nvSpPr>
        <p:spPr>
          <a:xfrm>
            <a:off x="1892739" y="2546499"/>
            <a:ext cx="8881200" cy="914400"/>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8" name="Text Placeholder 3"/>
          <p:cNvSpPr>
            <a:spLocks noGrp="1"/>
          </p:cNvSpPr>
          <p:nvPr>
            <p:ph type="body" sz="quarter" idx="12" hasCustomPrompt="1"/>
          </p:nvPr>
        </p:nvSpPr>
        <p:spPr>
          <a:xfrm>
            <a:off x="854251" y="2037507"/>
            <a:ext cx="1010710" cy="1794402"/>
          </a:xfrm>
          <a:prstGeom prst="rect">
            <a:avLst/>
          </a:prstGeom>
        </p:spPr>
        <p:txBody>
          <a:bodyPr lIns="0" tIns="0" rIns="0" bIns="0" anchor="ctr" anchorCtr="0">
            <a:spAutoFit/>
          </a:bodyPr>
          <a:lstStyle>
            <a:lvl1pPr marL="0" indent="0">
              <a:buNone/>
              <a:defRPr kumimoji="0" lang="zh-CN" altLang="en-US" sz="12800" b="0" i="0" u="none" strike="noStrike" kern="0" cap="none" spc="0" normalizeH="0" baseline="0" dirty="0">
                <a:ln>
                  <a:noFill/>
                </a:ln>
                <a:solidFill>
                  <a:srgbClr val="FFFFFF"/>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en-US" altLang="zh-CN" dirty="0"/>
              <a:t>1</a:t>
            </a:r>
            <a:endParaRPr lang="zh-CN" altLang="en-US" dirty="0"/>
          </a:p>
        </p:txBody>
      </p:sp>
      <p:sp>
        <p:nvSpPr>
          <p:cNvPr id="7"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序号分割页-午夜蓝">
    <p:spTree>
      <p:nvGrpSpPr>
        <p:cNvPr id="1" name=""/>
        <p:cNvGrpSpPr/>
        <p:nvPr/>
      </p:nvGrpSpPr>
      <p:grpSpPr>
        <a:xfrm>
          <a:off x="0" y="0"/>
          <a:ext cx="0" cy="0"/>
          <a:chOff x="0" y="0"/>
          <a:chExt cx="0" cy="0"/>
        </a:xfrm>
      </p:grpSpPr>
      <p:sp>
        <p:nvSpPr>
          <p:cNvPr id="3" name="Text Placeholder 3"/>
          <p:cNvSpPr>
            <a:spLocks noGrp="1"/>
          </p:cNvSpPr>
          <p:nvPr>
            <p:ph type="body" sz="quarter" idx="10" hasCustomPrompt="1"/>
          </p:nvPr>
        </p:nvSpPr>
        <p:spPr>
          <a:xfrm>
            <a:off x="1892236" y="3464931"/>
            <a:ext cx="88812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accent1">
                    <a:lumMod val="40000"/>
                    <a:lumOff val="6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6" name="Rectangle 5"/>
          <p:cNvSpPr/>
          <p:nvPr userDrawn="1"/>
        </p:nvSpPr>
        <p:spPr>
          <a:xfrm>
            <a:off x="-9626" y="2502725"/>
            <a:ext cx="45719" cy="1380015"/>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9" name="Text Placeholder 3"/>
          <p:cNvSpPr>
            <a:spLocks noGrp="1"/>
          </p:cNvSpPr>
          <p:nvPr>
            <p:ph type="body" sz="quarter" idx="13" hasCustomPrompt="1"/>
          </p:nvPr>
        </p:nvSpPr>
        <p:spPr>
          <a:xfrm>
            <a:off x="1892739" y="2546499"/>
            <a:ext cx="8881200" cy="914400"/>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8" name="Text Placeholder 3"/>
          <p:cNvSpPr>
            <a:spLocks noGrp="1"/>
          </p:cNvSpPr>
          <p:nvPr>
            <p:ph type="body" sz="quarter" idx="12" hasCustomPrompt="1"/>
          </p:nvPr>
        </p:nvSpPr>
        <p:spPr>
          <a:xfrm>
            <a:off x="854251" y="2037507"/>
            <a:ext cx="1010710" cy="1794402"/>
          </a:xfrm>
          <a:prstGeom prst="rect">
            <a:avLst/>
          </a:prstGeom>
        </p:spPr>
        <p:txBody>
          <a:bodyPr lIns="0" tIns="0" rIns="0" bIns="0" anchor="ctr" anchorCtr="0">
            <a:spAutoFit/>
          </a:bodyPr>
          <a:lstStyle>
            <a:lvl1pPr marL="0" indent="0">
              <a:buNone/>
              <a:defRPr kumimoji="0" lang="zh-CN" altLang="en-US" sz="12800" b="0" i="0" u="none" strike="noStrike" kern="0" cap="none" spc="0" normalizeH="0" baseline="0" dirty="0">
                <a:ln>
                  <a:noFill/>
                </a:ln>
                <a:solidFill>
                  <a:srgbClr val="FFFFFF"/>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en-US" altLang="zh-CN" dirty="0"/>
              <a:t>1</a:t>
            </a:r>
            <a:endParaRPr lang="zh-CN" altLang="en-US" dirty="0"/>
          </a:p>
        </p:txBody>
      </p:sp>
      <p:sp>
        <p:nvSpPr>
          <p:cNvPr id="7"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序号分割页-热品红">
    <p:spTree>
      <p:nvGrpSpPr>
        <p:cNvPr id="1" name=""/>
        <p:cNvGrpSpPr/>
        <p:nvPr/>
      </p:nvGrpSpPr>
      <p:grpSpPr>
        <a:xfrm>
          <a:off x="0" y="0"/>
          <a:ext cx="0" cy="0"/>
          <a:chOff x="0" y="0"/>
          <a:chExt cx="0" cy="0"/>
        </a:xfrm>
      </p:grpSpPr>
      <p:sp>
        <p:nvSpPr>
          <p:cNvPr id="3" name="Text Placeholder 3"/>
          <p:cNvSpPr>
            <a:spLocks noGrp="1"/>
          </p:cNvSpPr>
          <p:nvPr>
            <p:ph type="body" sz="quarter" idx="10" hasCustomPrompt="1"/>
          </p:nvPr>
        </p:nvSpPr>
        <p:spPr>
          <a:xfrm>
            <a:off x="1892236" y="3464931"/>
            <a:ext cx="88812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accent1">
                    <a:lumMod val="40000"/>
                    <a:lumOff val="6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6" name="Rectangle 5"/>
          <p:cNvSpPr/>
          <p:nvPr userDrawn="1"/>
        </p:nvSpPr>
        <p:spPr>
          <a:xfrm>
            <a:off x="-9626" y="2502725"/>
            <a:ext cx="45719" cy="1380015"/>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9" name="Text Placeholder 3"/>
          <p:cNvSpPr>
            <a:spLocks noGrp="1"/>
          </p:cNvSpPr>
          <p:nvPr>
            <p:ph type="body" sz="quarter" idx="13" hasCustomPrompt="1"/>
          </p:nvPr>
        </p:nvSpPr>
        <p:spPr>
          <a:xfrm>
            <a:off x="1892739" y="2546499"/>
            <a:ext cx="8881200" cy="914400"/>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8" name="Text Placeholder 3"/>
          <p:cNvSpPr>
            <a:spLocks noGrp="1"/>
          </p:cNvSpPr>
          <p:nvPr>
            <p:ph type="body" sz="quarter" idx="12" hasCustomPrompt="1"/>
          </p:nvPr>
        </p:nvSpPr>
        <p:spPr>
          <a:xfrm>
            <a:off x="854251" y="2037507"/>
            <a:ext cx="1010710" cy="1794402"/>
          </a:xfrm>
          <a:prstGeom prst="rect">
            <a:avLst/>
          </a:prstGeom>
        </p:spPr>
        <p:txBody>
          <a:bodyPr lIns="0" tIns="0" rIns="0" bIns="0" anchor="ctr" anchorCtr="0">
            <a:spAutoFit/>
          </a:bodyPr>
          <a:lstStyle>
            <a:lvl1pPr marL="0" indent="0">
              <a:buNone/>
              <a:defRPr kumimoji="0" lang="zh-CN" altLang="en-US" sz="12800" b="0" i="0" u="none" strike="noStrike" kern="0" cap="none" spc="0" normalizeH="0" baseline="0" dirty="0">
                <a:ln>
                  <a:noFill/>
                </a:ln>
                <a:solidFill>
                  <a:srgbClr val="FFFFFF"/>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en-US" altLang="zh-CN" dirty="0"/>
              <a:t>1</a:t>
            </a:r>
            <a:endParaRPr lang="zh-CN" altLang="en-US" dirty="0"/>
          </a:p>
        </p:txBody>
      </p:sp>
      <p:sp>
        <p:nvSpPr>
          <p:cNvPr id="7"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普通分割页-青柠绿">
    <p:spTree>
      <p:nvGrpSpPr>
        <p:cNvPr id="1" name=""/>
        <p:cNvGrpSpPr/>
        <p:nvPr/>
      </p:nvGrpSpPr>
      <p:grpSpPr>
        <a:xfrm>
          <a:off x="0" y="0"/>
          <a:ext cx="0" cy="0"/>
          <a:chOff x="0" y="0"/>
          <a:chExt cx="0" cy="0"/>
        </a:xfrm>
      </p:grpSpPr>
      <p:sp>
        <p:nvSpPr>
          <p:cNvPr id="6" name="Rectangle 5"/>
          <p:cNvSpPr/>
          <p:nvPr userDrawn="1"/>
        </p:nvSpPr>
        <p:spPr>
          <a:xfrm>
            <a:off x="-9626" y="2484253"/>
            <a:ext cx="45719" cy="1380015"/>
          </a:xfrm>
          <a:prstGeom prst="rect">
            <a:avLst/>
          </a:prstGeom>
          <a:solidFill>
            <a:srgbClr val="C1E2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10" name="Text Placeholder 3"/>
          <p:cNvSpPr>
            <a:spLocks noGrp="1"/>
          </p:cNvSpPr>
          <p:nvPr>
            <p:ph type="body" sz="quarter" idx="10" hasCustomPrompt="1"/>
          </p:nvPr>
        </p:nvSpPr>
        <p:spPr>
          <a:xfrm>
            <a:off x="995683" y="3433032"/>
            <a:ext cx="88812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accent1">
                    <a:lumMod val="40000"/>
                    <a:lumOff val="6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2" name="Text Placeholder 3"/>
          <p:cNvSpPr>
            <a:spLocks noGrp="1"/>
          </p:cNvSpPr>
          <p:nvPr>
            <p:ph type="body" sz="quarter" idx="13" hasCustomPrompt="1"/>
          </p:nvPr>
        </p:nvSpPr>
        <p:spPr>
          <a:xfrm>
            <a:off x="988966" y="2514600"/>
            <a:ext cx="8881200" cy="914400"/>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5"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普通分割页-午夜蓝">
    <p:spTree>
      <p:nvGrpSpPr>
        <p:cNvPr id="1" name=""/>
        <p:cNvGrpSpPr/>
        <p:nvPr/>
      </p:nvGrpSpPr>
      <p:grpSpPr>
        <a:xfrm>
          <a:off x="0" y="0"/>
          <a:ext cx="0" cy="0"/>
          <a:chOff x="0" y="0"/>
          <a:chExt cx="0" cy="0"/>
        </a:xfrm>
      </p:grpSpPr>
      <p:sp>
        <p:nvSpPr>
          <p:cNvPr id="6" name="Rectangle 5"/>
          <p:cNvSpPr/>
          <p:nvPr userDrawn="1"/>
        </p:nvSpPr>
        <p:spPr>
          <a:xfrm>
            <a:off x="-9626" y="2484253"/>
            <a:ext cx="45719" cy="1380015"/>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10" name="Text Placeholder 3"/>
          <p:cNvSpPr>
            <a:spLocks noGrp="1"/>
          </p:cNvSpPr>
          <p:nvPr>
            <p:ph type="body" sz="quarter" idx="10" hasCustomPrompt="1"/>
          </p:nvPr>
        </p:nvSpPr>
        <p:spPr>
          <a:xfrm>
            <a:off x="995683" y="3433032"/>
            <a:ext cx="88812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accent1">
                    <a:lumMod val="40000"/>
                    <a:lumOff val="6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2" name="Text Placeholder 3"/>
          <p:cNvSpPr>
            <a:spLocks noGrp="1"/>
          </p:cNvSpPr>
          <p:nvPr>
            <p:ph type="body" sz="quarter" idx="13" hasCustomPrompt="1"/>
          </p:nvPr>
        </p:nvSpPr>
        <p:spPr>
          <a:xfrm>
            <a:off x="988966" y="2514600"/>
            <a:ext cx="8881200" cy="914400"/>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5"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普通分割页-热品红">
    <p:spTree>
      <p:nvGrpSpPr>
        <p:cNvPr id="1" name=""/>
        <p:cNvGrpSpPr/>
        <p:nvPr/>
      </p:nvGrpSpPr>
      <p:grpSpPr>
        <a:xfrm>
          <a:off x="0" y="0"/>
          <a:ext cx="0" cy="0"/>
          <a:chOff x="0" y="0"/>
          <a:chExt cx="0" cy="0"/>
        </a:xfrm>
      </p:grpSpPr>
      <p:sp>
        <p:nvSpPr>
          <p:cNvPr id="6" name="Rectangle 5"/>
          <p:cNvSpPr/>
          <p:nvPr userDrawn="1"/>
        </p:nvSpPr>
        <p:spPr>
          <a:xfrm>
            <a:off x="-9626" y="2484253"/>
            <a:ext cx="45719" cy="1380015"/>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10" name="Text Placeholder 3"/>
          <p:cNvSpPr>
            <a:spLocks noGrp="1"/>
          </p:cNvSpPr>
          <p:nvPr>
            <p:ph type="body" sz="quarter" idx="10" hasCustomPrompt="1"/>
          </p:nvPr>
        </p:nvSpPr>
        <p:spPr>
          <a:xfrm>
            <a:off x="995683" y="3433032"/>
            <a:ext cx="88812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accent1">
                    <a:lumMod val="40000"/>
                    <a:lumOff val="6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2" name="Text Placeholder 3"/>
          <p:cNvSpPr>
            <a:spLocks noGrp="1"/>
          </p:cNvSpPr>
          <p:nvPr>
            <p:ph type="body" sz="quarter" idx="13" hasCustomPrompt="1"/>
          </p:nvPr>
        </p:nvSpPr>
        <p:spPr>
          <a:xfrm>
            <a:off x="988966" y="2514600"/>
            <a:ext cx="8881200" cy="914400"/>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5"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图文分割页-绿">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6100726" y="0"/>
            <a:ext cx="6096000" cy="6858000"/>
          </a:xfrm>
          <a:prstGeom prst="rect">
            <a:avLst/>
          </a:prstGeom>
          <a:solidFill>
            <a:schemeClr val="accent6">
              <a:lumMod val="20000"/>
              <a:lumOff val="80000"/>
            </a:schemeClr>
          </a:solidFill>
        </p:spPr>
        <p:txBody>
          <a:bodyPr/>
          <a:lstStyle>
            <a:lvl1pPr>
              <a:defRPr sz="1600"/>
            </a:lvl1pPr>
          </a:lstStyle>
          <a:p>
            <a:r>
              <a:rPr lang="en-US" dirty="0"/>
              <a:t>请在此处插入图片</a:t>
            </a:r>
          </a:p>
        </p:txBody>
      </p:sp>
      <p:sp>
        <p:nvSpPr>
          <p:cNvPr id="9" name="Text Placeholder 3"/>
          <p:cNvSpPr>
            <a:spLocks noGrp="1"/>
          </p:cNvSpPr>
          <p:nvPr>
            <p:ph type="body" sz="quarter" idx="11" hasCustomPrompt="1"/>
          </p:nvPr>
        </p:nvSpPr>
        <p:spPr>
          <a:xfrm>
            <a:off x="344101" y="2247899"/>
            <a:ext cx="5282963" cy="1898649"/>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11" name="Text Placeholder 3"/>
          <p:cNvSpPr>
            <a:spLocks noGrp="1"/>
          </p:cNvSpPr>
          <p:nvPr>
            <p:ph type="body" sz="quarter" idx="13" hasCustomPrompt="1"/>
          </p:nvPr>
        </p:nvSpPr>
        <p:spPr>
          <a:xfrm>
            <a:off x="342356" y="4146548"/>
            <a:ext cx="52848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accent1">
                    <a:lumMod val="40000"/>
                    <a:lumOff val="6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0" name="Rectangle 5"/>
          <p:cNvSpPr/>
          <p:nvPr userDrawn="1"/>
        </p:nvSpPr>
        <p:spPr>
          <a:xfrm>
            <a:off x="-4689" y="2247899"/>
            <a:ext cx="45719" cy="2265627"/>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7"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tx1"/>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图文分割页-蓝">
    <p:spTree>
      <p:nvGrpSpPr>
        <p:cNvPr id="1" name=""/>
        <p:cNvGrpSpPr/>
        <p:nvPr/>
      </p:nvGrpSpPr>
      <p:grpSpPr>
        <a:xfrm>
          <a:off x="0" y="0"/>
          <a:ext cx="0" cy="0"/>
          <a:chOff x="0" y="0"/>
          <a:chExt cx="0" cy="0"/>
        </a:xfrm>
      </p:grpSpPr>
      <p:sp>
        <p:nvSpPr>
          <p:cNvPr id="3" name="Picture Placeholder 3"/>
          <p:cNvSpPr>
            <a:spLocks noGrp="1"/>
          </p:cNvSpPr>
          <p:nvPr>
            <p:ph type="pic" sz="quarter" idx="10" hasCustomPrompt="1"/>
          </p:nvPr>
        </p:nvSpPr>
        <p:spPr>
          <a:xfrm>
            <a:off x="6097745" y="1407"/>
            <a:ext cx="6096000" cy="6858000"/>
          </a:xfrm>
          <a:prstGeom prst="rect">
            <a:avLst/>
          </a:prstGeom>
          <a:solidFill>
            <a:schemeClr val="accent6">
              <a:lumMod val="20000"/>
              <a:lumOff val="80000"/>
            </a:schemeClr>
          </a:solidFill>
        </p:spPr>
        <p:txBody>
          <a:bodyPr/>
          <a:lstStyle>
            <a:lvl1pPr>
              <a:defRPr sz="1600"/>
            </a:lvl1pPr>
          </a:lstStyle>
          <a:p>
            <a:r>
              <a:rPr lang="en-US" dirty="0"/>
              <a:t>请在此处插入图片</a:t>
            </a:r>
          </a:p>
        </p:txBody>
      </p:sp>
      <p:sp>
        <p:nvSpPr>
          <p:cNvPr id="6" name="Rectangle 5"/>
          <p:cNvSpPr/>
          <p:nvPr userDrawn="1"/>
        </p:nvSpPr>
        <p:spPr>
          <a:xfrm>
            <a:off x="-4682" y="2247899"/>
            <a:ext cx="45719" cy="2265627"/>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7" name="Text Placeholder 3"/>
          <p:cNvSpPr>
            <a:spLocks noGrp="1"/>
          </p:cNvSpPr>
          <p:nvPr>
            <p:ph type="body" sz="quarter" idx="11" hasCustomPrompt="1"/>
          </p:nvPr>
        </p:nvSpPr>
        <p:spPr>
          <a:xfrm>
            <a:off x="344108" y="2247899"/>
            <a:ext cx="5282963" cy="1898649"/>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8" name="Text Placeholder 3"/>
          <p:cNvSpPr>
            <a:spLocks noGrp="1"/>
          </p:cNvSpPr>
          <p:nvPr>
            <p:ph type="body" sz="quarter" idx="13" hasCustomPrompt="1"/>
          </p:nvPr>
        </p:nvSpPr>
        <p:spPr>
          <a:xfrm>
            <a:off x="342363" y="4146548"/>
            <a:ext cx="52848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accent1">
                    <a:lumMod val="40000"/>
                    <a:lumOff val="6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0"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tx1"/>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图文分割页-红">
    <p:spTree>
      <p:nvGrpSpPr>
        <p:cNvPr id="1" name=""/>
        <p:cNvGrpSpPr/>
        <p:nvPr/>
      </p:nvGrpSpPr>
      <p:grpSpPr>
        <a:xfrm>
          <a:off x="0" y="0"/>
          <a:ext cx="0" cy="0"/>
          <a:chOff x="0" y="0"/>
          <a:chExt cx="0" cy="0"/>
        </a:xfrm>
      </p:grpSpPr>
      <p:sp>
        <p:nvSpPr>
          <p:cNvPr id="3" name="Picture Placeholder 3"/>
          <p:cNvSpPr>
            <a:spLocks noGrp="1"/>
          </p:cNvSpPr>
          <p:nvPr>
            <p:ph type="pic" sz="quarter" idx="10" hasCustomPrompt="1"/>
          </p:nvPr>
        </p:nvSpPr>
        <p:spPr>
          <a:xfrm>
            <a:off x="6097745" y="0"/>
            <a:ext cx="6096000" cy="6858000"/>
          </a:xfrm>
          <a:prstGeom prst="rect">
            <a:avLst/>
          </a:prstGeom>
          <a:solidFill>
            <a:schemeClr val="accent6">
              <a:lumMod val="20000"/>
              <a:lumOff val="80000"/>
            </a:schemeClr>
          </a:solidFill>
        </p:spPr>
        <p:txBody>
          <a:bodyPr/>
          <a:lstStyle>
            <a:lvl1pPr>
              <a:defRPr sz="1600"/>
            </a:lvl1pPr>
          </a:lstStyle>
          <a:p>
            <a:r>
              <a:rPr lang="en-US" dirty="0"/>
              <a:t>请在此处插入图片</a:t>
            </a:r>
          </a:p>
        </p:txBody>
      </p:sp>
      <p:sp>
        <p:nvSpPr>
          <p:cNvPr id="6" name="Rectangle 5"/>
          <p:cNvSpPr/>
          <p:nvPr userDrawn="1"/>
        </p:nvSpPr>
        <p:spPr>
          <a:xfrm>
            <a:off x="-4682" y="2247899"/>
            <a:ext cx="45719" cy="2265627"/>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7" name="Text Placeholder 3"/>
          <p:cNvSpPr>
            <a:spLocks noGrp="1"/>
          </p:cNvSpPr>
          <p:nvPr>
            <p:ph type="body" sz="quarter" idx="11" hasCustomPrompt="1"/>
          </p:nvPr>
        </p:nvSpPr>
        <p:spPr>
          <a:xfrm>
            <a:off x="344108" y="2247899"/>
            <a:ext cx="5282963" cy="1898649"/>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8" name="Text Placeholder 3"/>
          <p:cNvSpPr>
            <a:spLocks noGrp="1"/>
          </p:cNvSpPr>
          <p:nvPr>
            <p:ph type="body" sz="quarter" idx="13" hasCustomPrompt="1"/>
          </p:nvPr>
        </p:nvSpPr>
        <p:spPr>
          <a:xfrm>
            <a:off x="342363" y="4146548"/>
            <a:ext cx="52848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accent1">
                    <a:lumMod val="40000"/>
                    <a:lumOff val="6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0"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tx1"/>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12" name="Text Placeholder 3"/>
          <p:cNvSpPr>
            <a:spLocks noGrp="1"/>
          </p:cNvSpPr>
          <p:nvPr>
            <p:ph type="body" sz="quarter" idx="15" hasCustomPrompt="1"/>
          </p:nvPr>
        </p:nvSpPr>
        <p:spPr>
          <a:xfrm>
            <a:off x="1375682" y="1896779"/>
            <a:ext cx="7716667" cy="367490"/>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会议日程一</a:t>
            </a:r>
          </a:p>
        </p:txBody>
      </p:sp>
      <p:sp>
        <p:nvSpPr>
          <p:cNvPr id="13" name="Text Placeholder 135"/>
          <p:cNvSpPr>
            <a:spLocks noGrp="1"/>
          </p:cNvSpPr>
          <p:nvPr>
            <p:ph type="body" sz="quarter" idx="16" hasCustomPrompt="1"/>
          </p:nvPr>
        </p:nvSpPr>
        <p:spPr>
          <a:xfrm>
            <a:off x="160491" y="1899144"/>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01</a:t>
            </a:r>
            <a:endParaRPr lang="zh-CN" altLang="en-US" dirty="0"/>
          </a:p>
        </p:txBody>
      </p:sp>
      <p:cxnSp>
        <p:nvCxnSpPr>
          <p:cNvPr id="31" name="Straight Connector 30"/>
          <p:cNvCxnSpPr/>
          <p:nvPr userDrawn="1"/>
        </p:nvCxnSpPr>
        <p:spPr>
          <a:xfrm>
            <a:off x="312912" y="1188079"/>
            <a:ext cx="11579051" cy="0"/>
          </a:xfrm>
          <a:prstGeom prst="line">
            <a:avLst/>
          </a:prstGeom>
          <a:ln w="19050">
            <a:solidFill>
              <a:schemeClr val="accent4"/>
            </a:solidFill>
            <a:prstDash val="solid"/>
          </a:ln>
        </p:spPr>
        <p:style>
          <a:lnRef idx="1">
            <a:schemeClr val="accent1"/>
          </a:lnRef>
          <a:fillRef idx="0">
            <a:schemeClr val="accent1"/>
          </a:fillRef>
          <a:effectRef idx="0">
            <a:schemeClr val="accent1"/>
          </a:effectRef>
          <a:fontRef idx="minor">
            <a:schemeClr val="tx1"/>
          </a:fontRef>
        </p:style>
      </p:cxnSp>
      <p:sp>
        <p:nvSpPr>
          <p:cNvPr id="42" name="Text Placeholder 3"/>
          <p:cNvSpPr>
            <a:spLocks noGrp="1"/>
          </p:cNvSpPr>
          <p:nvPr>
            <p:ph type="body" sz="quarter" idx="23" hasCustomPrompt="1"/>
          </p:nvPr>
        </p:nvSpPr>
        <p:spPr>
          <a:xfrm>
            <a:off x="1375682" y="2603298"/>
            <a:ext cx="7716667" cy="356980"/>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会议日程二</a:t>
            </a:r>
          </a:p>
        </p:txBody>
      </p:sp>
      <p:sp>
        <p:nvSpPr>
          <p:cNvPr id="43" name="Text Placeholder 135"/>
          <p:cNvSpPr>
            <a:spLocks noGrp="1"/>
          </p:cNvSpPr>
          <p:nvPr>
            <p:ph type="body" sz="quarter" idx="24" hasCustomPrompt="1"/>
          </p:nvPr>
        </p:nvSpPr>
        <p:spPr>
          <a:xfrm>
            <a:off x="160491" y="2601262"/>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02</a:t>
            </a:r>
            <a:endParaRPr lang="zh-CN" altLang="en-US" dirty="0"/>
          </a:p>
        </p:txBody>
      </p:sp>
      <p:sp>
        <p:nvSpPr>
          <p:cNvPr id="44" name="Text Placeholder 3"/>
          <p:cNvSpPr>
            <a:spLocks noGrp="1"/>
          </p:cNvSpPr>
          <p:nvPr>
            <p:ph type="body" sz="quarter" idx="25" hasCustomPrompt="1"/>
          </p:nvPr>
        </p:nvSpPr>
        <p:spPr>
          <a:xfrm>
            <a:off x="1375682" y="3299307"/>
            <a:ext cx="7716667" cy="365126"/>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会议日程三</a:t>
            </a:r>
          </a:p>
        </p:txBody>
      </p:sp>
      <p:sp>
        <p:nvSpPr>
          <p:cNvPr id="45" name="Text Placeholder 135"/>
          <p:cNvSpPr>
            <a:spLocks noGrp="1"/>
          </p:cNvSpPr>
          <p:nvPr>
            <p:ph type="body" sz="quarter" idx="26" hasCustomPrompt="1"/>
          </p:nvPr>
        </p:nvSpPr>
        <p:spPr>
          <a:xfrm>
            <a:off x="160491" y="3303380"/>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03</a:t>
            </a:r>
            <a:endParaRPr lang="zh-CN" altLang="en-US" dirty="0"/>
          </a:p>
        </p:txBody>
      </p:sp>
      <p:sp>
        <p:nvSpPr>
          <p:cNvPr id="46" name="Text Placeholder 3"/>
          <p:cNvSpPr>
            <a:spLocks noGrp="1"/>
          </p:cNvSpPr>
          <p:nvPr>
            <p:ph type="body" sz="quarter" idx="27" hasCustomPrompt="1"/>
          </p:nvPr>
        </p:nvSpPr>
        <p:spPr>
          <a:xfrm>
            <a:off x="1375682" y="4003461"/>
            <a:ext cx="7716667" cy="365126"/>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会议日程四</a:t>
            </a:r>
          </a:p>
        </p:txBody>
      </p:sp>
      <p:sp>
        <p:nvSpPr>
          <p:cNvPr id="47" name="Text Placeholder 135"/>
          <p:cNvSpPr>
            <a:spLocks noGrp="1"/>
          </p:cNvSpPr>
          <p:nvPr>
            <p:ph type="body" sz="quarter" idx="28" hasCustomPrompt="1"/>
          </p:nvPr>
        </p:nvSpPr>
        <p:spPr>
          <a:xfrm>
            <a:off x="160491" y="4005498"/>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04</a:t>
            </a:r>
            <a:endParaRPr lang="zh-CN" altLang="en-US" dirty="0"/>
          </a:p>
        </p:txBody>
      </p:sp>
      <p:sp>
        <p:nvSpPr>
          <p:cNvPr id="48" name="Text Placeholder 3"/>
          <p:cNvSpPr>
            <a:spLocks noGrp="1"/>
          </p:cNvSpPr>
          <p:nvPr>
            <p:ph type="body" sz="quarter" idx="29" hasCustomPrompt="1"/>
          </p:nvPr>
        </p:nvSpPr>
        <p:spPr>
          <a:xfrm>
            <a:off x="1375682" y="4707615"/>
            <a:ext cx="7716667" cy="365125"/>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会议日程五</a:t>
            </a:r>
          </a:p>
        </p:txBody>
      </p:sp>
      <p:sp>
        <p:nvSpPr>
          <p:cNvPr id="49" name="Text Placeholder 135"/>
          <p:cNvSpPr>
            <a:spLocks noGrp="1"/>
          </p:cNvSpPr>
          <p:nvPr>
            <p:ph type="body" sz="quarter" idx="30" hasCustomPrompt="1"/>
          </p:nvPr>
        </p:nvSpPr>
        <p:spPr>
          <a:xfrm>
            <a:off x="160491" y="4707615"/>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05</a:t>
            </a:r>
            <a:endParaRPr lang="zh-CN" altLang="en-US" dirty="0"/>
          </a:p>
        </p:txBody>
      </p:sp>
      <p:sp>
        <p:nvSpPr>
          <p:cNvPr id="23" name="Text Placeholder 3"/>
          <p:cNvSpPr>
            <a:spLocks noGrp="1"/>
          </p:cNvSpPr>
          <p:nvPr>
            <p:ph type="body" sz="quarter" idx="22" hasCustomPrompt="1"/>
          </p:nvPr>
        </p:nvSpPr>
        <p:spPr>
          <a:xfrm>
            <a:off x="314303" y="859165"/>
            <a:ext cx="1800000" cy="280736"/>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en-US" altLang="zh-CN" dirty="0"/>
              <a:t>Agenda</a:t>
            </a:r>
            <a:endParaRPr lang="zh-CN" altLang="en-US" dirty="0"/>
          </a:p>
        </p:txBody>
      </p:sp>
      <p:sp>
        <p:nvSpPr>
          <p:cNvPr id="26" name="Text Placeholder 24"/>
          <p:cNvSpPr>
            <a:spLocks noGrp="1"/>
          </p:cNvSpPr>
          <p:nvPr>
            <p:ph type="body" sz="quarter" idx="21" hasCustomPrompt="1"/>
          </p:nvPr>
        </p:nvSpPr>
        <p:spPr>
          <a:xfrm>
            <a:off x="252079" y="329891"/>
            <a:ext cx="1862224" cy="588880"/>
          </a:xfrm>
          <a:prstGeom prst="rect">
            <a:avLst/>
          </a:prstGeom>
        </p:spPr>
        <p:txBody>
          <a:bodyPr lIns="0" tIns="0" rIns="0" bIns="0" anchor="ctr" anchorCtr="0"/>
          <a:lstStyle>
            <a:lvl1pPr marL="0" indent="0" algn="l">
              <a:buNone/>
              <a:defRPr sz="3200" b="0" i="0" baseline="0">
                <a:latin typeface="Alibaba PuHuiTi 2.0 55 Regular" pitchFamily="18" charset="-122"/>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目录</a:t>
            </a:r>
            <a:endParaRPr lang="en-US" dirty="0"/>
          </a:p>
        </p:txBody>
      </p:sp>
      <p:sp>
        <p:nvSpPr>
          <p:cNvPr id="16"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单文本框文字内容页-午夜蓝">
    <p:spTree>
      <p:nvGrpSpPr>
        <p:cNvPr id="1" name=""/>
        <p:cNvGrpSpPr/>
        <p:nvPr/>
      </p:nvGrpSpPr>
      <p:grpSpPr>
        <a:xfrm>
          <a:off x="0" y="0"/>
          <a:ext cx="0" cy="0"/>
          <a:chOff x="0" y="0"/>
          <a:chExt cx="0" cy="0"/>
        </a:xfrm>
      </p:grpSpPr>
      <p:sp>
        <p:nvSpPr>
          <p:cNvPr id="5"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6"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8" name="Text Placeholder 10"/>
          <p:cNvSpPr>
            <a:spLocks noGrp="1"/>
          </p:cNvSpPr>
          <p:nvPr>
            <p:ph type="body" sz="quarter" idx="14" hasCustomPrompt="1"/>
          </p:nvPr>
        </p:nvSpPr>
        <p:spPr>
          <a:xfrm>
            <a:off x="297723" y="1538573"/>
            <a:ext cx="11589477" cy="4480121"/>
          </a:xfrm>
          <a:prstGeom prst="rect">
            <a:avLst/>
          </a:prstGeom>
        </p:spPr>
        <p:txBody>
          <a:bodyPr lIns="0" tIns="0" rIns="0" bIns="0"/>
          <a:lstStyle>
            <a:lvl1pPr marL="12700" indent="0">
              <a:lnSpc>
                <a:spcPct val="150000"/>
              </a:lnSpc>
              <a:buNone/>
              <a:defRPr sz="16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sz="1200" b="0" i="0">
                <a:latin typeface="Alibaba PuHuiTi 2.0 55 Regular" pitchFamily="18" charset="-122"/>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US" dirty="0"/>
          </a:p>
        </p:txBody>
      </p:sp>
      <p:sp>
        <p:nvSpPr>
          <p:cNvPr id="11"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04824671-56D2-5D44-834F-250C3DA554E9}"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extLst>
      <p:ext uri="{BB962C8B-B14F-4D97-AF65-F5344CB8AC3E}">
        <p14:creationId xmlns:p14="http://schemas.microsoft.com/office/powerpoint/2010/main" val="10734054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单文本框文字内容页-青柠绿">
    <p:spTree>
      <p:nvGrpSpPr>
        <p:cNvPr id="1" name=""/>
        <p:cNvGrpSpPr/>
        <p:nvPr/>
      </p:nvGrpSpPr>
      <p:grpSpPr>
        <a:xfrm>
          <a:off x="0" y="0"/>
          <a:ext cx="0" cy="0"/>
          <a:chOff x="0" y="0"/>
          <a:chExt cx="0" cy="0"/>
        </a:xfrm>
      </p:grpSpPr>
      <p:sp>
        <p:nvSpPr>
          <p:cNvPr id="11" name="Text Placeholder 10"/>
          <p:cNvSpPr>
            <a:spLocks noGrp="1"/>
          </p:cNvSpPr>
          <p:nvPr>
            <p:ph type="body" sz="quarter" idx="14" hasCustomPrompt="1"/>
          </p:nvPr>
        </p:nvSpPr>
        <p:spPr>
          <a:xfrm>
            <a:off x="297723" y="1538573"/>
            <a:ext cx="11589477" cy="4480121"/>
          </a:xfrm>
          <a:prstGeom prst="rect">
            <a:avLst/>
          </a:prstGeom>
        </p:spPr>
        <p:txBody>
          <a:bodyPr lIns="0" tIns="0" rIns="0" bIns="0"/>
          <a:lstStyle>
            <a:lvl1pPr marL="12700" indent="0">
              <a:lnSpc>
                <a:spcPct val="150000"/>
              </a:lnSpc>
              <a:buNone/>
              <a:defRPr sz="16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sz="1200" b="0" i="0">
                <a:latin typeface="Alibaba PuHuiTi 2.0 55 Regular" pitchFamily="18" charset="-122"/>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US" dirty="0"/>
          </a:p>
        </p:txBody>
      </p:sp>
      <p:sp>
        <p:nvSpPr>
          <p:cNvPr id="18"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9"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E00B666-AD48-5640-8D08-2A4A6036569F}"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单文本框文字内容页-午夜蓝">
    <p:spTree>
      <p:nvGrpSpPr>
        <p:cNvPr id="1" name=""/>
        <p:cNvGrpSpPr/>
        <p:nvPr/>
      </p:nvGrpSpPr>
      <p:grpSpPr>
        <a:xfrm>
          <a:off x="0" y="0"/>
          <a:ext cx="0" cy="0"/>
          <a:chOff x="0" y="0"/>
          <a:chExt cx="0" cy="0"/>
        </a:xfrm>
      </p:grpSpPr>
      <p:sp>
        <p:nvSpPr>
          <p:cNvPr id="5"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6"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8" name="Text Placeholder 10"/>
          <p:cNvSpPr>
            <a:spLocks noGrp="1"/>
          </p:cNvSpPr>
          <p:nvPr>
            <p:ph type="body" sz="quarter" idx="14" hasCustomPrompt="1"/>
          </p:nvPr>
        </p:nvSpPr>
        <p:spPr>
          <a:xfrm>
            <a:off x="297723" y="1538573"/>
            <a:ext cx="11589477" cy="4480121"/>
          </a:xfrm>
          <a:prstGeom prst="rect">
            <a:avLst/>
          </a:prstGeom>
        </p:spPr>
        <p:txBody>
          <a:bodyPr lIns="0" tIns="0" rIns="0" bIns="0"/>
          <a:lstStyle>
            <a:lvl1pPr marL="12700" indent="0">
              <a:lnSpc>
                <a:spcPct val="150000"/>
              </a:lnSpc>
              <a:buNone/>
              <a:defRPr sz="16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sz="1200" b="0" i="0">
                <a:latin typeface="Alibaba PuHuiTi 2.0 55 Regular" pitchFamily="18" charset="-122"/>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US" dirty="0"/>
          </a:p>
        </p:txBody>
      </p:sp>
      <p:sp>
        <p:nvSpPr>
          <p:cNvPr id="11"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04824671-56D2-5D44-834F-250C3DA554E9}"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单文本框文字内容页-热品红">
    <p:spTree>
      <p:nvGrpSpPr>
        <p:cNvPr id="1" name=""/>
        <p:cNvGrpSpPr/>
        <p:nvPr/>
      </p:nvGrpSpPr>
      <p:grpSpPr>
        <a:xfrm>
          <a:off x="0" y="0"/>
          <a:ext cx="0" cy="0"/>
          <a:chOff x="0" y="0"/>
          <a:chExt cx="0" cy="0"/>
        </a:xfrm>
      </p:grpSpPr>
      <p:sp>
        <p:nvSpPr>
          <p:cNvPr id="5"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6"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8" name="Text Placeholder 10"/>
          <p:cNvSpPr>
            <a:spLocks noGrp="1"/>
          </p:cNvSpPr>
          <p:nvPr>
            <p:ph type="body" sz="quarter" idx="14" hasCustomPrompt="1"/>
          </p:nvPr>
        </p:nvSpPr>
        <p:spPr>
          <a:xfrm>
            <a:off x="297723" y="1538573"/>
            <a:ext cx="11589477" cy="4480121"/>
          </a:xfrm>
          <a:prstGeom prst="rect">
            <a:avLst/>
          </a:prstGeom>
        </p:spPr>
        <p:txBody>
          <a:bodyPr lIns="0" tIns="0" rIns="0" bIns="0"/>
          <a:lstStyle>
            <a:lvl1pPr marL="12700" indent="0">
              <a:lnSpc>
                <a:spcPct val="150000"/>
              </a:lnSpc>
              <a:buNone/>
              <a:defRPr sz="16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sz="1200" b="0" i="0">
                <a:latin typeface="Alibaba PuHuiTi 2.0 55 Regular" pitchFamily="18" charset="-122"/>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US" dirty="0"/>
          </a:p>
        </p:txBody>
      </p:sp>
      <p:sp>
        <p:nvSpPr>
          <p:cNvPr id="11"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单文本框分级文字内容页-青柠绿">
    <p:spTree>
      <p:nvGrpSpPr>
        <p:cNvPr id="1" name=""/>
        <p:cNvGrpSpPr/>
        <p:nvPr/>
      </p:nvGrpSpPr>
      <p:grpSpPr>
        <a:xfrm>
          <a:off x="0" y="0"/>
          <a:ext cx="0" cy="0"/>
          <a:chOff x="0" y="0"/>
          <a:chExt cx="0" cy="0"/>
        </a:xfrm>
      </p:grpSpPr>
      <p:sp>
        <p:nvSpPr>
          <p:cNvPr id="15"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6"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9" name="Text Placeholder 10"/>
          <p:cNvSpPr>
            <a:spLocks noGrp="1"/>
          </p:cNvSpPr>
          <p:nvPr>
            <p:ph type="body" sz="quarter" idx="14" hasCustomPrompt="1"/>
          </p:nvPr>
        </p:nvSpPr>
        <p:spPr>
          <a:xfrm>
            <a:off x="297723" y="1528948"/>
            <a:ext cx="11589477" cy="4480121"/>
          </a:xfrm>
          <a:prstGeom prst="rect">
            <a:avLst/>
          </a:prstGeom>
        </p:spPr>
        <p:txBody>
          <a:bodyPr lIns="0" tIns="0" rIns="0" bIns="0"/>
          <a:lstStyle>
            <a:lvl1pPr marL="298450" indent="-285750">
              <a:lnSpc>
                <a:spcPct val="150000"/>
              </a:lnSpc>
              <a:buFont typeface="Arial" panose="020B0604020202020204" pitchFamily="34" charset="0"/>
              <a:buChar char="•"/>
              <a:defRPr sz="1600" b="0" i="0" baseline="0">
                <a:latin typeface="DIN Pro Regular" panose="02000503040000020003" pitchFamily="50" charset="0"/>
                <a:ea typeface="Alibaba PuHuiTi 2.0 55 Regular" pitchFamily="18" charset="-122"/>
                <a:cs typeface="Alibaba PuHuiTi 2.0 55 Regular" pitchFamily="18" charset="-122"/>
              </a:defRPr>
            </a:lvl1pPr>
            <a:lvl2pPr marL="628650" indent="-171450">
              <a:buFont typeface="Courier New" panose="02070309020205020404" pitchFamily="49" charset="0"/>
              <a:buChar char="o"/>
              <a:defRPr sz="1600" b="0" i="0" baseline="0">
                <a:latin typeface="DIN Pro Regular" panose="02000503040000020003" pitchFamily="50" charset="0"/>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r>
              <a:rPr lang="en-GB" dirty="0"/>
              <a:t> </a:t>
            </a:r>
          </a:p>
          <a:p>
            <a:pPr lvl="1"/>
            <a:r>
              <a:rPr lang="en-GB" dirty="0" err="1"/>
              <a:t>请在此处输入正文</a:t>
            </a:r>
            <a:r>
              <a:rPr lang="en-GB" dirty="0"/>
              <a:t> </a:t>
            </a:r>
            <a:endParaRPr lang="en-US" dirty="0"/>
          </a:p>
        </p:txBody>
      </p:sp>
      <p:sp>
        <p:nvSpPr>
          <p:cNvPr id="20"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单文本框分级文字内容页-午夜蓝">
    <p:spTree>
      <p:nvGrpSpPr>
        <p:cNvPr id="1" name=""/>
        <p:cNvGrpSpPr/>
        <p:nvPr/>
      </p:nvGrpSpPr>
      <p:grpSpPr>
        <a:xfrm>
          <a:off x="0" y="0"/>
          <a:ext cx="0" cy="0"/>
          <a:chOff x="0" y="0"/>
          <a:chExt cx="0" cy="0"/>
        </a:xfrm>
      </p:grpSpPr>
      <p:sp>
        <p:nvSpPr>
          <p:cNvPr id="4"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5"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 name="Text Placeholder 10"/>
          <p:cNvSpPr>
            <a:spLocks noGrp="1"/>
          </p:cNvSpPr>
          <p:nvPr>
            <p:ph type="body" sz="quarter" idx="14" hasCustomPrompt="1"/>
          </p:nvPr>
        </p:nvSpPr>
        <p:spPr>
          <a:xfrm>
            <a:off x="297723" y="1528948"/>
            <a:ext cx="11589477" cy="4480121"/>
          </a:xfrm>
          <a:prstGeom prst="rect">
            <a:avLst/>
          </a:prstGeom>
        </p:spPr>
        <p:txBody>
          <a:bodyPr lIns="0" tIns="0" rIns="0" bIns="0"/>
          <a:lstStyle>
            <a:lvl1pPr marL="298450" indent="-285750">
              <a:lnSpc>
                <a:spcPct val="150000"/>
              </a:lnSpc>
              <a:buFont typeface="Arial" panose="020B0604020202020204" pitchFamily="34" charset="0"/>
              <a:buChar char="•"/>
              <a:defRPr sz="1600" b="0" i="0" baseline="0">
                <a:latin typeface="DIN Pro Regular" panose="02000503040000020003" pitchFamily="50" charset="0"/>
                <a:ea typeface="Alibaba PuHuiTi 2.0 55 Regular" pitchFamily="18" charset="-122"/>
                <a:cs typeface="Alibaba PuHuiTi 2.0 55 Regular" pitchFamily="18" charset="-122"/>
              </a:defRPr>
            </a:lvl1pPr>
            <a:lvl2pPr marL="628650" indent="-171450">
              <a:buFont typeface="Courier New" panose="02070309020205020404" pitchFamily="49" charset="0"/>
              <a:buChar char="o"/>
              <a:defRPr sz="1600" b="0" i="0" baseline="0">
                <a:latin typeface="DIN Pro Regular" panose="02000503040000020003" pitchFamily="50" charset="0"/>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GB" dirty="0"/>
          </a:p>
          <a:p>
            <a:pPr lvl="1"/>
            <a:r>
              <a:rPr lang="en-GB" dirty="0" err="1"/>
              <a:t>请在此处输入正文</a:t>
            </a:r>
            <a:endParaRPr lang="en-US" dirty="0"/>
          </a:p>
        </p:txBody>
      </p:sp>
      <p:sp>
        <p:nvSpPr>
          <p:cNvPr id="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9" name="Rectangle 5"/>
          <p:cNvSpPr/>
          <p:nvPr userDrawn="1"/>
        </p:nvSpPr>
        <p:spPr>
          <a:xfrm flipH="1">
            <a:off x="-2408" y="339517"/>
            <a:ext cx="45719" cy="913122"/>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单文本框分级文字内容页-热品红">
    <p:spTree>
      <p:nvGrpSpPr>
        <p:cNvPr id="1" name=""/>
        <p:cNvGrpSpPr/>
        <p:nvPr/>
      </p:nvGrpSpPr>
      <p:grpSpPr>
        <a:xfrm>
          <a:off x="0" y="0"/>
          <a:ext cx="0" cy="0"/>
          <a:chOff x="0" y="0"/>
          <a:chExt cx="0" cy="0"/>
        </a:xfrm>
      </p:grpSpPr>
      <p:sp>
        <p:nvSpPr>
          <p:cNvPr id="4"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5"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 name="Text Placeholder 10"/>
          <p:cNvSpPr>
            <a:spLocks noGrp="1"/>
          </p:cNvSpPr>
          <p:nvPr>
            <p:ph type="body" sz="quarter" idx="14" hasCustomPrompt="1"/>
          </p:nvPr>
        </p:nvSpPr>
        <p:spPr>
          <a:xfrm>
            <a:off x="297723" y="1528948"/>
            <a:ext cx="11589477" cy="4480121"/>
          </a:xfrm>
          <a:prstGeom prst="rect">
            <a:avLst/>
          </a:prstGeom>
        </p:spPr>
        <p:txBody>
          <a:bodyPr lIns="0" tIns="0" rIns="0" bIns="0"/>
          <a:lstStyle>
            <a:lvl1pPr marL="298450" indent="-285750">
              <a:lnSpc>
                <a:spcPct val="150000"/>
              </a:lnSpc>
              <a:buFont typeface="Arial" panose="020B0604020202020204" pitchFamily="34" charset="0"/>
              <a:buChar char="•"/>
              <a:defRPr sz="1600" b="0" i="0" baseline="0">
                <a:latin typeface="DIN Pro Regular" panose="02000503040000020003" pitchFamily="50" charset="0"/>
                <a:ea typeface="Alibaba PuHuiTi 2.0 55 Regular" pitchFamily="18" charset="-122"/>
                <a:cs typeface="Alibaba PuHuiTi 2.0 55 Regular" pitchFamily="18" charset="-122"/>
              </a:defRPr>
            </a:lvl1pPr>
            <a:lvl2pPr marL="628650" indent="-171450">
              <a:buFont typeface="Courier New" panose="02070309020205020404" pitchFamily="49" charset="0"/>
              <a:buChar char="o"/>
              <a:defRPr sz="1600" b="0" i="0" baseline="0">
                <a:latin typeface="DIN Pro Regular" panose="02000503040000020003" pitchFamily="50" charset="0"/>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GB" dirty="0"/>
          </a:p>
          <a:p>
            <a:pPr lvl="1"/>
            <a:r>
              <a:rPr lang="en-GB" dirty="0" err="1"/>
              <a:t>请在此处输入正文</a:t>
            </a:r>
            <a:endParaRPr lang="en-US" dirty="0"/>
          </a:p>
        </p:txBody>
      </p:sp>
      <p:sp>
        <p:nvSpPr>
          <p:cNvPr id="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9" name="Rectangle 5"/>
          <p:cNvSpPr/>
          <p:nvPr userDrawn="1"/>
        </p:nvSpPr>
        <p:spPr>
          <a:xfrm flipH="1">
            <a:off x="-2408" y="339517"/>
            <a:ext cx="45719" cy="913122"/>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双文本框文字内容页-青柠绿">
    <p:spTree>
      <p:nvGrpSpPr>
        <p:cNvPr id="1" name=""/>
        <p:cNvGrpSpPr/>
        <p:nvPr/>
      </p:nvGrpSpPr>
      <p:grpSpPr>
        <a:xfrm>
          <a:off x="0" y="0"/>
          <a:ext cx="0" cy="0"/>
          <a:chOff x="0" y="0"/>
          <a:chExt cx="0" cy="0"/>
        </a:xfrm>
      </p:grpSpPr>
      <p:grpSp>
        <p:nvGrpSpPr>
          <p:cNvPr id="6" name="Group 5"/>
          <p:cNvGrpSpPr/>
          <p:nvPr userDrawn="1"/>
        </p:nvGrpSpPr>
        <p:grpSpPr>
          <a:xfrm>
            <a:off x="5969920" y="334392"/>
            <a:ext cx="280736" cy="2894582"/>
            <a:chOff x="5778501" y="1581985"/>
            <a:chExt cx="280736" cy="2894582"/>
          </a:xfrm>
        </p:grpSpPr>
        <p:sp>
          <p:nvSpPr>
            <p:cNvPr id="7"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8" name="Line"/>
            <p:cNvSpPr/>
            <p:nvPr userDrawn="1"/>
          </p:nvSpPr>
          <p:spPr>
            <a:xfrm flipV="1">
              <a:off x="5904581" y="1929262"/>
              <a:ext cx="14289" cy="2547305"/>
            </a:xfrm>
            <a:prstGeom prst="line">
              <a:avLst/>
            </a:prstGeom>
            <a:ln w="12700">
              <a:solidFill>
                <a:srgbClr val="B0CC14"/>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12" name="Text Placeholder 14"/>
          <p:cNvSpPr>
            <a:spLocks noGrp="1"/>
          </p:cNvSpPr>
          <p:nvPr>
            <p:ph type="body" sz="quarter" idx="14" hasCustomPrompt="1"/>
          </p:nvPr>
        </p:nvSpPr>
        <p:spPr>
          <a:xfrm>
            <a:off x="5970588" y="334392"/>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1</a:t>
            </a:r>
            <a:endParaRPr lang="en-US" dirty="0"/>
          </a:p>
        </p:txBody>
      </p:sp>
      <p:sp>
        <p:nvSpPr>
          <p:cNvPr id="14" name="Text Placeholder 3"/>
          <p:cNvSpPr>
            <a:spLocks noGrp="1"/>
          </p:cNvSpPr>
          <p:nvPr>
            <p:ph type="body" sz="quarter" idx="19" hasCustomPrompt="1"/>
          </p:nvPr>
        </p:nvSpPr>
        <p:spPr>
          <a:xfrm>
            <a:off x="6360440" y="645865"/>
            <a:ext cx="3817175" cy="2583109"/>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5" name="Text Placeholder 3"/>
          <p:cNvSpPr>
            <a:spLocks noGrp="1"/>
          </p:cNvSpPr>
          <p:nvPr>
            <p:ph type="body" sz="quarter" idx="20" hasCustomPrompt="1"/>
          </p:nvPr>
        </p:nvSpPr>
        <p:spPr>
          <a:xfrm>
            <a:off x="6360440" y="302371"/>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grpSp>
        <p:nvGrpSpPr>
          <p:cNvPr id="18" name="Group 17"/>
          <p:cNvGrpSpPr/>
          <p:nvPr userDrawn="1"/>
        </p:nvGrpSpPr>
        <p:grpSpPr>
          <a:xfrm>
            <a:off x="5965157" y="3429205"/>
            <a:ext cx="280736" cy="2894582"/>
            <a:chOff x="5778501" y="1581985"/>
            <a:chExt cx="280736" cy="2894582"/>
          </a:xfrm>
        </p:grpSpPr>
        <p:sp>
          <p:nvSpPr>
            <p:cNvPr id="19"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20" name="Line"/>
            <p:cNvSpPr/>
            <p:nvPr userDrawn="1"/>
          </p:nvSpPr>
          <p:spPr>
            <a:xfrm flipV="1">
              <a:off x="5904581" y="1929262"/>
              <a:ext cx="14289" cy="2547305"/>
            </a:xfrm>
            <a:prstGeom prst="line">
              <a:avLst/>
            </a:prstGeom>
            <a:ln w="12700">
              <a:solidFill>
                <a:srgbClr val="B0CC14"/>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21" name="Text Placeholder 14"/>
          <p:cNvSpPr>
            <a:spLocks noGrp="1"/>
          </p:cNvSpPr>
          <p:nvPr>
            <p:ph type="body" sz="quarter" idx="21" hasCustomPrompt="1"/>
          </p:nvPr>
        </p:nvSpPr>
        <p:spPr>
          <a:xfrm>
            <a:off x="5965825" y="3429205"/>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2</a:t>
            </a:r>
            <a:endParaRPr lang="en-US" dirty="0"/>
          </a:p>
        </p:txBody>
      </p:sp>
      <p:sp>
        <p:nvSpPr>
          <p:cNvPr id="22" name="Text Placeholder 3"/>
          <p:cNvSpPr>
            <a:spLocks noGrp="1"/>
          </p:cNvSpPr>
          <p:nvPr>
            <p:ph type="body" sz="quarter" idx="22" hasCustomPrompt="1"/>
          </p:nvPr>
        </p:nvSpPr>
        <p:spPr>
          <a:xfrm>
            <a:off x="6355677" y="3709942"/>
            <a:ext cx="3817175" cy="2613846"/>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23" name="Text Placeholder 3"/>
          <p:cNvSpPr>
            <a:spLocks noGrp="1"/>
          </p:cNvSpPr>
          <p:nvPr>
            <p:ph type="body" sz="quarter" idx="23" hasCustomPrompt="1"/>
          </p:nvPr>
        </p:nvSpPr>
        <p:spPr>
          <a:xfrm>
            <a:off x="6355677" y="3366448"/>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25" name="Text Placeholder 24"/>
          <p:cNvSpPr>
            <a:spLocks noGrp="1"/>
          </p:cNvSpPr>
          <p:nvPr>
            <p:ph type="body" sz="quarter" idx="24"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26" name="Text Placeholder 3"/>
          <p:cNvSpPr>
            <a:spLocks noGrp="1"/>
          </p:cNvSpPr>
          <p:nvPr>
            <p:ph type="body" sz="quarter" idx="25"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7"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24"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双文本框文字内容页-午夜蓝">
    <p:spTree>
      <p:nvGrpSpPr>
        <p:cNvPr id="1" name=""/>
        <p:cNvGrpSpPr/>
        <p:nvPr/>
      </p:nvGrpSpPr>
      <p:grpSpPr>
        <a:xfrm>
          <a:off x="0" y="0"/>
          <a:ext cx="0" cy="0"/>
          <a:chOff x="0" y="0"/>
          <a:chExt cx="0" cy="0"/>
        </a:xfrm>
      </p:grpSpPr>
      <p:grpSp>
        <p:nvGrpSpPr>
          <p:cNvPr id="4" name="Group 5"/>
          <p:cNvGrpSpPr/>
          <p:nvPr userDrawn="1"/>
        </p:nvGrpSpPr>
        <p:grpSpPr>
          <a:xfrm>
            <a:off x="5969920" y="334392"/>
            <a:ext cx="280736" cy="2894582"/>
            <a:chOff x="5778501" y="1581985"/>
            <a:chExt cx="280736" cy="2894582"/>
          </a:xfrm>
        </p:grpSpPr>
        <p:sp>
          <p:nvSpPr>
            <p:cNvPr id="5"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6" name="Line"/>
            <p:cNvSpPr/>
            <p:nvPr userDrawn="1"/>
          </p:nvSpPr>
          <p:spPr>
            <a:xfrm flipV="1">
              <a:off x="5904581" y="1929262"/>
              <a:ext cx="14289" cy="2547305"/>
            </a:xfrm>
            <a:prstGeom prst="line">
              <a:avLst/>
            </a:prstGeom>
            <a:ln w="12700">
              <a:solidFill>
                <a:srgbClr val="4553FF"/>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7" name="Text Placeholder 14"/>
          <p:cNvSpPr>
            <a:spLocks noGrp="1"/>
          </p:cNvSpPr>
          <p:nvPr>
            <p:ph type="body" sz="quarter" idx="14" hasCustomPrompt="1"/>
          </p:nvPr>
        </p:nvSpPr>
        <p:spPr>
          <a:xfrm>
            <a:off x="5970588" y="334392"/>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1</a:t>
            </a:r>
            <a:endParaRPr lang="en-US" dirty="0"/>
          </a:p>
        </p:txBody>
      </p:sp>
      <p:sp>
        <p:nvSpPr>
          <p:cNvPr id="8" name="Text Placeholder 3"/>
          <p:cNvSpPr>
            <a:spLocks noGrp="1"/>
          </p:cNvSpPr>
          <p:nvPr>
            <p:ph type="body" sz="quarter" idx="19" hasCustomPrompt="1"/>
          </p:nvPr>
        </p:nvSpPr>
        <p:spPr>
          <a:xfrm>
            <a:off x="6360440" y="645865"/>
            <a:ext cx="3817175" cy="2583109"/>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9" name="Text Placeholder 3"/>
          <p:cNvSpPr>
            <a:spLocks noGrp="1"/>
          </p:cNvSpPr>
          <p:nvPr>
            <p:ph type="body" sz="quarter" idx="20" hasCustomPrompt="1"/>
          </p:nvPr>
        </p:nvSpPr>
        <p:spPr>
          <a:xfrm>
            <a:off x="6360440" y="302371"/>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grpSp>
        <p:nvGrpSpPr>
          <p:cNvPr id="10" name="Group 17"/>
          <p:cNvGrpSpPr/>
          <p:nvPr userDrawn="1"/>
        </p:nvGrpSpPr>
        <p:grpSpPr>
          <a:xfrm>
            <a:off x="5965157" y="3429205"/>
            <a:ext cx="280736" cy="2894582"/>
            <a:chOff x="5778501" y="1581985"/>
            <a:chExt cx="280736" cy="2894582"/>
          </a:xfrm>
        </p:grpSpPr>
        <p:sp>
          <p:nvSpPr>
            <p:cNvPr id="11"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12" name="Line"/>
            <p:cNvSpPr/>
            <p:nvPr userDrawn="1"/>
          </p:nvSpPr>
          <p:spPr>
            <a:xfrm flipV="1">
              <a:off x="5904581" y="1929262"/>
              <a:ext cx="14289" cy="2547305"/>
            </a:xfrm>
            <a:prstGeom prst="line">
              <a:avLst/>
            </a:prstGeom>
            <a:ln w="12700">
              <a:solidFill>
                <a:srgbClr val="4553FF"/>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13" name="Text Placeholder 14"/>
          <p:cNvSpPr>
            <a:spLocks noGrp="1"/>
          </p:cNvSpPr>
          <p:nvPr>
            <p:ph type="body" sz="quarter" idx="21" hasCustomPrompt="1"/>
          </p:nvPr>
        </p:nvSpPr>
        <p:spPr>
          <a:xfrm>
            <a:off x="5965825" y="3429205"/>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2</a:t>
            </a:r>
            <a:endParaRPr lang="en-US" dirty="0"/>
          </a:p>
        </p:txBody>
      </p:sp>
      <p:sp>
        <p:nvSpPr>
          <p:cNvPr id="14" name="Text Placeholder 3"/>
          <p:cNvSpPr>
            <a:spLocks noGrp="1"/>
          </p:cNvSpPr>
          <p:nvPr>
            <p:ph type="body" sz="quarter" idx="22" hasCustomPrompt="1"/>
          </p:nvPr>
        </p:nvSpPr>
        <p:spPr>
          <a:xfrm>
            <a:off x="6355677" y="3709942"/>
            <a:ext cx="3817175" cy="2613846"/>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5" name="Text Placeholder 3"/>
          <p:cNvSpPr>
            <a:spLocks noGrp="1"/>
          </p:cNvSpPr>
          <p:nvPr>
            <p:ph type="body" sz="quarter" idx="23" hasCustomPrompt="1"/>
          </p:nvPr>
        </p:nvSpPr>
        <p:spPr>
          <a:xfrm>
            <a:off x="6355677" y="3366448"/>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6" name="Text Placeholder 24"/>
          <p:cNvSpPr>
            <a:spLocks noGrp="1"/>
          </p:cNvSpPr>
          <p:nvPr>
            <p:ph type="body" sz="quarter" idx="24"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7" name="Text Placeholder 3"/>
          <p:cNvSpPr>
            <a:spLocks noGrp="1"/>
          </p:cNvSpPr>
          <p:nvPr>
            <p:ph type="body" sz="quarter" idx="25"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19" name="Rectangle 5"/>
          <p:cNvSpPr/>
          <p:nvPr userDrawn="1"/>
        </p:nvSpPr>
        <p:spPr>
          <a:xfrm flipH="1">
            <a:off x="-2408" y="339517"/>
            <a:ext cx="45719" cy="913122"/>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双文本框文字内容页-热品红">
    <p:spTree>
      <p:nvGrpSpPr>
        <p:cNvPr id="1" name=""/>
        <p:cNvGrpSpPr/>
        <p:nvPr/>
      </p:nvGrpSpPr>
      <p:grpSpPr>
        <a:xfrm>
          <a:off x="0" y="0"/>
          <a:ext cx="0" cy="0"/>
          <a:chOff x="0" y="0"/>
          <a:chExt cx="0" cy="0"/>
        </a:xfrm>
      </p:grpSpPr>
      <p:grpSp>
        <p:nvGrpSpPr>
          <p:cNvPr id="4" name="Group 5"/>
          <p:cNvGrpSpPr/>
          <p:nvPr userDrawn="1"/>
        </p:nvGrpSpPr>
        <p:grpSpPr>
          <a:xfrm>
            <a:off x="5969920" y="334392"/>
            <a:ext cx="280736" cy="2894582"/>
            <a:chOff x="5778501" y="1581985"/>
            <a:chExt cx="280736" cy="2894582"/>
          </a:xfrm>
        </p:grpSpPr>
        <p:sp>
          <p:nvSpPr>
            <p:cNvPr id="5"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6" name="Line"/>
            <p:cNvSpPr/>
            <p:nvPr userDrawn="1"/>
          </p:nvSpPr>
          <p:spPr>
            <a:xfrm flipV="1">
              <a:off x="5904581" y="1929262"/>
              <a:ext cx="14289" cy="2547305"/>
            </a:xfrm>
            <a:prstGeom prst="line">
              <a:avLst/>
            </a:prstGeom>
            <a:ln w="12700">
              <a:solidFill>
                <a:srgbClr val="FF1DCE"/>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7" name="Text Placeholder 14"/>
          <p:cNvSpPr>
            <a:spLocks noGrp="1"/>
          </p:cNvSpPr>
          <p:nvPr>
            <p:ph type="body" sz="quarter" idx="14" hasCustomPrompt="1"/>
          </p:nvPr>
        </p:nvSpPr>
        <p:spPr>
          <a:xfrm>
            <a:off x="5970588" y="334392"/>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1</a:t>
            </a:r>
            <a:endParaRPr lang="en-US" dirty="0"/>
          </a:p>
        </p:txBody>
      </p:sp>
      <p:sp>
        <p:nvSpPr>
          <p:cNvPr id="8" name="Text Placeholder 3"/>
          <p:cNvSpPr>
            <a:spLocks noGrp="1"/>
          </p:cNvSpPr>
          <p:nvPr>
            <p:ph type="body" sz="quarter" idx="19" hasCustomPrompt="1"/>
          </p:nvPr>
        </p:nvSpPr>
        <p:spPr>
          <a:xfrm>
            <a:off x="6360440" y="645865"/>
            <a:ext cx="3817175" cy="2583109"/>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9" name="Text Placeholder 3"/>
          <p:cNvSpPr>
            <a:spLocks noGrp="1"/>
          </p:cNvSpPr>
          <p:nvPr>
            <p:ph type="body" sz="quarter" idx="20" hasCustomPrompt="1"/>
          </p:nvPr>
        </p:nvSpPr>
        <p:spPr>
          <a:xfrm>
            <a:off x="6360440" y="302371"/>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grpSp>
        <p:nvGrpSpPr>
          <p:cNvPr id="10" name="Group 17"/>
          <p:cNvGrpSpPr/>
          <p:nvPr userDrawn="1"/>
        </p:nvGrpSpPr>
        <p:grpSpPr>
          <a:xfrm>
            <a:off x="5965157" y="3429205"/>
            <a:ext cx="280736" cy="2894582"/>
            <a:chOff x="5778501" y="1581985"/>
            <a:chExt cx="280736" cy="2894582"/>
          </a:xfrm>
        </p:grpSpPr>
        <p:sp>
          <p:nvSpPr>
            <p:cNvPr id="11"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12" name="Line"/>
            <p:cNvSpPr/>
            <p:nvPr userDrawn="1"/>
          </p:nvSpPr>
          <p:spPr>
            <a:xfrm flipV="1">
              <a:off x="5904581" y="1929262"/>
              <a:ext cx="14289" cy="2547305"/>
            </a:xfrm>
            <a:prstGeom prst="line">
              <a:avLst/>
            </a:prstGeom>
            <a:ln w="12700">
              <a:solidFill>
                <a:srgbClr val="FF1DCE"/>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13" name="Text Placeholder 14"/>
          <p:cNvSpPr>
            <a:spLocks noGrp="1"/>
          </p:cNvSpPr>
          <p:nvPr>
            <p:ph type="body" sz="quarter" idx="21" hasCustomPrompt="1"/>
          </p:nvPr>
        </p:nvSpPr>
        <p:spPr>
          <a:xfrm>
            <a:off x="5965825" y="3429205"/>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2</a:t>
            </a:r>
            <a:endParaRPr lang="en-US" dirty="0"/>
          </a:p>
        </p:txBody>
      </p:sp>
      <p:sp>
        <p:nvSpPr>
          <p:cNvPr id="14" name="Text Placeholder 3"/>
          <p:cNvSpPr>
            <a:spLocks noGrp="1"/>
          </p:cNvSpPr>
          <p:nvPr>
            <p:ph type="body" sz="quarter" idx="22" hasCustomPrompt="1"/>
          </p:nvPr>
        </p:nvSpPr>
        <p:spPr>
          <a:xfrm>
            <a:off x="6355677" y="3709942"/>
            <a:ext cx="3817175" cy="2613846"/>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5" name="Text Placeholder 3"/>
          <p:cNvSpPr>
            <a:spLocks noGrp="1"/>
          </p:cNvSpPr>
          <p:nvPr>
            <p:ph type="body" sz="quarter" idx="23" hasCustomPrompt="1"/>
          </p:nvPr>
        </p:nvSpPr>
        <p:spPr>
          <a:xfrm>
            <a:off x="6355677" y="3366448"/>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6" name="Text Placeholder 24"/>
          <p:cNvSpPr>
            <a:spLocks noGrp="1"/>
          </p:cNvSpPr>
          <p:nvPr>
            <p:ph type="body" sz="quarter" idx="24"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7" name="Text Placeholder 3"/>
          <p:cNvSpPr>
            <a:spLocks noGrp="1"/>
          </p:cNvSpPr>
          <p:nvPr>
            <p:ph type="body" sz="quarter" idx="25"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19" name="Rectangle 5"/>
          <p:cNvSpPr/>
          <p:nvPr userDrawn="1"/>
        </p:nvSpPr>
        <p:spPr>
          <a:xfrm flipH="1">
            <a:off x="-2408" y="339517"/>
            <a:ext cx="45719" cy="913122"/>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三文本框文字内容页-青柠绿">
    <p:bg>
      <p:bgPr>
        <a:solidFill>
          <a:srgbClr val="FBFBFB"/>
        </a:solidFill>
        <a:effectLst/>
      </p:bgPr>
    </p:bg>
    <p:spTree>
      <p:nvGrpSpPr>
        <p:cNvPr id="1" name=""/>
        <p:cNvGrpSpPr/>
        <p:nvPr/>
      </p:nvGrpSpPr>
      <p:grpSpPr>
        <a:xfrm>
          <a:off x="0" y="0"/>
          <a:ext cx="0" cy="0"/>
          <a:chOff x="0" y="0"/>
          <a:chExt cx="0" cy="0"/>
        </a:xfrm>
      </p:grpSpPr>
      <p:sp>
        <p:nvSpPr>
          <p:cNvPr id="36" name="矩形 35"/>
          <p:cNvSpPr/>
          <p:nvPr userDrawn="1"/>
        </p:nvSpPr>
        <p:spPr>
          <a:xfrm>
            <a:off x="8221876"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4271043"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320209"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 Placeholder 24"/>
          <p:cNvSpPr>
            <a:spLocks noGrp="1"/>
          </p:cNvSpPr>
          <p:nvPr>
            <p:ph type="body" sz="quarter" idx="21"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20" name="Text Placeholder 3"/>
          <p:cNvSpPr>
            <a:spLocks noGrp="1"/>
          </p:cNvSpPr>
          <p:nvPr>
            <p:ph type="body" sz="quarter" idx="22"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1" name="Text Placeholder 3"/>
          <p:cNvSpPr>
            <a:spLocks noGrp="1"/>
          </p:cNvSpPr>
          <p:nvPr userDrawn="1">
            <p:ph type="body" sz="quarter" idx="34" hasCustomPrompt="1"/>
          </p:nvPr>
        </p:nvSpPr>
        <p:spPr>
          <a:xfrm>
            <a:off x="452038"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72" name="Text Placeholder 3"/>
          <p:cNvSpPr>
            <a:spLocks noGrp="1"/>
          </p:cNvSpPr>
          <p:nvPr userDrawn="1">
            <p:ph type="body" sz="quarter" idx="36" hasCustomPrompt="1"/>
          </p:nvPr>
        </p:nvSpPr>
        <p:spPr>
          <a:xfrm>
            <a:off x="449838"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类别一 </a:t>
            </a:r>
          </a:p>
        </p:txBody>
      </p:sp>
      <p:sp>
        <p:nvSpPr>
          <p:cNvPr id="125" name="Text Placeholder 3"/>
          <p:cNvSpPr>
            <a:spLocks noGrp="1"/>
          </p:cNvSpPr>
          <p:nvPr userDrawn="1">
            <p:ph type="body" sz="quarter" idx="40" hasCustomPrompt="1"/>
          </p:nvPr>
        </p:nvSpPr>
        <p:spPr>
          <a:xfrm>
            <a:off x="4404861"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6" name="Text Placeholder 3"/>
          <p:cNvSpPr>
            <a:spLocks noGrp="1"/>
          </p:cNvSpPr>
          <p:nvPr userDrawn="1">
            <p:ph type="body" sz="quarter" idx="41" hasCustomPrompt="1"/>
          </p:nvPr>
        </p:nvSpPr>
        <p:spPr>
          <a:xfrm>
            <a:off x="4402661"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类别二 </a:t>
            </a:r>
          </a:p>
        </p:txBody>
      </p:sp>
      <p:sp>
        <p:nvSpPr>
          <p:cNvPr id="127" name="Text Placeholder 3"/>
          <p:cNvSpPr>
            <a:spLocks noGrp="1"/>
          </p:cNvSpPr>
          <p:nvPr userDrawn="1">
            <p:ph type="body" sz="quarter" idx="42" hasCustomPrompt="1"/>
          </p:nvPr>
        </p:nvSpPr>
        <p:spPr>
          <a:xfrm>
            <a:off x="8339938" y="2344613"/>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8" name="Text Placeholder 3"/>
          <p:cNvSpPr>
            <a:spLocks noGrp="1"/>
          </p:cNvSpPr>
          <p:nvPr userDrawn="1">
            <p:ph type="body" sz="quarter" idx="43" hasCustomPrompt="1"/>
          </p:nvPr>
        </p:nvSpPr>
        <p:spPr>
          <a:xfrm>
            <a:off x="8337738" y="1823892"/>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类别三 </a:t>
            </a:r>
          </a:p>
        </p:txBody>
      </p:sp>
      <p:sp>
        <p:nvSpPr>
          <p:cNvPr id="129" name="Slide Number Placeholder 2"/>
          <p:cNvSpPr>
            <a:spLocks noGrp="1"/>
          </p:cNvSpPr>
          <p:nvPr userDrawn="1">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32"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三文本框文字内容页-午夜蓝">
    <p:bg>
      <p:bgPr>
        <a:solidFill>
          <a:srgbClr val="FBFBFB"/>
        </a:solidFill>
        <a:effectLst/>
      </p:bgPr>
    </p:bg>
    <p:spTree>
      <p:nvGrpSpPr>
        <p:cNvPr id="1" name=""/>
        <p:cNvGrpSpPr/>
        <p:nvPr/>
      </p:nvGrpSpPr>
      <p:grpSpPr>
        <a:xfrm>
          <a:off x="0" y="0"/>
          <a:ext cx="0" cy="0"/>
          <a:chOff x="0" y="0"/>
          <a:chExt cx="0" cy="0"/>
        </a:xfrm>
      </p:grpSpPr>
      <p:sp>
        <p:nvSpPr>
          <p:cNvPr id="36" name="矩形 35"/>
          <p:cNvSpPr/>
          <p:nvPr userDrawn="1"/>
        </p:nvSpPr>
        <p:spPr>
          <a:xfrm>
            <a:off x="8221876"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4271043"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320209"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 Placeholder 24"/>
          <p:cNvSpPr>
            <a:spLocks noGrp="1"/>
          </p:cNvSpPr>
          <p:nvPr>
            <p:ph type="body" sz="quarter" idx="21"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20" name="Text Placeholder 3"/>
          <p:cNvSpPr>
            <a:spLocks noGrp="1"/>
          </p:cNvSpPr>
          <p:nvPr>
            <p:ph type="body" sz="quarter" idx="22"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1" name="Text Placeholder 3"/>
          <p:cNvSpPr>
            <a:spLocks noGrp="1"/>
          </p:cNvSpPr>
          <p:nvPr userDrawn="1">
            <p:ph type="body" sz="quarter" idx="34" hasCustomPrompt="1"/>
          </p:nvPr>
        </p:nvSpPr>
        <p:spPr>
          <a:xfrm>
            <a:off x="452038"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72" name="Text Placeholder 3"/>
          <p:cNvSpPr>
            <a:spLocks noGrp="1"/>
          </p:cNvSpPr>
          <p:nvPr userDrawn="1">
            <p:ph type="body" sz="quarter" idx="36" hasCustomPrompt="1"/>
          </p:nvPr>
        </p:nvSpPr>
        <p:spPr>
          <a:xfrm>
            <a:off x="449838"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类别一 </a:t>
            </a:r>
          </a:p>
        </p:txBody>
      </p:sp>
      <p:sp>
        <p:nvSpPr>
          <p:cNvPr id="125" name="Text Placeholder 3"/>
          <p:cNvSpPr>
            <a:spLocks noGrp="1"/>
          </p:cNvSpPr>
          <p:nvPr userDrawn="1">
            <p:ph type="body" sz="quarter" idx="40" hasCustomPrompt="1"/>
          </p:nvPr>
        </p:nvSpPr>
        <p:spPr>
          <a:xfrm>
            <a:off x="4404861"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6" name="Text Placeholder 3"/>
          <p:cNvSpPr>
            <a:spLocks noGrp="1"/>
          </p:cNvSpPr>
          <p:nvPr userDrawn="1">
            <p:ph type="body" sz="quarter" idx="41" hasCustomPrompt="1"/>
          </p:nvPr>
        </p:nvSpPr>
        <p:spPr>
          <a:xfrm>
            <a:off x="4402661"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类别二 </a:t>
            </a:r>
          </a:p>
        </p:txBody>
      </p:sp>
      <p:sp>
        <p:nvSpPr>
          <p:cNvPr id="127" name="Text Placeholder 3"/>
          <p:cNvSpPr>
            <a:spLocks noGrp="1"/>
          </p:cNvSpPr>
          <p:nvPr userDrawn="1">
            <p:ph type="body" sz="quarter" idx="42" hasCustomPrompt="1"/>
          </p:nvPr>
        </p:nvSpPr>
        <p:spPr>
          <a:xfrm>
            <a:off x="8339938" y="2344613"/>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8" name="Text Placeholder 3"/>
          <p:cNvSpPr>
            <a:spLocks noGrp="1"/>
          </p:cNvSpPr>
          <p:nvPr userDrawn="1">
            <p:ph type="body" sz="quarter" idx="43" hasCustomPrompt="1"/>
          </p:nvPr>
        </p:nvSpPr>
        <p:spPr>
          <a:xfrm>
            <a:off x="8337738" y="1823892"/>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类别三 </a:t>
            </a:r>
          </a:p>
        </p:txBody>
      </p:sp>
      <p:sp>
        <p:nvSpPr>
          <p:cNvPr id="129" name="Slide Number Placeholder 2"/>
          <p:cNvSpPr>
            <a:spLocks noGrp="1"/>
          </p:cNvSpPr>
          <p:nvPr userDrawn="1">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32" name="Rectangle 5"/>
          <p:cNvSpPr/>
          <p:nvPr userDrawn="1"/>
        </p:nvSpPr>
        <p:spPr>
          <a:xfrm flipH="1">
            <a:off x="-2408" y="339517"/>
            <a:ext cx="45719" cy="913122"/>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三文本框文字内容页-热品红">
    <p:bg>
      <p:bgPr>
        <a:solidFill>
          <a:srgbClr val="FBFBFB"/>
        </a:solidFill>
        <a:effectLst/>
      </p:bgPr>
    </p:bg>
    <p:spTree>
      <p:nvGrpSpPr>
        <p:cNvPr id="1" name=""/>
        <p:cNvGrpSpPr/>
        <p:nvPr/>
      </p:nvGrpSpPr>
      <p:grpSpPr>
        <a:xfrm>
          <a:off x="0" y="0"/>
          <a:ext cx="0" cy="0"/>
          <a:chOff x="0" y="0"/>
          <a:chExt cx="0" cy="0"/>
        </a:xfrm>
      </p:grpSpPr>
      <p:sp>
        <p:nvSpPr>
          <p:cNvPr id="36" name="矩形 35"/>
          <p:cNvSpPr/>
          <p:nvPr userDrawn="1"/>
        </p:nvSpPr>
        <p:spPr>
          <a:xfrm>
            <a:off x="8221876"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4271043"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320209"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 Placeholder 24"/>
          <p:cNvSpPr>
            <a:spLocks noGrp="1"/>
          </p:cNvSpPr>
          <p:nvPr>
            <p:ph type="body" sz="quarter" idx="21"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20" name="Text Placeholder 3"/>
          <p:cNvSpPr>
            <a:spLocks noGrp="1"/>
          </p:cNvSpPr>
          <p:nvPr>
            <p:ph type="body" sz="quarter" idx="22"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1" name="Text Placeholder 3"/>
          <p:cNvSpPr>
            <a:spLocks noGrp="1"/>
          </p:cNvSpPr>
          <p:nvPr userDrawn="1">
            <p:ph type="body" sz="quarter" idx="34" hasCustomPrompt="1"/>
          </p:nvPr>
        </p:nvSpPr>
        <p:spPr>
          <a:xfrm>
            <a:off x="452038"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72" name="Text Placeholder 3"/>
          <p:cNvSpPr>
            <a:spLocks noGrp="1"/>
          </p:cNvSpPr>
          <p:nvPr userDrawn="1">
            <p:ph type="body" sz="quarter" idx="36" hasCustomPrompt="1"/>
          </p:nvPr>
        </p:nvSpPr>
        <p:spPr>
          <a:xfrm>
            <a:off x="449838"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类别一 </a:t>
            </a:r>
          </a:p>
        </p:txBody>
      </p:sp>
      <p:sp>
        <p:nvSpPr>
          <p:cNvPr id="125" name="Text Placeholder 3"/>
          <p:cNvSpPr>
            <a:spLocks noGrp="1"/>
          </p:cNvSpPr>
          <p:nvPr userDrawn="1">
            <p:ph type="body" sz="quarter" idx="40" hasCustomPrompt="1"/>
          </p:nvPr>
        </p:nvSpPr>
        <p:spPr>
          <a:xfrm>
            <a:off x="4404861"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6" name="Text Placeholder 3"/>
          <p:cNvSpPr>
            <a:spLocks noGrp="1"/>
          </p:cNvSpPr>
          <p:nvPr userDrawn="1">
            <p:ph type="body" sz="quarter" idx="41" hasCustomPrompt="1"/>
          </p:nvPr>
        </p:nvSpPr>
        <p:spPr>
          <a:xfrm>
            <a:off x="4402661"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类别二 </a:t>
            </a:r>
          </a:p>
        </p:txBody>
      </p:sp>
      <p:sp>
        <p:nvSpPr>
          <p:cNvPr id="127" name="Text Placeholder 3"/>
          <p:cNvSpPr>
            <a:spLocks noGrp="1"/>
          </p:cNvSpPr>
          <p:nvPr userDrawn="1">
            <p:ph type="body" sz="quarter" idx="42" hasCustomPrompt="1"/>
          </p:nvPr>
        </p:nvSpPr>
        <p:spPr>
          <a:xfrm>
            <a:off x="8339938" y="2344613"/>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8" name="Text Placeholder 3"/>
          <p:cNvSpPr>
            <a:spLocks noGrp="1"/>
          </p:cNvSpPr>
          <p:nvPr userDrawn="1">
            <p:ph type="body" sz="quarter" idx="43" hasCustomPrompt="1"/>
          </p:nvPr>
        </p:nvSpPr>
        <p:spPr>
          <a:xfrm>
            <a:off x="8337738" y="1823892"/>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类别三 </a:t>
            </a:r>
          </a:p>
        </p:txBody>
      </p:sp>
      <p:sp>
        <p:nvSpPr>
          <p:cNvPr id="129" name="Slide Number Placeholder 2"/>
          <p:cNvSpPr>
            <a:spLocks noGrp="1"/>
          </p:cNvSpPr>
          <p:nvPr userDrawn="1">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32" name="Rectangle 5"/>
          <p:cNvSpPr/>
          <p:nvPr userDrawn="1"/>
        </p:nvSpPr>
        <p:spPr>
          <a:xfrm flipH="1">
            <a:off x="-2408" y="339517"/>
            <a:ext cx="45719" cy="913122"/>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12" name="Text Placeholder 3"/>
          <p:cNvSpPr>
            <a:spLocks noGrp="1"/>
          </p:cNvSpPr>
          <p:nvPr>
            <p:ph type="body" sz="quarter" idx="15" hasCustomPrompt="1"/>
          </p:nvPr>
        </p:nvSpPr>
        <p:spPr>
          <a:xfrm>
            <a:off x="1375682" y="1896779"/>
            <a:ext cx="7716667" cy="367490"/>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会议日程一</a:t>
            </a:r>
          </a:p>
        </p:txBody>
      </p:sp>
      <p:sp>
        <p:nvSpPr>
          <p:cNvPr id="13" name="Text Placeholder 135"/>
          <p:cNvSpPr>
            <a:spLocks noGrp="1"/>
          </p:cNvSpPr>
          <p:nvPr>
            <p:ph type="body" sz="quarter" idx="16" hasCustomPrompt="1"/>
          </p:nvPr>
        </p:nvSpPr>
        <p:spPr>
          <a:xfrm>
            <a:off x="160491" y="1899144"/>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01</a:t>
            </a:r>
            <a:endParaRPr lang="zh-CN" altLang="en-US" dirty="0"/>
          </a:p>
        </p:txBody>
      </p:sp>
      <p:cxnSp>
        <p:nvCxnSpPr>
          <p:cNvPr id="31" name="Straight Connector 30"/>
          <p:cNvCxnSpPr/>
          <p:nvPr userDrawn="1"/>
        </p:nvCxnSpPr>
        <p:spPr>
          <a:xfrm>
            <a:off x="312912" y="1188079"/>
            <a:ext cx="11579051" cy="0"/>
          </a:xfrm>
          <a:prstGeom prst="line">
            <a:avLst/>
          </a:prstGeom>
          <a:ln w="19050">
            <a:solidFill>
              <a:schemeClr val="accent4"/>
            </a:solidFill>
            <a:prstDash val="solid"/>
          </a:ln>
        </p:spPr>
        <p:style>
          <a:lnRef idx="1">
            <a:schemeClr val="accent1"/>
          </a:lnRef>
          <a:fillRef idx="0">
            <a:schemeClr val="accent1"/>
          </a:fillRef>
          <a:effectRef idx="0">
            <a:schemeClr val="accent1"/>
          </a:effectRef>
          <a:fontRef idx="minor">
            <a:schemeClr val="tx1"/>
          </a:fontRef>
        </p:style>
      </p:cxnSp>
      <p:sp>
        <p:nvSpPr>
          <p:cNvPr id="42" name="Text Placeholder 3"/>
          <p:cNvSpPr>
            <a:spLocks noGrp="1"/>
          </p:cNvSpPr>
          <p:nvPr>
            <p:ph type="body" sz="quarter" idx="23" hasCustomPrompt="1"/>
          </p:nvPr>
        </p:nvSpPr>
        <p:spPr>
          <a:xfrm>
            <a:off x="1375682" y="2603298"/>
            <a:ext cx="7716667" cy="356980"/>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会议日程二</a:t>
            </a:r>
          </a:p>
        </p:txBody>
      </p:sp>
      <p:sp>
        <p:nvSpPr>
          <p:cNvPr id="43" name="Text Placeholder 135"/>
          <p:cNvSpPr>
            <a:spLocks noGrp="1"/>
          </p:cNvSpPr>
          <p:nvPr>
            <p:ph type="body" sz="quarter" idx="24" hasCustomPrompt="1"/>
          </p:nvPr>
        </p:nvSpPr>
        <p:spPr>
          <a:xfrm>
            <a:off x="160491" y="2601262"/>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02</a:t>
            </a:r>
            <a:endParaRPr lang="zh-CN" altLang="en-US" dirty="0"/>
          </a:p>
        </p:txBody>
      </p:sp>
      <p:sp>
        <p:nvSpPr>
          <p:cNvPr id="44" name="Text Placeholder 3"/>
          <p:cNvSpPr>
            <a:spLocks noGrp="1"/>
          </p:cNvSpPr>
          <p:nvPr>
            <p:ph type="body" sz="quarter" idx="25" hasCustomPrompt="1"/>
          </p:nvPr>
        </p:nvSpPr>
        <p:spPr>
          <a:xfrm>
            <a:off x="1375682" y="3299307"/>
            <a:ext cx="7716667" cy="365126"/>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会议日程三</a:t>
            </a:r>
          </a:p>
        </p:txBody>
      </p:sp>
      <p:sp>
        <p:nvSpPr>
          <p:cNvPr id="45" name="Text Placeholder 135"/>
          <p:cNvSpPr>
            <a:spLocks noGrp="1"/>
          </p:cNvSpPr>
          <p:nvPr>
            <p:ph type="body" sz="quarter" idx="26" hasCustomPrompt="1"/>
          </p:nvPr>
        </p:nvSpPr>
        <p:spPr>
          <a:xfrm>
            <a:off x="160491" y="3303380"/>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03</a:t>
            </a:r>
            <a:endParaRPr lang="zh-CN" altLang="en-US" dirty="0"/>
          </a:p>
        </p:txBody>
      </p:sp>
      <p:sp>
        <p:nvSpPr>
          <p:cNvPr id="46" name="Text Placeholder 3"/>
          <p:cNvSpPr>
            <a:spLocks noGrp="1"/>
          </p:cNvSpPr>
          <p:nvPr>
            <p:ph type="body" sz="quarter" idx="27" hasCustomPrompt="1"/>
          </p:nvPr>
        </p:nvSpPr>
        <p:spPr>
          <a:xfrm>
            <a:off x="1375682" y="4003461"/>
            <a:ext cx="7716667" cy="365126"/>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会议日程四</a:t>
            </a:r>
          </a:p>
        </p:txBody>
      </p:sp>
      <p:sp>
        <p:nvSpPr>
          <p:cNvPr id="47" name="Text Placeholder 135"/>
          <p:cNvSpPr>
            <a:spLocks noGrp="1"/>
          </p:cNvSpPr>
          <p:nvPr>
            <p:ph type="body" sz="quarter" idx="28" hasCustomPrompt="1"/>
          </p:nvPr>
        </p:nvSpPr>
        <p:spPr>
          <a:xfrm>
            <a:off x="160491" y="4005498"/>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04</a:t>
            </a:r>
            <a:endParaRPr lang="zh-CN" altLang="en-US" dirty="0"/>
          </a:p>
        </p:txBody>
      </p:sp>
      <p:sp>
        <p:nvSpPr>
          <p:cNvPr id="48" name="Text Placeholder 3"/>
          <p:cNvSpPr>
            <a:spLocks noGrp="1"/>
          </p:cNvSpPr>
          <p:nvPr>
            <p:ph type="body" sz="quarter" idx="29" hasCustomPrompt="1"/>
          </p:nvPr>
        </p:nvSpPr>
        <p:spPr>
          <a:xfrm>
            <a:off x="1375682" y="4707615"/>
            <a:ext cx="7716667" cy="365125"/>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会议日程五</a:t>
            </a:r>
          </a:p>
        </p:txBody>
      </p:sp>
      <p:sp>
        <p:nvSpPr>
          <p:cNvPr id="49" name="Text Placeholder 135"/>
          <p:cNvSpPr>
            <a:spLocks noGrp="1"/>
          </p:cNvSpPr>
          <p:nvPr>
            <p:ph type="body" sz="quarter" idx="30" hasCustomPrompt="1"/>
          </p:nvPr>
        </p:nvSpPr>
        <p:spPr>
          <a:xfrm>
            <a:off x="160491" y="4707615"/>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05</a:t>
            </a:r>
            <a:endParaRPr lang="zh-CN" altLang="en-US" dirty="0"/>
          </a:p>
        </p:txBody>
      </p:sp>
      <p:sp>
        <p:nvSpPr>
          <p:cNvPr id="23" name="Text Placeholder 3"/>
          <p:cNvSpPr>
            <a:spLocks noGrp="1"/>
          </p:cNvSpPr>
          <p:nvPr>
            <p:ph type="body" sz="quarter" idx="22" hasCustomPrompt="1"/>
          </p:nvPr>
        </p:nvSpPr>
        <p:spPr>
          <a:xfrm>
            <a:off x="314303" y="859165"/>
            <a:ext cx="1800000" cy="280736"/>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en-US" altLang="zh-CN" dirty="0"/>
              <a:t>Agenda</a:t>
            </a:r>
            <a:endParaRPr lang="zh-CN" altLang="en-US" dirty="0"/>
          </a:p>
        </p:txBody>
      </p:sp>
      <p:sp>
        <p:nvSpPr>
          <p:cNvPr id="26" name="Text Placeholder 24"/>
          <p:cNvSpPr>
            <a:spLocks noGrp="1"/>
          </p:cNvSpPr>
          <p:nvPr>
            <p:ph type="body" sz="quarter" idx="21" hasCustomPrompt="1"/>
          </p:nvPr>
        </p:nvSpPr>
        <p:spPr>
          <a:xfrm>
            <a:off x="252079" y="329891"/>
            <a:ext cx="1862224" cy="588880"/>
          </a:xfrm>
          <a:prstGeom prst="rect">
            <a:avLst/>
          </a:prstGeom>
        </p:spPr>
        <p:txBody>
          <a:bodyPr lIns="0" tIns="0" rIns="0" bIns="0" anchor="ctr" anchorCtr="0"/>
          <a:lstStyle>
            <a:lvl1pPr marL="0" indent="0" algn="l">
              <a:buNone/>
              <a:defRPr sz="3200" b="0" i="0" baseline="0">
                <a:latin typeface="Alibaba PuHuiTi 2.0 55 Regular" pitchFamily="18" charset="-122"/>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目录</a:t>
            </a:r>
            <a:endParaRPr lang="en-US" dirty="0"/>
          </a:p>
        </p:txBody>
      </p:sp>
      <p:sp>
        <p:nvSpPr>
          <p:cNvPr id="16"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单文本框文字内容页-青柠绿">
    <p:spTree>
      <p:nvGrpSpPr>
        <p:cNvPr id="1" name=""/>
        <p:cNvGrpSpPr/>
        <p:nvPr/>
      </p:nvGrpSpPr>
      <p:grpSpPr>
        <a:xfrm>
          <a:off x="0" y="0"/>
          <a:ext cx="0" cy="0"/>
          <a:chOff x="0" y="0"/>
          <a:chExt cx="0" cy="0"/>
        </a:xfrm>
      </p:grpSpPr>
      <p:sp>
        <p:nvSpPr>
          <p:cNvPr id="11" name="Text Placeholder 10"/>
          <p:cNvSpPr>
            <a:spLocks noGrp="1"/>
          </p:cNvSpPr>
          <p:nvPr>
            <p:ph type="body" sz="quarter" idx="14" hasCustomPrompt="1"/>
          </p:nvPr>
        </p:nvSpPr>
        <p:spPr>
          <a:xfrm>
            <a:off x="297723" y="1538573"/>
            <a:ext cx="11589477" cy="4480121"/>
          </a:xfrm>
          <a:prstGeom prst="rect">
            <a:avLst/>
          </a:prstGeom>
        </p:spPr>
        <p:txBody>
          <a:bodyPr lIns="0" tIns="0" rIns="0" bIns="0"/>
          <a:lstStyle>
            <a:lvl1pPr marL="12700" indent="0">
              <a:lnSpc>
                <a:spcPct val="150000"/>
              </a:lnSpc>
              <a:buNone/>
              <a:defRPr sz="16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sz="1200" b="0" i="0">
                <a:latin typeface="Alibaba PuHuiTi 2.0 55 Regular" pitchFamily="18" charset="-122"/>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US" dirty="0"/>
          </a:p>
        </p:txBody>
      </p:sp>
      <p:sp>
        <p:nvSpPr>
          <p:cNvPr id="18"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9"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E00B666-AD48-5640-8D08-2A4A6036569F}"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使用">
    <p:spTree>
      <p:nvGrpSpPr>
        <p:cNvPr id="1" name=""/>
        <p:cNvGrpSpPr/>
        <p:nvPr/>
      </p:nvGrpSpPr>
      <p:grpSpPr>
        <a:xfrm>
          <a:off x="0" y="0"/>
          <a:ext cx="0" cy="0"/>
          <a:chOff x="0" y="0"/>
          <a:chExt cx="0" cy="0"/>
        </a:xfrm>
      </p:grpSpPr>
      <p:sp>
        <p:nvSpPr>
          <p:cNvPr id="7"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5"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fld id="{5BC33376-1D8B-E948-ACD6-AA21A3D30A8E}" type="slidenum">
              <a:rPr lang="zh-CN" altLang="en-US" smtClean="0"/>
              <a:t>‹#›</a:t>
            </a:fld>
            <a:endParaRPr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单文本框文字内容页-青柠绿">
    <p:spTree>
      <p:nvGrpSpPr>
        <p:cNvPr id="1" name=""/>
        <p:cNvGrpSpPr/>
        <p:nvPr/>
      </p:nvGrpSpPr>
      <p:grpSpPr>
        <a:xfrm>
          <a:off x="0" y="0"/>
          <a:ext cx="0" cy="0"/>
          <a:chOff x="0" y="0"/>
          <a:chExt cx="0" cy="0"/>
        </a:xfrm>
      </p:grpSpPr>
      <p:sp>
        <p:nvSpPr>
          <p:cNvPr id="11" name="Text Placeholder 10"/>
          <p:cNvSpPr>
            <a:spLocks noGrp="1"/>
          </p:cNvSpPr>
          <p:nvPr>
            <p:ph type="body" sz="quarter" idx="14" hasCustomPrompt="1"/>
          </p:nvPr>
        </p:nvSpPr>
        <p:spPr>
          <a:xfrm>
            <a:off x="297723" y="1538573"/>
            <a:ext cx="11589477" cy="4480121"/>
          </a:xfrm>
          <a:prstGeom prst="rect">
            <a:avLst/>
          </a:prstGeom>
        </p:spPr>
        <p:txBody>
          <a:bodyPr lIns="0" tIns="0" rIns="0" bIns="0"/>
          <a:lstStyle>
            <a:lvl1pPr marL="12700" indent="0">
              <a:lnSpc>
                <a:spcPct val="150000"/>
              </a:lnSpc>
              <a:buNone/>
              <a:defRPr sz="16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sz="1200" b="0" i="0">
                <a:latin typeface="Alibaba PuHuiTi 2.0 55 Regular" pitchFamily="18" charset="-122"/>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US" dirty="0"/>
          </a:p>
        </p:txBody>
      </p:sp>
      <p:sp>
        <p:nvSpPr>
          <p:cNvPr id="18"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9"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E00B666-AD48-5640-8D08-2A4A6036569F}"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单文本框文字内容页-午夜蓝">
    <p:spTree>
      <p:nvGrpSpPr>
        <p:cNvPr id="1" name=""/>
        <p:cNvGrpSpPr/>
        <p:nvPr/>
      </p:nvGrpSpPr>
      <p:grpSpPr>
        <a:xfrm>
          <a:off x="0" y="0"/>
          <a:ext cx="0" cy="0"/>
          <a:chOff x="0" y="0"/>
          <a:chExt cx="0" cy="0"/>
        </a:xfrm>
      </p:grpSpPr>
      <p:sp>
        <p:nvSpPr>
          <p:cNvPr id="5"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6"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8" name="Text Placeholder 10"/>
          <p:cNvSpPr>
            <a:spLocks noGrp="1"/>
          </p:cNvSpPr>
          <p:nvPr>
            <p:ph type="body" sz="quarter" idx="14" hasCustomPrompt="1"/>
          </p:nvPr>
        </p:nvSpPr>
        <p:spPr>
          <a:xfrm>
            <a:off x="297723" y="1538573"/>
            <a:ext cx="11589477" cy="4480121"/>
          </a:xfrm>
          <a:prstGeom prst="rect">
            <a:avLst/>
          </a:prstGeom>
        </p:spPr>
        <p:txBody>
          <a:bodyPr lIns="0" tIns="0" rIns="0" bIns="0"/>
          <a:lstStyle>
            <a:lvl1pPr marL="12700" indent="0">
              <a:lnSpc>
                <a:spcPct val="150000"/>
              </a:lnSpc>
              <a:buNone/>
              <a:defRPr sz="16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sz="1200" b="0" i="0">
                <a:latin typeface="Alibaba PuHuiTi 2.0 55 Regular" pitchFamily="18" charset="-122"/>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US" dirty="0"/>
          </a:p>
        </p:txBody>
      </p:sp>
      <p:sp>
        <p:nvSpPr>
          <p:cNvPr id="11"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04824671-56D2-5D44-834F-250C3DA554E9}"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单文本框文字内容页-热品红">
    <p:spTree>
      <p:nvGrpSpPr>
        <p:cNvPr id="1" name=""/>
        <p:cNvGrpSpPr/>
        <p:nvPr/>
      </p:nvGrpSpPr>
      <p:grpSpPr>
        <a:xfrm>
          <a:off x="0" y="0"/>
          <a:ext cx="0" cy="0"/>
          <a:chOff x="0" y="0"/>
          <a:chExt cx="0" cy="0"/>
        </a:xfrm>
      </p:grpSpPr>
      <p:sp>
        <p:nvSpPr>
          <p:cNvPr id="5"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6"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8" name="Text Placeholder 10"/>
          <p:cNvSpPr>
            <a:spLocks noGrp="1"/>
          </p:cNvSpPr>
          <p:nvPr>
            <p:ph type="body" sz="quarter" idx="14" hasCustomPrompt="1"/>
          </p:nvPr>
        </p:nvSpPr>
        <p:spPr>
          <a:xfrm>
            <a:off x="297723" y="1538573"/>
            <a:ext cx="11589477" cy="4480121"/>
          </a:xfrm>
          <a:prstGeom prst="rect">
            <a:avLst/>
          </a:prstGeom>
        </p:spPr>
        <p:txBody>
          <a:bodyPr lIns="0" tIns="0" rIns="0" bIns="0"/>
          <a:lstStyle>
            <a:lvl1pPr marL="12700" indent="0">
              <a:lnSpc>
                <a:spcPct val="150000"/>
              </a:lnSpc>
              <a:buNone/>
              <a:defRPr sz="16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sz="1200" b="0" i="0">
                <a:latin typeface="Alibaba PuHuiTi 2.0 55 Regular" pitchFamily="18" charset="-122"/>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US" dirty="0"/>
          </a:p>
        </p:txBody>
      </p:sp>
      <p:sp>
        <p:nvSpPr>
          <p:cNvPr id="11"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单文本框分级文字内容页-青柠绿">
    <p:spTree>
      <p:nvGrpSpPr>
        <p:cNvPr id="1" name=""/>
        <p:cNvGrpSpPr/>
        <p:nvPr/>
      </p:nvGrpSpPr>
      <p:grpSpPr>
        <a:xfrm>
          <a:off x="0" y="0"/>
          <a:ext cx="0" cy="0"/>
          <a:chOff x="0" y="0"/>
          <a:chExt cx="0" cy="0"/>
        </a:xfrm>
      </p:grpSpPr>
      <p:sp>
        <p:nvSpPr>
          <p:cNvPr id="15"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6"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9" name="Text Placeholder 10"/>
          <p:cNvSpPr>
            <a:spLocks noGrp="1"/>
          </p:cNvSpPr>
          <p:nvPr>
            <p:ph type="body" sz="quarter" idx="14" hasCustomPrompt="1"/>
          </p:nvPr>
        </p:nvSpPr>
        <p:spPr>
          <a:xfrm>
            <a:off x="297723" y="1528948"/>
            <a:ext cx="11589477" cy="4480121"/>
          </a:xfrm>
          <a:prstGeom prst="rect">
            <a:avLst/>
          </a:prstGeom>
        </p:spPr>
        <p:txBody>
          <a:bodyPr lIns="0" tIns="0" rIns="0" bIns="0"/>
          <a:lstStyle>
            <a:lvl1pPr marL="298450" indent="-285750">
              <a:lnSpc>
                <a:spcPct val="150000"/>
              </a:lnSpc>
              <a:buFont typeface="Arial" panose="020B0604020202020204" pitchFamily="34" charset="0"/>
              <a:buChar char="•"/>
              <a:defRPr sz="1600" b="0" i="0" baseline="0">
                <a:latin typeface="DIN Pro Regular" panose="02000503040000020003" pitchFamily="50" charset="0"/>
                <a:ea typeface="Alibaba PuHuiTi 2.0 55 Regular" pitchFamily="18" charset="-122"/>
                <a:cs typeface="Alibaba PuHuiTi 2.0 55 Regular" pitchFamily="18" charset="-122"/>
              </a:defRPr>
            </a:lvl1pPr>
            <a:lvl2pPr marL="628650" indent="-171450">
              <a:buFont typeface="Courier New" panose="02070309020205020404" pitchFamily="49" charset="0"/>
              <a:buChar char="o"/>
              <a:defRPr sz="1600" b="0" i="0" baseline="0">
                <a:latin typeface="DIN Pro Regular" panose="02000503040000020003" pitchFamily="50" charset="0"/>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r>
              <a:rPr lang="en-GB" dirty="0"/>
              <a:t> </a:t>
            </a:r>
          </a:p>
          <a:p>
            <a:pPr lvl="1"/>
            <a:r>
              <a:rPr lang="en-GB" dirty="0" err="1"/>
              <a:t>请在此处输入正文</a:t>
            </a:r>
            <a:r>
              <a:rPr lang="en-GB" dirty="0"/>
              <a:t> </a:t>
            </a:r>
            <a:endParaRPr lang="en-US" dirty="0"/>
          </a:p>
        </p:txBody>
      </p:sp>
      <p:sp>
        <p:nvSpPr>
          <p:cNvPr id="20"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单文本框分级文字内容页-午夜蓝">
    <p:spTree>
      <p:nvGrpSpPr>
        <p:cNvPr id="1" name=""/>
        <p:cNvGrpSpPr/>
        <p:nvPr/>
      </p:nvGrpSpPr>
      <p:grpSpPr>
        <a:xfrm>
          <a:off x="0" y="0"/>
          <a:ext cx="0" cy="0"/>
          <a:chOff x="0" y="0"/>
          <a:chExt cx="0" cy="0"/>
        </a:xfrm>
      </p:grpSpPr>
      <p:sp>
        <p:nvSpPr>
          <p:cNvPr id="4"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5"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 name="Text Placeholder 10"/>
          <p:cNvSpPr>
            <a:spLocks noGrp="1"/>
          </p:cNvSpPr>
          <p:nvPr>
            <p:ph type="body" sz="quarter" idx="14" hasCustomPrompt="1"/>
          </p:nvPr>
        </p:nvSpPr>
        <p:spPr>
          <a:xfrm>
            <a:off x="297723" y="1528948"/>
            <a:ext cx="11589477" cy="4480121"/>
          </a:xfrm>
          <a:prstGeom prst="rect">
            <a:avLst/>
          </a:prstGeom>
        </p:spPr>
        <p:txBody>
          <a:bodyPr lIns="0" tIns="0" rIns="0" bIns="0"/>
          <a:lstStyle>
            <a:lvl1pPr marL="298450" indent="-285750">
              <a:lnSpc>
                <a:spcPct val="150000"/>
              </a:lnSpc>
              <a:buFont typeface="Arial" panose="020B0604020202020204" pitchFamily="34" charset="0"/>
              <a:buChar char="•"/>
              <a:defRPr sz="1600" b="0" i="0" baseline="0">
                <a:latin typeface="DIN Pro Regular" panose="02000503040000020003" pitchFamily="50" charset="0"/>
                <a:ea typeface="Alibaba PuHuiTi 2.0 55 Regular" pitchFamily="18" charset="-122"/>
                <a:cs typeface="Alibaba PuHuiTi 2.0 55 Regular" pitchFamily="18" charset="-122"/>
              </a:defRPr>
            </a:lvl1pPr>
            <a:lvl2pPr marL="628650" indent="-171450">
              <a:buFont typeface="Courier New" panose="02070309020205020404" pitchFamily="49" charset="0"/>
              <a:buChar char="o"/>
              <a:defRPr sz="1600" b="0" i="0" baseline="0">
                <a:latin typeface="DIN Pro Regular" panose="02000503040000020003" pitchFamily="50" charset="0"/>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GB" dirty="0"/>
          </a:p>
          <a:p>
            <a:pPr lvl="1"/>
            <a:r>
              <a:rPr lang="en-GB" dirty="0" err="1"/>
              <a:t>请在此处输入正文</a:t>
            </a:r>
            <a:endParaRPr lang="en-US" dirty="0"/>
          </a:p>
        </p:txBody>
      </p:sp>
      <p:sp>
        <p:nvSpPr>
          <p:cNvPr id="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9" name="Rectangle 5"/>
          <p:cNvSpPr/>
          <p:nvPr userDrawn="1"/>
        </p:nvSpPr>
        <p:spPr>
          <a:xfrm flipH="1">
            <a:off x="-2408" y="339517"/>
            <a:ext cx="45719" cy="913122"/>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单文本框分级文字内容页-热品红">
    <p:spTree>
      <p:nvGrpSpPr>
        <p:cNvPr id="1" name=""/>
        <p:cNvGrpSpPr/>
        <p:nvPr/>
      </p:nvGrpSpPr>
      <p:grpSpPr>
        <a:xfrm>
          <a:off x="0" y="0"/>
          <a:ext cx="0" cy="0"/>
          <a:chOff x="0" y="0"/>
          <a:chExt cx="0" cy="0"/>
        </a:xfrm>
      </p:grpSpPr>
      <p:sp>
        <p:nvSpPr>
          <p:cNvPr id="4" name="Text Placeholder 24"/>
          <p:cNvSpPr>
            <a:spLocks noGrp="1"/>
          </p:cNvSpPr>
          <p:nvPr>
            <p:ph type="body" sz="quarter" idx="21" hasCustomPrompt="1"/>
          </p:nvPr>
        </p:nvSpPr>
        <p:spPr>
          <a:xfrm>
            <a:off x="302945" y="339516"/>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5" name="Text Placeholder 3"/>
          <p:cNvSpPr>
            <a:spLocks noGrp="1"/>
          </p:cNvSpPr>
          <p:nvPr>
            <p:ph type="body" sz="quarter" idx="22" hasCustomPrompt="1"/>
          </p:nvPr>
        </p:nvSpPr>
        <p:spPr>
          <a:xfrm>
            <a:off x="311065" y="868790"/>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 name="Text Placeholder 10"/>
          <p:cNvSpPr>
            <a:spLocks noGrp="1"/>
          </p:cNvSpPr>
          <p:nvPr>
            <p:ph type="body" sz="quarter" idx="14" hasCustomPrompt="1"/>
          </p:nvPr>
        </p:nvSpPr>
        <p:spPr>
          <a:xfrm>
            <a:off x="297723" y="1528948"/>
            <a:ext cx="11589477" cy="4480121"/>
          </a:xfrm>
          <a:prstGeom prst="rect">
            <a:avLst/>
          </a:prstGeom>
        </p:spPr>
        <p:txBody>
          <a:bodyPr lIns="0" tIns="0" rIns="0" bIns="0"/>
          <a:lstStyle>
            <a:lvl1pPr marL="298450" indent="-285750">
              <a:lnSpc>
                <a:spcPct val="150000"/>
              </a:lnSpc>
              <a:buFont typeface="Arial" panose="020B0604020202020204" pitchFamily="34" charset="0"/>
              <a:buChar char="•"/>
              <a:defRPr sz="1600" b="0" i="0" baseline="0">
                <a:latin typeface="DIN Pro Regular" panose="02000503040000020003" pitchFamily="50" charset="0"/>
                <a:ea typeface="Alibaba PuHuiTi 2.0 55 Regular" pitchFamily="18" charset="-122"/>
                <a:cs typeface="Alibaba PuHuiTi 2.0 55 Regular" pitchFamily="18" charset="-122"/>
              </a:defRPr>
            </a:lvl1pPr>
            <a:lvl2pPr marL="628650" indent="-171450">
              <a:buFont typeface="Courier New" panose="02070309020205020404" pitchFamily="49" charset="0"/>
              <a:buChar char="o"/>
              <a:defRPr sz="1600" b="0" i="0" baseline="0">
                <a:latin typeface="DIN Pro Regular" panose="02000503040000020003" pitchFamily="50" charset="0"/>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GB" dirty="0"/>
          </a:p>
          <a:p>
            <a:pPr lvl="1"/>
            <a:r>
              <a:rPr lang="en-GB" dirty="0" err="1"/>
              <a:t>请在此处输入正文</a:t>
            </a:r>
            <a:endParaRPr lang="en-US" dirty="0"/>
          </a:p>
        </p:txBody>
      </p:sp>
      <p:sp>
        <p:nvSpPr>
          <p:cNvPr id="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9" name="Rectangle 5"/>
          <p:cNvSpPr/>
          <p:nvPr userDrawn="1"/>
        </p:nvSpPr>
        <p:spPr>
          <a:xfrm flipH="1">
            <a:off x="-2408" y="339517"/>
            <a:ext cx="45719" cy="913122"/>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双文本框文字内容页-青柠绿">
    <p:spTree>
      <p:nvGrpSpPr>
        <p:cNvPr id="1" name=""/>
        <p:cNvGrpSpPr/>
        <p:nvPr/>
      </p:nvGrpSpPr>
      <p:grpSpPr>
        <a:xfrm>
          <a:off x="0" y="0"/>
          <a:ext cx="0" cy="0"/>
          <a:chOff x="0" y="0"/>
          <a:chExt cx="0" cy="0"/>
        </a:xfrm>
      </p:grpSpPr>
      <p:grpSp>
        <p:nvGrpSpPr>
          <p:cNvPr id="6" name="Group 5"/>
          <p:cNvGrpSpPr/>
          <p:nvPr userDrawn="1"/>
        </p:nvGrpSpPr>
        <p:grpSpPr>
          <a:xfrm>
            <a:off x="5969920" y="334392"/>
            <a:ext cx="280736" cy="2894582"/>
            <a:chOff x="5778501" y="1581985"/>
            <a:chExt cx="280736" cy="2894582"/>
          </a:xfrm>
        </p:grpSpPr>
        <p:sp>
          <p:nvSpPr>
            <p:cNvPr id="7"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8" name="Line"/>
            <p:cNvSpPr/>
            <p:nvPr userDrawn="1"/>
          </p:nvSpPr>
          <p:spPr>
            <a:xfrm flipV="1">
              <a:off x="5904581" y="1929262"/>
              <a:ext cx="14289" cy="2547305"/>
            </a:xfrm>
            <a:prstGeom prst="line">
              <a:avLst/>
            </a:prstGeom>
            <a:ln w="12700">
              <a:solidFill>
                <a:srgbClr val="B0CC14"/>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12" name="Text Placeholder 14"/>
          <p:cNvSpPr>
            <a:spLocks noGrp="1"/>
          </p:cNvSpPr>
          <p:nvPr>
            <p:ph type="body" sz="quarter" idx="14" hasCustomPrompt="1"/>
          </p:nvPr>
        </p:nvSpPr>
        <p:spPr>
          <a:xfrm>
            <a:off x="5970588" y="334392"/>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1</a:t>
            </a:r>
            <a:endParaRPr lang="en-US" dirty="0"/>
          </a:p>
        </p:txBody>
      </p:sp>
      <p:sp>
        <p:nvSpPr>
          <p:cNvPr id="14" name="Text Placeholder 3"/>
          <p:cNvSpPr>
            <a:spLocks noGrp="1"/>
          </p:cNvSpPr>
          <p:nvPr>
            <p:ph type="body" sz="quarter" idx="19" hasCustomPrompt="1"/>
          </p:nvPr>
        </p:nvSpPr>
        <p:spPr>
          <a:xfrm>
            <a:off x="6360440" y="645865"/>
            <a:ext cx="3817175" cy="2583109"/>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5" name="Text Placeholder 3"/>
          <p:cNvSpPr>
            <a:spLocks noGrp="1"/>
          </p:cNvSpPr>
          <p:nvPr>
            <p:ph type="body" sz="quarter" idx="20" hasCustomPrompt="1"/>
          </p:nvPr>
        </p:nvSpPr>
        <p:spPr>
          <a:xfrm>
            <a:off x="6360440" y="302371"/>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grpSp>
        <p:nvGrpSpPr>
          <p:cNvPr id="18" name="Group 17"/>
          <p:cNvGrpSpPr/>
          <p:nvPr userDrawn="1"/>
        </p:nvGrpSpPr>
        <p:grpSpPr>
          <a:xfrm>
            <a:off x="5965157" y="3429205"/>
            <a:ext cx="280736" cy="2894582"/>
            <a:chOff x="5778501" y="1581985"/>
            <a:chExt cx="280736" cy="2894582"/>
          </a:xfrm>
        </p:grpSpPr>
        <p:sp>
          <p:nvSpPr>
            <p:cNvPr id="19"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20" name="Line"/>
            <p:cNvSpPr/>
            <p:nvPr userDrawn="1"/>
          </p:nvSpPr>
          <p:spPr>
            <a:xfrm flipV="1">
              <a:off x="5904581" y="1929262"/>
              <a:ext cx="14289" cy="2547305"/>
            </a:xfrm>
            <a:prstGeom prst="line">
              <a:avLst/>
            </a:prstGeom>
            <a:ln w="12700">
              <a:solidFill>
                <a:srgbClr val="B0CC14"/>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21" name="Text Placeholder 14"/>
          <p:cNvSpPr>
            <a:spLocks noGrp="1"/>
          </p:cNvSpPr>
          <p:nvPr>
            <p:ph type="body" sz="quarter" idx="21" hasCustomPrompt="1"/>
          </p:nvPr>
        </p:nvSpPr>
        <p:spPr>
          <a:xfrm>
            <a:off x="5965825" y="3429205"/>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2</a:t>
            </a:r>
            <a:endParaRPr lang="en-US" dirty="0"/>
          </a:p>
        </p:txBody>
      </p:sp>
      <p:sp>
        <p:nvSpPr>
          <p:cNvPr id="22" name="Text Placeholder 3"/>
          <p:cNvSpPr>
            <a:spLocks noGrp="1"/>
          </p:cNvSpPr>
          <p:nvPr>
            <p:ph type="body" sz="quarter" idx="22" hasCustomPrompt="1"/>
          </p:nvPr>
        </p:nvSpPr>
        <p:spPr>
          <a:xfrm>
            <a:off x="6355677" y="3709942"/>
            <a:ext cx="3817175" cy="2613846"/>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23" name="Text Placeholder 3"/>
          <p:cNvSpPr>
            <a:spLocks noGrp="1"/>
          </p:cNvSpPr>
          <p:nvPr>
            <p:ph type="body" sz="quarter" idx="23" hasCustomPrompt="1"/>
          </p:nvPr>
        </p:nvSpPr>
        <p:spPr>
          <a:xfrm>
            <a:off x="6355677" y="3366448"/>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25" name="Text Placeholder 24"/>
          <p:cNvSpPr>
            <a:spLocks noGrp="1"/>
          </p:cNvSpPr>
          <p:nvPr>
            <p:ph type="body" sz="quarter" idx="24"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26" name="Text Placeholder 3"/>
          <p:cNvSpPr>
            <a:spLocks noGrp="1"/>
          </p:cNvSpPr>
          <p:nvPr>
            <p:ph type="body" sz="quarter" idx="25"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7"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24"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双文本框文字内容页-午夜蓝">
    <p:spTree>
      <p:nvGrpSpPr>
        <p:cNvPr id="1" name=""/>
        <p:cNvGrpSpPr/>
        <p:nvPr/>
      </p:nvGrpSpPr>
      <p:grpSpPr>
        <a:xfrm>
          <a:off x="0" y="0"/>
          <a:ext cx="0" cy="0"/>
          <a:chOff x="0" y="0"/>
          <a:chExt cx="0" cy="0"/>
        </a:xfrm>
      </p:grpSpPr>
      <p:grpSp>
        <p:nvGrpSpPr>
          <p:cNvPr id="4" name="Group 5"/>
          <p:cNvGrpSpPr/>
          <p:nvPr userDrawn="1"/>
        </p:nvGrpSpPr>
        <p:grpSpPr>
          <a:xfrm>
            <a:off x="5969920" y="334392"/>
            <a:ext cx="280736" cy="2894582"/>
            <a:chOff x="5778501" y="1581985"/>
            <a:chExt cx="280736" cy="2894582"/>
          </a:xfrm>
        </p:grpSpPr>
        <p:sp>
          <p:nvSpPr>
            <p:cNvPr id="5"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6" name="Line"/>
            <p:cNvSpPr/>
            <p:nvPr userDrawn="1"/>
          </p:nvSpPr>
          <p:spPr>
            <a:xfrm flipV="1">
              <a:off x="5904581" y="1929262"/>
              <a:ext cx="14289" cy="2547305"/>
            </a:xfrm>
            <a:prstGeom prst="line">
              <a:avLst/>
            </a:prstGeom>
            <a:ln w="12700">
              <a:solidFill>
                <a:srgbClr val="4553FF"/>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7" name="Text Placeholder 14"/>
          <p:cNvSpPr>
            <a:spLocks noGrp="1"/>
          </p:cNvSpPr>
          <p:nvPr>
            <p:ph type="body" sz="quarter" idx="14" hasCustomPrompt="1"/>
          </p:nvPr>
        </p:nvSpPr>
        <p:spPr>
          <a:xfrm>
            <a:off x="5970588" y="334392"/>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1</a:t>
            </a:r>
            <a:endParaRPr lang="en-US" dirty="0"/>
          </a:p>
        </p:txBody>
      </p:sp>
      <p:sp>
        <p:nvSpPr>
          <p:cNvPr id="8" name="Text Placeholder 3"/>
          <p:cNvSpPr>
            <a:spLocks noGrp="1"/>
          </p:cNvSpPr>
          <p:nvPr>
            <p:ph type="body" sz="quarter" idx="19" hasCustomPrompt="1"/>
          </p:nvPr>
        </p:nvSpPr>
        <p:spPr>
          <a:xfrm>
            <a:off x="6360440" y="645865"/>
            <a:ext cx="3817175" cy="2583109"/>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9" name="Text Placeholder 3"/>
          <p:cNvSpPr>
            <a:spLocks noGrp="1"/>
          </p:cNvSpPr>
          <p:nvPr>
            <p:ph type="body" sz="quarter" idx="20" hasCustomPrompt="1"/>
          </p:nvPr>
        </p:nvSpPr>
        <p:spPr>
          <a:xfrm>
            <a:off x="6360440" y="302371"/>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grpSp>
        <p:nvGrpSpPr>
          <p:cNvPr id="10" name="Group 17"/>
          <p:cNvGrpSpPr/>
          <p:nvPr userDrawn="1"/>
        </p:nvGrpSpPr>
        <p:grpSpPr>
          <a:xfrm>
            <a:off x="5965157" y="3429205"/>
            <a:ext cx="280736" cy="2894582"/>
            <a:chOff x="5778501" y="1581985"/>
            <a:chExt cx="280736" cy="2894582"/>
          </a:xfrm>
        </p:grpSpPr>
        <p:sp>
          <p:nvSpPr>
            <p:cNvPr id="11"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12" name="Line"/>
            <p:cNvSpPr/>
            <p:nvPr userDrawn="1"/>
          </p:nvSpPr>
          <p:spPr>
            <a:xfrm flipV="1">
              <a:off x="5904581" y="1929262"/>
              <a:ext cx="14289" cy="2547305"/>
            </a:xfrm>
            <a:prstGeom prst="line">
              <a:avLst/>
            </a:prstGeom>
            <a:ln w="12700">
              <a:solidFill>
                <a:srgbClr val="4553FF"/>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13" name="Text Placeholder 14"/>
          <p:cNvSpPr>
            <a:spLocks noGrp="1"/>
          </p:cNvSpPr>
          <p:nvPr>
            <p:ph type="body" sz="quarter" idx="21" hasCustomPrompt="1"/>
          </p:nvPr>
        </p:nvSpPr>
        <p:spPr>
          <a:xfrm>
            <a:off x="5965825" y="3429205"/>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2</a:t>
            </a:r>
            <a:endParaRPr lang="en-US" dirty="0"/>
          </a:p>
        </p:txBody>
      </p:sp>
      <p:sp>
        <p:nvSpPr>
          <p:cNvPr id="14" name="Text Placeholder 3"/>
          <p:cNvSpPr>
            <a:spLocks noGrp="1"/>
          </p:cNvSpPr>
          <p:nvPr>
            <p:ph type="body" sz="quarter" idx="22" hasCustomPrompt="1"/>
          </p:nvPr>
        </p:nvSpPr>
        <p:spPr>
          <a:xfrm>
            <a:off x="6355677" y="3709942"/>
            <a:ext cx="3817175" cy="2613846"/>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5" name="Text Placeholder 3"/>
          <p:cNvSpPr>
            <a:spLocks noGrp="1"/>
          </p:cNvSpPr>
          <p:nvPr>
            <p:ph type="body" sz="quarter" idx="23" hasCustomPrompt="1"/>
          </p:nvPr>
        </p:nvSpPr>
        <p:spPr>
          <a:xfrm>
            <a:off x="6355677" y="3366448"/>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6" name="Text Placeholder 24"/>
          <p:cNvSpPr>
            <a:spLocks noGrp="1"/>
          </p:cNvSpPr>
          <p:nvPr>
            <p:ph type="body" sz="quarter" idx="24"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7" name="Text Placeholder 3"/>
          <p:cNvSpPr>
            <a:spLocks noGrp="1"/>
          </p:cNvSpPr>
          <p:nvPr>
            <p:ph type="body" sz="quarter" idx="25"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19" name="Rectangle 5"/>
          <p:cNvSpPr/>
          <p:nvPr userDrawn="1"/>
        </p:nvSpPr>
        <p:spPr>
          <a:xfrm flipH="1">
            <a:off x="-2408" y="339517"/>
            <a:ext cx="45719" cy="913122"/>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双文本框文字内容页-热品红">
    <p:spTree>
      <p:nvGrpSpPr>
        <p:cNvPr id="1" name=""/>
        <p:cNvGrpSpPr/>
        <p:nvPr/>
      </p:nvGrpSpPr>
      <p:grpSpPr>
        <a:xfrm>
          <a:off x="0" y="0"/>
          <a:ext cx="0" cy="0"/>
          <a:chOff x="0" y="0"/>
          <a:chExt cx="0" cy="0"/>
        </a:xfrm>
      </p:grpSpPr>
      <p:grpSp>
        <p:nvGrpSpPr>
          <p:cNvPr id="4" name="Group 5"/>
          <p:cNvGrpSpPr/>
          <p:nvPr userDrawn="1"/>
        </p:nvGrpSpPr>
        <p:grpSpPr>
          <a:xfrm>
            <a:off x="5969920" y="334392"/>
            <a:ext cx="280736" cy="2894582"/>
            <a:chOff x="5778501" y="1581985"/>
            <a:chExt cx="280736" cy="2894582"/>
          </a:xfrm>
        </p:grpSpPr>
        <p:sp>
          <p:nvSpPr>
            <p:cNvPr id="5"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6" name="Line"/>
            <p:cNvSpPr/>
            <p:nvPr userDrawn="1"/>
          </p:nvSpPr>
          <p:spPr>
            <a:xfrm flipV="1">
              <a:off x="5904581" y="1929262"/>
              <a:ext cx="14289" cy="2547305"/>
            </a:xfrm>
            <a:prstGeom prst="line">
              <a:avLst/>
            </a:prstGeom>
            <a:ln w="12700">
              <a:solidFill>
                <a:srgbClr val="FF1DCE"/>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7" name="Text Placeholder 14"/>
          <p:cNvSpPr>
            <a:spLocks noGrp="1"/>
          </p:cNvSpPr>
          <p:nvPr>
            <p:ph type="body" sz="quarter" idx="14" hasCustomPrompt="1"/>
          </p:nvPr>
        </p:nvSpPr>
        <p:spPr>
          <a:xfrm>
            <a:off x="5970588" y="334392"/>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1</a:t>
            </a:r>
            <a:endParaRPr lang="en-US" dirty="0"/>
          </a:p>
        </p:txBody>
      </p:sp>
      <p:sp>
        <p:nvSpPr>
          <p:cNvPr id="8" name="Text Placeholder 3"/>
          <p:cNvSpPr>
            <a:spLocks noGrp="1"/>
          </p:cNvSpPr>
          <p:nvPr>
            <p:ph type="body" sz="quarter" idx="19" hasCustomPrompt="1"/>
          </p:nvPr>
        </p:nvSpPr>
        <p:spPr>
          <a:xfrm>
            <a:off x="6360440" y="645865"/>
            <a:ext cx="3817175" cy="2583109"/>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9" name="Text Placeholder 3"/>
          <p:cNvSpPr>
            <a:spLocks noGrp="1"/>
          </p:cNvSpPr>
          <p:nvPr>
            <p:ph type="body" sz="quarter" idx="20" hasCustomPrompt="1"/>
          </p:nvPr>
        </p:nvSpPr>
        <p:spPr>
          <a:xfrm>
            <a:off x="6360440" y="302371"/>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grpSp>
        <p:nvGrpSpPr>
          <p:cNvPr id="10" name="Group 17"/>
          <p:cNvGrpSpPr/>
          <p:nvPr userDrawn="1"/>
        </p:nvGrpSpPr>
        <p:grpSpPr>
          <a:xfrm>
            <a:off x="5965157" y="3429205"/>
            <a:ext cx="280736" cy="2894582"/>
            <a:chOff x="5778501" y="1581985"/>
            <a:chExt cx="280736" cy="2894582"/>
          </a:xfrm>
        </p:grpSpPr>
        <p:sp>
          <p:nvSpPr>
            <p:cNvPr id="11" name="Rounded Rectangle"/>
            <p:cNvSpPr/>
            <p:nvPr userDrawn="1"/>
          </p:nvSpPr>
          <p:spPr>
            <a:xfrm>
              <a:off x="5778501" y="1581985"/>
              <a:ext cx="280736" cy="280736"/>
            </a:xfrm>
            <a:prstGeom prst="ellipse">
              <a:avLst/>
            </a:prstGeom>
            <a:solidFill>
              <a:schemeClr val="tx1"/>
            </a:solidFill>
            <a:ln w="12700">
              <a:noFill/>
              <a:miter lim="400000"/>
            </a:ln>
          </p:spPr>
          <p:txBody>
            <a:bodyPr lIns="25400" tIns="25400" rIns="25400" bIns="25400" anchor="ctr">
              <a:scene3d>
                <a:camera prst="orthographicFront"/>
                <a:lightRig rig="threePt" dir="t"/>
              </a:scene3d>
            </a:bodyPr>
            <a:lstStyle/>
            <a:p>
              <a:pPr algn="ctr" defTabSz="228600">
                <a:defRPr sz="2000" spc="0">
                  <a:solidFill>
                    <a:srgbClr val="FFFFFF"/>
                  </a:solidFill>
                </a:defRPr>
              </a:pPr>
              <a:endParaRPr sz="1200" baseline="0" dirty="0">
                <a:latin typeface="DIN Pro Regular" panose="02000503040000020003" pitchFamily="50" charset="0"/>
                <a:ea typeface="Alibaba PuHuiTi 2.0 55 Regular" pitchFamily="18" charset="-122"/>
                <a:cs typeface="Arial" panose="020B0604020202020204" pitchFamily="34" charset="0"/>
              </a:endParaRPr>
            </a:p>
          </p:txBody>
        </p:sp>
        <p:sp>
          <p:nvSpPr>
            <p:cNvPr id="12" name="Line"/>
            <p:cNvSpPr/>
            <p:nvPr userDrawn="1"/>
          </p:nvSpPr>
          <p:spPr>
            <a:xfrm flipV="1">
              <a:off x="5904581" y="1929262"/>
              <a:ext cx="14289" cy="2547305"/>
            </a:xfrm>
            <a:prstGeom prst="line">
              <a:avLst/>
            </a:prstGeom>
            <a:ln w="12700">
              <a:solidFill>
                <a:srgbClr val="FF1DCE"/>
              </a:solidFill>
              <a:miter lim="400000"/>
            </a:ln>
          </p:spPr>
          <p:txBody>
            <a:bodyPr lIns="25400" tIns="25400" rIns="25400" bIns="25400" anchor="ctr"/>
            <a:lstStyle/>
            <a:p>
              <a:pPr algn="ctr">
                <a:lnSpc>
                  <a:spcPct val="100000"/>
                </a:lnSpc>
                <a:defRPr sz="3200" spc="0">
                  <a:solidFill>
                    <a:srgbClr val="000000"/>
                  </a:solidFill>
                  <a:latin typeface="Helvetica Light"/>
                  <a:ea typeface="Helvetica Light"/>
                  <a:cs typeface="Helvetica Light"/>
                  <a:sym typeface="Helvetica Light"/>
                </a:defRPr>
              </a:pPr>
              <a:endParaRPr sz="1600" baseline="0" dirty="0">
                <a:latin typeface="DIN Pro Regular" panose="02000503040000020003" pitchFamily="50" charset="0"/>
                <a:ea typeface="Alibaba PuHuiTi 2.0 55 Regular" pitchFamily="18" charset="-122"/>
              </a:endParaRPr>
            </a:p>
          </p:txBody>
        </p:sp>
      </p:grpSp>
      <p:sp>
        <p:nvSpPr>
          <p:cNvPr id="13" name="Text Placeholder 14"/>
          <p:cNvSpPr>
            <a:spLocks noGrp="1"/>
          </p:cNvSpPr>
          <p:nvPr>
            <p:ph type="body" sz="quarter" idx="21" hasCustomPrompt="1"/>
          </p:nvPr>
        </p:nvSpPr>
        <p:spPr>
          <a:xfrm>
            <a:off x="5965825" y="3429205"/>
            <a:ext cx="279400" cy="314325"/>
          </a:xfrm>
          <a:prstGeom prst="rect">
            <a:avLst/>
          </a:prstGeom>
        </p:spPr>
        <p:txBody>
          <a:bodyPr anchor="ctr" anchorCtr="0"/>
          <a:lstStyle>
            <a:lvl1pPr marL="0" indent="0" algn="ctr">
              <a:buNone/>
              <a:defRPr sz="1600" b="0" i="0" baseline="0">
                <a:solidFill>
                  <a:schemeClr val="bg1"/>
                </a:solidFill>
                <a:latin typeface="DIN Pro Regular" panose="02000503040000020003" pitchFamily="50" charset="0"/>
                <a:ea typeface="Alibaba PuHuiTi 2.0 55 Regular" pitchFamily="18" charset="-122"/>
              </a:defRPr>
            </a:lvl1pPr>
          </a:lstStyle>
          <a:p>
            <a:pPr lvl="0"/>
            <a:r>
              <a:rPr lang="en-US" altLang="zh-CN" dirty="0"/>
              <a:t>2</a:t>
            </a:r>
            <a:endParaRPr lang="en-US" dirty="0"/>
          </a:p>
        </p:txBody>
      </p:sp>
      <p:sp>
        <p:nvSpPr>
          <p:cNvPr id="14" name="Text Placeholder 3"/>
          <p:cNvSpPr>
            <a:spLocks noGrp="1"/>
          </p:cNvSpPr>
          <p:nvPr>
            <p:ph type="body" sz="quarter" idx="22" hasCustomPrompt="1"/>
          </p:nvPr>
        </p:nvSpPr>
        <p:spPr>
          <a:xfrm>
            <a:off x="6355677" y="3709942"/>
            <a:ext cx="3817175" cy="2613846"/>
          </a:xfrm>
          <a:prstGeom prst="rect">
            <a:avLst/>
          </a:prstGeom>
          <a:noFill/>
        </p:spPr>
        <p:txBody>
          <a:bodyPr lIns="0" tIns="0" rIns="0" bIns="0" anchor="t" anchorCtr="0"/>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5" name="Text Placeholder 3"/>
          <p:cNvSpPr>
            <a:spLocks noGrp="1"/>
          </p:cNvSpPr>
          <p:nvPr>
            <p:ph type="body" sz="quarter" idx="23" hasCustomPrompt="1"/>
          </p:nvPr>
        </p:nvSpPr>
        <p:spPr>
          <a:xfrm>
            <a:off x="6355677" y="3366448"/>
            <a:ext cx="3815746" cy="252570"/>
          </a:xfrm>
          <a:prstGeom prst="rect">
            <a:avLst/>
          </a:prstGeom>
          <a:noFill/>
        </p:spPr>
        <p:txBody>
          <a:bodyPr wrap="square" lIns="0" tIns="0" rIns="0" bIns="0" anchor="ctr" anchorCtr="0">
            <a:noAutofit/>
          </a:bodyPr>
          <a:lstStyle>
            <a:lvl1pPr marL="12700" indent="0" algn="l">
              <a:lnSpc>
                <a:spcPct val="150000"/>
              </a:lnSpc>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6" name="Text Placeholder 24"/>
          <p:cNvSpPr>
            <a:spLocks noGrp="1"/>
          </p:cNvSpPr>
          <p:nvPr>
            <p:ph type="body" sz="quarter" idx="24"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7" name="Text Placeholder 3"/>
          <p:cNvSpPr>
            <a:spLocks noGrp="1"/>
          </p:cNvSpPr>
          <p:nvPr>
            <p:ph type="body" sz="quarter" idx="25"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19" name="Rectangle 5"/>
          <p:cNvSpPr/>
          <p:nvPr userDrawn="1"/>
        </p:nvSpPr>
        <p:spPr>
          <a:xfrm flipH="1">
            <a:off x="-2408" y="339517"/>
            <a:ext cx="45719" cy="913122"/>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三文本框文字内容页-青柠绿">
    <p:bg>
      <p:bgPr>
        <a:solidFill>
          <a:srgbClr val="FBFBFB"/>
        </a:solidFill>
        <a:effectLst/>
      </p:bgPr>
    </p:bg>
    <p:spTree>
      <p:nvGrpSpPr>
        <p:cNvPr id="1" name=""/>
        <p:cNvGrpSpPr/>
        <p:nvPr/>
      </p:nvGrpSpPr>
      <p:grpSpPr>
        <a:xfrm>
          <a:off x="0" y="0"/>
          <a:ext cx="0" cy="0"/>
          <a:chOff x="0" y="0"/>
          <a:chExt cx="0" cy="0"/>
        </a:xfrm>
      </p:grpSpPr>
      <p:sp>
        <p:nvSpPr>
          <p:cNvPr id="36" name="矩形 35"/>
          <p:cNvSpPr/>
          <p:nvPr userDrawn="1"/>
        </p:nvSpPr>
        <p:spPr>
          <a:xfrm>
            <a:off x="8221876"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4271043"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320209"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 Placeholder 24"/>
          <p:cNvSpPr>
            <a:spLocks noGrp="1"/>
          </p:cNvSpPr>
          <p:nvPr>
            <p:ph type="body" sz="quarter" idx="21"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20" name="Text Placeholder 3"/>
          <p:cNvSpPr>
            <a:spLocks noGrp="1"/>
          </p:cNvSpPr>
          <p:nvPr>
            <p:ph type="body" sz="quarter" idx="22"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1" name="Text Placeholder 3"/>
          <p:cNvSpPr>
            <a:spLocks noGrp="1"/>
          </p:cNvSpPr>
          <p:nvPr userDrawn="1">
            <p:ph type="body" sz="quarter" idx="34" hasCustomPrompt="1"/>
          </p:nvPr>
        </p:nvSpPr>
        <p:spPr>
          <a:xfrm>
            <a:off x="452038"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72" name="Text Placeholder 3"/>
          <p:cNvSpPr>
            <a:spLocks noGrp="1"/>
          </p:cNvSpPr>
          <p:nvPr userDrawn="1">
            <p:ph type="body" sz="quarter" idx="36" hasCustomPrompt="1"/>
          </p:nvPr>
        </p:nvSpPr>
        <p:spPr>
          <a:xfrm>
            <a:off x="449838"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类别一 </a:t>
            </a:r>
          </a:p>
        </p:txBody>
      </p:sp>
      <p:sp>
        <p:nvSpPr>
          <p:cNvPr id="125" name="Text Placeholder 3"/>
          <p:cNvSpPr>
            <a:spLocks noGrp="1"/>
          </p:cNvSpPr>
          <p:nvPr userDrawn="1">
            <p:ph type="body" sz="quarter" idx="40" hasCustomPrompt="1"/>
          </p:nvPr>
        </p:nvSpPr>
        <p:spPr>
          <a:xfrm>
            <a:off x="4404861"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6" name="Text Placeholder 3"/>
          <p:cNvSpPr>
            <a:spLocks noGrp="1"/>
          </p:cNvSpPr>
          <p:nvPr userDrawn="1">
            <p:ph type="body" sz="quarter" idx="41" hasCustomPrompt="1"/>
          </p:nvPr>
        </p:nvSpPr>
        <p:spPr>
          <a:xfrm>
            <a:off x="4402661"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类别二 </a:t>
            </a:r>
          </a:p>
        </p:txBody>
      </p:sp>
      <p:sp>
        <p:nvSpPr>
          <p:cNvPr id="127" name="Text Placeholder 3"/>
          <p:cNvSpPr>
            <a:spLocks noGrp="1"/>
          </p:cNvSpPr>
          <p:nvPr userDrawn="1">
            <p:ph type="body" sz="quarter" idx="42" hasCustomPrompt="1"/>
          </p:nvPr>
        </p:nvSpPr>
        <p:spPr>
          <a:xfrm>
            <a:off x="8339938" y="2344613"/>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8" name="Text Placeholder 3"/>
          <p:cNvSpPr>
            <a:spLocks noGrp="1"/>
          </p:cNvSpPr>
          <p:nvPr userDrawn="1">
            <p:ph type="body" sz="quarter" idx="43" hasCustomPrompt="1"/>
          </p:nvPr>
        </p:nvSpPr>
        <p:spPr>
          <a:xfrm>
            <a:off x="8337738" y="1823892"/>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类别三 </a:t>
            </a:r>
          </a:p>
        </p:txBody>
      </p:sp>
      <p:sp>
        <p:nvSpPr>
          <p:cNvPr id="129" name="Slide Number Placeholder 2"/>
          <p:cNvSpPr>
            <a:spLocks noGrp="1"/>
          </p:cNvSpPr>
          <p:nvPr userDrawn="1">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32"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三文本框文字内容页-午夜蓝">
    <p:bg>
      <p:bgPr>
        <a:solidFill>
          <a:srgbClr val="FBFBFB"/>
        </a:solidFill>
        <a:effectLst/>
      </p:bgPr>
    </p:bg>
    <p:spTree>
      <p:nvGrpSpPr>
        <p:cNvPr id="1" name=""/>
        <p:cNvGrpSpPr/>
        <p:nvPr/>
      </p:nvGrpSpPr>
      <p:grpSpPr>
        <a:xfrm>
          <a:off x="0" y="0"/>
          <a:ext cx="0" cy="0"/>
          <a:chOff x="0" y="0"/>
          <a:chExt cx="0" cy="0"/>
        </a:xfrm>
      </p:grpSpPr>
      <p:sp>
        <p:nvSpPr>
          <p:cNvPr id="36" name="矩形 35"/>
          <p:cNvSpPr/>
          <p:nvPr userDrawn="1"/>
        </p:nvSpPr>
        <p:spPr>
          <a:xfrm>
            <a:off x="8221876"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4271043"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320209"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 Placeholder 24"/>
          <p:cNvSpPr>
            <a:spLocks noGrp="1"/>
          </p:cNvSpPr>
          <p:nvPr>
            <p:ph type="body" sz="quarter" idx="21"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20" name="Text Placeholder 3"/>
          <p:cNvSpPr>
            <a:spLocks noGrp="1"/>
          </p:cNvSpPr>
          <p:nvPr>
            <p:ph type="body" sz="quarter" idx="22"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1" name="Text Placeholder 3"/>
          <p:cNvSpPr>
            <a:spLocks noGrp="1"/>
          </p:cNvSpPr>
          <p:nvPr userDrawn="1">
            <p:ph type="body" sz="quarter" idx="34" hasCustomPrompt="1"/>
          </p:nvPr>
        </p:nvSpPr>
        <p:spPr>
          <a:xfrm>
            <a:off x="452038"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72" name="Text Placeholder 3"/>
          <p:cNvSpPr>
            <a:spLocks noGrp="1"/>
          </p:cNvSpPr>
          <p:nvPr userDrawn="1">
            <p:ph type="body" sz="quarter" idx="36" hasCustomPrompt="1"/>
          </p:nvPr>
        </p:nvSpPr>
        <p:spPr>
          <a:xfrm>
            <a:off x="449838"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类别一 </a:t>
            </a:r>
          </a:p>
        </p:txBody>
      </p:sp>
      <p:sp>
        <p:nvSpPr>
          <p:cNvPr id="125" name="Text Placeholder 3"/>
          <p:cNvSpPr>
            <a:spLocks noGrp="1"/>
          </p:cNvSpPr>
          <p:nvPr userDrawn="1">
            <p:ph type="body" sz="quarter" idx="40" hasCustomPrompt="1"/>
          </p:nvPr>
        </p:nvSpPr>
        <p:spPr>
          <a:xfrm>
            <a:off x="4404861"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6" name="Text Placeholder 3"/>
          <p:cNvSpPr>
            <a:spLocks noGrp="1"/>
          </p:cNvSpPr>
          <p:nvPr userDrawn="1">
            <p:ph type="body" sz="quarter" idx="41" hasCustomPrompt="1"/>
          </p:nvPr>
        </p:nvSpPr>
        <p:spPr>
          <a:xfrm>
            <a:off x="4402661"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类别二 </a:t>
            </a:r>
          </a:p>
        </p:txBody>
      </p:sp>
      <p:sp>
        <p:nvSpPr>
          <p:cNvPr id="127" name="Text Placeholder 3"/>
          <p:cNvSpPr>
            <a:spLocks noGrp="1"/>
          </p:cNvSpPr>
          <p:nvPr userDrawn="1">
            <p:ph type="body" sz="quarter" idx="42" hasCustomPrompt="1"/>
          </p:nvPr>
        </p:nvSpPr>
        <p:spPr>
          <a:xfrm>
            <a:off x="8339938" y="2344613"/>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8" name="Text Placeholder 3"/>
          <p:cNvSpPr>
            <a:spLocks noGrp="1"/>
          </p:cNvSpPr>
          <p:nvPr userDrawn="1">
            <p:ph type="body" sz="quarter" idx="43" hasCustomPrompt="1"/>
          </p:nvPr>
        </p:nvSpPr>
        <p:spPr>
          <a:xfrm>
            <a:off x="8337738" y="1823892"/>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类别三 </a:t>
            </a:r>
          </a:p>
        </p:txBody>
      </p:sp>
      <p:sp>
        <p:nvSpPr>
          <p:cNvPr id="129" name="Slide Number Placeholder 2"/>
          <p:cNvSpPr>
            <a:spLocks noGrp="1"/>
          </p:cNvSpPr>
          <p:nvPr userDrawn="1">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32" name="Rectangle 5"/>
          <p:cNvSpPr/>
          <p:nvPr userDrawn="1"/>
        </p:nvSpPr>
        <p:spPr>
          <a:xfrm flipH="1">
            <a:off x="-2408" y="339517"/>
            <a:ext cx="45719" cy="913122"/>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三文本框文字内容页-热品红">
    <p:bg>
      <p:bgPr>
        <a:solidFill>
          <a:srgbClr val="FBFBFB"/>
        </a:solidFill>
        <a:effectLst/>
      </p:bgPr>
    </p:bg>
    <p:spTree>
      <p:nvGrpSpPr>
        <p:cNvPr id="1" name=""/>
        <p:cNvGrpSpPr/>
        <p:nvPr/>
      </p:nvGrpSpPr>
      <p:grpSpPr>
        <a:xfrm>
          <a:off x="0" y="0"/>
          <a:ext cx="0" cy="0"/>
          <a:chOff x="0" y="0"/>
          <a:chExt cx="0" cy="0"/>
        </a:xfrm>
      </p:grpSpPr>
      <p:sp>
        <p:nvSpPr>
          <p:cNvPr id="36" name="矩形 35"/>
          <p:cNvSpPr/>
          <p:nvPr userDrawn="1"/>
        </p:nvSpPr>
        <p:spPr>
          <a:xfrm>
            <a:off x="8221876"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4271043"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320209" y="1694763"/>
            <a:ext cx="3552226" cy="4421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 Placeholder 24"/>
          <p:cNvSpPr>
            <a:spLocks noGrp="1"/>
          </p:cNvSpPr>
          <p:nvPr>
            <p:ph type="body" sz="quarter" idx="21" hasCustomPrompt="1"/>
          </p:nvPr>
        </p:nvSpPr>
        <p:spPr>
          <a:xfrm>
            <a:off x="302945" y="329891"/>
            <a:ext cx="4669748" cy="588880"/>
          </a:xfrm>
          <a:prstGeom prst="rect">
            <a:avLst/>
          </a:prstGeom>
        </p:spPr>
        <p:txBody>
          <a:bodyPr lIns="0" tIns="0" rIns="0" bIns="0" anchor="ctr" anchorCtr="0"/>
          <a:lstStyle>
            <a:lvl1pPr marL="0" indent="0" algn="l">
              <a:buNone/>
              <a:defRPr sz="32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20" name="Text Placeholder 3"/>
          <p:cNvSpPr>
            <a:spLocks noGrp="1"/>
          </p:cNvSpPr>
          <p:nvPr>
            <p:ph type="body" sz="quarter" idx="22" hasCustomPrompt="1"/>
          </p:nvPr>
        </p:nvSpPr>
        <p:spPr>
          <a:xfrm>
            <a:off x="311065" y="859165"/>
            <a:ext cx="4678964" cy="383848"/>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71" name="Text Placeholder 3"/>
          <p:cNvSpPr>
            <a:spLocks noGrp="1"/>
          </p:cNvSpPr>
          <p:nvPr userDrawn="1">
            <p:ph type="body" sz="quarter" idx="34" hasCustomPrompt="1"/>
          </p:nvPr>
        </p:nvSpPr>
        <p:spPr>
          <a:xfrm>
            <a:off x="452038"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72" name="Text Placeholder 3"/>
          <p:cNvSpPr>
            <a:spLocks noGrp="1"/>
          </p:cNvSpPr>
          <p:nvPr userDrawn="1">
            <p:ph type="body" sz="quarter" idx="36" hasCustomPrompt="1"/>
          </p:nvPr>
        </p:nvSpPr>
        <p:spPr>
          <a:xfrm>
            <a:off x="449838"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类别一 </a:t>
            </a:r>
          </a:p>
        </p:txBody>
      </p:sp>
      <p:sp>
        <p:nvSpPr>
          <p:cNvPr id="125" name="Text Placeholder 3"/>
          <p:cNvSpPr>
            <a:spLocks noGrp="1"/>
          </p:cNvSpPr>
          <p:nvPr userDrawn="1">
            <p:ph type="body" sz="quarter" idx="40" hasCustomPrompt="1"/>
          </p:nvPr>
        </p:nvSpPr>
        <p:spPr>
          <a:xfrm>
            <a:off x="4404861" y="2355654"/>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6" name="Text Placeholder 3"/>
          <p:cNvSpPr>
            <a:spLocks noGrp="1"/>
          </p:cNvSpPr>
          <p:nvPr userDrawn="1">
            <p:ph type="body" sz="quarter" idx="41" hasCustomPrompt="1"/>
          </p:nvPr>
        </p:nvSpPr>
        <p:spPr>
          <a:xfrm>
            <a:off x="4402661" y="1834933"/>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类别二 </a:t>
            </a:r>
          </a:p>
        </p:txBody>
      </p:sp>
      <p:sp>
        <p:nvSpPr>
          <p:cNvPr id="127" name="Text Placeholder 3"/>
          <p:cNvSpPr>
            <a:spLocks noGrp="1"/>
          </p:cNvSpPr>
          <p:nvPr userDrawn="1">
            <p:ph type="body" sz="quarter" idx="42" hasCustomPrompt="1"/>
          </p:nvPr>
        </p:nvSpPr>
        <p:spPr>
          <a:xfrm>
            <a:off x="8339938" y="2344613"/>
            <a:ext cx="3286893" cy="3643171"/>
          </a:xfrm>
          <a:prstGeom prst="rect">
            <a:avLst/>
          </a:prstGeom>
          <a:noFill/>
        </p:spPr>
        <p:txBody>
          <a:bodyPr anchor="t" anchorCtr="0"/>
          <a:lstStyle>
            <a:lvl1pPr marL="12700" indent="0" algn="ctr">
              <a:lnSpc>
                <a:spcPct val="150000"/>
              </a:lnSpc>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请在此处输入正文</a:t>
            </a:r>
          </a:p>
        </p:txBody>
      </p:sp>
      <p:sp>
        <p:nvSpPr>
          <p:cNvPr id="128" name="Text Placeholder 3"/>
          <p:cNvSpPr>
            <a:spLocks noGrp="1"/>
          </p:cNvSpPr>
          <p:nvPr userDrawn="1">
            <p:ph type="body" sz="quarter" idx="43" hasCustomPrompt="1"/>
          </p:nvPr>
        </p:nvSpPr>
        <p:spPr>
          <a:xfrm>
            <a:off x="8337738" y="1823892"/>
            <a:ext cx="3286893" cy="314007"/>
          </a:xfrm>
          <a:prstGeom prst="rect">
            <a:avLst/>
          </a:prstGeom>
          <a:noFill/>
        </p:spPr>
        <p:txBody>
          <a:bodyPr anchor="ctr" anchorCtr="0"/>
          <a:lstStyle>
            <a:lvl1pPr marL="12700" indent="0" algn="ctr">
              <a:buNone/>
              <a:defRPr kumimoji="0" lang="zh-CN" altLang="en-US" sz="1200" b="0" i="0" u="none" strike="noStrike" kern="0" cap="none" spc="0" normalizeH="0" baseline="0" dirty="0">
                <a:ln>
                  <a:noFill/>
                </a:ln>
                <a:solidFill>
                  <a:schemeClr val="tx1"/>
                </a:solidFill>
                <a:effectLst/>
                <a:uLnTx/>
                <a:uFillTx/>
                <a:latin typeface="Alibaba PuHuiTi 2.0 55 Regular" pitchFamily="18" charset="-122"/>
                <a:ea typeface="Alibaba PuHuiTi 2.0 55 Regular" pitchFamily="18" charset="-122"/>
                <a:cs typeface="Alibaba PuHuiTi 2.0 55 Regular" pitchFamily="18" charset="-122"/>
              </a:defRPr>
            </a:lvl1pPr>
          </a:lstStyle>
          <a:p>
            <a:pPr lvl="0"/>
            <a:r>
              <a:rPr lang="zh-CN" altLang="en-US" dirty="0"/>
              <a:t>类别三 </a:t>
            </a:r>
          </a:p>
        </p:txBody>
      </p:sp>
      <p:sp>
        <p:nvSpPr>
          <p:cNvPr id="129" name="Slide Number Placeholder 2"/>
          <p:cNvSpPr>
            <a:spLocks noGrp="1"/>
          </p:cNvSpPr>
          <p:nvPr userDrawn="1">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324A25D-3E36-4FF4-8250-29D7473686E0}" type="slidenum">
              <a:rPr lang="zh-CN" altLang="en-US" smtClean="0"/>
              <a:t>‹#›</a:t>
            </a:fld>
            <a:endParaRPr lang="zh-CN" altLang="en-US" dirty="0"/>
          </a:p>
        </p:txBody>
      </p:sp>
      <p:sp>
        <p:nvSpPr>
          <p:cNvPr id="32" name="Rectangle 5"/>
          <p:cNvSpPr/>
          <p:nvPr userDrawn="1"/>
        </p:nvSpPr>
        <p:spPr>
          <a:xfrm flipH="1">
            <a:off x="-2408" y="339517"/>
            <a:ext cx="45719" cy="913122"/>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12" name="Text Placeholder 3"/>
          <p:cNvSpPr>
            <a:spLocks noGrp="1"/>
          </p:cNvSpPr>
          <p:nvPr>
            <p:ph type="body" sz="quarter" idx="15" hasCustomPrompt="1"/>
          </p:nvPr>
        </p:nvSpPr>
        <p:spPr>
          <a:xfrm>
            <a:off x="1375682" y="1896779"/>
            <a:ext cx="7716667" cy="367490"/>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会议日程一</a:t>
            </a:r>
          </a:p>
        </p:txBody>
      </p:sp>
      <p:sp>
        <p:nvSpPr>
          <p:cNvPr id="13" name="Text Placeholder 135"/>
          <p:cNvSpPr>
            <a:spLocks noGrp="1"/>
          </p:cNvSpPr>
          <p:nvPr>
            <p:ph type="body" sz="quarter" idx="16" hasCustomPrompt="1"/>
          </p:nvPr>
        </p:nvSpPr>
        <p:spPr>
          <a:xfrm>
            <a:off x="160491" y="1899144"/>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01</a:t>
            </a:r>
            <a:endParaRPr lang="zh-CN" altLang="en-US" dirty="0"/>
          </a:p>
        </p:txBody>
      </p:sp>
      <p:cxnSp>
        <p:nvCxnSpPr>
          <p:cNvPr id="31" name="Straight Connector 30"/>
          <p:cNvCxnSpPr/>
          <p:nvPr userDrawn="1"/>
        </p:nvCxnSpPr>
        <p:spPr>
          <a:xfrm>
            <a:off x="312912" y="1188079"/>
            <a:ext cx="11579051" cy="0"/>
          </a:xfrm>
          <a:prstGeom prst="line">
            <a:avLst/>
          </a:prstGeom>
          <a:ln w="19050">
            <a:solidFill>
              <a:schemeClr val="accent4"/>
            </a:solidFill>
            <a:prstDash val="solid"/>
          </a:ln>
        </p:spPr>
        <p:style>
          <a:lnRef idx="1">
            <a:schemeClr val="accent1"/>
          </a:lnRef>
          <a:fillRef idx="0">
            <a:schemeClr val="accent1"/>
          </a:fillRef>
          <a:effectRef idx="0">
            <a:schemeClr val="accent1"/>
          </a:effectRef>
          <a:fontRef idx="minor">
            <a:schemeClr val="tx1"/>
          </a:fontRef>
        </p:style>
      </p:cxnSp>
      <p:sp>
        <p:nvSpPr>
          <p:cNvPr id="42" name="Text Placeholder 3"/>
          <p:cNvSpPr>
            <a:spLocks noGrp="1"/>
          </p:cNvSpPr>
          <p:nvPr>
            <p:ph type="body" sz="quarter" idx="23" hasCustomPrompt="1"/>
          </p:nvPr>
        </p:nvSpPr>
        <p:spPr>
          <a:xfrm>
            <a:off x="1375682" y="2603298"/>
            <a:ext cx="7716667" cy="356980"/>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会议日程二</a:t>
            </a:r>
          </a:p>
        </p:txBody>
      </p:sp>
      <p:sp>
        <p:nvSpPr>
          <p:cNvPr id="43" name="Text Placeholder 135"/>
          <p:cNvSpPr>
            <a:spLocks noGrp="1"/>
          </p:cNvSpPr>
          <p:nvPr>
            <p:ph type="body" sz="quarter" idx="24" hasCustomPrompt="1"/>
          </p:nvPr>
        </p:nvSpPr>
        <p:spPr>
          <a:xfrm>
            <a:off x="160491" y="2601262"/>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02</a:t>
            </a:r>
            <a:endParaRPr lang="zh-CN" altLang="en-US" dirty="0"/>
          </a:p>
        </p:txBody>
      </p:sp>
      <p:sp>
        <p:nvSpPr>
          <p:cNvPr id="44" name="Text Placeholder 3"/>
          <p:cNvSpPr>
            <a:spLocks noGrp="1"/>
          </p:cNvSpPr>
          <p:nvPr>
            <p:ph type="body" sz="quarter" idx="25" hasCustomPrompt="1"/>
          </p:nvPr>
        </p:nvSpPr>
        <p:spPr>
          <a:xfrm>
            <a:off x="1375682" y="3299307"/>
            <a:ext cx="7716667" cy="365126"/>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会议日程三</a:t>
            </a:r>
          </a:p>
        </p:txBody>
      </p:sp>
      <p:sp>
        <p:nvSpPr>
          <p:cNvPr id="45" name="Text Placeholder 135"/>
          <p:cNvSpPr>
            <a:spLocks noGrp="1"/>
          </p:cNvSpPr>
          <p:nvPr>
            <p:ph type="body" sz="quarter" idx="26" hasCustomPrompt="1"/>
          </p:nvPr>
        </p:nvSpPr>
        <p:spPr>
          <a:xfrm>
            <a:off x="160491" y="3303380"/>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03</a:t>
            </a:r>
            <a:endParaRPr lang="zh-CN" altLang="en-US" dirty="0"/>
          </a:p>
        </p:txBody>
      </p:sp>
      <p:sp>
        <p:nvSpPr>
          <p:cNvPr id="46" name="Text Placeholder 3"/>
          <p:cNvSpPr>
            <a:spLocks noGrp="1"/>
          </p:cNvSpPr>
          <p:nvPr>
            <p:ph type="body" sz="quarter" idx="27" hasCustomPrompt="1"/>
          </p:nvPr>
        </p:nvSpPr>
        <p:spPr>
          <a:xfrm>
            <a:off x="1375682" y="4003461"/>
            <a:ext cx="7716667" cy="365126"/>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会议日程四</a:t>
            </a:r>
          </a:p>
        </p:txBody>
      </p:sp>
      <p:sp>
        <p:nvSpPr>
          <p:cNvPr id="47" name="Text Placeholder 135"/>
          <p:cNvSpPr>
            <a:spLocks noGrp="1"/>
          </p:cNvSpPr>
          <p:nvPr>
            <p:ph type="body" sz="quarter" idx="28" hasCustomPrompt="1"/>
          </p:nvPr>
        </p:nvSpPr>
        <p:spPr>
          <a:xfrm>
            <a:off x="160491" y="4005498"/>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04</a:t>
            </a:r>
            <a:endParaRPr lang="zh-CN" altLang="en-US" dirty="0"/>
          </a:p>
        </p:txBody>
      </p:sp>
      <p:sp>
        <p:nvSpPr>
          <p:cNvPr id="48" name="Text Placeholder 3"/>
          <p:cNvSpPr>
            <a:spLocks noGrp="1"/>
          </p:cNvSpPr>
          <p:nvPr>
            <p:ph type="body" sz="quarter" idx="29" hasCustomPrompt="1"/>
          </p:nvPr>
        </p:nvSpPr>
        <p:spPr>
          <a:xfrm>
            <a:off x="1375682" y="4707615"/>
            <a:ext cx="7716667" cy="365125"/>
          </a:xfrm>
          <a:prstGeom prst="rect">
            <a:avLst/>
          </a:prstGeom>
          <a:noFill/>
        </p:spPr>
        <p:txBody>
          <a:bodyPr anchor="ctr" anchorCtr="0"/>
          <a:lstStyle>
            <a:lvl1pPr marL="0" indent="0" algn="l">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会议日程五</a:t>
            </a:r>
          </a:p>
        </p:txBody>
      </p:sp>
      <p:sp>
        <p:nvSpPr>
          <p:cNvPr id="49" name="Text Placeholder 135"/>
          <p:cNvSpPr>
            <a:spLocks noGrp="1"/>
          </p:cNvSpPr>
          <p:nvPr>
            <p:ph type="body" sz="quarter" idx="30" hasCustomPrompt="1"/>
          </p:nvPr>
        </p:nvSpPr>
        <p:spPr>
          <a:xfrm>
            <a:off x="160491" y="4707615"/>
            <a:ext cx="575730" cy="365125"/>
          </a:xfrm>
          <a:prstGeom prst="rect">
            <a:avLst/>
          </a:prstGeom>
        </p:spPr>
        <p:txBody>
          <a:bodyPr anchor="ctr" anchorCtr="0"/>
          <a:lstStyle>
            <a:lvl1pPr marL="0" indent="0" algn="ctr">
              <a:buNone/>
              <a:defRPr sz="1600" b="0" i="0" baseline="0">
                <a:solidFill>
                  <a:schemeClr val="tx1"/>
                </a:solidFill>
                <a:latin typeface="DIN Pro Regular" panose="02000503040000020003" pitchFamily="50" charset="0"/>
                <a:ea typeface="Alibaba PuHuiTi 2.0 55 Regular" pitchFamily="18" charset="-122"/>
              </a:defRPr>
            </a:lvl1pPr>
          </a:lstStyle>
          <a:p>
            <a:pPr lvl="0"/>
            <a:r>
              <a:rPr lang="en-US" altLang="zh-CN" dirty="0"/>
              <a:t>05</a:t>
            </a:r>
            <a:endParaRPr lang="zh-CN" altLang="en-US" dirty="0"/>
          </a:p>
        </p:txBody>
      </p:sp>
      <p:sp>
        <p:nvSpPr>
          <p:cNvPr id="23" name="Text Placeholder 3"/>
          <p:cNvSpPr>
            <a:spLocks noGrp="1"/>
          </p:cNvSpPr>
          <p:nvPr>
            <p:ph type="body" sz="quarter" idx="22" hasCustomPrompt="1"/>
          </p:nvPr>
        </p:nvSpPr>
        <p:spPr>
          <a:xfrm>
            <a:off x="314303" y="859165"/>
            <a:ext cx="1800000" cy="280736"/>
          </a:xfrm>
          <a:prstGeom prst="rect">
            <a:avLst/>
          </a:prstGeom>
          <a:noFill/>
        </p:spPr>
        <p:txBody>
          <a:bodyPr lIns="0" tIns="0" rIns="0" bIns="0" anchor="ctr" anchorCtr="0"/>
          <a:lstStyle>
            <a:lvl1pPr marL="0" indent="0" algn="l">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en-US" altLang="zh-CN" dirty="0"/>
              <a:t>Agenda</a:t>
            </a:r>
            <a:endParaRPr lang="zh-CN" altLang="en-US" dirty="0"/>
          </a:p>
        </p:txBody>
      </p:sp>
      <p:sp>
        <p:nvSpPr>
          <p:cNvPr id="26" name="Text Placeholder 24"/>
          <p:cNvSpPr>
            <a:spLocks noGrp="1"/>
          </p:cNvSpPr>
          <p:nvPr>
            <p:ph type="body" sz="quarter" idx="21" hasCustomPrompt="1"/>
          </p:nvPr>
        </p:nvSpPr>
        <p:spPr>
          <a:xfrm>
            <a:off x="252079" y="329891"/>
            <a:ext cx="1862224" cy="588880"/>
          </a:xfrm>
          <a:prstGeom prst="rect">
            <a:avLst/>
          </a:prstGeom>
        </p:spPr>
        <p:txBody>
          <a:bodyPr lIns="0" tIns="0" rIns="0" bIns="0" anchor="ctr" anchorCtr="0"/>
          <a:lstStyle>
            <a:lvl1pPr marL="0" indent="0" algn="l">
              <a:buNone/>
              <a:defRPr sz="3200" b="0" i="0" baseline="0">
                <a:latin typeface="Alibaba PuHuiTi 2.0 55 Regular" pitchFamily="18" charset="-122"/>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目录</a:t>
            </a:r>
            <a:endParaRPr lang="en-US" dirty="0"/>
          </a:p>
        </p:txBody>
      </p:sp>
      <p:sp>
        <p:nvSpPr>
          <p:cNvPr id="16"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4" name="标题 1"/>
          <p:cNvSpPr>
            <a:spLocks noGrp="1"/>
          </p:cNvSpPr>
          <p:nvPr>
            <p:ph type="title"/>
          </p:nvPr>
        </p:nvSpPr>
        <p:spPr>
          <a:xfrm>
            <a:off x="308187" y="159174"/>
            <a:ext cx="11171767" cy="329353"/>
          </a:xfrm>
          <a:prstGeom prst="rect">
            <a:avLst/>
          </a:prstGeom>
        </p:spPr>
        <p:txBody>
          <a:bodyPr anchor="t"/>
          <a:lstStyle>
            <a:lvl1pPr algn="l">
              <a:defRPr sz="1865" b="0">
                <a:solidFill>
                  <a:srgbClr val="000000"/>
                </a:solidFill>
                <a:latin typeface="微软雅黑" panose="020B0503020204020204" pitchFamily="34" charset="-122"/>
                <a:ea typeface="Alibaba PuHuiTi 2.0 55 Regular"/>
              </a:defRPr>
            </a:lvl1pPr>
          </a:lstStyle>
          <a:p>
            <a:r>
              <a:rPr lang="zh-CN" altLang="en-US" dirty="0"/>
              <a:t>单击此处编辑母版标题样式</a:t>
            </a:r>
          </a:p>
        </p:txBody>
      </p:sp>
      <p:sp>
        <p:nvSpPr>
          <p:cNvPr id="13" name="文本占位符 12"/>
          <p:cNvSpPr>
            <a:spLocks noGrp="1"/>
          </p:cNvSpPr>
          <p:nvPr>
            <p:ph type="body" sz="quarter" idx="12"/>
          </p:nvPr>
        </p:nvSpPr>
        <p:spPr>
          <a:xfrm>
            <a:off x="363806" y="847725"/>
            <a:ext cx="11464388" cy="760731"/>
          </a:xfrm>
          <a:prstGeom prst="rect">
            <a:avLst/>
          </a:prstGeom>
        </p:spPr>
        <p:txBody>
          <a:bodyPr/>
          <a:lstStyle>
            <a:lvl1pPr marL="0" indent="0">
              <a:spcBef>
                <a:spcPts val="0"/>
              </a:spcBef>
              <a:buNone/>
              <a:defRPr lang="zh-CN" altLang="en-US" sz="1865" b="0" kern="1200" dirty="0" smtClean="0">
                <a:solidFill>
                  <a:srgbClr val="000000"/>
                </a:solidFill>
                <a:latin typeface="微软雅黑" panose="020B0503020204020204" pitchFamily="34" charset="-122"/>
                <a:ea typeface="Alibaba PuHuiTi 2.0 55 Regular"/>
                <a:cs typeface="+mj-cs"/>
              </a:defRPr>
            </a:lvl1pPr>
          </a:lstStyle>
          <a:p>
            <a:pPr lvl="0"/>
            <a:r>
              <a:rPr lang="zh-CN" altLang="en-US" dirty="0"/>
              <a:t>单击此处编辑母版文本样式</a:t>
            </a:r>
          </a:p>
        </p:txBody>
      </p:sp>
      <p:sp>
        <p:nvSpPr>
          <p:cNvPr id="7" name="灯片编号占位符 2"/>
          <p:cNvSpPr>
            <a:spLocks noGrp="1"/>
          </p:cNvSpPr>
          <p:nvPr>
            <p:ph type="sldNum" sz="quarter" idx="4"/>
          </p:nvPr>
        </p:nvSpPr>
        <p:spPr>
          <a:xfrm>
            <a:off x="11208043" y="6486526"/>
            <a:ext cx="564271" cy="365125"/>
          </a:xfrm>
          <a:prstGeom prst="rect">
            <a:avLst/>
          </a:prstGeom>
        </p:spPr>
        <p:txBody>
          <a:bodyPr vert="horz" lIns="91440" tIns="45720" rIns="91440" bIns="45720" rtlCol="0" anchor="ctr"/>
          <a:lstStyle>
            <a:lvl1pPr algn="r">
              <a:defRPr sz="900">
                <a:solidFill>
                  <a:schemeClr val="tx1">
                    <a:tint val="75000"/>
                  </a:schemeClr>
                </a:solidFill>
                <a:ea typeface="Alibaba PuHuiTi 2.0 55 Regular"/>
              </a:defRPr>
            </a:lvl1pPr>
          </a:lstStyle>
          <a:p>
            <a:fld id="{C4FEF4C5-4A60-467F-8519-FE6869DD9F4A}" type="slidenum">
              <a:rPr lang="zh-CN" altLang="en-US" smtClean="0"/>
              <a:pPr/>
              <a:t>‹#›</a:t>
            </a:fld>
            <a:endParaRPr lang="zh-CN" altLang="en-US" dirty="0"/>
          </a:p>
        </p:txBody>
      </p:sp>
      <p:sp>
        <p:nvSpPr>
          <p:cNvPr id="8" name="Line 12"/>
          <p:cNvSpPr>
            <a:spLocks noChangeShapeType="1"/>
          </p:cNvSpPr>
          <p:nvPr userDrawn="1"/>
        </p:nvSpPr>
        <p:spPr bwMode="auto">
          <a:xfrm>
            <a:off x="0" y="581660"/>
            <a:ext cx="12192000" cy="0"/>
          </a:xfrm>
          <a:prstGeom prst="line">
            <a:avLst/>
          </a:prstGeom>
          <a:noFill/>
          <a:ln w="12700">
            <a:solidFill>
              <a:srgbClr val="000000"/>
            </a:solidFill>
            <a:round/>
          </a:ln>
        </p:spPr>
        <p:txBody>
          <a:bodyPr lIns="90000" tIns="46800" rIns="90000" bIns="46800"/>
          <a:lstStyle/>
          <a:p>
            <a:pPr>
              <a:defRPr/>
            </a:pPr>
            <a:endParaRPr lang="zh-CN" altLang="en-US" sz="1800" dirty="0">
              <a:ea typeface="Alibaba PuHuiTi 2.0 55 Regular"/>
            </a:endParaRPr>
          </a:p>
        </p:txBody>
      </p:sp>
      <p:pic>
        <p:nvPicPr>
          <p:cNvPr id="3" name="图片 2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302981" y="34714"/>
            <a:ext cx="1176973" cy="530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pic>
        <p:nvPicPr>
          <p:cNvPr id="7" name="图片 27"/>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rcRect/>
          <a:stretch>
            <a:fillRect/>
          </a:stretch>
        </p:blipFill>
        <p:spPr bwMode="auto">
          <a:xfrm>
            <a:off x="10302981" y="34714"/>
            <a:ext cx="1176973" cy="530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12"/>
          <p:cNvSpPr>
            <a:spLocks noChangeShapeType="1"/>
          </p:cNvSpPr>
          <p:nvPr userDrawn="1">
            <p:custDataLst>
              <p:tags r:id="rId2"/>
            </p:custDataLst>
          </p:nvPr>
        </p:nvSpPr>
        <p:spPr bwMode="auto">
          <a:xfrm>
            <a:off x="0" y="581660"/>
            <a:ext cx="12192000" cy="0"/>
          </a:xfrm>
          <a:prstGeom prst="line">
            <a:avLst/>
          </a:prstGeom>
          <a:noFill/>
          <a:ln w="12700">
            <a:solidFill>
              <a:srgbClr val="000000"/>
            </a:solidFill>
            <a:round/>
          </a:ln>
        </p:spPr>
        <p:txBody>
          <a:bodyPr lIns="90000" tIns="46800" rIns="90000" bIns="46800"/>
          <a:lstStyle/>
          <a:p>
            <a:pPr>
              <a:defRPr/>
            </a:pPr>
            <a:endParaRPr lang="zh-CN" altLang="en-US" sz="1800" dirty="0">
              <a:ea typeface="Alibaba PuHuiTi 2.0 55 Regular"/>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序号分割页-青柠绿">
    <p:spTree>
      <p:nvGrpSpPr>
        <p:cNvPr id="1" name=""/>
        <p:cNvGrpSpPr/>
        <p:nvPr/>
      </p:nvGrpSpPr>
      <p:grpSpPr>
        <a:xfrm>
          <a:off x="0" y="0"/>
          <a:ext cx="0" cy="0"/>
          <a:chOff x="0" y="0"/>
          <a:chExt cx="0" cy="0"/>
        </a:xfrm>
      </p:grpSpPr>
      <p:sp>
        <p:nvSpPr>
          <p:cNvPr id="3" name="Text Placeholder 3"/>
          <p:cNvSpPr>
            <a:spLocks noGrp="1"/>
          </p:cNvSpPr>
          <p:nvPr>
            <p:ph type="body" sz="quarter" idx="10" hasCustomPrompt="1"/>
          </p:nvPr>
        </p:nvSpPr>
        <p:spPr>
          <a:xfrm>
            <a:off x="1892236" y="3464931"/>
            <a:ext cx="88812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6" name="Rectangle 5"/>
          <p:cNvSpPr/>
          <p:nvPr userDrawn="1"/>
        </p:nvSpPr>
        <p:spPr>
          <a:xfrm>
            <a:off x="-9626" y="2502725"/>
            <a:ext cx="45719" cy="1380015"/>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solidFill>
                <a:schemeClr val="bg1">
                  <a:lumMod val="10000"/>
                </a:schemeClr>
              </a:solidFill>
              <a:latin typeface="DIN Pro Regular" panose="02000503040000020003" pitchFamily="50" charset="0"/>
              <a:ea typeface="Alibaba PuHuiTi 2.0 55 Regular" pitchFamily="18" charset="-122"/>
            </a:endParaRPr>
          </a:p>
        </p:txBody>
      </p:sp>
      <p:sp>
        <p:nvSpPr>
          <p:cNvPr id="9" name="Text Placeholder 3"/>
          <p:cNvSpPr>
            <a:spLocks noGrp="1"/>
          </p:cNvSpPr>
          <p:nvPr>
            <p:ph type="body" sz="quarter" idx="13" hasCustomPrompt="1"/>
          </p:nvPr>
        </p:nvSpPr>
        <p:spPr>
          <a:xfrm>
            <a:off x="1892739" y="2546499"/>
            <a:ext cx="8881200" cy="914400"/>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8" name="Text Placeholder 3"/>
          <p:cNvSpPr>
            <a:spLocks noGrp="1"/>
          </p:cNvSpPr>
          <p:nvPr>
            <p:ph type="body" sz="quarter" idx="12" hasCustomPrompt="1"/>
          </p:nvPr>
        </p:nvSpPr>
        <p:spPr>
          <a:xfrm>
            <a:off x="854251" y="2037507"/>
            <a:ext cx="1010710" cy="1794402"/>
          </a:xfrm>
          <a:prstGeom prst="rect">
            <a:avLst/>
          </a:prstGeom>
        </p:spPr>
        <p:txBody>
          <a:bodyPr lIns="0" tIns="0" rIns="0" bIns="0" anchor="ctr" anchorCtr="0">
            <a:spAutoFit/>
          </a:bodyPr>
          <a:lstStyle>
            <a:lvl1pPr marL="0" indent="0">
              <a:buNone/>
              <a:defRPr kumimoji="0" lang="zh-CN" altLang="en-US" sz="128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en-US" altLang="zh-CN" dirty="0"/>
              <a:t>1</a:t>
            </a:r>
            <a:endParaRPr lang="zh-CN" altLang="en-US" dirty="0"/>
          </a:p>
        </p:txBody>
      </p:sp>
      <p:cxnSp>
        <p:nvCxnSpPr>
          <p:cNvPr id="5" name="直接连接符 4"/>
          <p:cNvCxnSpPr/>
          <p:nvPr userDrawn="1"/>
        </p:nvCxnSpPr>
        <p:spPr>
          <a:xfrm>
            <a:off x="348129" y="6379333"/>
            <a:ext cx="9720000" cy="0"/>
          </a:xfrm>
          <a:prstGeom prst="line">
            <a:avLst/>
          </a:prstGeom>
          <a:ln w="12700">
            <a:solidFill>
              <a:srgbClr val="B0CC14"/>
            </a:solidFill>
          </a:ln>
        </p:spPr>
        <p:style>
          <a:lnRef idx="1">
            <a:schemeClr val="accent1"/>
          </a:lnRef>
          <a:fillRef idx="0">
            <a:schemeClr val="accent1"/>
          </a:fillRef>
          <a:effectRef idx="0">
            <a:schemeClr val="accent1"/>
          </a:effectRef>
          <a:fontRef idx="minor">
            <a:schemeClr val="tx1"/>
          </a:fontRef>
        </p:style>
      </p:cxnSp>
      <p:pic>
        <p:nvPicPr>
          <p:cNvPr id="10" name="图像" descr="图像"/>
          <p:cNvPicPr>
            <a:picLocks noChangeAspect="1"/>
          </p:cNvPicPr>
          <p:nvPr userDrawn="1"/>
        </p:nvPicPr>
        <p:blipFill>
          <a:blip r:embed="rId2"/>
          <a:stretch>
            <a:fillRect/>
          </a:stretch>
        </p:blipFill>
        <p:spPr>
          <a:xfrm>
            <a:off x="10378983" y="6220368"/>
            <a:ext cx="789912" cy="317930"/>
          </a:xfrm>
          <a:prstGeom prst="rect">
            <a:avLst/>
          </a:prstGeom>
          <a:ln w="12700">
            <a:miter lim="400000"/>
            <a:headEnd/>
            <a:tailEnd/>
          </a:ln>
        </p:spPr>
      </p:pic>
      <p:sp>
        <p:nvSpPr>
          <p:cNvPr id="2"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
        <p:nvSpPr>
          <p:cNvPr id="7" name="Rectangle 2"/>
          <p:cNvSpPr>
            <a:spLocks noChangeArrowheads="1"/>
          </p:cNvSpPr>
          <p:nvPr userDrawn="1"/>
        </p:nvSpPr>
        <p:spPr bwMode="auto">
          <a:xfrm>
            <a:off x="9707870" y="30590"/>
            <a:ext cx="2183366" cy="252000"/>
          </a:xfrm>
          <a:prstGeom prst="rect">
            <a:avLst/>
          </a:prstGeom>
          <a:noFill/>
          <a:ln w="19050">
            <a:solidFill>
              <a:srgbClr val="FF0000"/>
            </a:solidFill>
            <a:miter lim="800000"/>
          </a:ln>
        </p:spPr>
        <p:txBody>
          <a:bodyPr lIns="0" tIns="0" rIns="0" bIns="0" anchor="ctr" anchorCtr="1"/>
          <a:lstStyle/>
          <a:p>
            <a:pPr algn="ctr"/>
            <a:r>
              <a:rPr lang="zh-CN" altLang="en-US" sz="1200" b="1" dirty="0">
                <a:solidFill>
                  <a:srgbClr val="FF0000"/>
                </a:solidFill>
                <a:latin typeface="Alibaba PuHuiTi 2.0 55 Regular" pitchFamily="18" charset="-122"/>
                <a:ea typeface="Alibaba PuHuiTi 2.0 55 Regular" pitchFamily="18" charset="-122"/>
                <a:cs typeface="Alibaba PuHuiTi 2.0 55 Regular" pitchFamily="18" charset="-122"/>
              </a:rPr>
              <a:t>普通商密  合规管理  严禁外传</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序号分割页-午夜蓝">
    <p:spTree>
      <p:nvGrpSpPr>
        <p:cNvPr id="1" name=""/>
        <p:cNvGrpSpPr/>
        <p:nvPr/>
      </p:nvGrpSpPr>
      <p:grpSpPr>
        <a:xfrm>
          <a:off x="0" y="0"/>
          <a:ext cx="0" cy="0"/>
          <a:chOff x="0" y="0"/>
          <a:chExt cx="0" cy="0"/>
        </a:xfrm>
      </p:grpSpPr>
      <p:sp>
        <p:nvSpPr>
          <p:cNvPr id="3" name="Text Placeholder 3"/>
          <p:cNvSpPr>
            <a:spLocks noGrp="1"/>
          </p:cNvSpPr>
          <p:nvPr>
            <p:ph type="body" sz="quarter" idx="10" hasCustomPrompt="1"/>
          </p:nvPr>
        </p:nvSpPr>
        <p:spPr>
          <a:xfrm>
            <a:off x="1892236" y="3464931"/>
            <a:ext cx="88812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6" name="Rectangle 5"/>
          <p:cNvSpPr/>
          <p:nvPr userDrawn="1"/>
        </p:nvSpPr>
        <p:spPr>
          <a:xfrm>
            <a:off x="-9626" y="2502725"/>
            <a:ext cx="45719" cy="1380015"/>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9" name="Text Placeholder 3"/>
          <p:cNvSpPr>
            <a:spLocks noGrp="1"/>
          </p:cNvSpPr>
          <p:nvPr>
            <p:ph type="body" sz="quarter" idx="13" hasCustomPrompt="1"/>
          </p:nvPr>
        </p:nvSpPr>
        <p:spPr>
          <a:xfrm>
            <a:off x="1892739" y="2546499"/>
            <a:ext cx="8881200" cy="914400"/>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8" name="Text Placeholder 3"/>
          <p:cNvSpPr>
            <a:spLocks noGrp="1"/>
          </p:cNvSpPr>
          <p:nvPr>
            <p:ph type="body" sz="quarter" idx="12" hasCustomPrompt="1"/>
          </p:nvPr>
        </p:nvSpPr>
        <p:spPr>
          <a:xfrm>
            <a:off x="854251" y="2037507"/>
            <a:ext cx="1010710" cy="1794402"/>
          </a:xfrm>
          <a:prstGeom prst="rect">
            <a:avLst/>
          </a:prstGeom>
        </p:spPr>
        <p:txBody>
          <a:bodyPr lIns="0" tIns="0" rIns="0" bIns="0" anchor="ctr" anchorCtr="0">
            <a:spAutoFit/>
          </a:bodyPr>
          <a:lstStyle>
            <a:lvl1pPr marL="0" indent="0">
              <a:buNone/>
              <a:defRPr kumimoji="0" lang="zh-CN" altLang="en-US" sz="128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en-US" altLang="zh-CN" dirty="0"/>
              <a:t>1</a:t>
            </a:r>
            <a:endParaRPr lang="zh-CN" altLang="en-US" dirty="0"/>
          </a:p>
        </p:txBody>
      </p:sp>
      <p:cxnSp>
        <p:nvCxnSpPr>
          <p:cNvPr id="4" name="直接连接符 3"/>
          <p:cNvCxnSpPr/>
          <p:nvPr userDrawn="1"/>
        </p:nvCxnSpPr>
        <p:spPr>
          <a:xfrm>
            <a:off x="348129" y="6379333"/>
            <a:ext cx="9720000" cy="0"/>
          </a:xfrm>
          <a:prstGeom prst="line">
            <a:avLst/>
          </a:prstGeom>
          <a:ln w="12700">
            <a:solidFill>
              <a:srgbClr val="4553FF"/>
            </a:solidFill>
          </a:ln>
        </p:spPr>
        <p:style>
          <a:lnRef idx="1">
            <a:schemeClr val="accent1"/>
          </a:lnRef>
          <a:fillRef idx="0">
            <a:schemeClr val="accent1"/>
          </a:fillRef>
          <a:effectRef idx="0">
            <a:schemeClr val="accent1"/>
          </a:effectRef>
          <a:fontRef idx="minor">
            <a:schemeClr val="tx1"/>
          </a:fontRef>
        </p:style>
      </p:cxnSp>
      <p:pic>
        <p:nvPicPr>
          <p:cNvPr id="5" name="图像" descr="图像"/>
          <p:cNvPicPr>
            <a:picLocks noChangeAspect="1"/>
          </p:cNvPicPr>
          <p:nvPr userDrawn="1"/>
        </p:nvPicPr>
        <p:blipFill>
          <a:blip r:embed="rId2"/>
          <a:stretch>
            <a:fillRect/>
          </a:stretch>
        </p:blipFill>
        <p:spPr>
          <a:xfrm>
            <a:off x="10378983" y="6220368"/>
            <a:ext cx="789912" cy="317930"/>
          </a:xfrm>
          <a:prstGeom prst="rect">
            <a:avLst/>
          </a:prstGeom>
          <a:ln w="12700">
            <a:miter lim="400000"/>
            <a:headEnd/>
            <a:tailEnd/>
          </a:ln>
        </p:spPr>
      </p:pic>
      <p:sp>
        <p:nvSpPr>
          <p:cNvPr id="2"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
        <p:nvSpPr>
          <p:cNvPr id="7" name="Rectangle 2"/>
          <p:cNvSpPr>
            <a:spLocks noChangeArrowheads="1"/>
          </p:cNvSpPr>
          <p:nvPr userDrawn="1"/>
        </p:nvSpPr>
        <p:spPr bwMode="auto">
          <a:xfrm>
            <a:off x="9707870" y="30590"/>
            <a:ext cx="2183366" cy="252000"/>
          </a:xfrm>
          <a:prstGeom prst="rect">
            <a:avLst/>
          </a:prstGeom>
          <a:noFill/>
          <a:ln w="19050">
            <a:solidFill>
              <a:srgbClr val="FF0000"/>
            </a:solidFill>
            <a:miter lim="800000"/>
          </a:ln>
        </p:spPr>
        <p:txBody>
          <a:bodyPr lIns="0" tIns="0" rIns="0" bIns="0" anchor="ctr" anchorCtr="1"/>
          <a:lstStyle/>
          <a:p>
            <a:pPr algn="ctr"/>
            <a:r>
              <a:rPr lang="zh-CN" altLang="en-US" sz="1200" b="1" dirty="0">
                <a:solidFill>
                  <a:srgbClr val="FF0000"/>
                </a:solidFill>
                <a:latin typeface="Alibaba PuHuiTi 2.0 55 Regular" pitchFamily="18" charset="-122"/>
                <a:ea typeface="Alibaba PuHuiTi 2.0 55 Regular" pitchFamily="18" charset="-122"/>
                <a:cs typeface="Alibaba PuHuiTi 2.0 55 Regular" pitchFamily="18" charset="-122"/>
              </a:rPr>
              <a:t>普通商密  合规管理  严禁外传</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序号分割页-热品红">
    <p:spTree>
      <p:nvGrpSpPr>
        <p:cNvPr id="1" name=""/>
        <p:cNvGrpSpPr/>
        <p:nvPr/>
      </p:nvGrpSpPr>
      <p:grpSpPr>
        <a:xfrm>
          <a:off x="0" y="0"/>
          <a:ext cx="0" cy="0"/>
          <a:chOff x="0" y="0"/>
          <a:chExt cx="0" cy="0"/>
        </a:xfrm>
      </p:grpSpPr>
      <p:sp>
        <p:nvSpPr>
          <p:cNvPr id="3" name="Text Placeholder 3"/>
          <p:cNvSpPr>
            <a:spLocks noGrp="1"/>
          </p:cNvSpPr>
          <p:nvPr>
            <p:ph type="body" sz="quarter" idx="10" hasCustomPrompt="1"/>
          </p:nvPr>
        </p:nvSpPr>
        <p:spPr>
          <a:xfrm>
            <a:off x="1892236" y="3464931"/>
            <a:ext cx="88812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6" name="Rectangle 5"/>
          <p:cNvSpPr/>
          <p:nvPr userDrawn="1"/>
        </p:nvSpPr>
        <p:spPr>
          <a:xfrm>
            <a:off x="-9626" y="2502725"/>
            <a:ext cx="45719" cy="1380015"/>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9" name="Text Placeholder 3"/>
          <p:cNvSpPr>
            <a:spLocks noGrp="1"/>
          </p:cNvSpPr>
          <p:nvPr>
            <p:ph type="body" sz="quarter" idx="13" hasCustomPrompt="1"/>
          </p:nvPr>
        </p:nvSpPr>
        <p:spPr>
          <a:xfrm>
            <a:off x="1892739" y="2546499"/>
            <a:ext cx="8881200" cy="914400"/>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8" name="Text Placeholder 3"/>
          <p:cNvSpPr>
            <a:spLocks noGrp="1"/>
          </p:cNvSpPr>
          <p:nvPr>
            <p:ph type="body" sz="quarter" idx="12" hasCustomPrompt="1"/>
          </p:nvPr>
        </p:nvSpPr>
        <p:spPr>
          <a:xfrm>
            <a:off x="854251" y="2037507"/>
            <a:ext cx="1010710" cy="1794402"/>
          </a:xfrm>
          <a:prstGeom prst="rect">
            <a:avLst/>
          </a:prstGeom>
        </p:spPr>
        <p:txBody>
          <a:bodyPr lIns="0" tIns="0" rIns="0" bIns="0" anchor="ctr" anchorCtr="0">
            <a:spAutoFit/>
          </a:bodyPr>
          <a:lstStyle>
            <a:lvl1pPr marL="0" indent="0">
              <a:buNone/>
              <a:defRPr kumimoji="0" lang="zh-CN" altLang="en-US" sz="128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en-US" altLang="zh-CN" dirty="0"/>
              <a:t>1</a:t>
            </a:r>
            <a:endParaRPr lang="zh-CN" altLang="en-US" dirty="0"/>
          </a:p>
        </p:txBody>
      </p:sp>
      <p:cxnSp>
        <p:nvCxnSpPr>
          <p:cNvPr id="4" name="直接连接符 3"/>
          <p:cNvCxnSpPr/>
          <p:nvPr userDrawn="1"/>
        </p:nvCxnSpPr>
        <p:spPr>
          <a:xfrm>
            <a:off x="348129" y="6379333"/>
            <a:ext cx="9720000" cy="0"/>
          </a:xfrm>
          <a:prstGeom prst="line">
            <a:avLst/>
          </a:prstGeom>
          <a:ln w="12700">
            <a:solidFill>
              <a:srgbClr val="FF1DCE"/>
            </a:solidFill>
          </a:ln>
        </p:spPr>
        <p:style>
          <a:lnRef idx="1">
            <a:schemeClr val="accent1"/>
          </a:lnRef>
          <a:fillRef idx="0">
            <a:schemeClr val="accent1"/>
          </a:fillRef>
          <a:effectRef idx="0">
            <a:schemeClr val="accent1"/>
          </a:effectRef>
          <a:fontRef idx="minor">
            <a:schemeClr val="tx1"/>
          </a:fontRef>
        </p:style>
      </p:cxnSp>
      <p:pic>
        <p:nvPicPr>
          <p:cNvPr id="5" name="图像" descr="图像"/>
          <p:cNvPicPr>
            <a:picLocks noChangeAspect="1"/>
          </p:cNvPicPr>
          <p:nvPr userDrawn="1"/>
        </p:nvPicPr>
        <p:blipFill>
          <a:blip r:embed="rId2"/>
          <a:stretch>
            <a:fillRect/>
          </a:stretch>
        </p:blipFill>
        <p:spPr>
          <a:xfrm>
            <a:off x="10378983" y="6220368"/>
            <a:ext cx="789912" cy="317930"/>
          </a:xfrm>
          <a:prstGeom prst="rect">
            <a:avLst/>
          </a:prstGeom>
          <a:ln w="12700">
            <a:miter lim="400000"/>
            <a:headEnd/>
            <a:tailEnd/>
          </a:ln>
        </p:spPr>
      </p:pic>
      <p:sp>
        <p:nvSpPr>
          <p:cNvPr id="2"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
        <p:nvSpPr>
          <p:cNvPr id="7" name="Rectangle 2"/>
          <p:cNvSpPr>
            <a:spLocks noChangeArrowheads="1"/>
          </p:cNvSpPr>
          <p:nvPr userDrawn="1"/>
        </p:nvSpPr>
        <p:spPr bwMode="auto">
          <a:xfrm>
            <a:off x="9707870" y="30590"/>
            <a:ext cx="2183366" cy="252000"/>
          </a:xfrm>
          <a:prstGeom prst="rect">
            <a:avLst/>
          </a:prstGeom>
          <a:noFill/>
          <a:ln w="19050">
            <a:solidFill>
              <a:srgbClr val="FF0000"/>
            </a:solidFill>
            <a:miter lim="800000"/>
          </a:ln>
        </p:spPr>
        <p:txBody>
          <a:bodyPr lIns="0" tIns="0" rIns="0" bIns="0" anchor="ctr" anchorCtr="1"/>
          <a:lstStyle/>
          <a:p>
            <a:pPr algn="ctr"/>
            <a:r>
              <a:rPr lang="zh-CN" altLang="en-US" sz="1200" b="1" dirty="0">
                <a:solidFill>
                  <a:srgbClr val="FF0000"/>
                </a:solidFill>
                <a:latin typeface="Alibaba PuHuiTi 2.0 55 Regular" pitchFamily="18" charset="-122"/>
                <a:ea typeface="Alibaba PuHuiTi 2.0 55 Regular" pitchFamily="18" charset="-122"/>
                <a:cs typeface="Alibaba PuHuiTi 2.0 55 Regular" pitchFamily="18" charset="-122"/>
              </a:rPr>
              <a:t>普通商密  合规管理  严禁外传</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普通分割页-青柠绿">
    <p:spTree>
      <p:nvGrpSpPr>
        <p:cNvPr id="1" name=""/>
        <p:cNvGrpSpPr/>
        <p:nvPr/>
      </p:nvGrpSpPr>
      <p:grpSpPr>
        <a:xfrm>
          <a:off x="0" y="0"/>
          <a:ext cx="0" cy="0"/>
          <a:chOff x="0" y="0"/>
          <a:chExt cx="0" cy="0"/>
        </a:xfrm>
      </p:grpSpPr>
      <p:sp>
        <p:nvSpPr>
          <p:cNvPr id="6" name="Rectangle 5"/>
          <p:cNvSpPr/>
          <p:nvPr userDrawn="1"/>
        </p:nvSpPr>
        <p:spPr>
          <a:xfrm>
            <a:off x="-9626" y="2484253"/>
            <a:ext cx="45719" cy="1380015"/>
          </a:xfrm>
          <a:prstGeom prst="rect">
            <a:avLst/>
          </a:prstGeom>
          <a:solidFill>
            <a:srgbClr val="C1E2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10" name="Text Placeholder 3"/>
          <p:cNvSpPr>
            <a:spLocks noGrp="1"/>
          </p:cNvSpPr>
          <p:nvPr>
            <p:ph type="body" sz="quarter" idx="10" hasCustomPrompt="1"/>
          </p:nvPr>
        </p:nvSpPr>
        <p:spPr>
          <a:xfrm>
            <a:off x="988966" y="3433032"/>
            <a:ext cx="88812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2" name="Text Placeholder 3"/>
          <p:cNvSpPr>
            <a:spLocks noGrp="1"/>
          </p:cNvSpPr>
          <p:nvPr>
            <p:ph type="body" sz="quarter" idx="13" hasCustomPrompt="1"/>
          </p:nvPr>
        </p:nvSpPr>
        <p:spPr>
          <a:xfrm>
            <a:off x="988966" y="2514600"/>
            <a:ext cx="8881200" cy="914400"/>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cxnSp>
        <p:nvCxnSpPr>
          <p:cNvPr id="3" name="直接连接符 2"/>
          <p:cNvCxnSpPr/>
          <p:nvPr userDrawn="1"/>
        </p:nvCxnSpPr>
        <p:spPr>
          <a:xfrm>
            <a:off x="348129" y="6379333"/>
            <a:ext cx="9720000" cy="0"/>
          </a:xfrm>
          <a:prstGeom prst="line">
            <a:avLst/>
          </a:prstGeom>
          <a:ln w="12700">
            <a:solidFill>
              <a:srgbClr val="B0CC14"/>
            </a:solidFill>
          </a:ln>
        </p:spPr>
        <p:style>
          <a:lnRef idx="1">
            <a:schemeClr val="accent1"/>
          </a:lnRef>
          <a:fillRef idx="0">
            <a:schemeClr val="accent1"/>
          </a:fillRef>
          <a:effectRef idx="0">
            <a:schemeClr val="accent1"/>
          </a:effectRef>
          <a:fontRef idx="minor">
            <a:schemeClr val="tx1"/>
          </a:fontRef>
        </p:style>
      </p:cxnSp>
      <p:pic>
        <p:nvPicPr>
          <p:cNvPr id="4" name="图像" descr="图像"/>
          <p:cNvPicPr>
            <a:picLocks noChangeAspect="1"/>
          </p:cNvPicPr>
          <p:nvPr userDrawn="1"/>
        </p:nvPicPr>
        <p:blipFill>
          <a:blip r:embed="rId2"/>
          <a:stretch>
            <a:fillRect/>
          </a:stretch>
        </p:blipFill>
        <p:spPr>
          <a:xfrm>
            <a:off x="10378983" y="6220368"/>
            <a:ext cx="789912" cy="317930"/>
          </a:xfrm>
          <a:prstGeom prst="rect">
            <a:avLst/>
          </a:prstGeom>
          <a:ln w="12700">
            <a:miter lim="400000"/>
            <a:headEnd/>
            <a:tailEnd/>
          </a:ln>
        </p:spPr>
      </p:pic>
      <p:sp>
        <p:nvSpPr>
          <p:cNvPr id="2"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
        <p:nvSpPr>
          <p:cNvPr id="5" name="Rectangle 2"/>
          <p:cNvSpPr>
            <a:spLocks noChangeArrowheads="1"/>
          </p:cNvSpPr>
          <p:nvPr userDrawn="1"/>
        </p:nvSpPr>
        <p:spPr bwMode="auto">
          <a:xfrm>
            <a:off x="9707870" y="30590"/>
            <a:ext cx="2183366" cy="252000"/>
          </a:xfrm>
          <a:prstGeom prst="rect">
            <a:avLst/>
          </a:prstGeom>
          <a:noFill/>
          <a:ln w="19050">
            <a:solidFill>
              <a:srgbClr val="FF0000"/>
            </a:solidFill>
            <a:miter lim="800000"/>
          </a:ln>
        </p:spPr>
        <p:txBody>
          <a:bodyPr lIns="0" tIns="0" rIns="0" bIns="0" anchor="ctr" anchorCtr="1"/>
          <a:lstStyle/>
          <a:p>
            <a:pPr algn="ctr"/>
            <a:r>
              <a:rPr lang="zh-CN" altLang="en-US" sz="1200" b="1" dirty="0">
                <a:solidFill>
                  <a:srgbClr val="FF0000"/>
                </a:solidFill>
                <a:latin typeface="Alibaba PuHuiTi 2.0 55 Regular" pitchFamily="18" charset="-122"/>
                <a:ea typeface="Alibaba PuHuiTi 2.0 55 Regular" pitchFamily="18" charset="-122"/>
                <a:cs typeface="Alibaba PuHuiTi 2.0 55 Regular" pitchFamily="18" charset="-122"/>
              </a:rPr>
              <a:t>普通商密  合规管理  严禁外传</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普通分割页-午夜蓝">
    <p:spTree>
      <p:nvGrpSpPr>
        <p:cNvPr id="1" name=""/>
        <p:cNvGrpSpPr/>
        <p:nvPr/>
      </p:nvGrpSpPr>
      <p:grpSpPr>
        <a:xfrm>
          <a:off x="0" y="0"/>
          <a:ext cx="0" cy="0"/>
          <a:chOff x="0" y="0"/>
          <a:chExt cx="0" cy="0"/>
        </a:xfrm>
      </p:grpSpPr>
      <p:sp>
        <p:nvSpPr>
          <p:cNvPr id="6" name="Rectangle 5"/>
          <p:cNvSpPr/>
          <p:nvPr userDrawn="1"/>
        </p:nvSpPr>
        <p:spPr>
          <a:xfrm>
            <a:off x="-9626" y="2484253"/>
            <a:ext cx="45719" cy="1380015"/>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10" name="Text Placeholder 3"/>
          <p:cNvSpPr>
            <a:spLocks noGrp="1"/>
          </p:cNvSpPr>
          <p:nvPr>
            <p:ph type="body" sz="quarter" idx="10" hasCustomPrompt="1"/>
          </p:nvPr>
        </p:nvSpPr>
        <p:spPr>
          <a:xfrm>
            <a:off x="988966" y="3433032"/>
            <a:ext cx="88812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2" name="Text Placeholder 3"/>
          <p:cNvSpPr>
            <a:spLocks noGrp="1"/>
          </p:cNvSpPr>
          <p:nvPr>
            <p:ph type="body" sz="quarter" idx="13" hasCustomPrompt="1"/>
          </p:nvPr>
        </p:nvSpPr>
        <p:spPr>
          <a:xfrm>
            <a:off x="988966" y="2514600"/>
            <a:ext cx="8881200" cy="914400"/>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cxnSp>
        <p:nvCxnSpPr>
          <p:cNvPr id="3" name="直接连接符 2"/>
          <p:cNvCxnSpPr/>
          <p:nvPr userDrawn="1"/>
        </p:nvCxnSpPr>
        <p:spPr>
          <a:xfrm>
            <a:off x="348129" y="6379333"/>
            <a:ext cx="9720000" cy="0"/>
          </a:xfrm>
          <a:prstGeom prst="line">
            <a:avLst/>
          </a:prstGeom>
          <a:ln w="12700">
            <a:solidFill>
              <a:srgbClr val="4553FF"/>
            </a:solidFill>
          </a:ln>
        </p:spPr>
        <p:style>
          <a:lnRef idx="1">
            <a:schemeClr val="accent1"/>
          </a:lnRef>
          <a:fillRef idx="0">
            <a:schemeClr val="accent1"/>
          </a:fillRef>
          <a:effectRef idx="0">
            <a:schemeClr val="accent1"/>
          </a:effectRef>
          <a:fontRef idx="minor">
            <a:schemeClr val="tx1"/>
          </a:fontRef>
        </p:style>
      </p:cxnSp>
      <p:pic>
        <p:nvPicPr>
          <p:cNvPr id="4" name="图像" descr="图像"/>
          <p:cNvPicPr>
            <a:picLocks noChangeAspect="1"/>
          </p:cNvPicPr>
          <p:nvPr userDrawn="1"/>
        </p:nvPicPr>
        <p:blipFill>
          <a:blip r:embed="rId2"/>
          <a:stretch>
            <a:fillRect/>
          </a:stretch>
        </p:blipFill>
        <p:spPr>
          <a:xfrm>
            <a:off x="10378983" y="6220368"/>
            <a:ext cx="789912" cy="317930"/>
          </a:xfrm>
          <a:prstGeom prst="rect">
            <a:avLst/>
          </a:prstGeom>
          <a:ln w="12700">
            <a:miter lim="400000"/>
            <a:headEnd/>
            <a:tailEnd/>
          </a:ln>
        </p:spPr>
      </p:pic>
      <p:sp>
        <p:nvSpPr>
          <p:cNvPr id="2"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
        <p:nvSpPr>
          <p:cNvPr id="5" name="Rectangle 2"/>
          <p:cNvSpPr>
            <a:spLocks noChangeArrowheads="1"/>
          </p:cNvSpPr>
          <p:nvPr userDrawn="1"/>
        </p:nvSpPr>
        <p:spPr bwMode="auto">
          <a:xfrm>
            <a:off x="9707870" y="30590"/>
            <a:ext cx="2183366" cy="252000"/>
          </a:xfrm>
          <a:prstGeom prst="rect">
            <a:avLst/>
          </a:prstGeom>
          <a:noFill/>
          <a:ln w="19050">
            <a:solidFill>
              <a:srgbClr val="FF0000"/>
            </a:solidFill>
            <a:miter lim="800000"/>
          </a:ln>
        </p:spPr>
        <p:txBody>
          <a:bodyPr lIns="0" tIns="0" rIns="0" bIns="0" anchor="ctr" anchorCtr="1"/>
          <a:lstStyle/>
          <a:p>
            <a:pPr algn="ctr"/>
            <a:r>
              <a:rPr lang="zh-CN" altLang="en-US" sz="1200" b="1" dirty="0">
                <a:solidFill>
                  <a:srgbClr val="FF0000"/>
                </a:solidFill>
                <a:latin typeface="Alibaba PuHuiTi 2.0 55 Regular" pitchFamily="18" charset="-122"/>
                <a:ea typeface="Alibaba PuHuiTi 2.0 55 Regular" pitchFamily="18" charset="-122"/>
                <a:cs typeface="Alibaba PuHuiTi 2.0 55 Regular" pitchFamily="18" charset="-122"/>
              </a:rPr>
              <a:t>普通商密  合规管理  严禁外传</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_普通分割页-热品红">
    <p:spTree>
      <p:nvGrpSpPr>
        <p:cNvPr id="1" name=""/>
        <p:cNvGrpSpPr/>
        <p:nvPr/>
      </p:nvGrpSpPr>
      <p:grpSpPr>
        <a:xfrm>
          <a:off x="0" y="0"/>
          <a:ext cx="0" cy="0"/>
          <a:chOff x="0" y="0"/>
          <a:chExt cx="0" cy="0"/>
        </a:xfrm>
      </p:grpSpPr>
      <p:sp>
        <p:nvSpPr>
          <p:cNvPr id="6" name="Rectangle 5"/>
          <p:cNvSpPr/>
          <p:nvPr userDrawn="1"/>
        </p:nvSpPr>
        <p:spPr>
          <a:xfrm>
            <a:off x="-9626" y="2484253"/>
            <a:ext cx="45719" cy="1380015"/>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solidFill>
                <a:schemeClr val="bg1">
                  <a:lumMod val="10000"/>
                </a:schemeClr>
              </a:solidFill>
              <a:latin typeface="DIN Pro Regular" panose="02000503040000020003" pitchFamily="50" charset="0"/>
              <a:ea typeface="Alibaba PuHuiTi 2.0 55 Regular" pitchFamily="18" charset="-122"/>
            </a:endParaRPr>
          </a:p>
        </p:txBody>
      </p:sp>
      <p:sp>
        <p:nvSpPr>
          <p:cNvPr id="10" name="Text Placeholder 3"/>
          <p:cNvSpPr>
            <a:spLocks noGrp="1"/>
          </p:cNvSpPr>
          <p:nvPr>
            <p:ph type="body" sz="quarter" idx="10" hasCustomPrompt="1"/>
          </p:nvPr>
        </p:nvSpPr>
        <p:spPr>
          <a:xfrm>
            <a:off x="988966" y="3433032"/>
            <a:ext cx="88812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2" name="Text Placeholder 3"/>
          <p:cNvSpPr>
            <a:spLocks noGrp="1"/>
          </p:cNvSpPr>
          <p:nvPr>
            <p:ph type="body" sz="quarter" idx="13" hasCustomPrompt="1"/>
          </p:nvPr>
        </p:nvSpPr>
        <p:spPr>
          <a:xfrm>
            <a:off x="988966" y="2514600"/>
            <a:ext cx="8881200" cy="914400"/>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cxnSp>
        <p:nvCxnSpPr>
          <p:cNvPr id="3" name="直接连接符 2"/>
          <p:cNvCxnSpPr/>
          <p:nvPr userDrawn="1"/>
        </p:nvCxnSpPr>
        <p:spPr>
          <a:xfrm>
            <a:off x="348129" y="6379333"/>
            <a:ext cx="9720000" cy="0"/>
          </a:xfrm>
          <a:prstGeom prst="line">
            <a:avLst/>
          </a:prstGeom>
          <a:ln w="12700">
            <a:solidFill>
              <a:srgbClr val="FF1DCE"/>
            </a:solidFill>
          </a:ln>
        </p:spPr>
        <p:style>
          <a:lnRef idx="1">
            <a:schemeClr val="accent1"/>
          </a:lnRef>
          <a:fillRef idx="0">
            <a:schemeClr val="accent1"/>
          </a:fillRef>
          <a:effectRef idx="0">
            <a:schemeClr val="accent1"/>
          </a:effectRef>
          <a:fontRef idx="minor">
            <a:schemeClr val="tx1"/>
          </a:fontRef>
        </p:style>
      </p:cxnSp>
      <p:pic>
        <p:nvPicPr>
          <p:cNvPr id="4" name="图像" descr="图像"/>
          <p:cNvPicPr>
            <a:picLocks noChangeAspect="1"/>
          </p:cNvPicPr>
          <p:nvPr userDrawn="1"/>
        </p:nvPicPr>
        <p:blipFill>
          <a:blip r:embed="rId2"/>
          <a:stretch>
            <a:fillRect/>
          </a:stretch>
        </p:blipFill>
        <p:spPr>
          <a:xfrm>
            <a:off x="10378983" y="6220368"/>
            <a:ext cx="789912" cy="317930"/>
          </a:xfrm>
          <a:prstGeom prst="rect">
            <a:avLst/>
          </a:prstGeom>
          <a:ln w="12700">
            <a:miter lim="400000"/>
            <a:headEnd/>
            <a:tailEnd/>
          </a:ln>
        </p:spPr>
      </p:pic>
      <p:sp>
        <p:nvSpPr>
          <p:cNvPr id="2"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
        <p:nvSpPr>
          <p:cNvPr id="5" name="Rectangle 2"/>
          <p:cNvSpPr>
            <a:spLocks noChangeArrowheads="1"/>
          </p:cNvSpPr>
          <p:nvPr userDrawn="1"/>
        </p:nvSpPr>
        <p:spPr bwMode="auto">
          <a:xfrm>
            <a:off x="9707870" y="30590"/>
            <a:ext cx="2183366" cy="252000"/>
          </a:xfrm>
          <a:prstGeom prst="rect">
            <a:avLst/>
          </a:prstGeom>
          <a:noFill/>
          <a:ln w="19050">
            <a:solidFill>
              <a:srgbClr val="FF0000"/>
            </a:solidFill>
            <a:miter lim="800000"/>
          </a:ln>
        </p:spPr>
        <p:txBody>
          <a:bodyPr lIns="0" tIns="0" rIns="0" bIns="0" anchor="ctr" anchorCtr="1"/>
          <a:lstStyle/>
          <a:p>
            <a:pPr algn="ctr"/>
            <a:r>
              <a:rPr lang="zh-CN" altLang="en-US" sz="1200" b="1" dirty="0">
                <a:solidFill>
                  <a:srgbClr val="FF0000"/>
                </a:solidFill>
                <a:latin typeface="Alibaba PuHuiTi 2.0 55 Regular" pitchFamily="18" charset="-122"/>
                <a:ea typeface="Alibaba PuHuiTi 2.0 55 Regular" pitchFamily="18" charset="-122"/>
                <a:cs typeface="Alibaba PuHuiTi 2.0 55 Regular" pitchFamily="18" charset="-122"/>
              </a:rPr>
              <a:t>普通商密  合规管理  严禁外传</a:t>
            </a: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3_图文分割页-绿">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6100726" y="0"/>
            <a:ext cx="6096000" cy="6858000"/>
          </a:xfrm>
          <a:prstGeom prst="rect">
            <a:avLst/>
          </a:prstGeom>
          <a:solidFill>
            <a:schemeClr val="accent6">
              <a:lumMod val="20000"/>
              <a:lumOff val="80000"/>
            </a:schemeClr>
          </a:solidFill>
        </p:spPr>
        <p:txBody>
          <a:bodyPr/>
          <a:lstStyle>
            <a:lvl1pPr>
              <a:defRPr sz="1600"/>
            </a:lvl1pPr>
          </a:lstStyle>
          <a:p>
            <a:r>
              <a:rPr lang="en-US" dirty="0"/>
              <a:t>请在此处插入图片</a:t>
            </a:r>
          </a:p>
        </p:txBody>
      </p:sp>
      <p:sp>
        <p:nvSpPr>
          <p:cNvPr id="9" name="Text Placeholder 3"/>
          <p:cNvSpPr>
            <a:spLocks noGrp="1"/>
          </p:cNvSpPr>
          <p:nvPr>
            <p:ph type="body" sz="quarter" idx="11" hasCustomPrompt="1"/>
          </p:nvPr>
        </p:nvSpPr>
        <p:spPr>
          <a:xfrm>
            <a:off x="342356" y="2247899"/>
            <a:ext cx="5282963" cy="1898649"/>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11" name="Text Placeholder 3"/>
          <p:cNvSpPr>
            <a:spLocks noGrp="1"/>
          </p:cNvSpPr>
          <p:nvPr>
            <p:ph type="body" sz="quarter" idx="13" hasCustomPrompt="1"/>
          </p:nvPr>
        </p:nvSpPr>
        <p:spPr>
          <a:xfrm>
            <a:off x="342356" y="4146548"/>
            <a:ext cx="52848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0" name="Rectangle 5"/>
          <p:cNvSpPr/>
          <p:nvPr userDrawn="1"/>
        </p:nvSpPr>
        <p:spPr>
          <a:xfrm>
            <a:off x="-4689" y="2247899"/>
            <a:ext cx="45719" cy="2265627"/>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solidFill>
                <a:schemeClr val="bg1">
                  <a:lumMod val="10000"/>
                </a:schemeClr>
              </a:solidFill>
              <a:latin typeface="DIN Pro Regular" panose="02000503040000020003" pitchFamily="50" charset="0"/>
              <a:ea typeface="Alibaba PuHuiTi 2.0 55 Regular" pitchFamily="18" charset="-122"/>
            </a:endParaRPr>
          </a:p>
        </p:txBody>
      </p:sp>
      <p:cxnSp>
        <p:nvCxnSpPr>
          <p:cNvPr id="5" name="直接连接符 4"/>
          <p:cNvCxnSpPr/>
          <p:nvPr userDrawn="1"/>
        </p:nvCxnSpPr>
        <p:spPr>
          <a:xfrm>
            <a:off x="348129" y="6379333"/>
            <a:ext cx="9720000" cy="0"/>
          </a:xfrm>
          <a:prstGeom prst="line">
            <a:avLst/>
          </a:prstGeom>
          <a:ln w="12700">
            <a:solidFill>
              <a:srgbClr val="B0CC14"/>
            </a:solidFill>
          </a:ln>
        </p:spPr>
        <p:style>
          <a:lnRef idx="1">
            <a:schemeClr val="accent1"/>
          </a:lnRef>
          <a:fillRef idx="0">
            <a:schemeClr val="accent1"/>
          </a:fillRef>
          <a:effectRef idx="0">
            <a:schemeClr val="accent1"/>
          </a:effectRef>
          <a:fontRef idx="minor">
            <a:schemeClr val="tx1"/>
          </a:fontRef>
        </p:style>
      </p:cxnSp>
      <p:pic>
        <p:nvPicPr>
          <p:cNvPr id="6" name="图像" descr="图像"/>
          <p:cNvPicPr>
            <a:picLocks noChangeAspect="1"/>
          </p:cNvPicPr>
          <p:nvPr userDrawn="1"/>
        </p:nvPicPr>
        <p:blipFill>
          <a:blip r:embed="rId2"/>
          <a:stretch>
            <a:fillRect/>
          </a:stretch>
        </p:blipFill>
        <p:spPr>
          <a:xfrm>
            <a:off x="10378983" y="6220368"/>
            <a:ext cx="789912" cy="317930"/>
          </a:xfrm>
          <a:prstGeom prst="rect">
            <a:avLst/>
          </a:prstGeom>
          <a:ln w="12700">
            <a:miter lim="400000"/>
            <a:headEnd/>
            <a:tailEnd/>
          </a:ln>
        </p:spPr>
      </p:pic>
      <p:sp>
        <p:nvSpPr>
          <p:cNvPr id="2"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
        <p:nvSpPr>
          <p:cNvPr id="3" name="Rectangle 2"/>
          <p:cNvSpPr>
            <a:spLocks noChangeArrowheads="1"/>
          </p:cNvSpPr>
          <p:nvPr userDrawn="1"/>
        </p:nvSpPr>
        <p:spPr bwMode="auto">
          <a:xfrm>
            <a:off x="9707870" y="30590"/>
            <a:ext cx="2183366" cy="252000"/>
          </a:xfrm>
          <a:prstGeom prst="rect">
            <a:avLst/>
          </a:prstGeom>
          <a:noFill/>
          <a:ln w="19050">
            <a:solidFill>
              <a:srgbClr val="FF0000"/>
            </a:solidFill>
            <a:miter lim="800000"/>
          </a:ln>
        </p:spPr>
        <p:txBody>
          <a:bodyPr lIns="0" tIns="0" rIns="0" bIns="0" anchor="ctr" anchorCtr="1"/>
          <a:lstStyle/>
          <a:p>
            <a:pPr algn="ctr"/>
            <a:r>
              <a:rPr lang="zh-CN" altLang="en-US" sz="1200" b="1" dirty="0">
                <a:solidFill>
                  <a:srgbClr val="FF0000"/>
                </a:solidFill>
                <a:latin typeface="Alibaba PuHuiTi 2.0 55 Regular" pitchFamily="18" charset="-122"/>
                <a:ea typeface="Alibaba PuHuiTi 2.0 55 Regular" pitchFamily="18" charset="-122"/>
                <a:cs typeface="Alibaba PuHuiTi 2.0 55 Regular" pitchFamily="18" charset="-122"/>
              </a:rPr>
              <a:t>普通商密  合规管理  严禁外传</a:t>
            </a: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3_图文分割页-蓝">
    <p:spTree>
      <p:nvGrpSpPr>
        <p:cNvPr id="1" name=""/>
        <p:cNvGrpSpPr/>
        <p:nvPr/>
      </p:nvGrpSpPr>
      <p:grpSpPr>
        <a:xfrm>
          <a:off x="0" y="0"/>
          <a:ext cx="0" cy="0"/>
          <a:chOff x="0" y="0"/>
          <a:chExt cx="0" cy="0"/>
        </a:xfrm>
      </p:grpSpPr>
      <p:sp>
        <p:nvSpPr>
          <p:cNvPr id="3" name="Picture Placeholder 3"/>
          <p:cNvSpPr>
            <a:spLocks noGrp="1"/>
          </p:cNvSpPr>
          <p:nvPr>
            <p:ph type="pic" sz="quarter" idx="10" hasCustomPrompt="1"/>
          </p:nvPr>
        </p:nvSpPr>
        <p:spPr>
          <a:xfrm>
            <a:off x="6097745" y="1407"/>
            <a:ext cx="6096000" cy="6858000"/>
          </a:xfrm>
          <a:prstGeom prst="rect">
            <a:avLst/>
          </a:prstGeom>
          <a:solidFill>
            <a:schemeClr val="accent6">
              <a:lumMod val="20000"/>
              <a:lumOff val="80000"/>
            </a:schemeClr>
          </a:solidFill>
        </p:spPr>
        <p:txBody>
          <a:bodyPr/>
          <a:lstStyle>
            <a:lvl1pPr>
              <a:defRPr sz="1600"/>
            </a:lvl1pPr>
          </a:lstStyle>
          <a:p>
            <a:r>
              <a:rPr lang="en-US" dirty="0"/>
              <a:t>请在此处插入图片</a:t>
            </a:r>
          </a:p>
        </p:txBody>
      </p:sp>
      <p:sp>
        <p:nvSpPr>
          <p:cNvPr id="6" name="Rectangle 5"/>
          <p:cNvSpPr/>
          <p:nvPr userDrawn="1"/>
        </p:nvSpPr>
        <p:spPr>
          <a:xfrm>
            <a:off x="-4682" y="2247899"/>
            <a:ext cx="45719" cy="2265627"/>
          </a:xfrm>
          <a:prstGeom prst="rect">
            <a:avLst/>
          </a:prstGeom>
          <a:solidFill>
            <a:srgbClr val="455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solidFill>
                <a:schemeClr val="bg1">
                  <a:lumMod val="10000"/>
                </a:schemeClr>
              </a:solidFill>
              <a:latin typeface="DIN Pro Regular" panose="02000503040000020003" pitchFamily="50" charset="0"/>
              <a:ea typeface="Alibaba PuHuiTi 2.0 55 Regular" pitchFamily="18" charset="-122"/>
            </a:endParaRPr>
          </a:p>
        </p:txBody>
      </p:sp>
      <p:sp>
        <p:nvSpPr>
          <p:cNvPr id="7" name="Text Placeholder 3"/>
          <p:cNvSpPr>
            <a:spLocks noGrp="1"/>
          </p:cNvSpPr>
          <p:nvPr>
            <p:ph type="body" sz="quarter" idx="11" hasCustomPrompt="1"/>
          </p:nvPr>
        </p:nvSpPr>
        <p:spPr>
          <a:xfrm>
            <a:off x="342363" y="2247899"/>
            <a:ext cx="5282963" cy="1898649"/>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8" name="Text Placeholder 3"/>
          <p:cNvSpPr>
            <a:spLocks noGrp="1"/>
          </p:cNvSpPr>
          <p:nvPr>
            <p:ph type="body" sz="quarter" idx="13" hasCustomPrompt="1"/>
          </p:nvPr>
        </p:nvSpPr>
        <p:spPr>
          <a:xfrm>
            <a:off x="342363" y="4146548"/>
            <a:ext cx="52848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cxnSp>
        <p:nvCxnSpPr>
          <p:cNvPr id="4" name="直接连接符 3"/>
          <p:cNvCxnSpPr/>
          <p:nvPr userDrawn="1"/>
        </p:nvCxnSpPr>
        <p:spPr>
          <a:xfrm>
            <a:off x="348129" y="6379333"/>
            <a:ext cx="9720000" cy="0"/>
          </a:xfrm>
          <a:prstGeom prst="line">
            <a:avLst/>
          </a:prstGeom>
          <a:ln w="12700">
            <a:solidFill>
              <a:srgbClr val="4553FF"/>
            </a:solidFill>
          </a:ln>
        </p:spPr>
        <p:style>
          <a:lnRef idx="1">
            <a:schemeClr val="accent1"/>
          </a:lnRef>
          <a:fillRef idx="0">
            <a:schemeClr val="accent1"/>
          </a:fillRef>
          <a:effectRef idx="0">
            <a:schemeClr val="accent1"/>
          </a:effectRef>
          <a:fontRef idx="minor">
            <a:schemeClr val="tx1"/>
          </a:fontRef>
        </p:style>
      </p:cxnSp>
      <p:pic>
        <p:nvPicPr>
          <p:cNvPr id="5" name="图像" descr="图像"/>
          <p:cNvPicPr>
            <a:picLocks noChangeAspect="1"/>
          </p:cNvPicPr>
          <p:nvPr userDrawn="1"/>
        </p:nvPicPr>
        <p:blipFill>
          <a:blip r:embed="rId2"/>
          <a:stretch>
            <a:fillRect/>
          </a:stretch>
        </p:blipFill>
        <p:spPr>
          <a:xfrm>
            <a:off x="10378983" y="6220368"/>
            <a:ext cx="789912" cy="317930"/>
          </a:xfrm>
          <a:prstGeom prst="rect">
            <a:avLst/>
          </a:prstGeom>
          <a:ln w="12700">
            <a:miter lim="400000"/>
            <a:headEnd/>
            <a:tailEnd/>
          </a:ln>
        </p:spPr>
      </p:pic>
      <p:sp>
        <p:nvSpPr>
          <p:cNvPr id="2"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
        <p:nvSpPr>
          <p:cNvPr id="9" name="Rectangle 2"/>
          <p:cNvSpPr>
            <a:spLocks noChangeArrowheads="1"/>
          </p:cNvSpPr>
          <p:nvPr userDrawn="1"/>
        </p:nvSpPr>
        <p:spPr bwMode="auto">
          <a:xfrm>
            <a:off x="9707870" y="30590"/>
            <a:ext cx="2183366" cy="252000"/>
          </a:xfrm>
          <a:prstGeom prst="rect">
            <a:avLst/>
          </a:prstGeom>
          <a:noFill/>
          <a:ln w="19050">
            <a:solidFill>
              <a:srgbClr val="FF0000"/>
            </a:solidFill>
            <a:miter lim="800000"/>
          </a:ln>
        </p:spPr>
        <p:txBody>
          <a:bodyPr lIns="0" tIns="0" rIns="0" bIns="0" anchor="ctr" anchorCtr="1"/>
          <a:lstStyle/>
          <a:p>
            <a:pPr algn="ctr"/>
            <a:r>
              <a:rPr lang="zh-CN" altLang="en-US" sz="1200" b="1" dirty="0">
                <a:solidFill>
                  <a:srgbClr val="FF0000"/>
                </a:solidFill>
                <a:latin typeface="Alibaba PuHuiTi 2.0 55 Regular" pitchFamily="18" charset="-122"/>
                <a:ea typeface="Alibaba PuHuiTi 2.0 55 Regular" pitchFamily="18" charset="-122"/>
                <a:cs typeface="Alibaba PuHuiTi 2.0 55 Regular" pitchFamily="18" charset="-122"/>
              </a:rPr>
              <a:t>普通商密  合规管理  严禁外传</a:t>
            </a: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_图文分割页-红">
    <p:spTree>
      <p:nvGrpSpPr>
        <p:cNvPr id="1" name=""/>
        <p:cNvGrpSpPr/>
        <p:nvPr/>
      </p:nvGrpSpPr>
      <p:grpSpPr>
        <a:xfrm>
          <a:off x="0" y="0"/>
          <a:ext cx="0" cy="0"/>
          <a:chOff x="0" y="0"/>
          <a:chExt cx="0" cy="0"/>
        </a:xfrm>
      </p:grpSpPr>
      <p:sp>
        <p:nvSpPr>
          <p:cNvPr id="3" name="Picture Placeholder 3"/>
          <p:cNvSpPr>
            <a:spLocks noGrp="1"/>
          </p:cNvSpPr>
          <p:nvPr>
            <p:ph type="pic" sz="quarter" idx="10" hasCustomPrompt="1"/>
          </p:nvPr>
        </p:nvSpPr>
        <p:spPr>
          <a:xfrm>
            <a:off x="6097745" y="0"/>
            <a:ext cx="6096000" cy="6858000"/>
          </a:xfrm>
          <a:prstGeom prst="rect">
            <a:avLst/>
          </a:prstGeom>
          <a:solidFill>
            <a:schemeClr val="accent6">
              <a:lumMod val="20000"/>
              <a:lumOff val="80000"/>
            </a:schemeClr>
          </a:solidFill>
        </p:spPr>
        <p:txBody>
          <a:bodyPr/>
          <a:lstStyle>
            <a:lvl1pPr>
              <a:defRPr sz="1600"/>
            </a:lvl1pPr>
          </a:lstStyle>
          <a:p>
            <a:r>
              <a:rPr lang="en-US" dirty="0"/>
              <a:t>请在此处插入图片</a:t>
            </a:r>
          </a:p>
        </p:txBody>
      </p:sp>
      <p:sp>
        <p:nvSpPr>
          <p:cNvPr id="6" name="Rectangle 5"/>
          <p:cNvSpPr/>
          <p:nvPr userDrawn="1"/>
        </p:nvSpPr>
        <p:spPr>
          <a:xfrm>
            <a:off x="-4682" y="2247899"/>
            <a:ext cx="45719" cy="2265627"/>
          </a:xfrm>
          <a:prstGeom prst="rect">
            <a:avLst/>
          </a:prstGeom>
          <a:solidFill>
            <a:srgbClr val="FF1D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sp>
        <p:nvSpPr>
          <p:cNvPr id="7" name="Text Placeholder 3"/>
          <p:cNvSpPr>
            <a:spLocks noGrp="1"/>
          </p:cNvSpPr>
          <p:nvPr>
            <p:ph type="body" sz="quarter" idx="11" hasCustomPrompt="1"/>
          </p:nvPr>
        </p:nvSpPr>
        <p:spPr>
          <a:xfrm>
            <a:off x="342363" y="2247899"/>
            <a:ext cx="5282963" cy="1898649"/>
          </a:xfrm>
          <a:prstGeom prst="rect">
            <a:avLst/>
          </a:prstGeom>
        </p:spPr>
        <p:txBody>
          <a:bodyPr lIns="0" tIns="0" rIns="0" anchor="ctr" anchorCtr="0"/>
          <a:lstStyle>
            <a:lvl1pPr marL="0" indent="0">
              <a:buNone/>
              <a:defRPr kumimoji="0" lang="zh-CN" altLang="en-US" sz="64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请在此输入分隔页标题</a:t>
            </a:r>
          </a:p>
        </p:txBody>
      </p:sp>
      <p:sp>
        <p:nvSpPr>
          <p:cNvPr id="8" name="Text Placeholder 3"/>
          <p:cNvSpPr>
            <a:spLocks noGrp="1"/>
          </p:cNvSpPr>
          <p:nvPr>
            <p:ph type="body" sz="quarter" idx="13" hasCustomPrompt="1"/>
          </p:nvPr>
        </p:nvSpPr>
        <p:spPr>
          <a:xfrm>
            <a:off x="342363" y="4146548"/>
            <a:ext cx="5284800" cy="366978"/>
          </a:xfrm>
          <a:prstGeom prst="rect">
            <a:avLst/>
          </a:prstGeom>
        </p:spPr>
        <p:txBody>
          <a:bodyPr lIns="0" tIns="0" rIns="0" bIns="0" anchor="ctr" anchorCtr="0"/>
          <a:lstStyle>
            <a:lvl1pPr marL="47625" indent="0">
              <a:buNone/>
              <a:defRPr kumimoji="0" lang="zh-CN" altLang="en-US" sz="1600" b="0" i="0" u="none" strike="noStrike" kern="0" cap="none" spc="0" normalizeH="0" baseline="0" dirty="0">
                <a:ln>
                  <a:noFill/>
                </a:ln>
                <a:solidFill>
                  <a:schemeClr val="bg1">
                    <a:lumMod val="10000"/>
                  </a:schemeClr>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cxnSp>
        <p:nvCxnSpPr>
          <p:cNvPr id="5" name="直接连接符 4"/>
          <p:cNvCxnSpPr/>
          <p:nvPr userDrawn="1"/>
        </p:nvCxnSpPr>
        <p:spPr>
          <a:xfrm>
            <a:off x="348129" y="6379333"/>
            <a:ext cx="9720000" cy="0"/>
          </a:xfrm>
          <a:prstGeom prst="line">
            <a:avLst/>
          </a:prstGeom>
          <a:ln w="12700">
            <a:solidFill>
              <a:srgbClr val="FF1DCE"/>
            </a:solidFill>
          </a:ln>
        </p:spPr>
        <p:style>
          <a:lnRef idx="1">
            <a:schemeClr val="accent1"/>
          </a:lnRef>
          <a:fillRef idx="0">
            <a:schemeClr val="accent1"/>
          </a:fillRef>
          <a:effectRef idx="0">
            <a:schemeClr val="accent1"/>
          </a:effectRef>
          <a:fontRef idx="minor">
            <a:schemeClr val="tx1"/>
          </a:fontRef>
        </p:style>
      </p:cxnSp>
      <p:pic>
        <p:nvPicPr>
          <p:cNvPr id="9" name="图像" descr="图像"/>
          <p:cNvPicPr>
            <a:picLocks noChangeAspect="1"/>
          </p:cNvPicPr>
          <p:nvPr userDrawn="1"/>
        </p:nvPicPr>
        <p:blipFill>
          <a:blip r:embed="rId2"/>
          <a:stretch>
            <a:fillRect/>
          </a:stretch>
        </p:blipFill>
        <p:spPr>
          <a:xfrm>
            <a:off x="10378983" y="6220368"/>
            <a:ext cx="789912" cy="317930"/>
          </a:xfrm>
          <a:prstGeom prst="rect">
            <a:avLst/>
          </a:prstGeom>
          <a:ln w="12700">
            <a:miter lim="400000"/>
            <a:headEnd/>
            <a:tailEnd/>
          </a:ln>
        </p:spPr>
      </p:pic>
      <p:sp>
        <p:nvSpPr>
          <p:cNvPr id="2"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
        <p:nvSpPr>
          <p:cNvPr id="4" name="Rectangle 2"/>
          <p:cNvSpPr>
            <a:spLocks noChangeArrowheads="1"/>
          </p:cNvSpPr>
          <p:nvPr userDrawn="1"/>
        </p:nvSpPr>
        <p:spPr bwMode="auto">
          <a:xfrm>
            <a:off x="9707870" y="30590"/>
            <a:ext cx="2183366" cy="252000"/>
          </a:xfrm>
          <a:prstGeom prst="rect">
            <a:avLst/>
          </a:prstGeom>
          <a:noFill/>
          <a:ln w="19050">
            <a:solidFill>
              <a:srgbClr val="FF0000"/>
            </a:solidFill>
            <a:miter lim="800000"/>
          </a:ln>
        </p:spPr>
        <p:txBody>
          <a:bodyPr lIns="0" tIns="0" rIns="0" bIns="0" anchor="ctr" anchorCtr="1"/>
          <a:lstStyle/>
          <a:p>
            <a:pPr algn="ctr"/>
            <a:r>
              <a:rPr lang="zh-CN" altLang="en-US" sz="1200" b="1" dirty="0">
                <a:solidFill>
                  <a:srgbClr val="FF0000"/>
                </a:solidFill>
                <a:latin typeface="Alibaba PuHuiTi 2.0 55 Regular" pitchFamily="18" charset="-122"/>
                <a:ea typeface="Alibaba PuHuiTi 2.0 55 Regular" pitchFamily="18" charset="-122"/>
                <a:cs typeface="Alibaba PuHuiTi 2.0 55 Regular" pitchFamily="18" charset="-122"/>
              </a:rPr>
              <a:t>普通商密  合规管理  严禁外传</a:t>
            </a: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标题页-青柠绿">
    <p:spTree>
      <p:nvGrpSpPr>
        <p:cNvPr id="1" name=""/>
        <p:cNvGrpSpPr/>
        <p:nvPr/>
      </p:nvGrpSpPr>
      <p:grpSpPr>
        <a:xfrm>
          <a:off x="0" y="0"/>
          <a:ext cx="0" cy="0"/>
          <a:chOff x="0" y="0"/>
          <a:chExt cx="0" cy="0"/>
        </a:xfrm>
      </p:grpSpPr>
      <p:pic>
        <p:nvPicPr>
          <p:cNvPr id="3" name="Picture 11" descr="Text&#10;&#10;Description automatically generated"/>
          <p:cNvPicPr>
            <a:picLocks noChangeAspect="1"/>
          </p:cNvPicPr>
          <p:nvPr userDrawn="1"/>
        </p:nvPicPr>
        <p:blipFill>
          <a:blip r:embed="rId2"/>
          <a:stretch>
            <a:fillRect/>
          </a:stretch>
        </p:blipFill>
        <p:spPr>
          <a:xfrm>
            <a:off x="10493255" y="5767770"/>
            <a:ext cx="1288283" cy="772625"/>
          </a:xfrm>
          <a:prstGeom prst="rect">
            <a:avLst/>
          </a:prstGeom>
        </p:spPr>
      </p:pic>
      <p:sp>
        <p:nvSpPr>
          <p:cNvPr id="6" name="Text Placeholder 13"/>
          <p:cNvSpPr>
            <a:spLocks noGrp="1"/>
          </p:cNvSpPr>
          <p:nvPr>
            <p:ph type="body" sz="quarter" idx="10" hasCustomPrompt="1"/>
          </p:nvPr>
        </p:nvSpPr>
        <p:spPr>
          <a:xfrm>
            <a:off x="731838" y="1757874"/>
            <a:ext cx="8145842" cy="902298"/>
          </a:xfrm>
          <a:prstGeom prst="rect">
            <a:avLst/>
          </a:prstGeom>
        </p:spPr>
        <p:txBody>
          <a:bodyPr wrap="square" lIns="0" tIns="0" rIns="0" bIns="0" anchor="t" anchorCtr="0">
            <a:spAutoFit/>
          </a:bodyPr>
          <a:lstStyle>
            <a:lvl1pPr marL="12700" indent="0">
              <a:buNone/>
              <a:defRPr lang="zh-CN" altLang="en-US" sz="6400" b="0" i="0" kern="1200" spc="-150" baseline="0" dirty="0" smtClean="0">
                <a:solidFill>
                  <a:schemeClr val="bg1">
                    <a:lumMod val="10000"/>
                  </a:schemeClr>
                </a:solidFill>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请在此处输入封面标题</a:t>
            </a:r>
          </a:p>
        </p:txBody>
      </p:sp>
      <p:sp>
        <p:nvSpPr>
          <p:cNvPr id="7" name="Content Placeholder 15"/>
          <p:cNvSpPr>
            <a:spLocks noGrp="1"/>
          </p:cNvSpPr>
          <p:nvPr>
            <p:ph sz="quarter" idx="11" hasCustomPrompt="1"/>
          </p:nvPr>
        </p:nvSpPr>
        <p:spPr>
          <a:xfrm>
            <a:off x="731838" y="2704821"/>
            <a:ext cx="5417895" cy="370678"/>
          </a:xfrm>
          <a:prstGeom prst="rect">
            <a:avLst/>
          </a:prstGeom>
        </p:spPr>
        <p:txBody>
          <a:bodyPr lIns="0" tIns="0" rIns="0" bIns="0" anchor="ctr" anchorCtr="0"/>
          <a:lstStyle>
            <a:lvl1pPr marL="46355" indent="0">
              <a:buNone/>
              <a:defRPr sz="1600" b="0" i="0" spc="0" baseline="0">
                <a:solidFill>
                  <a:schemeClr val="bg1">
                    <a:lumMod val="10000"/>
                  </a:schemeClr>
                </a:solidFill>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10" name="Content Placeholder 15"/>
          <p:cNvSpPr>
            <a:spLocks noGrp="1"/>
          </p:cNvSpPr>
          <p:nvPr>
            <p:ph sz="quarter" idx="12" hasCustomPrompt="1"/>
          </p:nvPr>
        </p:nvSpPr>
        <p:spPr>
          <a:xfrm>
            <a:off x="731838" y="3014242"/>
            <a:ext cx="5417895" cy="370678"/>
          </a:xfrm>
          <a:prstGeom prst="rect">
            <a:avLst/>
          </a:prstGeom>
        </p:spPr>
        <p:txBody>
          <a:bodyPr lIns="0" tIns="0" rIns="0" bIns="0" anchor="ctr" anchorCtr="0"/>
          <a:lstStyle>
            <a:lvl1pPr marL="46355"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600" b="0" i="0" spc="0" baseline="0">
                <a:solidFill>
                  <a:schemeClr val="bg1">
                    <a:lumMod val="10000"/>
                  </a:schemeClr>
                </a:solidFill>
                <a:latin typeface="DIN Pro Regular" panose="02000503040000020003" pitchFamily="50" charset="0"/>
                <a:ea typeface="Alibaba PuHuiTi 2.0 55 Regular" pitchFamily="18" charset="-122"/>
                <a:cs typeface="Alibaba PuHuiTi 2.0 55 Regular" pitchFamily="18" charset="-122"/>
              </a:defRPr>
            </a:lvl1pPr>
          </a:lstStyle>
          <a:p>
            <a:pPr marL="46355"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请在此处输入日期</a:t>
            </a: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单文本框文字内容页-青柠绿">
    <p:spTree>
      <p:nvGrpSpPr>
        <p:cNvPr id="1" name=""/>
        <p:cNvGrpSpPr/>
        <p:nvPr/>
      </p:nvGrpSpPr>
      <p:grpSpPr>
        <a:xfrm>
          <a:off x="0" y="0"/>
          <a:ext cx="0" cy="0"/>
          <a:chOff x="0" y="0"/>
          <a:chExt cx="0" cy="0"/>
        </a:xfrm>
      </p:grpSpPr>
      <p:sp>
        <p:nvSpPr>
          <p:cNvPr id="11" name="Text Placeholder 10"/>
          <p:cNvSpPr>
            <a:spLocks noGrp="1"/>
          </p:cNvSpPr>
          <p:nvPr>
            <p:ph type="body" sz="quarter" idx="14" hasCustomPrompt="1"/>
          </p:nvPr>
        </p:nvSpPr>
        <p:spPr>
          <a:xfrm>
            <a:off x="297723" y="1538573"/>
            <a:ext cx="11589477" cy="4480121"/>
          </a:xfrm>
          <a:prstGeom prst="rect">
            <a:avLst/>
          </a:prstGeom>
        </p:spPr>
        <p:txBody>
          <a:bodyPr lIns="0" tIns="0" rIns="0" bIns="0"/>
          <a:lstStyle>
            <a:lvl1pPr marL="12700" indent="0">
              <a:lnSpc>
                <a:spcPct val="150000"/>
              </a:lnSpc>
              <a:buNone/>
              <a:defRPr sz="16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sz="1200" b="0" i="0">
                <a:latin typeface="Alibaba PuHuiTi 2.0 55 Regular" pitchFamily="18" charset="-122"/>
                <a:ea typeface="Alibaba PuHuiTi 2.0 55 Regular" pitchFamily="18" charset="-122"/>
                <a:cs typeface="Alibaba PuHuiTi 2.0 55 Regular" pitchFamily="18" charset="-122"/>
              </a:defRPr>
            </a:lvl2pPr>
            <a:lvl3pPr marL="914400" indent="0">
              <a:buNone/>
              <a:defRPr sz="1200" b="0" i="0">
                <a:latin typeface="Alibaba PuHuiTi 2.0 55 Regular" pitchFamily="18" charset="-122"/>
                <a:ea typeface="Alibaba PuHuiTi 2.0 55 Regular" pitchFamily="18" charset="-122"/>
                <a:cs typeface="Alibaba PuHuiTi 2.0 55 Regular" pitchFamily="18" charset="-122"/>
              </a:defRPr>
            </a:lvl3pPr>
            <a:lvl4pPr marL="1371600" indent="0">
              <a:buNone/>
              <a:defRPr sz="1200" b="0" i="0">
                <a:latin typeface="Alibaba PuHuiTi 2.0 55 Regular" pitchFamily="18" charset="-122"/>
                <a:ea typeface="Alibaba PuHuiTi 2.0 55 Regular" pitchFamily="18" charset="-122"/>
                <a:cs typeface="Alibaba PuHuiTi 2.0 55 Regular" pitchFamily="18" charset="-122"/>
              </a:defRPr>
            </a:lvl4pPr>
            <a:lvl5pPr marL="1828800" indent="0">
              <a:buNone/>
              <a:defRPr sz="1200" b="0" i="0">
                <a:latin typeface="Alibaba PuHuiTi 2.0 55 Regular" pitchFamily="18" charset="-122"/>
                <a:ea typeface="Alibaba PuHuiTi 2.0 55 Regular" pitchFamily="18" charset="-122"/>
                <a:cs typeface="Alibaba PuHuiTi 2.0 55 Regular" pitchFamily="18" charset="-122"/>
              </a:defRPr>
            </a:lvl5pPr>
          </a:lstStyle>
          <a:p>
            <a:pPr lvl="0"/>
            <a:r>
              <a:rPr lang="en-GB" dirty="0" err="1"/>
              <a:t>请在此处输入正文</a:t>
            </a:r>
            <a:endParaRPr lang="en-US" dirty="0"/>
          </a:p>
        </p:txBody>
      </p:sp>
      <p:sp>
        <p:nvSpPr>
          <p:cNvPr id="18" name="Text Placeholder 24"/>
          <p:cNvSpPr>
            <a:spLocks noGrp="1"/>
          </p:cNvSpPr>
          <p:nvPr>
            <p:ph type="body" sz="quarter" idx="21" hasCustomPrompt="1"/>
          </p:nvPr>
        </p:nvSpPr>
        <p:spPr>
          <a:xfrm>
            <a:off x="302944" y="339516"/>
            <a:ext cx="11547559" cy="499789"/>
          </a:xfrm>
          <a:prstGeom prst="rect">
            <a:avLst/>
          </a:prstGeom>
        </p:spPr>
        <p:txBody>
          <a:bodyPr lIns="0" tIns="0" rIns="0" bIns="0" anchor="ctr" anchorCtr="0"/>
          <a:lstStyle>
            <a:lvl1pPr marL="0" indent="0" algn="l">
              <a:buNone/>
              <a:defRPr sz="2400" b="0" i="0" baseline="0">
                <a:latin typeface="DIN Pro Regular" panose="02000503040000020003" pitchFamily="50" charset="0"/>
                <a:ea typeface="Alibaba PuHuiTi 2.0 55 Regular" pitchFamily="18" charset="-122"/>
                <a:cs typeface="Alibaba PuHuiTi 2.0 55 Regular" pitchFamily="18"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GB" dirty="0" err="1"/>
              <a:t>请在此处输入标题</a:t>
            </a:r>
            <a:endParaRPr lang="en-US" dirty="0"/>
          </a:p>
        </p:txBody>
      </p:sp>
      <p:sp>
        <p:nvSpPr>
          <p:cNvPr id="19" name="Text Placeholder 3"/>
          <p:cNvSpPr>
            <a:spLocks noGrp="1"/>
          </p:cNvSpPr>
          <p:nvPr>
            <p:ph type="body" sz="quarter" idx="22" hasCustomPrompt="1"/>
          </p:nvPr>
        </p:nvSpPr>
        <p:spPr>
          <a:xfrm>
            <a:off x="311065" y="906889"/>
            <a:ext cx="11547560" cy="345747"/>
          </a:xfrm>
          <a:prstGeom prst="rect">
            <a:avLst/>
          </a:prstGeom>
          <a:noFill/>
        </p:spPr>
        <p:txBody>
          <a:bodyPr lIns="0" tIns="0" rIns="0" bIns="0" anchor="t" anchorCtr="0"/>
          <a:lstStyle>
            <a:lvl1pPr marL="0" indent="0" algn="l">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stStyle>
          <a:p>
            <a:pPr lvl="0"/>
            <a:r>
              <a:rPr lang="zh-CN" altLang="en-US" dirty="0"/>
              <a:t>请在此处输入副标题</a:t>
            </a:r>
          </a:p>
        </p:txBody>
      </p:sp>
      <p:sp>
        <p:nvSpPr>
          <p:cNvPr id="8"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BE00B666-AD48-5640-8D08-2A4A6036569F}" type="slidenum">
              <a:rPr lang="zh-CN" altLang="en-US" smtClean="0"/>
              <a:t>‹#›</a:t>
            </a:fld>
            <a:endParaRPr lang="zh-CN" altLang="en-US" dirty="0"/>
          </a:p>
        </p:txBody>
      </p:sp>
      <p:sp>
        <p:nvSpPr>
          <p:cNvPr id="7" name="Rectangle 5"/>
          <p:cNvSpPr/>
          <p:nvPr userDrawn="1"/>
        </p:nvSpPr>
        <p:spPr>
          <a:xfrm flipH="1">
            <a:off x="-2408" y="339517"/>
            <a:ext cx="45719" cy="913122"/>
          </a:xfrm>
          <a:prstGeom prst="rect">
            <a:avLst/>
          </a:prstGeom>
          <a:solidFill>
            <a:srgbClr val="B0CC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0">
              <a:latin typeface="DIN Pro Regular" panose="02000503040000020003" pitchFamily="50" charset="0"/>
              <a:ea typeface="Alibaba PuHuiTi 2.0 55 Regular" pitchFamily="18" charset="-122"/>
            </a:endParaRPr>
          </a:p>
        </p:txBody>
      </p:sp>
      <p:cxnSp>
        <p:nvCxnSpPr>
          <p:cNvPr id="3" name="直接连接符 2"/>
          <p:cNvCxnSpPr/>
          <p:nvPr userDrawn="1"/>
        </p:nvCxnSpPr>
        <p:spPr>
          <a:xfrm>
            <a:off x="282490" y="859265"/>
            <a:ext cx="11576135"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258096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777639-7322-5A0D-82B7-771F7DE627F2}"/>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灯片编号占位符 2">
            <a:extLst>
              <a:ext uri="{FF2B5EF4-FFF2-40B4-BE49-F238E27FC236}">
                <a16:creationId xmlns:a16="http://schemas.microsoft.com/office/drawing/2014/main" id="{C015E153-AF32-2E7D-F67D-6F8C36AD86A0}"/>
              </a:ext>
            </a:extLst>
          </p:cNvPr>
          <p:cNvSpPr>
            <a:spLocks noGrp="1"/>
          </p:cNvSpPr>
          <p:nvPr>
            <p:ph type="sldNum" sz="quarter" idx="10"/>
          </p:nvPr>
        </p:nvSpPr>
        <p:spPr/>
        <p:txBody>
          <a:bodyPr/>
          <a:lstStyle/>
          <a:p>
            <a:fld id="{5BC33376-1D8B-E948-ACD6-AA21A3D30A8E}" type="slidenum">
              <a:rPr lang="zh-CN" altLang="en-US" smtClean="0"/>
              <a:t>‹#›</a:t>
            </a:fld>
            <a:endParaRPr lang="zh-CN" altLang="en-US" dirty="0"/>
          </a:p>
        </p:txBody>
      </p:sp>
    </p:spTree>
    <p:extLst>
      <p:ext uri="{BB962C8B-B14F-4D97-AF65-F5344CB8AC3E}">
        <p14:creationId xmlns:p14="http://schemas.microsoft.com/office/powerpoint/2010/main" val="327585608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空白">
    <p:spTree>
      <p:nvGrpSpPr>
        <p:cNvPr id="1" name=""/>
        <p:cNvGrpSpPr/>
        <p:nvPr/>
      </p:nvGrpSpPr>
      <p:grpSpPr>
        <a:xfrm>
          <a:off x="0" y="0"/>
          <a:ext cx="0" cy="0"/>
          <a:chOff x="0" y="0"/>
          <a:chExt cx="0" cy="0"/>
        </a:xfrm>
      </p:grpSpPr>
      <p:sp>
        <p:nvSpPr>
          <p:cNvPr id="11" name="文本占位符 10"/>
          <p:cNvSpPr>
            <a:spLocks noGrp="1"/>
          </p:cNvSpPr>
          <p:nvPr>
            <p:ph type="body" sz="quarter" idx="11"/>
          </p:nvPr>
        </p:nvSpPr>
        <p:spPr>
          <a:xfrm>
            <a:off x="778488" y="2118273"/>
            <a:ext cx="4254012" cy="338554"/>
          </a:xfrm>
          <a:prstGeom prst="rect">
            <a:avLst/>
          </a:prstGeom>
          <a:noFill/>
        </p:spPr>
        <p:txBody>
          <a:bodyPr wrap="square" rtlCol="0">
            <a:spAutoFit/>
          </a:bodyPr>
          <a:lstStyle>
            <a:lvl1pPr marL="0" indent="0">
              <a:buNone/>
              <a:defRPr kumimoji="1" lang="zh-CN" altLang="en-US" sz="1600" kern="1200" smtClean="0">
                <a:solidFill>
                  <a:srgbClr val="000000"/>
                </a:solidFill>
                <a:latin typeface="+mn-ea"/>
                <a:ea typeface="Alibaba PuHuiTi 2.0 55 Regular"/>
              </a:defRPr>
            </a:lvl1pPr>
          </a:lstStyle>
          <a:p>
            <a:pPr lvl="0"/>
            <a:r>
              <a:rPr lang="zh-CN" altLang="en-US" dirty="0"/>
              <a:t>单击此处编辑母版文本样式</a:t>
            </a:r>
          </a:p>
        </p:txBody>
      </p:sp>
      <p:sp>
        <p:nvSpPr>
          <p:cNvPr id="13" name="文本占位符 12"/>
          <p:cNvSpPr>
            <a:spLocks noGrp="1"/>
          </p:cNvSpPr>
          <p:nvPr>
            <p:ph type="body" sz="quarter" idx="12"/>
          </p:nvPr>
        </p:nvSpPr>
        <p:spPr>
          <a:xfrm>
            <a:off x="778486" y="1191466"/>
            <a:ext cx="10635028" cy="760837"/>
          </a:xfrm>
          <a:prstGeom prst="rect">
            <a:avLst/>
          </a:prstGeom>
        </p:spPr>
        <p:txBody>
          <a:bodyPr/>
          <a:lstStyle>
            <a:lvl1pPr marL="0" indent="0">
              <a:spcBef>
                <a:spcPts val="0"/>
              </a:spcBef>
              <a:buNone/>
              <a:defRPr lang="zh-CN" altLang="en-US" sz="1800" b="1" kern="1200" dirty="0" smtClean="0">
                <a:solidFill>
                  <a:srgbClr val="000000"/>
                </a:solidFill>
                <a:latin typeface="+mn-ea"/>
                <a:ea typeface="Alibaba PuHuiTi 2.0 55 Regular"/>
                <a:cs typeface="+mj-cs"/>
              </a:defRPr>
            </a:lvl1pPr>
          </a:lstStyle>
          <a:p>
            <a:pPr lvl="0"/>
            <a:r>
              <a:rPr lang="zh-CN" altLang="en-US" dirty="0"/>
              <a:t>单击此处编辑母版文本样式</a:t>
            </a:r>
          </a:p>
        </p:txBody>
      </p:sp>
      <p:sp>
        <p:nvSpPr>
          <p:cNvPr id="6" name="文本占位符 10"/>
          <p:cNvSpPr>
            <a:spLocks noGrp="1"/>
          </p:cNvSpPr>
          <p:nvPr>
            <p:ph type="body" sz="quarter" idx="13"/>
          </p:nvPr>
        </p:nvSpPr>
        <p:spPr>
          <a:xfrm>
            <a:off x="778488" y="696334"/>
            <a:ext cx="5583388" cy="461665"/>
          </a:xfrm>
          <a:prstGeom prst="rect">
            <a:avLst/>
          </a:prstGeom>
          <a:noFill/>
        </p:spPr>
        <p:txBody>
          <a:bodyPr wrap="square" rtlCol="0" anchor="ctr">
            <a:spAutoFit/>
          </a:bodyPr>
          <a:lstStyle>
            <a:lvl1pPr marL="0" indent="0" algn="l" defTabSz="457200" rtl="0" eaLnBrk="1" latinLnBrk="0" hangingPunct="1">
              <a:buNone/>
              <a:defRPr lang="zh-CN" altLang="en-US" sz="2400" b="1" kern="1200" dirty="0">
                <a:solidFill>
                  <a:srgbClr val="0070C0"/>
                </a:solidFill>
                <a:latin typeface="长安引力体" panose="02000500000000000000" pitchFamily="2" charset="-122"/>
                <a:ea typeface="长安引力体" panose="02000500000000000000" pitchFamily="2" charset="-122"/>
                <a:cs typeface="+mn-cs"/>
              </a:defRPr>
            </a:lvl1pPr>
          </a:lstStyle>
          <a:p>
            <a:pPr marL="186055" lvl="0" indent="-186055"/>
            <a:r>
              <a:rPr lang="zh-CN" altLang="en-US" dirty="0"/>
              <a:t>单击此处编辑母版文本样式</a:t>
            </a:r>
          </a:p>
        </p:txBody>
      </p:sp>
      <p:sp>
        <p:nvSpPr>
          <p:cNvPr id="7" name="灯片编号占位符 5"/>
          <p:cNvSpPr txBox="1"/>
          <p:nvPr userDrawn="1"/>
        </p:nvSpPr>
        <p:spPr>
          <a:xfrm>
            <a:off x="8569569" y="6524630"/>
            <a:ext cx="2844800" cy="333375"/>
          </a:xfrm>
          <a:prstGeom prst="rect">
            <a:avLst/>
          </a:prstGeom>
        </p:spPr>
        <p:txBody>
          <a:bodyPr vert="horz" wrap="square" lIns="91440" tIns="45720" rIns="91440" bIns="45720" numCol="1" rtlCol="0" anchor="ctr" anchorCtr="0" compatLnSpc="1"/>
          <a:lstStyle>
            <a:defPPr>
              <a:defRPr lang="zh-CN"/>
            </a:defPPr>
            <a:lvl1pPr marL="0" algn="r" defTabSz="914400" rtl="0" eaLnBrk="1" latinLnBrk="0" hangingPunct="1">
              <a:defRPr sz="1000" b="0" kern="1200">
                <a:solidFill>
                  <a:srgbClr val="898989"/>
                </a:solidFill>
                <a:latin typeface="+mn-lt"/>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1A62F2E3-2743-4B53-83E6-0F26FBBB6D65}" type="slidenum">
              <a:rPr lang="zh-CN" altLang="en-US" sz="1000" smtClean="0">
                <a:ea typeface="Alibaba PuHuiTi 2.0 55 Regular"/>
              </a:rPr>
              <a:t>‹#›</a:t>
            </a:fld>
            <a:endParaRPr lang="zh-CN" altLang="en-US" sz="1000" dirty="0">
              <a:ea typeface="Alibaba PuHuiTi 2.0 55 Regular"/>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a:xfrm>
          <a:off x="0" y="0"/>
          <a:ext cx="0" cy="0"/>
          <a:chOff x="0" y="0"/>
          <a:chExt cx="0" cy="0"/>
        </a:xfrm>
      </p:grpSpPr>
      <p:sp>
        <p:nvSpPr>
          <p:cNvPr id="4" name="Rectangle 2"/>
          <p:cNvSpPr>
            <a:spLocks noChangeArrowheads="1"/>
          </p:cNvSpPr>
          <p:nvPr userDrawn="1"/>
        </p:nvSpPr>
        <p:spPr bwMode="auto">
          <a:xfrm>
            <a:off x="4529116" y="123091"/>
            <a:ext cx="2423242" cy="322983"/>
          </a:xfrm>
          <a:prstGeom prst="rect">
            <a:avLst/>
          </a:prstGeom>
          <a:noFill/>
          <a:ln w="19050">
            <a:solidFill>
              <a:srgbClr val="FF0000"/>
            </a:solidFill>
            <a:miter lim="800000"/>
          </a:ln>
        </p:spPr>
        <p:txBody>
          <a:bodyPr lIns="0" tIns="0" rIns="0" bIns="0" anchor="ctr" anchorCtr="1"/>
          <a:lstStyle/>
          <a:p>
            <a:pPr algn="ctr"/>
            <a:r>
              <a:rPr lang="zh-CN" altLang="en-US" sz="1275" b="1" dirty="0">
                <a:solidFill>
                  <a:srgbClr val="FF0000"/>
                </a:solidFill>
                <a:ea typeface="Alibaba PuHuiTi 2.0 55 Regular"/>
              </a:rPr>
              <a:t>普通商密  合规管理  严禁外传</a:t>
            </a:r>
          </a:p>
        </p:txBody>
      </p:sp>
      <p:cxnSp>
        <p:nvCxnSpPr>
          <p:cNvPr id="8" name="直接连接符 7"/>
          <p:cNvCxnSpPr/>
          <p:nvPr userDrawn="1"/>
        </p:nvCxnSpPr>
        <p:spPr>
          <a:xfrm>
            <a:off x="2558829" y="509774"/>
            <a:ext cx="9633171"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5782" y="509774"/>
            <a:ext cx="334243"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userDrawn="1"/>
        </p:nvSpPr>
        <p:spPr>
          <a:xfrm>
            <a:off x="218" y="6577035"/>
            <a:ext cx="996672" cy="276871"/>
          </a:xfrm>
          <a:prstGeom prst="rect">
            <a:avLst/>
          </a:prstGeom>
          <a:noFill/>
        </p:spPr>
        <p:txBody>
          <a:bodyPr wrap="square" rtlCol="0">
            <a:spAutoFit/>
          </a:bodyPr>
          <a:lstStyle/>
          <a:p>
            <a:fld id="{4DC1F28F-D84B-42C8-98D6-DCAA4E9C2DD8}" type="slidenum">
              <a:rPr lang="zh-CN" altLang="en-US" sz="1200" b="1" smtClean="0">
                <a:latin typeface="微软雅黑" panose="020B0503020204020204" pitchFamily="34" charset="-122"/>
                <a:ea typeface="Alibaba PuHuiTi 2.0 55 Regular"/>
              </a:rPr>
              <a:t>‹#›</a:t>
            </a:fld>
            <a:r>
              <a:rPr lang="en-US" altLang="zh-CN" sz="1200" b="1" dirty="0">
                <a:latin typeface="微软雅黑" panose="020B0503020204020204" pitchFamily="34" charset="-122"/>
                <a:ea typeface="Alibaba PuHuiTi 2.0 55 Regular"/>
              </a:rPr>
              <a:t>/</a:t>
            </a:r>
            <a:r>
              <a:rPr lang="zh-CN" altLang="en-US" sz="1200" b="1" dirty="0">
                <a:latin typeface="微软雅黑" panose="020B0503020204020204" pitchFamily="34" charset="-122"/>
                <a:ea typeface="Alibaba PuHuiTi 2.0 55 Regular"/>
              </a:rPr>
              <a:t> </a:t>
            </a:r>
            <a:r>
              <a:rPr lang="en-US" altLang="zh-CN" sz="1200" b="1" dirty="0">
                <a:latin typeface="微软雅黑" panose="020B0503020204020204" pitchFamily="34" charset="-122"/>
                <a:ea typeface="Alibaba PuHuiTi 2.0 55 Regular"/>
              </a:rPr>
              <a:t>65</a:t>
            </a:r>
            <a:endParaRPr lang="zh-CN" altLang="en-US" sz="1200" b="1" dirty="0">
              <a:latin typeface="微软雅黑" panose="020B0503020204020204" pitchFamily="34" charset="-122"/>
              <a:ea typeface="Alibaba PuHuiTi 2.0 55 Regular"/>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标题 1"/>
          <p:cNvSpPr>
            <a:spLocks noGrp="1"/>
          </p:cNvSpPr>
          <p:nvPr>
            <p:ph type="title"/>
          </p:nvPr>
        </p:nvSpPr>
        <p:spPr>
          <a:xfrm>
            <a:off x="777631" y="1213136"/>
            <a:ext cx="10621108" cy="806450"/>
          </a:xfrm>
        </p:spPr>
        <p:txBody>
          <a:bodyPr/>
          <a:lstStyle>
            <a:lvl1pPr>
              <a:defRPr sz="1800" b="1"/>
            </a:lvl1pPr>
          </a:lstStyle>
          <a:p>
            <a:r>
              <a:rPr lang="zh-CN" altLang="en-US"/>
              <a:t>单击此处编辑母版标题样式</a:t>
            </a:r>
          </a:p>
        </p:txBody>
      </p:sp>
      <p:sp>
        <p:nvSpPr>
          <p:cNvPr id="7" name="内容占位符 2"/>
          <p:cNvSpPr>
            <a:spLocks noGrp="1"/>
          </p:cNvSpPr>
          <p:nvPr>
            <p:ph idx="12"/>
          </p:nvPr>
        </p:nvSpPr>
        <p:spPr>
          <a:xfrm>
            <a:off x="777629" y="695049"/>
            <a:ext cx="7002250" cy="461665"/>
          </a:xfrm>
          <a:prstGeom prst="rect">
            <a:avLst/>
          </a:prstGeom>
          <a:noFill/>
        </p:spPr>
        <p:txBody>
          <a:bodyPr wrap="square" rtlCol="0" anchor="ctr">
            <a:spAutoFit/>
          </a:bodyPr>
          <a:lstStyle>
            <a:lvl1pPr marL="0" indent="0" algn="l">
              <a:buNone/>
              <a:defRPr lang="zh-CN" altLang="en-US" sz="2400" b="1" kern="1200" dirty="0">
                <a:solidFill>
                  <a:srgbClr val="0070C0"/>
                </a:solidFill>
                <a:latin typeface="长安引力体" panose="02000500000000000000" pitchFamily="2" charset="-122"/>
                <a:ea typeface="长安引力体" panose="02000500000000000000" pitchFamily="2" charset="-122"/>
                <a:cs typeface="+mn-cs"/>
              </a:defRPr>
            </a:lvl1pPr>
          </a:lstStyle>
          <a:p>
            <a:pPr marL="186055" lvl="0" indent="-186055" algn="l" defTabSz="457200" rtl="0" eaLnBrk="1" fontAlgn="base" latinLnBrk="0" hangingPunct="1">
              <a:spcBef>
                <a:spcPct val="20000"/>
              </a:spcBef>
              <a:spcAft>
                <a:spcPct val="0"/>
              </a:spcAft>
              <a:buFont typeface="Arial" panose="020B0604020202020204" pitchFamily="34" charset="0"/>
              <a:buNone/>
            </a:pPr>
            <a:r>
              <a:rPr lang="zh-CN" altLang="en-US" dirty="0"/>
              <a:t>单击此处编辑母版文本样式</a:t>
            </a:r>
          </a:p>
        </p:txBody>
      </p:sp>
      <p:sp>
        <p:nvSpPr>
          <p:cNvPr id="8" name="灯片编号占位符 5"/>
          <p:cNvSpPr txBox="1"/>
          <p:nvPr userDrawn="1"/>
        </p:nvSpPr>
        <p:spPr>
          <a:xfrm>
            <a:off x="8569569" y="6524630"/>
            <a:ext cx="2844800" cy="333375"/>
          </a:xfrm>
          <a:prstGeom prst="rect">
            <a:avLst/>
          </a:prstGeom>
        </p:spPr>
        <p:txBody>
          <a:bodyPr vert="horz" wrap="square" lIns="91440" tIns="45720" rIns="91440" bIns="45720" numCol="1" rtlCol="0" anchor="ctr" anchorCtr="0" compatLnSpc="1"/>
          <a:lstStyle>
            <a:defPPr>
              <a:defRPr lang="zh-CN"/>
            </a:defPPr>
            <a:lvl1pPr marL="0" algn="r" defTabSz="914400" rtl="0" eaLnBrk="1" latinLnBrk="0" hangingPunct="1">
              <a:defRPr sz="1000" b="0" kern="1200">
                <a:solidFill>
                  <a:srgbClr val="898989"/>
                </a:solidFill>
                <a:latin typeface="+mn-lt"/>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1A62F2E3-2743-4B53-83E6-0F26FBBB6D65}" type="slidenum">
              <a:rPr lang="zh-CN" altLang="en-US" sz="1000" smtClean="0">
                <a:ea typeface="Alibaba PuHuiTi 2.0 55 Regular"/>
              </a:rPr>
              <a:t>‹#›</a:t>
            </a:fld>
            <a:endParaRPr lang="zh-CN" altLang="en-US" sz="1000" dirty="0">
              <a:ea typeface="Alibaba PuHuiTi 2.0 55 Regular"/>
            </a:endParaRPr>
          </a:p>
        </p:txBody>
      </p:sp>
      <p:cxnSp>
        <p:nvCxnSpPr>
          <p:cNvPr id="3" name="直接连接符 2"/>
          <p:cNvCxnSpPr/>
          <p:nvPr userDrawn="1"/>
        </p:nvCxnSpPr>
        <p:spPr>
          <a:xfrm>
            <a:off x="2558829" y="509774"/>
            <a:ext cx="9633171"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userDrawn="1"/>
        </p:nvCxnSpPr>
        <p:spPr>
          <a:xfrm>
            <a:off x="-5782" y="509774"/>
            <a:ext cx="334243"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Agenda 1 (5)">
    <p:spTree>
      <p:nvGrpSpPr>
        <p:cNvPr id="1" name=""/>
        <p:cNvGrpSpPr/>
        <p:nvPr/>
      </p:nvGrpSpPr>
      <p:grpSpPr>
        <a:xfrm>
          <a:off x="0" y="0"/>
          <a:ext cx="0" cy="0"/>
          <a:chOff x="0" y="0"/>
          <a:chExt cx="0" cy="0"/>
        </a:xfrm>
      </p:grpSpPr>
      <p:sp>
        <p:nvSpPr>
          <p:cNvPr id="20" name="Textplatzhalter 19"/>
          <p:cNvSpPr>
            <a:spLocks noGrp="1"/>
          </p:cNvSpPr>
          <p:nvPr>
            <p:ph type="body" sz="quarter" idx="11" hasCustomPrompt="1"/>
          </p:nvPr>
        </p:nvSpPr>
        <p:spPr>
          <a:xfrm>
            <a:off x="1752395" y="1076331"/>
            <a:ext cx="1265730" cy="806993"/>
          </a:xfrm>
          <a:ln w="9525">
            <a:noFill/>
          </a:ln>
        </p:spPr>
        <p:txBody>
          <a:bodyPr anchor="ctr"/>
          <a:lstStyle>
            <a:lvl1pPr>
              <a:defRPr sz="4065" b="0" i="0">
                <a:latin typeface="Audi Type Extended" panose="020B0505040200000003" pitchFamily="34" charset="0"/>
                <a:ea typeface="Alibaba PuHuiTi 2.0 55 Regular"/>
                <a:cs typeface="Audi Type Extended" panose="020B0505040200000003" pitchFamily="34" charset="0"/>
              </a:defRPr>
            </a:lvl1pPr>
          </a:lstStyle>
          <a:p>
            <a:pPr lvl="0"/>
            <a:r>
              <a:rPr lang="en-US" noProof="0" dirty="0"/>
              <a:t>01</a:t>
            </a:r>
          </a:p>
        </p:txBody>
      </p:sp>
      <p:sp>
        <p:nvSpPr>
          <p:cNvPr id="2" name="Titel 1"/>
          <p:cNvSpPr>
            <a:spLocks noGrp="1"/>
          </p:cNvSpPr>
          <p:nvPr>
            <p:ph type="title" hasCustomPrompt="1"/>
          </p:nvPr>
        </p:nvSpPr>
        <p:spPr/>
        <p:txBody>
          <a:bodyPr/>
          <a:lstStyle/>
          <a:p>
            <a:r>
              <a:rPr lang="en-US" noProof="0" dirty="0"/>
              <a:t>Edit Master Title Format</a:t>
            </a:r>
          </a:p>
        </p:txBody>
      </p:sp>
      <p:sp>
        <p:nvSpPr>
          <p:cNvPr id="3" name="Fußzeilenplatzhalter 2"/>
          <p:cNvSpPr>
            <a:spLocks noGrp="1"/>
          </p:cNvSpPr>
          <p:nvPr>
            <p:ph type="ftr" sz="quarter" idx="10"/>
          </p:nvPr>
        </p:nvSpPr>
        <p:spPr/>
        <p:txBody>
          <a:bodyPr/>
          <a:lstStyle>
            <a:lvl1pPr>
              <a:defRPr>
                <a:ea typeface="Alibaba PuHuiTi 2.0 55 Regular"/>
              </a:defRPr>
            </a:lvl1pPr>
          </a:lstStyle>
          <a:p>
            <a:endParaRPr lang="en-US" dirty="0"/>
          </a:p>
        </p:txBody>
      </p:sp>
      <p:sp>
        <p:nvSpPr>
          <p:cNvPr id="34" name="Textplatzhalter 19"/>
          <p:cNvSpPr>
            <a:spLocks noGrp="1"/>
          </p:cNvSpPr>
          <p:nvPr>
            <p:ph type="body" sz="quarter" idx="14" hasCustomPrompt="1"/>
          </p:nvPr>
        </p:nvSpPr>
        <p:spPr>
          <a:xfrm>
            <a:off x="1752395" y="2121449"/>
            <a:ext cx="1265730" cy="806993"/>
          </a:xfrm>
        </p:spPr>
        <p:txBody>
          <a:bodyPr anchor="ctr"/>
          <a:lstStyle>
            <a:lvl1pPr>
              <a:defRPr sz="4065" b="0" i="0">
                <a:latin typeface="Audi Type Extended" panose="020B0505040200000003" pitchFamily="34" charset="0"/>
                <a:ea typeface="Alibaba PuHuiTi 2.0 55 Regular"/>
                <a:cs typeface="Audi Type Extended" panose="020B0505040200000003" pitchFamily="34" charset="0"/>
              </a:defRPr>
            </a:lvl1pPr>
          </a:lstStyle>
          <a:p>
            <a:pPr lvl="0"/>
            <a:r>
              <a:rPr lang="en-US" noProof="0" dirty="0"/>
              <a:t>02</a:t>
            </a:r>
          </a:p>
        </p:txBody>
      </p:sp>
      <p:sp>
        <p:nvSpPr>
          <p:cNvPr id="37" name="Textplatzhalter 19"/>
          <p:cNvSpPr>
            <a:spLocks noGrp="1"/>
          </p:cNvSpPr>
          <p:nvPr>
            <p:ph type="body" sz="quarter" idx="17" hasCustomPrompt="1"/>
          </p:nvPr>
        </p:nvSpPr>
        <p:spPr>
          <a:xfrm>
            <a:off x="1752395" y="3166564"/>
            <a:ext cx="1265730" cy="806993"/>
          </a:xfrm>
        </p:spPr>
        <p:txBody>
          <a:bodyPr anchor="ctr"/>
          <a:lstStyle>
            <a:lvl1pPr>
              <a:defRPr sz="4065" b="0" i="0">
                <a:latin typeface="Audi Type Extended" panose="020B0505040200000003" pitchFamily="34" charset="0"/>
                <a:ea typeface="Alibaba PuHuiTi 2.0 55 Regular"/>
                <a:cs typeface="Audi Type Extended" panose="020B0505040200000003" pitchFamily="34" charset="0"/>
              </a:defRPr>
            </a:lvl1pPr>
          </a:lstStyle>
          <a:p>
            <a:pPr lvl="0"/>
            <a:r>
              <a:rPr lang="en-US" noProof="0" dirty="0"/>
              <a:t>03</a:t>
            </a:r>
          </a:p>
        </p:txBody>
      </p:sp>
      <p:sp>
        <p:nvSpPr>
          <p:cNvPr id="40" name="Textplatzhalter 19"/>
          <p:cNvSpPr>
            <a:spLocks noGrp="1"/>
          </p:cNvSpPr>
          <p:nvPr>
            <p:ph type="body" sz="quarter" idx="20" hasCustomPrompt="1"/>
          </p:nvPr>
        </p:nvSpPr>
        <p:spPr>
          <a:xfrm>
            <a:off x="1752395" y="4219060"/>
            <a:ext cx="1265730" cy="806993"/>
          </a:xfrm>
        </p:spPr>
        <p:txBody>
          <a:bodyPr anchor="ctr"/>
          <a:lstStyle>
            <a:lvl1pPr>
              <a:defRPr sz="4065" b="0" i="0">
                <a:latin typeface="Audi Type Extended" panose="020B0505040200000003" pitchFamily="34" charset="0"/>
                <a:ea typeface="Alibaba PuHuiTi 2.0 55 Regular"/>
                <a:cs typeface="Audi Type Extended" panose="020B0505040200000003" pitchFamily="34" charset="0"/>
              </a:defRPr>
            </a:lvl1pPr>
          </a:lstStyle>
          <a:p>
            <a:pPr lvl="0"/>
            <a:r>
              <a:rPr lang="en-US" noProof="0" dirty="0"/>
              <a:t>04</a:t>
            </a:r>
          </a:p>
        </p:txBody>
      </p:sp>
      <p:sp>
        <p:nvSpPr>
          <p:cNvPr id="43" name="Textplatzhalter 19"/>
          <p:cNvSpPr>
            <a:spLocks noGrp="1"/>
          </p:cNvSpPr>
          <p:nvPr>
            <p:ph type="body" sz="quarter" idx="23" hasCustomPrompt="1"/>
          </p:nvPr>
        </p:nvSpPr>
        <p:spPr>
          <a:xfrm>
            <a:off x="1752395" y="5286309"/>
            <a:ext cx="1265730" cy="806993"/>
          </a:xfrm>
        </p:spPr>
        <p:txBody>
          <a:bodyPr anchor="ctr"/>
          <a:lstStyle>
            <a:lvl1pPr>
              <a:defRPr sz="4065" b="0" i="0">
                <a:latin typeface="Audi Type Extended" panose="020B0505040200000003" pitchFamily="34" charset="0"/>
                <a:ea typeface="Alibaba PuHuiTi 2.0 55 Regular"/>
                <a:cs typeface="Audi Type Extended" panose="020B0505040200000003" pitchFamily="34" charset="0"/>
              </a:defRPr>
            </a:lvl1pPr>
          </a:lstStyle>
          <a:p>
            <a:pPr lvl="0"/>
            <a:r>
              <a:rPr lang="en-US" noProof="0" dirty="0"/>
              <a:t>05</a:t>
            </a:r>
          </a:p>
        </p:txBody>
      </p:sp>
      <p:sp>
        <p:nvSpPr>
          <p:cNvPr id="48" name="Textplatzhalter 21"/>
          <p:cNvSpPr>
            <a:spLocks noGrp="1"/>
          </p:cNvSpPr>
          <p:nvPr>
            <p:ph type="body" sz="quarter" idx="12" hasCustomPrompt="1"/>
          </p:nvPr>
        </p:nvSpPr>
        <p:spPr>
          <a:xfrm>
            <a:off x="3242909" y="1235487"/>
            <a:ext cx="6069010" cy="248022"/>
          </a:xfrm>
        </p:spPr>
        <p:txBody>
          <a:bodyPr lIns="72000" anchor="b"/>
          <a:lstStyle>
            <a:lvl1pPr>
              <a:defRPr sz="1465" b="1" i="0">
                <a:latin typeface="Audi Type Extended" panose="020B0505040200000003" pitchFamily="34" charset="0"/>
                <a:ea typeface="Alibaba PuHuiTi 2.0 55 Regular"/>
                <a:cs typeface="Audi Type Extended" panose="020B0505040200000003" pitchFamily="34" charset="0"/>
              </a:defRPr>
            </a:lvl1pPr>
          </a:lstStyle>
          <a:p>
            <a:pPr lvl="0"/>
            <a:r>
              <a:rPr lang="en-US" noProof="0" dirty="0"/>
              <a:t>Title Chapter 1</a:t>
            </a:r>
          </a:p>
        </p:txBody>
      </p:sp>
      <p:sp>
        <p:nvSpPr>
          <p:cNvPr id="49" name="Textplatzhalter 24"/>
          <p:cNvSpPr>
            <a:spLocks noGrp="1"/>
          </p:cNvSpPr>
          <p:nvPr>
            <p:ph type="body" sz="quarter" idx="13" hasCustomPrompt="1"/>
          </p:nvPr>
        </p:nvSpPr>
        <p:spPr>
          <a:xfrm>
            <a:off x="3242907" y="1521679"/>
            <a:ext cx="6069012" cy="361645"/>
          </a:xfrm>
        </p:spPr>
        <p:txBody>
          <a:bodyPr lIns="72000"/>
          <a:lstStyle>
            <a:lvl1pPr>
              <a:defRPr sz="975" b="0" i="0">
                <a:latin typeface="Audi Type" panose="020B0503040200000003" pitchFamily="34" charset="0"/>
                <a:ea typeface="Alibaba PuHuiTi 2.0 55 Regular"/>
                <a:cs typeface="Audi Type" panose="020B0503040200000003" pitchFamily="34" charset="0"/>
              </a:defRPr>
            </a:lvl1pPr>
          </a:lstStyle>
          <a:p>
            <a:pPr lvl="0"/>
            <a:r>
              <a:rPr lang="en-US" noProof="0" dirty="0"/>
              <a:t>Subtitle and/or descriptive text for chapter 1</a:t>
            </a:r>
          </a:p>
        </p:txBody>
      </p:sp>
      <p:sp>
        <p:nvSpPr>
          <p:cNvPr id="50" name="Textplatzhalter 21"/>
          <p:cNvSpPr>
            <a:spLocks noGrp="1"/>
          </p:cNvSpPr>
          <p:nvPr>
            <p:ph type="body" sz="quarter" idx="24" hasCustomPrompt="1"/>
          </p:nvPr>
        </p:nvSpPr>
        <p:spPr>
          <a:xfrm>
            <a:off x="3242909" y="2280605"/>
            <a:ext cx="6069010" cy="248022"/>
          </a:xfrm>
        </p:spPr>
        <p:txBody>
          <a:bodyPr lIns="72000" anchor="b"/>
          <a:lstStyle>
            <a:lvl1pPr>
              <a:defRPr sz="1465" b="1" i="0">
                <a:latin typeface="Audi Type Extended" panose="020B0505040200000003" pitchFamily="34" charset="0"/>
                <a:ea typeface="Alibaba PuHuiTi 2.0 55 Regular"/>
                <a:cs typeface="Audi Type Extended" panose="020B0505040200000003" pitchFamily="34" charset="0"/>
              </a:defRPr>
            </a:lvl1pPr>
          </a:lstStyle>
          <a:p>
            <a:pPr lvl="0"/>
            <a:r>
              <a:rPr lang="en-US" noProof="0" dirty="0"/>
              <a:t>Title Chapter 2</a:t>
            </a:r>
          </a:p>
        </p:txBody>
      </p:sp>
      <p:sp>
        <p:nvSpPr>
          <p:cNvPr id="51" name="Textplatzhalter 24"/>
          <p:cNvSpPr>
            <a:spLocks noGrp="1"/>
          </p:cNvSpPr>
          <p:nvPr>
            <p:ph type="body" sz="quarter" idx="25" hasCustomPrompt="1"/>
          </p:nvPr>
        </p:nvSpPr>
        <p:spPr>
          <a:xfrm>
            <a:off x="3242907" y="2566797"/>
            <a:ext cx="6069012" cy="361645"/>
          </a:xfrm>
        </p:spPr>
        <p:txBody>
          <a:bodyPr lIns="72000"/>
          <a:lstStyle>
            <a:lvl1pPr>
              <a:defRPr sz="975" b="0" i="0">
                <a:latin typeface="Audi Type" panose="020B0503040200000003" pitchFamily="34" charset="0"/>
                <a:ea typeface="Alibaba PuHuiTi 2.0 55 Regular"/>
                <a:cs typeface="Audi Type" panose="020B0503040200000003" pitchFamily="34" charset="0"/>
              </a:defRPr>
            </a:lvl1pPr>
          </a:lstStyle>
          <a:p>
            <a:pPr lvl="0"/>
            <a:r>
              <a:rPr lang="en-US" noProof="0" dirty="0"/>
              <a:t>Subtitle and/or descriptive text for chapter 2</a:t>
            </a:r>
          </a:p>
        </p:txBody>
      </p:sp>
      <p:sp>
        <p:nvSpPr>
          <p:cNvPr id="52" name="Textplatzhalter 21"/>
          <p:cNvSpPr>
            <a:spLocks noGrp="1"/>
          </p:cNvSpPr>
          <p:nvPr>
            <p:ph type="body" sz="quarter" idx="26" hasCustomPrompt="1"/>
          </p:nvPr>
        </p:nvSpPr>
        <p:spPr>
          <a:xfrm>
            <a:off x="3242909" y="3325723"/>
            <a:ext cx="6069010" cy="248022"/>
          </a:xfrm>
        </p:spPr>
        <p:txBody>
          <a:bodyPr lIns="72000" anchor="b"/>
          <a:lstStyle>
            <a:lvl1pPr>
              <a:defRPr sz="1465" b="1" i="0">
                <a:latin typeface="Audi Type Extended" panose="020B0505040200000003" pitchFamily="34" charset="0"/>
                <a:ea typeface="Alibaba PuHuiTi 2.0 55 Regular"/>
                <a:cs typeface="Audi Type Extended" panose="020B0505040200000003" pitchFamily="34" charset="0"/>
              </a:defRPr>
            </a:lvl1pPr>
          </a:lstStyle>
          <a:p>
            <a:pPr lvl="0"/>
            <a:r>
              <a:rPr lang="en-US" noProof="0" dirty="0"/>
              <a:t>Title Chapter 3</a:t>
            </a:r>
          </a:p>
        </p:txBody>
      </p:sp>
      <p:sp>
        <p:nvSpPr>
          <p:cNvPr id="53" name="Textplatzhalter 24"/>
          <p:cNvSpPr>
            <a:spLocks noGrp="1"/>
          </p:cNvSpPr>
          <p:nvPr>
            <p:ph type="body" sz="quarter" idx="27" hasCustomPrompt="1"/>
          </p:nvPr>
        </p:nvSpPr>
        <p:spPr>
          <a:xfrm>
            <a:off x="3242907" y="3611915"/>
            <a:ext cx="6069012" cy="361645"/>
          </a:xfrm>
        </p:spPr>
        <p:txBody>
          <a:bodyPr lIns="72000"/>
          <a:lstStyle>
            <a:lvl1pPr>
              <a:defRPr sz="975" b="0" i="0">
                <a:latin typeface="Audi Type" panose="020B0503040200000003" pitchFamily="34" charset="0"/>
                <a:ea typeface="Alibaba PuHuiTi 2.0 55 Regular"/>
                <a:cs typeface="Audi Type" panose="020B0503040200000003" pitchFamily="34" charset="0"/>
              </a:defRPr>
            </a:lvl1pPr>
          </a:lstStyle>
          <a:p>
            <a:pPr lvl="0"/>
            <a:r>
              <a:rPr lang="en-US" noProof="0" dirty="0"/>
              <a:t>Subtitle and/or descriptive text for chapter 3</a:t>
            </a:r>
          </a:p>
        </p:txBody>
      </p:sp>
      <p:sp>
        <p:nvSpPr>
          <p:cNvPr id="54" name="Textplatzhalter 21"/>
          <p:cNvSpPr>
            <a:spLocks noGrp="1"/>
          </p:cNvSpPr>
          <p:nvPr>
            <p:ph type="body" sz="quarter" idx="28" hasCustomPrompt="1"/>
          </p:nvPr>
        </p:nvSpPr>
        <p:spPr>
          <a:xfrm>
            <a:off x="3242909" y="4378216"/>
            <a:ext cx="6069010" cy="248022"/>
          </a:xfrm>
        </p:spPr>
        <p:txBody>
          <a:bodyPr lIns="72000" anchor="b"/>
          <a:lstStyle>
            <a:lvl1pPr>
              <a:defRPr sz="1465" b="1" i="0">
                <a:latin typeface="Audi Type Extended" panose="020B0505040200000003" pitchFamily="34" charset="0"/>
                <a:ea typeface="Alibaba PuHuiTi 2.0 55 Regular"/>
                <a:cs typeface="Audi Type Extended" panose="020B0505040200000003" pitchFamily="34" charset="0"/>
              </a:defRPr>
            </a:lvl1pPr>
          </a:lstStyle>
          <a:p>
            <a:pPr lvl="0"/>
            <a:r>
              <a:rPr lang="en-US" noProof="0" dirty="0"/>
              <a:t>Title Chapter 4</a:t>
            </a:r>
          </a:p>
        </p:txBody>
      </p:sp>
      <p:sp>
        <p:nvSpPr>
          <p:cNvPr id="55" name="Textplatzhalter 24"/>
          <p:cNvSpPr>
            <a:spLocks noGrp="1"/>
          </p:cNvSpPr>
          <p:nvPr>
            <p:ph type="body" sz="quarter" idx="29" hasCustomPrompt="1"/>
          </p:nvPr>
        </p:nvSpPr>
        <p:spPr>
          <a:xfrm>
            <a:off x="3242907" y="4664408"/>
            <a:ext cx="6069012" cy="361645"/>
          </a:xfrm>
        </p:spPr>
        <p:txBody>
          <a:bodyPr lIns="72000"/>
          <a:lstStyle>
            <a:lvl1pPr>
              <a:defRPr sz="975" b="0" i="0">
                <a:latin typeface="Audi Type" panose="020B0503040200000003" pitchFamily="34" charset="0"/>
                <a:ea typeface="Alibaba PuHuiTi 2.0 55 Regular"/>
                <a:cs typeface="Audi Type" panose="020B0503040200000003" pitchFamily="34" charset="0"/>
              </a:defRPr>
            </a:lvl1pPr>
          </a:lstStyle>
          <a:p>
            <a:pPr lvl="0"/>
            <a:r>
              <a:rPr lang="en-US" noProof="0" dirty="0"/>
              <a:t>Subtitle and/or descriptive text for chapter 4</a:t>
            </a:r>
          </a:p>
        </p:txBody>
      </p:sp>
      <p:sp>
        <p:nvSpPr>
          <p:cNvPr id="56" name="Textplatzhalter 21"/>
          <p:cNvSpPr>
            <a:spLocks noGrp="1"/>
          </p:cNvSpPr>
          <p:nvPr>
            <p:ph type="body" sz="quarter" idx="30" hasCustomPrompt="1"/>
          </p:nvPr>
        </p:nvSpPr>
        <p:spPr>
          <a:xfrm>
            <a:off x="3242909" y="5445465"/>
            <a:ext cx="6069010" cy="248022"/>
          </a:xfrm>
        </p:spPr>
        <p:txBody>
          <a:bodyPr lIns="72000" anchor="b"/>
          <a:lstStyle>
            <a:lvl1pPr>
              <a:defRPr sz="1465" b="1" i="0">
                <a:latin typeface="Audi Type Extended" panose="020B0505040200000003" pitchFamily="34" charset="0"/>
                <a:ea typeface="Alibaba PuHuiTi 2.0 55 Regular"/>
                <a:cs typeface="Audi Type Extended" panose="020B0505040200000003" pitchFamily="34" charset="0"/>
              </a:defRPr>
            </a:lvl1pPr>
          </a:lstStyle>
          <a:p>
            <a:pPr lvl="0"/>
            <a:r>
              <a:rPr lang="en-US" noProof="0" dirty="0"/>
              <a:t>Title Chapter 5</a:t>
            </a:r>
          </a:p>
        </p:txBody>
      </p:sp>
      <p:sp>
        <p:nvSpPr>
          <p:cNvPr id="57" name="Textplatzhalter 24"/>
          <p:cNvSpPr>
            <a:spLocks noGrp="1"/>
          </p:cNvSpPr>
          <p:nvPr>
            <p:ph type="body" sz="quarter" idx="31" hasCustomPrompt="1"/>
          </p:nvPr>
        </p:nvSpPr>
        <p:spPr>
          <a:xfrm>
            <a:off x="3242907" y="5731657"/>
            <a:ext cx="6069012" cy="361645"/>
          </a:xfrm>
        </p:spPr>
        <p:txBody>
          <a:bodyPr lIns="72000"/>
          <a:lstStyle>
            <a:lvl1pPr>
              <a:defRPr sz="975" b="0" i="0">
                <a:latin typeface="Audi Type" panose="020B0503040200000003" pitchFamily="34" charset="0"/>
                <a:ea typeface="Alibaba PuHuiTi 2.0 55 Regular"/>
                <a:cs typeface="Audi Type" panose="020B0503040200000003" pitchFamily="34" charset="0"/>
              </a:defRPr>
            </a:lvl1pPr>
          </a:lstStyle>
          <a:p>
            <a:pPr lvl="0"/>
            <a:r>
              <a:rPr lang="en-US" noProof="0" dirty="0"/>
              <a:t>Subtitle and/or descriptive text for chapter 5</a:t>
            </a: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fld id="{C4FEF4C5-4A60-467F-8519-FE6869DD9F4A}" type="slidenum">
              <a:rPr lang="zh-CN" altLang="en-US" smtClean="0"/>
              <a:t>‹#›</a:t>
            </a:fld>
            <a:endParaRPr lang="zh-CN" altLang="en-US"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副标题 2"/>
          <p:cNvSpPr txBox="1"/>
          <p:nvPr userDrawn="1"/>
        </p:nvSpPr>
        <p:spPr bwMode="auto">
          <a:xfrm>
            <a:off x="3062853" y="6191921"/>
            <a:ext cx="6777567" cy="524120"/>
          </a:xfrm>
          <a:prstGeom prst="rect">
            <a:avLst/>
          </a:prstGeom>
          <a:noFill/>
          <a:ln w="9525">
            <a:noFill/>
            <a:miter lim="800000"/>
          </a:ln>
        </p:spPr>
        <p:txBody>
          <a:bodyPr lIns="108000" rIns="108000"/>
          <a:lstStyle>
            <a:lvl1pPr marL="186055" indent="-186055"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anose="020B0604020202020204" pitchFamily="34" charset="0"/>
                <a:ea typeface="+mn-ea"/>
                <a:cs typeface="+mn-cs"/>
              </a:defRPr>
            </a:lvl1pPr>
            <a:lvl2pPr marL="541655" indent="-17653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mn-cs"/>
              </a:defRPr>
            </a:lvl2pPr>
            <a:lvl3pPr marL="949325" indent="-228600" algn="l" rtl="0" eaLnBrk="0" fontAlgn="base" hangingPunct="0">
              <a:spcBef>
                <a:spcPct val="20000"/>
              </a:spcBef>
              <a:spcAft>
                <a:spcPct val="0"/>
              </a:spcAft>
              <a:buFont typeface="Wingdings" panose="05000000000000000000" pitchFamily="2" charset="2"/>
              <a:buChar char="ü"/>
              <a:defRPr sz="1400" kern="1200">
                <a:solidFill>
                  <a:schemeClr val="tx1"/>
                </a:solidFill>
                <a:latin typeface="Arial" panose="020B0604020202020204" pitchFamily="34" charset="0"/>
                <a:ea typeface="+mn-ea"/>
                <a:cs typeface="+mn-cs"/>
              </a:defRPr>
            </a:lvl3pPr>
            <a:lvl4pPr marL="1357630" indent="-228600" algn="l" rtl="0" eaLnBrk="0" fontAlgn="base" hangingPunct="0">
              <a:spcBef>
                <a:spcPct val="20000"/>
              </a:spcBef>
              <a:spcAft>
                <a:spcPct val="0"/>
              </a:spcAft>
              <a:buFont typeface="Wingdings" panose="05000000000000000000" pitchFamily="2" charset="2"/>
              <a:buChar char="Ø"/>
              <a:defRPr sz="1400" kern="1200">
                <a:solidFill>
                  <a:schemeClr val="tx1"/>
                </a:solidFill>
                <a:latin typeface="Arial" panose="020B0604020202020204" pitchFamily="34" charset="0"/>
                <a:ea typeface="+mn-ea"/>
                <a:cs typeface="+mn-cs"/>
              </a:defRPr>
            </a:lvl4pPr>
            <a:lvl5pPr marL="17653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eaLnBrk="1" hangingPunct="1">
              <a:buFont typeface="Arial" panose="020B0604020202020204" pitchFamily="34" charset="0"/>
              <a:buNone/>
              <a:defRPr/>
            </a:pPr>
            <a:r>
              <a:rPr lang="en-US" altLang="zh-CN" sz="1100" dirty="0">
                <a:solidFill>
                  <a:srgbClr val="858585"/>
                </a:solidFill>
                <a:ea typeface="Alibaba PuHuiTi 2.0 55 Regular"/>
              </a:rPr>
              <a:t>Shanghai Anddion Management Consulting Co., Ltd</a:t>
            </a:r>
          </a:p>
          <a:p>
            <a:pPr marL="0" indent="0" algn="ctr" eaLnBrk="1" hangingPunct="1">
              <a:buFont typeface="Arial" panose="020B0604020202020204" pitchFamily="34" charset="0"/>
              <a:buNone/>
              <a:defRPr/>
            </a:pPr>
            <a:r>
              <a:rPr lang="zh-CN" altLang="en-US" sz="1100" dirty="0">
                <a:solidFill>
                  <a:srgbClr val="858585"/>
                </a:solidFill>
                <a:ea typeface="Alibaba PuHuiTi 2.0 55 Regular"/>
              </a:rPr>
              <a:t>上海安点企业管理咨询有限公司</a:t>
            </a:r>
          </a:p>
          <a:p>
            <a:pPr marL="0" indent="0" algn="ctr" eaLnBrk="1" hangingPunct="1">
              <a:buFont typeface="Arial" panose="020B0604020202020204" pitchFamily="34" charset="0"/>
              <a:buNone/>
              <a:defRPr/>
            </a:pPr>
            <a:endParaRPr lang="en-US" altLang="zh-CN" sz="1100" dirty="0">
              <a:solidFill>
                <a:srgbClr val="858585"/>
              </a:solidFill>
              <a:ea typeface="Alibaba PuHuiTi 2.0 55 Regular"/>
            </a:endParaRPr>
          </a:p>
          <a:p>
            <a:pPr marL="0" indent="0" algn="ctr" eaLnBrk="1" hangingPunct="1">
              <a:buFont typeface="Arial" panose="020B0604020202020204" pitchFamily="34" charset="0"/>
              <a:buNone/>
              <a:defRPr/>
            </a:pPr>
            <a:endParaRPr lang="en-US" altLang="zh-CN" sz="1100" dirty="0">
              <a:solidFill>
                <a:srgbClr val="858585"/>
              </a:solidFill>
              <a:ea typeface="Alibaba PuHuiTi 2.0 55 Regular"/>
            </a:endParaRPr>
          </a:p>
        </p:txBody>
      </p:sp>
      <p:sp>
        <p:nvSpPr>
          <p:cNvPr id="3" name="Text Box 3"/>
          <p:cNvSpPr txBox="1">
            <a:spLocks noChangeArrowheads="1"/>
          </p:cNvSpPr>
          <p:nvPr userDrawn="1"/>
        </p:nvSpPr>
        <p:spPr bwMode="auto">
          <a:xfrm>
            <a:off x="3908479" y="4791081"/>
            <a:ext cx="476027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330200" eaLnBrk="0" hangingPunct="0">
              <a:defRPr kumimoji="1" sz="1300">
                <a:solidFill>
                  <a:srgbClr val="000000"/>
                </a:solidFill>
                <a:latin typeface="Arial" panose="020B0604020202020204" pitchFamily="34" charset="0"/>
                <a:ea typeface="宋体" pitchFamily="2" charset="-122"/>
              </a:defRPr>
            </a:lvl1pPr>
            <a:lvl2pPr marL="742950" indent="-285750" defTabSz="330200" eaLnBrk="0" hangingPunct="0">
              <a:defRPr kumimoji="1" sz="1300">
                <a:solidFill>
                  <a:srgbClr val="000000"/>
                </a:solidFill>
                <a:latin typeface="Arial" panose="020B0604020202020204" pitchFamily="34" charset="0"/>
                <a:ea typeface="宋体" pitchFamily="2" charset="-122"/>
              </a:defRPr>
            </a:lvl2pPr>
            <a:lvl3pPr marL="1143000" indent="-228600" defTabSz="330200" eaLnBrk="0" hangingPunct="0">
              <a:defRPr kumimoji="1" sz="1300">
                <a:solidFill>
                  <a:srgbClr val="000000"/>
                </a:solidFill>
                <a:latin typeface="Arial" panose="020B0604020202020204" pitchFamily="34" charset="0"/>
                <a:ea typeface="宋体" pitchFamily="2" charset="-122"/>
              </a:defRPr>
            </a:lvl3pPr>
            <a:lvl4pPr marL="1600200" indent="-228600" defTabSz="330200" eaLnBrk="0" hangingPunct="0">
              <a:defRPr kumimoji="1" sz="1300">
                <a:solidFill>
                  <a:srgbClr val="000000"/>
                </a:solidFill>
                <a:latin typeface="Arial" panose="020B0604020202020204" pitchFamily="34" charset="0"/>
                <a:ea typeface="宋体" pitchFamily="2" charset="-122"/>
              </a:defRPr>
            </a:lvl4pPr>
            <a:lvl5pPr marL="2057400" indent="-228600" defTabSz="330200" eaLnBrk="0" hangingPunct="0">
              <a:defRPr kumimoji="1" sz="1300">
                <a:solidFill>
                  <a:srgbClr val="000000"/>
                </a:solidFill>
                <a:latin typeface="Arial" panose="020B0604020202020204" pitchFamily="34" charset="0"/>
                <a:ea typeface="宋体" pitchFamily="2" charset="-122"/>
              </a:defRPr>
            </a:lvl5pPr>
            <a:lvl6pPr marL="2514600" indent="-228600" defTabSz="330200" eaLnBrk="0" fontAlgn="base" hangingPunct="0">
              <a:spcBef>
                <a:spcPct val="0"/>
              </a:spcBef>
              <a:spcAft>
                <a:spcPct val="0"/>
              </a:spcAft>
              <a:defRPr kumimoji="1" sz="1300">
                <a:solidFill>
                  <a:srgbClr val="000000"/>
                </a:solidFill>
                <a:latin typeface="Arial" panose="020B0604020202020204" pitchFamily="34" charset="0"/>
                <a:ea typeface="宋体" pitchFamily="2" charset="-122"/>
              </a:defRPr>
            </a:lvl6pPr>
            <a:lvl7pPr marL="2971800" indent="-228600" defTabSz="330200" eaLnBrk="0" fontAlgn="base" hangingPunct="0">
              <a:spcBef>
                <a:spcPct val="0"/>
              </a:spcBef>
              <a:spcAft>
                <a:spcPct val="0"/>
              </a:spcAft>
              <a:defRPr kumimoji="1" sz="1300">
                <a:solidFill>
                  <a:srgbClr val="000000"/>
                </a:solidFill>
                <a:latin typeface="Arial" panose="020B0604020202020204" pitchFamily="34" charset="0"/>
                <a:ea typeface="宋体" pitchFamily="2" charset="-122"/>
              </a:defRPr>
            </a:lvl7pPr>
            <a:lvl8pPr marL="3429000" indent="-228600" defTabSz="330200" eaLnBrk="0" fontAlgn="base" hangingPunct="0">
              <a:spcBef>
                <a:spcPct val="0"/>
              </a:spcBef>
              <a:spcAft>
                <a:spcPct val="0"/>
              </a:spcAft>
              <a:defRPr kumimoji="1" sz="1300">
                <a:solidFill>
                  <a:srgbClr val="000000"/>
                </a:solidFill>
                <a:latin typeface="Arial" panose="020B0604020202020204" pitchFamily="34" charset="0"/>
                <a:ea typeface="宋体" pitchFamily="2" charset="-122"/>
              </a:defRPr>
            </a:lvl8pPr>
            <a:lvl9pPr marL="3886200" indent="-228600" defTabSz="330200" eaLnBrk="0" fontAlgn="base" hangingPunct="0">
              <a:spcBef>
                <a:spcPct val="0"/>
              </a:spcBef>
              <a:spcAft>
                <a:spcPct val="0"/>
              </a:spcAft>
              <a:defRPr kumimoji="1" sz="1300">
                <a:solidFill>
                  <a:srgbClr val="000000"/>
                </a:solidFill>
                <a:latin typeface="Arial" panose="020B0604020202020204" pitchFamily="34" charset="0"/>
                <a:ea typeface="宋体" pitchFamily="2" charset="-122"/>
              </a:defRPr>
            </a:lvl9pPr>
          </a:lstStyle>
          <a:p>
            <a:pPr algn="ctr">
              <a:defRPr/>
            </a:pPr>
            <a:r>
              <a:rPr lang="en-US" altLang="zh-CN" sz="2800" b="1" dirty="0">
                <a:latin typeface="微软雅黑" panose="020B0503020204020204" pitchFamily="34" charset="-122"/>
                <a:ea typeface="Alibaba PuHuiTi 2.0 55 Regular"/>
              </a:rPr>
              <a:t>Thanks for your attention!</a:t>
            </a:r>
          </a:p>
        </p:txBody>
      </p:sp>
      <p:pic>
        <p:nvPicPr>
          <p:cNvPr id="4" name="Picture 4"/>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412776"/>
            <a:ext cx="12192000" cy="3065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heme" Target="../theme/theme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10" Type="http://schemas.openxmlformats.org/officeDocument/2006/relationships/theme" Target="../theme/theme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36.xml"/><Relationship Id="rId1" Type="http://schemas.openxmlformats.org/officeDocument/2006/relationships/slideLayout" Target="../slideLayouts/slideLayout3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7.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slideLayout" Target="../slideLayouts/slideLayout50.xml"/><Relationship Id="rId1" Type="http://schemas.openxmlformats.org/officeDocument/2006/relationships/slideLayout" Target="../slideLayouts/slideLayout49.xml"/><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theme" Target="../theme/theme9.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theme" Target="../theme/theme10.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_rels/slideMaster1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82.xml"/><Relationship Id="rId7" Type="http://schemas.openxmlformats.org/officeDocument/2006/relationships/theme" Target="../theme/theme11.xml"/><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5" Type="http://schemas.openxmlformats.org/officeDocument/2006/relationships/slideLayout" Target="../slideLayouts/slideLayout84.xml"/><Relationship Id="rId4"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81818"/>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4"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12"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181818"/>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181818"/>
        </a:solidFill>
        <a:effectLst/>
      </p:bgPr>
    </p:bg>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4"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89" r:id="rId1"/>
    <p:sldLayoutId id="2147483745"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12"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4"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
        <p:nvSpPr>
          <p:cNvPr id="5" name="Rectangle 2"/>
          <p:cNvSpPr>
            <a:spLocks noChangeArrowheads="1"/>
          </p:cNvSpPr>
          <p:nvPr userDrawn="1"/>
        </p:nvSpPr>
        <p:spPr bwMode="auto">
          <a:xfrm>
            <a:off x="9707870" y="30590"/>
            <a:ext cx="2183366" cy="252000"/>
          </a:xfrm>
          <a:prstGeom prst="rect">
            <a:avLst/>
          </a:prstGeom>
          <a:noFill/>
          <a:ln w="19050">
            <a:solidFill>
              <a:srgbClr val="FF0000"/>
            </a:solidFill>
            <a:miter lim="800000"/>
          </a:ln>
        </p:spPr>
        <p:txBody>
          <a:bodyPr lIns="0" tIns="0" rIns="0" bIns="0" anchor="ctr" anchorCtr="1"/>
          <a:lstStyle/>
          <a:p>
            <a:pPr algn="ctr"/>
            <a:r>
              <a:rPr lang="zh-CN" altLang="en-US" sz="1200" b="1" dirty="0">
                <a:solidFill>
                  <a:srgbClr val="FF0000"/>
                </a:solidFill>
                <a:latin typeface="Alibaba PuHuiTi 2.0 55 Regular" pitchFamily="18" charset="-122"/>
                <a:ea typeface="Alibaba PuHuiTi 2.0 55 Regular" pitchFamily="18" charset="-122"/>
                <a:cs typeface="Alibaba PuHuiTi 2.0 55 Regular" pitchFamily="18" charset="-122"/>
              </a:rPr>
              <a:t>普通商密  合规管理  严禁外传</a:t>
            </a:r>
          </a:p>
        </p:txBody>
      </p:sp>
    </p:spTree>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FBFBFB"/>
        </a:solidFill>
        <a:effectLst/>
      </p:bgPr>
    </p:bg>
    <p:spTree>
      <p:nvGrpSpPr>
        <p:cNvPr id="1" name=""/>
        <p:cNvGrpSpPr/>
        <p:nvPr/>
      </p:nvGrpSpPr>
      <p:grpSpPr>
        <a:xfrm>
          <a:off x="0" y="0"/>
          <a:ext cx="0" cy="0"/>
          <a:chOff x="0" y="0"/>
          <a:chExt cx="0" cy="0"/>
        </a:xfrm>
      </p:grpSpPr>
      <p:sp>
        <p:nvSpPr>
          <p:cNvPr id="12"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
        <p:nvSpPr>
          <p:cNvPr id="5" name="Rectangle 2"/>
          <p:cNvSpPr>
            <a:spLocks noChangeArrowheads="1"/>
          </p:cNvSpPr>
          <p:nvPr userDrawn="1"/>
        </p:nvSpPr>
        <p:spPr bwMode="auto">
          <a:xfrm>
            <a:off x="9707870" y="30590"/>
            <a:ext cx="2183366" cy="252000"/>
          </a:xfrm>
          <a:prstGeom prst="rect">
            <a:avLst/>
          </a:prstGeom>
          <a:noFill/>
          <a:ln w="19050">
            <a:solidFill>
              <a:srgbClr val="FF0000"/>
            </a:solidFill>
            <a:miter lim="800000"/>
          </a:ln>
        </p:spPr>
        <p:txBody>
          <a:bodyPr lIns="0" tIns="0" rIns="0" bIns="0" anchor="ctr" anchorCtr="1"/>
          <a:lstStyle/>
          <a:p>
            <a:pPr algn="ctr"/>
            <a:r>
              <a:rPr lang="zh-CN" altLang="en-US" sz="1200" b="1" dirty="0">
                <a:solidFill>
                  <a:srgbClr val="FF0000"/>
                </a:solidFill>
                <a:latin typeface="Alibaba PuHuiTi 2.0 55 Regular" pitchFamily="18" charset="-122"/>
                <a:ea typeface="Alibaba PuHuiTi 2.0 55 Regular" pitchFamily="18" charset="-122"/>
                <a:cs typeface="Alibaba PuHuiTi 2.0 55 Regular" pitchFamily="18" charset="-122"/>
              </a:rPr>
              <a:t>普通商密  合规管理  严禁外传</a:t>
            </a:r>
          </a:p>
        </p:txBody>
      </p:sp>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VISUAL…"/>
          <p:cNvSpPr txBox="1"/>
          <p:nvPr userDrawn="1"/>
        </p:nvSpPr>
        <p:spPr>
          <a:xfrm>
            <a:off x="348129" y="6480835"/>
            <a:ext cx="2140680" cy="98489"/>
          </a:xfrm>
          <a:prstGeom prst="rect">
            <a:avLst/>
          </a:prstGeom>
          <a:noFill/>
        </p:spPr>
        <p:txBody>
          <a:bodyPr wrap="square" lIns="0" tIns="0" rIns="0" bIns="0" rtlCol="0">
            <a:spAutoFit/>
          </a:bodyPr>
          <a:lstStyle>
            <a:defPPr>
              <a:defRPr lang="zh-CN"/>
            </a:defPPr>
            <a:lvl1pPr>
              <a:lnSpc>
                <a:spcPct val="80000"/>
              </a:lnSpc>
              <a:defRPr sz="3600" spc="180">
                <a:solidFill>
                  <a:srgbClr val="FFFFFF"/>
                </a:solidFill>
                <a:latin typeface="Helvetica Light"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800" spc="0" baseline="0" dirty="0">
                <a:solidFill>
                  <a:schemeClr val="bg1"/>
                </a:solidFill>
                <a:latin typeface="+mn-lt"/>
              </a:rPr>
              <a:t>Confidential @ AVATR 2023</a:t>
            </a:r>
            <a:r>
              <a:rPr lang="zh-CN" altLang="en-US" sz="800" spc="0" baseline="0" dirty="0">
                <a:solidFill>
                  <a:schemeClr val="bg1"/>
                </a:solidFill>
                <a:latin typeface="+mn-lt"/>
              </a:rPr>
              <a:t> </a:t>
            </a:r>
            <a:r>
              <a:rPr lang="en-US" altLang="zh-CN" sz="800" spc="0" baseline="0" dirty="0">
                <a:solidFill>
                  <a:schemeClr val="bg1"/>
                </a:solidFill>
                <a:latin typeface="+mn-lt"/>
              </a:rPr>
              <a:t>All rights reserved</a:t>
            </a:r>
          </a:p>
        </p:txBody>
      </p:sp>
      <p:sp>
        <p:nvSpPr>
          <p:cNvPr id="3" name="Slide Number Placeholder 2"/>
          <p:cNvSpPr>
            <a:spLocks noGrp="1"/>
          </p:cNvSpPr>
          <p:nvPr>
            <p:ph type="sldNum" sz="quarter" idx="4"/>
          </p:nvPr>
        </p:nvSpPr>
        <p:spPr>
          <a:xfrm>
            <a:off x="11523095" y="6472443"/>
            <a:ext cx="368141" cy="240700"/>
          </a:xfrm>
          <a:prstGeom prst="rect">
            <a:avLst/>
          </a:prstGeom>
        </p:spPr>
        <p:txBody>
          <a:bodyPr lIns="0" tIns="0" rIns="0" bIns="0" anchor="ctr" anchorCtr="0"/>
          <a:lstStyle>
            <a:lvl1pPr algn="r">
              <a:defRPr sz="800" b="0" i="0" baseline="0">
                <a:solidFill>
                  <a:schemeClr val="bg1">
                    <a:lumMod val="50000"/>
                  </a:schemeClr>
                </a:solidFill>
                <a:latin typeface="DIN Pro Regular" panose="02000503040000020003" pitchFamily="50" charset="0"/>
                <a:ea typeface="Alibaba PuHuiTi 2.0 55 Regular" pitchFamily="18" charset="-122"/>
                <a:cs typeface="Alibaba PuHuiTi 2.0 55 Regular" pitchFamily="18" charset="-122"/>
              </a:defRPr>
            </a:lvl1pPr>
          </a:lstStyle>
          <a:p>
            <a:fld id="{5BC33376-1D8B-E948-ACD6-AA21A3D30A8E}"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47" r:id="rId11"/>
    <p:sldLayoutId id="214748374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6322" name="标题占位符 1"/>
          <p:cNvSpPr>
            <a:spLocks noGrp="1"/>
          </p:cNvSpPr>
          <p:nvPr>
            <p:ph type="title"/>
          </p:nvPr>
        </p:nvSpPr>
        <p:spPr bwMode="auto">
          <a:xfrm>
            <a:off x="777636" y="731842"/>
            <a:ext cx="10621108" cy="752472"/>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单击此处编辑母版标题样式</a:t>
            </a:r>
          </a:p>
        </p:txBody>
      </p:sp>
      <p:sp>
        <p:nvSpPr>
          <p:cNvPr id="3" name="灯片编号占位符 2"/>
          <p:cNvSpPr>
            <a:spLocks noGrp="1"/>
          </p:cNvSpPr>
          <p:nvPr>
            <p:ph type="sldNum" sz="quarter" idx="4"/>
          </p:nvPr>
        </p:nvSpPr>
        <p:spPr>
          <a:xfrm>
            <a:off x="10350011" y="6486471"/>
            <a:ext cx="1422127" cy="365125"/>
          </a:xfrm>
          <a:prstGeom prst="rect">
            <a:avLst/>
          </a:prstGeom>
        </p:spPr>
        <p:txBody>
          <a:bodyPr vert="horz" lIns="91440" tIns="45720" rIns="91440" bIns="45720" rtlCol="0" anchor="ctr"/>
          <a:lstStyle>
            <a:lvl1pPr algn="r">
              <a:defRPr sz="1200">
                <a:solidFill>
                  <a:schemeClr val="tx1">
                    <a:tint val="75000"/>
                  </a:schemeClr>
                </a:solidFill>
                <a:ea typeface="Alibaba PuHuiTi 2.0 55 Regular"/>
              </a:defRPr>
            </a:lvl1pPr>
          </a:lstStyle>
          <a:p>
            <a:fld id="{C4FEF4C5-4A60-467F-8519-FE6869DD9F4A}" type="slidenum">
              <a:rPr lang="zh-CN" altLang="en-US" smtClean="0"/>
              <a:pPr/>
              <a:t>‹#›</a:t>
            </a:fld>
            <a:endParaRPr lang="zh-CN" altLang="en-US" dirty="0"/>
          </a:p>
        </p:txBody>
      </p:sp>
      <p:cxnSp>
        <p:nvCxnSpPr>
          <p:cNvPr id="2" name="直接连接符 1"/>
          <p:cNvCxnSpPr/>
          <p:nvPr userDrawn="1"/>
        </p:nvCxnSpPr>
        <p:spPr>
          <a:xfrm>
            <a:off x="2558829" y="509774"/>
            <a:ext cx="9633171"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userDrawn="1"/>
        </p:nvCxnSpPr>
        <p:spPr>
          <a:xfrm>
            <a:off x="-5782" y="509774"/>
            <a:ext cx="334243"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 name="图片 6" descr="长安汽车(集团)品牌_国内_slogan组合_蓝标"/>
          <p:cNvPicPr>
            <a:picLocks noChangeAspect="1"/>
          </p:cNvPicPr>
          <p:nvPr userDrawn="1"/>
        </p:nvPicPr>
        <p:blipFill>
          <a:blip r:embed="rId8"/>
          <a:stretch>
            <a:fillRect/>
          </a:stretch>
        </p:blipFill>
        <p:spPr>
          <a:xfrm>
            <a:off x="258022" y="-289005"/>
            <a:ext cx="2382821" cy="1339937"/>
          </a:xfrm>
          <a:prstGeom prst="rect">
            <a:avLst/>
          </a:prstGeom>
        </p:spPr>
      </p:pic>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Lst>
  <p:hf hdr="0" ftr="0" dt="0"/>
  <p:txStyles>
    <p:titleStyle>
      <a:lvl1pPr algn="l" rtl="0" eaLnBrk="0" fontAlgn="base" hangingPunct="0">
        <a:spcBef>
          <a:spcPct val="0"/>
        </a:spcBef>
        <a:spcAft>
          <a:spcPct val="0"/>
        </a:spcAft>
        <a:defRPr sz="2200" b="0" kern="1200">
          <a:solidFill>
            <a:srgbClr val="080808"/>
          </a:solidFill>
          <a:latin typeface="Arial" panose="020B0604020202020204" pitchFamily="34" charset="0"/>
          <a:ea typeface="Alibaba PuHuiTi 2.0 55 Regular"/>
          <a:cs typeface="+mj-cs"/>
        </a:defRPr>
      </a:lvl1pPr>
      <a:lvl2pPr algn="l" rtl="0" eaLnBrk="0" fontAlgn="base" hangingPunct="0">
        <a:spcBef>
          <a:spcPct val="0"/>
        </a:spcBef>
        <a:spcAft>
          <a:spcPct val="0"/>
        </a:spcAft>
        <a:defRPr sz="2200" b="1">
          <a:solidFill>
            <a:schemeClr val="tx1"/>
          </a:solidFill>
          <a:latin typeface="Arial" panose="020B0604020202020204" pitchFamily="34" charset="0"/>
          <a:ea typeface="宋体" pitchFamily="2" charset="-122"/>
        </a:defRPr>
      </a:lvl2pPr>
      <a:lvl3pPr algn="l" rtl="0" eaLnBrk="0" fontAlgn="base" hangingPunct="0">
        <a:spcBef>
          <a:spcPct val="0"/>
        </a:spcBef>
        <a:spcAft>
          <a:spcPct val="0"/>
        </a:spcAft>
        <a:defRPr sz="2200" b="1">
          <a:solidFill>
            <a:schemeClr val="tx1"/>
          </a:solidFill>
          <a:latin typeface="Arial" panose="020B0604020202020204" pitchFamily="34" charset="0"/>
          <a:ea typeface="宋体" pitchFamily="2" charset="-122"/>
        </a:defRPr>
      </a:lvl3pPr>
      <a:lvl4pPr algn="l" rtl="0" eaLnBrk="0" fontAlgn="base" hangingPunct="0">
        <a:spcBef>
          <a:spcPct val="0"/>
        </a:spcBef>
        <a:spcAft>
          <a:spcPct val="0"/>
        </a:spcAft>
        <a:defRPr sz="2200" b="1">
          <a:solidFill>
            <a:schemeClr val="tx1"/>
          </a:solidFill>
          <a:latin typeface="Arial" panose="020B0604020202020204" pitchFamily="34" charset="0"/>
          <a:ea typeface="宋体" pitchFamily="2" charset="-122"/>
        </a:defRPr>
      </a:lvl4pPr>
      <a:lvl5pPr algn="l" rtl="0" eaLnBrk="0" fontAlgn="base" hangingPunct="0">
        <a:spcBef>
          <a:spcPct val="0"/>
        </a:spcBef>
        <a:spcAft>
          <a:spcPct val="0"/>
        </a:spcAft>
        <a:defRPr sz="2200" b="1">
          <a:solidFill>
            <a:schemeClr val="tx1"/>
          </a:solidFill>
          <a:latin typeface="Arial" panose="020B0604020202020204" pitchFamily="34" charset="0"/>
          <a:ea typeface="宋体" pitchFamily="2" charset="-122"/>
        </a:defRPr>
      </a:lvl5pPr>
      <a:lvl6pPr marL="457200" algn="l" rtl="0" fontAlgn="base">
        <a:spcBef>
          <a:spcPct val="0"/>
        </a:spcBef>
        <a:spcAft>
          <a:spcPct val="0"/>
        </a:spcAft>
        <a:defRPr sz="2200" b="1">
          <a:solidFill>
            <a:schemeClr val="tx1"/>
          </a:solidFill>
          <a:latin typeface="Arial" panose="020B0604020202020204" pitchFamily="34" charset="0"/>
          <a:ea typeface="宋体" pitchFamily="2" charset="-122"/>
        </a:defRPr>
      </a:lvl6pPr>
      <a:lvl7pPr marL="914400" algn="l" rtl="0" fontAlgn="base">
        <a:spcBef>
          <a:spcPct val="0"/>
        </a:spcBef>
        <a:spcAft>
          <a:spcPct val="0"/>
        </a:spcAft>
        <a:defRPr sz="2200" b="1">
          <a:solidFill>
            <a:schemeClr val="tx1"/>
          </a:solidFill>
          <a:latin typeface="Arial" panose="020B0604020202020204" pitchFamily="34" charset="0"/>
          <a:ea typeface="宋体" pitchFamily="2" charset="-122"/>
        </a:defRPr>
      </a:lvl7pPr>
      <a:lvl8pPr marL="1371600" algn="l" rtl="0" fontAlgn="base">
        <a:spcBef>
          <a:spcPct val="0"/>
        </a:spcBef>
        <a:spcAft>
          <a:spcPct val="0"/>
        </a:spcAft>
        <a:defRPr sz="2200" b="1">
          <a:solidFill>
            <a:schemeClr val="tx1"/>
          </a:solidFill>
          <a:latin typeface="Arial" panose="020B0604020202020204" pitchFamily="34" charset="0"/>
          <a:ea typeface="宋体" pitchFamily="2" charset="-122"/>
        </a:defRPr>
      </a:lvl8pPr>
      <a:lvl9pPr marL="1828800" algn="l" rtl="0" fontAlgn="base">
        <a:spcBef>
          <a:spcPct val="0"/>
        </a:spcBef>
        <a:spcAft>
          <a:spcPct val="0"/>
        </a:spcAft>
        <a:defRPr sz="2200" b="1">
          <a:solidFill>
            <a:schemeClr val="tx1"/>
          </a:solidFill>
          <a:latin typeface="Arial" panose="020B0604020202020204" pitchFamily="34" charset="0"/>
          <a:ea typeface="宋体" pitchFamily="2" charset="-122"/>
        </a:defRPr>
      </a:lvl9pPr>
    </p:titleStyle>
    <p:bodyStyle>
      <a:lvl1pPr marL="186055" indent="-186055"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anose="020B0604020202020204" pitchFamily="34" charset="0"/>
          <a:ea typeface="+mn-ea"/>
          <a:cs typeface="+mn-cs"/>
        </a:defRPr>
      </a:lvl1pPr>
      <a:lvl2pPr marL="541655" indent="-17653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mn-cs"/>
        </a:defRPr>
      </a:lvl2pPr>
      <a:lvl3pPr marL="949325" indent="-228600" algn="l" rtl="0" eaLnBrk="0" fontAlgn="base" hangingPunct="0">
        <a:spcBef>
          <a:spcPct val="20000"/>
        </a:spcBef>
        <a:spcAft>
          <a:spcPct val="0"/>
        </a:spcAft>
        <a:buFont typeface="Wingdings" panose="05000000000000000000" pitchFamily="2" charset="2"/>
        <a:buChar char="ü"/>
        <a:defRPr sz="1400" kern="1200">
          <a:solidFill>
            <a:schemeClr val="tx1"/>
          </a:solidFill>
          <a:latin typeface="Arial" panose="020B0604020202020204" pitchFamily="34" charset="0"/>
          <a:ea typeface="+mn-ea"/>
          <a:cs typeface="+mn-cs"/>
        </a:defRPr>
      </a:lvl3pPr>
      <a:lvl4pPr marL="1357630" indent="-228600" algn="l" rtl="0" eaLnBrk="0" fontAlgn="base" hangingPunct="0">
        <a:spcBef>
          <a:spcPct val="20000"/>
        </a:spcBef>
        <a:spcAft>
          <a:spcPct val="0"/>
        </a:spcAft>
        <a:buFont typeface="Wingdings" panose="05000000000000000000" pitchFamily="2" charset="2"/>
        <a:buChar char="Ø"/>
        <a:defRPr sz="1400" kern="1200">
          <a:solidFill>
            <a:schemeClr val="tx1"/>
          </a:solidFill>
          <a:latin typeface="Arial" panose="020B0604020202020204" pitchFamily="34" charset="0"/>
          <a:ea typeface="+mn-ea"/>
          <a:cs typeface="+mn-cs"/>
        </a:defRPr>
      </a:lvl4pPr>
      <a:lvl5pPr marL="17653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18" Type="http://schemas.openxmlformats.org/officeDocument/2006/relationships/tags" Target="../tags/tag22.xml"/><Relationship Id="rId3" Type="http://schemas.openxmlformats.org/officeDocument/2006/relationships/tags" Target="../tags/tag7.xml"/><Relationship Id="rId21" Type="http://schemas.openxmlformats.org/officeDocument/2006/relationships/slideLayout" Target="../slideLayouts/slideLayout9.xml"/><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tags" Target="../tags/tag21.xml"/><Relationship Id="rId2" Type="http://schemas.openxmlformats.org/officeDocument/2006/relationships/tags" Target="../tags/tag6.xml"/><Relationship Id="rId16" Type="http://schemas.openxmlformats.org/officeDocument/2006/relationships/tags" Target="../tags/tag20.xml"/><Relationship Id="rId20" Type="http://schemas.openxmlformats.org/officeDocument/2006/relationships/tags" Target="../tags/tag24.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5" Type="http://schemas.openxmlformats.org/officeDocument/2006/relationships/tags" Target="../tags/tag9.xml"/><Relationship Id="rId15" Type="http://schemas.openxmlformats.org/officeDocument/2006/relationships/tags" Target="../tags/tag19.xml"/><Relationship Id="rId23" Type="http://schemas.openxmlformats.org/officeDocument/2006/relationships/image" Target="../media/image10.png"/><Relationship Id="rId10" Type="http://schemas.openxmlformats.org/officeDocument/2006/relationships/tags" Target="../tags/tag14.xml"/><Relationship Id="rId19" Type="http://schemas.openxmlformats.org/officeDocument/2006/relationships/tags" Target="../tags/tag23.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tags" Target="../tags/tag18.xml"/><Relationship Id="rId22" Type="http://schemas.openxmlformats.org/officeDocument/2006/relationships/image" Target="../media/image9.png"/></Relationships>
</file>

<file path=ppt/slides/_rels/slide12.xml.rels><?xml version="1.0" encoding="UTF-8" standalone="yes"?>
<Relationships xmlns="http://schemas.openxmlformats.org/package/2006/relationships"><Relationship Id="rId26" Type="http://schemas.openxmlformats.org/officeDocument/2006/relationships/tags" Target="../tags/tag50.xml"/><Relationship Id="rId21" Type="http://schemas.openxmlformats.org/officeDocument/2006/relationships/tags" Target="../tags/tag45.xml"/><Relationship Id="rId42" Type="http://schemas.openxmlformats.org/officeDocument/2006/relationships/tags" Target="../tags/tag66.xml"/><Relationship Id="rId47" Type="http://schemas.openxmlformats.org/officeDocument/2006/relationships/tags" Target="../tags/tag71.xml"/><Relationship Id="rId63" Type="http://schemas.openxmlformats.org/officeDocument/2006/relationships/tags" Target="../tags/tag87.xml"/><Relationship Id="rId68" Type="http://schemas.openxmlformats.org/officeDocument/2006/relationships/tags" Target="../tags/tag92.xml"/><Relationship Id="rId84" Type="http://schemas.openxmlformats.org/officeDocument/2006/relationships/slideLayout" Target="../slideLayouts/slideLayout9.xml"/><Relationship Id="rId89" Type="http://schemas.openxmlformats.org/officeDocument/2006/relationships/image" Target="../media/image11.png"/><Relationship Id="rId16" Type="http://schemas.openxmlformats.org/officeDocument/2006/relationships/tags" Target="../tags/tag40.xml"/><Relationship Id="rId11" Type="http://schemas.openxmlformats.org/officeDocument/2006/relationships/tags" Target="../tags/tag35.xml"/><Relationship Id="rId32" Type="http://schemas.openxmlformats.org/officeDocument/2006/relationships/tags" Target="../tags/tag56.xml"/><Relationship Id="rId37" Type="http://schemas.openxmlformats.org/officeDocument/2006/relationships/tags" Target="../tags/tag61.xml"/><Relationship Id="rId53" Type="http://schemas.openxmlformats.org/officeDocument/2006/relationships/tags" Target="../tags/tag77.xml"/><Relationship Id="rId58" Type="http://schemas.openxmlformats.org/officeDocument/2006/relationships/tags" Target="../tags/tag82.xml"/><Relationship Id="rId74" Type="http://schemas.openxmlformats.org/officeDocument/2006/relationships/tags" Target="../tags/tag98.xml"/><Relationship Id="rId79" Type="http://schemas.openxmlformats.org/officeDocument/2006/relationships/tags" Target="../tags/tag103.xml"/><Relationship Id="rId5" Type="http://schemas.openxmlformats.org/officeDocument/2006/relationships/tags" Target="../tags/tag29.xml"/><Relationship Id="rId90" Type="http://schemas.openxmlformats.org/officeDocument/2006/relationships/image" Target="../media/image12.svg"/><Relationship Id="rId95" Type="http://schemas.openxmlformats.org/officeDocument/2006/relationships/image" Target="../media/image17.svg"/><Relationship Id="rId22" Type="http://schemas.openxmlformats.org/officeDocument/2006/relationships/tags" Target="../tags/tag46.xml"/><Relationship Id="rId27" Type="http://schemas.openxmlformats.org/officeDocument/2006/relationships/tags" Target="../tags/tag51.xml"/><Relationship Id="rId43" Type="http://schemas.openxmlformats.org/officeDocument/2006/relationships/tags" Target="../tags/tag67.xml"/><Relationship Id="rId48" Type="http://schemas.openxmlformats.org/officeDocument/2006/relationships/tags" Target="../tags/tag72.xml"/><Relationship Id="rId64" Type="http://schemas.openxmlformats.org/officeDocument/2006/relationships/tags" Target="../tags/tag88.xml"/><Relationship Id="rId69" Type="http://schemas.openxmlformats.org/officeDocument/2006/relationships/tags" Target="../tags/tag93.xml"/><Relationship Id="rId80" Type="http://schemas.openxmlformats.org/officeDocument/2006/relationships/tags" Target="../tags/tag104.xml"/><Relationship Id="rId85" Type="http://schemas.openxmlformats.org/officeDocument/2006/relationships/image" Target="../media/image6.png"/><Relationship Id="rId3" Type="http://schemas.openxmlformats.org/officeDocument/2006/relationships/tags" Target="../tags/tag27.xml"/><Relationship Id="rId12" Type="http://schemas.openxmlformats.org/officeDocument/2006/relationships/tags" Target="../tags/tag36.xml"/><Relationship Id="rId17" Type="http://schemas.openxmlformats.org/officeDocument/2006/relationships/tags" Target="../tags/tag41.xml"/><Relationship Id="rId25" Type="http://schemas.openxmlformats.org/officeDocument/2006/relationships/tags" Target="../tags/tag49.xml"/><Relationship Id="rId33" Type="http://schemas.openxmlformats.org/officeDocument/2006/relationships/tags" Target="../tags/tag57.xml"/><Relationship Id="rId38" Type="http://schemas.openxmlformats.org/officeDocument/2006/relationships/tags" Target="../tags/tag62.xml"/><Relationship Id="rId46" Type="http://schemas.openxmlformats.org/officeDocument/2006/relationships/tags" Target="../tags/tag70.xml"/><Relationship Id="rId59" Type="http://schemas.openxmlformats.org/officeDocument/2006/relationships/tags" Target="../tags/tag83.xml"/><Relationship Id="rId67" Type="http://schemas.openxmlformats.org/officeDocument/2006/relationships/tags" Target="../tags/tag91.xml"/><Relationship Id="rId20" Type="http://schemas.openxmlformats.org/officeDocument/2006/relationships/tags" Target="../tags/tag44.xml"/><Relationship Id="rId41" Type="http://schemas.openxmlformats.org/officeDocument/2006/relationships/tags" Target="../tags/tag65.xml"/><Relationship Id="rId54" Type="http://schemas.openxmlformats.org/officeDocument/2006/relationships/tags" Target="../tags/tag78.xml"/><Relationship Id="rId62" Type="http://schemas.openxmlformats.org/officeDocument/2006/relationships/tags" Target="../tags/tag86.xml"/><Relationship Id="rId70" Type="http://schemas.openxmlformats.org/officeDocument/2006/relationships/tags" Target="../tags/tag94.xml"/><Relationship Id="rId75" Type="http://schemas.openxmlformats.org/officeDocument/2006/relationships/tags" Target="../tags/tag99.xml"/><Relationship Id="rId83" Type="http://schemas.openxmlformats.org/officeDocument/2006/relationships/tags" Target="../tags/tag107.xml"/><Relationship Id="rId88" Type="http://schemas.openxmlformats.org/officeDocument/2006/relationships/image" Target="../media/image9.svg"/><Relationship Id="rId91" Type="http://schemas.openxmlformats.org/officeDocument/2006/relationships/image" Target="../media/image13.png"/><Relationship Id="rId96" Type="http://schemas.openxmlformats.org/officeDocument/2006/relationships/image" Target="../media/image18.svg"/><Relationship Id="rId1" Type="http://schemas.openxmlformats.org/officeDocument/2006/relationships/tags" Target="../tags/tag25.xml"/><Relationship Id="rId6" Type="http://schemas.openxmlformats.org/officeDocument/2006/relationships/tags" Target="../tags/tag30.xml"/><Relationship Id="rId15" Type="http://schemas.openxmlformats.org/officeDocument/2006/relationships/tags" Target="../tags/tag39.xml"/><Relationship Id="rId23" Type="http://schemas.openxmlformats.org/officeDocument/2006/relationships/tags" Target="../tags/tag47.xml"/><Relationship Id="rId28" Type="http://schemas.openxmlformats.org/officeDocument/2006/relationships/tags" Target="../tags/tag52.xml"/><Relationship Id="rId36" Type="http://schemas.openxmlformats.org/officeDocument/2006/relationships/tags" Target="../tags/tag60.xml"/><Relationship Id="rId49" Type="http://schemas.openxmlformats.org/officeDocument/2006/relationships/tags" Target="../tags/tag73.xml"/><Relationship Id="rId57" Type="http://schemas.openxmlformats.org/officeDocument/2006/relationships/tags" Target="../tags/tag81.xml"/><Relationship Id="rId10" Type="http://schemas.openxmlformats.org/officeDocument/2006/relationships/tags" Target="../tags/tag34.xml"/><Relationship Id="rId31" Type="http://schemas.openxmlformats.org/officeDocument/2006/relationships/tags" Target="../tags/tag55.xml"/><Relationship Id="rId44" Type="http://schemas.openxmlformats.org/officeDocument/2006/relationships/tags" Target="../tags/tag68.xml"/><Relationship Id="rId52" Type="http://schemas.openxmlformats.org/officeDocument/2006/relationships/tags" Target="../tags/tag76.xml"/><Relationship Id="rId60" Type="http://schemas.openxmlformats.org/officeDocument/2006/relationships/tags" Target="../tags/tag84.xml"/><Relationship Id="rId65" Type="http://schemas.openxmlformats.org/officeDocument/2006/relationships/tags" Target="../tags/tag89.xml"/><Relationship Id="rId73" Type="http://schemas.openxmlformats.org/officeDocument/2006/relationships/tags" Target="../tags/tag97.xml"/><Relationship Id="rId78" Type="http://schemas.openxmlformats.org/officeDocument/2006/relationships/tags" Target="../tags/tag102.xml"/><Relationship Id="rId81" Type="http://schemas.openxmlformats.org/officeDocument/2006/relationships/tags" Target="../tags/tag105.xml"/><Relationship Id="rId86" Type="http://schemas.openxmlformats.org/officeDocument/2006/relationships/image" Target="../media/image7.svg"/><Relationship Id="rId94" Type="http://schemas.openxmlformats.org/officeDocument/2006/relationships/image" Target="../media/image16.svg"/><Relationship Id="rId99" Type="http://schemas.openxmlformats.org/officeDocument/2006/relationships/image" Target="../media/image21.svg"/><Relationship Id="rId4" Type="http://schemas.openxmlformats.org/officeDocument/2006/relationships/tags" Target="../tags/tag28.xml"/><Relationship Id="rId9" Type="http://schemas.openxmlformats.org/officeDocument/2006/relationships/tags" Target="../tags/tag33.xml"/><Relationship Id="rId13" Type="http://schemas.openxmlformats.org/officeDocument/2006/relationships/tags" Target="../tags/tag37.xml"/><Relationship Id="rId18" Type="http://schemas.openxmlformats.org/officeDocument/2006/relationships/tags" Target="../tags/tag42.xml"/><Relationship Id="rId39" Type="http://schemas.openxmlformats.org/officeDocument/2006/relationships/tags" Target="../tags/tag63.xml"/><Relationship Id="rId34" Type="http://schemas.openxmlformats.org/officeDocument/2006/relationships/tags" Target="../tags/tag58.xml"/><Relationship Id="rId50" Type="http://schemas.openxmlformats.org/officeDocument/2006/relationships/tags" Target="../tags/tag74.xml"/><Relationship Id="rId55" Type="http://schemas.openxmlformats.org/officeDocument/2006/relationships/tags" Target="../tags/tag79.xml"/><Relationship Id="rId76" Type="http://schemas.openxmlformats.org/officeDocument/2006/relationships/tags" Target="../tags/tag100.xml"/><Relationship Id="rId97" Type="http://schemas.openxmlformats.org/officeDocument/2006/relationships/image" Target="../media/image19.svg"/><Relationship Id="rId7" Type="http://schemas.openxmlformats.org/officeDocument/2006/relationships/tags" Target="../tags/tag31.xml"/><Relationship Id="rId71" Type="http://schemas.openxmlformats.org/officeDocument/2006/relationships/tags" Target="../tags/tag95.xml"/><Relationship Id="rId92" Type="http://schemas.openxmlformats.org/officeDocument/2006/relationships/image" Target="../media/image14.svg"/><Relationship Id="rId2" Type="http://schemas.openxmlformats.org/officeDocument/2006/relationships/tags" Target="../tags/tag26.xml"/><Relationship Id="rId29" Type="http://schemas.openxmlformats.org/officeDocument/2006/relationships/tags" Target="../tags/tag53.xml"/><Relationship Id="rId24" Type="http://schemas.openxmlformats.org/officeDocument/2006/relationships/tags" Target="../tags/tag48.xml"/><Relationship Id="rId40" Type="http://schemas.openxmlformats.org/officeDocument/2006/relationships/tags" Target="../tags/tag64.xml"/><Relationship Id="rId45" Type="http://schemas.openxmlformats.org/officeDocument/2006/relationships/tags" Target="../tags/tag69.xml"/><Relationship Id="rId66" Type="http://schemas.openxmlformats.org/officeDocument/2006/relationships/tags" Target="../tags/tag90.xml"/><Relationship Id="rId87" Type="http://schemas.openxmlformats.org/officeDocument/2006/relationships/image" Target="../media/image8.png"/><Relationship Id="rId61" Type="http://schemas.openxmlformats.org/officeDocument/2006/relationships/tags" Target="../tags/tag85.xml"/><Relationship Id="rId82" Type="http://schemas.openxmlformats.org/officeDocument/2006/relationships/tags" Target="../tags/tag106.xml"/><Relationship Id="rId19" Type="http://schemas.openxmlformats.org/officeDocument/2006/relationships/tags" Target="../tags/tag43.xml"/><Relationship Id="rId14" Type="http://schemas.openxmlformats.org/officeDocument/2006/relationships/tags" Target="../tags/tag38.xml"/><Relationship Id="rId30" Type="http://schemas.openxmlformats.org/officeDocument/2006/relationships/tags" Target="../tags/tag54.xml"/><Relationship Id="rId35" Type="http://schemas.openxmlformats.org/officeDocument/2006/relationships/tags" Target="../tags/tag59.xml"/><Relationship Id="rId56" Type="http://schemas.openxmlformats.org/officeDocument/2006/relationships/tags" Target="../tags/tag80.xml"/><Relationship Id="rId77" Type="http://schemas.openxmlformats.org/officeDocument/2006/relationships/tags" Target="../tags/tag101.xml"/><Relationship Id="rId8" Type="http://schemas.openxmlformats.org/officeDocument/2006/relationships/tags" Target="../tags/tag32.xml"/><Relationship Id="rId51" Type="http://schemas.openxmlformats.org/officeDocument/2006/relationships/tags" Target="../tags/tag75.xml"/><Relationship Id="rId72" Type="http://schemas.openxmlformats.org/officeDocument/2006/relationships/tags" Target="../tags/tag96.xml"/><Relationship Id="rId93" Type="http://schemas.openxmlformats.org/officeDocument/2006/relationships/image" Target="../media/image15.png"/><Relationship Id="rId98" Type="http://schemas.openxmlformats.org/officeDocument/2006/relationships/image" Target="../media/image20.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chart" Target="../charts/chart1.xml"/><Relationship Id="rId5" Type="http://schemas.openxmlformats.org/officeDocument/2006/relationships/notesSlide" Target="../notesSlides/notesSlide3.xml"/><Relationship Id="rId4"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tags" Target="../tags/tag113.xml"/><Relationship Id="rId7" Type="http://schemas.openxmlformats.org/officeDocument/2006/relationships/slideLayout" Target="../slideLayouts/slideLayout9.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s>
</file>

<file path=ppt/slides/_rels/slide2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slideLayout" Target="../slideLayouts/slideLayout9.xml"/><Relationship Id="rId1" Type="http://schemas.openxmlformats.org/officeDocument/2006/relationships/tags" Target="../tags/tag117.xml"/></Relationships>
</file>

<file path=ppt/slides/_rels/slide26.xml.rels><?xml version="1.0" encoding="UTF-8" standalone="yes"?>
<Relationships xmlns="http://schemas.openxmlformats.org/package/2006/relationships"><Relationship Id="rId8" Type="http://schemas.openxmlformats.org/officeDocument/2006/relationships/chart" Target="../charts/chart10.xml"/><Relationship Id="rId3" Type="http://schemas.openxmlformats.org/officeDocument/2006/relationships/chart" Target="../charts/chart5.xml"/><Relationship Id="rId7" Type="http://schemas.openxmlformats.org/officeDocument/2006/relationships/chart" Target="../charts/chart9.xml"/><Relationship Id="rId2" Type="http://schemas.openxmlformats.org/officeDocument/2006/relationships/chart" Target="../charts/chart4.xml"/><Relationship Id="rId1" Type="http://schemas.openxmlformats.org/officeDocument/2006/relationships/slideLayout" Target="../slideLayouts/slideLayout9.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 Id="rId9" Type="http://schemas.openxmlformats.org/officeDocument/2006/relationships/chart" Target="../charts/chart11.xml"/></Relationships>
</file>

<file path=ppt/slides/_rels/slide27.xml.rels><?xml version="1.0" encoding="UTF-8" standalone="yes"?>
<Relationships xmlns="http://schemas.openxmlformats.org/package/2006/relationships"><Relationship Id="rId8" Type="http://schemas.openxmlformats.org/officeDocument/2006/relationships/chart" Target="../charts/chart12.xml"/><Relationship Id="rId3" Type="http://schemas.openxmlformats.org/officeDocument/2006/relationships/tags" Target="../tags/tag120.xml"/><Relationship Id="rId7" Type="http://schemas.openxmlformats.org/officeDocument/2006/relationships/notesSlide" Target="../notesSlides/notesSlide4.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slideLayout" Target="../slideLayouts/slideLayout9.xml"/><Relationship Id="rId5" Type="http://schemas.openxmlformats.org/officeDocument/2006/relationships/tags" Target="../tags/tag122.xml"/><Relationship Id="rId4" Type="http://schemas.openxmlformats.org/officeDocument/2006/relationships/tags" Target="../tags/tag121.xml"/></Relationships>
</file>

<file path=ppt/slides/_rels/slide28.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chart" Target="../charts/chart16.xml"/><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chart" Target="../charts/chart15.xml"/><Relationship Id="rId17" Type="http://schemas.openxmlformats.org/officeDocument/2006/relationships/chart" Target="../charts/chart20.xml"/><Relationship Id="rId2" Type="http://schemas.openxmlformats.org/officeDocument/2006/relationships/tags" Target="../tags/tag124.xml"/><Relationship Id="rId16" Type="http://schemas.openxmlformats.org/officeDocument/2006/relationships/chart" Target="../charts/chart19.xm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chart" Target="../charts/chart14.xml"/><Relationship Id="rId5" Type="http://schemas.openxmlformats.org/officeDocument/2006/relationships/tags" Target="../tags/tag127.xml"/><Relationship Id="rId15" Type="http://schemas.openxmlformats.org/officeDocument/2006/relationships/chart" Target="../charts/chart18.xml"/><Relationship Id="rId10" Type="http://schemas.openxmlformats.org/officeDocument/2006/relationships/chart" Target="../charts/chart13.xml"/><Relationship Id="rId4" Type="http://schemas.openxmlformats.org/officeDocument/2006/relationships/tags" Target="../tags/tag126.xml"/><Relationship Id="rId9" Type="http://schemas.openxmlformats.org/officeDocument/2006/relationships/slideLayout" Target="../slideLayouts/slideLayout9.xml"/><Relationship Id="rId14" Type="http://schemas.openxmlformats.org/officeDocument/2006/relationships/chart" Target="../charts/chart17.xml"/></Relationships>
</file>

<file path=ppt/slides/_rels/slide29.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tags" Target="../tags/tag133.xml"/><Relationship Id="rId7" Type="http://schemas.openxmlformats.org/officeDocument/2006/relationships/chart" Target="../charts/chart23.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chart" Target="../charts/chart22.xml"/><Relationship Id="rId5" Type="http://schemas.openxmlformats.org/officeDocument/2006/relationships/notesSlide" Target="../notesSlides/notesSlide5.xml"/><Relationship Id="rId4"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chart" Target="../charts/chart24.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chart" Target="../charts/chart26.xml"/><Relationship Id="rId1" Type="http://schemas.openxmlformats.org/officeDocument/2006/relationships/slideLayout" Target="../slideLayouts/slideLayout9.xml"/><Relationship Id="rId4" Type="http://schemas.openxmlformats.org/officeDocument/2006/relationships/chart" Target="../charts/chart28.xml"/></Relationships>
</file>

<file path=ppt/slides/_rels/slide37.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slideLayout" Target="../slideLayouts/slideLayout9.xml"/><Relationship Id="rId1" Type="http://schemas.openxmlformats.org/officeDocument/2006/relationships/tags" Target="../tags/tag134.xml"/><Relationship Id="rId5" Type="http://schemas.openxmlformats.org/officeDocument/2006/relationships/chart" Target="../charts/chart31.xml"/><Relationship Id="rId4" Type="http://schemas.openxmlformats.org/officeDocument/2006/relationships/chart" Target="../charts/chart30.xml"/></Relationships>
</file>

<file path=ppt/slides/_rels/slide38.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chart" Target="../charts/chart32.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chart" Target="../charts/chart35.xml"/><Relationship Id="rId2" Type="http://schemas.openxmlformats.org/officeDocument/2006/relationships/chart" Target="../charts/chart34.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chart" Target="../charts/chart36.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136.xml"/><Relationship Id="rId1" Type="http://schemas.openxmlformats.org/officeDocument/2006/relationships/tags" Target="../tags/tag135.xml"/><Relationship Id="rId5" Type="http://schemas.openxmlformats.org/officeDocument/2006/relationships/chart" Target="../charts/chart37.xml"/><Relationship Id="rId4" Type="http://schemas.openxmlformats.org/officeDocument/2006/relationships/notesSlide" Target="../notesSlides/notesSlide6.xml"/></Relationships>
</file>

<file path=ppt/slides/_rels/slide42.xml.rels><?xml version="1.0" encoding="UTF-8" standalone="yes"?>
<Relationships xmlns="http://schemas.openxmlformats.org/package/2006/relationships"><Relationship Id="rId2" Type="http://schemas.openxmlformats.org/officeDocument/2006/relationships/chart" Target="../charts/chart38.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chart" Target="../charts/chart39.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chart" Target="../charts/chart40.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138.xml"/><Relationship Id="rId1" Type="http://schemas.openxmlformats.org/officeDocument/2006/relationships/tags" Target="../tags/tag137.xml"/><Relationship Id="rId5" Type="http://schemas.openxmlformats.org/officeDocument/2006/relationships/chart" Target="../charts/chart41.xml"/><Relationship Id="rId4" Type="http://schemas.openxmlformats.org/officeDocument/2006/relationships/notesSlide" Target="../notesSlides/notesSlide7.xml"/></Relationships>
</file>

<file path=ppt/slides/_rels/slide47.xml.rels><?xml version="1.0" encoding="UTF-8" standalone="yes"?>
<Relationships xmlns="http://schemas.openxmlformats.org/package/2006/relationships"><Relationship Id="rId8" Type="http://schemas.openxmlformats.org/officeDocument/2006/relationships/chart" Target="../charts/chart47.xml"/><Relationship Id="rId3" Type="http://schemas.openxmlformats.org/officeDocument/2006/relationships/chart" Target="../charts/chart42.xml"/><Relationship Id="rId7" Type="http://schemas.openxmlformats.org/officeDocument/2006/relationships/chart" Target="../charts/chart46.xml"/><Relationship Id="rId2" Type="http://schemas.openxmlformats.org/officeDocument/2006/relationships/slideLayout" Target="../slideLayouts/slideLayout9.xml"/><Relationship Id="rId1" Type="http://schemas.openxmlformats.org/officeDocument/2006/relationships/tags" Target="../tags/tag139.xml"/><Relationship Id="rId6" Type="http://schemas.openxmlformats.org/officeDocument/2006/relationships/chart" Target="../charts/chart45.xml"/><Relationship Id="rId11" Type="http://schemas.openxmlformats.org/officeDocument/2006/relationships/chart" Target="../charts/chart50.xml"/><Relationship Id="rId5" Type="http://schemas.openxmlformats.org/officeDocument/2006/relationships/chart" Target="../charts/chart44.xml"/><Relationship Id="rId10" Type="http://schemas.openxmlformats.org/officeDocument/2006/relationships/chart" Target="../charts/chart49.xml"/><Relationship Id="rId4" Type="http://schemas.openxmlformats.org/officeDocument/2006/relationships/chart" Target="../charts/chart43.xml"/><Relationship Id="rId9" Type="http://schemas.openxmlformats.org/officeDocument/2006/relationships/chart" Target="../charts/chart4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8" Type="http://schemas.openxmlformats.org/officeDocument/2006/relationships/image" Target="../media/image22.jpeg"/><Relationship Id="rId13" Type="http://schemas.openxmlformats.org/officeDocument/2006/relationships/chart" Target="../charts/chart55.xml"/><Relationship Id="rId18" Type="http://schemas.openxmlformats.org/officeDocument/2006/relationships/chart" Target="../charts/chart60.xml"/><Relationship Id="rId3" Type="http://schemas.openxmlformats.org/officeDocument/2006/relationships/tags" Target="../tags/tag142.xml"/><Relationship Id="rId7" Type="http://schemas.openxmlformats.org/officeDocument/2006/relationships/notesSlide" Target="../notesSlides/notesSlide8.xml"/><Relationship Id="rId12" Type="http://schemas.openxmlformats.org/officeDocument/2006/relationships/chart" Target="../charts/chart54.xml"/><Relationship Id="rId17" Type="http://schemas.openxmlformats.org/officeDocument/2006/relationships/chart" Target="../charts/chart59.xml"/><Relationship Id="rId2" Type="http://schemas.openxmlformats.org/officeDocument/2006/relationships/tags" Target="../tags/tag141.xml"/><Relationship Id="rId16" Type="http://schemas.openxmlformats.org/officeDocument/2006/relationships/chart" Target="../charts/chart58.xml"/><Relationship Id="rId1" Type="http://schemas.openxmlformats.org/officeDocument/2006/relationships/tags" Target="../tags/tag140.xml"/><Relationship Id="rId6" Type="http://schemas.openxmlformats.org/officeDocument/2006/relationships/slideLayout" Target="../slideLayouts/slideLayout9.xml"/><Relationship Id="rId11" Type="http://schemas.openxmlformats.org/officeDocument/2006/relationships/chart" Target="../charts/chart53.xml"/><Relationship Id="rId5" Type="http://schemas.openxmlformats.org/officeDocument/2006/relationships/tags" Target="../tags/tag144.xml"/><Relationship Id="rId15" Type="http://schemas.openxmlformats.org/officeDocument/2006/relationships/chart" Target="../charts/chart57.xml"/><Relationship Id="rId10" Type="http://schemas.openxmlformats.org/officeDocument/2006/relationships/chart" Target="../charts/chart52.xml"/><Relationship Id="rId4" Type="http://schemas.openxmlformats.org/officeDocument/2006/relationships/tags" Target="../tags/tag143.xml"/><Relationship Id="rId9" Type="http://schemas.openxmlformats.org/officeDocument/2006/relationships/chart" Target="../charts/chart51.xml"/><Relationship Id="rId14" Type="http://schemas.openxmlformats.org/officeDocument/2006/relationships/chart" Target="../charts/chart56.xml"/></Relationships>
</file>

<file path=ppt/slides/_rels/slide5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9.xml"/><Relationship Id="rId7" Type="http://schemas.openxmlformats.org/officeDocument/2006/relationships/image" Target="../media/image25.svg"/><Relationship Id="rId2" Type="http://schemas.openxmlformats.org/officeDocument/2006/relationships/slideLayout" Target="../slideLayouts/slideLayout9.xml"/><Relationship Id="rId1" Type="http://schemas.openxmlformats.org/officeDocument/2006/relationships/tags" Target="../tags/tag145.xml"/><Relationship Id="rId6" Type="http://schemas.openxmlformats.org/officeDocument/2006/relationships/image" Target="../media/image24.png"/><Relationship Id="rId5" Type="http://schemas.openxmlformats.org/officeDocument/2006/relationships/chart" Target="../charts/chart61.xml"/><Relationship Id="rId10" Type="http://schemas.openxmlformats.org/officeDocument/2006/relationships/image" Target="../media/image28.png"/><Relationship Id="rId4" Type="http://schemas.openxmlformats.org/officeDocument/2006/relationships/image" Target="../media/image23.png"/><Relationship Id="rId9" Type="http://schemas.openxmlformats.org/officeDocument/2006/relationships/image" Target="../media/image27.svg"/></Relationships>
</file>

<file path=ppt/slides/_rels/slide51.xml.rels><?xml version="1.0" encoding="UTF-8" standalone="yes"?>
<Relationships xmlns="http://schemas.openxmlformats.org/package/2006/relationships"><Relationship Id="rId8" Type="http://schemas.openxmlformats.org/officeDocument/2006/relationships/tags" Target="../tags/tag153.xml"/><Relationship Id="rId13" Type="http://schemas.openxmlformats.org/officeDocument/2006/relationships/image" Target="../media/image31.png"/><Relationship Id="rId18" Type="http://schemas.openxmlformats.org/officeDocument/2006/relationships/chart" Target="../charts/chart62.xml"/><Relationship Id="rId26" Type="http://schemas.openxmlformats.org/officeDocument/2006/relationships/image" Target="../media/image35.png"/><Relationship Id="rId3" Type="http://schemas.openxmlformats.org/officeDocument/2006/relationships/tags" Target="../tags/tag148.xml"/><Relationship Id="rId21" Type="http://schemas.openxmlformats.org/officeDocument/2006/relationships/chart" Target="../charts/chart65.xml"/><Relationship Id="rId7" Type="http://schemas.openxmlformats.org/officeDocument/2006/relationships/tags" Target="../tags/tag152.xml"/><Relationship Id="rId12" Type="http://schemas.openxmlformats.org/officeDocument/2006/relationships/image" Target="../media/image30.png"/><Relationship Id="rId17" Type="http://schemas.openxmlformats.org/officeDocument/2006/relationships/image" Target="../media/image34.png"/><Relationship Id="rId25" Type="http://schemas.openxmlformats.org/officeDocument/2006/relationships/image" Target="../media/image27.svg"/><Relationship Id="rId2" Type="http://schemas.openxmlformats.org/officeDocument/2006/relationships/tags" Target="../tags/tag147.xml"/><Relationship Id="rId16" Type="http://schemas.openxmlformats.org/officeDocument/2006/relationships/image" Target="../media/image23.png"/><Relationship Id="rId20" Type="http://schemas.openxmlformats.org/officeDocument/2006/relationships/chart" Target="../charts/chart64.xml"/><Relationship Id="rId29" Type="http://schemas.openxmlformats.org/officeDocument/2006/relationships/chart" Target="../charts/chart66.xml"/><Relationship Id="rId1" Type="http://schemas.openxmlformats.org/officeDocument/2006/relationships/tags" Target="../tags/tag146.xml"/><Relationship Id="rId6" Type="http://schemas.openxmlformats.org/officeDocument/2006/relationships/tags" Target="../tags/tag151.xml"/><Relationship Id="rId11" Type="http://schemas.openxmlformats.org/officeDocument/2006/relationships/image" Target="../media/image29.png"/><Relationship Id="rId24" Type="http://schemas.openxmlformats.org/officeDocument/2006/relationships/image" Target="../media/image26.png"/><Relationship Id="rId32" Type="http://schemas.openxmlformats.org/officeDocument/2006/relationships/chart" Target="../charts/chart69.xml"/><Relationship Id="rId5" Type="http://schemas.openxmlformats.org/officeDocument/2006/relationships/tags" Target="../tags/tag150.xml"/><Relationship Id="rId15" Type="http://schemas.openxmlformats.org/officeDocument/2006/relationships/image" Target="../media/image33.png"/><Relationship Id="rId23" Type="http://schemas.openxmlformats.org/officeDocument/2006/relationships/image" Target="../media/image25.svg"/><Relationship Id="rId28" Type="http://schemas.openxmlformats.org/officeDocument/2006/relationships/image" Target="../media/image37.png"/><Relationship Id="rId10" Type="http://schemas.openxmlformats.org/officeDocument/2006/relationships/slideLayout" Target="../slideLayouts/slideLayout9.xml"/><Relationship Id="rId19" Type="http://schemas.openxmlformats.org/officeDocument/2006/relationships/chart" Target="../charts/chart63.xml"/><Relationship Id="rId31" Type="http://schemas.openxmlformats.org/officeDocument/2006/relationships/chart" Target="../charts/chart68.xml"/><Relationship Id="rId4" Type="http://schemas.openxmlformats.org/officeDocument/2006/relationships/tags" Target="../tags/tag149.xml"/><Relationship Id="rId9" Type="http://schemas.openxmlformats.org/officeDocument/2006/relationships/tags" Target="../tags/tag154.xml"/><Relationship Id="rId14" Type="http://schemas.openxmlformats.org/officeDocument/2006/relationships/image" Target="../media/image32.png"/><Relationship Id="rId22" Type="http://schemas.openxmlformats.org/officeDocument/2006/relationships/image" Target="../media/image24.png"/><Relationship Id="rId27" Type="http://schemas.openxmlformats.org/officeDocument/2006/relationships/image" Target="../media/image36.svg"/><Relationship Id="rId30" Type="http://schemas.openxmlformats.org/officeDocument/2006/relationships/chart" Target="../charts/chart6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xml"/><Relationship Id="rId1" Type="http://schemas.openxmlformats.org/officeDocument/2006/relationships/tags" Target="../tags/tag155.xml"/><Relationship Id="rId4" Type="http://schemas.openxmlformats.org/officeDocument/2006/relationships/chart" Target="../charts/chart7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8.png"/><Relationship Id="rId7" Type="http://schemas.openxmlformats.org/officeDocument/2006/relationships/diagramColors" Target="../diagrams/colors1.xml"/><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40.png"/><Relationship Id="rId4" Type="http://schemas.openxmlformats.org/officeDocument/2006/relationships/diagramData" Target="../diagrams/data1.xml"/><Relationship Id="rId9" Type="http://schemas.openxmlformats.org/officeDocument/2006/relationships/image" Target="../media/image39.png"/></Relationships>
</file>

<file path=ppt/slides/_rels/slide56.xml.rels><?xml version="1.0" encoding="UTF-8" standalone="yes"?>
<Relationships xmlns="http://schemas.openxmlformats.org/package/2006/relationships"><Relationship Id="rId2" Type="http://schemas.openxmlformats.org/officeDocument/2006/relationships/chart" Target="../charts/chart71.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9.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8" Type="http://schemas.openxmlformats.org/officeDocument/2006/relationships/tags" Target="../tags/tag163.xml"/><Relationship Id="rId13" Type="http://schemas.openxmlformats.org/officeDocument/2006/relationships/slideLayout" Target="../slideLayouts/slideLayout9.xml"/><Relationship Id="rId3" Type="http://schemas.openxmlformats.org/officeDocument/2006/relationships/tags" Target="../tags/tag158.xml"/><Relationship Id="rId7" Type="http://schemas.openxmlformats.org/officeDocument/2006/relationships/tags" Target="../tags/tag162.xml"/><Relationship Id="rId12" Type="http://schemas.openxmlformats.org/officeDocument/2006/relationships/tags" Target="../tags/tag167.xml"/><Relationship Id="rId2" Type="http://schemas.openxmlformats.org/officeDocument/2006/relationships/tags" Target="../tags/tag157.xml"/><Relationship Id="rId16" Type="http://schemas.openxmlformats.org/officeDocument/2006/relationships/image" Target="../media/image48.jpeg"/><Relationship Id="rId1" Type="http://schemas.openxmlformats.org/officeDocument/2006/relationships/tags" Target="../tags/tag156.xml"/><Relationship Id="rId6" Type="http://schemas.openxmlformats.org/officeDocument/2006/relationships/tags" Target="../tags/tag161.xml"/><Relationship Id="rId11" Type="http://schemas.openxmlformats.org/officeDocument/2006/relationships/tags" Target="../tags/tag166.xml"/><Relationship Id="rId5" Type="http://schemas.openxmlformats.org/officeDocument/2006/relationships/tags" Target="../tags/tag160.xml"/><Relationship Id="rId15" Type="http://schemas.openxmlformats.org/officeDocument/2006/relationships/image" Target="../media/image47.jpeg"/><Relationship Id="rId10" Type="http://schemas.openxmlformats.org/officeDocument/2006/relationships/tags" Target="../tags/tag165.xml"/><Relationship Id="rId4" Type="http://schemas.openxmlformats.org/officeDocument/2006/relationships/tags" Target="../tags/tag159.xml"/><Relationship Id="rId9" Type="http://schemas.openxmlformats.org/officeDocument/2006/relationships/tags" Target="../tags/tag164.xml"/><Relationship Id="rId14" Type="http://schemas.openxmlformats.org/officeDocument/2006/relationships/image" Target="../media/image4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731838" y="1209896"/>
            <a:ext cx="11155362" cy="2084673"/>
          </a:xfrm>
        </p:spPr>
        <p:txBody>
          <a:bodyPr/>
          <a:lstStyle/>
          <a:p>
            <a:r>
              <a:rPr lang="en-US" altLang="zh-CN" sz="4400" dirty="0">
                <a:solidFill>
                  <a:schemeClr val="tx1"/>
                </a:solidFill>
              </a:rPr>
              <a:t>2023</a:t>
            </a:r>
            <a:r>
              <a:rPr lang="zh-CN" altLang="en-US" sz="4400" dirty="0">
                <a:solidFill>
                  <a:schemeClr val="tx1"/>
                </a:solidFill>
              </a:rPr>
              <a:t>年某品牌服务满意度横评项目报告</a:t>
            </a:r>
          </a:p>
          <a:p>
            <a:r>
              <a:rPr lang="en-US" altLang="zh-CN" sz="4000" dirty="0">
                <a:solidFill>
                  <a:srgbClr val="4B8D56"/>
                </a:solidFill>
              </a:rPr>
              <a:t>——</a:t>
            </a:r>
            <a:r>
              <a:rPr lang="zh-CN" altLang="en-US" sz="4000" dirty="0">
                <a:solidFill>
                  <a:srgbClr val="4B8D56"/>
                </a:solidFill>
              </a:rPr>
              <a:t>下半年表现及建议方向</a:t>
            </a:r>
          </a:p>
          <a:p>
            <a:endParaRPr lang="zh-CN" altLang="en-US" sz="4400" dirty="0"/>
          </a:p>
        </p:txBody>
      </p:sp>
      <p:sp>
        <p:nvSpPr>
          <p:cNvPr id="3" name="内容占位符 2"/>
          <p:cNvSpPr>
            <a:spLocks noGrp="1"/>
          </p:cNvSpPr>
          <p:nvPr>
            <p:ph sz="quarter" idx="11"/>
          </p:nvPr>
        </p:nvSpPr>
        <p:spPr/>
        <p:txBody>
          <a:bodyPr/>
          <a:lstStyle/>
          <a:p>
            <a:endParaRPr lang="zh-CN" altLang="en-US" dirty="0"/>
          </a:p>
        </p:txBody>
      </p:sp>
      <p:sp>
        <p:nvSpPr>
          <p:cNvPr id="24" name="内容占位符 23">
            <a:extLst>
              <a:ext uri="{FF2B5EF4-FFF2-40B4-BE49-F238E27FC236}">
                <a16:creationId xmlns:a16="http://schemas.microsoft.com/office/drawing/2014/main" id="{4B32AE5F-B305-ABD6-D54E-53F701C87C10}"/>
              </a:ext>
            </a:extLst>
          </p:cNvPr>
          <p:cNvSpPr>
            <a:spLocks noGrp="1"/>
          </p:cNvSpPr>
          <p:nvPr>
            <p:ph sz="quarter" idx="12"/>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a:xfrm>
            <a:off x="1409771" y="1896779"/>
            <a:ext cx="7716667" cy="367490"/>
          </a:xfrm>
        </p:spPr>
        <p:txBody>
          <a:bodyPr/>
          <a:lstStyle/>
          <a:p>
            <a:r>
              <a:rPr lang="zh-CN" altLang="en-US" dirty="0"/>
              <a:t>项目目的与解决方案设计</a:t>
            </a:r>
          </a:p>
        </p:txBody>
      </p:sp>
      <p:sp>
        <p:nvSpPr>
          <p:cNvPr id="3" name="Text Placeholder 2"/>
          <p:cNvSpPr>
            <a:spLocks noGrp="1"/>
          </p:cNvSpPr>
          <p:nvPr>
            <p:ph type="body" sz="quarter" idx="16"/>
          </p:nvPr>
        </p:nvSpPr>
        <p:spPr>
          <a:xfrm>
            <a:off x="194580" y="1896779"/>
            <a:ext cx="575730" cy="365125"/>
          </a:xfrm>
        </p:spPr>
        <p:txBody>
          <a:bodyPr/>
          <a:lstStyle/>
          <a:p>
            <a:r>
              <a:rPr lang="en-US" dirty="0"/>
              <a:t>01</a:t>
            </a:r>
          </a:p>
        </p:txBody>
      </p:sp>
      <p:sp>
        <p:nvSpPr>
          <p:cNvPr id="4" name="Text Placeholder 3"/>
          <p:cNvSpPr>
            <a:spLocks noGrp="1"/>
          </p:cNvSpPr>
          <p:nvPr>
            <p:ph type="body" sz="quarter" idx="23"/>
          </p:nvPr>
        </p:nvSpPr>
        <p:spPr>
          <a:xfrm>
            <a:off x="1409771" y="2601262"/>
            <a:ext cx="7716667" cy="356980"/>
          </a:xfrm>
        </p:spPr>
        <p:txBody>
          <a:bodyPr/>
          <a:lstStyle/>
          <a:p>
            <a:r>
              <a:rPr lang="zh-CN" altLang="en-US" dirty="0"/>
              <a:t>销售服务的满意度评价及优先调整方向</a:t>
            </a:r>
          </a:p>
        </p:txBody>
      </p:sp>
      <p:sp>
        <p:nvSpPr>
          <p:cNvPr id="5" name="Text Placeholder 4"/>
          <p:cNvSpPr>
            <a:spLocks noGrp="1"/>
          </p:cNvSpPr>
          <p:nvPr>
            <p:ph type="body" sz="quarter" idx="24"/>
          </p:nvPr>
        </p:nvSpPr>
        <p:spPr>
          <a:xfrm>
            <a:off x="194580" y="2601262"/>
            <a:ext cx="575730" cy="365125"/>
          </a:xfrm>
        </p:spPr>
        <p:txBody>
          <a:bodyPr/>
          <a:lstStyle/>
          <a:p>
            <a:r>
              <a:rPr lang="en-US" dirty="0"/>
              <a:t>02</a:t>
            </a:r>
          </a:p>
        </p:txBody>
      </p:sp>
      <p:sp>
        <p:nvSpPr>
          <p:cNvPr id="12" name="Text Placeholder 11"/>
          <p:cNvSpPr>
            <a:spLocks noGrp="1"/>
          </p:cNvSpPr>
          <p:nvPr>
            <p:ph type="body" sz="quarter" idx="22"/>
          </p:nvPr>
        </p:nvSpPr>
        <p:spPr/>
        <p:txBody>
          <a:bodyPr/>
          <a:lstStyle/>
          <a:p>
            <a:endParaRPr lang="en-US" dirty="0"/>
          </a:p>
        </p:txBody>
      </p:sp>
      <p:sp>
        <p:nvSpPr>
          <p:cNvPr id="13" name="Text Placeholder 12"/>
          <p:cNvSpPr>
            <a:spLocks noGrp="1"/>
          </p:cNvSpPr>
          <p:nvPr>
            <p:ph type="body" sz="quarter" idx="21"/>
          </p:nvPr>
        </p:nvSpPr>
        <p:spPr/>
        <p:txBody>
          <a:bodyPr/>
          <a:lstStyle/>
          <a:p>
            <a:r>
              <a:rPr lang="zh-CN" altLang="en-US" dirty="0"/>
              <a:t>目录</a:t>
            </a:r>
            <a:endParaRPr lang="en-US" dirty="0"/>
          </a:p>
        </p:txBody>
      </p:sp>
      <p:sp>
        <p:nvSpPr>
          <p:cNvPr id="15" name="文本框 14"/>
          <p:cNvSpPr txBox="1"/>
          <p:nvPr/>
        </p:nvSpPr>
        <p:spPr>
          <a:xfrm>
            <a:off x="9024730" y="258417"/>
            <a:ext cx="260405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DIN Pro"/>
              <a:ea typeface="Alibaba PuHuiTi 2.0 55 Regular"/>
              <a:cs typeface="+mn-cs"/>
            </a:endParaRPr>
          </a:p>
        </p:txBody>
      </p:sp>
      <p:sp>
        <p:nvSpPr>
          <p:cNvPr id="14" name="灯片编号占位符 1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C33376-1D8B-E948-ACD6-AA21A3D30A8E}" type="slidenum">
              <a:rPr kumimoji="0" lang="zh-CN" altLang="en-US" sz="800" b="0" i="0" u="none" strike="noStrike" kern="1200" cap="none" spc="0" normalizeH="0" baseline="0" noProof="0" smtClean="0">
                <a:ln>
                  <a:noFill/>
                </a:ln>
                <a:solidFill>
                  <a:srgbClr val="FBFBFB">
                    <a:lumMod val="50000"/>
                  </a:srgbClr>
                </a:solidFill>
                <a:effectLst/>
                <a:uLnTx/>
                <a:uFillTx/>
                <a:latin typeface="DIN Pro Regular" panose="02000503040000020003" pitchFamily="50" charset="0"/>
                <a:ea typeface="Alibaba PuHuiTi 2.0 55 Regular" pitchFamily="18" charset="-122"/>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800" b="0" i="0" u="none" strike="noStrike" kern="1200" cap="none" spc="0" normalizeH="0" baseline="0" noProof="0" dirty="0">
              <a:ln>
                <a:noFill/>
              </a:ln>
              <a:solidFill>
                <a:srgbClr val="FBFBFB">
                  <a:lumMod val="50000"/>
                </a:srgbClr>
              </a:solidFill>
              <a:effectLst/>
              <a:uLnTx/>
              <a:uFillTx/>
              <a:latin typeface="DIN Pro Regular" panose="02000503040000020003" pitchFamily="50" charset="0"/>
              <a:ea typeface="Alibaba PuHuiTi 2.0 55 Regular" pitchFamily="18" charset="-122"/>
            </a:endParaRPr>
          </a:p>
        </p:txBody>
      </p:sp>
      <p:sp>
        <p:nvSpPr>
          <p:cNvPr id="8" name="Text Placeholder 5">
            <a:extLst>
              <a:ext uri="{FF2B5EF4-FFF2-40B4-BE49-F238E27FC236}">
                <a16:creationId xmlns:a16="http://schemas.microsoft.com/office/drawing/2014/main" id="{23FFCFAE-C64E-C640-FA32-0FB5739B159E}"/>
              </a:ext>
            </a:extLst>
          </p:cNvPr>
          <p:cNvSpPr txBox="1"/>
          <p:nvPr/>
        </p:nvSpPr>
        <p:spPr>
          <a:xfrm>
            <a:off x="1409771" y="3305745"/>
            <a:ext cx="7716667" cy="365126"/>
          </a:xfrm>
          <a:prstGeom prst="rect">
            <a:avLst/>
          </a:prstGeom>
          <a:noFill/>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交付服务的满意度评价及优先调整方向</a:t>
            </a:r>
          </a:p>
        </p:txBody>
      </p:sp>
      <p:sp>
        <p:nvSpPr>
          <p:cNvPr id="9" name="Text Placeholder 6">
            <a:extLst>
              <a:ext uri="{FF2B5EF4-FFF2-40B4-BE49-F238E27FC236}">
                <a16:creationId xmlns:a16="http://schemas.microsoft.com/office/drawing/2014/main" id="{3C44DC9A-703C-9CD8-0CE0-2CDC4C0AB7B1}"/>
              </a:ext>
            </a:extLst>
          </p:cNvPr>
          <p:cNvSpPr txBox="1"/>
          <p:nvPr/>
        </p:nvSpPr>
        <p:spPr>
          <a:xfrm>
            <a:off x="194580" y="3305745"/>
            <a:ext cx="575730" cy="365125"/>
          </a:xfrm>
          <a:prstGeom prst="rect">
            <a:avLst/>
          </a:prstGeom>
        </p:spPr>
        <p:txBody>
          <a:bodyPr anchor="ctr" anchorCtr="0"/>
          <a:lstStyle>
            <a:lvl1pPr marL="0" indent="0" algn="ctr" defTabSz="914400" rtl="0" eaLnBrk="1" latinLnBrk="0" hangingPunct="1">
              <a:lnSpc>
                <a:spcPct val="90000"/>
              </a:lnSpc>
              <a:spcBef>
                <a:spcPts val="1000"/>
              </a:spcBef>
              <a:buFont typeface="Arial" panose="020B0604020202020204" pitchFamily="34" charset="0"/>
              <a:buNone/>
              <a:defRPr sz="1600" b="0" i="0" kern="1200" baseline="0">
                <a:solidFill>
                  <a:schemeClr val="tx1"/>
                </a:solidFill>
                <a:latin typeface="DIN Pro Regular" panose="02000503040000020003" pitchFamily="50" charset="0"/>
                <a:ea typeface="Alibaba PuHuiTi 2.0 55 Regular"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srgbClr val="181818"/>
                </a:solidFill>
              </a:rPr>
              <a:t>03</a:t>
            </a:r>
            <a:endParaRPr kumimoji="0" lang="en-US" sz="1600" b="0" i="0" u="none" strike="noStrike" kern="1200" cap="none" spc="0" normalizeH="0" baseline="0" noProof="0" dirty="0">
              <a:ln>
                <a:noFill/>
              </a:ln>
              <a:solidFill>
                <a:srgbClr val="181818"/>
              </a:solidFill>
              <a:effectLst/>
              <a:uLnTx/>
              <a:uFillTx/>
              <a:latin typeface="DIN Pro Regular" panose="02000503040000020003" pitchFamily="50" charset="0"/>
              <a:ea typeface="Alibaba PuHuiTi 2.0 55 Regular" pitchFamily="18" charset="-122"/>
              <a:cs typeface="+mn-cs"/>
            </a:endParaRPr>
          </a:p>
        </p:txBody>
      </p:sp>
      <p:sp>
        <p:nvSpPr>
          <p:cNvPr id="6" name="Text Placeholder 5">
            <a:extLst>
              <a:ext uri="{FF2B5EF4-FFF2-40B4-BE49-F238E27FC236}">
                <a16:creationId xmlns:a16="http://schemas.microsoft.com/office/drawing/2014/main" id="{F7BB5BB0-1952-3604-DC1C-E614994FE73B}"/>
              </a:ext>
            </a:extLst>
          </p:cNvPr>
          <p:cNvSpPr txBox="1"/>
          <p:nvPr/>
        </p:nvSpPr>
        <p:spPr>
          <a:xfrm>
            <a:off x="1409771" y="4010228"/>
            <a:ext cx="7716667" cy="365126"/>
          </a:xfrm>
          <a:prstGeom prst="rect">
            <a:avLst/>
          </a:prstGeom>
          <a:noFill/>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售后服务的满意度评价及优先调整方向</a:t>
            </a:r>
          </a:p>
        </p:txBody>
      </p:sp>
      <p:sp>
        <p:nvSpPr>
          <p:cNvPr id="7" name="Text Placeholder 6">
            <a:extLst>
              <a:ext uri="{FF2B5EF4-FFF2-40B4-BE49-F238E27FC236}">
                <a16:creationId xmlns:a16="http://schemas.microsoft.com/office/drawing/2014/main" id="{50757AD3-CF77-163E-EB40-FEC407C08118}"/>
              </a:ext>
            </a:extLst>
          </p:cNvPr>
          <p:cNvSpPr txBox="1"/>
          <p:nvPr/>
        </p:nvSpPr>
        <p:spPr>
          <a:xfrm>
            <a:off x="194580" y="4010228"/>
            <a:ext cx="575730" cy="365125"/>
          </a:xfrm>
          <a:prstGeom prst="rect">
            <a:avLst/>
          </a:prstGeom>
        </p:spPr>
        <p:txBody>
          <a:bodyPr anchor="ctr" anchorCtr="0"/>
          <a:lstStyle>
            <a:lvl1pPr marL="0" indent="0" algn="ctr" defTabSz="914400" rtl="0" eaLnBrk="1" latinLnBrk="0" hangingPunct="1">
              <a:lnSpc>
                <a:spcPct val="90000"/>
              </a:lnSpc>
              <a:spcBef>
                <a:spcPts val="1000"/>
              </a:spcBef>
              <a:buFont typeface="Arial" panose="020B0604020202020204" pitchFamily="34" charset="0"/>
              <a:buNone/>
              <a:defRPr sz="1600" b="0" i="0" kern="1200" baseline="0">
                <a:solidFill>
                  <a:schemeClr val="tx1"/>
                </a:solidFill>
                <a:latin typeface="DIN Pro Regular" panose="02000503040000020003" pitchFamily="50" charset="0"/>
                <a:ea typeface="Alibaba PuHuiTi 2.0 55 Regular"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srgbClr val="181818"/>
                </a:solidFill>
              </a:rPr>
              <a:t>04</a:t>
            </a:r>
            <a:endParaRPr kumimoji="0" lang="en-US" sz="1600" b="0" i="0" u="none" strike="noStrike" kern="1200" cap="none" spc="0" normalizeH="0" baseline="0" noProof="0" dirty="0">
              <a:ln>
                <a:noFill/>
              </a:ln>
              <a:solidFill>
                <a:srgbClr val="181818"/>
              </a:solidFill>
              <a:effectLst/>
              <a:uLnTx/>
              <a:uFillTx/>
              <a:latin typeface="DIN Pro Regular" panose="02000503040000020003" pitchFamily="50" charset="0"/>
              <a:ea typeface="Alibaba PuHuiTi 2.0 55 Regular" pitchFamily="18" charset="-122"/>
              <a:cs typeface="+mn-cs"/>
            </a:endParaRPr>
          </a:p>
        </p:txBody>
      </p:sp>
      <p:sp>
        <p:nvSpPr>
          <p:cNvPr id="10" name="Text Placeholder 5">
            <a:extLst>
              <a:ext uri="{FF2B5EF4-FFF2-40B4-BE49-F238E27FC236}">
                <a16:creationId xmlns:a16="http://schemas.microsoft.com/office/drawing/2014/main" id="{C395D80D-1958-160B-A742-3AC0767CDC59}"/>
              </a:ext>
            </a:extLst>
          </p:cNvPr>
          <p:cNvSpPr txBox="1"/>
          <p:nvPr/>
        </p:nvSpPr>
        <p:spPr>
          <a:xfrm>
            <a:off x="1409771" y="4714711"/>
            <a:ext cx="7716667" cy="365126"/>
          </a:xfrm>
          <a:prstGeom prst="rect">
            <a:avLst/>
          </a:prstGeom>
          <a:noFill/>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线上平台的满意度评价</a:t>
            </a:r>
          </a:p>
        </p:txBody>
      </p:sp>
      <p:sp>
        <p:nvSpPr>
          <p:cNvPr id="11" name="Text Placeholder 6">
            <a:extLst>
              <a:ext uri="{FF2B5EF4-FFF2-40B4-BE49-F238E27FC236}">
                <a16:creationId xmlns:a16="http://schemas.microsoft.com/office/drawing/2014/main" id="{1EC9B54C-7050-B9BF-A31A-DB6E7077316F}"/>
              </a:ext>
            </a:extLst>
          </p:cNvPr>
          <p:cNvSpPr txBox="1"/>
          <p:nvPr/>
        </p:nvSpPr>
        <p:spPr>
          <a:xfrm>
            <a:off x="194580" y="4714711"/>
            <a:ext cx="575730" cy="365125"/>
          </a:xfrm>
          <a:prstGeom prst="rect">
            <a:avLst/>
          </a:prstGeom>
        </p:spPr>
        <p:txBody>
          <a:bodyPr anchor="ctr" anchorCtr="0"/>
          <a:lstStyle>
            <a:lvl1pPr marL="0" indent="0" algn="ctr" defTabSz="914400" rtl="0" eaLnBrk="1" latinLnBrk="0" hangingPunct="1">
              <a:lnSpc>
                <a:spcPct val="90000"/>
              </a:lnSpc>
              <a:spcBef>
                <a:spcPts val="1000"/>
              </a:spcBef>
              <a:buFont typeface="Arial" panose="020B0604020202020204" pitchFamily="34" charset="0"/>
              <a:buNone/>
              <a:defRPr sz="1600" b="0" i="0" kern="1200" baseline="0">
                <a:solidFill>
                  <a:schemeClr val="tx1"/>
                </a:solidFill>
                <a:latin typeface="DIN Pro Regular" panose="02000503040000020003" pitchFamily="50" charset="0"/>
                <a:ea typeface="Alibaba PuHuiTi 2.0 55 Regular"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srgbClr val="181818"/>
                </a:solidFill>
              </a:rPr>
              <a:t>05</a:t>
            </a:r>
            <a:endParaRPr kumimoji="0" lang="en-US" sz="1600" b="0" i="0" u="none" strike="noStrike" kern="1200" cap="none" spc="0" normalizeH="0" baseline="0" noProof="0" dirty="0">
              <a:ln>
                <a:noFill/>
              </a:ln>
              <a:solidFill>
                <a:srgbClr val="181818"/>
              </a:solidFill>
              <a:effectLst/>
              <a:uLnTx/>
              <a:uFillTx/>
              <a:latin typeface="DIN Pro Regular" panose="02000503040000020003" pitchFamily="50" charset="0"/>
              <a:ea typeface="Alibaba PuHuiTi 2.0 55 Regular" pitchFamily="18" charset="-122"/>
              <a:cs typeface="+mn-cs"/>
            </a:endParaRPr>
          </a:p>
        </p:txBody>
      </p:sp>
      <p:sp>
        <p:nvSpPr>
          <p:cNvPr id="16" name="Text Placeholder 6">
            <a:extLst>
              <a:ext uri="{FF2B5EF4-FFF2-40B4-BE49-F238E27FC236}">
                <a16:creationId xmlns:a16="http://schemas.microsoft.com/office/drawing/2014/main" id="{EB17B8D4-5A21-5FE0-2854-CEAF9446CF66}"/>
              </a:ext>
            </a:extLst>
          </p:cNvPr>
          <p:cNvSpPr txBox="1"/>
          <p:nvPr/>
        </p:nvSpPr>
        <p:spPr>
          <a:xfrm>
            <a:off x="194580" y="5419194"/>
            <a:ext cx="575730" cy="365125"/>
          </a:xfrm>
          <a:prstGeom prst="rect">
            <a:avLst/>
          </a:prstGeom>
        </p:spPr>
        <p:txBody>
          <a:bodyPr anchor="ctr" anchorCtr="0"/>
          <a:lstStyle>
            <a:lvl1pPr marL="0" indent="0" algn="ctr" defTabSz="914400" rtl="0" eaLnBrk="1" latinLnBrk="0" hangingPunct="1">
              <a:lnSpc>
                <a:spcPct val="90000"/>
              </a:lnSpc>
              <a:spcBef>
                <a:spcPts val="1000"/>
              </a:spcBef>
              <a:buFont typeface="Arial" panose="020B0604020202020204" pitchFamily="34" charset="0"/>
              <a:buNone/>
              <a:defRPr sz="1600" b="0" i="0" kern="1200" baseline="0">
                <a:solidFill>
                  <a:schemeClr val="tx1"/>
                </a:solidFill>
                <a:latin typeface="DIN Pro Regular" panose="02000503040000020003" pitchFamily="50" charset="0"/>
                <a:ea typeface="Alibaba PuHuiTi 2.0 55 Regular"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srgbClr val="181818"/>
                </a:solidFill>
              </a:rPr>
              <a:t>06</a:t>
            </a:r>
            <a:endParaRPr kumimoji="0" lang="en-US" sz="1600" b="0" i="0" u="none" strike="noStrike" kern="1200" cap="none" spc="0" normalizeH="0" baseline="0" noProof="0" dirty="0">
              <a:ln>
                <a:noFill/>
              </a:ln>
              <a:solidFill>
                <a:srgbClr val="181818"/>
              </a:solidFill>
              <a:effectLst/>
              <a:uLnTx/>
              <a:uFillTx/>
              <a:latin typeface="DIN Pro Regular" panose="02000503040000020003" pitchFamily="50" charset="0"/>
              <a:ea typeface="Alibaba PuHuiTi 2.0 55 Regular" pitchFamily="18" charset="-122"/>
              <a:cs typeface="+mn-cs"/>
            </a:endParaRPr>
          </a:p>
        </p:txBody>
      </p:sp>
      <p:sp>
        <p:nvSpPr>
          <p:cNvPr id="17" name="Text Placeholder 5">
            <a:extLst>
              <a:ext uri="{FF2B5EF4-FFF2-40B4-BE49-F238E27FC236}">
                <a16:creationId xmlns:a16="http://schemas.microsoft.com/office/drawing/2014/main" id="{C55CA5CB-D978-232B-3923-9F46EDF84725}"/>
              </a:ext>
            </a:extLst>
          </p:cNvPr>
          <p:cNvSpPr txBox="1"/>
          <p:nvPr/>
        </p:nvSpPr>
        <p:spPr>
          <a:xfrm>
            <a:off x="1409771" y="5419194"/>
            <a:ext cx="7716667" cy="365126"/>
          </a:xfrm>
          <a:prstGeom prst="rect">
            <a:avLst/>
          </a:prstGeom>
          <a:noFill/>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0" i="0" u="none" strike="noStrike" kern="0" cap="none" spc="0" normalizeH="0" baseline="0" dirty="0">
                <a:ln>
                  <a:noFill/>
                </a:ln>
                <a:solidFill>
                  <a:schemeClr val="tx1"/>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行业洞见</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9C04D6E9-060C-ED3A-C449-85256C3DA484}"/>
              </a:ext>
            </a:extLst>
          </p:cNvPr>
          <p:cNvSpPr>
            <a:spLocks noGrp="1"/>
          </p:cNvSpPr>
          <p:nvPr>
            <p:ph type="sldNum" sz="quarter" idx="4"/>
          </p:nvPr>
        </p:nvSpPr>
        <p:spPr/>
        <p:txBody>
          <a:bodyPr/>
          <a:lstStyle/>
          <a:p>
            <a:fld id="{BE00B666-AD48-5640-8D08-2A4A6036569F}" type="slidenum">
              <a:rPr lang="zh-CN" altLang="en-US" smtClean="0"/>
              <a:t>3</a:t>
            </a:fld>
            <a:endParaRPr lang="zh-CN" altLang="en-US" dirty="0"/>
          </a:p>
        </p:txBody>
      </p:sp>
      <p:sp>
        <p:nvSpPr>
          <p:cNvPr id="6" name="文本占位符 1">
            <a:extLst>
              <a:ext uri="{FF2B5EF4-FFF2-40B4-BE49-F238E27FC236}">
                <a16:creationId xmlns:a16="http://schemas.microsoft.com/office/drawing/2014/main" id="{D6144F2E-4C14-323F-2458-94DD54BD5E71}"/>
              </a:ext>
            </a:extLst>
          </p:cNvPr>
          <p:cNvSpPr txBox="1">
            <a:spLocks/>
          </p:cNvSpPr>
          <p:nvPr/>
        </p:nvSpPr>
        <p:spPr>
          <a:xfrm>
            <a:off x="302945" y="339516"/>
            <a:ext cx="4669748" cy="588880"/>
          </a:xfrm>
          <a:prstGeom prst="rect">
            <a:avLst/>
          </a:prstGeom>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3200" b="0" i="0" kern="1200" baseline="0">
                <a:solidFill>
                  <a:schemeClr val="tx1"/>
                </a:solidFill>
                <a:latin typeface="DIN Pro Regular" panose="02000503040000020003" pitchFamily="50" charset="0"/>
                <a:ea typeface="Alibaba PuHuiTi 2.0 55 Regular" pitchFamily="18" charset="-122"/>
                <a:cs typeface="Alibaba PuHuiTi 2.0 55 Regular" pitchFamily="18" charset="-122"/>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项目摘要</a:t>
            </a:r>
            <a:r>
              <a:rPr lang="en-US" altLang="zh-CN"/>
              <a:t>1/3</a:t>
            </a:r>
            <a:endParaRPr lang="zh-CN" altLang="en-US" dirty="0"/>
          </a:p>
        </p:txBody>
      </p:sp>
      <p:sp>
        <p:nvSpPr>
          <p:cNvPr id="7" name="文本占位符 2">
            <a:extLst>
              <a:ext uri="{FF2B5EF4-FFF2-40B4-BE49-F238E27FC236}">
                <a16:creationId xmlns:a16="http://schemas.microsoft.com/office/drawing/2014/main" id="{DAE3E1C3-2C00-9717-5DF9-8ED4E470BAF3}"/>
              </a:ext>
            </a:extLst>
          </p:cNvPr>
          <p:cNvSpPr txBox="1">
            <a:spLocks/>
          </p:cNvSpPr>
          <p:nvPr/>
        </p:nvSpPr>
        <p:spPr>
          <a:xfrm>
            <a:off x="311065" y="868790"/>
            <a:ext cx="4678964" cy="38384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a:solidFill>
                  <a:schemeClr val="tx1"/>
                </a:solidFill>
              </a:rPr>
              <a:t>销售服务的满意度研究</a:t>
            </a:r>
          </a:p>
        </p:txBody>
      </p:sp>
      <p:graphicFrame>
        <p:nvGraphicFramePr>
          <p:cNvPr id="8" name="表格 7">
            <a:extLst>
              <a:ext uri="{FF2B5EF4-FFF2-40B4-BE49-F238E27FC236}">
                <a16:creationId xmlns:a16="http://schemas.microsoft.com/office/drawing/2014/main" id="{1D198DD4-9048-A370-68EB-2CC7BF9FE698}"/>
              </a:ext>
            </a:extLst>
          </p:cNvPr>
          <p:cNvGraphicFramePr>
            <a:graphicFrameLocks noGrp="1"/>
          </p:cNvGraphicFramePr>
          <p:nvPr/>
        </p:nvGraphicFramePr>
        <p:xfrm>
          <a:off x="174172" y="1457670"/>
          <a:ext cx="11843658" cy="4932244"/>
        </p:xfrm>
        <a:graphic>
          <a:graphicData uri="http://schemas.openxmlformats.org/drawingml/2006/table">
            <a:tbl>
              <a:tblPr>
                <a:tableStyleId>{5C22544A-7EE6-4342-B048-85BDC9FD1C3A}</a:tableStyleId>
              </a:tblPr>
              <a:tblGrid>
                <a:gridCol w="2239431">
                  <a:extLst>
                    <a:ext uri="{9D8B030D-6E8A-4147-A177-3AD203B41FA5}">
                      <a16:colId xmlns:a16="http://schemas.microsoft.com/office/drawing/2014/main" val="553779841"/>
                    </a:ext>
                  </a:extLst>
                </a:gridCol>
                <a:gridCol w="9604227">
                  <a:extLst>
                    <a:ext uri="{9D8B030D-6E8A-4147-A177-3AD203B41FA5}">
                      <a16:colId xmlns:a16="http://schemas.microsoft.com/office/drawing/2014/main" val="1272567022"/>
                    </a:ext>
                  </a:extLst>
                </a:gridCol>
              </a:tblGrid>
              <a:tr h="1286612">
                <a:tc>
                  <a:txBody>
                    <a:bodyPr/>
                    <a:lstStyle/>
                    <a:p>
                      <a:pPr algn="l" fontAlgn="ctr"/>
                      <a:r>
                        <a:rPr lang="en-US" altLang="zh-CN" sz="1400" b="0" i="0" u="none" strike="noStrike" dirty="0">
                          <a:solidFill>
                            <a:srgbClr val="000000"/>
                          </a:solidFill>
                          <a:effectLst/>
                          <a:latin typeface="+mn-ea"/>
                          <a:ea typeface="+mn-ea"/>
                        </a:rPr>
                        <a:t>SSI</a:t>
                      </a:r>
                      <a:r>
                        <a:rPr lang="zh-CN" altLang="en-US" sz="1400" b="0" i="0" u="none" strike="noStrike" dirty="0">
                          <a:solidFill>
                            <a:srgbClr val="000000"/>
                          </a:solidFill>
                          <a:effectLst/>
                          <a:latin typeface="+mn-ea"/>
                          <a:ea typeface="+mn-ea"/>
                        </a:rPr>
                        <a:t>（销售和交付）总排名</a:t>
                      </a:r>
                    </a:p>
                  </a:txBody>
                  <a:tcPr marL="72000" marR="6350" marT="6350" marB="0" anchor="ctr">
                    <a:solidFill>
                      <a:schemeClr val="accent6">
                        <a:lumMod val="20000"/>
                        <a:lumOff val="80000"/>
                      </a:schemeClr>
                    </a:solidFill>
                  </a:tcPr>
                </a:tc>
                <a:tc>
                  <a:txBody>
                    <a:bodyPr/>
                    <a:lstStyle/>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某品牌总体</a:t>
                      </a:r>
                      <a:r>
                        <a:rPr lang="en-US" altLang="zh-CN" sz="1400" b="0" i="0" u="none" strike="noStrike" dirty="0">
                          <a:solidFill>
                            <a:srgbClr val="000000"/>
                          </a:solidFill>
                          <a:effectLst/>
                          <a:latin typeface="+mn-ea"/>
                          <a:ea typeface="+mn-ea"/>
                        </a:rPr>
                        <a:t>SSI</a:t>
                      </a:r>
                      <a:r>
                        <a:rPr lang="zh-CN" altLang="en-US" sz="1400" b="0" i="0" u="none" strike="noStrike" dirty="0">
                          <a:solidFill>
                            <a:srgbClr val="000000"/>
                          </a:solidFill>
                          <a:effectLst/>
                          <a:latin typeface="+mn-ea"/>
                          <a:ea typeface="+mn-ea"/>
                        </a:rPr>
                        <a:t>服务满意度排名第四，位于行业中等；</a:t>
                      </a:r>
                      <a:endParaRPr lang="en-US" altLang="zh-CN" sz="1400" b="0" i="0" u="none" strike="noStrike" dirty="0">
                        <a:solidFill>
                          <a:srgbClr val="000000"/>
                        </a:solidFill>
                        <a:effectLst/>
                        <a:latin typeface="+mn-ea"/>
                        <a:ea typeface="+mn-ea"/>
                      </a:endParaRPr>
                    </a:p>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北一区的车主满意度相对较高，南一区的车主满意度相对较低；</a:t>
                      </a:r>
                      <a:endParaRPr lang="en-US" altLang="zh-CN" sz="1400" b="0" i="0" u="none" strike="noStrike" dirty="0">
                        <a:solidFill>
                          <a:srgbClr val="000000"/>
                        </a:solidFill>
                        <a:effectLst/>
                        <a:latin typeface="+mn-ea"/>
                        <a:ea typeface="+mn-ea"/>
                      </a:endParaRPr>
                    </a:p>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北一区、南二区、西二区较上半年提升幅度较大，提升幅度均在</a:t>
                      </a:r>
                      <a:r>
                        <a:rPr lang="en-US" altLang="zh-CN" sz="1400" b="0" i="0" u="none" strike="noStrike" dirty="0">
                          <a:solidFill>
                            <a:srgbClr val="000000"/>
                          </a:solidFill>
                          <a:effectLst/>
                          <a:latin typeface="+mn-ea"/>
                          <a:ea typeface="+mn-ea"/>
                        </a:rPr>
                        <a:t>90</a:t>
                      </a:r>
                      <a:r>
                        <a:rPr lang="zh-CN" altLang="en-US" sz="1400" b="0" i="0" u="none" strike="noStrike" dirty="0">
                          <a:solidFill>
                            <a:srgbClr val="000000"/>
                          </a:solidFill>
                          <a:effectLst/>
                          <a:latin typeface="+mn-ea"/>
                          <a:ea typeface="+mn-ea"/>
                        </a:rPr>
                        <a:t>分左右；</a:t>
                      </a:r>
                      <a:endParaRPr lang="en-US" altLang="zh-CN" sz="1400" b="0" i="0" u="none" strike="noStrike" dirty="0">
                        <a:solidFill>
                          <a:srgbClr val="000000"/>
                        </a:solidFill>
                        <a:effectLst/>
                        <a:latin typeface="+mn-ea"/>
                        <a:ea typeface="+mn-ea"/>
                      </a:endParaRPr>
                    </a:p>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在到店接待、试乘试驾环节得分相对最高，用户维系、交付等待相对得分最低；</a:t>
                      </a:r>
                      <a:endParaRPr lang="en-US" altLang="zh-CN" sz="1400" b="0" i="0" u="none" strike="noStrike" dirty="0">
                        <a:solidFill>
                          <a:srgbClr val="000000"/>
                        </a:solidFill>
                        <a:effectLst/>
                        <a:latin typeface="+mn-ea"/>
                        <a:ea typeface="+mn-ea"/>
                      </a:endParaRPr>
                    </a:p>
                  </a:txBody>
                  <a:tcPr marL="108000" marR="6350" marT="6350" marB="0" anchor="ctr">
                    <a:solidFill>
                      <a:schemeClr val="accent6">
                        <a:lumMod val="20000"/>
                        <a:lumOff val="80000"/>
                      </a:schemeClr>
                    </a:solidFill>
                  </a:tcPr>
                </a:tc>
                <a:extLst>
                  <a:ext uri="{0D108BD9-81ED-4DB2-BD59-A6C34878D82A}">
                    <a16:rowId xmlns:a16="http://schemas.microsoft.com/office/drawing/2014/main" val="1669513560"/>
                  </a:ext>
                </a:extLst>
              </a:tr>
              <a:tr h="1124812">
                <a:tc>
                  <a:txBody>
                    <a:bodyPr/>
                    <a:lstStyle/>
                    <a:p>
                      <a:pPr algn="l" fontAlgn="ctr"/>
                      <a:r>
                        <a:rPr lang="zh-CN" altLang="en-US" sz="1400" b="0" i="0" u="none" strike="noStrike" dirty="0">
                          <a:solidFill>
                            <a:srgbClr val="000000"/>
                          </a:solidFill>
                          <a:effectLst/>
                          <a:latin typeface="+mn-ea"/>
                          <a:ea typeface="+mn-ea"/>
                        </a:rPr>
                        <a:t>销售服务满意度</a:t>
                      </a:r>
                    </a:p>
                  </a:txBody>
                  <a:tcPr marL="72000" marR="6350" marT="6350" marB="0" anchor="ctr">
                    <a:solidFill>
                      <a:schemeClr val="accent6">
                        <a:lumMod val="20000"/>
                        <a:lumOff val="80000"/>
                      </a:schemeClr>
                    </a:solidFill>
                  </a:tcPr>
                </a:tc>
                <a:tc>
                  <a:txBody>
                    <a:bodyPr/>
                    <a:lstStyle/>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某品牌销售服务满意度排名第二，高于行业平均，较上期得分增加了</a:t>
                      </a:r>
                      <a:r>
                        <a:rPr lang="en-US" altLang="zh-CN" sz="1400" b="0" i="0" u="none" strike="noStrike" dirty="0">
                          <a:solidFill>
                            <a:srgbClr val="000000"/>
                          </a:solidFill>
                          <a:effectLst/>
                          <a:latin typeface="+mn-ea"/>
                          <a:ea typeface="+mn-ea"/>
                        </a:rPr>
                        <a:t>72.4</a:t>
                      </a:r>
                    </a:p>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较上半年在到店接待，洽谈下定环节提升幅度最大；</a:t>
                      </a:r>
                      <a:endParaRPr lang="en-US" altLang="zh-CN" sz="1400" b="0" i="0" u="none" strike="noStrike" dirty="0">
                        <a:solidFill>
                          <a:srgbClr val="000000"/>
                        </a:solidFill>
                        <a:effectLst/>
                        <a:latin typeface="+mn-ea"/>
                        <a:ea typeface="+mn-ea"/>
                      </a:endParaRPr>
                    </a:p>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到店接待、试乘试驾得分高于所有竞品，送别与回访得分低于除特斯拉外的所有竞品；</a:t>
                      </a:r>
                      <a:endParaRPr lang="en-US" altLang="zh-CN" sz="1400" b="0" i="0" u="none" strike="noStrike" dirty="0">
                        <a:solidFill>
                          <a:srgbClr val="000000"/>
                        </a:solidFill>
                        <a:effectLst/>
                        <a:latin typeface="+mn-ea"/>
                        <a:ea typeface="+mn-ea"/>
                      </a:endParaRPr>
                    </a:p>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下半年弱项是提供的饮料服务，咨询过程的专业性，销售顾问对车主权益和服务的介绍清晰程度，离店后的回访等；下半年，试乘试驾环节弱项得到明显改善</a:t>
                      </a:r>
                    </a:p>
                  </a:txBody>
                  <a:tcPr marL="108000" marR="6350" marT="6350" marB="0" anchor="ctr">
                    <a:solidFill>
                      <a:schemeClr val="accent6">
                        <a:lumMod val="20000"/>
                        <a:lumOff val="80000"/>
                      </a:schemeClr>
                    </a:solidFill>
                  </a:tcPr>
                </a:tc>
                <a:extLst>
                  <a:ext uri="{0D108BD9-81ED-4DB2-BD59-A6C34878D82A}">
                    <a16:rowId xmlns:a16="http://schemas.microsoft.com/office/drawing/2014/main" val="3065633557"/>
                  </a:ext>
                </a:extLst>
              </a:tr>
              <a:tr h="1389353">
                <a:tc>
                  <a:txBody>
                    <a:bodyPr/>
                    <a:lstStyle/>
                    <a:p>
                      <a:pPr algn="l" fontAlgn="ctr"/>
                      <a:r>
                        <a:rPr lang="zh-CN" altLang="en-US" sz="1400" b="0" i="0" u="none" strike="noStrike" dirty="0">
                          <a:solidFill>
                            <a:srgbClr val="000000"/>
                          </a:solidFill>
                          <a:effectLst/>
                          <a:latin typeface="+mn-ea"/>
                          <a:ea typeface="+mn-ea"/>
                        </a:rPr>
                        <a:t>销售战胜战败</a:t>
                      </a:r>
                    </a:p>
                  </a:txBody>
                  <a:tcPr marL="72000" marR="6350" marT="6350" marB="0" anchor="ctr">
                    <a:solidFill>
                      <a:schemeClr val="accent6">
                        <a:lumMod val="20000"/>
                        <a:lumOff val="80000"/>
                      </a:schemeClr>
                    </a:solidFill>
                  </a:tcPr>
                </a:tc>
                <a:tc>
                  <a:txBody>
                    <a:bodyPr/>
                    <a:lstStyle/>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战胜车主对某品牌服务体验满意度远高于特斯拉，极氪；理想、小鹏车主对某品牌服务满意度远低于战败所购品牌服务</a:t>
                      </a:r>
                      <a:br>
                        <a:rPr lang="zh-CN" altLang="en-US" sz="1400" b="0" i="0" u="none" strike="noStrike" dirty="0">
                          <a:solidFill>
                            <a:srgbClr val="000000"/>
                          </a:solidFill>
                          <a:effectLst/>
                          <a:latin typeface="+mn-ea"/>
                          <a:ea typeface="+mn-ea"/>
                        </a:rPr>
                      </a:br>
                      <a:r>
                        <a:rPr lang="zh-CN" altLang="en-US" sz="1400" b="0" i="0" u="none" strike="noStrike" dirty="0">
                          <a:solidFill>
                            <a:srgbClr val="000000"/>
                          </a:solidFill>
                          <a:effectLst/>
                          <a:latin typeface="+mn-ea"/>
                          <a:ea typeface="+mn-ea"/>
                        </a:rPr>
                        <a:t>战胜车主对某品牌到店接待评价远高于对竞品评价；</a:t>
                      </a:r>
                      <a:endParaRPr lang="en-US" altLang="zh-CN" sz="1400" b="0" i="0" u="none" strike="noStrike" dirty="0">
                        <a:solidFill>
                          <a:srgbClr val="000000"/>
                        </a:solidFill>
                        <a:effectLst/>
                        <a:latin typeface="+mn-ea"/>
                        <a:ea typeface="+mn-ea"/>
                      </a:endParaRPr>
                    </a:p>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战败车主入店前没有咨询某品牌原因主要是担心“销售人员骚扰和信息泄露”；除产品原因外，没有试乘试驾主要是“排队等待时间”，没有洽谈下定主要是“没有优惠政策”；</a:t>
                      </a:r>
                      <a:endParaRPr lang="en-US" altLang="zh-CN" sz="1400" b="0" i="0" u="none" strike="noStrike" dirty="0">
                        <a:solidFill>
                          <a:srgbClr val="000000"/>
                        </a:solidFill>
                        <a:effectLst/>
                        <a:latin typeface="+mn-ea"/>
                        <a:ea typeface="+mn-ea"/>
                      </a:endParaRPr>
                    </a:p>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导致战败车主不购买某品牌最重要环节是“店内看车”和“试乘试驾”；</a:t>
                      </a:r>
                      <a:endParaRPr lang="en-US" altLang="zh-CN" sz="1400" b="0" i="0" u="none" strike="noStrike" dirty="0">
                        <a:solidFill>
                          <a:srgbClr val="000000"/>
                        </a:solidFill>
                        <a:effectLst/>
                        <a:latin typeface="+mn-ea"/>
                        <a:ea typeface="+mn-ea"/>
                      </a:endParaRPr>
                    </a:p>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当让战败车主重新选择某品牌，最关键影响因素是“品牌成熟可靠和试乘试驾体验”，其次是“专业度和服务态度”</a:t>
                      </a:r>
                    </a:p>
                  </a:txBody>
                  <a:tcPr marL="108000" marR="6350" marT="6350" marB="0" anchor="ctr">
                    <a:solidFill>
                      <a:schemeClr val="accent6">
                        <a:lumMod val="20000"/>
                        <a:lumOff val="80000"/>
                      </a:schemeClr>
                    </a:solidFill>
                  </a:tcPr>
                </a:tc>
                <a:extLst>
                  <a:ext uri="{0D108BD9-81ED-4DB2-BD59-A6C34878D82A}">
                    <a16:rowId xmlns:a16="http://schemas.microsoft.com/office/drawing/2014/main" val="3639934487"/>
                  </a:ext>
                </a:extLst>
              </a:tr>
              <a:tr h="677549">
                <a:tc>
                  <a:txBody>
                    <a:bodyPr/>
                    <a:lstStyle/>
                    <a:p>
                      <a:pPr algn="l" fontAlgn="ctr"/>
                      <a:r>
                        <a:rPr lang="zh-CN" altLang="en-US" sz="1400" b="0" i="0" u="none" strike="noStrike" dirty="0">
                          <a:solidFill>
                            <a:srgbClr val="000000"/>
                          </a:solidFill>
                          <a:effectLst/>
                          <a:latin typeface="+mn-ea"/>
                          <a:ea typeface="+mn-ea"/>
                        </a:rPr>
                        <a:t>犹豫用户</a:t>
                      </a:r>
                    </a:p>
                  </a:txBody>
                  <a:tcPr marL="72000" marR="6350" marT="6350" marB="0" anchor="ctr">
                    <a:solidFill>
                      <a:schemeClr val="accent6">
                        <a:lumMod val="20000"/>
                        <a:lumOff val="80000"/>
                      </a:schemeClr>
                    </a:solidFill>
                  </a:tcPr>
                </a:tc>
                <a:tc>
                  <a:txBody>
                    <a:bodyPr/>
                    <a:lstStyle/>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某品牌满意度低于理想，蔚来，问界，智己，高于小鹏，极氪；</a:t>
                      </a:r>
                      <a:br>
                        <a:rPr lang="zh-CN" altLang="en-US" sz="1400" b="0" i="0" u="none" strike="noStrike" dirty="0">
                          <a:solidFill>
                            <a:srgbClr val="000000"/>
                          </a:solidFill>
                          <a:effectLst/>
                          <a:latin typeface="+mn-ea"/>
                          <a:ea typeface="+mn-ea"/>
                        </a:rPr>
                      </a:br>
                      <a:r>
                        <a:rPr lang="zh-CN" altLang="en-US" sz="1400" b="0" i="0" u="none" strike="noStrike" dirty="0">
                          <a:solidFill>
                            <a:srgbClr val="000000"/>
                          </a:solidFill>
                          <a:effectLst/>
                          <a:latin typeface="+mn-ea"/>
                          <a:ea typeface="+mn-ea"/>
                        </a:rPr>
                        <a:t>犹豫用户在店内硬件设施方面体验相对高于竞品均值</a:t>
                      </a:r>
                      <a:endParaRPr lang="en-US" altLang="zh-CN" sz="1400" b="0" i="0" u="none" strike="noStrike" dirty="0">
                        <a:solidFill>
                          <a:srgbClr val="000000"/>
                        </a:solidFill>
                        <a:effectLst/>
                        <a:latin typeface="+mn-ea"/>
                        <a:ea typeface="+mn-ea"/>
                      </a:endParaRPr>
                    </a:p>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弱项是咨询过程专业度，销售顾问对需求理解和针对性推荐，试驾结束后持续服务</a:t>
                      </a:r>
                    </a:p>
                  </a:txBody>
                  <a:tcPr marL="108000" marR="6350" marT="6350" marB="0" anchor="ctr">
                    <a:solidFill>
                      <a:schemeClr val="accent6">
                        <a:lumMod val="20000"/>
                        <a:lumOff val="80000"/>
                      </a:schemeClr>
                    </a:solidFill>
                  </a:tcPr>
                </a:tc>
                <a:extLst>
                  <a:ext uri="{0D108BD9-81ED-4DB2-BD59-A6C34878D82A}">
                    <a16:rowId xmlns:a16="http://schemas.microsoft.com/office/drawing/2014/main" val="348132674"/>
                  </a:ext>
                </a:extLst>
              </a:tr>
              <a:tr h="453918">
                <a:tc>
                  <a:txBody>
                    <a:bodyPr/>
                    <a:lstStyle/>
                    <a:p>
                      <a:pPr algn="l" fontAlgn="ctr"/>
                      <a:r>
                        <a:rPr lang="zh-CN" altLang="en-US" sz="1400" b="0" i="0" u="none" strike="noStrike" dirty="0">
                          <a:solidFill>
                            <a:srgbClr val="000000"/>
                          </a:solidFill>
                          <a:effectLst/>
                          <a:latin typeface="+mn-ea"/>
                          <a:ea typeface="+mn-ea"/>
                        </a:rPr>
                        <a:t>战区分析</a:t>
                      </a:r>
                    </a:p>
                  </a:txBody>
                  <a:tcPr marL="72000" marR="6350" marT="6350" marB="0" anchor="ctr">
                    <a:solidFill>
                      <a:schemeClr val="accent6">
                        <a:lumMod val="20000"/>
                        <a:lumOff val="80000"/>
                      </a:schemeClr>
                    </a:solidFill>
                  </a:tcPr>
                </a:tc>
                <a:tc>
                  <a:txBody>
                    <a:bodyPr/>
                    <a:lstStyle/>
                    <a:p>
                      <a:pPr marL="171450" indent="-171450" algn="l" fontAlgn="ctr">
                        <a:buFont typeface="Arial" panose="020B0604020202020204" pitchFamily="34" charset="0"/>
                        <a:buChar char="•"/>
                      </a:pPr>
                      <a:r>
                        <a:rPr lang="zh-CN" altLang="en-US" sz="1400" b="0" i="0" u="none" strike="noStrike" dirty="0">
                          <a:solidFill>
                            <a:srgbClr val="000000"/>
                          </a:solidFill>
                          <a:effectLst/>
                          <a:latin typeface="+mn-ea"/>
                          <a:ea typeface="+mn-ea"/>
                        </a:rPr>
                        <a:t>得分较高的是北一区、东二区，得分较低的是东一区、南一区；</a:t>
                      </a:r>
                      <a:br>
                        <a:rPr lang="zh-CN" altLang="en-US" sz="1400" b="0" i="0" u="none" strike="noStrike" dirty="0">
                          <a:solidFill>
                            <a:srgbClr val="000000"/>
                          </a:solidFill>
                          <a:effectLst/>
                          <a:latin typeface="+mn-ea"/>
                          <a:ea typeface="+mn-ea"/>
                        </a:rPr>
                      </a:br>
                      <a:r>
                        <a:rPr lang="zh-CN" altLang="en-US" sz="1400" b="0" i="0" u="none" strike="noStrike" dirty="0">
                          <a:solidFill>
                            <a:srgbClr val="000000"/>
                          </a:solidFill>
                          <a:effectLst/>
                          <a:latin typeface="+mn-ea"/>
                          <a:ea typeface="+mn-ea"/>
                        </a:rPr>
                        <a:t>东一区、东二区、南一区和南二区的入店前沟通环节，和北一区、西一区的店内看车环节得分较低；</a:t>
                      </a:r>
                    </a:p>
                  </a:txBody>
                  <a:tcPr marL="108000" marR="6350" marT="6350" marB="0" anchor="ctr">
                    <a:solidFill>
                      <a:schemeClr val="accent6">
                        <a:lumMod val="20000"/>
                        <a:lumOff val="80000"/>
                      </a:schemeClr>
                    </a:solidFill>
                  </a:tcPr>
                </a:tc>
                <a:extLst>
                  <a:ext uri="{0D108BD9-81ED-4DB2-BD59-A6C34878D82A}">
                    <a16:rowId xmlns:a16="http://schemas.microsoft.com/office/drawing/2014/main" val="552035653"/>
                  </a:ext>
                </a:extLst>
              </a:tr>
            </a:tbl>
          </a:graphicData>
        </a:graphic>
      </p:graphicFrame>
    </p:spTree>
    <p:extLst>
      <p:ext uri="{BB962C8B-B14F-4D97-AF65-F5344CB8AC3E}">
        <p14:creationId xmlns:p14="http://schemas.microsoft.com/office/powerpoint/2010/main" val="1934689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B4B85F5A-F2F0-164F-B247-FB7ED3EB4AE4}"/>
              </a:ext>
            </a:extLst>
          </p:cNvPr>
          <p:cNvSpPr>
            <a:spLocks noGrp="1"/>
          </p:cNvSpPr>
          <p:nvPr>
            <p:ph type="sldNum" sz="quarter" idx="4"/>
          </p:nvPr>
        </p:nvSpPr>
        <p:spPr/>
        <p:txBody>
          <a:bodyPr/>
          <a:lstStyle/>
          <a:p>
            <a:fld id="{BE00B666-AD48-5640-8D08-2A4A6036569F}" type="slidenum">
              <a:rPr lang="zh-CN" altLang="en-US" smtClean="0"/>
              <a:t>4</a:t>
            </a:fld>
            <a:endParaRPr lang="zh-CN" altLang="en-US" dirty="0"/>
          </a:p>
        </p:txBody>
      </p:sp>
      <p:sp>
        <p:nvSpPr>
          <p:cNvPr id="6" name="文本占位符 1">
            <a:extLst>
              <a:ext uri="{FF2B5EF4-FFF2-40B4-BE49-F238E27FC236}">
                <a16:creationId xmlns:a16="http://schemas.microsoft.com/office/drawing/2014/main" id="{CCE3C6D4-4E63-4E91-CAA8-5291FCB4539B}"/>
              </a:ext>
            </a:extLst>
          </p:cNvPr>
          <p:cNvSpPr txBox="1">
            <a:spLocks/>
          </p:cNvSpPr>
          <p:nvPr/>
        </p:nvSpPr>
        <p:spPr>
          <a:xfrm>
            <a:off x="302945" y="339516"/>
            <a:ext cx="4669748" cy="588880"/>
          </a:xfrm>
          <a:prstGeom prst="rect">
            <a:avLst/>
          </a:prstGeom>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3200" b="0" i="0" kern="1200" baseline="0">
                <a:solidFill>
                  <a:schemeClr val="tx1"/>
                </a:solidFill>
                <a:latin typeface="DIN Pro Regular" panose="02000503040000020003" pitchFamily="50" charset="0"/>
                <a:ea typeface="Alibaba PuHuiTi 2.0 55 Regular" pitchFamily="18" charset="-122"/>
                <a:cs typeface="Alibaba PuHuiTi 2.0 55 Regular" pitchFamily="18" charset="-122"/>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项目摘要</a:t>
            </a:r>
            <a:r>
              <a:rPr lang="en-US" altLang="zh-CN"/>
              <a:t>2/3</a:t>
            </a:r>
            <a:endParaRPr lang="zh-CN" altLang="en-US" dirty="0"/>
          </a:p>
        </p:txBody>
      </p:sp>
      <p:sp>
        <p:nvSpPr>
          <p:cNvPr id="7" name="文本占位符 2">
            <a:extLst>
              <a:ext uri="{FF2B5EF4-FFF2-40B4-BE49-F238E27FC236}">
                <a16:creationId xmlns:a16="http://schemas.microsoft.com/office/drawing/2014/main" id="{FAB3F964-DE4C-B9AF-98FA-C0442F8FCA7B}"/>
              </a:ext>
            </a:extLst>
          </p:cNvPr>
          <p:cNvSpPr txBox="1">
            <a:spLocks/>
          </p:cNvSpPr>
          <p:nvPr/>
        </p:nvSpPr>
        <p:spPr>
          <a:xfrm>
            <a:off x="311065" y="868790"/>
            <a:ext cx="4678964" cy="38384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a:solidFill>
                  <a:schemeClr val="tx1"/>
                </a:solidFill>
              </a:rPr>
              <a:t>交付服务的满意度研究</a:t>
            </a:r>
          </a:p>
        </p:txBody>
      </p:sp>
      <p:graphicFrame>
        <p:nvGraphicFramePr>
          <p:cNvPr id="8" name="表格 7">
            <a:extLst>
              <a:ext uri="{FF2B5EF4-FFF2-40B4-BE49-F238E27FC236}">
                <a16:creationId xmlns:a16="http://schemas.microsoft.com/office/drawing/2014/main" id="{F7CA6326-E079-5442-3BE2-2DDA4C79B799}"/>
              </a:ext>
            </a:extLst>
          </p:cNvPr>
          <p:cNvGraphicFramePr>
            <a:graphicFrameLocks noGrp="1"/>
          </p:cNvGraphicFramePr>
          <p:nvPr/>
        </p:nvGraphicFramePr>
        <p:xfrm>
          <a:off x="174172" y="1252639"/>
          <a:ext cx="11825742" cy="2306990"/>
        </p:xfrm>
        <a:graphic>
          <a:graphicData uri="http://schemas.openxmlformats.org/drawingml/2006/table">
            <a:tbl>
              <a:tblPr>
                <a:tableStyleId>{5C22544A-7EE6-4342-B048-85BDC9FD1C3A}</a:tableStyleId>
              </a:tblPr>
              <a:tblGrid>
                <a:gridCol w="2236044">
                  <a:extLst>
                    <a:ext uri="{9D8B030D-6E8A-4147-A177-3AD203B41FA5}">
                      <a16:colId xmlns:a16="http://schemas.microsoft.com/office/drawing/2014/main" val="553779841"/>
                    </a:ext>
                  </a:extLst>
                </a:gridCol>
                <a:gridCol w="9589698">
                  <a:extLst>
                    <a:ext uri="{9D8B030D-6E8A-4147-A177-3AD203B41FA5}">
                      <a16:colId xmlns:a16="http://schemas.microsoft.com/office/drawing/2014/main" val="1272567022"/>
                    </a:ext>
                  </a:extLst>
                </a:gridCol>
              </a:tblGrid>
              <a:tr h="1482465">
                <a:tc>
                  <a:txBody>
                    <a:bodyPr/>
                    <a:lstStyle/>
                    <a:p>
                      <a:pPr algn="l" fontAlgn="ctr"/>
                      <a:r>
                        <a:rPr lang="zh-CN" altLang="en-US" sz="1400" b="0" i="0" u="none" strike="noStrike" dirty="0">
                          <a:solidFill>
                            <a:srgbClr val="000000"/>
                          </a:solidFill>
                          <a:effectLst/>
                          <a:latin typeface="+mn-ea"/>
                          <a:ea typeface="+mn-ea"/>
                        </a:rPr>
                        <a:t>交付服务满意度分析</a:t>
                      </a:r>
                    </a:p>
                  </a:txBody>
                  <a:tcPr marL="108000" marR="6350" marT="6350" marB="0" anchor="ctr">
                    <a:solidFill>
                      <a:schemeClr val="accent6">
                        <a:lumMod val="20000"/>
                        <a:lumOff val="80000"/>
                      </a:schemeClr>
                    </a:solidFill>
                  </a:tcPr>
                </a:tc>
                <a:tc>
                  <a:txBody>
                    <a:bodyPr/>
                    <a:lstStyle/>
                    <a:p>
                      <a:pPr marL="285750" indent="-285750" algn="l" fontAlgn="ctr">
                        <a:buFont typeface="Arial" panose="020B0604020202020204" pitchFamily="34" charset="0"/>
                        <a:buChar char="•"/>
                      </a:pPr>
                      <a:r>
                        <a:rPr lang="zh-CN" altLang="en-US" sz="1400" b="0" i="0" u="none" strike="noStrike" dirty="0">
                          <a:solidFill>
                            <a:srgbClr val="000000"/>
                          </a:solidFill>
                          <a:effectLst/>
                          <a:latin typeface="+mn-ea"/>
                          <a:ea typeface="+mn-ea"/>
                        </a:rPr>
                        <a:t>某品牌的交付服务得分低于行业平均水平，高于特斯拉，低于其他竞品；</a:t>
                      </a:r>
                      <a:br>
                        <a:rPr lang="zh-CN" altLang="en-US" sz="1400" b="0" i="0" u="none" strike="noStrike" dirty="0">
                          <a:solidFill>
                            <a:srgbClr val="000000"/>
                          </a:solidFill>
                          <a:effectLst/>
                          <a:latin typeface="+mn-ea"/>
                          <a:ea typeface="+mn-ea"/>
                        </a:rPr>
                      </a:br>
                      <a:r>
                        <a:rPr lang="zh-CN" altLang="en-US" sz="1400" b="0" i="0" u="none" strike="noStrike" dirty="0">
                          <a:solidFill>
                            <a:srgbClr val="000000"/>
                          </a:solidFill>
                          <a:effectLst/>
                          <a:latin typeface="+mn-ea"/>
                          <a:ea typeface="+mn-ea"/>
                        </a:rPr>
                        <a:t>相比上半年，在交车环节、交付等待因子有提升；在交车环节、交付等待环节高于特斯拉，低于其他竞品；</a:t>
                      </a:r>
                      <a:endParaRPr lang="en-US" altLang="zh-CN" sz="1400" b="0" i="0" u="none" strike="noStrike" dirty="0">
                        <a:solidFill>
                          <a:srgbClr val="000000"/>
                        </a:solidFill>
                        <a:effectLst/>
                        <a:latin typeface="+mn-ea"/>
                        <a:ea typeface="+mn-ea"/>
                      </a:endParaRPr>
                    </a:p>
                    <a:p>
                      <a:pPr marL="285750" indent="-285750" algn="l" fontAlgn="ctr">
                        <a:buFont typeface="Arial" panose="020B0604020202020204" pitchFamily="34" charset="0"/>
                        <a:buChar char="•"/>
                      </a:pPr>
                      <a:r>
                        <a:rPr lang="zh-CN" altLang="en-US" sz="1400" b="0" i="0" u="none" strike="noStrike" dirty="0">
                          <a:solidFill>
                            <a:srgbClr val="000000"/>
                          </a:solidFill>
                          <a:effectLst/>
                          <a:latin typeface="+mn-ea"/>
                          <a:ea typeface="+mn-ea"/>
                        </a:rPr>
                        <a:t>下半年弱项是交付等待流程，门店迎接，新车车况，验车体验，交车仪式，交付后沟通，交付顾问诚信，跟近与关怀，车辆问题解决；</a:t>
                      </a:r>
                      <a:endParaRPr lang="en-US" altLang="zh-CN" sz="1400" b="0" i="0" u="none" strike="noStrike" dirty="0">
                        <a:solidFill>
                          <a:srgbClr val="000000"/>
                        </a:solidFill>
                        <a:effectLst/>
                        <a:latin typeface="+mn-ea"/>
                        <a:ea typeface="+mn-ea"/>
                      </a:endParaRPr>
                    </a:p>
                    <a:p>
                      <a:pPr marL="285750" indent="-285750" algn="l" fontAlgn="ctr">
                        <a:buFont typeface="Arial" panose="020B0604020202020204" pitchFamily="34" charset="0"/>
                        <a:buChar char="•"/>
                      </a:pPr>
                      <a:r>
                        <a:rPr lang="zh-CN" altLang="en-US" sz="1400" b="0" i="0" u="none" strike="noStrike" dirty="0">
                          <a:solidFill>
                            <a:srgbClr val="000000"/>
                          </a:solidFill>
                          <a:effectLst/>
                          <a:latin typeface="+mn-ea"/>
                          <a:ea typeface="+mn-ea"/>
                        </a:rPr>
                        <a:t>相比上半年，某品牌在交车环节弱项仍存在，同时新增了用户维系、验车体验、新车车况方面的弱项；</a:t>
                      </a:r>
                    </a:p>
                  </a:txBody>
                  <a:tcPr marL="108000" marR="6350" marT="6350" marB="0" anchor="ctr">
                    <a:solidFill>
                      <a:schemeClr val="accent6">
                        <a:lumMod val="20000"/>
                        <a:lumOff val="80000"/>
                      </a:schemeClr>
                    </a:solidFill>
                  </a:tcPr>
                </a:tc>
                <a:extLst>
                  <a:ext uri="{0D108BD9-81ED-4DB2-BD59-A6C34878D82A}">
                    <a16:rowId xmlns:a16="http://schemas.microsoft.com/office/drawing/2014/main" val="1669513560"/>
                  </a:ext>
                </a:extLst>
              </a:tr>
              <a:tr h="824525">
                <a:tc>
                  <a:txBody>
                    <a:bodyPr/>
                    <a:lstStyle/>
                    <a:p>
                      <a:pPr algn="l" fontAlgn="ctr"/>
                      <a:r>
                        <a:rPr lang="zh-CN" altLang="en-US" sz="1400" b="0" i="0" u="none" strike="noStrike" dirty="0">
                          <a:solidFill>
                            <a:srgbClr val="000000"/>
                          </a:solidFill>
                          <a:effectLst/>
                          <a:latin typeface="+mn-ea"/>
                          <a:ea typeface="+mn-ea"/>
                        </a:rPr>
                        <a:t>战区分析</a:t>
                      </a:r>
                    </a:p>
                  </a:txBody>
                  <a:tcPr marL="108000" marR="6350" marT="6350" marB="0" anchor="ctr">
                    <a:solidFill>
                      <a:schemeClr val="accent6">
                        <a:lumMod val="20000"/>
                        <a:lumOff val="80000"/>
                      </a:schemeClr>
                    </a:solidFill>
                  </a:tcPr>
                </a:tc>
                <a:tc>
                  <a:txBody>
                    <a:bodyPr/>
                    <a:lstStyle/>
                    <a:p>
                      <a:pPr marL="285750" indent="-285750" algn="l" fontAlgn="ctr">
                        <a:lnSpc>
                          <a:spcPct val="150000"/>
                        </a:lnSpc>
                        <a:buFont typeface="Arial" panose="020B0604020202020204" pitchFamily="34" charset="0"/>
                        <a:buChar char="•"/>
                      </a:pPr>
                      <a:r>
                        <a:rPr lang="zh-CN" altLang="en-US" sz="1400" b="0" i="0" u="none" strike="noStrike" dirty="0">
                          <a:solidFill>
                            <a:srgbClr val="000000"/>
                          </a:solidFill>
                          <a:effectLst/>
                          <a:latin typeface="+mn-ea"/>
                          <a:ea typeface="+mn-ea"/>
                        </a:rPr>
                        <a:t>东二区和北一区的得分高于其他区域，东三区和南一区得分靠后；</a:t>
                      </a:r>
                      <a:endParaRPr lang="en-US" altLang="zh-CN" sz="1400" b="0" i="0" u="none" strike="noStrike" dirty="0">
                        <a:solidFill>
                          <a:srgbClr val="000000"/>
                        </a:solidFill>
                        <a:effectLst/>
                        <a:latin typeface="+mn-ea"/>
                        <a:ea typeface="+mn-ea"/>
                      </a:endParaRPr>
                    </a:p>
                    <a:p>
                      <a:pPr marL="285750" indent="-285750" algn="l" fontAlgn="ctr">
                        <a:lnSpc>
                          <a:spcPct val="150000"/>
                        </a:lnSpc>
                        <a:buFont typeface="Arial" panose="020B0604020202020204" pitchFamily="34" charset="0"/>
                        <a:buChar char="•"/>
                      </a:pPr>
                      <a:r>
                        <a:rPr lang="zh-CN" altLang="en-US" sz="1400" b="0" i="0" u="none" strike="noStrike" dirty="0">
                          <a:solidFill>
                            <a:srgbClr val="000000"/>
                          </a:solidFill>
                          <a:effectLst/>
                          <a:latin typeface="+mn-ea"/>
                          <a:ea typeface="+mn-ea"/>
                        </a:rPr>
                        <a:t>用户维系是各个区域需要提升的环节；</a:t>
                      </a:r>
                    </a:p>
                  </a:txBody>
                  <a:tcPr marL="108000" marR="6350" marT="6350" marB="0" anchor="ctr">
                    <a:solidFill>
                      <a:schemeClr val="accent6">
                        <a:lumMod val="20000"/>
                        <a:lumOff val="80000"/>
                      </a:schemeClr>
                    </a:solidFill>
                  </a:tcPr>
                </a:tc>
                <a:extLst>
                  <a:ext uri="{0D108BD9-81ED-4DB2-BD59-A6C34878D82A}">
                    <a16:rowId xmlns:a16="http://schemas.microsoft.com/office/drawing/2014/main" val="3065633557"/>
                  </a:ext>
                </a:extLst>
              </a:tr>
            </a:tbl>
          </a:graphicData>
        </a:graphic>
      </p:graphicFrame>
      <p:graphicFrame>
        <p:nvGraphicFramePr>
          <p:cNvPr id="9" name="表格 8">
            <a:extLst>
              <a:ext uri="{FF2B5EF4-FFF2-40B4-BE49-F238E27FC236}">
                <a16:creationId xmlns:a16="http://schemas.microsoft.com/office/drawing/2014/main" id="{CA38BB26-3D8F-AB98-E908-CF850C0E3865}"/>
              </a:ext>
            </a:extLst>
          </p:cNvPr>
          <p:cNvGraphicFramePr>
            <a:graphicFrameLocks noGrp="1"/>
          </p:cNvGraphicFramePr>
          <p:nvPr/>
        </p:nvGraphicFramePr>
        <p:xfrm>
          <a:off x="174171" y="4211708"/>
          <a:ext cx="11825743" cy="2090816"/>
        </p:xfrm>
        <a:graphic>
          <a:graphicData uri="http://schemas.openxmlformats.org/drawingml/2006/table">
            <a:tbl>
              <a:tblPr>
                <a:tableStyleId>{5C22544A-7EE6-4342-B048-85BDC9FD1C3A}</a:tableStyleId>
              </a:tblPr>
              <a:tblGrid>
                <a:gridCol w="2236044">
                  <a:extLst>
                    <a:ext uri="{9D8B030D-6E8A-4147-A177-3AD203B41FA5}">
                      <a16:colId xmlns:a16="http://schemas.microsoft.com/office/drawing/2014/main" val="553779841"/>
                    </a:ext>
                  </a:extLst>
                </a:gridCol>
                <a:gridCol w="9589699">
                  <a:extLst>
                    <a:ext uri="{9D8B030D-6E8A-4147-A177-3AD203B41FA5}">
                      <a16:colId xmlns:a16="http://schemas.microsoft.com/office/drawing/2014/main" val="1272567022"/>
                    </a:ext>
                  </a:extLst>
                </a:gridCol>
              </a:tblGrid>
              <a:tr h="1360341">
                <a:tc>
                  <a:txBody>
                    <a:bodyPr/>
                    <a:lstStyle/>
                    <a:p>
                      <a:pPr marL="0" algn="l" defTabSz="914400" rtl="0" eaLnBrk="1" fontAlgn="ctr" latinLnBrk="0" hangingPunct="1"/>
                      <a:r>
                        <a:rPr lang="zh-CN" altLang="en-US" sz="1400" b="0" i="0" u="none" strike="noStrike" kern="1200" dirty="0">
                          <a:solidFill>
                            <a:srgbClr val="000000"/>
                          </a:solidFill>
                          <a:effectLst/>
                          <a:latin typeface="+mn-ea"/>
                          <a:ea typeface="+mn-ea"/>
                          <a:cs typeface="+mn-cs"/>
                        </a:rPr>
                        <a:t>售后服务满意度分析</a:t>
                      </a:r>
                    </a:p>
                  </a:txBody>
                  <a:tcPr marL="108000" marR="6350" marT="6350" marB="0" anchor="ctr">
                    <a:solidFill>
                      <a:schemeClr val="accent6">
                        <a:lumMod val="20000"/>
                        <a:lumOff val="80000"/>
                      </a:schemeClr>
                    </a:solidFill>
                  </a:tcPr>
                </a:tc>
                <a:tc>
                  <a:txBody>
                    <a:bodyPr/>
                    <a:lstStyle/>
                    <a:p>
                      <a:pPr marL="285750" indent="-285750" algn="l" defTabSz="914400" rtl="0" eaLnBrk="1" fontAlgn="ctr" latinLnBrk="0" hangingPunct="1">
                        <a:lnSpc>
                          <a:spcPct val="150000"/>
                        </a:lnSpc>
                        <a:buFont typeface="Arial" panose="020B0604020202020204" pitchFamily="34" charset="0"/>
                        <a:buChar char="•"/>
                      </a:pPr>
                      <a:r>
                        <a:rPr lang="zh-CN" altLang="en-US" sz="1400" b="0" i="0" u="none" strike="noStrike" kern="1200" dirty="0">
                          <a:solidFill>
                            <a:srgbClr val="000000"/>
                          </a:solidFill>
                          <a:effectLst/>
                          <a:latin typeface="+mn-ea"/>
                          <a:ea typeface="+mn-ea"/>
                          <a:cs typeface="+mn-cs"/>
                        </a:rPr>
                        <a:t>某品牌</a:t>
                      </a:r>
                      <a:r>
                        <a:rPr lang="en-US" altLang="zh-CN" sz="1400" b="0" i="0" u="none" strike="noStrike" kern="1200" dirty="0">
                          <a:solidFill>
                            <a:srgbClr val="000000"/>
                          </a:solidFill>
                          <a:effectLst/>
                          <a:latin typeface="+mn-ea"/>
                          <a:ea typeface="+mn-ea"/>
                          <a:cs typeface="+mn-cs"/>
                        </a:rPr>
                        <a:t>CSI</a:t>
                      </a:r>
                      <a:r>
                        <a:rPr lang="zh-CN" altLang="en-US" sz="1400" b="0" i="0" u="none" strike="noStrike" kern="1200" dirty="0">
                          <a:solidFill>
                            <a:srgbClr val="000000"/>
                          </a:solidFill>
                          <a:effectLst/>
                          <a:latin typeface="+mn-ea"/>
                          <a:ea typeface="+mn-ea"/>
                          <a:cs typeface="+mn-cs"/>
                        </a:rPr>
                        <a:t>总体排名行业第</a:t>
                      </a:r>
                      <a:r>
                        <a:rPr lang="en-US" altLang="zh-CN" sz="1400" b="0" i="0" u="none" strike="noStrike" kern="1200" dirty="0">
                          <a:solidFill>
                            <a:srgbClr val="000000"/>
                          </a:solidFill>
                          <a:effectLst/>
                          <a:latin typeface="+mn-ea"/>
                          <a:ea typeface="+mn-ea"/>
                          <a:cs typeface="+mn-cs"/>
                        </a:rPr>
                        <a:t>6</a:t>
                      </a:r>
                      <a:r>
                        <a:rPr lang="zh-CN" altLang="en-US" sz="1400" b="0" i="0" u="none" strike="noStrike" kern="1200" dirty="0">
                          <a:solidFill>
                            <a:srgbClr val="000000"/>
                          </a:solidFill>
                          <a:effectLst/>
                          <a:latin typeface="+mn-ea"/>
                          <a:ea typeface="+mn-ea"/>
                          <a:cs typeface="+mn-cs"/>
                        </a:rPr>
                        <a:t>，得分低于行业均值，高于小鹏，低于其他竞品；</a:t>
                      </a:r>
                      <a:endParaRPr lang="en-US" altLang="zh-CN" sz="1400" b="0" i="0" u="none" strike="noStrike" kern="1200" dirty="0">
                        <a:solidFill>
                          <a:srgbClr val="000000"/>
                        </a:solidFill>
                        <a:effectLst/>
                        <a:latin typeface="+mn-ea"/>
                        <a:ea typeface="+mn-ea"/>
                        <a:cs typeface="+mn-cs"/>
                      </a:endParaRPr>
                    </a:p>
                    <a:p>
                      <a:pPr marL="285750" indent="-285750" algn="l" defTabSz="914400" rtl="0" eaLnBrk="1" fontAlgn="ctr" latinLnBrk="0" hangingPunct="1">
                        <a:lnSpc>
                          <a:spcPct val="150000"/>
                        </a:lnSpc>
                        <a:buFont typeface="Arial" panose="020B0604020202020204" pitchFamily="34" charset="0"/>
                        <a:buChar char="•"/>
                      </a:pPr>
                      <a:r>
                        <a:rPr lang="zh-CN" altLang="en-US" sz="1400" b="0" i="0" u="none" strike="noStrike" kern="1200" dirty="0">
                          <a:solidFill>
                            <a:srgbClr val="000000"/>
                          </a:solidFill>
                          <a:effectLst/>
                          <a:latin typeface="+mn-ea"/>
                          <a:ea typeface="+mn-ea"/>
                          <a:cs typeface="+mn-cs"/>
                        </a:rPr>
                        <a:t>某品牌纵向与上半年比较各因子得分均有提升，但与各竞品比较在大部分因子上仍然存在差距；</a:t>
                      </a:r>
                      <a:endParaRPr lang="en-US" altLang="zh-CN" sz="1400" b="0" i="0" u="none" strike="noStrike" kern="1200" dirty="0">
                        <a:solidFill>
                          <a:srgbClr val="000000"/>
                        </a:solidFill>
                        <a:effectLst/>
                        <a:latin typeface="+mn-ea"/>
                        <a:ea typeface="+mn-ea"/>
                        <a:cs typeface="+mn-cs"/>
                      </a:endParaRPr>
                    </a:p>
                    <a:p>
                      <a:pPr marL="285750" indent="-285750" algn="l" defTabSz="914400" rtl="0" eaLnBrk="1" fontAlgn="ctr" latinLnBrk="0" hangingPunct="1">
                        <a:lnSpc>
                          <a:spcPct val="150000"/>
                        </a:lnSpc>
                        <a:buFont typeface="Arial" panose="020B0604020202020204" pitchFamily="34" charset="0"/>
                        <a:buChar char="•"/>
                      </a:pPr>
                      <a:r>
                        <a:rPr lang="zh-CN" altLang="en-US" sz="1400" b="0" i="0" u="none" strike="noStrike" kern="1200" dirty="0">
                          <a:solidFill>
                            <a:srgbClr val="000000"/>
                          </a:solidFill>
                          <a:effectLst/>
                          <a:latin typeface="+mn-ea"/>
                          <a:ea typeface="+mn-ea"/>
                          <a:cs typeface="+mn-cs"/>
                        </a:rPr>
                        <a:t>下半年</a:t>
                      </a:r>
                      <a:r>
                        <a:rPr lang="en-US" altLang="zh-CN" sz="1400" b="0" i="0" u="none" strike="noStrike" kern="1200" dirty="0">
                          <a:solidFill>
                            <a:srgbClr val="000000"/>
                          </a:solidFill>
                          <a:effectLst/>
                          <a:latin typeface="+mn-ea"/>
                          <a:ea typeface="+mn-ea"/>
                          <a:cs typeface="+mn-cs"/>
                        </a:rPr>
                        <a:t>CSI</a:t>
                      </a:r>
                      <a:r>
                        <a:rPr lang="zh-CN" altLang="en-US" sz="1400" b="0" i="0" u="none" strike="noStrike" kern="1200" dirty="0">
                          <a:solidFill>
                            <a:srgbClr val="000000"/>
                          </a:solidFill>
                          <a:effectLst/>
                          <a:latin typeface="+mn-ea"/>
                          <a:ea typeface="+mn-ea"/>
                          <a:cs typeface="+mn-cs"/>
                        </a:rPr>
                        <a:t>遇到的问题集中在服务等待，交车结算，其次是用户维系，入店前沟通等；</a:t>
                      </a:r>
                      <a:endParaRPr lang="en-US" altLang="zh-CN" sz="1400" b="0" i="0" u="none" strike="noStrike" kern="1200" dirty="0">
                        <a:solidFill>
                          <a:srgbClr val="000000"/>
                        </a:solidFill>
                        <a:effectLst/>
                        <a:latin typeface="+mn-ea"/>
                        <a:ea typeface="+mn-ea"/>
                        <a:cs typeface="+mn-cs"/>
                      </a:endParaRPr>
                    </a:p>
                    <a:p>
                      <a:pPr marL="285750" indent="-285750" algn="l" defTabSz="914400" rtl="0" eaLnBrk="1" fontAlgn="ctr" latinLnBrk="0" hangingPunct="1">
                        <a:lnSpc>
                          <a:spcPct val="150000"/>
                        </a:lnSpc>
                        <a:buFont typeface="Arial" panose="020B0604020202020204" pitchFamily="34" charset="0"/>
                        <a:buChar char="•"/>
                      </a:pPr>
                      <a:r>
                        <a:rPr lang="zh-CN" altLang="en-US" sz="1400" b="0" i="0" u="none" strike="noStrike" kern="1200" dirty="0">
                          <a:solidFill>
                            <a:srgbClr val="000000"/>
                          </a:solidFill>
                          <a:effectLst/>
                          <a:latin typeface="+mn-ea"/>
                          <a:ea typeface="+mn-ea"/>
                          <a:cs typeface="+mn-cs"/>
                        </a:rPr>
                        <a:t>下半年共有</a:t>
                      </a:r>
                      <a:r>
                        <a:rPr lang="en-US" altLang="zh-CN" sz="1400" b="0" i="0" u="none" strike="noStrike" kern="1200" dirty="0">
                          <a:solidFill>
                            <a:srgbClr val="000000"/>
                          </a:solidFill>
                          <a:effectLst/>
                          <a:latin typeface="+mn-ea"/>
                          <a:ea typeface="+mn-ea"/>
                          <a:cs typeface="+mn-cs"/>
                        </a:rPr>
                        <a:t>21</a:t>
                      </a:r>
                      <a:r>
                        <a:rPr lang="zh-CN" altLang="en-US" sz="1400" b="0" i="0" u="none" strike="noStrike" kern="1200" dirty="0">
                          <a:solidFill>
                            <a:srgbClr val="000000"/>
                          </a:solidFill>
                          <a:effectLst/>
                          <a:latin typeface="+mn-ea"/>
                          <a:ea typeface="+mn-ea"/>
                          <a:cs typeface="+mn-cs"/>
                        </a:rPr>
                        <a:t>项优先改进项；与上半年对比看，共</a:t>
                      </a:r>
                      <a:r>
                        <a:rPr lang="en-US" altLang="zh-CN" sz="1400" b="0" i="0" u="none" strike="noStrike" kern="1200" dirty="0">
                          <a:solidFill>
                            <a:srgbClr val="000000"/>
                          </a:solidFill>
                          <a:effectLst/>
                          <a:latin typeface="+mn-ea"/>
                          <a:ea typeface="+mn-ea"/>
                          <a:cs typeface="+mn-cs"/>
                        </a:rPr>
                        <a:t>10</a:t>
                      </a:r>
                      <a:r>
                        <a:rPr lang="zh-CN" altLang="en-US" sz="1400" b="0" i="0" u="none" strike="noStrike" kern="1200" dirty="0">
                          <a:solidFill>
                            <a:srgbClr val="000000"/>
                          </a:solidFill>
                          <a:effectLst/>
                          <a:latin typeface="+mn-ea"/>
                          <a:ea typeface="+mn-ea"/>
                          <a:cs typeface="+mn-cs"/>
                        </a:rPr>
                        <a:t>项要素为上下半年共同弱项；</a:t>
                      </a:r>
                    </a:p>
                  </a:txBody>
                  <a:tcPr marL="108000" marR="6350" marT="6350" marB="0" anchor="ctr">
                    <a:solidFill>
                      <a:schemeClr val="accent6">
                        <a:lumMod val="20000"/>
                        <a:lumOff val="80000"/>
                      </a:schemeClr>
                    </a:solidFill>
                  </a:tcPr>
                </a:tc>
                <a:extLst>
                  <a:ext uri="{0D108BD9-81ED-4DB2-BD59-A6C34878D82A}">
                    <a16:rowId xmlns:a16="http://schemas.microsoft.com/office/drawing/2014/main" val="1669513560"/>
                  </a:ext>
                </a:extLst>
              </a:tr>
              <a:tr h="730475">
                <a:tc>
                  <a:txBody>
                    <a:bodyPr/>
                    <a:lstStyle/>
                    <a:p>
                      <a:pPr marL="0" algn="l" defTabSz="914400" rtl="0" eaLnBrk="1" fontAlgn="ctr" latinLnBrk="0" hangingPunct="1"/>
                      <a:r>
                        <a:rPr lang="zh-CN" altLang="en-US" sz="1400" b="0" i="0" u="none" strike="noStrike" kern="1200">
                          <a:solidFill>
                            <a:srgbClr val="000000"/>
                          </a:solidFill>
                          <a:effectLst/>
                          <a:latin typeface="+mn-ea"/>
                          <a:ea typeface="+mn-ea"/>
                          <a:cs typeface="+mn-cs"/>
                        </a:rPr>
                        <a:t>战区分析</a:t>
                      </a:r>
                    </a:p>
                  </a:txBody>
                  <a:tcPr marL="108000" marR="6350" marT="6350" marB="0" anchor="ctr">
                    <a:solidFill>
                      <a:schemeClr val="accent6">
                        <a:lumMod val="20000"/>
                        <a:lumOff val="80000"/>
                      </a:schemeClr>
                    </a:solidFill>
                  </a:tcPr>
                </a:tc>
                <a:tc>
                  <a:txBody>
                    <a:bodyPr/>
                    <a:lstStyle/>
                    <a:p>
                      <a:pPr marL="285750" indent="-285750" algn="l" defTabSz="914400" rtl="0" eaLnBrk="1" fontAlgn="ctr" latinLnBrk="0" hangingPunct="1">
                        <a:buFont typeface="Arial" panose="020B0604020202020204" pitchFamily="34" charset="0"/>
                        <a:buChar char="•"/>
                      </a:pPr>
                      <a:r>
                        <a:rPr lang="zh-CN" altLang="en-US" sz="1400" b="0" i="0" u="none" strike="noStrike" kern="1200" dirty="0">
                          <a:solidFill>
                            <a:srgbClr val="000000"/>
                          </a:solidFill>
                          <a:effectLst/>
                          <a:latin typeface="+mn-ea"/>
                          <a:ea typeface="+mn-ea"/>
                          <a:cs typeface="+mn-cs"/>
                        </a:rPr>
                        <a:t>战区的车主对于用户维系的满意度得分较低；</a:t>
                      </a:r>
                    </a:p>
                  </a:txBody>
                  <a:tcPr marL="108000" marR="6350" marT="6350" marB="0" anchor="ctr">
                    <a:solidFill>
                      <a:schemeClr val="accent6">
                        <a:lumMod val="20000"/>
                        <a:lumOff val="80000"/>
                      </a:schemeClr>
                    </a:solidFill>
                  </a:tcPr>
                </a:tc>
                <a:extLst>
                  <a:ext uri="{0D108BD9-81ED-4DB2-BD59-A6C34878D82A}">
                    <a16:rowId xmlns:a16="http://schemas.microsoft.com/office/drawing/2014/main" val="3065633557"/>
                  </a:ext>
                </a:extLst>
              </a:tr>
            </a:tbl>
          </a:graphicData>
        </a:graphic>
      </p:graphicFrame>
      <p:sp>
        <p:nvSpPr>
          <p:cNvPr id="10" name="文本占位符 2">
            <a:extLst>
              <a:ext uri="{FF2B5EF4-FFF2-40B4-BE49-F238E27FC236}">
                <a16:creationId xmlns:a16="http://schemas.microsoft.com/office/drawing/2014/main" id="{A55D4748-24B3-9241-C2A1-524B8175AE4E}"/>
              </a:ext>
            </a:extLst>
          </p:cNvPr>
          <p:cNvSpPr txBox="1">
            <a:spLocks/>
          </p:cNvSpPr>
          <p:nvPr/>
        </p:nvSpPr>
        <p:spPr>
          <a:xfrm>
            <a:off x="311065" y="3827860"/>
            <a:ext cx="4678964" cy="38384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chemeClr val="tx1"/>
                </a:solidFill>
              </a:rPr>
              <a:t>售后服务的满意度研究</a:t>
            </a:r>
          </a:p>
        </p:txBody>
      </p:sp>
    </p:spTree>
    <p:extLst>
      <p:ext uri="{BB962C8B-B14F-4D97-AF65-F5344CB8AC3E}">
        <p14:creationId xmlns:p14="http://schemas.microsoft.com/office/powerpoint/2010/main" val="41564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A14B6B31-C8C3-6210-C7C7-FEEEDE87B2E5}"/>
              </a:ext>
            </a:extLst>
          </p:cNvPr>
          <p:cNvSpPr>
            <a:spLocks noGrp="1"/>
          </p:cNvSpPr>
          <p:nvPr>
            <p:ph type="sldNum" sz="quarter" idx="4"/>
          </p:nvPr>
        </p:nvSpPr>
        <p:spPr/>
        <p:txBody>
          <a:bodyPr/>
          <a:lstStyle/>
          <a:p>
            <a:fld id="{BE00B666-AD48-5640-8D08-2A4A6036569F}" type="slidenum">
              <a:rPr lang="zh-CN" altLang="en-US" smtClean="0"/>
              <a:t>5</a:t>
            </a:fld>
            <a:endParaRPr lang="zh-CN" altLang="en-US" dirty="0"/>
          </a:p>
        </p:txBody>
      </p:sp>
      <p:sp>
        <p:nvSpPr>
          <p:cNvPr id="6" name="文本占位符 1">
            <a:extLst>
              <a:ext uri="{FF2B5EF4-FFF2-40B4-BE49-F238E27FC236}">
                <a16:creationId xmlns:a16="http://schemas.microsoft.com/office/drawing/2014/main" id="{0CB2035C-D972-BCC1-C7D1-4906C45FB41A}"/>
              </a:ext>
            </a:extLst>
          </p:cNvPr>
          <p:cNvSpPr txBox="1">
            <a:spLocks/>
          </p:cNvSpPr>
          <p:nvPr/>
        </p:nvSpPr>
        <p:spPr>
          <a:xfrm>
            <a:off x="302945" y="339516"/>
            <a:ext cx="4669748" cy="588880"/>
          </a:xfrm>
          <a:prstGeom prst="rect">
            <a:avLst/>
          </a:prstGeom>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3200" b="0" i="0" kern="1200" baseline="0">
                <a:solidFill>
                  <a:schemeClr val="tx1"/>
                </a:solidFill>
                <a:latin typeface="DIN Pro Regular" panose="02000503040000020003" pitchFamily="50" charset="0"/>
                <a:ea typeface="Alibaba PuHuiTi 2.0 55 Regular" pitchFamily="18" charset="-122"/>
                <a:cs typeface="Alibaba PuHuiTi 2.0 55 Regular" pitchFamily="18" charset="-122"/>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项目摘要</a:t>
            </a:r>
            <a:r>
              <a:rPr lang="en-US" altLang="zh-CN"/>
              <a:t>3/3</a:t>
            </a:r>
            <a:endParaRPr lang="zh-CN" altLang="en-US" dirty="0"/>
          </a:p>
        </p:txBody>
      </p:sp>
      <p:sp>
        <p:nvSpPr>
          <p:cNvPr id="7" name="文本占位符 2">
            <a:extLst>
              <a:ext uri="{FF2B5EF4-FFF2-40B4-BE49-F238E27FC236}">
                <a16:creationId xmlns:a16="http://schemas.microsoft.com/office/drawing/2014/main" id="{CFF16104-9794-08E6-9B56-62A893C92CAE}"/>
              </a:ext>
            </a:extLst>
          </p:cNvPr>
          <p:cNvSpPr txBox="1">
            <a:spLocks/>
          </p:cNvSpPr>
          <p:nvPr/>
        </p:nvSpPr>
        <p:spPr>
          <a:xfrm>
            <a:off x="311065" y="868790"/>
            <a:ext cx="4678964" cy="38384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a:solidFill>
                  <a:schemeClr val="tx1"/>
                </a:solidFill>
              </a:rPr>
              <a:t>线上平台的满意度</a:t>
            </a:r>
          </a:p>
        </p:txBody>
      </p:sp>
      <p:graphicFrame>
        <p:nvGraphicFramePr>
          <p:cNvPr id="8" name="表格 7">
            <a:extLst>
              <a:ext uri="{FF2B5EF4-FFF2-40B4-BE49-F238E27FC236}">
                <a16:creationId xmlns:a16="http://schemas.microsoft.com/office/drawing/2014/main" id="{AC9B71CE-A333-7C62-FD25-AB2DCD533817}"/>
              </a:ext>
            </a:extLst>
          </p:cNvPr>
          <p:cNvGraphicFramePr>
            <a:graphicFrameLocks noGrp="1"/>
          </p:cNvGraphicFramePr>
          <p:nvPr/>
        </p:nvGraphicFramePr>
        <p:xfrm>
          <a:off x="174172" y="1252639"/>
          <a:ext cx="11825742" cy="1632075"/>
        </p:xfrm>
        <a:graphic>
          <a:graphicData uri="http://schemas.openxmlformats.org/drawingml/2006/table">
            <a:tbl>
              <a:tblPr>
                <a:tableStyleId>{5C22544A-7EE6-4342-B048-85BDC9FD1C3A}</a:tableStyleId>
              </a:tblPr>
              <a:tblGrid>
                <a:gridCol w="2236044">
                  <a:extLst>
                    <a:ext uri="{9D8B030D-6E8A-4147-A177-3AD203B41FA5}">
                      <a16:colId xmlns:a16="http://schemas.microsoft.com/office/drawing/2014/main" val="553779841"/>
                    </a:ext>
                  </a:extLst>
                </a:gridCol>
                <a:gridCol w="9589698">
                  <a:extLst>
                    <a:ext uri="{9D8B030D-6E8A-4147-A177-3AD203B41FA5}">
                      <a16:colId xmlns:a16="http://schemas.microsoft.com/office/drawing/2014/main" val="1272567022"/>
                    </a:ext>
                  </a:extLst>
                </a:gridCol>
              </a:tblGrid>
              <a:tr h="1632075">
                <a:tc>
                  <a:txBody>
                    <a:bodyPr/>
                    <a:lstStyle/>
                    <a:p>
                      <a:pPr algn="l" fontAlgn="ctr"/>
                      <a:r>
                        <a:rPr lang="zh-CN" altLang="en-US" sz="1400" b="0" i="0" u="none" strike="noStrike" dirty="0">
                          <a:solidFill>
                            <a:srgbClr val="000000"/>
                          </a:solidFill>
                          <a:effectLst/>
                          <a:latin typeface="+mn-ea"/>
                          <a:ea typeface="+mn-ea"/>
                        </a:rPr>
                        <a:t>线上平台使用率</a:t>
                      </a:r>
                    </a:p>
                  </a:txBody>
                  <a:tcPr marL="108000" marR="6350" marT="6350" marB="0" anchor="ctr">
                    <a:solidFill>
                      <a:schemeClr val="accent6">
                        <a:lumMod val="20000"/>
                        <a:lumOff val="80000"/>
                      </a:schemeClr>
                    </a:solidFill>
                  </a:tcPr>
                </a:tc>
                <a:tc>
                  <a:txBody>
                    <a:bodyPr/>
                    <a:lstStyle/>
                    <a:p>
                      <a:pPr marL="285750" indent="-285750" algn="l" fontAlgn="ctr">
                        <a:lnSpc>
                          <a:spcPct val="150000"/>
                        </a:lnSpc>
                        <a:buFont typeface="Arial" panose="020B0604020202020204" pitchFamily="34" charset="0"/>
                        <a:buChar char="•"/>
                      </a:pPr>
                      <a:r>
                        <a:rPr lang="zh-CN" altLang="en-US" sz="1400" b="0" i="0" u="none" strike="noStrike" dirty="0">
                          <a:solidFill>
                            <a:srgbClr val="000000"/>
                          </a:solidFill>
                          <a:effectLst/>
                          <a:latin typeface="+mn-ea"/>
                          <a:ea typeface="+mn-ea"/>
                        </a:rPr>
                        <a:t>某品牌用户使用官方</a:t>
                      </a:r>
                      <a:r>
                        <a:rPr lang="en-US" altLang="zh-CN" sz="1400" b="0" i="0" u="none" strike="noStrike" dirty="0">
                          <a:solidFill>
                            <a:srgbClr val="000000"/>
                          </a:solidFill>
                          <a:effectLst/>
                          <a:latin typeface="+mn-ea"/>
                          <a:ea typeface="+mn-ea"/>
                        </a:rPr>
                        <a:t>APP</a:t>
                      </a:r>
                      <a:r>
                        <a:rPr lang="zh-CN" altLang="en-US" sz="1400" b="0" i="0" u="none" strike="noStrike" dirty="0">
                          <a:solidFill>
                            <a:srgbClr val="000000"/>
                          </a:solidFill>
                          <a:effectLst/>
                          <a:latin typeface="+mn-ea"/>
                          <a:ea typeface="+mn-ea"/>
                        </a:rPr>
                        <a:t>的人数占比高于竞品，购车人群对小红书和抖音的使用率相对较低；</a:t>
                      </a:r>
                      <a:endParaRPr lang="en-US" altLang="zh-CN" sz="1400" b="0" i="0" u="none" strike="noStrike" dirty="0">
                        <a:solidFill>
                          <a:srgbClr val="000000"/>
                        </a:solidFill>
                        <a:effectLst/>
                        <a:latin typeface="+mn-ea"/>
                        <a:ea typeface="+mn-ea"/>
                      </a:endParaRPr>
                    </a:p>
                    <a:p>
                      <a:pPr marL="285750" indent="-285750" algn="l" fontAlgn="ctr">
                        <a:lnSpc>
                          <a:spcPct val="150000"/>
                        </a:lnSpc>
                        <a:buFont typeface="Arial" panose="020B0604020202020204" pitchFamily="34" charset="0"/>
                        <a:buChar char="•"/>
                      </a:pPr>
                      <a:r>
                        <a:rPr lang="zh-CN" altLang="en-US" sz="1400" b="0" i="0" u="none" strike="noStrike" dirty="0">
                          <a:solidFill>
                            <a:srgbClr val="000000"/>
                          </a:solidFill>
                          <a:effectLst/>
                          <a:latin typeface="+mn-ea"/>
                          <a:ea typeface="+mn-ea"/>
                        </a:rPr>
                        <a:t>某品牌车主对抖音满意度最低，而对微信小程序认可度最高；</a:t>
                      </a:r>
                      <a:endParaRPr lang="en-US" altLang="zh-CN" sz="1400" b="0" i="0" u="none" strike="noStrike" dirty="0">
                        <a:solidFill>
                          <a:srgbClr val="000000"/>
                        </a:solidFill>
                        <a:effectLst/>
                        <a:latin typeface="+mn-ea"/>
                        <a:ea typeface="+mn-ea"/>
                      </a:endParaRPr>
                    </a:p>
                    <a:p>
                      <a:pPr marL="285750" indent="-285750" algn="l" fontAlgn="ctr">
                        <a:lnSpc>
                          <a:spcPct val="150000"/>
                        </a:lnSpc>
                        <a:buFont typeface="Arial" panose="020B0604020202020204" pitchFamily="34" charset="0"/>
                        <a:buChar char="•"/>
                      </a:pPr>
                      <a:r>
                        <a:rPr lang="zh-CN" altLang="en-US" sz="1400" b="0" i="0" u="none" strike="noStrike" dirty="0">
                          <a:solidFill>
                            <a:srgbClr val="000000"/>
                          </a:solidFill>
                          <a:effectLst/>
                          <a:latin typeface="+mn-ea"/>
                          <a:ea typeface="+mn-ea"/>
                        </a:rPr>
                        <a:t>微信小程序流畅度、会员商城的订单处理与发货体验是本品和竞品普遍受到车主认可的服务项；</a:t>
                      </a:r>
                      <a:endParaRPr lang="en-US" altLang="zh-CN" sz="1400" b="0" i="0" u="none" strike="noStrike" dirty="0">
                        <a:solidFill>
                          <a:srgbClr val="000000"/>
                        </a:solidFill>
                        <a:effectLst/>
                        <a:latin typeface="+mn-ea"/>
                        <a:ea typeface="+mn-ea"/>
                      </a:endParaRPr>
                    </a:p>
                    <a:p>
                      <a:pPr marL="285750" indent="-285750" algn="l" fontAlgn="ctr">
                        <a:lnSpc>
                          <a:spcPct val="150000"/>
                        </a:lnSpc>
                        <a:buFont typeface="Arial" panose="020B0604020202020204" pitchFamily="34" charset="0"/>
                        <a:buChar char="•"/>
                      </a:pPr>
                      <a:r>
                        <a:rPr lang="zh-CN" altLang="en-US" sz="1400" b="0" i="0" u="none" strike="noStrike" dirty="0">
                          <a:solidFill>
                            <a:srgbClr val="000000"/>
                          </a:solidFill>
                          <a:effectLst/>
                          <a:latin typeface="+mn-ea"/>
                          <a:ea typeface="+mn-ea"/>
                        </a:rPr>
                        <a:t>抖音更新频率、官方</a:t>
                      </a:r>
                      <a:r>
                        <a:rPr lang="en-US" altLang="zh-CN" sz="1400" b="0" i="0" u="none" strike="noStrike" dirty="0">
                          <a:solidFill>
                            <a:srgbClr val="000000"/>
                          </a:solidFill>
                          <a:effectLst/>
                          <a:latin typeface="+mn-ea"/>
                          <a:ea typeface="+mn-ea"/>
                        </a:rPr>
                        <a:t>APP</a:t>
                      </a:r>
                      <a:r>
                        <a:rPr lang="zh-CN" altLang="en-US" sz="1400" b="0" i="0" u="none" strike="noStrike" dirty="0">
                          <a:solidFill>
                            <a:srgbClr val="000000"/>
                          </a:solidFill>
                          <a:effectLst/>
                          <a:latin typeface="+mn-ea"/>
                          <a:ea typeface="+mn-ea"/>
                        </a:rPr>
                        <a:t>信息反馈类功能、官方抖音作品制作精良水平未得到自身车主的认可；</a:t>
                      </a:r>
                    </a:p>
                  </a:txBody>
                  <a:tcPr marL="108000" marR="6350" marT="6350" marB="0" anchor="ctr">
                    <a:solidFill>
                      <a:schemeClr val="accent6">
                        <a:lumMod val="20000"/>
                        <a:lumOff val="80000"/>
                      </a:schemeClr>
                    </a:solidFill>
                  </a:tcPr>
                </a:tc>
                <a:extLst>
                  <a:ext uri="{0D108BD9-81ED-4DB2-BD59-A6C34878D82A}">
                    <a16:rowId xmlns:a16="http://schemas.microsoft.com/office/drawing/2014/main" val="1669513560"/>
                  </a:ext>
                </a:extLst>
              </a:tr>
            </a:tbl>
          </a:graphicData>
        </a:graphic>
      </p:graphicFrame>
      <p:graphicFrame>
        <p:nvGraphicFramePr>
          <p:cNvPr id="9" name="表格 8">
            <a:extLst>
              <a:ext uri="{FF2B5EF4-FFF2-40B4-BE49-F238E27FC236}">
                <a16:creationId xmlns:a16="http://schemas.microsoft.com/office/drawing/2014/main" id="{165A9403-558F-A705-9AEC-5EBA9439CA36}"/>
              </a:ext>
            </a:extLst>
          </p:cNvPr>
          <p:cNvGraphicFramePr>
            <a:graphicFrameLocks noGrp="1"/>
          </p:cNvGraphicFramePr>
          <p:nvPr/>
        </p:nvGraphicFramePr>
        <p:xfrm>
          <a:off x="174172" y="3461797"/>
          <a:ext cx="11825742" cy="2612432"/>
        </p:xfrm>
        <a:graphic>
          <a:graphicData uri="http://schemas.openxmlformats.org/drawingml/2006/table">
            <a:tbl>
              <a:tblPr>
                <a:tableStyleId>{5C22544A-7EE6-4342-B048-85BDC9FD1C3A}</a:tableStyleId>
              </a:tblPr>
              <a:tblGrid>
                <a:gridCol w="2236044">
                  <a:extLst>
                    <a:ext uri="{9D8B030D-6E8A-4147-A177-3AD203B41FA5}">
                      <a16:colId xmlns:a16="http://schemas.microsoft.com/office/drawing/2014/main" val="553779841"/>
                    </a:ext>
                  </a:extLst>
                </a:gridCol>
                <a:gridCol w="9589698">
                  <a:extLst>
                    <a:ext uri="{9D8B030D-6E8A-4147-A177-3AD203B41FA5}">
                      <a16:colId xmlns:a16="http://schemas.microsoft.com/office/drawing/2014/main" val="1272567022"/>
                    </a:ext>
                  </a:extLst>
                </a:gridCol>
              </a:tblGrid>
              <a:tr h="2612432">
                <a:tc>
                  <a:txBody>
                    <a:bodyPr/>
                    <a:lstStyle/>
                    <a:p>
                      <a:pPr algn="l" fontAlgn="ctr"/>
                      <a:r>
                        <a:rPr lang="zh-CN" altLang="en-US" sz="1400" b="0" i="0" u="none" strike="noStrike" kern="1200" dirty="0">
                          <a:solidFill>
                            <a:srgbClr val="000000"/>
                          </a:solidFill>
                          <a:effectLst/>
                          <a:latin typeface="+mn-ea"/>
                          <a:ea typeface="+mn-ea"/>
                          <a:cs typeface="+mn-cs"/>
                        </a:rPr>
                        <a:t>行业洞见</a:t>
                      </a:r>
                    </a:p>
                  </a:txBody>
                  <a:tcPr marL="108000" marR="6350" marT="6350" marB="0" anchor="ctr">
                    <a:solidFill>
                      <a:schemeClr val="accent6">
                        <a:lumMod val="20000"/>
                        <a:lumOff val="80000"/>
                      </a:schemeClr>
                    </a:solidFill>
                  </a:tcPr>
                </a:tc>
                <a:tc>
                  <a:txBody>
                    <a:bodyPr/>
                    <a:lstStyle/>
                    <a:p>
                      <a:pPr marL="285750" indent="-285750" algn="l" fontAlgn="ctr">
                        <a:lnSpc>
                          <a:spcPct val="150000"/>
                        </a:lnSpc>
                        <a:buFont typeface="Arial" panose="020B0604020202020204" pitchFamily="34" charset="0"/>
                        <a:buChar char="•"/>
                      </a:pPr>
                      <a:r>
                        <a:rPr lang="zh-CN" altLang="en-US" sz="1400" b="0" i="0" u="none" strike="noStrike" kern="1200" dirty="0">
                          <a:solidFill>
                            <a:srgbClr val="000000"/>
                          </a:solidFill>
                          <a:effectLst/>
                          <a:latin typeface="+mn-ea"/>
                          <a:ea typeface="+mn-ea"/>
                          <a:cs typeface="+mn-cs"/>
                        </a:rPr>
                        <a:t>汽车行业在从单纯买车向全场景服务体系转化；</a:t>
                      </a:r>
                      <a:endParaRPr lang="en-US" altLang="zh-CN" sz="1400" b="0" i="0" u="none" strike="noStrike" kern="1200" dirty="0">
                        <a:solidFill>
                          <a:srgbClr val="000000"/>
                        </a:solidFill>
                        <a:effectLst/>
                        <a:latin typeface="+mn-ea"/>
                        <a:ea typeface="+mn-ea"/>
                        <a:cs typeface="+mn-cs"/>
                      </a:endParaRPr>
                    </a:p>
                    <a:p>
                      <a:pPr marL="285750" indent="-285750" algn="l" fontAlgn="ctr">
                        <a:lnSpc>
                          <a:spcPct val="150000"/>
                        </a:lnSpc>
                        <a:buFont typeface="Arial" panose="020B0604020202020204" pitchFamily="34" charset="0"/>
                        <a:buChar char="•"/>
                      </a:pPr>
                      <a:r>
                        <a:rPr lang="zh-CN" altLang="en-US" sz="1400" b="0" i="0" u="none" strike="noStrike" kern="1200" dirty="0">
                          <a:solidFill>
                            <a:srgbClr val="000000"/>
                          </a:solidFill>
                          <a:effectLst/>
                          <a:latin typeface="+mn-ea"/>
                          <a:ea typeface="+mn-ea"/>
                          <a:cs typeface="+mn-cs"/>
                        </a:rPr>
                        <a:t>汽车行业整体收入将逐渐向价值链的下游转移，单一的产品销售收入比例将降低，而后端车</a:t>
                      </a:r>
                      <a:r>
                        <a:rPr lang="en-US" altLang="zh-CN" sz="1400" b="0" i="0" u="none" strike="noStrike" kern="1200" dirty="0">
                          <a:solidFill>
                            <a:srgbClr val="000000"/>
                          </a:solidFill>
                          <a:effectLst/>
                          <a:latin typeface="+mn-ea"/>
                          <a:ea typeface="+mn-ea"/>
                          <a:cs typeface="+mn-cs"/>
                        </a:rPr>
                        <a:t>/</a:t>
                      </a:r>
                      <a:r>
                        <a:rPr lang="zh-CN" altLang="en-US" sz="1400" b="0" i="0" u="none" strike="noStrike" kern="1200" dirty="0">
                          <a:solidFill>
                            <a:srgbClr val="000000"/>
                          </a:solidFill>
                          <a:effectLst/>
                          <a:latin typeface="+mn-ea"/>
                          <a:ea typeface="+mn-ea"/>
                          <a:cs typeface="+mn-cs"/>
                        </a:rPr>
                        <a:t>出行相关的服务比例将持续上升；</a:t>
                      </a:r>
                      <a:endParaRPr lang="en-US" altLang="zh-CN" sz="1400" b="0" i="0" u="none" strike="noStrike" kern="1200" dirty="0">
                        <a:solidFill>
                          <a:srgbClr val="000000"/>
                        </a:solidFill>
                        <a:effectLst/>
                        <a:latin typeface="+mn-ea"/>
                        <a:ea typeface="+mn-ea"/>
                        <a:cs typeface="+mn-cs"/>
                      </a:endParaRPr>
                    </a:p>
                    <a:p>
                      <a:pPr marL="285750" indent="-285750" algn="l" fontAlgn="ctr">
                        <a:lnSpc>
                          <a:spcPct val="150000"/>
                        </a:lnSpc>
                        <a:buFont typeface="Arial" panose="020B0604020202020204" pitchFamily="34" charset="0"/>
                        <a:buChar char="•"/>
                      </a:pPr>
                      <a:r>
                        <a:rPr lang="zh-CN" altLang="en-US" sz="1400" b="0" i="0" u="none" strike="noStrike" kern="1200" dirty="0">
                          <a:solidFill>
                            <a:srgbClr val="000000"/>
                          </a:solidFill>
                          <a:effectLst/>
                          <a:latin typeface="+mn-ea"/>
                          <a:ea typeface="+mn-ea"/>
                          <a:cs typeface="+mn-cs"/>
                        </a:rPr>
                        <a:t>汽车产业各玩家已经纷纷开展行动，在不同的消费者与车相关的潜在场景中充分探索创新出新的商业模式；</a:t>
                      </a:r>
                      <a:endParaRPr lang="en-US" altLang="zh-CN" sz="1400" b="0" i="0" u="none" strike="noStrike" kern="1200" dirty="0">
                        <a:solidFill>
                          <a:srgbClr val="000000"/>
                        </a:solidFill>
                        <a:effectLst/>
                        <a:latin typeface="+mn-ea"/>
                        <a:ea typeface="+mn-ea"/>
                        <a:cs typeface="+mn-cs"/>
                      </a:endParaRPr>
                    </a:p>
                    <a:p>
                      <a:pPr marL="285750" indent="-285750" algn="l" fontAlgn="ctr">
                        <a:lnSpc>
                          <a:spcPct val="150000"/>
                        </a:lnSpc>
                        <a:buFont typeface="Arial" panose="020B0604020202020204" pitchFamily="34" charset="0"/>
                        <a:buChar char="•"/>
                      </a:pPr>
                      <a:r>
                        <a:rPr lang="zh-CN" altLang="en-US" sz="1400" b="0" i="0" u="none" strike="noStrike" kern="1200" dirty="0">
                          <a:solidFill>
                            <a:srgbClr val="000000"/>
                          </a:solidFill>
                          <a:effectLst/>
                          <a:latin typeface="+mn-ea"/>
                          <a:ea typeface="+mn-ea"/>
                          <a:cs typeface="+mn-cs"/>
                        </a:rPr>
                        <a:t>用户运营已成为主机厂探索长期价值增量的关键抓手，正推动增长模式由单一车辆销售为导向转向用户全生命周期价值挖掘转变；</a:t>
                      </a:r>
                      <a:endParaRPr lang="en-US" altLang="zh-CN" sz="1400" b="0" i="0" u="none" strike="noStrike" kern="1200" dirty="0">
                        <a:solidFill>
                          <a:srgbClr val="000000"/>
                        </a:solidFill>
                        <a:effectLst/>
                        <a:latin typeface="+mn-ea"/>
                        <a:ea typeface="+mn-ea"/>
                        <a:cs typeface="+mn-cs"/>
                      </a:endParaRPr>
                    </a:p>
                    <a:p>
                      <a:pPr marL="285750" indent="-285750" algn="l" fontAlgn="ctr">
                        <a:lnSpc>
                          <a:spcPct val="150000"/>
                        </a:lnSpc>
                        <a:buFont typeface="Arial" panose="020B0604020202020204" pitchFamily="34" charset="0"/>
                        <a:buChar char="•"/>
                      </a:pPr>
                      <a:r>
                        <a:rPr lang="zh-CN" altLang="en-US" sz="1400" b="0" i="0" u="none" strike="noStrike" kern="1200" dirty="0">
                          <a:solidFill>
                            <a:srgbClr val="000000"/>
                          </a:solidFill>
                          <a:effectLst/>
                          <a:latin typeface="+mn-ea"/>
                          <a:ea typeface="+mn-ea"/>
                          <a:cs typeface="+mn-cs"/>
                        </a:rPr>
                        <a:t>用户运营的核心是以客户为中心，充分培育品牌拥护者和形成良好的粉丝经济和品牌口碑；</a:t>
                      </a:r>
                    </a:p>
                  </a:txBody>
                  <a:tcPr marL="108000" marR="6350" marT="6350" marB="0" anchor="ctr">
                    <a:solidFill>
                      <a:schemeClr val="accent6">
                        <a:lumMod val="20000"/>
                        <a:lumOff val="80000"/>
                      </a:schemeClr>
                    </a:solidFill>
                  </a:tcPr>
                </a:tc>
                <a:extLst>
                  <a:ext uri="{0D108BD9-81ED-4DB2-BD59-A6C34878D82A}">
                    <a16:rowId xmlns:a16="http://schemas.microsoft.com/office/drawing/2014/main" val="1669513560"/>
                  </a:ext>
                </a:extLst>
              </a:tr>
            </a:tbl>
          </a:graphicData>
        </a:graphic>
      </p:graphicFrame>
      <p:sp>
        <p:nvSpPr>
          <p:cNvPr id="10" name="文本占位符 2">
            <a:extLst>
              <a:ext uri="{FF2B5EF4-FFF2-40B4-BE49-F238E27FC236}">
                <a16:creationId xmlns:a16="http://schemas.microsoft.com/office/drawing/2014/main" id="{7D9A53A4-1592-4287-8BF2-025C73471683}"/>
              </a:ext>
            </a:extLst>
          </p:cNvPr>
          <p:cNvSpPr txBox="1">
            <a:spLocks/>
          </p:cNvSpPr>
          <p:nvPr/>
        </p:nvSpPr>
        <p:spPr>
          <a:xfrm>
            <a:off x="311065" y="3059347"/>
            <a:ext cx="4678964" cy="38384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0"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chemeClr val="tx1"/>
                </a:solidFill>
              </a:rPr>
              <a:t>行业洞见</a:t>
            </a:r>
          </a:p>
        </p:txBody>
      </p:sp>
    </p:spTree>
    <p:extLst>
      <p:ext uri="{BB962C8B-B14F-4D97-AF65-F5344CB8AC3E}">
        <p14:creationId xmlns:p14="http://schemas.microsoft.com/office/powerpoint/2010/main" val="832727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t>项目目的、思路、样本设计、项目主要发现</a:t>
            </a:r>
          </a:p>
        </p:txBody>
      </p:sp>
      <p:sp>
        <p:nvSpPr>
          <p:cNvPr id="9" name="文本占位符 8"/>
          <p:cNvSpPr>
            <a:spLocks noGrp="1"/>
          </p:cNvSpPr>
          <p:nvPr>
            <p:ph type="body" sz="quarter" idx="13"/>
          </p:nvPr>
        </p:nvSpPr>
        <p:spPr>
          <a:xfrm>
            <a:off x="1892739" y="2546499"/>
            <a:ext cx="9306092" cy="914400"/>
          </a:xfrm>
        </p:spPr>
        <p:txBody>
          <a:bodyPr/>
          <a:lstStyle/>
          <a:p>
            <a:r>
              <a:rPr lang="zh-CN" altLang="en-US" dirty="0"/>
              <a:t>项目目的与解决方案设计</a:t>
            </a:r>
          </a:p>
        </p:txBody>
      </p:sp>
      <p:sp>
        <p:nvSpPr>
          <p:cNvPr id="8" name="文本占位符 7"/>
          <p:cNvSpPr>
            <a:spLocks noGrp="1"/>
          </p:cNvSpPr>
          <p:nvPr>
            <p:ph type="body" sz="quarter" idx="12"/>
          </p:nvPr>
        </p:nvSpPr>
        <p:spPr/>
        <p:txBody>
          <a:bodyPr/>
          <a:lstStyle/>
          <a:p>
            <a:r>
              <a:rPr lang="en-US" altLang="zh-CN" dirty="0"/>
              <a:t>1</a:t>
            </a:r>
            <a:endParaRPr lang="zh-CN" altLang="en-US" dirty="0"/>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C33376-1D8B-E948-ACD6-AA21A3D30A8E}" type="slidenum">
              <a:rPr kumimoji="0" lang="zh-CN" altLang="en-US" sz="800" b="0" i="0" u="none" strike="noStrike" kern="1200" cap="none" spc="0" normalizeH="0" baseline="0" noProof="0" smtClean="0">
                <a:ln>
                  <a:noFill/>
                </a:ln>
                <a:solidFill>
                  <a:srgbClr val="FBFBFB"/>
                </a:solidFill>
                <a:effectLst/>
                <a:uLnTx/>
                <a:uFillTx/>
                <a:latin typeface="DIN Pro Regular" panose="02000503040000020003" pitchFamily="50" charset="0"/>
                <a:ea typeface="Alibaba PuHuiTi 2.0 55 Regular" pitchFamily="18" charset="-122"/>
                <a:cs typeface="Alibaba PuHuiTi 2.0 55 Regular" pitchFamily="18" charset="-122"/>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800" b="0" i="0" u="none" strike="noStrike" kern="1200" cap="none" spc="0" normalizeH="0" baseline="0" noProof="0" dirty="0">
              <a:ln>
                <a:noFill/>
              </a:ln>
              <a:solidFill>
                <a:srgbClr val="FBFBFB"/>
              </a:solidFill>
              <a:effectLst/>
              <a:uLnTx/>
              <a:uFillTx/>
              <a:latin typeface="DIN Pro Regular" panose="02000503040000020003" pitchFamily="50" charset="0"/>
              <a:ea typeface="Alibaba PuHuiTi 2.0 55 Regular" pitchFamily="18" charset="-122"/>
              <a:cs typeface="Alibaba PuHuiTi 2.0 55 Regular" pitchFamily="18"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21"/>
          </p:nvPr>
        </p:nvSpPr>
        <p:spPr/>
        <p:txBody>
          <a:bodyPr/>
          <a:lstStyle/>
          <a:p>
            <a:r>
              <a:rPr lang="en-US" altLang="zh-CN" dirty="0">
                <a:latin typeface="+mn-ea"/>
                <a:ea typeface="+mn-ea"/>
              </a:rPr>
              <a:t>1.2 </a:t>
            </a:r>
            <a:r>
              <a:rPr lang="zh-CN" altLang="en-US" dirty="0">
                <a:latin typeface="+mn-ea"/>
                <a:ea typeface="+mn-ea"/>
              </a:rPr>
              <a:t>项目目的</a:t>
            </a:r>
          </a:p>
        </p:txBody>
      </p:sp>
      <p:sp>
        <p:nvSpPr>
          <p:cNvPr id="5" name="灯片编号占位符 4"/>
          <p:cNvSpPr>
            <a:spLocks noGrp="1"/>
          </p:cNvSpPr>
          <p:nvPr>
            <p:ph type="sldNum" sz="quarter" idx="4"/>
          </p:nvPr>
        </p:nvSpPr>
        <p:spPr/>
        <p:txBody>
          <a:bodyPr/>
          <a:lstStyle/>
          <a:p>
            <a:fld id="{5BC33376-1D8B-E948-ACD6-AA21A3D30A8E}" type="slidenum">
              <a:rPr lang="zh-CN" altLang="en-US" smtClean="0">
                <a:latin typeface="+mn-ea"/>
                <a:ea typeface="+mn-ea"/>
              </a:rPr>
              <a:t>7</a:t>
            </a:fld>
            <a:endParaRPr lang="zh-CN" altLang="en-US" dirty="0">
              <a:latin typeface="+mn-ea"/>
              <a:ea typeface="+mn-ea"/>
            </a:endParaRPr>
          </a:p>
        </p:txBody>
      </p:sp>
      <p:sp>
        <p:nvSpPr>
          <p:cNvPr id="9" name="圆角矩形 31"/>
          <p:cNvSpPr/>
          <p:nvPr/>
        </p:nvSpPr>
        <p:spPr>
          <a:xfrm>
            <a:off x="660400" y="1595336"/>
            <a:ext cx="3111057" cy="4545396"/>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latin typeface="+mn-ea"/>
            </a:endParaRPr>
          </a:p>
        </p:txBody>
      </p:sp>
      <p:sp>
        <p:nvSpPr>
          <p:cNvPr id="10" name="文本框 9"/>
          <p:cNvSpPr txBox="1"/>
          <p:nvPr/>
        </p:nvSpPr>
        <p:spPr>
          <a:xfrm>
            <a:off x="838835" y="2141220"/>
            <a:ext cx="2846705" cy="3846195"/>
          </a:xfrm>
          <a:prstGeom prst="rect">
            <a:avLst/>
          </a:prstGeom>
          <a:noFill/>
        </p:spPr>
        <p:txBody>
          <a:bodyPr wrap="square" rtlCol="0">
            <a:noAutofit/>
          </a:bodyPr>
          <a:lstStyle>
            <a:defPPr>
              <a:defRPr lang="zh-CN"/>
            </a:defPPr>
            <a:lvl1pPr>
              <a:lnSpc>
                <a:spcPct val="150000"/>
              </a:lnSpc>
              <a:defRPr kumimoji="0" sz="1400" b="1" i="0" u="none" strike="noStrike" cap="none" spc="0" normalizeH="0" baseline="0">
                <a:ln>
                  <a:noFill/>
                </a:ln>
                <a:solidFill>
                  <a:schemeClr val="bg2">
                    <a:lumMod val="10000"/>
                  </a:schemeClr>
                </a:solidFill>
                <a:effectLst/>
                <a:uLnTx/>
                <a:uFillTx/>
              </a:defRPr>
            </a:lvl1pPr>
          </a:lstStyle>
          <a:p>
            <a:pPr>
              <a:spcBef>
                <a:spcPts val="600"/>
              </a:spcBef>
              <a:defRPr/>
            </a:pPr>
            <a:r>
              <a:rPr lang="zh-CN" altLang="en-US" b="0" kern="100" dirty="0">
                <a:solidFill>
                  <a:srgbClr val="181818"/>
                </a:solidFill>
                <a:latin typeface="+mn-ea"/>
                <a:cs typeface="Times New Roman" panose="02020603050405020304" pitchFamily="18" charset="0"/>
              </a:rPr>
              <a:t>源</a:t>
            </a:r>
            <a:r>
              <a:rPr kumimoji="0" lang="zh-CN" altLang="en-US" b="0" i="0" strike="noStrike" kern="100" cap="none" spc="0" normalizeH="0" baseline="0" noProof="0" dirty="0">
                <a:ln>
                  <a:noFill/>
                </a:ln>
                <a:solidFill>
                  <a:srgbClr val="181818"/>
                </a:solidFill>
                <a:effectLst/>
                <a:uLnTx/>
                <a:uFillTx/>
                <a:latin typeface="+mn-ea"/>
                <a:cs typeface="Times New Roman" panose="02020603050405020304" pitchFamily="18" charset="0"/>
              </a:rPr>
              <a:t>于某某汽车“一号工程”，</a:t>
            </a:r>
            <a:r>
              <a:rPr lang="zh-CN" altLang="en-US" sz="1400" b="0" kern="100" dirty="0">
                <a:solidFill>
                  <a:srgbClr val="181818"/>
                </a:solidFill>
                <a:latin typeface="+mn-ea"/>
                <a:cs typeface="Times New Roman" panose="02020603050405020304" pitchFamily="18" charset="0"/>
              </a:rPr>
              <a:t>落实由产品致胜向</a:t>
            </a:r>
            <a:r>
              <a:rPr lang="en-US" altLang="zh-CN" sz="1400" b="0" kern="100" dirty="0">
                <a:solidFill>
                  <a:srgbClr val="181818"/>
                </a:solidFill>
                <a:latin typeface="+mn-ea"/>
                <a:cs typeface="Times New Roman" panose="02020603050405020304" pitchFamily="18" charset="0"/>
              </a:rPr>
              <a:t>"</a:t>
            </a:r>
            <a:r>
              <a:rPr lang="zh-CN" altLang="en-US" sz="1400" b="0" kern="100" dirty="0">
                <a:solidFill>
                  <a:srgbClr val="181818"/>
                </a:solidFill>
                <a:latin typeface="+mn-ea"/>
                <a:cs typeface="Times New Roman" panose="02020603050405020304" pitchFamily="18" charset="0"/>
              </a:rPr>
              <a:t>产品</a:t>
            </a:r>
            <a:r>
              <a:rPr lang="en-US" altLang="zh-CN" sz="1400" b="0" kern="100" dirty="0">
                <a:solidFill>
                  <a:srgbClr val="181818"/>
                </a:solidFill>
                <a:latin typeface="+mn-ea"/>
                <a:cs typeface="Times New Roman" panose="02020603050405020304" pitchFamily="18" charset="0"/>
              </a:rPr>
              <a:t>+</a:t>
            </a:r>
            <a:r>
              <a:rPr lang="zh-CN" altLang="en-US" sz="1400" b="0" kern="100" dirty="0">
                <a:solidFill>
                  <a:srgbClr val="181818"/>
                </a:solidFill>
                <a:latin typeface="+mn-ea"/>
                <a:cs typeface="Times New Roman" panose="02020603050405020304" pitchFamily="18" charset="0"/>
              </a:rPr>
              <a:t>服务”并重，以</a:t>
            </a:r>
            <a:r>
              <a:rPr lang="zh-CN" altLang="en-US" sz="1400" kern="100" dirty="0">
                <a:solidFill>
                  <a:srgbClr val="181818"/>
                </a:solidFill>
                <a:latin typeface="+mn-ea"/>
                <a:cs typeface="Times New Roman" panose="02020603050405020304" pitchFamily="18" charset="0"/>
              </a:rPr>
              <a:t>客户需求</a:t>
            </a:r>
            <a:r>
              <a:rPr lang="zh-CN" altLang="en-US" sz="1400" b="0" kern="100" dirty="0">
                <a:solidFill>
                  <a:srgbClr val="181818"/>
                </a:solidFill>
                <a:latin typeface="+mn-ea"/>
                <a:cs typeface="Times New Roman" panose="02020603050405020304" pitchFamily="18" charset="0"/>
              </a:rPr>
              <a:t>为导向，</a:t>
            </a:r>
            <a:r>
              <a:rPr lang="zh-CN" altLang="en-US" sz="1400" kern="100" dirty="0">
                <a:solidFill>
                  <a:srgbClr val="4B8D56"/>
                </a:solidFill>
                <a:latin typeface="+mn-ea"/>
                <a:cs typeface="Times New Roman" panose="02020603050405020304" pitchFamily="18" charset="0"/>
              </a:rPr>
              <a:t>打造行业领先的客户服务能力</a:t>
            </a:r>
            <a:r>
              <a:rPr lang="zh-CN" altLang="en-US" sz="1400" b="0" kern="100" dirty="0">
                <a:solidFill>
                  <a:srgbClr val="181818"/>
                </a:solidFill>
                <a:latin typeface="+mn-ea"/>
                <a:cs typeface="Times New Roman" panose="02020603050405020304" pitchFamily="18" charset="0"/>
              </a:rPr>
              <a:t>。</a:t>
            </a:r>
            <a:endParaRPr lang="en-US" altLang="zh-CN" sz="1400" b="0" kern="100" dirty="0">
              <a:solidFill>
                <a:srgbClr val="181818"/>
              </a:solidFill>
              <a:latin typeface="+mn-ea"/>
              <a:cs typeface="Times New Roman" panose="02020603050405020304" pitchFamily="18" charset="0"/>
            </a:endParaRPr>
          </a:p>
          <a:p>
            <a:pPr marR="0" lvl="0" algn="l" defTabSz="914400" rtl="0" eaLnBrk="1" fontAlgn="auto" latinLnBrk="0" hangingPunct="1">
              <a:lnSpc>
                <a:spcPct val="150000"/>
              </a:lnSpc>
              <a:spcBef>
                <a:spcPts val="600"/>
              </a:spcBef>
              <a:spcAft>
                <a:spcPts val="0"/>
              </a:spcAft>
              <a:buClrTx/>
              <a:buSzTx/>
              <a:defRPr/>
            </a:pPr>
            <a:endParaRPr kumimoji="0" lang="en-US" altLang="zh-CN" b="0" i="0" strike="noStrike" kern="100" cap="none" spc="0" normalizeH="0" baseline="0" noProof="0" dirty="0">
              <a:ln>
                <a:noFill/>
              </a:ln>
              <a:solidFill>
                <a:srgbClr val="181818"/>
              </a:solidFill>
              <a:effectLst/>
              <a:uLnTx/>
              <a:uFillTx/>
              <a:latin typeface="+mn-ea"/>
              <a:cs typeface="Times New Roman" panose="02020603050405020304" pitchFamily="18" charset="0"/>
            </a:endParaRPr>
          </a:p>
          <a:p>
            <a:pPr>
              <a:spcBef>
                <a:spcPts val="600"/>
              </a:spcBef>
              <a:defRPr/>
            </a:pPr>
            <a:r>
              <a:rPr kumimoji="0" lang="zh-CN" altLang="en-US" sz="1400" b="0" i="0" strike="noStrike" kern="1200" cap="none" spc="0" normalizeH="0" baseline="0" noProof="0" dirty="0">
                <a:ln>
                  <a:noFill/>
                </a:ln>
                <a:solidFill>
                  <a:srgbClr val="181818"/>
                </a:solidFill>
                <a:effectLst/>
                <a:uLnTx/>
                <a:uFillTx/>
                <a:latin typeface="+mn-ea"/>
                <a:cs typeface="阿里巴巴普惠体 2.0 55 Regular" panose="00020600040101010101" pitchFamily="18" charset="-122"/>
              </a:rPr>
              <a:t>面对内部订单目标和外部竞争环境，某品牌亟需全方位扫描本品和标杆竞品用户生命周期旅程，梳理满意度评价指标，通过排名和服务内容得分情况，</a:t>
            </a:r>
            <a:r>
              <a:rPr kumimoji="0" lang="zh-CN" altLang="en-US" sz="1400" strike="noStrike" kern="1200" cap="none" spc="0" normalizeH="0" baseline="0" noProof="0" dirty="0">
                <a:ln>
                  <a:noFill/>
                </a:ln>
                <a:solidFill>
                  <a:srgbClr val="4B8D56"/>
                </a:solidFill>
                <a:effectLst/>
                <a:uLnTx/>
                <a:uFillTx/>
                <a:latin typeface="+mn-ea"/>
                <a:cs typeface="阿里巴巴普惠体 2.0 55 Regular" panose="00020600040101010101" pitchFamily="18" charset="-122"/>
              </a:rPr>
              <a:t>识别服务亮点和弱项，打造正向体验</a:t>
            </a:r>
            <a:r>
              <a:rPr kumimoji="0" lang="zh-CN" altLang="en-US" sz="1400" b="0" i="0" strike="noStrike" kern="1200" cap="none" spc="0" normalizeH="0" baseline="0" noProof="0" dirty="0">
                <a:ln>
                  <a:noFill/>
                </a:ln>
                <a:solidFill>
                  <a:srgbClr val="181818"/>
                </a:solidFill>
                <a:effectLst/>
                <a:uLnTx/>
                <a:uFillTx/>
                <a:latin typeface="+mn-ea"/>
                <a:cs typeface="阿里巴巴普惠体 2.0 55 Regular" panose="00020600040101010101" pitchFamily="18" charset="-122"/>
              </a:rPr>
              <a:t>。</a:t>
            </a:r>
            <a:endParaRPr kumimoji="0" lang="en-US" altLang="zh-CN" sz="1400" b="0" i="0" strike="noStrike" kern="1200" cap="none" spc="0" normalizeH="0" baseline="0" noProof="0" dirty="0">
              <a:ln>
                <a:noFill/>
              </a:ln>
              <a:solidFill>
                <a:srgbClr val="181818"/>
              </a:solidFill>
              <a:effectLst/>
              <a:uLnTx/>
              <a:uFillTx/>
              <a:latin typeface="+mn-ea"/>
              <a:cs typeface="阿里巴巴普惠体 2.0 55 Regular" panose="00020600040101010101" pitchFamily="18" charset="-122"/>
            </a:endParaRPr>
          </a:p>
          <a:p>
            <a:pPr marR="0" lvl="0" algn="l" defTabSz="914400" rtl="0" eaLnBrk="1" fontAlgn="auto" latinLnBrk="0" hangingPunct="1">
              <a:lnSpc>
                <a:spcPct val="150000"/>
              </a:lnSpc>
              <a:spcBef>
                <a:spcPts val="600"/>
              </a:spcBef>
              <a:spcAft>
                <a:spcPts val="0"/>
              </a:spcAft>
              <a:buClrTx/>
              <a:buSzTx/>
              <a:defRPr/>
            </a:pPr>
            <a:endParaRPr kumimoji="0" lang="en-US" altLang="zh-CN" b="0" i="0" strike="noStrike" kern="100" cap="none" spc="0" normalizeH="0" baseline="0" noProof="0" dirty="0">
              <a:ln>
                <a:noFill/>
              </a:ln>
              <a:solidFill>
                <a:srgbClr val="181818"/>
              </a:solidFill>
              <a:effectLst/>
              <a:uLnTx/>
              <a:uFillTx/>
              <a:latin typeface="+mn-ea"/>
              <a:cs typeface="Times New Roman" panose="02020603050405020304" pitchFamily="18" charset="0"/>
            </a:endParaRPr>
          </a:p>
        </p:txBody>
      </p:sp>
      <p:sp>
        <p:nvSpPr>
          <p:cNvPr id="11" name="文本框 10"/>
          <p:cNvSpPr txBox="1"/>
          <p:nvPr/>
        </p:nvSpPr>
        <p:spPr>
          <a:xfrm>
            <a:off x="1371855" y="1689657"/>
            <a:ext cx="1415772" cy="461665"/>
          </a:xfrm>
          <a:prstGeom prst="rect">
            <a:avLst/>
          </a:prstGeom>
          <a:noFill/>
        </p:spPr>
        <p:txBody>
          <a:bodyPr wrap="non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algn="ctr"/>
            <a:r>
              <a:rPr lang="zh-CN" altLang="en-US" sz="2400" dirty="0">
                <a:solidFill>
                  <a:schemeClr val="accent3"/>
                </a:solidFill>
                <a:latin typeface="+mn-ea"/>
              </a:rPr>
              <a:t>项目目标</a:t>
            </a:r>
            <a:endParaRPr lang="en-US" altLang="zh-CN" sz="2400" dirty="0">
              <a:solidFill>
                <a:schemeClr val="accent3"/>
              </a:solidFill>
              <a:latin typeface="+mn-ea"/>
            </a:endParaRPr>
          </a:p>
        </p:txBody>
      </p:sp>
      <p:sp>
        <p:nvSpPr>
          <p:cNvPr id="13" name="圆角矩形 31"/>
          <p:cNvSpPr/>
          <p:nvPr/>
        </p:nvSpPr>
        <p:spPr>
          <a:xfrm>
            <a:off x="4314155" y="1595336"/>
            <a:ext cx="3111057" cy="4545396"/>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latin typeface="+mn-ea"/>
            </a:endParaRPr>
          </a:p>
        </p:txBody>
      </p:sp>
      <p:sp>
        <p:nvSpPr>
          <p:cNvPr id="14" name="文本框 13"/>
          <p:cNvSpPr txBox="1"/>
          <p:nvPr/>
        </p:nvSpPr>
        <p:spPr>
          <a:xfrm>
            <a:off x="5025610" y="1689657"/>
            <a:ext cx="1415772" cy="461665"/>
          </a:xfrm>
          <a:prstGeom prst="rect">
            <a:avLst/>
          </a:prstGeom>
          <a:noFill/>
        </p:spPr>
        <p:txBody>
          <a:bodyPr wrap="non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algn="ctr"/>
            <a:r>
              <a:rPr lang="zh-CN" altLang="en-US" sz="2400" dirty="0">
                <a:solidFill>
                  <a:schemeClr val="accent3"/>
                </a:solidFill>
                <a:latin typeface="+mn-ea"/>
              </a:rPr>
              <a:t>研究内容</a:t>
            </a:r>
            <a:endParaRPr lang="en-US" altLang="zh-CN" sz="2400" dirty="0">
              <a:solidFill>
                <a:schemeClr val="accent3"/>
              </a:solidFill>
              <a:latin typeface="+mn-ea"/>
            </a:endParaRPr>
          </a:p>
        </p:txBody>
      </p:sp>
      <p:sp>
        <p:nvSpPr>
          <p:cNvPr id="15" name="圆角矩形 31"/>
          <p:cNvSpPr/>
          <p:nvPr/>
        </p:nvSpPr>
        <p:spPr>
          <a:xfrm>
            <a:off x="7884404" y="1595336"/>
            <a:ext cx="3111057" cy="4545396"/>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latin typeface="+mn-ea"/>
            </a:endParaRPr>
          </a:p>
        </p:txBody>
      </p:sp>
      <p:sp>
        <p:nvSpPr>
          <p:cNvPr id="16" name="文本框 15"/>
          <p:cNvSpPr txBox="1"/>
          <p:nvPr/>
        </p:nvSpPr>
        <p:spPr>
          <a:xfrm>
            <a:off x="8595859" y="1689657"/>
            <a:ext cx="1415772" cy="461665"/>
          </a:xfrm>
          <a:prstGeom prst="rect">
            <a:avLst/>
          </a:prstGeom>
          <a:noFill/>
        </p:spPr>
        <p:txBody>
          <a:bodyPr wrap="non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algn="ctr"/>
            <a:r>
              <a:rPr lang="zh-CN" altLang="en-US" sz="2400" dirty="0">
                <a:solidFill>
                  <a:schemeClr val="accent3"/>
                </a:solidFill>
                <a:latin typeface="+mn-ea"/>
              </a:rPr>
              <a:t>研究模块</a:t>
            </a:r>
            <a:endParaRPr lang="en-US" altLang="zh-CN" sz="2400" dirty="0">
              <a:solidFill>
                <a:schemeClr val="accent3"/>
              </a:solidFill>
              <a:latin typeface="+mn-ea"/>
            </a:endParaRPr>
          </a:p>
        </p:txBody>
      </p:sp>
      <p:sp>
        <p:nvSpPr>
          <p:cNvPr id="18" name="加号 17"/>
          <p:cNvSpPr/>
          <p:nvPr/>
        </p:nvSpPr>
        <p:spPr>
          <a:xfrm>
            <a:off x="1857983" y="3450307"/>
            <a:ext cx="649557" cy="544750"/>
          </a:xfrm>
          <a:prstGeom prst="mathPlus">
            <a:avLst/>
          </a:prstGeom>
          <a:solidFill>
            <a:srgbClr val="4B8D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9" name="文本框 18"/>
          <p:cNvSpPr txBox="1"/>
          <p:nvPr/>
        </p:nvSpPr>
        <p:spPr>
          <a:xfrm>
            <a:off x="4492529" y="2266608"/>
            <a:ext cx="2754307" cy="3821815"/>
          </a:xfrm>
          <a:prstGeom prst="rect">
            <a:avLst/>
          </a:prstGeom>
          <a:noFill/>
        </p:spPr>
        <p:txBody>
          <a:bodyPr wrap="square" rtlCol="0">
            <a:spAutoFit/>
          </a:bodyPr>
          <a:lstStyle>
            <a:defPPr>
              <a:defRPr lang="zh-CN"/>
            </a:defPPr>
            <a:lvl1pPr>
              <a:lnSpc>
                <a:spcPct val="150000"/>
              </a:lnSpc>
              <a:defRPr kumimoji="0" sz="1400" b="1" i="0" u="none" strike="noStrike" cap="none" spc="0" normalizeH="0" baseline="0">
                <a:ln>
                  <a:noFill/>
                </a:ln>
                <a:solidFill>
                  <a:schemeClr val="bg2">
                    <a:lumMod val="10000"/>
                  </a:schemeClr>
                </a:solidFill>
                <a:effectLst/>
                <a:uLnTx/>
                <a:uFillTx/>
              </a:defRPr>
            </a:lvl1pPr>
          </a:lstStyle>
          <a:p>
            <a:pPr marL="285750" indent="-285750">
              <a:spcBef>
                <a:spcPts val="600"/>
              </a:spcBef>
              <a:buFont typeface="Arial" panose="020B0604020202020204" pitchFamily="34" charset="0"/>
              <a:buChar char="•"/>
              <a:defRPr/>
            </a:pPr>
            <a:r>
              <a:rPr lang="zh-CN" altLang="en-US" sz="1500" b="0" kern="100" dirty="0">
                <a:solidFill>
                  <a:srgbClr val="181818"/>
                </a:solidFill>
                <a:latin typeface="+mn-ea"/>
                <a:cs typeface="Times New Roman" panose="02020603050405020304" pitchFamily="18" charset="0"/>
              </a:rPr>
              <a:t>从客户视角，全方面扫描客户全生命周期旅程，</a:t>
            </a:r>
            <a:r>
              <a:rPr kumimoji="0" lang="zh-CN" altLang="en-US" sz="1500" b="0" i="0" strike="noStrike" kern="100" cap="none" spc="0" normalizeH="0" baseline="0" noProof="0" dirty="0">
                <a:ln>
                  <a:noFill/>
                </a:ln>
                <a:solidFill>
                  <a:srgbClr val="181818"/>
                </a:solidFill>
                <a:effectLst/>
                <a:uLnTx/>
                <a:uFillTx/>
                <a:latin typeface="+mn-ea"/>
                <a:cs typeface="Times New Roman" panose="02020603050405020304" pitchFamily="18" charset="0"/>
              </a:rPr>
              <a:t>梳理用户满意度指标</a:t>
            </a:r>
            <a:endParaRPr kumimoji="0" lang="en-US" altLang="zh-CN" sz="1500" b="0" i="0" strike="noStrike" kern="100" cap="none" spc="0" normalizeH="0" baseline="0" noProof="0" dirty="0">
              <a:ln>
                <a:noFill/>
              </a:ln>
              <a:solidFill>
                <a:srgbClr val="181818"/>
              </a:solidFill>
              <a:effectLst/>
              <a:uLnTx/>
              <a:uFillTx/>
              <a:latin typeface="+mn-ea"/>
              <a:cs typeface="Times New Roman" panose="02020603050405020304" pitchFamily="18" charset="0"/>
            </a:endParaRPr>
          </a:p>
          <a:p>
            <a:pPr marL="285750" indent="-285750">
              <a:spcBef>
                <a:spcPts val="600"/>
              </a:spcBef>
              <a:buFont typeface="Arial" panose="020B0604020202020204" pitchFamily="34" charset="0"/>
              <a:buChar char="•"/>
              <a:defRPr/>
            </a:pPr>
            <a:r>
              <a:rPr lang="zh-CN" altLang="en-US" sz="1500" b="0" kern="100" dirty="0">
                <a:solidFill>
                  <a:srgbClr val="181818"/>
                </a:solidFill>
                <a:latin typeface="+mn-ea"/>
                <a:cs typeface="Times New Roman" panose="02020603050405020304" pitchFamily="18" charset="0"/>
              </a:rPr>
              <a:t>展示本品与竞品核心排名及得分情况，</a:t>
            </a:r>
            <a:r>
              <a:rPr kumimoji="0" lang="zh-CN" altLang="en-US" sz="1500" b="0" i="0" strike="noStrike" kern="100" cap="none" spc="0" normalizeH="0" baseline="0" noProof="0" dirty="0">
                <a:ln>
                  <a:noFill/>
                </a:ln>
                <a:solidFill>
                  <a:srgbClr val="181818"/>
                </a:solidFill>
                <a:effectLst/>
                <a:uLnTx/>
                <a:uFillTx/>
                <a:latin typeface="+mn-ea"/>
                <a:cs typeface="Times New Roman" panose="02020603050405020304" pitchFamily="18" charset="0"/>
              </a:rPr>
              <a:t>定位弱项服务</a:t>
            </a:r>
            <a:endParaRPr kumimoji="0" lang="en-US" altLang="zh-CN" sz="1500" b="0" i="0" strike="noStrike" kern="100" cap="none" spc="0" normalizeH="0" baseline="0" noProof="0" dirty="0">
              <a:ln>
                <a:noFill/>
              </a:ln>
              <a:solidFill>
                <a:srgbClr val="181818"/>
              </a:solidFill>
              <a:effectLst/>
              <a:uLnTx/>
              <a:uFillTx/>
              <a:latin typeface="+mn-ea"/>
              <a:cs typeface="Times New Roman" panose="02020603050405020304" pitchFamily="18" charset="0"/>
            </a:endParaRPr>
          </a:p>
          <a:p>
            <a:pPr marL="285750" indent="-285750">
              <a:spcBef>
                <a:spcPts val="600"/>
              </a:spcBef>
              <a:buFont typeface="Arial" panose="020B0604020202020204" pitchFamily="34" charset="0"/>
              <a:buChar char="•"/>
              <a:defRPr/>
            </a:pPr>
            <a:r>
              <a:rPr lang="zh-CN" altLang="en-US" sz="1500" b="0" kern="100" dirty="0">
                <a:solidFill>
                  <a:srgbClr val="181818"/>
                </a:solidFill>
                <a:latin typeface="+mn-ea"/>
                <a:cs typeface="Times New Roman" panose="02020603050405020304" pitchFamily="18" charset="0"/>
              </a:rPr>
              <a:t>挖掘客户服务痛点及原因</a:t>
            </a:r>
            <a:endParaRPr lang="en-US" altLang="zh-CN" sz="1500" b="0" kern="100" dirty="0">
              <a:solidFill>
                <a:srgbClr val="181818"/>
              </a:solidFill>
              <a:latin typeface="+mn-ea"/>
              <a:cs typeface="Times New Roman" panose="02020603050405020304" pitchFamily="18" charset="0"/>
            </a:endParaRPr>
          </a:p>
          <a:p>
            <a:pPr marL="285750" indent="-285750">
              <a:spcBef>
                <a:spcPts val="600"/>
              </a:spcBef>
              <a:buFont typeface="Arial" panose="020B0604020202020204" pitchFamily="34" charset="0"/>
              <a:buChar char="•"/>
              <a:defRPr/>
            </a:pPr>
            <a:r>
              <a:rPr kumimoji="0" lang="zh-CN" altLang="en-US" sz="1500" b="0" i="0" strike="noStrike" kern="100" cap="none" spc="0" normalizeH="0" baseline="0" noProof="0" dirty="0">
                <a:ln>
                  <a:noFill/>
                </a:ln>
                <a:solidFill>
                  <a:srgbClr val="181818"/>
                </a:solidFill>
                <a:effectLst/>
                <a:uLnTx/>
                <a:uFillTx/>
                <a:latin typeface="+mn-ea"/>
                <a:cs typeface="Times New Roman" panose="02020603050405020304" pitchFamily="18" charset="0"/>
              </a:rPr>
              <a:t>对标行业各流程体验</a:t>
            </a:r>
            <a:endParaRPr kumimoji="0" lang="en-US" altLang="zh-CN" sz="1500" b="0" i="0" strike="noStrike" kern="100" cap="none" spc="0" normalizeH="0" baseline="0" noProof="0" dirty="0">
              <a:ln>
                <a:noFill/>
              </a:ln>
              <a:solidFill>
                <a:srgbClr val="181818"/>
              </a:solidFill>
              <a:effectLst/>
              <a:uLnTx/>
              <a:uFillTx/>
              <a:latin typeface="+mn-ea"/>
              <a:cs typeface="Times New Roman" panose="02020603050405020304" pitchFamily="18" charset="0"/>
            </a:endParaRPr>
          </a:p>
          <a:p>
            <a:pPr marL="285750" indent="-285750">
              <a:spcBef>
                <a:spcPts val="600"/>
              </a:spcBef>
              <a:buFont typeface="Arial" panose="020B0604020202020204" pitchFamily="34" charset="0"/>
              <a:buChar char="•"/>
              <a:defRPr/>
            </a:pPr>
            <a:r>
              <a:rPr lang="zh-CN" altLang="en-US" sz="1500" b="0" kern="100" dirty="0">
                <a:solidFill>
                  <a:srgbClr val="181818"/>
                </a:solidFill>
                <a:latin typeface="+mn-ea"/>
                <a:cs typeface="Times New Roman" panose="02020603050405020304" pitchFamily="18" charset="0"/>
              </a:rPr>
              <a:t>综合用户需求和行业范例，提出正向体验升级方向</a:t>
            </a:r>
            <a:endParaRPr kumimoji="0" lang="en-US" altLang="zh-CN" sz="1500" b="0" i="0" strike="noStrike" kern="100" cap="none" spc="0" normalizeH="0" baseline="0" noProof="0" dirty="0">
              <a:ln>
                <a:noFill/>
              </a:ln>
              <a:solidFill>
                <a:srgbClr val="181818"/>
              </a:solidFill>
              <a:effectLst/>
              <a:uLnTx/>
              <a:uFillTx/>
              <a:latin typeface="+mn-ea"/>
              <a:cs typeface="Times New Roman" panose="02020603050405020304" pitchFamily="18" charset="0"/>
            </a:endParaRPr>
          </a:p>
        </p:txBody>
      </p:sp>
      <p:sp>
        <p:nvSpPr>
          <p:cNvPr id="20" name="箭头: V 形 19"/>
          <p:cNvSpPr/>
          <p:nvPr/>
        </p:nvSpPr>
        <p:spPr>
          <a:xfrm>
            <a:off x="3902184" y="3440027"/>
            <a:ext cx="323434" cy="383848"/>
          </a:xfrm>
          <a:prstGeom prst="chevron">
            <a:avLst/>
          </a:prstGeom>
          <a:solidFill>
            <a:srgbClr val="4B8D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1" name="箭头: V 形 20"/>
          <p:cNvSpPr/>
          <p:nvPr/>
        </p:nvSpPr>
        <p:spPr>
          <a:xfrm>
            <a:off x="7515532" y="3440027"/>
            <a:ext cx="323435" cy="383848"/>
          </a:xfrm>
          <a:prstGeom prst="chevron">
            <a:avLst/>
          </a:prstGeom>
          <a:solidFill>
            <a:srgbClr val="4B8D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2" name="矩形: 圆角 54"/>
          <p:cNvSpPr/>
          <p:nvPr/>
        </p:nvSpPr>
        <p:spPr>
          <a:xfrm>
            <a:off x="8086674" y="2317651"/>
            <a:ext cx="2520000" cy="854458"/>
          </a:xfrm>
          <a:prstGeom prst="roundRect">
            <a:avLst>
              <a:gd name="adj" fmla="val 11468"/>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rgbClr val="FFFFFF"/>
                </a:solidFill>
                <a:latin typeface="+mn-ea"/>
              </a:rPr>
              <a:t>横评</a:t>
            </a:r>
            <a:r>
              <a:rPr kumimoji="0" lang="zh-CN" altLang="en-US" sz="1600" b="1" i="0" u="none" strike="noStrike" kern="1200" cap="none" spc="0" normalizeH="0" baseline="0" noProof="0" dirty="0">
                <a:ln>
                  <a:noFill/>
                </a:ln>
                <a:solidFill>
                  <a:srgbClr val="FFFFFF"/>
                </a:solidFill>
                <a:effectLst/>
                <a:uLnTx/>
                <a:uFillTx/>
                <a:latin typeface="+mn-ea"/>
                <a:cs typeface="+mn-cs"/>
              </a:rPr>
              <a:t>指标体系</a:t>
            </a:r>
            <a:endParaRPr kumimoji="0" lang="en-US" altLang="zh-CN" sz="1600" b="1" i="0" u="none" strike="noStrike" kern="1200" cap="none" spc="0" normalizeH="0" baseline="0" noProof="0" dirty="0">
              <a:ln>
                <a:noFill/>
              </a:ln>
              <a:solidFill>
                <a:srgbClr val="FFFFFF"/>
              </a:solidFill>
              <a:effectLst/>
              <a:uLnTx/>
              <a:uFillTx/>
              <a:latin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mn-ea"/>
                <a:cs typeface="+mn-cs"/>
              </a:rPr>
              <a:t>搭建和优化</a:t>
            </a:r>
          </a:p>
        </p:txBody>
      </p:sp>
      <p:sp>
        <p:nvSpPr>
          <p:cNvPr id="23" name="矩形: 圆角 55"/>
          <p:cNvSpPr/>
          <p:nvPr/>
        </p:nvSpPr>
        <p:spPr>
          <a:xfrm>
            <a:off x="8086674" y="3255908"/>
            <a:ext cx="2520000" cy="854458"/>
          </a:xfrm>
          <a:prstGeom prst="roundRect">
            <a:avLst>
              <a:gd name="adj" fmla="val 10725"/>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mn-ea"/>
                <a:cs typeface="+mn-cs"/>
              </a:rPr>
              <a:t>满意度横评排名</a:t>
            </a:r>
            <a:endParaRPr kumimoji="0" lang="en-US" altLang="zh-CN" sz="1600" b="1" i="0" u="none" strike="noStrike" kern="1200" cap="none" spc="0" normalizeH="0" baseline="0" noProof="0" dirty="0">
              <a:ln>
                <a:noFill/>
              </a:ln>
              <a:solidFill>
                <a:srgbClr val="FFFFFF"/>
              </a:solidFill>
              <a:effectLst/>
              <a:uLnTx/>
              <a:uFillTx/>
              <a:latin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mn-ea"/>
                <a:cs typeface="+mn-cs"/>
              </a:rPr>
              <a:t>及弱项识别</a:t>
            </a:r>
          </a:p>
        </p:txBody>
      </p:sp>
      <p:sp>
        <p:nvSpPr>
          <p:cNvPr id="24" name="矩形: 圆角 56"/>
          <p:cNvSpPr/>
          <p:nvPr/>
        </p:nvSpPr>
        <p:spPr>
          <a:xfrm>
            <a:off x="8086674" y="4194165"/>
            <a:ext cx="2520000" cy="854458"/>
          </a:xfrm>
          <a:prstGeom prst="roundRect">
            <a:avLst>
              <a:gd name="adj" fmla="val 9982"/>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mn-ea"/>
                <a:cs typeface="+mn-cs"/>
              </a:rPr>
              <a:t>弱项</a:t>
            </a:r>
            <a:r>
              <a:rPr lang="zh-CN" altLang="en-US" sz="1600" b="1" dirty="0">
                <a:solidFill>
                  <a:srgbClr val="FFFFFF"/>
                </a:solidFill>
                <a:latin typeface="+mn-ea"/>
              </a:rPr>
              <a:t>根因分析</a:t>
            </a:r>
            <a:endParaRPr lang="en-US" altLang="zh-CN" sz="1600" b="1" dirty="0">
              <a:solidFill>
                <a:srgbClr val="FFFFFF"/>
              </a:solidFill>
              <a:latin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rgbClr val="FFFFFF"/>
                </a:solidFill>
                <a:latin typeface="+mn-ea"/>
              </a:rPr>
              <a:t>及提升建议</a:t>
            </a:r>
            <a:endParaRPr kumimoji="0" lang="zh-CN" altLang="en-US" sz="1600" b="1" i="0" u="none" strike="noStrike" kern="1200" cap="none" spc="0" normalizeH="0" baseline="0" noProof="0" dirty="0">
              <a:ln>
                <a:noFill/>
              </a:ln>
              <a:solidFill>
                <a:srgbClr val="FFFFFF"/>
              </a:solidFill>
              <a:effectLst/>
              <a:uLnTx/>
              <a:uFillTx/>
              <a:latin typeface="+mn-ea"/>
              <a:cs typeface="+mn-cs"/>
            </a:endParaRPr>
          </a:p>
        </p:txBody>
      </p:sp>
      <p:sp>
        <p:nvSpPr>
          <p:cNvPr id="25" name="矩形: 圆角 57"/>
          <p:cNvSpPr/>
          <p:nvPr/>
        </p:nvSpPr>
        <p:spPr>
          <a:xfrm>
            <a:off x="8086674" y="5132423"/>
            <a:ext cx="2520000" cy="854458"/>
          </a:xfrm>
          <a:prstGeom prst="roundRect">
            <a:avLst>
              <a:gd name="adj" fmla="val 7752"/>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mn-ea"/>
                <a:cs typeface="+mn-cs"/>
              </a:rPr>
              <a:t>服务体验</a:t>
            </a:r>
            <a:endParaRPr kumimoji="0" lang="en-US" altLang="zh-CN" sz="1600" b="1" i="0" u="none" strike="noStrike" kern="1200" cap="none" spc="0" normalizeH="0" baseline="0" noProof="0" dirty="0">
              <a:ln>
                <a:noFill/>
              </a:ln>
              <a:solidFill>
                <a:srgbClr val="FFFFFF"/>
              </a:solidFill>
              <a:effectLst/>
              <a:uLnTx/>
              <a:uFillTx/>
              <a:latin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rgbClr val="FFFFFF"/>
                </a:solidFill>
                <a:latin typeface="+mn-ea"/>
              </a:rPr>
              <a:t>正向打造</a:t>
            </a:r>
            <a:endParaRPr kumimoji="0" lang="zh-CN" altLang="en-US" sz="1600" b="1" i="0" u="none" strike="noStrike" kern="1200" cap="none" spc="0" normalizeH="0" baseline="0" noProof="0" dirty="0">
              <a:ln>
                <a:noFill/>
              </a:ln>
              <a:solidFill>
                <a:srgbClr val="FFFFFF"/>
              </a:solidFill>
              <a:effectLst/>
              <a:uLnTx/>
              <a:uFillTx/>
              <a:latin typeface="+mn-ea"/>
              <a:cs typeface="+mn-cs"/>
            </a:endParaRPr>
          </a:p>
        </p:txBody>
      </p:sp>
      <p:sp>
        <p:nvSpPr>
          <p:cNvPr id="26" name="文本框 25"/>
          <p:cNvSpPr txBox="1"/>
          <p:nvPr/>
        </p:nvSpPr>
        <p:spPr>
          <a:xfrm>
            <a:off x="8107552" y="2328718"/>
            <a:ext cx="88850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defRPr/>
            </a:pPr>
            <a:r>
              <a:rPr kumimoji="0" lang="en-US" altLang="zh-CN" sz="3200" b="1" i="1" u="none" strike="noStrike" kern="1200" cap="none" spc="0" normalizeH="0" baseline="0" noProof="0" dirty="0">
                <a:ln>
                  <a:noFill/>
                </a:ln>
                <a:solidFill>
                  <a:srgbClr val="FFFFFF"/>
                </a:solidFill>
                <a:effectLst/>
                <a:uLnTx/>
                <a:uFillTx/>
                <a:latin typeface="+mn-ea"/>
                <a:cs typeface="+mn-cs"/>
              </a:rPr>
              <a:t>1</a:t>
            </a:r>
            <a:endParaRPr kumimoji="0" lang="zh-CN" altLang="en-US" sz="3200" b="1" i="1" u="none" strike="noStrike" kern="1200" cap="none" spc="0" normalizeH="0" baseline="0" noProof="0" dirty="0">
              <a:ln>
                <a:noFill/>
              </a:ln>
              <a:solidFill>
                <a:srgbClr val="FFFFFF"/>
              </a:solidFill>
              <a:effectLst/>
              <a:uLnTx/>
              <a:uFillTx/>
              <a:latin typeface="+mn-ea"/>
              <a:cs typeface="+mn-cs"/>
            </a:endParaRPr>
          </a:p>
        </p:txBody>
      </p:sp>
      <p:sp>
        <p:nvSpPr>
          <p:cNvPr id="27" name="文本框 26"/>
          <p:cNvSpPr txBox="1"/>
          <p:nvPr/>
        </p:nvSpPr>
        <p:spPr>
          <a:xfrm>
            <a:off x="8107552" y="3257530"/>
            <a:ext cx="88850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defRPr/>
            </a:pPr>
            <a:r>
              <a:rPr kumimoji="0" lang="en-US" altLang="zh-CN" sz="3200" b="1" i="1" u="none" strike="noStrike" kern="1200" cap="none" spc="0" normalizeH="0" baseline="0" noProof="0" dirty="0">
                <a:ln>
                  <a:noFill/>
                </a:ln>
                <a:solidFill>
                  <a:srgbClr val="FFFFFF"/>
                </a:solidFill>
                <a:effectLst/>
                <a:uLnTx/>
                <a:uFillTx/>
                <a:latin typeface="+mn-ea"/>
                <a:cs typeface="+mn-cs"/>
              </a:rPr>
              <a:t>2</a:t>
            </a:r>
            <a:endParaRPr kumimoji="0" lang="zh-CN" altLang="en-US" sz="3200" b="1" i="1" u="none" strike="noStrike" kern="1200" cap="none" spc="0" normalizeH="0" baseline="0" noProof="0" dirty="0">
              <a:ln>
                <a:noFill/>
              </a:ln>
              <a:solidFill>
                <a:srgbClr val="FFFFFF"/>
              </a:solidFill>
              <a:effectLst/>
              <a:uLnTx/>
              <a:uFillTx/>
              <a:latin typeface="+mn-ea"/>
              <a:cs typeface="+mn-cs"/>
            </a:endParaRPr>
          </a:p>
        </p:txBody>
      </p:sp>
      <p:sp>
        <p:nvSpPr>
          <p:cNvPr id="28" name="文本框 27"/>
          <p:cNvSpPr txBox="1"/>
          <p:nvPr/>
        </p:nvSpPr>
        <p:spPr>
          <a:xfrm>
            <a:off x="8107552" y="4188694"/>
            <a:ext cx="88850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defRPr/>
            </a:pPr>
            <a:r>
              <a:rPr kumimoji="0" lang="en-US" altLang="zh-CN" sz="3200" b="1" i="1" u="none" strike="noStrike" kern="1200" cap="none" spc="0" normalizeH="0" baseline="0" noProof="0" dirty="0">
                <a:ln>
                  <a:noFill/>
                </a:ln>
                <a:solidFill>
                  <a:srgbClr val="FFFFFF"/>
                </a:solidFill>
                <a:effectLst/>
                <a:uLnTx/>
                <a:uFillTx/>
                <a:latin typeface="+mn-ea"/>
                <a:cs typeface="+mn-cs"/>
              </a:rPr>
              <a:t>3</a:t>
            </a:r>
            <a:endParaRPr kumimoji="0" lang="zh-CN" altLang="en-US" sz="3200" b="1" i="1" u="none" strike="noStrike" kern="1200" cap="none" spc="0" normalizeH="0" baseline="0" noProof="0" dirty="0">
              <a:ln>
                <a:noFill/>
              </a:ln>
              <a:solidFill>
                <a:srgbClr val="FFFFFF"/>
              </a:solidFill>
              <a:effectLst/>
              <a:uLnTx/>
              <a:uFillTx/>
              <a:latin typeface="+mn-ea"/>
              <a:cs typeface="+mn-cs"/>
            </a:endParaRPr>
          </a:p>
        </p:txBody>
      </p:sp>
      <p:sp>
        <p:nvSpPr>
          <p:cNvPr id="29" name="文本框 28"/>
          <p:cNvSpPr txBox="1"/>
          <p:nvPr/>
        </p:nvSpPr>
        <p:spPr>
          <a:xfrm>
            <a:off x="8107552" y="5143490"/>
            <a:ext cx="88850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defRPr/>
            </a:pPr>
            <a:r>
              <a:rPr kumimoji="0" lang="en-US" altLang="zh-CN" sz="3200" b="1" i="1" u="none" strike="noStrike" kern="1200" cap="none" spc="0" normalizeH="0" baseline="0" noProof="0" dirty="0">
                <a:ln>
                  <a:noFill/>
                </a:ln>
                <a:solidFill>
                  <a:srgbClr val="FFFFFF"/>
                </a:solidFill>
                <a:effectLst/>
                <a:uLnTx/>
                <a:uFillTx/>
                <a:latin typeface="+mn-ea"/>
                <a:cs typeface="+mn-cs"/>
              </a:rPr>
              <a:t>4</a:t>
            </a:r>
            <a:endParaRPr kumimoji="0" lang="zh-CN" altLang="en-US" sz="3200" b="1" i="1" u="none" strike="noStrike" kern="1200" cap="none" spc="0" normalizeH="0" baseline="0" noProof="0" dirty="0">
              <a:ln>
                <a:noFill/>
              </a:ln>
              <a:solidFill>
                <a:srgbClr val="FFFFFF"/>
              </a:solidFill>
              <a:effectLst/>
              <a:uLnTx/>
              <a:uFillTx/>
              <a:latin typeface="+mn-ea"/>
              <a:cs typeface="+mn-cs"/>
            </a:endParaRPr>
          </a:p>
        </p:txBody>
      </p:sp>
      <p:sp>
        <p:nvSpPr>
          <p:cNvPr id="2" name="文本占位符 7">
            <a:extLst>
              <a:ext uri="{FF2B5EF4-FFF2-40B4-BE49-F238E27FC236}">
                <a16:creationId xmlns:a16="http://schemas.microsoft.com/office/drawing/2014/main" id="{3337A87F-E8E3-6154-BFFF-23EEBAE860B5}"/>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60000"/>
            </a:pPr>
            <a:r>
              <a:rPr lang="zh-CN" altLang="en-US" dirty="0">
                <a:latin typeface="+mn-ea"/>
                <a:ea typeface="+mn-ea"/>
              </a:rPr>
              <a:t>本期项目旨在识别用户服务体验弱项，提出改善建议，打造正向服务体验</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占位符 10"/>
          <p:cNvSpPr>
            <a:spLocks noGrp="1"/>
          </p:cNvSpPr>
          <p:nvPr>
            <p:ph type="body" sz="quarter" idx="21"/>
          </p:nvPr>
        </p:nvSpPr>
        <p:spPr/>
        <p:txBody>
          <a:bodyPr/>
          <a:lstStyle/>
          <a:p>
            <a:r>
              <a:rPr lang="en-US" altLang="zh-CN" dirty="0">
                <a:latin typeface="+mn-ea"/>
                <a:ea typeface="+mn-ea"/>
              </a:rPr>
              <a:t>1.3 </a:t>
            </a:r>
            <a:r>
              <a:rPr lang="zh-CN" altLang="en-US" dirty="0">
                <a:latin typeface="+mn-ea"/>
                <a:ea typeface="+mn-ea"/>
              </a:rPr>
              <a:t>项目思路</a:t>
            </a:r>
            <a:endParaRPr lang="zh-CN" altLang="en-US" dirty="0"/>
          </a:p>
        </p:txBody>
      </p:sp>
      <p:sp>
        <p:nvSpPr>
          <p:cNvPr id="5" name="灯片编号占位符 4"/>
          <p:cNvSpPr>
            <a:spLocks noGrp="1"/>
          </p:cNvSpPr>
          <p:nvPr>
            <p:ph type="sldNum" sz="quarter" idx="4"/>
          </p:nvPr>
        </p:nvSpPr>
        <p:spPr>
          <a:xfrm>
            <a:off x="11523095" y="6552653"/>
            <a:ext cx="368141" cy="240700"/>
          </a:xfrm>
        </p:spPr>
        <p:txBody>
          <a:bodyPr/>
          <a:lstStyle/>
          <a:p>
            <a:fld id="{5BC33376-1D8B-E948-ACD6-AA21A3D30A8E}" type="slidenum">
              <a:rPr lang="zh-CN" altLang="en-US" smtClean="0"/>
              <a:t>8</a:t>
            </a:fld>
            <a:endParaRPr lang="zh-CN" altLang="en-US" dirty="0"/>
          </a:p>
        </p:txBody>
      </p:sp>
      <p:sp>
        <p:nvSpPr>
          <p:cNvPr id="13" name="矩形: 圆角 4"/>
          <p:cNvSpPr/>
          <p:nvPr/>
        </p:nvSpPr>
        <p:spPr>
          <a:xfrm>
            <a:off x="269648" y="1932906"/>
            <a:ext cx="1258138" cy="504081"/>
          </a:xfrm>
          <a:prstGeom prst="round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Arial" panose="020B0604020202020204"/>
                <a:ea typeface="Alibaba PuHuiTi 2.0 55 Regular"/>
                <a:cs typeface="+mn-cs"/>
              </a:rPr>
              <a:t>研究模块</a:t>
            </a:r>
          </a:p>
        </p:txBody>
      </p:sp>
      <p:sp>
        <p:nvSpPr>
          <p:cNvPr id="14" name="矩形: 圆角 14"/>
          <p:cNvSpPr/>
          <p:nvPr/>
        </p:nvSpPr>
        <p:spPr>
          <a:xfrm>
            <a:off x="269647" y="3085302"/>
            <a:ext cx="1258139" cy="504081"/>
          </a:xfrm>
          <a:prstGeom prst="round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Arial" panose="020B0604020202020204"/>
                <a:ea typeface="Alibaba PuHuiTi 2.0 55 Regular"/>
                <a:cs typeface="+mn-cs"/>
              </a:rPr>
              <a:t>研究目标</a:t>
            </a:r>
          </a:p>
        </p:txBody>
      </p:sp>
      <p:sp>
        <p:nvSpPr>
          <p:cNvPr id="15" name="矩形 14"/>
          <p:cNvSpPr/>
          <p:nvPr/>
        </p:nvSpPr>
        <p:spPr>
          <a:xfrm>
            <a:off x="1602124" y="2475005"/>
            <a:ext cx="2520000" cy="165403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lang="zh-CN" altLang="en-US" sz="1400" b="1" dirty="0">
                <a:solidFill>
                  <a:srgbClr val="000000"/>
                </a:solidFill>
                <a:latin typeface="Arial" panose="020B0604020202020204"/>
                <a:ea typeface="Alibaba PuHuiTi 2.0 55 Regular"/>
              </a:rPr>
              <a:t>上半年搭建指标体系</a:t>
            </a:r>
            <a:endParaRPr lang="en-US" altLang="zh-CN" sz="1400" b="1" dirty="0">
              <a:solidFill>
                <a:srgbClr val="000000"/>
              </a:solidFill>
              <a:latin typeface="Arial" panose="020B0604020202020204"/>
              <a:ea typeface="Alibaba PuHuiTi 2.0 55 Regular"/>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lang="zh-CN" altLang="en-US" sz="1400" b="1" dirty="0">
                <a:solidFill>
                  <a:srgbClr val="000000"/>
                </a:solidFill>
                <a:latin typeface="Arial" panose="020B0604020202020204"/>
                <a:ea typeface="Alibaba PuHuiTi 2.0 55 Regular"/>
              </a:rPr>
              <a:t>下半年优化指标</a:t>
            </a:r>
            <a:r>
              <a:rPr kumimoji="0" lang="zh-CN" altLang="en-US" sz="1400" b="1" i="0" u="none" strike="noStrike" kern="1200" cap="none" spc="0" normalizeH="0" baseline="0" noProof="0" dirty="0">
                <a:ln>
                  <a:noFill/>
                </a:ln>
                <a:solidFill>
                  <a:srgbClr val="000000"/>
                </a:solidFill>
                <a:effectLst/>
                <a:uLnTx/>
                <a:uFillTx/>
                <a:latin typeface="Arial" panose="020B0604020202020204"/>
                <a:ea typeface="Alibaba PuHuiTi 2.0 55 Regular"/>
                <a:cs typeface="+mn-cs"/>
              </a:rPr>
              <a:t>体系</a:t>
            </a:r>
            <a:endParaRPr kumimoji="0" lang="en-US" altLang="zh-CN" sz="1400" b="1"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pitchFamily="2" charset="2"/>
              <a:buChar char="Ø"/>
              <a:defRPr/>
            </a:pPr>
            <a:r>
              <a:rPr lang="zh-CN" altLang="en-US" sz="1200" dirty="0">
                <a:solidFill>
                  <a:srgbClr val="000000"/>
                </a:solidFill>
                <a:latin typeface="Arial" panose="020B0604020202020204"/>
                <a:ea typeface="Alibaba PuHuiTi 2.0 55 Regular"/>
              </a:rPr>
              <a:t>基于用户视角，结合最新品牌标准和业务</a:t>
            </a:r>
            <a:r>
              <a:rPr lang="en-US" altLang="zh-CN" sz="1200" dirty="0">
                <a:solidFill>
                  <a:srgbClr val="000000"/>
                </a:solidFill>
                <a:latin typeface="Arial" panose="020B0604020202020204"/>
                <a:ea typeface="Alibaba PuHuiTi 2.0 55 Regular"/>
              </a:rPr>
              <a:t>SOP</a:t>
            </a:r>
            <a:r>
              <a:rPr lang="zh-CN" altLang="en-US" sz="1200" dirty="0">
                <a:solidFill>
                  <a:srgbClr val="000000"/>
                </a:solidFill>
                <a:latin typeface="Arial" panose="020B0604020202020204"/>
                <a:ea typeface="Alibaba PuHuiTi 2.0 55 Regular"/>
              </a:rPr>
              <a:t>，与业务部门拉通梳理指标，确保指标与业务精密结合</a:t>
            </a:r>
            <a:endParaRPr kumimoji="0" lang="zh-CN" altLang="en-US" sz="12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p:txBody>
      </p:sp>
      <p:sp>
        <p:nvSpPr>
          <p:cNvPr id="16" name="矩形: 圆角 54"/>
          <p:cNvSpPr/>
          <p:nvPr/>
        </p:nvSpPr>
        <p:spPr>
          <a:xfrm>
            <a:off x="1602124" y="1916112"/>
            <a:ext cx="2520000" cy="554437"/>
          </a:xfrm>
          <a:prstGeom prst="roundRect">
            <a:avLst>
              <a:gd name="adj" fmla="val 11468"/>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rgbClr val="FFFFFF"/>
                </a:solidFill>
                <a:latin typeface="Arial" panose="020B0604020202020204"/>
                <a:ea typeface="Alibaba PuHuiTi 2.0 55 Regular"/>
              </a:rPr>
              <a:t>横评</a:t>
            </a:r>
            <a:r>
              <a:rPr kumimoji="0" lang="zh-CN" altLang="en-US" sz="1600" b="1" i="0" u="none" strike="noStrike" kern="1200" cap="none" spc="0" normalizeH="0" baseline="0" noProof="0" dirty="0">
                <a:ln>
                  <a:noFill/>
                </a:ln>
                <a:solidFill>
                  <a:srgbClr val="FFFFFF"/>
                </a:solidFill>
                <a:effectLst/>
                <a:uLnTx/>
                <a:uFillTx/>
                <a:latin typeface="Arial" panose="020B0604020202020204"/>
                <a:ea typeface="Alibaba PuHuiTi 2.0 55 Regular"/>
                <a:cs typeface="+mn-cs"/>
              </a:rPr>
              <a:t>指标体系</a:t>
            </a:r>
            <a:endParaRPr kumimoji="0" lang="en-US" altLang="zh-CN" sz="1600" b="1" i="0" u="none" strike="noStrike" kern="1200" cap="none" spc="0" normalizeH="0" baseline="0" noProof="0" dirty="0">
              <a:ln>
                <a:noFill/>
              </a:ln>
              <a:solidFill>
                <a:srgbClr val="FFFFFF"/>
              </a:solidFill>
              <a:effectLst/>
              <a:uLnTx/>
              <a:uFillTx/>
              <a:latin typeface="Arial" panose="020B0604020202020204"/>
              <a:ea typeface="Alibaba PuHuiTi 2.0 55 Regular"/>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Arial" panose="020B0604020202020204"/>
                <a:ea typeface="Alibaba PuHuiTi 2.0 55 Regular"/>
                <a:cs typeface="+mn-cs"/>
              </a:rPr>
              <a:t>搭建和优化</a:t>
            </a:r>
          </a:p>
        </p:txBody>
      </p:sp>
      <p:sp>
        <p:nvSpPr>
          <p:cNvPr id="17" name="矩形: 圆角 55"/>
          <p:cNvSpPr/>
          <p:nvPr/>
        </p:nvSpPr>
        <p:spPr>
          <a:xfrm>
            <a:off x="4200010" y="1916112"/>
            <a:ext cx="2520000" cy="554437"/>
          </a:xfrm>
          <a:prstGeom prst="roundRect">
            <a:avLst>
              <a:gd name="adj" fmla="val 10725"/>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Arial" panose="020B0604020202020204"/>
                <a:ea typeface="Alibaba PuHuiTi 2.0 55 Regular"/>
                <a:cs typeface="+mn-cs"/>
              </a:rPr>
              <a:t>满意度横评排名</a:t>
            </a:r>
            <a:endParaRPr kumimoji="0" lang="en-US" altLang="zh-CN" sz="1600" b="1" i="0" u="none" strike="noStrike" kern="1200" cap="none" spc="0" normalizeH="0" baseline="0" noProof="0" dirty="0">
              <a:ln>
                <a:noFill/>
              </a:ln>
              <a:solidFill>
                <a:srgbClr val="FFFFFF"/>
              </a:solidFill>
              <a:effectLst/>
              <a:uLnTx/>
              <a:uFillTx/>
              <a:latin typeface="Arial" panose="020B0604020202020204"/>
              <a:ea typeface="Alibaba PuHuiTi 2.0 55 Regular"/>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Arial" panose="020B0604020202020204"/>
                <a:ea typeface="Alibaba PuHuiTi 2.0 55 Regular"/>
                <a:cs typeface="+mn-cs"/>
              </a:rPr>
              <a:t>及弱项识别</a:t>
            </a:r>
          </a:p>
        </p:txBody>
      </p:sp>
      <p:sp>
        <p:nvSpPr>
          <p:cNvPr id="18" name="矩形: 圆角 56"/>
          <p:cNvSpPr/>
          <p:nvPr/>
        </p:nvSpPr>
        <p:spPr>
          <a:xfrm>
            <a:off x="6797896" y="1916112"/>
            <a:ext cx="2520000" cy="554437"/>
          </a:xfrm>
          <a:prstGeom prst="roundRect">
            <a:avLst>
              <a:gd name="adj" fmla="val 9982"/>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Arial" panose="020B0604020202020204"/>
                <a:ea typeface="Alibaba PuHuiTi 2.0 55 Regular"/>
                <a:cs typeface="+mn-cs"/>
              </a:rPr>
              <a:t>弱项</a:t>
            </a:r>
            <a:r>
              <a:rPr lang="zh-CN" altLang="en-US" sz="1600" b="1" dirty="0">
                <a:solidFill>
                  <a:srgbClr val="FFFFFF"/>
                </a:solidFill>
                <a:latin typeface="Arial" panose="020B0604020202020204"/>
                <a:ea typeface="Alibaba PuHuiTi 2.0 55 Regular"/>
              </a:rPr>
              <a:t>根因分析</a:t>
            </a:r>
            <a:endParaRPr lang="en-US" altLang="zh-CN" sz="1600" b="1" dirty="0">
              <a:solidFill>
                <a:srgbClr val="FFFFFF"/>
              </a:solidFill>
              <a:latin typeface="Arial" panose="020B0604020202020204"/>
              <a:ea typeface="Alibaba PuHuiTi 2.0 55 Regular"/>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rgbClr val="FFFFFF"/>
                </a:solidFill>
                <a:latin typeface="Arial" panose="020B0604020202020204"/>
                <a:ea typeface="Alibaba PuHuiTi 2.0 55 Regular"/>
              </a:rPr>
              <a:t>及提升建议</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Alibaba PuHuiTi 2.0 55 Regular"/>
              <a:cs typeface="+mn-cs"/>
            </a:endParaRPr>
          </a:p>
        </p:txBody>
      </p:sp>
      <p:sp>
        <p:nvSpPr>
          <p:cNvPr id="19" name="矩形: 圆角 57"/>
          <p:cNvSpPr/>
          <p:nvPr/>
        </p:nvSpPr>
        <p:spPr>
          <a:xfrm>
            <a:off x="9395783" y="1916112"/>
            <a:ext cx="2520000" cy="554438"/>
          </a:xfrm>
          <a:prstGeom prst="roundRect">
            <a:avLst>
              <a:gd name="adj" fmla="val 7752"/>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uLnTx/>
                <a:uFillTx/>
                <a:latin typeface="Arial" panose="020B0604020202020204"/>
                <a:ea typeface="Alibaba PuHuiTi 2.0 55 Regular"/>
                <a:cs typeface="+mn-cs"/>
              </a:rPr>
              <a:t>服务体验</a:t>
            </a:r>
            <a:endParaRPr kumimoji="0" lang="en-US" altLang="zh-CN" sz="1600" b="1" i="0" u="none" strike="noStrike" kern="1200" cap="none" spc="0" normalizeH="0" baseline="0" noProof="0" dirty="0">
              <a:ln>
                <a:noFill/>
              </a:ln>
              <a:solidFill>
                <a:srgbClr val="FFFFFF"/>
              </a:solidFill>
              <a:effectLst/>
              <a:uLnTx/>
              <a:uFillTx/>
              <a:latin typeface="Arial" panose="020B0604020202020204"/>
              <a:ea typeface="Alibaba PuHuiTi 2.0 55 Regular"/>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rgbClr val="FFFFFF"/>
                </a:solidFill>
                <a:latin typeface="Arial" panose="020B0604020202020204"/>
                <a:ea typeface="Alibaba PuHuiTi 2.0 55 Regular"/>
              </a:rPr>
              <a:t>正向打造</a:t>
            </a:r>
            <a:endParaRPr kumimoji="0" lang="zh-CN" altLang="en-US" sz="1600" b="1" i="0" u="none" strike="noStrike" kern="1200" cap="none" spc="0" normalizeH="0" baseline="0" noProof="0" dirty="0">
              <a:ln>
                <a:noFill/>
              </a:ln>
              <a:solidFill>
                <a:srgbClr val="FFFFFF"/>
              </a:solidFill>
              <a:effectLst/>
              <a:uLnTx/>
              <a:uFillTx/>
              <a:latin typeface="Arial" panose="020B0604020202020204"/>
              <a:ea typeface="Alibaba PuHuiTi 2.0 55 Regular"/>
              <a:cs typeface="+mn-cs"/>
            </a:endParaRPr>
          </a:p>
        </p:txBody>
      </p:sp>
      <p:sp>
        <p:nvSpPr>
          <p:cNvPr id="20" name="文本框 19"/>
          <p:cNvSpPr txBox="1"/>
          <p:nvPr/>
        </p:nvSpPr>
        <p:spPr>
          <a:xfrm>
            <a:off x="1623002" y="1823606"/>
            <a:ext cx="88850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defRPr/>
            </a:pPr>
            <a:r>
              <a:rPr kumimoji="0" lang="en-US" altLang="zh-CN" sz="3200" b="1" i="1" u="none" strike="noStrike" kern="1200" cap="none" spc="0" normalizeH="0" baseline="0" noProof="0" dirty="0">
                <a:ln>
                  <a:noFill/>
                </a:ln>
                <a:solidFill>
                  <a:srgbClr val="FFFFFF"/>
                </a:solidFill>
                <a:effectLst/>
                <a:uLnTx/>
                <a:uFillTx/>
                <a:latin typeface="Arial" panose="020B0604020202020204"/>
                <a:ea typeface="Alibaba PuHuiTi 2.0 55 Regular"/>
                <a:cs typeface="+mn-cs"/>
              </a:rPr>
              <a:t>1</a:t>
            </a:r>
            <a:endParaRPr kumimoji="0" lang="zh-CN" altLang="en-US" sz="3200" b="1" i="1" u="none" strike="noStrike" kern="1200" cap="none" spc="0" normalizeH="0" baseline="0" noProof="0" dirty="0">
              <a:ln>
                <a:noFill/>
              </a:ln>
              <a:solidFill>
                <a:srgbClr val="FFFFFF"/>
              </a:solidFill>
              <a:effectLst/>
              <a:uLnTx/>
              <a:uFillTx/>
              <a:latin typeface="Arial" panose="020B0604020202020204"/>
              <a:ea typeface="Alibaba PuHuiTi 2.0 55 Regular"/>
              <a:cs typeface="+mn-cs"/>
            </a:endParaRPr>
          </a:p>
        </p:txBody>
      </p:sp>
      <p:sp>
        <p:nvSpPr>
          <p:cNvPr id="21" name="文本框 20"/>
          <p:cNvSpPr txBox="1"/>
          <p:nvPr/>
        </p:nvSpPr>
        <p:spPr>
          <a:xfrm>
            <a:off x="4212140" y="1823606"/>
            <a:ext cx="88850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defRPr/>
            </a:pPr>
            <a:r>
              <a:rPr kumimoji="0" lang="en-US" altLang="zh-CN" sz="3200" b="1" i="1" u="none" strike="noStrike" kern="1200" cap="none" spc="0" normalizeH="0" baseline="0" noProof="0" dirty="0">
                <a:ln>
                  <a:noFill/>
                </a:ln>
                <a:solidFill>
                  <a:srgbClr val="FFFFFF"/>
                </a:solidFill>
                <a:effectLst/>
                <a:uLnTx/>
                <a:uFillTx/>
                <a:latin typeface="Arial" panose="020B0604020202020204"/>
                <a:ea typeface="Alibaba PuHuiTi 2.0 55 Regular"/>
                <a:cs typeface="+mn-cs"/>
              </a:rPr>
              <a:t>2</a:t>
            </a:r>
            <a:endParaRPr kumimoji="0" lang="zh-CN" altLang="en-US" sz="3200" b="1" i="1" u="none" strike="noStrike" kern="1200" cap="none" spc="0" normalizeH="0" baseline="0" noProof="0" dirty="0">
              <a:ln>
                <a:noFill/>
              </a:ln>
              <a:solidFill>
                <a:srgbClr val="FFFFFF"/>
              </a:solidFill>
              <a:effectLst/>
              <a:uLnTx/>
              <a:uFillTx/>
              <a:latin typeface="Arial" panose="020B0604020202020204"/>
              <a:ea typeface="Alibaba PuHuiTi 2.0 55 Regular"/>
              <a:cs typeface="+mn-cs"/>
            </a:endParaRPr>
          </a:p>
        </p:txBody>
      </p:sp>
      <p:sp>
        <p:nvSpPr>
          <p:cNvPr id="22" name="文本框 21"/>
          <p:cNvSpPr txBox="1"/>
          <p:nvPr/>
        </p:nvSpPr>
        <p:spPr>
          <a:xfrm>
            <a:off x="6819192" y="1823606"/>
            <a:ext cx="88850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defRPr/>
            </a:pPr>
            <a:r>
              <a:rPr kumimoji="0" lang="en-US" altLang="zh-CN" sz="3200" b="1" i="1" u="none" strike="noStrike" kern="1200" cap="none" spc="0" normalizeH="0" baseline="0" noProof="0" dirty="0">
                <a:ln>
                  <a:noFill/>
                </a:ln>
                <a:solidFill>
                  <a:srgbClr val="FFFFFF"/>
                </a:solidFill>
                <a:effectLst/>
                <a:uLnTx/>
                <a:uFillTx/>
                <a:latin typeface="Arial" panose="020B0604020202020204"/>
                <a:ea typeface="Alibaba PuHuiTi 2.0 55 Regular"/>
                <a:cs typeface="+mn-cs"/>
              </a:rPr>
              <a:t>3</a:t>
            </a:r>
            <a:endParaRPr kumimoji="0" lang="zh-CN" altLang="en-US" sz="3200" b="1" i="1" u="none" strike="noStrike" kern="1200" cap="none" spc="0" normalizeH="0" baseline="0" noProof="0" dirty="0">
              <a:ln>
                <a:noFill/>
              </a:ln>
              <a:solidFill>
                <a:srgbClr val="FFFFFF"/>
              </a:solidFill>
              <a:effectLst/>
              <a:uLnTx/>
              <a:uFillTx/>
              <a:latin typeface="Arial" panose="020B0604020202020204"/>
              <a:ea typeface="Alibaba PuHuiTi 2.0 55 Regular"/>
              <a:cs typeface="+mn-cs"/>
            </a:endParaRPr>
          </a:p>
        </p:txBody>
      </p:sp>
      <p:sp>
        <p:nvSpPr>
          <p:cNvPr id="23" name="文本框 22"/>
          <p:cNvSpPr txBox="1"/>
          <p:nvPr/>
        </p:nvSpPr>
        <p:spPr>
          <a:xfrm>
            <a:off x="9381971" y="1823606"/>
            <a:ext cx="88850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defRPr/>
            </a:pPr>
            <a:r>
              <a:rPr kumimoji="0" lang="en-US" altLang="zh-CN" sz="3200" b="1" i="1" u="none" strike="noStrike" kern="1200" cap="none" spc="0" normalizeH="0" baseline="0" noProof="0" dirty="0">
                <a:ln>
                  <a:noFill/>
                </a:ln>
                <a:solidFill>
                  <a:srgbClr val="FFFFFF"/>
                </a:solidFill>
                <a:effectLst/>
                <a:uLnTx/>
                <a:uFillTx/>
                <a:latin typeface="Arial" panose="020B0604020202020204"/>
                <a:ea typeface="Alibaba PuHuiTi 2.0 55 Regular"/>
                <a:cs typeface="+mn-cs"/>
              </a:rPr>
              <a:t>4</a:t>
            </a:r>
            <a:endParaRPr kumimoji="0" lang="zh-CN" altLang="en-US" sz="3200" b="1" i="1" u="none" strike="noStrike" kern="1200" cap="none" spc="0" normalizeH="0" baseline="0" noProof="0" dirty="0">
              <a:ln>
                <a:noFill/>
              </a:ln>
              <a:solidFill>
                <a:srgbClr val="FFFFFF"/>
              </a:solidFill>
              <a:effectLst/>
              <a:uLnTx/>
              <a:uFillTx/>
              <a:latin typeface="Arial" panose="020B0604020202020204"/>
              <a:ea typeface="Alibaba PuHuiTi 2.0 55 Regular"/>
              <a:cs typeface="+mn-cs"/>
            </a:endParaRPr>
          </a:p>
        </p:txBody>
      </p:sp>
      <p:cxnSp>
        <p:nvCxnSpPr>
          <p:cNvPr id="24" name="直接连接符 68"/>
          <p:cNvCxnSpPr/>
          <p:nvPr/>
        </p:nvCxnSpPr>
        <p:spPr>
          <a:xfrm>
            <a:off x="1700676" y="4242919"/>
            <a:ext cx="10104172" cy="0"/>
          </a:xfrm>
          <a:prstGeom prst="line">
            <a:avLst/>
          </a:prstGeom>
          <a:ln w="19050">
            <a:solidFill>
              <a:srgbClr val="CFD7D9"/>
            </a:solidFill>
            <a:prstDash val="dash"/>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1602124" y="4227837"/>
            <a:ext cx="2520000" cy="160884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lang="zh-CN" altLang="en-US" sz="1400" b="1" dirty="0">
                <a:solidFill>
                  <a:srgbClr val="000000"/>
                </a:solidFill>
                <a:latin typeface="Arial" panose="020B0604020202020204"/>
                <a:ea typeface="Alibaba PuHuiTi 2.0 55 Regular"/>
              </a:rPr>
              <a:t>缺失指标增加</a:t>
            </a:r>
            <a:endParaRPr lang="en-US" altLang="zh-CN" sz="1400" b="1" dirty="0">
              <a:solidFill>
                <a:srgbClr val="000000"/>
              </a:solidFill>
              <a:latin typeface="Arial" panose="020B0604020202020204"/>
              <a:ea typeface="Alibaba PuHuiTi 2.0 55 Regular"/>
            </a:endParaRPr>
          </a:p>
          <a:p>
            <a:pPr marL="285750" indent="-285750">
              <a:lnSpc>
                <a:spcPct val="110000"/>
              </a:lnSpc>
              <a:spcAft>
                <a:spcPts val="300"/>
              </a:spcAft>
              <a:buFont typeface="Wingdings" panose="05000000000000000000" pitchFamily="2" charset="2"/>
              <a:buChar char="Ø"/>
              <a:defRPr/>
            </a:pPr>
            <a:r>
              <a:rPr lang="zh-CN" altLang="en-US" sz="1200" dirty="0">
                <a:solidFill>
                  <a:srgbClr val="000000"/>
                </a:solidFill>
                <a:latin typeface="Arial" panose="020B0604020202020204"/>
                <a:ea typeface="Alibaba PuHuiTi 2.0 55 Regular"/>
              </a:rPr>
              <a:t>根据更新版客户旅程地图与服务流程手册，补充服务场景与服务要素</a:t>
            </a:r>
            <a:endParaRPr kumimoji="0" lang="en-US" altLang="zh-CN" sz="14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lang="zh-CN" altLang="en-US" sz="1400" b="1" dirty="0">
                <a:solidFill>
                  <a:srgbClr val="000000"/>
                </a:solidFill>
                <a:latin typeface="Arial" panose="020B0604020202020204"/>
                <a:ea typeface="Alibaba PuHuiTi 2.0 55 Regular"/>
              </a:rPr>
              <a:t>指标描述优化</a:t>
            </a:r>
            <a:endParaRPr kumimoji="0" lang="en-US" altLang="zh-CN" sz="1400" b="1"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a:p>
            <a:pPr marL="285750" indent="-285750">
              <a:lnSpc>
                <a:spcPct val="110000"/>
              </a:lnSpc>
              <a:spcAft>
                <a:spcPts val="300"/>
              </a:spcAft>
              <a:buFont typeface="Wingdings" panose="05000000000000000000" pitchFamily="2" charset="2"/>
              <a:buChar char="Ø"/>
              <a:defRPr/>
            </a:pPr>
            <a:r>
              <a:rPr lang="zh-CN" altLang="en-US" sz="1200" dirty="0">
                <a:solidFill>
                  <a:srgbClr val="000000"/>
                </a:solidFill>
                <a:latin typeface="Arial" panose="020B0604020202020204"/>
                <a:ea typeface="Alibaba PuHuiTi 2.0 55 Regular"/>
              </a:rPr>
              <a:t>综合用户需求点，品牌标准，暗访问题（尤其是红线指标）</a:t>
            </a:r>
            <a:endParaRPr lang="en-US" altLang="zh-CN" sz="1200" dirty="0">
              <a:solidFill>
                <a:srgbClr val="000000"/>
              </a:solidFill>
              <a:latin typeface="Arial" panose="020B0604020202020204"/>
              <a:ea typeface="Alibaba PuHuiTi 2.0 55 Regular"/>
            </a:endParaRPr>
          </a:p>
          <a:p>
            <a:pPr marL="285750" indent="-285750">
              <a:lnSpc>
                <a:spcPct val="110000"/>
              </a:lnSpc>
              <a:spcAft>
                <a:spcPts val="300"/>
              </a:spcAft>
              <a:buFont typeface="Wingdings" panose="05000000000000000000" pitchFamily="2" charset="2"/>
              <a:buChar char="Ø"/>
              <a:defRPr/>
            </a:pPr>
            <a:r>
              <a:rPr lang="zh-CN" altLang="en-US" sz="1200" dirty="0">
                <a:solidFill>
                  <a:srgbClr val="000000"/>
                </a:solidFill>
                <a:latin typeface="Arial" panose="020B0604020202020204"/>
                <a:ea typeface="Alibaba PuHuiTi 2.0 55 Regular"/>
              </a:rPr>
              <a:t>参考每期执行效果，与业务部门充分沟通，优化指标描述</a:t>
            </a:r>
            <a:endParaRPr kumimoji="0" lang="en-US" altLang="zh-CN" sz="12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p:txBody>
      </p:sp>
      <p:sp>
        <p:nvSpPr>
          <p:cNvPr id="26" name="矩形: 圆角 14"/>
          <p:cNvSpPr/>
          <p:nvPr/>
        </p:nvSpPr>
        <p:spPr>
          <a:xfrm>
            <a:off x="290525" y="4832769"/>
            <a:ext cx="1258139" cy="504081"/>
          </a:xfrm>
          <a:prstGeom prst="round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Arial" panose="020B0604020202020204"/>
                <a:ea typeface="Alibaba PuHuiTi 2.0 55 Regular"/>
                <a:cs typeface="+mn-cs"/>
              </a:rPr>
              <a:t>研究方法</a:t>
            </a:r>
          </a:p>
        </p:txBody>
      </p:sp>
      <p:sp>
        <p:nvSpPr>
          <p:cNvPr id="27" name="矩形: 圆角 26"/>
          <p:cNvSpPr/>
          <p:nvPr/>
        </p:nvSpPr>
        <p:spPr bwMode="auto">
          <a:xfrm>
            <a:off x="9351645" y="1859230"/>
            <a:ext cx="2590165" cy="4410389"/>
          </a:xfrm>
          <a:prstGeom prst="roundRect">
            <a:avLst>
              <a:gd name="adj" fmla="val 7719"/>
            </a:avLst>
          </a:prstGeom>
          <a:noFill/>
          <a:ln w="12700" cap="flat" cmpd="sng">
            <a:solidFill>
              <a:srgbClr val="4B8D56"/>
            </a:solidFill>
            <a:prstDash val="dash"/>
            <a:round/>
          </a:ln>
        </p:spPr>
        <p:txBody>
          <a:bodyPr wrap="none" lIns="0" tIns="0" rIns="0" bIns="0" rtlCol="0" anchor="ctr">
            <a:noAutofit/>
          </a:bodyPr>
          <a:lstStyle/>
          <a:p>
            <a:pPr marL="285750" indent="-285750" algn="ctr">
              <a:buClr>
                <a:schemeClr val="tx2"/>
              </a:buClr>
              <a:buFont typeface="Wingdings" panose="05000000000000000000" pitchFamily="2" charset="2"/>
              <a:buChar char="Ø"/>
            </a:pPr>
            <a:endParaRPr lang="zh-CN" altLang="en-US" sz="1400" dirty="0">
              <a:solidFill>
                <a:schemeClr val="tx2"/>
              </a:solidFill>
              <a:latin typeface="+mn-ea"/>
              <a:ea typeface="+mn-ea"/>
            </a:endParaRPr>
          </a:p>
        </p:txBody>
      </p:sp>
      <p:sp>
        <p:nvSpPr>
          <p:cNvPr id="28" name="矩形: 圆角 14"/>
          <p:cNvSpPr/>
          <p:nvPr/>
        </p:nvSpPr>
        <p:spPr>
          <a:xfrm>
            <a:off x="9955816" y="5962229"/>
            <a:ext cx="1612298" cy="261537"/>
          </a:xfrm>
          <a:prstGeom prst="round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dirty="0">
                <a:solidFill>
                  <a:srgbClr val="C00000"/>
                </a:solidFill>
                <a:latin typeface="Arial" panose="020B0604020202020204"/>
                <a:ea typeface="Alibaba PuHuiTi 2.0 55 Regular"/>
              </a:rPr>
              <a:t>下半年计划</a:t>
            </a:r>
            <a:endParaRPr kumimoji="0" lang="zh-CN" altLang="en-US" sz="1400" b="1" i="0" u="none" strike="noStrike" kern="1200" cap="none" spc="0" normalizeH="0" baseline="0" noProof="0" dirty="0">
              <a:ln>
                <a:noFill/>
              </a:ln>
              <a:solidFill>
                <a:srgbClr val="C00000"/>
              </a:solidFill>
              <a:effectLst/>
              <a:uLnTx/>
              <a:uFillTx/>
              <a:latin typeface="Arial" panose="020B0604020202020204"/>
              <a:ea typeface="Alibaba PuHuiTi 2.0 55 Regular"/>
              <a:cs typeface="+mn-cs"/>
            </a:endParaRPr>
          </a:p>
        </p:txBody>
      </p:sp>
      <p:sp>
        <p:nvSpPr>
          <p:cNvPr id="29" name="矩形 28"/>
          <p:cNvSpPr/>
          <p:nvPr/>
        </p:nvSpPr>
        <p:spPr>
          <a:xfrm>
            <a:off x="4200010" y="2475005"/>
            <a:ext cx="2520000" cy="165403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lang="zh-CN" altLang="en-US" sz="1400" b="1" dirty="0">
                <a:solidFill>
                  <a:srgbClr val="000000"/>
                </a:solidFill>
                <a:latin typeface="Arial" panose="020B0604020202020204"/>
                <a:ea typeface="Alibaba PuHuiTi 2.0 55 Regular"/>
              </a:rPr>
              <a:t>用户满意度评价结果</a:t>
            </a:r>
            <a:endParaRPr kumimoji="0" lang="en-US" altLang="zh-CN" sz="1400" b="1"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pitchFamily="2" charset="2"/>
              <a:buChar char="Ø"/>
              <a:defRPr/>
            </a:pPr>
            <a:r>
              <a:rPr kumimoji="0" lang="zh-CN" altLang="en-US" sz="12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rPr>
              <a:t>服务认可程度排名（本品、标杆、竞品）</a:t>
            </a:r>
            <a:endParaRPr kumimoji="0" lang="en-US" altLang="zh-CN" sz="12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kumimoji="0" lang="zh-CN" altLang="en-US" sz="1400" b="1" i="0" u="none" strike="noStrike" kern="1200" cap="none" spc="0" normalizeH="0" baseline="0" noProof="0" dirty="0">
                <a:ln>
                  <a:noFill/>
                </a:ln>
                <a:solidFill>
                  <a:srgbClr val="000000"/>
                </a:solidFill>
                <a:effectLst/>
                <a:uLnTx/>
                <a:uFillTx/>
                <a:latin typeface="Arial" panose="020B0604020202020204"/>
                <a:ea typeface="Alibaba PuHuiTi 2.0 55 Regular"/>
                <a:cs typeface="+mn-cs"/>
              </a:rPr>
              <a:t>优先改进服务项识别</a:t>
            </a: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pitchFamily="2" charset="2"/>
              <a:buChar char="Ø"/>
              <a:defRPr/>
            </a:pPr>
            <a:r>
              <a:rPr lang="zh-CN" altLang="en-US" sz="1200" noProof="0" dirty="0">
                <a:ln>
                  <a:noFill/>
                </a:ln>
                <a:solidFill>
                  <a:srgbClr val="000000"/>
                </a:solidFill>
                <a:effectLst/>
                <a:uLnTx/>
                <a:uFillTx/>
                <a:latin typeface="Arial" panose="020B0604020202020204"/>
                <a:ea typeface="Alibaba PuHuiTi 2.0 55 Regular"/>
                <a:sym typeface="+mn-ea"/>
              </a:rPr>
              <a:t>通过品牌、区域、本品/交叉评价等维度在服务要素、因子、指标上深入对比分析</a:t>
            </a:r>
            <a:endParaRPr kumimoji="0" lang="zh-CN" altLang="en-US" sz="1200"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p:txBody>
      </p:sp>
      <p:sp>
        <p:nvSpPr>
          <p:cNvPr id="30" name="矩形 29"/>
          <p:cNvSpPr/>
          <p:nvPr/>
        </p:nvSpPr>
        <p:spPr>
          <a:xfrm>
            <a:off x="4200010" y="4227837"/>
            <a:ext cx="2520000" cy="160884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lang="zh-CN" altLang="en-US" sz="1400" b="1" dirty="0">
                <a:solidFill>
                  <a:srgbClr val="000000"/>
                </a:solidFill>
                <a:latin typeface="Arial" panose="020B0604020202020204"/>
                <a:ea typeface="Alibaba PuHuiTi 2.0 55 Regular"/>
              </a:rPr>
              <a:t>用户服务满意度打分</a:t>
            </a:r>
            <a:endParaRPr lang="en-US" altLang="zh-CN" sz="1400" b="1" dirty="0">
              <a:solidFill>
                <a:srgbClr val="000000"/>
              </a:solidFill>
              <a:latin typeface="Arial" panose="020B0604020202020204"/>
              <a:ea typeface="Alibaba PuHuiTi 2.0 55 Regular"/>
            </a:endParaRPr>
          </a:p>
          <a:p>
            <a:pPr marL="285750" indent="-285750">
              <a:lnSpc>
                <a:spcPct val="110000"/>
              </a:lnSpc>
              <a:spcAft>
                <a:spcPts val="300"/>
              </a:spcAft>
              <a:buFont typeface="Wingdings" panose="05000000000000000000" pitchFamily="2" charset="2"/>
              <a:buChar char="Ø"/>
              <a:defRPr/>
            </a:pPr>
            <a:r>
              <a:rPr lang="zh-CN" altLang="en-US" sz="1200" dirty="0">
                <a:solidFill>
                  <a:srgbClr val="000000"/>
                </a:solidFill>
                <a:latin typeface="Arial" panose="020B0604020202020204"/>
                <a:ea typeface="Alibaba PuHuiTi 2.0 55 Regular"/>
              </a:rPr>
              <a:t>定量面访（销售、交付、售后满意度）</a:t>
            </a:r>
            <a:endParaRPr lang="en-US" altLang="zh-CN" sz="1200" dirty="0">
              <a:solidFill>
                <a:srgbClr val="000000"/>
              </a:solidFill>
              <a:latin typeface="Arial" panose="020B0604020202020204"/>
              <a:ea typeface="Alibaba PuHuiTi 2.0 55 Regular"/>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kumimoji="0" lang="zh-CN" altLang="en-US" sz="1400" b="1" i="0" u="none" strike="noStrike" kern="1200" cap="none" spc="0" normalizeH="0" baseline="0" noProof="0" dirty="0">
                <a:ln>
                  <a:noFill/>
                </a:ln>
                <a:solidFill>
                  <a:srgbClr val="000000"/>
                </a:solidFill>
                <a:effectLst/>
                <a:uLnTx/>
                <a:uFillTx/>
                <a:latin typeface="Arial" panose="020B0604020202020204"/>
                <a:ea typeface="Alibaba PuHuiTi 2.0 55 Regular"/>
                <a:cs typeface="+mn-cs"/>
              </a:rPr>
              <a:t>服务对业绩影响程度打分</a:t>
            </a:r>
            <a:endParaRPr kumimoji="0" lang="en-US" altLang="zh-CN" sz="1400" b="1"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pitchFamily="2" charset="2"/>
              <a:buChar char="Ø"/>
              <a:defRPr/>
            </a:pPr>
            <a:r>
              <a:rPr kumimoji="0" lang="zh-CN" altLang="en-US" sz="12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rPr>
              <a:t>定量面访（服务对下定的影响程度</a:t>
            </a:r>
            <a:r>
              <a:rPr kumimoji="0" lang="en-US" altLang="zh-CN" sz="12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rPr>
              <a:t>-</a:t>
            </a:r>
            <a:r>
              <a:rPr kumimoji="0" lang="zh-CN" altLang="en-US" sz="12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rPr>
              <a:t>上半年横评）</a:t>
            </a:r>
            <a:endParaRPr kumimoji="0" lang="en-US" altLang="zh-CN" sz="12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a:p>
            <a:pPr marL="285750" indent="-285750">
              <a:lnSpc>
                <a:spcPct val="110000"/>
              </a:lnSpc>
              <a:spcAft>
                <a:spcPts val="300"/>
              </a:spcAft>
              <a:buFont typeface="Wingdings" panose="05000000000000000000" pitchFamily="2" charset="2"/>
              <a:buChar char="Ø"/>
              <a:defRPr/>
            </a:pPr>
            <a:endParaRPr kumimoji="0" lang="en-US" altLang="zh-CN" sz="14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p:txBody>
      </p:sp>
      <p:sp>
        <p:nvSpPr>
          <p:cNvPr id="31" name="矩形 30"/>
          <p:cNvSpPr/>
          <p:nvPr/>
        </p:nvSpPr>
        <p:spPr>
          <a:xfrm>
            <a:off x="6797675" y="2474795"/>
            <a:ext cx="2271395" cy="165417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lang="zh-CN" altLang="en-US" sz="1400" b="1" dirty="0">
                <a:solidFill>
                  <a:srgbClr val="000000"/>
                </a:solidFill>
                <a:latin typeface="Arial" panose="020B0604020202020204"/>
                <a:ea typeface="Alibaba PuHuiTi 2.0 55 Regular"/>
              </a:rPr>
              <a:t>弱项服务根因分析</a:t>
            </a:r>
            <a:endParaRPr kumimoji="0" lang="en-US" altLang="zh-CN" sz="1400" b="1"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pitchFamily="2" charset="2"/>
              <a:buChar char="Ø"/>
              <a:defRPr/>
            </a:pPr>
            <a:r>
              <a:rPr kumimoji="0" lang="zh-CN" sz="12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rPr>
              <a:t>场景还原</a:t>
            </a:r>
            <a:r>
              <a:rPr lang="zh-CN" altLang="en-US" sz="1200" dirty="0">
                <a:solidFill>
                  <a:srgbClr val="000000"/>
                </a:solidFill>
                <a:latin typeface="Arial" panose="020B0604020202020204"/>
                <a:ea typeface="Alibaba PuHuiTi 2.0 55 Regular"/>
              </a:rPr>
              <a:t>根因挖掘</a:t>
            </a:r>
            <a:endParaRPr kumimoji="0" lang="en-US" altLang="zh-CN" sz="12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lang="zh-CN" altLang="en-US" sz="1400" b="1" dirty="0">
                <a:solidFill>
                  <a:srgbClr val="000000"/>
                </a:solidFill>
                <a:latin typeface="Arial" panose="020B0604020202020204"/>
                <a:ea typeface="Alibaba PuHuiTi 2.0 55 Regular"/>
              </a:rPr>
              <a:t>用户服务期望</a:t>
            </a:r>
            <a:endParaRPr lang="en-US" altLang="zh-CN" sz="1400" b="1" dirty="0">
              <a:solidFill>
                <a:srgbClr val="000000"/>
              </a:solidFill>
              <a:latin typeface="Arial" panose="020B0604020202020204"/>
              <a:ea typeface="Alibaba PuHuiTi 2.0 55 Regular"/>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pitchFamily="2" charset="2"/>
              <a:buChar char="Ø"/>
              <a:defRPr/>
            </a:pPr>
            <a:r>
              <a:rPr kumimoji="0" lang="zh-CN" altLang="en-US" sz="12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rPr>
              <a:t>用户认知/需求/体验/期望</a:t>
            </a: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lang="zh-CN" altLang="en-US" sz="1400" b="1" dirty="0">
                <a:solidFill>
                  <a:srgbClr val="000000"/>
                </a:solidFill>
                <a:latin typeface="Arial" panose="020B0604020202020204"/>
                <a:ea typeface="Alibaba PuHuiTi 2.0 55 Regular"/>
                <a:sym typeface="+mn-ea"/>
              </a:rPr>
              <a:t>竞品优秀案例</a:t>
            </a: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pitchFamily="2" charset="2"/>
              <a:buChar char="Ø"/>
              <a:defRPr/>
            </a:pPr>
            <a:r>
              <a:rPr kumimoji="0" lang="zh-CN" altLang="en-US" sz="1200" i="0" u="none" strike="noStrike" kern="1200" cap="none" spc="0" normalizeH="0" baseline="0" noProof="0" dirty="0">
                <a:ln>
                  <a:noFill/>
                </a:ln>
                <a:solidFill>
                  <a:srgbClr val="000000"/>
                </a:solidFill>
                <a:effectLst/>
                <a:uLnTx/>
                <a:uFillTx/>
                <a:latin typeface="Arial" panose="020B0604020202020204"/>
                <a:ea typeface="Alibaba PuHuiTi 2.0 55 Regular"/>
                <a:cs typeface="+mn-cs"/>
              </a:rPr>
              <a:t>标杆服务具体表现和支撑表现的原因</a:t>
            </a:r>
          </a:p>
        </p:txBody>
      </p:sp>
      <p:sp>
        <p:nvSpPr>
          <p:cNvPr id="32" name="矩形 31"/>
          <p:cNvSpPr/>
          <p:nvPr/>
        </p:nvSpPr>
        <p:spPr>
          <a:xfrm>
            <a:off x="6797896" y="4227837"/>
            <a:ext cx="2520000" cy="160884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lang="zh-CN" altLang="en-US" sz="1400" b="1" dirty="0">
                <a:solidFill>
                  <a:srgbClr val="000000"/>
                </a:solidFill>
                <a:latin typeface="Arial" panose="020B0604020202020204"/>
                <a:ea typeface="Alibaba PuHuiTi 2.0 55 Regular"/>
              </a:rPr>
              <a:t>用户之声收集</a:t>
            </a:r>
            <a:endParaRPr kumimoji="0" lang="en-US" altLang="zh-CN" sz="1400" b="1"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pitchFamily="2" charset="2"/>
              <a:buChar char="Ø"/>
              <a:defRPr/>
            </a:pPr>
            <a:r>
              <a:rPr lang="zh-CN" altLang="en-US" sz="1200" dirty="0">
                <a:solidFill>
                  <a:srgbClr val="000000"/>
                </a:solidFill>
                <a:latin typeface="Arial" panose="020B0604020202020204"/>
                <a:ea typeface="Alibaba PuHuiTi 2.0 55 Regular"/>
              </a:rPr>
              <a:t>用户座谈会</a:t>
            </a:r>
            <a:endParaRPr lang="en-US" altLang="zh-CN" sz="1200" dirty="0">
              <a:solidFill>
                <a:srgbClr val="000000"/>
              </a:solidFill>
              <a:latin typeface="Arial" panose="020B0604020202020204"/>
              <a:ea typeface="Alibaba PuHuiTi 2.0 55 Regular"/>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lang="zh-CN" altLang="en-US" sz="1400" b="1" dirty="0">
                <a:solidFill>
                  <a:srgbClr val="000000"/>
                </a:solidFill>
                <a:latin typeface="Arial" panose="020B0604020202020204"/>
                <a:ea typeface="Alibaba PuHuiTi 2.0 55 Regular"/>
              </a:rPr>
              <a:t>竞品优秀案例获取</a:t>
            </a:r>
            <a:endParaRPr kumimoji="0" lang="en-US" altLang="zh-CN" sz="1400" b="1"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pitchFamily="2" charset="2"/>
              <a:buChar char="Ø"/>
              <a:defRPr/>
            </a:pPr>
            <a:r>
              <a:rPr lang="zh-CN" altLang="en-US" sz="1200" dirty="0">
                <a:solidFill>
                  <a:srgbClr val="000000"/>
                </a:solidFill>
                <a:latin typeface="Arial" panose="020B0604020202020204"/>
                <a:ea typeface="Alibaba PuHuiTi 2.0 55 Regular"/>
              </a:rPr>
              <a:t>终端门店一对一深访</a:t>
            </a:r>
            <a:endParaRPr kumimoji="0" lang="en-US" altLang="zh-CN" sz="14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pitchFamily="2" charset="2"/>
              <a:buChar char="Ø"/>
              <a:defRPr/>
            </a:pPr>
            <a:endParaRPr kumimoji="0" lang="en-US" altLang="zh-CN" sz="14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a:p>
            <a:pPr marL="285750" indent="-285750">
              <a:lnSpc>
                <a:spcPct val="110000"/>
              </a:lnSpc>
              <a:spcAft>
                <a:spcPts val="300"/>
              </a:spcAft>
              <a:buFont typeface="Wingdings" panose="05000000000000000000" pitchFamily="2" charset="2"/>
              <a:buChar char="Ø"/>
              <a:defRPr/>
            </a:pPr>
            <a:endParaRPr kumimoji="0" lang="en-US" altLang="zh-CN" sz="1400" b="0"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p:txBody>
      </p:sp>
      <p:sp>
        <p:nvSpPr>
          <p:cNvPr id="33" name="矩形 32"/>
          <p:cNvSpPr/>
          <p:nvPr/>
        </p:nvSpPr>
        <p:spPr>
          <a:xfrm>
            <a:off x="9395783" y="2475005"/>
            <a:ext cx="2520000" cy="165403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lang="zh-CN" altLang="en-US" sz="1400" b="1" dirty="0">
                <a:solidFill>
                  <a:srgbClr val="000000"/>
                </a:solidFill>
                <a:latin typeface="Arial" panose="020B0604020202020204"/>
                <a:ea typeface="Alibaba PuHuiTi 2.0 55 Regular"/>
              </a:rPr>
              <a:t>弱项提升落地方案制定</a:t>
            </a:r>
            <a:endParaRPr kumimoji="0" lang="en-US" altLang="zh-CN" sz="1400" b="1"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pitchFamily="2" charset="2"/>
              <a:buChar char="Ø"/>
              <a:defRPr/>
            </a:pPr>
            <a:r>
              <a:rPr lang="zh-CN" altLang="en-US" sz="1200" dirty="0">
                <a:solidFill>
                  <a:srgbClr val="000000"/>
                </a:solidFill>
                <a:latin typeface="Arial" panose="020B0604020202020204"/>
                <a:ea typeface="Alibaba PuHuiTi 2.0 55 Regular"/>
              </a:rPr>
              <a:t>客户正向体验需求梳理</a:t>
            </a:r>
            <a:endParaRPr lang="en-US" altLang="zh-CN" sz="1200" dirty="0">
              <a:solidFill>
                <a:srgbClr val="000000"/>
              </a:solidFill>
              <a:latin typeface="Arial" panose="020B0604020202020204"/>
              <a:ea typeface="Alibaba PuHuiTi 2.0 55 Regular"/>
            </a:endParaRP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pitchFamily="2" charset="2"/>
              <a:buChar char="Ø"/>
              <a:defRPr/>
            </a:pPr>
            <a:r>
              <a:rPr lang="zh-CN" altLang="en-US" sz="1200" dirty="0">
                <a:solidFill>
                  <a:srgbClr val="000000"/>
                </a:solidFill>
                <a:latin typeface="Arial" panose="020B0604020202020204"/>
                <a:ea typeface="Alibaba PuHuiTi 2.0 55 Regular"/>
              </a:rPr>
              <a:t>共创服务提升策略及落地方案</a:t>
            </a:r>
          </a:p>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pitchFamily="2" charset="2"/>
              <a:buChar char="Ø"/>
              <a:defRPr/>
            </a:pPr>
            <a:endParaRPr kumimoji="0" lang="en-US" altLang="zh-CN" sz="1400" i="0" u="none" strike="noStrike" kern="1200" cap="none" spc="0" normalizeH="0" baseline="0" noProof="0" dirty="0">
              <a:ln>
                <a:noFill/>
              </a:ln>
              <a:solidFill>
                <a:srgbClr val="000000"/>
              </a:solidFill>
              <a:effectLst/>
              <a:uLnTx/>
              <a:uFillTx/>
              <a:latin typeface="Arial" panose="020B0604020202020204"/>
              <a:ea typeface="Alibaba PuHuiTi 2.0 55 Regular"/>
              <a:cs typeface="+mn-cs"/>
            </a:endParaRPr>
          </a:p>
        </p:txBody>
      </p:sp>
      <p:sp>
        <p:nvSpPr>
          <p:cNvPr id="34" name="矩形 33"/>
          <p:cNvSpPr/>
          <p:nvPr/>
        </p:nvSpPr>
        <p:spPr>
          <a:xfrm>
            <a:off x="9395783" y="4227837"/>
            <a:ext cx="2520000" cy="160884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914400" rtl="0" eaLnBrk="1" fontAlgn="auto" latinLnBrk="0" hangingPunct="1">
              <a:lnSpc>
                <a:spcPct val="110000"/>
              </a:lnSpc>
              <a:spcBef>
                <a:spcPts val="0"/>
              </a:spcBef>
              <a:spcAft>
                <a:spcPts val="300"/>
              </a:spcAft>
              <a:buClrTx/>
              <a:buSzTx/>
              <a:buFont typeface="Wingdings" panose="05000000000000000000" charset="0"/>
              <a:buChar char="n"/>
              <a:defRPr/>
            </a:pPr>
            <a:r>
              <a:rPr lang="zh-CN" altLang="en-US" sz="1400" b="1" dirty="0">
                <a:solidFill>
                  <a:srgbClr val="000000"/>
                </a:solidFill>
                <a:latin typeface="Arial" panose="020B0604020202020204"/>
                <a:ea typeface="Alibaba PuHuiTi 2.0 55 Regular"/>
              </a:rPr>
              <a:t>业务提升共创</a:t>
            </a:r>
            <a:endParaRPr lang="en-US" altLang="zh-CN" sz="1400" b="1" dirty="0">
              <a:solidFill>
                <a:srgbClr val="000000"/>
              </a:solidFill>
              <a:latin typeface="Arial" panose="020B0604020202020204"/>
              <a:ea typeface="Alibaba PuHuiTi 2.0 55 Regular"/>
            </a:endParaRPr>
          </a:p>
          <a:p>
            <a:pPr marL="285750" indent="-285750">
              <a:lnSpc>
                <a:spcPct val="110000"/>
              </a:lnSpc>
              <a:spcAft>
                <a:spcPts val="300"/>
              </a:spcAft>
              <a:buFont typeface="Wingdings" panose="05000000000000000000" pitchFamily="2" charset="2"/>
              <a:buChar char="Ø"/>
              <a:defRPr/>
            </a:pPr>
            <a:r>
              <a:rPr lang="zh-CN" altLang="en-US" sz="1200" dirty="0">
                <a:solidFill>
                  <a:srgbClr val="000000"/>
                </a:solidFill>
                <a:latin typeface="Arial" panose="020B0604020202020204"/>
                <a:ea typeface="Alibaba PuHuiTi 2.0 55 Regular"/>
              </a:rPr>
              <a:t>共创会（先锋用户、行业专业、内部专家）</a:t>
            </a:r>
            <a:endParaRPr lang="en-US" altLang="zh-CN" sz="1200" dirty="0">
              <a:solidFill>
                <a:srgbClr val="000000"/>
              </a:solidFill>
              <a:latin typeface="Arial" panose="020B0604020202020204"/>
              <a:ea typeface="Alibaba PuHuiTi 2.0 55 Regular"/>
            </a:endParaRPr>
          </a:p>
        </p:txBody>
      </p:sp>
      <p:sp>
        <p:nvSpPr>
          <p:cNvPr id="2" name="文本框 1">
            <a:extLst>
              <a:ext uri="{FF2B5EF4-FFF2-40B4-BE49-F238E27FC236}">
                <a16:creationId xmlns:a16="http://schemas.microsoft.com/office/drawing/2014/main" id="{D9207EBF-DD28-4D44-B67C-6E4BA17490EE}"/>
              </a:ext>
            </a:extLst>
          </p:cNvPr>
          <p:cNvSpPr txBox="1"/>
          <p:nvPr/>
        </p:nvSpPr>
        <p:spPr>
          <a:xfrm>
            <a:off x="5311170" y="1517397"/>
            <a:ext cx="1569660" cy="369332"/>
          </a:xfrm>
          <a:prstGeom prst="rect">
            <a:avLst/>
          </a:prstGeom>
          <a:noFill/>
        </p:spPr>
        <p:txBody>
          <a:bodyPr wrap="none" rtlCol="0">
            <a:spAutoFit/>
          </a:bodyPr>
          <a:lstStyle/>
          <a:p>
            <a:pPr algn="ctr"/>
            <a:r>
              <a:rPr kumimoji="1" lang="zh-CN" altLang="en-US" b="1" dirty="0"/>
              <a:t>项目研究思路</a:t>
            </a:r>
          </a:p>
        </p:txBody>
      </p:sp>
      <p:sp>
        <p:nvSpPr>
          <p:cNvPr id="3" name="文本占位符 7">
            <a:extLst>
              <a:ext uri="{FF2B5EF4-FFF2-40B4-BE49-F238E27FC236}">
                <a16:creationId xmlns:a16="http://schemas.microsoft.com/office/drawing/2014/main" id="{315901A8-ACA0-E9BB-229B-D1B03F66F414}"/>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buSzPct val="60000"/>
            </a:pPr>
            <a:r>
              <a:rPr lang="zh-CN" altLang="en-US" dirty="0">
                <a:latin typeface="+mn-ea"/>
                <a:ea typeface="+mn-ea"/>
              </a:rPr>
              <a:t>满意度横评每年执行</a:t>
            </a:r>
            <a:r>
              <a:rPr lang="en-US" altLang="zh-CN" dirty="0">
                <a:latin typeface="+mn-ea"/>
                <a:ea typeface="+mn-ea"/>
              </a:rPr>
              <a:t>2</a:t>
            </a:r>
            <a:r>
              <a:rPr lang="zh-CN" altLang="en-US" dirty="0">
                <a:latin typeface="+mn-ea"/>
                <a:ea typeface="+mn-ea"/>
              </a:rPr>
              <a:t>次，基于销售交付售后全流程服务搭建评价指标，选择本品、竞品及标杆品牌用户进行横向研究</a:t>
            </a:r>
          </a:p>
          <a:p>
            <a:pPr>
              <a:spcBef>
                <a:spcPts val="600"/>
              </a:spcBef>
              <a:buSzPct val="60000"/>
            </a:pPr>
            <a:r>
              <a:rPr lang="zh-CN" altLang="en-US" dirty="0">
                <a:latin typeface="+mn-ea"/>
                <a:ea typeface="+mn-ea"/>
              </a:rPr>
              <a:t>挖掘用户服务弱项问题及根因，找到改善方法持续提升客户满意 ，</a:t>
            </a:r>
            <a:r>
              <a:rPr lang="zh-CN" altLang="en-US" dirty="0">
                <a:latin typeface="+mn-ea"/>
                <a:ea typeface="+mn-ea"/>
                <a:sym typeface="+mn-ea"/>
              </a:rPr>
              <a:t>总体分为四大模块</a:t>
            </a:r>
            <a:endParaRPr lang="zh-CN" altLang="en-US" dirty="0">
              <a:latin typeface="+mn-ea"/>
              <a:ea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F1DF1ED-996C-73A1-EBF8-1FA00124CF96}"/>
              </a:ext>
            </a:extLst>
          </p:cNvPr>
          <p:cNvSpPr>
            <a:spLocks noGrp="1"/>
          </p:cNvSpPr>
          <p:nvPr>
            <p:ph type="body" sz="quarter" idx="14"/>
          </p:nvPr>
        </p:nvSpPr>
        <p:spPr/>
        <p:txBody>
          <a:bodyPr/>
          <a:lstStyle/>
          <a:p>
            <a:endParaRPr lang="zh-CN" altLang="en-US"/>
          </a:p>
        </p:txBody>
      </p:sp>
      <p:sp>
        <p:nvSpPr>
          <p:cNvPr id="3" name="文本占位符 2">
            <a:extLst>
              <a:ext uri="{FF2B5EF4-FFF2-40B4-BE49-F238E27FC236}">
                <a16:creationId xmlns:a16="http://schemas.microsoft.com/office/drawing/2014/main" id="{14924A48-68CD-3902-DC4F-3D19CA737024}"/>
              </a:ext>
            </a:extLst>
          </p:cNvPr>
          <p:cNvSpPr>
            <a:spLocks noGrp="1"/>
          </p:cNvSpPr>
          <p:nvPr>
            <p:ph type="body" sz="quarter" idx="21"/>
          </p:nvPr>
        </p:nvSpPr>
        <p:spPr/>
        <p:txBody>
          <a:bodyPr lIns="0" tIns="0" rIns="0" bIns="0" anchor="ctr" anchorCtr="0"/>
          <a:lstStyle/>
          <a:p>
            <a:r>
              <a:rPr lang="en-US" altLang="zh-CN" dirty="0">
                <a:latin typeface="+mn-ea"/>
                <a:ea typeface="+mn-ea"/>
              </a:rPr>
              <a:t>1.3 </a:t>
            </a:r>
            <a:r>
              <a:rPr lang="zh-CN" altLang="en-US" dirty="0">
                <a:latin typeface="+mn-ea"/>
                <a:ea typeface="+mn-ea"/>
              </a:rPr>
              <a:t>项目思路：根据项目目的和不同人群的差异，设定解读方式</a:t>
            </a:r>
          </a:p>
        </p:txBody>
      </p:sp>
      <p:sp>
        <p:nvSpPr>
          <p:cNvPr id="5" name="灯片编号占位符 4">
            <a:extLst>
              <a:ext uri="{FF2B5EF4-FFF2-40B4-BE49-F238E27FC236}">
                <a16:creationId xmlns:a16="http://schemas.microsoft.com/office/drawing/2014/main" id="{A0F88699-6939-B885-8D2D-2F057D4A1446}"/>
              </a:ext>
            </a:extLst>
          </p:cNvPr>
          <p:cNvSpPr>
            <a:spLocks noGrp="1"/>
          </p:cNvSpPr>
          <p:nvPr>
            <p:ph type="sldNum" sz="quarter" idx="4"/>
          </p:nvPr>
        </p:nvSpPr>
        <p:spPr/>
        <p:txBody>
          <a:bodyPr/>
          <a:lstStyle/>
          <a:p>
            <a:fld id="{BE00B666-AD48-5640-8D08-2A4A6036569F}" type="slidenum">
              <a:rPr lang="zh-CN" altLang="en-US" smtClean="0"/>
              <a:t>9</a:t>
            </a:fld>
            <a:endParaRPr lang="zh-CN" altLang="en-US" dirty="0"/>
          </a:p>
        </p:txBody>
      </p:sp>
      <p:graphicFrame>
        <p:nvGraphicFramePr>
          <p:cNvPr id="6" name="表格 5">
            <a:extLst>
              <a:ext uri="{FF2B5EF4-FFF2-40B4-BE49-F238E27FC236}">
                <a16:creationId xmlns:a16="http://schemas.microsoft.com/office/drawing/2014/main" id="{884ECC6E-1039-25F6-03D5-3CA41DDE3C10}"/>
              </a:ext>
            </a:extLst>
          </p:cNvPr>
          <p:cNvGraphicFramePr/>
          <p:nvPr>
            <p:custDataLst>
              <p:tags r:id="rId1"/>
            </p:custDataLst>
            <p:extLst>
              <p:ext uri="{D42A27DB-BD31-4B8C-83A1-F6EECF244321}">
                <p14:modId xmlns:p14="http://schemas.microsoft.com/office/powerpoint/2010/main" val="1439269543"/>
              </p:ext>
            </p:extLst>
          </p:nvPr>
        </p:nvGraphicFramePr>
        <p:xfrm>
          <a:off x="263525" y="1479198"/>
          <a:ext cx="11664951" cy="4993918"/>
        </p:xfrm>
        <a:graphic>
          <a:graphicData uri="http://schemas.openxmlformats.org/drawingml/2006/table">
            <a:tbl>
              <a:tblPr firstRow="1" bandRow="1">
                <a:tableStyleId>{5C22544A-7EE6-4342-B048-85BDC9FD1C3A}</a:tableStyleId>
              </a:tblPr>
              <a:tblGrid>
                <a:gridCol w="1370430">
                  <a:extLst>
                    <a:ext uri="{9D8B030D-6E8A-4147-A177-3AD203B41FA5}">
                      <a16:colId xmlns:a16="http://schemas.microsoft.com/office/drawing/2014/main" val="20000"/>
                    </a:ext>
                  </a:extLst>
                </a:gridCol>
                <a:gridCol w="3431507">
                  <a:extLst>
                    <a:ext uri="{9D8B030D-6E8A-4147-A177-3AD203B41FA5}">
                      <a16:colId xmlns:a16="http://schemas.microsoft.com/office/drawing/2014/main" val="20001"/>
                    </a:ext>
                  </a:extLst>
                </a:gridCol>
                <a:gridCol w="3431507">
                  <a:extLst>
                    <a:ext uri="{9D8B030D-6E8A-4147-A177-3AD203B41FA5}">
                      <a16:colId xmlns:a16="http://schemas.microsoft.com/office/drawing/2014/main" val="20002"/>
                    </a:ext>
                  </a:extLst>
                </a:gridCol>
                <a:gridCol w="3431507">
                  <a:extLst>
                    <a:ext uri="{9D8B030D-6E8A-4147-A177-3AD203B41FA5}">
                      <a16:colId xmlns:a16="http://schemas.microsoft.com/office/drawing/2014/main" val="374394354"/>
                    </a:ext>
                  </a:extLst>
                </a:gridCol>
              </a:tblGrid>
              <a:tr h="690498">
                <a:tc>
                  <a:txBody>
                    <a:bodyPr/>
                    <a:lstStyle/>
                    <a:p>
                      <a:pPr algn="ctr">
                        <a:buNone/>
                      </a:pPr>
                      <a:endParaRPr lang="zh-CN" altLang="en-US" sz="1600" dirty="0">
                        <a:latin typeface="+mn-ea"/>
                        <a:ea typeface="+mn-ea"/>
                      </a:endParaRPr>
                    </a:p>
                  </a:txBody>
                  <a:tcPr anchor="ctr">
                    <a:solidFill>
                      <a:srgbClr val="4B8D56"/>
                    </a:solidFill>
                  </a:tcPr>
                </a:tc>
                <a:tc>
                  <a:txBody>
                    <a:bodyPr/>
                    <a:lstStyle/>
                    <a:p>
                      <a:pPr algn="ctr">
                        <a:buNone/>
                      </a:pPr>
                      <a:r>
                        <a:rPr lang="zh-CN" altLang="en-US" sz="1600" dirty="0">
                          <a:latin typeface="+mn-ea"/>
                          <a:ea typeface="+mn-ea"/>
                        </a:rPr>
                        <a:t>车主自评</a:t>
                      </a:r>
                    </a:p>
                  </a:txBody>
                  <a:tcPr anchor="ctr">
                    <a:solidFill>
                      <a:srgbClr val="4B8D56"/>
                    </a:solidFill>
                  </a:tcPr>
                </a:tc>
                <a:tc>
                  <a:txBody>
                    <a:bodyPr/>
                    <a:lstStyle/>
                    <a:p>
                      <a:pPr algn="ctr">
                        <a:buNone/>
                      </a:pPr>
                      <a:r>
                        <a:rPr lang="zh-CN" altLang="en-US" sz="1600" dirty="0">
                          <a:latin typeface="+mn-ea"/>
                          <a:ea typeface="+mn-ea"/>
                        </a:rPr>
                        <a:t>车主战胜战败分析</a:t>
                      </a:r>
                    </a:p>
                  </a:txBody>
                  <a:tcPr anchor="ctr">
                    <a:solidFill>
                      <a:srgbClr val="4B8D56"/>
                    </a:solidFill>
                  </a:tcPr>
                </a:tc>
                <a:tc>
                  <a:txBody>
                    <a:bodyPr/>
                    <a:lstStyle/>
                    <a:p>
                      <a:pPr algn="ctr">
                        <a:buNone/>
                      </a:pPr>
                      <a:r>
                        <a:rPr lang="zh-CN" altLang="en-US" sz="1600" dirty="0">
                          <a:latin typeface="+mn-ea"/>
                          <a:ea typeface="+mn-ea"/>
                        </a:rPr>
                        <a:t>犹豫用户分析</a:t>
                      </a:r>
                      <a:endParaRPr lang="en-US" altLang="zh-CN" sz="1600" dirty="0">
                        <a:latin typeface="+mn-ea"/>
                        <a:ea typeface="+mn-ea"/>
                      </a:endParaRPr>
                    </a:p>
                  </a:txBody>
                  <a:tcPr anchor="ctr">
                    <a:solidFill>
                      <a:srgbClr val="4B8D56"/>
                    </a:solidFill>
                  </a:tcPr>
                </a:tc>
                <a:extLst>
                  <a:ext uri="{0D108BD9-81ED-4DB2-BD59-A6C34878D82A}">
                    <a16:rowId xmlns:a16="http://schemas.microsoft.com/office/drawing/2014/main" val="10000"/>
                  </a:ext>
                </a:extLst>
              </a:tr>
              <a:tr h="532205">
                <a:tc>
                  <a:txBody>
                    <a:bodyPr/>
                    <a:lstStyle/>
                    <a:p>
                      <a:pPr algn="ctr">
                        <a:buNone/>
                      </a:pPr>
                      <a:r>
                        <a:rPr lang="zh-CN" altLang="en-US" sz="1400" dirty="0">
                          <a:solidFill>
                            <a:schemeClr val="bg1"/>
                          </a:solidFill>
                          <a:latin typeface="+mn-ea"/>
                          <a:ea typeface="+mn-ea"/>
                        </a:rPr>
                        <a:t>样本条件</a:t>
                      </a:r>
                    </a:p>
                  </a:txBody>
                  <a:tcPr anchor="ctr">
                    <a:solidFill>
                      <a:schemeClr val="bg1">
                        <a:lumMod val="50000"/>
                      </a:schemeClr>
                    </a:solidFill>
                  </a:tcPr>
                </a:tc>
                <a:tc>
                  <a:txBody>
                    <a:bodyPr/>
                    <a:lstStyle/>
                    <a:p>
                      <a:pPr algn="ctr">
                        <a:buNone/>
                      </a:pPr>
                      <a:r>
                        <a:rPr lang="zh-CN" altLang="en-US" sz="1400" dirty="0">
                          <a:solidFill>
                            <a:schemeClr val="bg1"/>
                          </a:solidFill>
                          <a:latin typeface="+mn-ea"/>
                          <a:ea typeface="+mn-ea"/>
                        </a:rPr>
                        <a:t>近</a:t>
                      </a:r>
                      <a:r>
                        <a:rPr lang="en-US" altLang="zh-CN" sz="1400" dirty="0">
                          <a:solidFill>
                            <a:schemeClr val="bg1"/>
                          </a:solidFill>
                          <a:latin typeface="+mn-ea"/>
                          <a:ea typeface="+mn-ea"/>
                        </a:rPr>
                        <a:t>6</a:t>
                      </a:r>
                      <a:r>
                        <a:rPr lang="zh-CN" altLang="en-US" sz="1400" dirty="0">
                          <a:solidFill>
                            <a:schemeClr val="bg1"/>
                          </a:solidFill>
                          <a:latin typeface="+mn-ea"/>
                          <a:ea typeface="+mn-ea"/>
                        </a:rPr>
                        <a:t>个月购车的目标品牌车主，评价自己所购品牌的服务体验满意度</a:t>
                      </a:r>
                    </a:p>
                  </a:txBody>
                  <a:tcPr anchor="ct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bg1"/>
                          </a:solidFill>
                          <a:latin typeface="+mn-ea"/>
                          <a:ea typeface="+mn-ea"/>
                        </a:rPr>
                        <a:t>近</a:t>
                      </a:r>
                      <a:r>
                        <a:rPr lang="en-US" altLang="zh-CN" sz="1400" dirty="0">
                          <a:solidFill>
                            <a:schemeClr val="bg1"/>
                          </a:solidFill>
                          <a:latin typeface="+mn-ea"/>
                          <a:ea typeface="+mn-ea"/>
                        </a:rPr>
                        <a:t>6</a:t>
                      </a:r>
                      <a:r>
                        <a:rPr lang="zh-CN" altLang="en-US" sz="1400" dirty="0">
                          <a:solidFill>
                            <a:schemeClr val="bg1"/>
                          </a:solidFill>
                          <a:latin typeface="+mn-ea"/>
                          <a:ea typeface="+mn-ea"/>
                        </a:rPr>
                        <a:t>个月购车目标用户车主，同时进过某品牌和竞品门店，最终购买竞品为战败用户，最终购买本品为战胜用户</a:t>
                      </a:r>
                    </a:p>
                  </a:txBody>
                  <a:tcPr anchor="ct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bg1"/>
                          </a:solidFill>
                          <a:latin typeface="+mn-ea"/>
                          <a:ea typeface="+mn-ea"/>
                        </a:rPr>
                        <a:t>未来</a:t>
                      </a:r>
                      <a:r>
                        <a:rPr lang="en-US" altLang="zh-CN" sz="1400" dirty="0">
                          <a:solidFill>
                            <a:schemeClr val="bg1"/>
                          </a:solidFill>
                          <a:latin typeface="+mn-ea"/>
                          <a:ea typeface="+mn-ea"/>
                        </a:rPr>
                        <a:t>6</a:t>
                      </a:r>
                      <a:r>
                        <a:rPr lang="zh-CN" altLang="en-US" sz="1400" dirty="0">
                          <a:solidFill>
                            <a:schemeClr val="bg1"/>
                          </a:solidFill>
                          <a:latin typeface="+mn-ea"/>
                          <a:ea typeface="+mn-ea"/>
                        </a:rPr>
                        <a:t>个月内计划购买新能源车</a:t>
                      </a:r>
                    </a:p>
                  </a:txBody>
                  <a:tcPr anchor="ctr">
                    <a:solidFill>
                      <a:schemeClr val="bg1">
                        <a:lumMod val="50000"/>
                      </a:schemeClr>
                    </a:solidFill>
                  </a:tcPr>
                </a:tc>
                <a:extLst>
                  <a:ext uri="{0D108BD9-81ED-4DB2-BD59-A6C34878D82A}">
                    <a16:rowId xmlns:a16="http://schemas.microsoft.com/office/drawing/2014/main" val="3511791534"/>
                  </a:ext>
                </a:extLst>
              </a:tr>
              <a:tr h="521813">
                <a:tc>
                  <a:txBody>
                    <a:bodyPr/>
                    <a:lstStyle/>
                    <a:p>
                      <a:pPr algn="ctr">
                        <a:buNone/>
                      </a:pPr>
                      <a:r>
                        <a:rPr lang="zh-CN" altLang="en-US" sz="1400" dirty="0">
                          <a:latin typeface="+mn-ea"/>
                          <a:ea typeface="+mn-ea"/>
                        </a:rPr>
                        <a:t>销售服务</a:t>
                      </a:r>
                    </a:p>
                  </a:txBody>
                  <a:tcPr anchor="ctr">
                    <a:solidFill>
                      <a:schemeClr val="accent6">
                        <a:lumMod val="20000"/>
                        <a:lumOff val="80000"/>
                      </a:schemeClr>
                    </a:solidFill>
                  </a:tcPr>
                </a:tc>
                <a:tc>
                  <a:txBody>
                    <a:bodyPr/>
                    <a:lstStyle/>
                    <a:p>
                      <a:pPr algn="ctr" fontAlgn="ctr"/>
                      <a:r>
                        <a:rPr lang="zh-CN" altLang="en-US" sz="1400" b="0" i="0" u="none" strike="noStrike" dirty="0">
                          <a:solidFill>
                            <a:srgbClr val="000000"/>
                          </a:solidFill>
                          <a:effectLst/>
                          <a:latin typeface="+mn-ea"/>
                          <a:ea typeface="+mn-ea"/>
                        </a:rPr>
                        <a:t>√</a:t>
                      </a:r>
                    </a:p>
                  </a:txBody>
                  <a:tcPr anchor="ctr">
                    <a:solidFill>
                      <a:schemeClr val="accent6">
                        <a:lumMod val="20000"/>
                        <a:lumOff val="80000"/>
                      </a:schemeClr>
                    </a:solidFill>
                  </a:tcPr>
                </a:tc>
                <a:tc>
                  <a:txBody>
                    <a:bodyPr/>
                    <a:lstStyle/>
                    <a:p>
                      <a:pPr algn="ctr" fontAlgn="ctr"/>
                      <a:r>
                        <a:rPr lang="zh-CN" altLang="en-US" sz="1400" b="0" i="0" u="none" strike="noStrike" dirty="0">
                          <a:solidFill>
                            <a:srgbClr val="000000"/>
                          </a:solidFill>
                          <a:effectLst/>
                          <a:latin typeface="+mn-ea"/>
                          <a:ea typeface="+mn-ea"/>
                        </a:rPr>
                        <a:t>√</a:t>
                      </a: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0" i="0" u="none" strike="noStrike" dirty="0">
                          <a:solidFill>
                            <a:srgbClr val="000000"/>
                          </a:solidFill>
                          <a:effectLst/>
                          <a:latin typeface="+mn-ea"/>
                          <a:ea typeface="+mn-ea"/>
                        </a:rPr>
                        <a:t>√</a:t>
                      </a:r>
                    </a:p>
                  </a:txBody>
                  <a:tcPr anchor="ctr">
                    <a:solidFill>
                      <a:schemeClr val="accent6">
                        <a:lumMod val="20000"/>
                        <a:lumOff val="80000"/>
                      </a:schemeClr>
                    </a:solidFill>
                  </a:tcPr>
                </a:tc>
                <a:extLst>
                  <a:ext uri="{0D108BD9-81ED-4DB2-BD59-A6C34878D82A}">
                    <a16:rowId xmlns:a16="http://schemas.microsoft.com/office/drawing/2014/main" val="10001"/>
                  </a:ext>
                </a:extLst>
              </a:tr>
              <a:tr h="521813">
                <a:tc>
                  <a:txBody>
                    <a:bodyPr/>
                    <a:lstStyle/>
                    <a:p>
                      <a:pPr algn="ctr">
                        <a:buNone/>
                      </a:pPr>
                      <a:r>
                        <a:rPr lang="zh-CN" altLang="en-US" sz="1400">
                          <a:latin typeface="+mn-ea"/>
                          <a:ea typeface="+mn-ea"/>
                        </a:rPr>
                        <a:t>交付服务</a:t>
                      </a:r>
                    </a:p>
                  </a:txBody>
                  <a:tcPr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mn-ea"/>
                          <a:ea typeface="+mn-ea"/>
                          <a:cs typeface="+mn-cs"/>
                        </a:rPr>
                        <a:t>√</a:t>
                      </a:r>
                    </a:p>
                  </a:txBody>
                  <a:tcPr anchor="ctr">
                    <a:solidFill>
                      <a:schemeClr val="accent6">
                        <a:lumMod val="20000"/>
                        <a:lumOff val="80000"/>
                      </a:schemeClr>
                    </a:solidFill>
                  </a:tcPr>
                </a:tc>
                <a:tc>
                  <a:txBody>
                    <a:bodyPr/>
                    <a:lstStyle/>
                    <a:p>
                      <a:pPr>
                        <a:buNone/>
                      </a:pPr>
                      <a:endParaRPr lang="zh-CN" altLang="en-US" sz="1400" dirty="0">
                        <a:solidFill>
                          <a:srgbClr val="FF0000"/>
                        </a:solidFill>
                        <a:latin typeface="+mn-ea"/>
                        <a:ea typeface="+mn-ea"/>
                        <a:sym typeface="+mn-ea"/>
                      </a:endParaRPr>
                    </a:p>
                  </a:txBody>
                  <a:tcPr anchor="ctr">
                    <a:solidFill>
                      <a:schemeClr val="accent6">
                        <a:lumMod val="20000"/>
                        <a:lumOff val="80000"/>
                      </a:schemeClr>
                    </a:solidFill>
                  </a:tcPr>
                </a:tc>
                <a:tc>
                  <a:txBody>
                    <a:bodyPr/>
                    <a:lstStyle/>
                    <a:p>
                      <a:pPr>
                        <a:buNone/>
                      </a:pPr>
                      <a:endParaRPr lang="zh-CN" altLang="en-US" sz="1400" dirty="0">
                        <a:solidFill>
                          <a:srgbClr val="FF0000"/>
                        </a:solidFill>
                        <a:latin typeface="+mn-ea"/>
                        <a:ea typeface="+mn-ea"/>
                        <a:sym typeface="+mn-ea"/>
                      </a:endParaRPr>
                    </a:p>
                  </a:txBody>
                  <a:tcPr anchor="ctr">
                    <a:solidFill>
                      <a:schemeClr val="accent6">
                        <a:lumMod val="20000"/>
                        <a:lumOff val="80000"/>
                      </a:schemeClr>
                    </a:solidFill>
                  </a:tcPr>
                </a:tc>
                <a:extLst>
                  <a:ext uri="{0D108BD9-81ED-4DB2-BD59-A6C34878D82A}">
                    <a16:rowId xmlns:a16="http://schemas.microsoft.com/office/drawing/2014/main" val="10002"/>
                  </a:ext>
                </a:extLst>
              </a:tr>
              <a:tr h="521813">
                <a:tc>
                  <a:txBody>
                    <a:bodyPr/>
                    <a:lstStyle/>
                    <a:p>
                      <a:pPr algn="ctr">
                        <a:buNone/>
                      </a:pPr>
                      <a:r>
                        <a:rPr lang="zh-CN" altLang="en-US" sz="1400" dirty="0">
                          <a:latin typeface="+mn-ea"/>
                          <a:ea typeface="+mn-ea"/>
                        </a:rPr>
                        <a:t>售后服务</a:t>
                      </a:r>
                    </a:p>
                  </a:txBody>
                  <a:tcPr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mn-ea"/>
                          <a:ea typeface="+mn-ea"/>
                          <a:cs typeface="+mn-cs"/>
                        </a:rPr>
                        <a:t>√</a:t>
                      </a:r>
                    </a:p>
                  </a:txBody>
                  <a:tcPr anchor="ctr">
                    <a:solidFill>
                      <a:schemeClr val="accent6">
                        <a:lumMod val="20000"/>
                        <a:lumOff val="80000"/>
                      </a:schemeClr>
                    </a:solidFill>
                  </a:tcPr>
                </a:tc>
                <a:tc>
                  <a:txBody>
                    <a:bodyPr/>
                    <a:lstStyle/>
                    <a:p>
                      <a:pPr>
                        <a:buNone/>
                      </a:pPr>
                      <a:endParaRPr lang="zh-CN" altLang="en-US" sz="1400" dirty="0">
                        <a:solidFill>
                          <a:srgbClr val="FF0000"/>
                        </a:solidFill>
                        <a:latin typeface="+mn-ea"/>
                        <a:ea typeface="+mn-ea"/>
                        <a:sym typeface="+mn-ea"/>
                      </a:endParaRPr>
                    </a:p>
                  </a:txBody>
                  <a:tcPr anchor="ctr">
                    <a:solidFill>
                      <a:schemeClr val="accent6">
                        <a:lumMod val="20000"/>
                        <a:lumOff val="80000"/>
                      </a:schemeClr>
                    </a:solidFill>
                  </a:tcPr>
                </a:tc>
                <a:tc>
                  <a:txBody>
                    <a:bodyPr/>
                    <a:lstStyle/>
                    <a:p>
                      <a:pPr>
                        <a:buNone/>
                      </a:pPr>
                      <a:endParaRPr lang="zh-CN" altLang="en-US" sz="1400" dirty="0">
                        <a:solidFill>
                          <a:srgbClr val="FF0000"/>
                        </a:solidFill>
                        <a:latin typeface="+mn-ea"/>
                        <a:ea typeface="+mn-ea"/>
                        <a:sym typeface="+mn-ea"/>
                      </a:endParaRPr>
                    </a:p>
                  </a:txBody>
                  <a:tcPr anchor="ctr">
                    <a:solidFill>
                      <a:schemeClr val="accent6">
                        <a:lumMod val="20000"/>
                        <a:lumOff val="80000"/>
                      </a:schemeClr>
                    </a:solidFill>
                  </a:tcPr>
                </a:tc>
                <a:extLst>
                  <a:ext uri="{0D108BD9-81ED-4DB2-BD59-A6C34878D82A}">
                    <a16:rowId xmlns:a16="http://schemas.microsoft.com/office/drawing/2014/main" val="10003"/>
                  </a:ext>
                </a:extLst>
              </a:tr>
              <a:tr h="957704">
                <a:tc>
                  <a:txBody>
                    <a:bodyPr/>
                    <a:lstStyle/>
                    <a:p>
                      <a:pPr algn="ctr">
                        <a:buNone/>
                      </a:pPr>
                      <a:r>
                        <a:rPr lang="zh-CN" altLang="en-US" sz="1400" dirty="0">
                          <a:solidFill>
                            <a:schemeClr val="bg1"/>
                          </a:solidFill>
                          <a:latin typeface="+mn-ea"/>
                          <a:ea typeface="+mn-ea"/>
                        </a:rPr>
                        <a:t>价值点</a:t>
                      </a:r>
                    </a:p>
                  </a:txBody>
                  <a:tcPr anchor="ctr">
                    <a:solidFill>
                      <a:schemeClr val="accent3"/>
                    </a:solidFill>
                  </a:tcPr>
                </a:tc>
                <a:tc>
                  <a:txBody>
                    <a:bodyPr/>
                    <a:lstStyle/>
                    <a:p>
                      <a:pPr>
                        <a:buNone/>
                      </a:pPr>
                      <a:r>
                        <a:rPr lang="zh-CN" altLang="en-US" sz="1400" dirty="0">
                          <a:solidFill>
                            <a:schemeClr val="bg1"/>
                          </a:solidFill>
                          <a:latin typeface="+mn-ea"/>
                          <a:ea typeface="+mn-ea"/>
                          <a:sym typeface="+mn-ea"/>
                        </a:rPr>
                        <a:t>评价各品牌服务满意度管理的优劣势</a:t>
                      </a:r>
                      <a:endParaRPr lang="zh-CN" altLang="en-US" sz="1400" dirty="0">
                        <a:solidFill>
                          <a:schemeClr val="bg1"/>
                        </a:solidFill>
                        <a:latin typeface="+mn-ea"/>
                        <a:ea typeface="+mn-ea"/>
                      </a:endParaRPr>
                    </a:p>
                  </a:txBody>
                  <a:tcPr anchor="ctr">
                    <a:solidFill>
                      <a:schemeClr val="accent3"/>
                    </a:solidFill>
                  </a:tcPr>
                </a:tc>
                <a:tc>
                  <a:txBody>
                    <a:bodyPr/>
                    <a:lstStyle/>
                    <a:p>
                      <a:pPr>
                        <a:buNone/>
                      </a:pPr>
                      <a:r>
                        <a:rPr lang="zh-CN" altLang="en-US" sz="1400" dirty="0">
                          <a:solidFill>
                            <a:schemeClr val="bg1"/>
                          </a:solidFill>
                          <a:latin typeface="+mn-ea"/>
                          <a:ea typeface="+mn-ea"/>
                        </a:rPr>
                        <a:t>识别各品牌服务满意度管理的比较优势和比较劣势</a:t>
                      </a:r>
                    </a:p>
                  </a:txBody>
                  <a:tcPr anchor="ctr">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bg1"/>
                          </a:solidFill>
                          <a:latin typeface="+mn-ea"/>
                          <a:ea typeface="+mn-ea"/>
                        </a:rPr>
                        <a:t>了解未购车用户对服务关注点和期望是什么</a:t>
                      </a:r>
                    </a:p>
                  </a:txBody>
                  <a:tcPr anchor="ctr">
                    <a:solidFill>
                      <a:schemeClr val="accent3"/>
                    </a:solidFill>
                  </a:tcPr>
                </a:tc>
                <a:extLst>
                  <a:ext uri="{0D108BD9-81ED-4DB2-BD59-A6C34878D82A}">
                    <a16:rowId xmlns:a16="http://schemas.microsoft.com/office/drawing/2014/main" val="10005"/>
                  </a:ext>
                </a:extLst>
              </a:tr>
              <a:tr h="1048757">
                <a:tc>
                  <a:txBody>
                    <a:bodyPr/>
                    <a:lstStyle/>
                    <a:p>
                      <a:pPr algn="ctr">
                        <a:buNone/>
                      </a:pPr>
                      <a:r>
                        <a:rPr lang="zh-CN" altLang="en-US" sz="1400" dirty="0">
                          <a:latin typeface="+mn-ea"/>
                          <a:ea typeface="+mn-ea"/>
                        </a:rPr>
                        <a:t>研究目的</a:t>
                      </a:r>
                      <a:endParaRPr lang="en-US" altLang="zh-CN" sz="1400" dirty="0">
                        <a:latin typeface="+mn-ea"/>
                        <a:ea typeface="+mn-ea"/>
                      </a:endParaRPr>
                    </a:p>
                    <a:p>
                      <a:pPr algn="ctr">
                        <a:buNone/>
                      </a:pPr>
                      <a:r>
                        <a:rPr lang="en-US" altLang="zh-CN" sz="1400" dirty="0">
                          <a:latin typeface="+mn-ea"/>
                          <a:ea typeface="+mn-ea"/>
                        </a:rPr>
                        <a:t>/</a:t>
                      </a:r>
                      <a:r>
                        <a:rPr lang="zh-CN" altLang="en-US" sz="1400" dirty="0">
                          <a:latin typeface="+mn-ea"/>
                          <a:ea typeface="+mn-ea"/>
                        </a:rPr>
                        <a:t>内容输出</a:t>
                      </a:r>
                    </a:p>
                  </a:txBody>
                  <a:tcPr anchor="ctr">
                    <a:solidFill>
                      <a:srgbClr val="E3E1C4"/>
                    </a:solidFill>
                  </a:tcPr>
                </a:tc>
                <a:tc>
                  <a:txBody>
                    <a:bodyPr/>
                    <a:lstStyle/>
                    <a:p>
                      <a:pPr marL="0" indent="0">
                        <a:spcAft>
                          <a:spcPts val="600"/>
                        </a:spcAft>
                        <a:buFont typeface="Arial" panose="020B0604020202020204" pitchFamily="34" charset="0"/>
                        <a:buNone/>
                      </a:pPr>
                      <a:r>
                        <a:rPr lang="zh-CN" altLang="en-US" sz="1400" dirty="0">
                          <a:latin typeface="+mn-ea"/>
                          <a:ea typeface="+mn-ea"/>
                        </a:rPr>
                        <a:t>车主自评打分反应出具体服务项与心理预期的差距</a:t>
                      </a:r>
                      <a:endParaRPr lang="en-US" altLang="zh-CN" sz="1400" dirty="0">
                        <a:latin typeface="+mn-ea"/>
                        <a:ea typeface="+mn-ea"/>
                      </a:endParaRPr>
                    </a:p>
                    <a:p>
                      <a:pPr marL="0" indent="0">
                        <a:spcAft>
                          <a:spcPts val="600"/>
                        </a:spcAft>
                        <a:buFont typeface="Arial" panose="020B0604020202020204" pitchFamily="34" charset="0"/>
                        <a:buNone/>
                      </a:pPr>
                      <a:r>
                        <a:rPr lang="zh-CN" altLang="en-US" sz="1400" b="1" dirty="0">
                          <a:solidFill>
                            <a:srgbClr val="4654FF"/>
                          </a:solidFill>
                          <a:latin typeface="+mn-ea"/>
                          <a:ea typeface="+mn-ea"/>
                        </a:rPr>
                        <a:t>自评结果反映某品牌</a:t>
                      </a:r>
                      <a:r>
                        <a:rPr lang="en-US" altLang="zh-CN" sz="1400" b="1" dirty="0">
                          <a:solidFill>
                            <a:srgbClr val="4654FF"/>
                          </a:solidFill>
                          <a:latin typeface="+mn-ea"/>
                          <a:ea typeface="+mn-ea"/>
                        </a:rPr>
                        <a:t>/</a:t>
                      </a:r>
                      <a:r>
                        <a:rPr lang="zh-CN" altLang="en-US" sz="1400" b="1" dirty="0">
                          <a:solidFill>
                            <a:srgbClr val="4654FF"/>
                          </a:solidFill>
                          <a:latin typeface="+mn-ea"/>
                          <a:ea typeface="+mn-ea"/>
                        </a:rPr>
                        <a:t>……的服务是否得到了车主的认可</a:t>
                      </a:r>
                    </a:p>
                  </a:txBody>
                  <a:tcPr anchor="ctr">
                    <a:solidFill>
                      <a:srgbClr val="E3E1C4"/>
                    </a:solidFill>
                  </a:tcPr>
                </a:tc>
                <a:tc>
                  <a:txBody>
                    <a:bodyPr/>
                    <a:lstStyle/>
                    <a:p>
                      <a:pPr marL="0" indent="0">
                        <a:spcAft>
                          <a:spcPts val="600"/>
                        </a:spcAft>
                        <a:buFont typeface="Arial" panose="020B0604020202020204" pitchFamily="34" charset="0"/>
                        <a:buNone/>
                      </a:pPr>
                      <a:r>
                        <a:rPr lang="zh-CN" altLang="en-US" sz="1400" dirty="0">
                          <a:latin typeface="+mn-ea"/>
                          <a:ea typeface="+mn-ea"/>
                        </a:rPr>
                        <a:t>体验了两个品牌的服务后给出的评价</a:t>
                      </a:r>
                      <a:endParaRPr lang="en-US" altLang="zh-CN" sz="1400" dirty="0">
                        <a:latin typeface="+mn-ea"/>
                        <a:ea typeface="+mn-ea"/>
                      </a:endParaRPr>
                    </a:p>
                    <a:p>
                      <a:pPr marL="0" indent="0">
                        <a:spcAft>
                          <a:spcPts val="600"/>
                        </a:spcAft>
                        <a:buFont typeface="Arial" panose="020B0604020202020204" pitchFamily="34" charset="0"/>
                        <a:buNone/>
                      </a:pPr>
                      <a:r>
                        <a:rPr lang="zh-CN" altLang="en-US" sz="1400" b="1" dirty="0">
                          <a:solidFill>
                            <a:srgbClr val="4654FF"/>
                          </a:solidFill>
                          <a:latin typeface="+mn-ea"/>
                          <a:ea typeface="+mn-ea"/>
                        </a:rPr>
                        <a:t>同一用户视角下，某品牌</a:t>
                      </a:r>
                      <a:r>
                        <a:rPr lang="en-US" altLang="zh-CN" sz="1400" b="1" dirty="0">
                          <a:solidFill>
                            <a:srgbClr val="4654FF"/>
                          </a:solidFill>
                          <a:latin typeface="+mn-ea"/>
                          <a:ea typeface="+mn-ea"/>
                        </a:rPr>
                        <a:t>vs</a:t>
                      </a:r>
                      <a:r>
                        <a:rPr lang="zh-CN" altLang="en-US" sz="1400" b="1" dirty="0">
                          <a:solidFill>
                            <a:srgbClr val="4654FF"/>
                          </a:solidFill>
                          <a:latin typeface="+mn-ea"/>
                          <a:ea typeface="+mn-ea"/>
                        </a:rPr>
                        <a:t>竞品的优劣势</a:t>
                      </a:r>
                    </a:p>
                  </a:txBody>
                  <a:tcPr anchor="ctr">
                    <a:solidFill>
                      <a:srgbClr val="E3E1C4"/>
                    </a:solidFill>
                  </a:tcPr>
                </a:tc>
                <a:tc>
                  <a:txBody>
                    <a:bodyPr/>
                    <a:lstStyle/>
                    <a:p>
                      <a:pPr marL="0" indent="0" algn="l" defTabSz="914400" rtl="0" eaLnBrk="1" latinLnBrk="0" hangingPunct="1">
                        <a:spcAft>
                          <a:spcPts val="600"/>
                        </a:spcAft>
                        <a:buFont typeface="Arial" panose="020B0604020202020204" pitchFamily="34" charset="0"/>
                        <a:buNone/>
                      </a:pPr>
                      <a:r>
                        <a:rPr lang="zh-CN" altLang="en-US" sz="1400" kern="1200" dirty="0">
                          <a:solidFill>
                            <a:schemeClr val="dk1"/>
                          </a:solidFill>
                          <a:latin typeface="+mn-ea"/>
                          <a:ea typeface="+mn-ea"/>
                          <a:cs typeface="+mn-cs"/>
                        </a:rPr>
                        <a:t>从中立角度看某品牌和竞品服务差异</a:t>
                      </a:r>
                      <a:endParaRPr lang="en-US" altLang="zh-CN" sz="1400" kern="1200" dirty="0">
                        <a:solidFill>
                          <a:schemeClr val="dk1"/>
                        </a:solidFill>
                        <a:latin typeface="+mn-ea"/>
                        <a:ea typeface="+mn-ea"/>
                        <a:cs typeface="+mn-cs"/>
                      </a:endParaRPr>
                    </a:p>
                    <a:p>
                      <a:pPr marL="0" indent="0">
                        <a:spcAft>
                          <a:spcPts val="600"/>
                        </a:spcAft>
                        <a:buFont typeface="Arial" panose="020B0604020202020204" pitchFamily="34" charset="0"/>
                        <a:buNone/>
                      </a:pPr>
                      <a:r>
                        <a:rPr lang="zh-CN" altLang="en-US" sz="1400" b="1" dirty="0">
                          <a:solidFill>
                            <a:srgbClr val="4654FF"/>
                          </a:solidFill>
                          <a:latin typeface="+mn-ea"/>
                          <a:ea typeface="+mn-ea"/>
                        </a:rPr>
                        <a:t>在没有车主光环情况下，某品牌</a:t>
                      </a:r>
                      <a:r>
                        <a:rPr lang="en-US" altLang="zh-CN" sz="1400" b="1" dirty="0">
                          <a:solidFill>
                            <a:srgbClr val="4654FF"/>
                          </a:solidFill>
                          <a:latin typeface="+mn-ea"/>
                          <a:ea typeface="+mn-ea"/>
                        </a:rPr>
                        <a:t>vs</a:t>
                      </a:r>
                      <a:r>
                        <a:rPr lang="zh-CN" altLang="en-US" sz="1400" b="1" dirty="0">
                          <a:solidFill>
                            <a:srgbClr val="4654FF"/>
                          </a:solidFill>
                          <a:latin typeface="+mn-ea"/>
                          <a:ea typeface="+mn-ea"/>
                        </a:rPr>
                        <a:t>竞品的优劣势</a:t>
                      </a:r>
                    </a:p>
                  </a:txBody>
                  <a:tcPr anchor="ctr">
                    <a:solidFill>
                      <a:srgbClr val="E3E1C4"/>
                    </a:solidFill>
                  </a:tcPr>
                </a:tc>
                <a:extLst>
                  <a:ext uri="{0D108BD9-81ED-4DB2-BD59-A6C34878D82A}">
                    <a16:rowId xmlns:a16="http://schemas.microsoft.com/office/drawing/2014/main" val="386120370"/>
                  </a:ext>
                </a:extLst>
              </a:tr>
            </a:tbl>
          </a:graphicData>
        </a:graphic>
      </p:graphicFrame>
      <p:sp>
        <p:nvSpPr>
          <p:cNvPr id="8" name="文本占位符 7">
            <a:extLst>
              <a:ext uri="{FF2B5EF4-FFF2-40B4-BE49-F238E27FC236}">
                <a16:creationId xmlns:a16="http://schemas.microsoft.com/office/drawing/2014/main" id="{74F67231-BB1B-0BB7-E0F4-BB19CD33CEF0}"/>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dirty="0">
                <a:sym typeface="+mn-ea"/>
              </a:rPr>
              <a:t>定量中，</a:t>
            </a:r>
            <a:r>
              <a:rPr lang="zh-CN" altLang="en-US" sz="1600" b="1" dirty="0">
                <a:sym typeface="+mn-ea"/>
              </a:rPr>
              <a:t>销售服务</a:t>
            </a:r>
            <a:r>
              <a:rPr lang="zh-CN" altLang="en-US" sz="1600" dirty="0">
                <a:sym typeface="+mn-ea"/>
              </a:rPr>
              <a:t>评价包含</a:t>
            </a:r>
            <a:r>
              <a:rPr lang="zh-CN" altLang="en-US" sz="1600" dirty="0">
                <a:solidFill>
                  <a:srgbClr val="C00000"/>
                </a:solidFill>
                <a:sym typeface="+mn-ea"/>
              </a:rPr>
              <a:t>车主</a:t>
            </a:r>
            <a:r>
              <a:rPr lang="zh-CN" altLang="en-US" dirty="0">
                <a:solidFill>
                  <a:srgbClr val="C00000"/>
                </a:solidFill>
                <a:sym typeface="+mn-ea"/>
              </a:rPr>
              <a:t>自评、车主</a:t>
            </a:r>
            <a:r>
              <a:rPr lang="zh-CN" altLang="en-US" sz="1600" dirty="0">
                <a:solidFill>
                  <a:srgbClr val="C00000"/>
                </a:solidFill>
                <a:sym typeface="+mn-ea"/>
              </a:rPr>
              <a:t>战胜战败、犹豫用户</a:t>
            </a:r>
            <a:r>
              <a:rPr lang="zh-CN" altLang="en-US" sz="1600" dirty="0">
                <a:sym typeface="+mn-ea"/>
              </a:rPr>
              <a:t>结果，而交付</a:t>
            </a:r>
            <a:r>
              <a:rPr lang="en-US" altLang="zh-CN" sz="1600" dirty="0">
                <a:sym typeface="+mn-ea"/>
              </a:rPr>
              <a:t>/</a:t>
            </a:r>
            <a:r>
              <a:rPr lang="zh-CN" altLang="en-US" sz="1600" dirty="0">
                <a:sym typeface="+mn-ea"/>
              </a:rPr>
              <a:t>售后</a:t>
            </a:r>
            <a:r>
              <a:rPr lang="zh-CN" altLang="en-US" dirty="0">
                <a:sym typeface="+mn-ea"/>
              </a:rPr>
              <a:t>为</a:t>
            </a:r>
            <a:r>
              <a:rPr lang="zh-CN" altLang="en-US" sz="1600" dirty="0">
                <a:sym typeface="+mn-ea"/>
              </a:rPr>
              <a:t>自评结果</a:t>
            </a:r>
            <a:endParaRPr lang="zh-CN" altLang="en-US" sz="1600" dirty="0"/>
          </a:p>
        </p:txBody>
      </p:sp>
    </p:spTree>
    <p:extLst>
      <p:ext uri="{BB962C8B-B14F-4D97-AF65-F5344CB8AC3E}">
        <p14:creationId xmlns:p14="http://schemas.microsoft.com/office/powerpoint/2010/main" val="2034694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21"/>
          </p:nvPr>
        </p:nvSpPr>
        <p:spPr/>
        <p:txBody>
          <a:bodyPr lIns="0" tIns="0" rIns="0" bIns="0" anchor="ctr" anchorCtr="0"/>
          <a:lstStyle/>
          <a:p>
            <a:r>
              <a:rPr lang="en-US" altLang="zh-CN" dirty="0">
                <a:latin typeface="+mn-ea"/>
                <a:ea typeface="+mn-ea"/>
              </a:rPr>
              <a:t>1.3 </a:t>
            </a:r>
            <a:r>
              <a:rPr lang="zh-CN" altLang="en-US" dirty="0">
                <a:latin typeface="+mn-ea"/>
                <a:ea typeface="+mn-ea"/>
              </a:rPr>
              <a:t>项目设计：具体样本</a:t>
            </a:r>
          </a:p>
        </p:txBody>
      </p:sp>
      <p:sp>
        <p:nvSpPr>
          <p:cNvPr id="5" name="灯片编号占位符 4"/>
          <p:cNvSpPr>
            <a:spLocks noGrp="1"/>
          </p:cNvSpPr>
          <p:nvPr>
            <p:ph type="sldNum" sz="quarter" idx="4"/>
          </p:nvPr>
        </p:nvSpPr>
        <p:spPr/>
        <p:txBody>
          <a:bodyPr/>
          <a:lstStyle/>
          <a:p>
            <a:fld id="{5BC33376-1D8B-E948-ACD6-AA21A3D30A8E}" type="slidenum">
              <a:rPr lang="zh-CN" altLang="en-US" smtClean="0"/>
              <a:t>10</a:t>
            </a:fld>
            <a:endParaRPr lang="zh-CN" altLang="en-US" dirty="0"/>
          </a:p>
        </p:txBody>
      </p:sp>
      <p:graphicFrame>
        <p:nvGraphicFramePr>
          <p:cNvPr id="9" name="表格 8"/>
          <p:cNvGraphicFramePr>
            <a:graphicFrameLocks noGrp="1"/>
          </p:cNvGraphicFramePr>
          <p:nvPr/>
        </p:nvGraphicFramePr>
        <p:xfrm>
          <a:off x="263525" y="1494399"/>
          <a:ext cx="11664951" cy="4493676"/>
        </p:xfrm>
        <a:graphic>
          <a:graphicData uri="http://schemas.openxmlformats.org/drawingml/2006/table">
            <a:tbl>
              <a:tblPr firstRow="1">
                <a:tableStyleId>{C083E6E3-FA7D-4D7B-A595-EF9225AFEA82}</a:tableStyleId>
              </a:tblPr>
              <a:tblGrid>
                <a:gridCol w="1560121">
                  <a:extLst>
                    <a:ext uri="{9D8B030D-6E8A-4147-A177-3AD203B41FA5}">
                      <a16:colId xmlns:a16="http://schemas.microsoft.com/office/drawing/2014/main" val="20000"/>
                    </a:ext>
                  </a:extLst>
                </a:gridCol>
                <a:gridCol w="1010483">
                  <a:extLst>
                    <a:ext uri="{9D8B030D-6E8A-4147-A177-3AD203B41FA5}">
                      <a16:colId xmlns:a16="http://schemas.microsoft.com/office/drawing/2014/main" val="20001"/>
                    </a:ext>
                  </a:extLst>
                </a:gridCol>
                <a:gridCol w="1010483">
                  <a:extLst>
                    <a:ext uri="{9D8B030D-6E8A-4147-A177-3AD203B41FA5}">
                      <a16:colId xmlns:a16="http://schemas.microsoft.com/office/drawing/2014/main" val="20002"/>
                    </a:ext>
                  </a:extLst>
                </a:gridCol>
                <a:gridCol w="1010483">
                  <a:extLst>
                    <a:ext uri="{9D8B030D-6E8A-4147-A177-3AD203B41FA5}">
                      <a16:colId xmlns:a16="http://schemas.microsoft.com/office/drawing/2014/main" val="20003"/>
                    </a:ext>
                  </a:extLst>
                </a:gridCol>
                <a:gridCol w="1010483">
                  <a:extLst>
                    <a:ext uri="{9D8B030D-6E8A-4147-A177-3AD203B41FA5}">
                      <a16:colId xmlns:a16="http://schemas.microsoft.com/office/drawing/2014/main" val="20004"/>
                    </a:ext>
                  </a:extLst>
                </a:gridCol>
                <a:gridCol w="1010483">
                  <a:extLst>
                    <a:ext uri="{9D8B030D-6E8A-4147-A177-3AD203B41FA5}">
                      <a16:colId xmlns:a16="http://schemas.microsoft.com/office/drawing/2014/main" val="20005"/>
                    </a:ext>
                  </a:extLst>
                </a:gridCol>
                <a:gridCol w="1010483">
                  <a:extLst>
                    <a:ext uri="{9D8B030D-6E8A-4147-A177-3AD203B41FA5}">
                      <a16:colId xmlns:a16="http://schemas.microsoft.com/office/drawing/2014/main" val="20006"/>
                    </a:ext>
                  </a:extLst>
                </a:gridCol>
                <a:gridCol w="1010483">
                  <a:extLst>
                    <a:ext uri="{9D8B030D-6E8A-4147-A177-3AD203B41FA5}">
                      <a16:colId xmlns:a16="http://schemas.microsoft.com/office/drawing/2014/main" val="20007"/>
                    </a:ext>
                  </a:extLst>
                </a:gridCol>
                <a:gridCol w="1010483">
                  <a:extLst>
                    <a:ext uri="{9D8B030D-6E8A-4147-A177-3AD203B41FA5}">
                      <a16:colId xmlns:a16="http://schemas.microsoft.com/office/drawing/2014/main" val="20008"/>
                    </a:ext>
                  </a:extLst>
                </a:gridCol>
                <a:gridCol w="1010483">
                  <a:extLst>
                    <a:ext uri="{9D8B030D-6E8A-4147-A177-3AD203B41FA5}">
                      <a16:colId xmlns:a16="http://schemas.microsoft.com/office/drawing/2014/main" val="20009"/>
                    </a:ext>
                  </a:extLst>
                </a:gridCol>
                <a:gridCol w="1010483">
                  <a:extLst>
                    <a:ext uri="{9D8B030D-6E8A-4147-A177-3AD203B41FA5}">
                      <a16:colId xmlns:a16="http://schemas.microsoft.com/office/drawing/2014/main" val="20010"/>
                    </a:ext>
                  </a:extLst>
                </a:gridCol>
              </a:tblGrid>
              <a:tr h="647610">
                <a:tc>
                  <a:txBody>
                    <a:bodyPr/>
                    <a:lstStyle/>
                    <a:p>
                      <a:pPr marL="0" indent="0" algn="ctr">
                        <a:buFont typeface="Arial" panose="020B0604020202020204" pitchFamily="34" charset="0"/>
                        <a:buNone/>
                      </a:pPr>
                      <a:r>
                        <a:rPr lang="en-US" altLang="zh-CN" sz="1100" b="1" dirty="0">
                          <a:solidFill>
                            <a:schemeClr val="bg1"/>
                          </a:solidFill>
                          <a:latin typeface="微软雅黑" panose="020B0503020204020204" pitchFamily="34" charset="-122"/>
                          <a:ea typeface="Alibaba PuHuiTi 2.0 55 Regular"/>
                        </a:rPr>
                        <a:t>2023H2</a:t>
                      </a:r>
                      <a:endParaRPr lang="zh-CN" altLang="en-US" sz="1100" b="1" dirty="0">
                        <a:solidFill>
                          <a:schemeClr val="bg1"/>
                        </a:solidFill>
                        <a:latin typeface="微软雅黑" panose="020B0503020204020204" pitchFamily="34" charset="-122"/>
                        <a:ea typeface="Alibaba PuHuiTi 2.0 55 Regular"/>
                      </a:endParaRP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4B8D56"/>
                    </a:solidFill>
                  </a:tcPr>
                </a:tc>
                <a:tc gridSpan="2">
                  <a:txBody>
                    <a:bodyPr/>
                    <a:lstStyle/>
                    <a:p>
                      <a:pPr marL="0" indent="0" algn="ctr">
                        <a:buFont typeface="Arial" panose="020B0604020202020204" pitchFamily="34" charset="0"/>
                        <a:buNone/>
                      </a:pPr>
                      <a:r>
                        <a:rPr lang="zh-CN" altLang="en-US" sz="1100" b="1" dirty="0">
                          <a:solidFill>
                            <a:schemeClr val="bg1"/>
                          </a:solidFill>
                          <a:latin typeface="微软雅黑" panose="020B0503020204020204" pitchFamily="34" charset="-122"/>
                          <a:ea typeface="Alibaba PuHuiTi 2.0 55 Regular"/>
                        </a:rPr>
                        <a:t>定量</a:t>
                      </a:r>
                      <a:r>
                        <a:rPr lang="en-US" altLang="zh-CN" sz="1100" b="1" dirty="0">
                          <a:solidFill>
                            <a:schemeClr val="bg1"/>
                          </a:solidFill>
                          <a:latin typeface="微软雅黑" panose="020B0503020204020204" pitchFamily="34" charset="-122"/>
                          <a:ea typeface="Alibaba PuHuiTi 2.0 55 Regular"/>
                        </a:rPr>
                        <a:t>-</a:t>
                      </a:r>
                      <a:r>
                        <a:rPr lang="zh-CN" altLang="en-US" sz="1100" b="1" dirty="0">
                          <a:solidFill>
                            <a:schemeClr val="bg1"/>
                          </a:solidFill>
                          <a:latin typeface="微软雅黑" panose="020B0503020204020204" pitchFamily="34" charset="-122"/>
                          <a:ea typeface="Alibaba PuHuiTi 2.0 55 Regular"/>
                        </a:rPr>
                        <a:t>用户面访</a:t>
                      </a: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4B8D56"/>
                    </a:solidFill>
                  </a:tcPr>
                </a:tc>
                <a:tc hMerge="1">
                  <a:txBody>
                    <a:bodyPr/>
                    <a:lstStyle/>
                    <a:p>
                      <a:endParaRPr lang="zh-CN"/>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dirty="0">
                          <a:solidFill>
                            <a:schemeClr val="bg1"/>
                          </a:solidFill>
                          <a:latin typeface="微软雅黑" panose="020B0503020204020204" pitchFamily="34" charset="-122"/>
                          <a:ea typeface="Alibaba PuHuiTi 2.0 55 Regular"/>
                        </a:rPr>
                        <a:t>定性</a:t>
                      </a:r>
                      <a:r>
                        <a:rPr lang="en-US" altLang="zh-CN" sz="1200" b="1" dirty="0">
                          <a:solidFill>
                            <a:schemeClr val="bg1"/>
                          </a:solidFill>
                          <a:latin typeface="微软雅黑" panose="020B0503020204020204" pitchFamily="34" charset="-122"/>
                          <a:ea typeface="Alibaba PuHuiTi 2.0 55 Regular"/>
                        </a:rPr>
                        <a:t>-</a:t>
                      </a:r>
                      <a:r>
                        <a:rPr lang="zh-CN" altLang="en-US" sz="1200" b="1" dirty="0">
                          <a:solidFill>
                            <a:schemeClr val="bg1"/>
                          </a:solidFill>
                          <a:latin typeface="微软雅黑" panose="020B0503020204020204" pitchFamily="34" charset="-122"/>
                          <a:ea typeface="Alibaba PuHuiTi 2.0 55 Regular"/>
                        </a:rPr>
                        <a:t>用户座谈会</a:t>
                      </a:r>
                      <a:endParaRPr lang="zh-CN" altLang="en-US" sz="1000" b="1" i="1" dirty="0">
                        <a:solidFill>
                          <a:schemeClr val="bg1"/>
                        </a:solidFill>
                        <a:latin typeface="微软雅黑" panose="020B0503020204020204" pitchFamily="34" charset="-122"/>
                        <a:ea typeface="Alibaba PuHuiTi 2.0 55 Regular"/>
                      </a:endParaRPr>
                    </a:p>
                  </a:txBody>
                  <a:tcPr marL="0" marR="0" marT="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4B8D56"/>
                    </a:solidFill>
                  </a:tcPr>
                </a:tc>
                <a:tc hMerge="1">
                  <a:txBody>
                    <a:bodyPr/>
                    <a:lstStyle/>
                    <a:p>
                      <a:endParaRPr lang="zh-CN"/>
                    </a:p>
                  </a:txBody>
                  <a:tcPr marL="0" marR="0" marT="0" marB="0">
                    <a:lnL w="9525" cap="flat" cmpd="sng" algn="ctr">
                      <a:solidFill>
                        <a:schemeClr val="bg1">
                          <a:lumMod val="50000"/>
                        </a:schemeClr>
                      </a:solidFill>
                      <a:prstDash val="solid"/>
                      <a:round/>
                      <a:headEnd type="none" w="med" len="med"/>
                      <a:tailEnd type="none" w="med" len="med"/>
                    </a:ln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bg1"/>
                          </a:solidFill>
                          <a:effectLst/>
                          <a:uLnTx/>
                          <a:uFillTx/>
                          <a:latin typeface="微软雅黑" panose="020B0503020204020204" pitchFamily="34" charset="-122"/>
                          <a:ea typeface="Alibaba PuHuiTi 2.0 55 Regular"/>
                          <a:cs typeface="+mn-cs"/>
                        </a:rPr>
                        <a:t>定性</a:t>
                      </a:r>
                      <a:r>
                        <a:rPr kumimoji="0" lang="en-US" altLang="zh-CN" sz="1100" b="1" i="0" u="none" strike="noStrike" kern="1200" cap="none" spc="0" normalizeH="0" baseline="0" noProof="0" dirty="0">
                          <a:ln>
                            <a:noFill/>
                          </a:ln>
                          <a:solidFill>
                            <a:schemeClr val="bg1"/>
                          </a:solidFill>
                          <a:effectLst/>
                          <a:uLnTx/>
                          <a:uFillTx/>
                          <a:latin typeface="微软雅黑" panose="020B0503020204020204" pitchFamily="34" charset="-122"/>
                          <a:ea typeface="Alibaba PuHuiTi 2.0 55 Regular"/>
                          <a:cs typeface="+mn-cs"/>
                        </a:rPr>
                        <a:t>-</a:t>
                      </a:r>
                      <a:r>
                        <a:rPr kumimoji="0" lang="zh-CN" altLang="en-US" sz="1100" b="1" i="0" u="none" strike="noStrike" kern="1200" cap="none" spc="0" normalizeH="0" baseline="0" noProof="0" dirty="0">
                          <a:ln>
                            <a:noFill/>
                          </a:ln>
                          <a:solidFill>
                            <a:schemeClr val="bg1"/>
                          </a:solidFill>
                          <a:effectLst/>
                          <a:uLnTx/>
                          <a:uFillTx/>
                          <a:latin typeface="微软雅黑" panose="020B0503020204020204" pitchFamily="34" charset="-122"/>
                          <a:ea typeface="Alibaba PuHuiTi 2.0 55 Regular"/>
                          <a:cs typeface="+mn-cs"/>
                        </a:rPr>
                        <a:t>门店专家访谈</a:t>
                      </a: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4B8D56"/>
                    </a:solidFill>
                  </a:tcPr>
                </a:tc>
                <a:tc hMerge="1">
                  <a:txBody>
                    <a:bodyPr/>
                    <a:lstStyle/>
                    <a:p>
                      <a:endParaRPr lang="zh-CN"/>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4B8D56"/>
                    </a:solidFill>
                  </a:tcPr>
                </a:tc>
                <a:tc hMerge="1">
                  <a:txBody>
                    <a:bodyPr/>
                    <a:lstStyle/>
                    <a:p>
                      <a:endParaRPr lang="zh-CN"/>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4B8D56"/>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bg1"/>
                          </a:solidFill>
                          <a:effectLst/>
                          <a:uLnTx/>
                          <a:uFillTx/>
                          <a:latin typeface="微软雅黑" panose="020B0503020204020204" pitchFamily="34" charset="-122"/>
                          <a:ea typeface="Alibaba PuHuiTi 2.0 55 Regular"/>
                          <a:cs typeface="+mn-cs"/>
                        </a:rPr>
                        <a:t>共创会</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1" u="none" strike="noStrike" kern="1200" cap="none" spc="0" normalizeH="0" baseline="0" noProof="0" dirty="0">
                          <a:ln>
                            <a:noFill/>
                          </a:ln>
                          <a:solidFill>
                            <a:schemeClr val="bg1"/>
                          </a:solidFill>
                          <a:effectLst/>
                          <a:uLnTx/>
                          <a:uFillTx/>
                          <a:latin typeface="微软雅黑" panose="020B0503020204020204" pitchFamily="34" charset="-122"/>
                          <a:ea typeface="Alibaba PuHuiTi 2.0 55 Regular"/>
                          <a:cs typeface="+mn-cs"/>
                        </a:rPr>
                        <a:t>（计划中，</a:t>
                      </a:r>
                      <a:r>
                        <a:rPr kumimoji="0" lang="zh-CN" sz="1000" b="1" i="1" u="none" strike="noStrike" kern="1200" cap="none" spc="0" normalizeH="0" baseline="0" noProof="0" dirty="0">
                          <a:ln>
                            <a:noFill/>
                          </a:ln>
                          <a:solidFill>
                            <a:schemeClr val="bg1"/>
                          </a:solidFill>
                          <a:effectLst/>
                          <a:uLnTx/>
                          <a:uFillTx/>
                          <a:latin typeface="微软雅黑" panose="020B0503020204020204" pitchFamily="34" charset="-122"/>
                          <a:ea typeface="Alibaba PuHuiTi 2.0 55 Regular"/>
                          <a:cs typeface="+mn-cs"/>
                        </a:rPr>
                        <a:t>预计</a:t>
                      </a:r>
                      <a:r>
                        <a:rPr kumimoji="0" lang="en-US" altLang="zh-CN" sz="1000" b="1" i="1" u="none" strike="noStrike" kern="1200" cap="none" spc="0" normalizeH="0" baseline="0" noProof="0" dirty="0">
                          <a:ln>
                            <a:noFill/>
                          </a:ln>
                          <a:solidFill>
                            <a:schemeClr val="bg1"/>
                          </a:solidFill>
                          <a:effectLst/>
                          <a:uLnTx/>
                          <a:uFillTx/>
                          <a:latin typeface="微软雅黑" panose="020B0503020204020204" pitchFamily="34" charset="-122"/>
                          <a:ea typeface="Alibaba PuHuiTi 2.0 55 Regular"/>
                          <a:cs typeface="+mn-cs"/>
                        </a:rPr>
                        <a:t>1</a:t>
                      </a:r>
                      <a:r>
                        <a:rPr kumimoji="0" lang="zh-CN" altLang="en-US" sz="1000" b="1" i="1" u="none" strike="noStrike" kern="1200" cap="none" spc="0" normalizeH="0" baseline="0" noProof="0" dirty="0">
                          <a:ln>
                            <a:noFill/>
                          </a:ln>
                          <a:solidFill>
                            <a:schemeClr val="bg1"/>
                          </a:solidFill>
                          <a:effectLst/>
                          <a:uLnTx/>
                          <a:uFillTx/>
                          <a:latin typeface="微软雅黑" panose="020B0503020204020204" pitchFamily="34" charset="-122"/>
                          <a:ea typeface="Alibaba PuHuiTi 2.0 55 Regular"/>
                          <a:cs typeface="+mn-cs"/>
                        </a:rPr>
                        <a:t>月）</a:t>
                      </a:r>
                    </a:p>
                  </a:txBody>
                  <a:tcPr marL="36000" anchor="ctr">
                    <a:lnL w="9525" cap="flat" cmpd="sng" algn="ctr">
                      <a:solidFill>
                        <a:schemeClr val="bg1">
                          <a:lumMod val="50000"/>
                        </a:schemeClr>
                      </a:solidFill>
                      <a:prstDash val="solid"/>
                      <a:round/>
                      <a:headEnd type="none" w="med" len="med"/>
                      <a:tailEnd type="none" w="med" len="med"/>
                    </a:lnL>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zh-CN"/>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4B8D56"/>
                    </a:solidFill>
                  </a:tcPr>
                </a:tc>
                <a:tc hMerge="1">
                  <a:txBody>
                    <a:bodyPr/>
                    <a:lstStyle/>
                    <a:p>
                      <a:endParaRPr lang="zh-CN"/>
                    </a:p>
                  </a:txBody>
                  <a:tcPr marL="36000" anchor="ctr">
                    <a:lnL w="9525" cap="flat" cmpd="sng" algn="ctr">
                      <a:solidFill>
                        <a:schemeClr val="bg1">
                          <a:lumMod val="50000"/>
                        </a:schemeClr>
                      </a:solidFill>
                      <a:prstDash val="solid"/>
                      <a:round/>
                      <a:headEnd type="none" w="med" len="med"/>
                      <a:tailEnd type="none" w="med" len="med"/>
                    </a:lnL>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4B8D56"/>
                    </a:solidFill>
                  </a:tcPr>
                </a:tc>
                <a:extLst>
                  <a:ext uri="{0D108BD9-81ED-4DB2-BD59-A6C34878D82A}">
                    <a16:rowId xmlns:a16="http://schemas.microsoft.com/office/drawing/2014/main" val="10000"/>
                  </a:ext>
                </a:extLst>
              </a:tr>
              <a:tr h="425124">
                <a:tc>
                  <a:txBody>
                    <a:bodyPr/>
                    <a:lstStyle/>
                    <a:p>
                      <a:pPr marL="0" indent="0" algn="ctr">
                        <a:buFont typeface="Arial" panose="020B0604020202020204" pitchFamily="34" charset="0"/>
                        <a:buNone/>
                      </a:pPr>
                      <a:r>
                        <a:rPr lang="zh-CN" altLang="en-US" sz="1100" b="1" dirty="0">
                          <a:solidFill>
                            <a:schemeClr val="bg1">
                              <a:lumMod val="10000"/>
                            </a:schemeClr>
                          </a:solidFill>
                          <a:latin typeface="微软雅黑" panose="020B0503020204020204" pitchFamily="34" charset="-122"/>
                          <a:ea typeface="Alibaba PuHuiTi 2.0 55 Regular"/>
                        </a:rPr>
                        <a:t>品牌</a:t>
                      </a: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indent="0" algn="ctr">
                        <a:buFont typeface="Arial" panose="020B0604020202020204" pitchFamily="34" charset="0"/>
                        <a:buNone/>
                      </a:pPr>
                      <a:r>
                        <a:rPr lang="zh-CN" altLang="en-US" sz="1100" b="1" dirty="0">
                          <a:solidFill>
                            <a:schemeClr val="bg1">
                              <a:lumMod val="10000"/>
                            </a:schemeClr>
                          </a:solidFill>
                          <a:latin typeface="微软雅黑" panose="020B0503020204020204" pitchFamily="34" charset="-122"/>
                          <a:ea typeface="Alibaba PuHuiTi 2.0 55 Regular"/>
                        </a:rPr>
                        <a:t>销售</a:t>
                      </a:r>
                      <a:r>
                        <a:rPr lang="en-US" altLang="zh-CN" sz="1100" b="1" dirty="0">
                          <a:solidFill>
                            <a:schemeClr val="bg1">
                              <a:lumMod val="10000"/>
                            </a:schemeClr>
                          </a:solidFill>
                          <a:latin typeface="微软雅黑" panose="020B0503020204020204" pitchFamily="34" charset="-122"/>
                          <a:ea typeface="Alibaba PuHuiTi 2.0 55 Regular"/>
                        </a:rPr>
                        <a:t>&amp;</a:t>
                      </a:r>
                      <a:r>
                        <a:rPr lang="zh-CN" altLang="en-US" sz="1100" b="1" dirty="0">
                          <a:solidFill>
                            <a:schemeClr val="bg1">
                              <a:lumMod val="10000"/>
                            </a:schemeClr>
                          </a:solidFill>
                          <a:latin typeface="微软雅黑" panose="020B0503020204020204" pitchFamily="34" charset="-122"/>
                          <a:ea typeface="Alibaba PuHuiTi 2.0 55 Regular"/>
                        </a:rPr>
                        <a:t>交付</a:t>
                      </a: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indent="0" algn="ctr">
                        <a:buFont typeface="Arial" panose="020B0604020202020204" pitchFamily="34" charset="0"/>
                        <a:buNone/>
                      </a:pPr>
                      <a:r>
                        <a:rPr lang="zh-CN" altLang="en-US" sz="1100" b="1" dirty="0">
                          <a:solidFill>
                            <a:schemeClr val="bg1">
                              <a:lumMod val="10000"/>
                            </a:schemeClr>
                          </a:solidFill>
                          <a:latin typeface="微软雅黑" panose="020B0503020204020204" pitchFamily="34" charset="-122"/>
                          <a:ea typeface="Alibaba PuHuiTi 2.0 55 Regular"/>
                        </a:rPr>
                        <a:t>售后</a:t>
                      </a: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indent="0" algn="ctr">
                        <a:buFont typeface="Arial" panose="020B0604020202020204" pitchFamily="34" charset="0"/>
                        <a:buNone/>
                      </a:pPr>
                      <a:r>
                        <a:rPr lang="zh-CN" altLang="en-US" sz="1100" b="1" dirty="0">
                          <a:solidFill>
                            <a:schemeClr val="bg1">
                              <a:lumMod val="10000"/>
                            </a:schemeClr>
                          </a:solidFill>
                          <a:latin typeface="微软雅黑" panose="020B0503020204020204" pitchFamily="34" charset="-122"/>
                          <a:ea typeface="Alibaba PuHuiTi 2.0 55 Regular"/>
                        </a:rPr>
                        <a:t>销售</a:t>
                      </a:r>
                      <a:r>
                        <a:rPr lang="en-US" altLang="zh-CN" sz="1100" b="1" dirty="0">
                          <a:solidFill>
                            <a:schemeClr val="bg1">
                              <a:lumMod val="10000"/>
                            </a:schemeClr>
                          </a:solidFill>
                          <a:latin typeface="微软雅黑" panose="020B0503020204020204" pitchFamily="34" charset="-122"/>
                          <a:ea typeface="Alibaba PuHuiTi 2.0 55 Regular"/>
                        </a:rPr>
                        <a:t>&amp;</a:t>
                      </a:r>
                      <a:r>
                        <a:rPr lang="zh-CN" altLang="en-US" sz="1100" b="1" dirty="0">
                          <a:solidFill>
                            <a:schemeClr val="bg1">
                              <a:lumMod val="10000"/>
                            </a:schemeClr>
                          </a:solidFill>
                          <a:latin typeface="微软雅黑" panose="020B0503020204020204" pitchFamily="34" charset="-122"/>
                          <a:ea typeface="Alibaba PuHuiTi 2.0 55 Regular"/>
                        </a:rPr>
                        <a:t>交付</a:t>
                      </a: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indent="0" algn="ctr">
                        <a:buFont typeface="Arial" panose="020B0604020202020204" pitchFamily="34" charset="0"/>
                        <a:buNone/>
                      </a:pPr>
                      <a:r>
                        <a:rPr lang="zh-CN" altLang="en-US" sz="1100" b="1" dirty="0">
                          <a:solidFill>
                            <a:schemeClr val="bg1">
                              <a:lumMod val="10000"/>
                            </a:schemeClr>
                          </a:solidFill>
                          <a:latin typeface="微软雅黑" panose="020B0503020204020204" pitchFamily="34" charset="-122"/>
                          <a:ea typeface="Alibaba PuHuiTi 2.0 55 Regular"/>
                        </a:rPr>
                        <a:t>售后</a:t>
                      </a: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bg1">
                              <a:lumMod val="10000"/>
                            </a:schemeClr>
                          </a:solidFill>
                          <a:effectLst/>
                          <a:uLnTx/>
                          <a:uFillTx/>
                          <a:latin typeface="微软雅黑" panose="020B0503020204020204" pitchFamily="34" charset="-122"/>
                          <a:ea typeface="Alibaba PuHuiTi 2.0 55 Regular"/>
                          <a:cs typeface="+mn-cs"/>
                        </a:rPr>
                        <a:t>销售</a:t>
                      </a: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bg1">
                              <a:lumMod val="10000"/>
                            </a:schemeClr>
                          </a:solidFill>
                          <a:effectLst/>
                          <a:uLnTx/>
                          <a:uFillTx/>
                          <a:latin typeface="微软雅黑" panose="020B0503020204020204" pitchFamily="34" charset="-122"/>
                          <a:ea typeface="Alibaba PuHuiTi 2.0 55 Regular"/>
                          <a:cs typeface="+mn-cs"/>
                        </a:rPr>
                        <a:t>交付</a:t>
                      </a: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bg1">
                              <a:lumMod val="10000"/>
                            </a:schemeClr>
                          </a:solidFill>
                          <a:effectLst/>
                          <a:uLnTx/>
                          <a:uFillTx/>
                          <a:latin typeface="微软雅黑" panose="020B0503020204020204" pitchFamily="34" charset="-122"/>
                          <a:ea typeface="Alibaba PuHuiTi 2.0 55 Regular"/>
                          <a:cs typeface="+mn-cs"/>
                        </a:rPr>
                        <a:t>售后</a:t>
                      </a: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bg1">
                              <a:lumMod val="10000"/>
                            </a:schemeClr>
                          </a:solidFill>
                          <a:effectLst/>
                          <a:uLnTx/>
                          <a:uFillTx/>
                          <a:latin typeface="微软雅黑" panose="020B0503020204020204" pitchFamily="34" charset="-122"/>
                          <a:ea typeface="Alibaba PuHuiTi 2.0 55 Regular"/>
                          <a:cs typeface="+mn-cs"/>
                        </a:rPr>
                        <a:t>销售</a:t>
                      </a: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bg1">
                              <a:lumMod val="10000"/>
                            </a:schemeClr>
                          </a:solidFill>
                          <a:effectLst/>
                          <a:uLnTx/>
                          <a:uFillTx/>
                          <a:latin typeface="微软雅黑" panose="020B0503020204020204" pitchFamily="34" charset="-122"/>
                          <a:ea typeface="Alibaba PuHuiTi 2.0 55 Regular"/>
                          <a:cs typeface="+mn-cs"/>
                        </a:rPr>
                        <a:t>交付</a:t>
                      </a: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chemeClr val="bg1">
                              <a:lumMod val="10000"/>
                            </a:schemeClr>
                          </a:solidFill>
                          <a:effectLst/>
                          <a:uLnTx/>
                          <a:uFillTx/>
                          <a:latin typeface="微软雅黑" panose="020B0503020204020204" pitchFamily="34" charset="-122"/>
                          <a:ea typeface="Alibaba PuHuiTi 2.0 55 Regular"/>
                          <a:cs typeface="+mn-cs"/>
                        </a:rPr>
                        <a:t>售后</a:t>
                      </a: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1"/>
                  </a:ext>
                </a:extLst>
              </a:tr>
              <a:tr h="486529">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100" b="1" dirty="0">
                          <a:solidFill>
                            <a:schemeClr val="tx1">
                              <a:lumMod val="75000"/>
                              <a:lumOff val="25000"/>
                            </a:schemeClr>
                          </a:solidFill>
                          <a:latin typeface="微软雅黑" panose="020B0503020204020204" pitchFamily="34" charset="-122"/>
                          <a:ea typeface="Alibaba PuHuiTi 2.0 55 Regular"/>
                        </a:rPr>
                        <a:t>某品牌</a:t>
                      </a: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271(</a:t>
                      </a:r>
                      <a:r>
                        <a:rPr kumimoji="0" lang="zh-CN" altLang="en-US"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本品</a:t>
                      </a: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)+278(</a:t>
                      </a:r>
                      <a:r>
                        <a:rPr kumimoji="0" lang="zh-CN" altLang="en-US"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犹豫</a:t>
                      </a: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259</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8</a:t>
                      </a:r>
                      <a:r>
                        <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（本品）</a:t>
                      </a:r>
                      <a:r>
                        <a:rPr kumimoji="0" lang="en-US" altLang="zh-CN"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+8</a:t>
                      </a:r>
                      <a:r>
                        <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（犹豫）</a:t>
                      </a:r>
                    </a:p>
                  </a:txBody>
                  <a:tcPr marL="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8</a:t>
                      </a: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rPr>
                        <a:t>1</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rPr>
                        <a:t>1</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rPr>
                        <a:t>1</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69411">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蔚来</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34</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34</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rowSpan="7">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8</a:t>
                      </a: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rowSpan="7">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8</a:t>
                      </a: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rPr>
                        <a:t>1</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rPr>
                        <a:t>1</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rPr>
                        <a:t>1</a:t>
                      </a: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69411">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极氪</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34</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29*</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p>
                  </a:txBody>
                  <a:tcPr marL="36000" marR="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p>
                  </a:txBody>
                  <a:tcPr marL="36000" marR="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1</a:t>
                      </a: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1</a:t>
                      </a: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1</a:t>
                      </a: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69411">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问界</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35</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34</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p>
                  </a:txBody>
                  <a:tcPr marL="36000" marR="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p>
                  </a:txBody>
                  <a:tcPr marL="36000" marR="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1</a:t>
                      </a: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1</a:t>
                      </a: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1</a:t>
                      </a: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69411">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理想</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34</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35</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p>
                  </a:txBody>
                  <a:tcPr marL="36000" marR="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p>
                  </a:txBody>
                  <a:tcPr marL="36000" marR="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1</a:t>
                      </a: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1</a:t>
                      </a: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69411">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小鹏</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35</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35</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p>
                  </a:txBody>
                  <a:tcPr marL="36000" marR="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p>
                  </a:txBody>
                  <a:tcPr marL="36000" marR="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highlight>
                          <a:srgbClr val="FFFF00"/>
                        </a:highligh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highlight>
                          <a:srgbClr val="FFFF00"/>
                        </a:highligh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highlight>
                          <a:srgbClr val="FFFF00"/>
                        </a:highligh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369411">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特斯拉</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35</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35</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p>
                  </a:txBody>
                  <a:tcPr marL="36000" marR="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p>
                  </a:txBody>
                  <a:tcPr marL="36000" marR="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highlight>
                          <a:srgbClr val="FFFF00"/>
                        </a:highligh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highlight>
                          <a:srgbClr val="FFFF00"/>
                        </a:highligh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highlight>
                          <a:srgbClr val="FFFF00"/>
                        </a:highligh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348536">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智己</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18</a:t>
                      </a: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mn-ea"/>
                          <a:cs typeface="+mn-cs"/>
                        </a:rPr>
                        <a:t>*</a:t>
                      </a:r>
                      <a:endPar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endParaRP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21*</a:t>
                      </a:r>
                    </a:p>
                  </a:txBody>
                  <a:tcPr marL="6350" marR="6350" marT="63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p>
                  </a:txBody>
                  <a:tcPr marL="36000" marR="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zh-CN"/>
                    </a:p>
                  </a:txBody>
                  <a:tcPr marL="36000" marR="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1100" b="0"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marR="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369411">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100" b="0"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总完成量</a:t>
                      </a: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gridSpan="2">
                  <a:txBody>
                    <a:bodyPr/>
                    <a:lstStyle/>
                    <a:p>
                      <a:pPr marL="0" indent="0" algn="ctr">
                        <a:buFont typeface="Arial" panose="020B0604020202020204" pitchFamily="34" charset="0"/>
                        <a:buNone/>
                      </a:pPr>
                      <a:r>
                        <a:rPr kumimoji="0" lang="en-US" altLang="zh-CN" sz="1100" b="1"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1256</a:t>
                      </a:r>
                      <a:endParaRPr kumimoji="0" lang="zh-CN" altLang="en-US" sz="1100" b="1"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endParaRP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endParaRPr lang="zh-CN"/>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r>
                        <a:rPr kumimoji="0" lang="en-US" altLang="zh-CN" sz="1100" b="1"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40</a:t>
                      </a:r>
                      <a:endParaRPr kumimoji="0" lang="zh-CN" altLang="en-US" sz="1100" b="1"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hMerge="1">
                  <a:txBody>
                    <a:bodyPr/>
                    <a:lstStyle/>
                    <a:p>
                      <a:endParaRPr lang="zh-CN"/>
                    </a:p>
                  </a:txBody>
                  <a:tcPr>
                    <a:lnL w="9525" cap="flat" cmpd="sng" algn="ctr">
                      <a:solidFill>
                        <a:schemeClr val="bg1">
                          <a:lumMod val="50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11</a:t>
                      </a:r>
                      <a:endParaRPr kumimoji="0"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endParaRPr lang="zh-CN"/>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zh-CN"/>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1"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3</a:t>
                      </a:r>
                      <a:endParaRPr kumimoji="0" lang="zh-CN" altLang="en-US" sz="1100" b="1"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endParaRPr>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endParaRPr lang="zh-CN"/>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zh-CN"/>
                    </a:p>
                  </a:txBody>
                  <a:tcPr marL="3600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11"/>
                  </a:ext>
                </a:extLst>
              </a:tr>
            </a:tbl>
          </a:graphicData>
        </a:graphic>
      </p:graphicFrame>
      <p:sp>
        <p:nvSpPr>
          <p:cNvPr id="10" name="文本框 9"/>
          <p:cNvSpPr txBox="1"/>
          <p:nvPr/>
        </p:nvSpPr>
        <p:spPr>
          <a:xfrm>
            <a:off x="310676" y="6012930"/>
            <a:ext cx="10475816" cy="461665"/>
          </a:xfrm>
          <a:prstGeom prst="rect">
            <a:avLst/>
          </a:prstGeom>
          <a:noFill/>
        </p:spPr>
        <p:txBody>
          <a:bodyPr wrap="square">
            <a:spAutoFit/>
          </a:bodyPr>
          <a:lstStyle/>
          <a:p>
            <a:pPr marL="171450" indent="-171450">
              <a:buFont typeface="Arial" panose="020B0604020202020204" pitchFamily="34" charset="0"/>
              <a:buChar char="•"/>
            </a:pPr>
            <a:r>
              <a:rPr lang="zh-CN" altLang="en-US" sz="1200" b="0" dirty="0"/>
              <a:t>与上半年差异：① 销售大区从上半年</a:t>
            </a:r>
            <a:r>
              <a:rPr lang="en-US" altLang="zh-CN" sz="1200" b="0" dirty="0"/>
              <a:t>6</a:t>
            </a:r>
            <a:r>
              <a:rPr lang="zh-CN" altLang="en-US" sz="1200" b="0" dirty="0"/>
              <a:t>个大区，覆盖到最新的</a:t>
            </a:r>
            <a:r>
              <a:rPr lang="en-US" altLang="zh-CN" sz="1200" b="0" dirty="0"/>
              <a:t>8</a:t>
            </a:r>
            <a:r>
              <a:rPr lang="zh-CN" altLang="en-US" sz="1200" b="0" dirty="0"/>
              <a:t>个大区；② 增加了犹豫用户的定量面访和座谈会；③ 增加业务提升共创会</a:t>
            </a:r>
            <a:endParaRPr lang="en-US" altLang="zh-CN" sz="1200" b="0" dirty="0"/>
          </a:p>
          <a:p>
            <a:pPr marL="171450" indent="-171450">
              <a:buFont typeface="Arial" panose="020B0604020202020204" pitchFamily="34" charset="0"/>
              <a:buChar char="•"/>
            </a:pPr>
            <a:r>
              <a:rPr lang="zh-CN" altLang="en-US" sz="1200" dirty="0"/>
              <a:t>在执行过程中，由于邀约难度和时间问题，极氪售后，智己销售</a:t>
            </a:r>
            <a:r>
              <a:rPr lang="en-US" altLang="zh-CN" sz="1200" dirty="0"/>
              <a:t>&amp;</a:t>
            </a:r>
            <a:r>
              <a:rPr lang="zh-CN" altLang="en-US" sz="1200" dirty="0"/>
              <a:t>交付和售后样本量不足</a:t>
            </a:r>
            <a:r>
              <a:rPr lang="en-US" altLang="zh-CN" sz="1200" dirty="0"/>
              <a:t>30</a:t>
            </a:r>
            <a:r>
              <a:rPr lang="zh-CN" altLang="en-US" sz="1200" dirty="0"/>
              <a:t>，数据供参考</a:t>
            </a:r>
            <a:endParaRPr lang="zh-CN" altLang="en-US" sz="1200" b="0" dirty="0"/>
          </a:p>
        </p:txBody>
      </p:sp>
      <p:graphicFrame>
        <p:nvGraphicFramePr>
          <p:cNvPr id="2" name="表格 3">
            <a:extLst>
              <a:ext uri="{FF2B5EF4-FFF2-40B4-BE49-F238E27FC236}">
                <a16:creationId xmlns:a16="http://schemas.microsoft.com/office/drawing/2014/main" id="{03ED672C-F667-3304-5B85-6FD610704643}"/>
              </a:ext>
            </a:extLst>
          </p:cNvPr>
          <p:cNvGraphicFramePr>
            <a:graphicFrameLocks noGrp="1"/>
          </p:cNvGraphicFramePr>
          <p:nvPr/>
        </p:nvGraphicFramePr>
        <p:xfrm>
          <a:off x="10627572" y="881796"/>
          <a:ext cx="1262168" cy="370840"/>
        </p:xfrm>
        <a:graphic>
          <a:graphicData uri="http://schemas.openxmlformats.org/drawingml/2006/table">
            <a:tbl>
              <a:tblPr>
                <a:tableStyleId>{5C22544A-7EE6-4342-B048-85BDC9FD1C3A}</a:tableStyleId>
              </a:tblPr>
              <a:tblGrid>
                <a:gridCol w="631084">
                  <a:extLst>
                    <a:ext uri="{9D8B030D-6E8A-4147-A177-3AD203B41FA5}">
                      <a16:colId xmlns:a16="http://schemas.microsoft.com/office/drawing/2014/main" val="919360122"/>
                    </a:ext>
                  </a:extLst>
                </a:gridCol>
                <a:gridCol w="631084">
                  <a:extLst>
                    <a:ext uri="{9D8B030D-6E8A-4147-A177-3AD203B41FA5}">
                      <a16:colId xmlns:a16="http://schemas.microsoft.com/office/drawing/2014/main" val="199767191"/>
                    </a:ext>
                  </a:extLst>
                </a:gridCol>
              </a:tblGrid>
              <a:tr h="370840">
                <a:tc>
                  <a:txBody>
                    <a:bodyPr/>
                    <a:lstStyle/>
                    <a:p>
                      <a:pPr algn="ctr"/>
                      <a:r>
                        <a:rPr lang="zh-CN" altLang="en-US" sz="1100" i="1" dirty="0">
                          <a:solidFill>
                            <a:schemeClr val="bg1"/>
                          </a:solidFill>
                        </a:rPr>
                        <a:t>已执行</a:t>
                      </a:r>
                    </a:p>
                  </a:txBody>
                  <a:tcPr anchor="ctr">
                    <a:solidFill>
                      <a:srgbClr val="4B8D56"/>
                    </a:solidFill>
                  </a:tcPr>
                </a:tc>
                <a:tc>
                  <a:txBody>
                    <a:bodyPr/>
                    <a:lstStyle/>
                    <a:p>
                      <a:pPr algn="ctr"/>
                      <a:r>
                        <a:rPr lang="zh-CN" altLang="en-US" sz="1100" i="1" dirty="0">
                          <a:solidFill>
                            <a:schemeClr val="bg1"/>
                          </a:solidFill>
                        </a:rPr>
                        <a:t>计划中</a:t>
                      </a:r>
                    </a:p>
                  </a:txBody>
                  <a:tcPr anchor="ctr">
                    <a:solidFill>
                      <a:srgbClr val="BCBCBC"/>
                    </a:solidFill>
                  </a:tcPr>
                </a:tc>
                <a:extLst>
                  <a:ext uri="{0D108BD9-81ED-4DB2-BD59-A6C34878D82A}">
                    <a16:rowId xmlns:a16="http://schemas.microsoft.com/office/drawing/2014/main" val="4254759017"/>
                  </a:ext>
                </a:extLst>
              </a:tr>
            </a:tbl>
          </a:graphicData>
        </a:graphic>
      </p:graphicFrame>
      <p:sp>
        <p:nvSpPr>
          <p:cNvPr id="4" name="文本占位符 7">
            <a:extLst>
              <a:ext uri="{FF2B5EF4-FFF2-40B4-BE49-F238E27FC236}">
                <a16:creationId xmlns:a16="http://schemas.microsoft.com/office/drawing/2014/main" id="{E8DDABF9-0537-98F5-609B-A83AFA7AFA29}"/>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00000"/>
              </a:lnSpc>
              <a:spcBef>
                <a:spcPts val="0"/>
              </a:spcBef>
              <a:buSzPct val="60000"/>
            </a:pPr>
            <a:r>
              <a:rPr lang="zh-CN" altLang="en-US" dirty="0">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rPr>
              <a:t>已</a:t>
            </a:r>
            <a:r>
              <a:rPr lang="zh-CN" altLang="en-US" sz="1600" kern="0" dirty="0">
                <a:solidFill>
                  <a:srgbClr val="595757"/>
                </a:solidFill>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rPr>
              <a:t>完成</a:t>
            </a:r>
            <a:r>
              <a:rPr lang="en-US" altLang="zh-CN" dirty="0">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rPr>
              <a:t>1256</a:t>
            </a:r>
            <a:r>
              <a:rPr lang="zh-CN" altLang="en-US" sz="1600" kern="0" dirty="0">
                <a:solidFill>
                  <a:srgbClr val="595757"/>
                </a:solidFill>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rPr>
              <a:t>份满意度评价定量面访，</a:t>
            </a:r>
            <a:r>
              <a:rPr lang="en-US" altLang="zh-CN" dirty="0">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rPr>
              <a:t>40</a:t>
            </a:r>
            <a:r>
              <a:rPr lang="zh-CN" altLang="en-US" sz="1600" kern="0" dirty="0">
                <a:solidFill>
                  <a:srgbClr val="595757"/>
                </a:solidFill>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rPr>
              <a:t>场座谈会，以及</a:t>
            </a:r>
            <a:r>
              <a:rPr lang="en-US" altLang="zh-CN" dirty="0">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rPr>
              <a:t>11</a:t>
            </a:r>
            <a:r>
              <a:rPr lang="zh-CN" altLang="en-US" sz="1600" kern="0" dirty="0">
                <a:solidFill>
                  <a:srgbClr val="595757"/>
                </a:solidFill>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rPr>
              <a:t>个竞品门店访谈，还有</a:t>
            </a:r>
            <a:r>
              <a:rPr lang="en-US" altLang="zh-CN" sz="1600" kern="0" dirty="0">
                <a:solidFill>
                  <a:srgbClr val="595757"/>
                </a:solidFill>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rPr>
              <a:t>3</a:t>
            </a:r>
            <a:r>
              <a:rPr lang="zh-CN" altLang="en-US" sz="1600" kern="0" dirty="0">
                <a:solidFill>
                  <a:srgbClr val="595757"/>
                </a:solidFill>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rPr>
              <a:t>场共创会在计划中</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1"/>
          </p:nvPr>
        </p:nvSpPr>
        <p:spPr>
          <a:xfrm>
            <a:off x="302944" y="329356"/>
            <a:ext cx="11662236" cy="499789"/>
          </a:xfrm>
        </p:spPr>
        <p:txBody>
          <a:bodyPr/>
          <a:lstStyle/>
          <a:p>
            <a:r>
              <a:rPr lang="en-US" altLang="zh-CN" dirty="0">
                <a:latin typeface="+mn-ea"/>
                <a:ea typeface="+mn-ea"/>
              </a:rPr>
              <a:t>1.3 </a:t>
            </a:r>
            <a:r>
              <a:rPr lang="zh-CN" altLang="en-US" dirty="0">
                <a:latin typeface="+mn-ea"/>
                <a:ea typeface="+mn-ea"/>
              </a:rPr>
              <a:t>项目数据分析：</a:t>
            </a:r>
          </a:p>
        </p:txBody>
      </p:sp>
      <p:sp>
        <p:nvSpPr>
          <p:cNvPr id="5" name="灯片编号占位符 4"/>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00B666-AD48-5640-8D08-2A4A6036569F}" type="slidenum">
              <a:rPr kumimoji="0" lang="zh-CN" altLang="en-US" sz="800" b="0" i="0" u="none" strike="noStrike" kern="1200" cap="none" spc="0" normalizeH="0" baseline="0" noProof="0" smtClean="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800" b="0" i="0" u="none" strike="noStrike" kern="1200" cap="none" spc="0" normalizeH="0" baseline="0" noProof="0" dirty="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endParaRPr>
          </a:p>
        </p:txBody>
      </p:sp>
      <p:sp>
        <p:nvSpPr>
          <p:cNvPr id="2" name="矩形: 圆角 96">
            <a:extLst>
              <a:ext uri="{FF2B5EF4-FFF2-40B4-BE49-F238E27FC236}">
                <a16:creationId xmlns:a16="http://schemas.microsoft.com/office/drawing/2014/main" id="{7CF8D9B7-E559-75F5-80B4-F392CAE3EFBC}"/>
              </a:ext>
            </a:extLst>
          </p:cNvPr>
          <p:cNvSpPr/>
          <p:nvPr>
            <p:custDataLst>
              <p:tags r:id="rId1"/>
            </p:custDataLst>
          </p:nvPr>
        </p:nvSpPr>
        <p:spPr>
          <a:xfrm>
            <a:off x="302944" y="4558638"/>
            <a:ext cx="11625531" cy="917426"/>
          </a:xfrm>
          <a:prstGeom prst="rect">
            <a:avLst/>
          </a:prstGeom>
          <a:solidFill>
            <a:schemeClr val="accent6">
              <a:lumMod val="20000"/>
              <a:lumOff val="80000"/>
            </a:schemeClr>
          </a:solidFill>
          <a:ln w="9525" cap="flat" cmpd="sng" algn="ctr">
            <a:noFill/>
            <a:prstDash val="dash"/>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sp>
        <p:nvSpPr>
          <p:cNvPr id="6" name="文本框 5">
            <a:extLst>
              <a:ext uri="{FF2B5EF4-FFF2-40B4-BE49-F238E27FC236}">
                <a16:creationId xmlns:a16="http://schemas.microsoft.com/office/drawing/2014/main" id="{35F301CC-C3E8-9CD0-379F-24023C23DEC6}"/>
              </a:ext>
            </a:extLst>
          </p:cNvPr>
          <p:cNvSpPr txBox="1"/>
          <p:nvPr/>
        </p:nvSpPr>
        <p:spPr>
          <a:xfrm>
            <a:off x="5730333" y="4685184"/>
            <a:ext cx="5893487" cy="592836"/>
          </a:xfrm>
          <a:prstGeom prst="rect">
            <a:avLst/>
          </a:prstGeom>
          <a:noFill/>
          <a:ln>
            <a:noFill/>
          </a:ln>
        </p:spPr>
        <p:txBody>
          <a:bodyPr wrap="square"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zh-CN" altLang="en-US" sz="1400" b="1" i="0" u="none" strike="noStrike" kern="1200" cap="none" spc="0" normalizeH="0" baseline="0" noProof="0" dirty="0">
                <a:ln>
                  <a:noFill/>
                </a:ln>
                <a:effectLst/>
                <a:uLnTx/>
                <a:uFillTx/>
                <a:latin typeface="微软雅黑" panose="020B0503020204020204" pitchFamily="34" charset="-122"/>
                <a:ea typeface="Alibaba PuHuiTi 2.0 55 Regular"/>
                <a:cs typeface="+mn-cs"/>
              </a:rPr>
              <a:t>第①步：要素得分</a:t>
            </a:r>
            <a:r>
              <a:rPr kumimoji="0" lang="zh-CN" altLang="en-US" sz="1400" b="1"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a:t>
            </a:r>
            <a:r>
              <a:rPr kumimoji="0" lang="zh-CN" altLang="en-US" sz="1400" b="0"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车主在</a:t>
            </a:r>
            <a:r>
              <a:rPr kumimoji="0" lang="en-US" altLang="zh-CN" sz="1400" b="0"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1-10</a:t>
            </a:r>
            <a:r>
              <a:rPr kumimoji="0" lang="zh-CN" altLang="en-US" sz="1400" b="0"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分之间打分，算出总样本的平均值</a:t>
            </a:r>
            <a:endParaRPr kumimoji="0" lang="en-US" altLang="zh-CN" sz="1400" b="0"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zh-CN" altLang="en-US" sz="12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举例：依据您入店前沟通的过程，您认为咨询过程的流畅性和客服回答的专业性如何？请您用</a:t>
            </a:r>
            <a:r>
              <a:rPr kumimoji="0" lang="en-US" altLang="zh-CN" sz="12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1-10</a:t>
            </a:r>
            <a:r>
              <a:rPr kumimoji="0" lang="zh-CN" altLang="en-US" sz="12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分来评价。</a:t>
            </a:r>
            <a:r>
              <a:rPr kumimoji="0" lang="en-US" altLang="zh-CN" sz="12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1</a:t>
            </a:r>
            <a:r>
              <a:rPr kumimoji="0" lang="zh-CN" altLang="en-US" sz="12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分代表非常不满意，</a:t>
            </a:r>
            <a:r>
              <a:rPr kumimoji="0" lang="en-US" altLang="zh-CN" sz="12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5</a:t>
            </a:r>
            <a:r>
              <a:rPr kumimoji="0" lang="zh-CN" altLang="en-US" sz="12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分代表一般，</a:t>
            </a:r>
            <a:r>
              <a:rPr kumimoji="0" lang="en-US" altLang="zh-CN" sz="12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10</a:t>
            </a:r>
            <a:r>
              <a:rPr kumimoji="0" lang="zh-CN" altLang="en-US" sz="12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分代表非常满意。</a:t>
            </a:r>
            <a:endParaRPr kumimoji="0" lang="en-US" altLang="zh-CN" sz="12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endParaRPr>
          </a:p>
        </p:txBody>
      </p:sp>
      <p:sp>
        <p:nvSpPr>
          <p:cNvPr id="8" name="Text Box 45">
            <a:extLst>
              <a:ext uri="{FF2B5EF4-FFF2-40B4-BE49-F238E27FC236}">
                <a16:creationId xmlns:a16="http://schemas.microsoft.com/office/drawing/2014/main" id="{7EF0F1C2-4E4E-3A27-AB67-4E962C7F58AC}"/>
              </a:ext>
            </a:extLst>
          </p:cNvPr>
          <p:cNvSpPr txBox="1">
            <a:spLocks noChangeArrowheads="1"/>
          </p:cNvSpPr>
          <p:nvPr/>
        </p:nvSpPr>
        <p:spPr bwMode="auto">
          <a:xfrm>
            <a:off x="148772" y="2706794"/>
            <a:ext cx="624382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8000" tIns="0" rIns="18000" bIns="0">
            <a:spAutoFit/>
          </a:bodyPr>
          <a:lstStyle>
            <a:lvl1pPr marL="186055" indent="-186055" algn="l" defTabSz="957580">
              <a:spcBef>
                <a:spcPct val="0"/>
              </a:spcBef>
              <a:defRPr>
                <a:solidFill>
                  <a:schemeClr val="tx1"/>
                </a:solidFill>
                <a:latin typeface="Arial" panose="020B0604020202020204" pitchFamily="34" charset="0"/>
                <a:ea typeface="宋体" panose="02010600030101010101" pitchFamily="2" charset="-122"/>
              </a:defRPr>
            </a:lvl1pPr>
            <a:lvl2pPr algn="l" defTabSz="957580">
              <a:spcBef>
                <a:spcPct val="0"/>
              </a:spcBef>
              <a:defRPr>
                <a:solidFill>
                  <a:schemeClr val="tx1"/>
                </a:solidFill>
                <a:latin typeface="Arial" panose="020B0604020202020204" pitchFamily="34" charset="0"/>
                <a:ea typeface="宋体" panose="02010600030101010101" pitchFamily="2" charset="-122"/>
              </a:defRPr>
            </a:lvl2pPr>
            <a:lvl3pPr algn="l" defTabSz="957580">
              <a:spcBef>
                <a:spcPct val="0"/>
              </a:spcBef>
              <a:defRPr>
                <a:solidFill>
                  <a:schemeClr val="tx1"/>
                </a:solidFill>
                <a:latin typeface="Arial" panose="020B0604020202020204" pitchFamily="34" charset="0"/>
                <a:ea typeface="宋体" panose="02010600030101010101" pitchFamily="2" charset="-122"/>
              </a:defRPr>
            </a:lvl3pPr>
            <a:lvl4pPr algn="l" defTabSz="957580">
              <a:spcBef>
                <a:spcPct val="0"/>
              </a:spcBef>
              <a:defRPr>
                <a:solidFill>
                  <a:schemeClr val="tx1"/>
                </a:solidFill>
                <a:latin typeface="Arial" panose="020B0604020202020204" pitchFamily="34" charset="0"/>
                <a:ea typeface="宋体" panose="02010600030101010101" pitchFamily="2" charset="-122"/>
              </a:defRPr>
            </a:lvl4pPr>
            <a:lvl5pPr algn="l" defTabSz="957580">
              <a:spcBef>
                <a:spcPct val="0"/>
              </a:spcBef>
              <a:defRPr>
                <a:solidFill>
                  <a:schemeClr val="tx1"/>
                </a:solidFill>
                <a:latin typeface="Arial" panose="020B0604020202020204" pitchFamily="34" charset="0"/>
                <a:ea typeface="宋体" panose="02010600030101010101" pitchFamily="2" charset="-122"/>
              </a:defRPr>
            </a:lvl5pPr>
            <a:lvl6pPr defTabSz="95758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95758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95758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95758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186055" marR="0" lvl="0" indent="-186055" algn="ctr" defTabSz="957580" rtl="0" eaLnBrk="1" fontAlgn="auto" latinLnBrk="0" hangingPunct="1">
              <a:lnSpc>
                <a:spcPct val="100000"/>
              </a:lnSpc>
              <a:spcBef>
                <a:spcPct val="5000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Arial"/>
                <a:ea typeface="楷体_GB2312" pitchFamily="49" charset="-122"/>
                <a:cs typeface="+mn-cs"/>
              </a:rPr>
              <a:t>问卷指标体系</a:t>
            </a:r>
            <a:endParaRPr kumimoji="0" lang="en-US" altLang="zh-CN" sz="1600" b="1" i="0" u="none" strike="noStrike" kern="1200" cap="none" spc="0" normalizeH="0" baseline="0" noProof="0" dirty="0">
              <a:ln>
                <a:noFill/>
              </a:ln>
              <a:solidFill>
                <a:srgbClr val="000000"/>
              </a:solidFill>
              <a:effectLst/>
              <a:uLnTx/>
              <a:uFillTx/>
              <a:latin typeface="Arial"/>
              <a:ea typeface="楷体_GB2312" pitchFamily="49" charset="-122"/>
              <a:cs typeface="+mn-cs"/>
            </a:endParaRPr>
          </a:p>
        </p:txBody>
      </p:sp>
      <p:sp>
        <p:nvSpPr>
          <p:cNvPr id="9" name="矩形: 圆角 96">
            <a:extLst>
              <a:ext uri="{FF2B5EF4-FFF2-40B4-BE49-F238E27FC236}">
                <a16:creationId xmlns:a16="http://schemas.microsoft.com/office/drawing/2014/main" id="{963BB4C5-E39B-15DB-CBF1-CB7F1C941EE6}"/>
              </a:ext>
            </a:extLst>
          </p:cNvPr>
          <p:cNvSpPr/>
          <p:nvPr>
            <p:custDataLst>
              <p:tags r:id="rId2"/>
            </p:custDataLst>
          </p:nvPr>
        </p:nvSpPr>
        <p:spPr>
          <a:xfrm>
            <a:off x="302944" y="3030647"/>
            <a:ext cx="11625531" cy="719382"/>
          </a:xfrm>
          <a:prstGeom prst="rect">
            <a:avLst/>
          </a:prstGeom>
          <a:solidFill>
            <a:schemeClr val="accent6">
              <a:lumMod val="20000"/>
              <a:lumOff val="80000"/>
            </a:schemeClr>
          </a:solidFill>
          <a:ln w="9525" cap="flat" cmpd="sng" algn="ctr">
            <a:noFill/>
            <a:prstDash val="dash"/>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sp>
        <p:nvSpPr>
          <p:cNvPr id="10" name="矩形: 圆角 96">
            <a:extLst>
              <a:ext uri="{FF2B5EF4-FFF2-40B4-BE49-F238E27FC236}">
                <a16:creationId xmlns:a16="http://schemas.microsoft.com/office/drawing/2014/main" id="{0030E2B9-0449-A281-976D-320FBD3C4803}"/>
              </a:ext>
            </a:extLst>
          </p:cNvPr>
          <p:cNvSpPr/>
          <p:nvPr>
            <p:custDataLst>
              <p:tags r:id="rId3"/>
            </p:custDataLst>
          </p:nvPr>
        </p:nvSpPr>
        <p:spPr>
          <a:xfrm>
            <a:off x="302944" y="3795604"/>
            <a:ext cx="11625531" cy="719382"/>
          </a:xfrm>
          <a:prstGeom prst="rect">
            <a:avLst/>
          </a:prstGeom>
          <a:solidFill>
            <a:schemeClr val="accent6">
              <a:lumMod val="20000"/>
              <a:lumOff val="80000"/>
            </a:schemeClr>
          </a:solidFill>
          <a:ln w="9525" cap="flat" cmpd="sng" algn="ctr">
            <a:noFill/>
            <a:prstDash val="dash"/>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sp>
        <p:nvSpPr>
          <p:cNvPr id="11" name="矩形: 圆角 96">
            <a:extLst>
              <a:ext uri="{FF2B5EF4-FFF2-40B4-BE49-F238E27FC236}">
                <a16:creationId xmlns:a16="http://schemas.microsoft.com/office/drawing/2014/main" id="{471AF6D9-8296-B4C2-6FB0-CD071FE037AD}"/>
              </a:ext>
            </a:extLst>
          </p:cNvPr>
          <p:cNvSpPr/>
          <p:nvPr>
            <p:custDataLst>
              <p:tags r:id="rId4"/>
            </p:custDataLst>
          </p:nvPr>
        </p:nvSpPr>
        <p:spPr>
          <a:xfrm>
            <a:off x="87325" y="3159823"/>
            <a:ext cx="1515987" cy="491392"/>
          </a:xfrm>
          <a:prstGeom prst="rect">
            <a:avLst/>
          </a:prstGeom>
          <a:noFill/>
          <a:ln w="9525" cap="flat" cmpd="sng" algn="ctr">
            <a:noFill/>
            <a:prstDash val="solid"/>
          </a:ln>
          <a:effectLst/>
        </p:spPr>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rPr>
              <a:t>综合得分</a:t>
            </a:r>
          </a:p>
        </p:txBody>
      </p:sp>
      <p:sp>
        <p:nvSpPr>
          <p:cNvPr id="12" name="矩形: 圆角 96">
            <a:extLst>
              <a:ext uri="{FF2B5EF4-FFF2-40B4-BE49-F238E27FC236}">
                <a16:creationId xmlns:a16="http://schemas.microsoft.com/office/drawing/2014/main" id="{0DD66EA3-A5FF-179B-395F-5B4958CE9498}"/>
              </a:ext>
            </a:extLst>
          </p:cNvPr>
          <p:cNvSpPr/>
          <p:nvPr>
            <p:custDataLst>
              <p:tags r:id="rId5"/>
            </p:custDataLst>
          </p:nvPr>
        </p:nvSpPr>
        <p:spPr>
          <a:xfrm>
            <a:off x="87325" y="3917374"/>
            <a:ext cx="1515987" cy="491392"/>
          </a:xfrm>
          <a:prstGeom prst="rect">
            <a:avLst/>
          </a:prstGeom>
          <a:noFill/>
          <a:ln w="9525" cap="flat" cmpd="sng" algn="ctr">
            <a:noFill/>
            <a:prstDash val="solid"/>
          </a:ln>
          <a:effectLst/>
        </p:spPr>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rPr>
              <a:t>一级指标</a:t>
            </a:r>
            <a:endParaRPr kumimoji="0" lang="en-US" altLang="zh-CN" sz="16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rPr>
              <a:t>（因子）</a:t>
            </a:r>
            <a:endParaRPr kumimoji="0" lang="en-US" altLang="zh-CN" sz="16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sp>
        <p:nvSpPr>
          <p:cNvPr id="13" name="矩形: 圆角 96">
            <a:extLst>
              <a:ext uri="{FF2B5EF4-FFF2-40B4-BE49-F238E27FC236}">
                <a16:creationId xmlns:a16="http://schemas.microsoft.com/office/drawing/2014/main" id="{B8ADA9AB-5C19-EC6F-0BEF-EFAF995D47FE}"/>
              </a:ext>
            </a:extLst>
          </p:cNvPr>
          <p:cNvSpPr/>
          <p:nvPr>
            <p:custDataLst>
              <p:tags r:id="rId6"/>
            </p:custDataLst>
          </p:nvPr>
        </p:nvSpPr>
        <p:spPr>
          <a:xfrm>
            <a:off x="87325" y="4677741"/>
            <a:ext cx="1515987" cy="491392"/>
          </a:xfrm>
          <a:prstGeom prst="rect">
            <a:avLst/>
          </a:prstGeom>
          <a:noFill/>
          <a:ln w="9525" cap="flat" cmpd="sng" algn="ctr">
            <a:noFill/>
            <a:prstDash val="solid"/>
          </a:ln>
          <a:effectLst/>
        </p:spPr>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rPr>
              <a:t>二级指标</a:t>
            </a:r>
            <a:endParaRPr kumimoji="0" lang="en-US" altLang="zh-CN" sz="16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rPr>
              <a:t>（要素）</a:t>
            </a:r>
            <a:endParaRPr kumimoji="0" lang="en-US" altLang="zh-CN" sz="16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sp>
        <p:nvSpPr>
          <p:cNvPr id="14" name="矩形: 圆角 96">
            <a:extLst>
              <a:ext uri="{FF2B5EF4-FFF2-40B4-BE49-F238E27FC236}">
                <a16:creationId xmlns:a16="http://schemas.microsoft.com/office/drawing/2014/main" id="{76D36714-A000-5470-52A2-1BE08B56E52C}"/>
              </a:ext>
            </a:extLst>
          </p:cNvPr>
          <p:cNvSpPr/>
          <p:nvPr>
            <p:custDataLst>
              <p:tags r:id="rId7"/>
            </p:custDataLst>
          </p:nvPr>
        </p:nvSpPr>
        <p:spPr>
          <a:xfrm>
            <a:off x="302944" y="5545474"/>
            <a:ext cx="11625531" cy="719382"/>
          </a:xfrm>
          <a:prstGeom prst="rect">
            <a:avLst/>
          </a:prstGeom>
          <a:solidFill>
            <a:schemeClr val="accent6">
              <a:lumMod val="20000"/>
              <a:lumOff val="80000"/>
            </a:schemeClr>
          </a:solidFill>
          <a:ln w="9525" cap="flat" cmpd="sng" algn="ctr">
            <a:noFill/>
            <a:prstDash val="dash"/>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sp>
        <p:nvSpPr>
          <p:cNvPr id="15" name="矩形: 圆角 96">
            <a:extLst>
              <a:ext uri="{FF2B5EF4-FFF2-40B4-BE49-F238E27FC236}">
                <a16:creationId xmlns:a16="http://schemas.microsoft.com/office/drawing/2014/main" id="{63A33255-F73C-BED8-1FD0-60379363A952}"/>
              </a:ext>
            </a:extLst>
          </p:cNvPr>
          <p:cNvSpPr/>
          <p:nvPr>
            <p:custDataLst>
              <p:tags r:id="rId8"/>
            </p:custDataLst>
          </p:nvPr>
        </p:nvSpPr>
        <p:spPr>
          <a:xfrm>
            <a:off x="87325" y="5664577"/>
            <a:ext cx="1515987" cy="491392"/>
          </a:xfrm>
          <a:prstGeom prst="rect">
            <a:avLst/>
          </a:prstGeom>
          <a:noFill/>
          <a:ln w="9525" cap="flat" cmpd="sng" algn="ctr">
            <a:noFill/>
            <a:prstDash val="solid"/>
          </a:ln>
          <a:effectLst/>
        </p:spPr>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rPr>
              <a:t>三级指标</a:t>
            </a:r>
            <a:endParaRPr kumimoji="0" lang="en-US" altLang="zh-CN" sz="16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rPr>
              <a:t>（诊断题）</a:t>
            </a:r>
            <a:endParaRPr kumimoji="0" lang="en-US" altLang="zh-CN" sz="16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cxnSp>
        <p:nvCxnSpPr>
          <p:cNvPr id="16" name="连接符: 肘形 15">
            <a:extLst>
              <a:ext uri="{FF2B5EF4-FFF2-40B4-BE49-F238E27FC236}">
                <a16:creationId xmlns:a16="http://schemas.microsoft.com/office/drawing/2014/main" id="{31EFD94C-3250-38EF-7A70-A3636A4EBECF}"/>
              </a:ext>
            </a:extLst>
          </p:cNvPr>
          <p:cNvCxnSpPr>
            <a:cxnSpLocks/>
            <a:stCxn id="23" idx="2"/>
            <a:endCxn id="18" idx="0"/>
          </p:cNvCxnSpPr>
          <p:nvPr/>
        </p:nvCxnSpPr>
        <p:spPr>
          <a:xfrm rot="16200000" flipH="1">
            <a:off x="4671680" y="3658322"/>
            <a:ext cx="221561" cy="241117"/>
          </a:xfrm>
          <a:prstGeom prst="bentConnector3">
            <a:avLst>
              <a:gd name="adj1" fmla="val 50000"/>
            </a:avLst>
          </a:prstGeom>
          <a:noFill/>
          <a:ln w="9525" cap="flat" cmpd="sng" algn="ctr">
            <a:solidFill>
              <a:srgbClr val="000000"/>
            </a:solidFill>
            <a:prstDash val="solid"/>
          </a:ln>
          <a:effectLst/>
        </p:spPr>
      </p:cxnSp>
      <p:sp>
        <p:nvSpPr>
          <p:cNvPr id="17" name="矩形 16">
            <a:extLst>
              <a:ext uri="{FF2B5EF4-FFF2-40B4-BE49-F238E27FC236}">
                <a16:creationId xmlns:a16="http://schemas.microsoft.com/office/drawing/2014/main" id="{6ABA86E3-D7ED-7CF8-227B-39FAA301592B}"/>
              </a:ext>
            </a:extLst>
          </p:cNvPr>
          <p:cNvSpPr/>
          <p:nvPr>
            <p:custDataLst>
              <p:tags r:id="rId9"/>
            </p:custDataLst>
          </p:nvPr>
        </p:nvSpPr>
        <p:spPr>
          <a:xfrm>
            <a:off x="3371745" y="3889662"/>
            <a:ext cx="753702" cy="518151"/>
          </a:xfrm>
          <a:prstGeom prst="rect">
            <a:avLst/>
          </a:prstGeom>
          <a:solidFill>
            <a:srgbClr val="4B8D56"/>
          </a:solidFill>
          <a:ln w="9525" cap="flat" cmpd="sng" algn="ctr">
            <a:noFill/>
            <a:prstDash val="solid"/>
          </a:ln>
          <a:effectLst/>
        </p:spPr>
        <p:txBody>
          <a:bodyPr vertOverflow="overflow" horzOverflow="overflow" vert="horz" wrap="square" lIns="36000" rIns="3600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因子</a:t>
            </a:r>
            <a:r>
              <a:rPr kumimoji="0" lang="en-US" altLang="zh-CN"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1" u="none" strike="noStrike" kern="0" cap="none" spc="0" normalizeH="0" baseline="0" noProof="0" dirty="0">
                <a:ln>
                  <a:noFill/>
                </a:ln>
                <a:solidFill>
                  <a:srgbClr val="FFFFFF"/>
                </a:solidFill>
                <a:effectLst/>
                <a:uLnTx/>
                <a:uFillTx/>
                <a:latin typeface="Arial"/>
                <a:ea typeface="Alibaba PuHuiTi 2.0 55 Regular"/>
                <a:cs typeface="Alibaba PuHuiTi 2.0 55 Regular"/>
              </a:rPr>
              <a:t>8.1</a:t>
            </a:r>
            <a:endParaRPr kumimoji="0" lang="zh-CN" altLang="en-US" sz="1400" b="1" i="1" u="none" strike="noStrike" kern="0" cap="none" spc="0" normalizeH="0" baseline="0" noProof="0" dirty="0">
              <a:ln>
                <a:noFill/>
              </a:ln>
              <a:solidFill>
                <a:srgbClr val="FFFFFF"/>
              </a:solidFill>
              <a:effectLst/>
              <a:uLnTx/>
              <a:uFillTx/>
              <a:latin typeface="Arial"/>
              <a:ea typeface="Alibaba PuHuiTi 2.0 55 Regular"/>
              <a:cs typeface="Alibaba PuHuiTi 2.0 55 Regular"/>
            </a:endParaRPr>
          </a:p>
        </p:txBody>
      </p:sp>
      <p:sp>
        <p:nvSpPr>
          <p:cNvPr id="18" name="矩形 17">
            <a:extLst>
              <a:ext uri="{FF2B5EF4-FFF2-40B4-BE49-F238E27FC236}">
                <a16:creationId xmlns:a16="http://schemas.microsoft.com/office/drawing/2014/main" id="{378536AA-0D78-7E2F-65F2-6BFD47E16EB6}"/>
              </a:ext>
            </a:extLst>
          </p:cNvPr>
          <p:cNvSpPr/>
          <p:nvPr>
            <p:custDataLst>
              <p:tags r:id="rId10"/>
            </p:custDataLst>
          </p:nvPr>
        </p:nvSpPr>
        <p:spPr>
          <a:xfrm>
            <a:off x="4526168" y="3889662"/>
            <a:ext cx="753702" cy="518151"/>
          </a:xfrm>
          <a:prstGeom prst="rect">
            <a:avLst/>
          </a:prstGeom>
          <a:solidFill>
            <a:srgbClr val="4B8D56"/>
          </a:solidFill>
          <a:ln w="9525" cap="flat" cmpd="sng" algn="ctr">
            <a:noFill/>
            <a:prstDash val="solid"/>
          </a:ln>
          <a:effectLst/>
        </p:spPr>
        <p:txBody>
          <a:bodyPr vertOverflow="overflow" horzOverflow="overflow" vert="horz" wrap="square" lIns="36000" rIns="3600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endParaRPr kumimoji="0" lang="zh-CN" altLang="en-US"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endParaRPr>
          </a:p>
        </p:txBody>
      </p:sp>
      <p:cxnSp>
        <p:nvCxnSpPr>
          <p:cNvPr id="19" name="连接符: 肘形 18">
            <a:extLst>
              <a:ext uri="{FF2B5EF4-FFF2-40B4-BE49-F238E27FC236}">
                <a16:creationId xmlns:a16="http://schemas.microsoft.com/office/drawing/2014/main" id="{C835098A-03C3-1049-03F5-7033AC9070B4}"/>
              </a:ext>
            </a:extLst>
          </p:cNvPr>
          <p:cNvCxnSpPr>
            <a:cxnSpLocks/>
            <a:stCxn id="17" idx="2"/>
          </p:cNvCxnSpPr>
          <p:nvPr/>
        </p:nvCxnSpPr>
        <p:spPr>
          <a:xfrm rot="5400000">
            <a:off x="2670054" y="3658011"/>
            <a:ext cx="328740" cy="1828345"/>
          </a:xfrm>
          <a:prstGeom prst="bentConnector3">
            <a:avLst/>
          </a:prstGeom>
          <a:noFill/>
          <a:ln w="9525" cap="flat" cmpd="sng" algn="ctr">
            <a:solidFill>
              <a:srgbClr val="000000"/>
            </a:solidFill>
            <a:prstDash val="solid"/>
          </a:ln>
          <a:effectLst/>
        </p:spPr>
      </p:cxnSp>
      <p:cxnSp>
        <p:nvCxnSpPr>
          <p:cNvPr id="20" name="连接符: 肘形 19">
            <a:extLst>
              <a:ext uri="{FF2B5EF4-FFF2-40B4-BE49-F238E27FC236}">
                <a16:creationId xmlns:a16="http://schemas.microsoft.com/office/drawing/2014/main" id="{2E03A7DF-FFEA-E522-F8BA-D4BD206C6084}"/>
              </a:ext>
            </a:extLst>
          </p:cNvPr>
          <p:cNvCxnSpPr>
            <a:cxnSpLocks/>
            <a:stCxn id="17" idx="2"/>
          </p:cNvCxnSpPr>
          <p:nvPr/>
        </p:nvCxnSpPr>
        <p:spPr>
          <a:xfrm rot="16200000" flipH="1">
            <a:off x="3714518" y="4441890"/>
            <a:ext cx="328740" cy="260585"/>
          </a:xfrm>
          <a:prstGeom prst="bentConnector3">
            <a:avLst>
              <a:gd name="adj1" fmla="val 50000"/>
            </a:avLst>
          </a:prstGeom>
          <a:noFill/>
          <a:ln w="9525" cap="flat" cmpd="sng" algn="ctr">
            <a:solidFill>
              <a:srgbClr val="000000"/>
            </a:solidFill>
            <a:prstDash val="solid"/>
          </a:ln>
          <a:effectLst/>
        </p:spPr>
      </p:cxnSp>
      <p:cxnSp>
        <p:nvCxnSpPr>
          <p:cNvPr id="21" name="连接符: 肘形 20">
            <a:extLst>
              <a:ext uri="{FF2B5EF4-FFF2-40B4-BE49-F238E27FC236}">
                <a16:creationId xmlns:a16="http://schemas.microsoft.com/office/drawing/2014/main" id="{2B82B229-1F70-CDD2-EAF9-B63B0B0D0087}"/>
              </a:ext>
            </a:extLst>
          </p:cNvPr>
          <p:cNvCxnSpPr>
            <a:cxnSpLocks/>
            <a:stCxn id="17" idx="2"/>
          </p:cNvCxnSpPr>
          <p:nvPr/>
        </p:nvCxnSpPr>
        <p:spPr>
          <a:xfrm rot="16200000" flipH="1">
            <a:off x="4230806" y="3925602"/>
            <a:ext cx="328740" cy="1293161"/>
          </a:xfrm>
          <a:prstGeom prst="bentConnector3">
            <a:avLst>
              <a:gd name="adj1" fmla="val 50000"/>
            </a:avLst>
          </a:prstGeom>
          <a:noFill/>
          <a:ln w="9525" cap="flat" cmpd="sng" algn="ctr">
            <a:solidFill>
              <a:srgbClr val="000000"/>
            </a:solidFill>
            <a:prstDash val="solid"/>
          </a:ln>
          <a:effectLst/>
        </p:spPr>
      </p:cxnSp>
      <p:cxnSp>
        <p:nvCxnSpPr>
          <p:cNvPr id="22" name="连接符: 肘形 21">
            <a:extLst>
              <a:ext uri="{FF2B5EF4-FFF2-40B4-BE49-F238E27FC236}">
                <a16:creationId xmlns:a16="http://schemas.microsoft.com/office/drawing/2014/main" id="{F49FD947-DF03-8EAB-5766-C2F19ED215F0}"/>
              </a:ext>
            </a:extLst>
          </p:cNvPr>
          <p:cNvCxnSpPr>
            <a:cxnSpLocks/>
            <a:stCxn id="17" idx="2"/>
          </p:cNvCxnSpPr>
          <p:nvPr/>
        </p:nvCxnSpPr>
        <p:spPr>
          <a:xfrm rot="5400000">
            <a:off x="3192287" y="4180243"/>
            <a:ext cx="328740" cy="783880"/>
          </a:xfrm>
          <a:prstGeom prst="bentConnector3">
            <a:avLst/>
          </a:prstGeom>
          <a:noFill/>
          <a:ln w="9525" cap="flat" cmpd="sng" algn="ctr">
            <a:solidFill>
              <a:srgbClr val="000000"/>
            </a:solidFill>
            <a:prstDash val="solid"/>
          </a:ln>
          <a:effectLst/>
        </p:spPr>
      </p:cxnSp>
      <p:sp>
        <p:nvSpPr>
          <p:cNvPr id="23" name="矩形 22">
            <a:extLst>
              <a:ext uri="{FF2B5EF4-FFF2-40B4-BE49-F238E27FC236}">
                <a16:creationId xmlns:a16="http://schemas.microsoft.com/office/drawing/2014/main" id="{A722F9FD-A44E-02D5-F541-670C3678BB54}"/>
              </a:ext>
            </a:extLst>
          </p:cNvPr>
          <p:cNvSpPr/>
          <p:nvPr>
            <p:custDataLst>
              <p:tags r:id="rId11"/>
            </p:custDataLst>
          </p:nvPr>
        </p:nvSpPr>
        <p:spPr>
          <a:xfrm>
            <a:off x="4043934" y="3149950"/>
            <a:ext cx="1235936" cy="518151"/>
          </a:xfrm>
          <a:prstGeom prst="rect">
            <a:avLst/>
          </a:prstGeom>
          <a:solidFill>
            <a:srgbClr val="4B8D56"/>
          </a:solidFill>
          <a:ln w="9525" cap="flat" cmpd="sng" algn="ctr">
            <a:noFill/>
            <a:prstDash val="solid"/>
          </a:ln>
          <a:effectLst/>
        </p:spPr>
        <p:txBody>
          <a:bodyPr vertOverflow="overflow" horzOverflow="overflow" vert="horz" wrap="square" lIns="36000" rIns="3600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SSI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1" u="none" strike="noStrike" kern="0" cap="none" spc="0" normalizeH="0" baseline="0" noProof="0" dirty="0">
                <a:ln>
                  <a:noFill/>
                </a:ln>
                <a:solidFill>
                  <a:srgbClr val="FFFFFF"/>
                </a:solidFill>
                <a:effectLst/>
                <a:uLnTx/>
                <a:uFillTx/>
                <a:latin typeface="Arial"/>
                <a:ea typeface="Alibaba PuHuiTi 2.0 55 Regular"/>
                <a:cs typeface="Alibaba PuHuiTi 2.0 55 Regular"/>
              </a:rPr>
              <a:t>794</a:t>
            </a:r>
            <a:r>
              <a:rPr kumimoji="0" lang="zh-CN" altLang="en-US"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 </a:t>
            </a:r>
          </a:p>
        </p:txBody>
      </p:sp>
      <p:cxnSp>
        <p:nvCxnSpPr>
          <p:cNvPr id="24" name="连接符: 肘形 23">
            <a:extLst>
              <a:ext uri="{FF2B5EF4-FFF2-40B4-BE49-F238E27FC236}">
                <a16:creationId xmlns:a16="http://schemas.microsoft.com/office/drawing/2014/main" id="{0D2100A0-93F7-11F7-866C-37AFD39D95AB}"/>
              </a:ext>
            </a:extLst>
          </p:cNvPr>
          <p:cNvCxnSpPr>
            <a:cxnSpLocks/>
            <a:stCxn id="23" idx="2"/>
            <a:endCxn id="17" idx="0"/>
          </p:cNvCxnSpPr>
          <p:nvPr/>
        </p:nvCxnSpPr>
        <p:spPr>
          <a:xfrm rot="5400000">
            <a:off x="4094469" y="3322228"/>
            <a:ext cx="221561" cy="913306"/>
          </a:xfrm>
          <a:prstGeom prst="bentConnector3">
            <a:avLst>
              <a:gd name="adj1" fmla="val 50000"/>
            </a:avLst>
          </a:prstGeom>
          <a:noFill/>
          <a:ln w="9525" cap="flat" cmpd="sng" algn="ctr">
            <a:solidFill>
              <a:srgbClr val="000000"/>
            </a:solidFill>
            <a:prstDash val="solid"/>
          </a:ln>
          <a:effectLst/>
        </p:spPr>
      </p:cxnSp>
      <p:sp>
        <p:nvSpPr>
          <p:cNvPr id="25" name="矩形 24">
            <a:extLst>
              <a:ext uri="{FF2B5EF4-FFF2-40B4-BE49-F238E27FC236}">
                <a16:creationId xmlns:a16="http://schemas.microsoft.com/office/drawing/2014/main" id="{AA5E2013-70EE-801F-64A2-9F8B647A96D6}"/>
              </a:ext>
            </a:extLst>
          </p:cNvPr>
          <p:cNvSpPr/>
          <p:nvPr>
            <p:custDataLst>
              <p:tags r:id="rId12"/>
            </p:custDataLst>
          </p:nvPr>
        </p:nvSpPr>
        <p:spPr>
          <a:xfrm>
            <a:off x="1477717" y="5675136"/>
            <a:ext cx="1444989" cy="518151"/>
          </a:xfrm>
          <a:prstGeom prst="rect">
            <a:avLst/>
          </a:prstGeom>
          <a:solidFill>
            <a:schemeClr val="bg1">
              <a:lumMod val="75000"/>
            </a:schemeClr>
          </a:solidFill>
          <a:ln w="9525" cap="flat" cmpd="sng" algn="ctr">
            <a:noFill/>
            <a:prstDash val="solid"/>
          </a:ln>
          <a:effectLst/>
        </p:spPr>
        <p:txBody>
          <a:bodyPr vertOverflow="overflow" horzOverflow="overflow" vert="horz" wrap="square" lIns="36000" rIns="3600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诊断题</a:t>
            </a:r>
            <a:r>
              <a:rPr kumimoji="0" lang="en-US" altLang="zh-CN"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r>
              <a:rPr kumimoji="0" lang="zh-CN" altLang="en-US"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认知</a:t>
            </a:r>
            <a:r>
              <a:rPr kumimoji="0" lang="en-US" altLang="zh-CN"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r>
              <a:rPr kumimoji="0" lang="zh-CN" altLang="en-US"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需求</a:t>
            </a:r>
            <a:r>
              <a:rPr kumimoji="0" lang="en-US" altLang="zh-CN"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r>
              <a:rPr kumimoji="0" lang="zh-CN" altLang="en-US"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体验</a:t>
            </a:r>
            <a:r>
              <a:rPr kumimoji="0" lang="en-US" altLang="zh-CN"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r>
              <a:rPr kumimoji="0" lang="zh-CN" altLang="en-US"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期望</a:t>
            </a:r>
            <a:r>
              <a:rPr kumimoji="0" lang="en-US" altLang="zh-CN"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endParaRPr kumimoji="0" lang="zh-CN" altLang="en-US"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endParaRPr>
          </a:p>
        </p:txBody>
      </p:sp>
      <p:sp>
        <p:nvSpPr>
          <p:cNvPr id="26" name="矩形 25">
            <a:extLst>
              <a:ext uri="{FF2B5EF4-FFF2-40B4-BE49-F238E27FC236}">
                <a16:creationId xmlns:a16="http://schemas.microsoft.com/office/drawing/2014/main" id="{B32B47BB-65DA-8977-1F61-C149568B616F}"/>
              </a:ext>
            </a:extLst>
          </p:cNvPr>
          <p:cNvSpPr/>
          <p:nvPr>
            <p:custDataLst>
              <p:tags r:id="rId13"/>
            </p:custDataLst>
          </p:nvPr>
        </p:nvSpPr>
        <p:spPr>
          <a:xfrm>
            <a:off x="4821657" y="5675136"/>
            <a:ext cx="622893" cy="518151"/>
          </a:xfrm>
          <a:prstGeom prst="rect">
            <a:avLst/>
          </a:prstGeom>
          <a:solidFill>
            <a:schemeClr val="bg1">
              <a:lumMod val="75000"/>
            </a:schemeClr>
          </a:solidFill>
          <a:ln w="9525" cap="flat" cmpd="sng" algn="ctr">
            <a:noFill/>
            <a:prstDash val="solid"/>
          </a:ln>
          <a:effectLst/>
        </p:spPr>
        <p:txBody>
          <a:bodyPr vertOverflow="overflow" horzOverflow="overflow" vert="horz" wrap="square" lIns="36000" rIns="3600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endParaRPr kumimoji="0" lang="zh-CN" altLang="en-US"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endParaRPr>
          </a:p>
        </p:txBody>
      </p:sp>
      <p:sp>
        <p:nvSpPr>
          <p:cNvPr id="27" name="矩形 26">
            <a:extLst>
              <a:ext uri="{FF2B5EF4-FFF2-40B4-BE49-F238E27FC236}">
                <a16:creationId xmlns:a16="http://schemas.microsoft.com/office/drawing/2014/main" id="{31810FB3-D08F-C9A8-AA7E-71D6D76DE3DA}"/>
              </a:ext>
            </a:extLst>
          </p:cNvPr>
          <p:cNvSpPr/>
          <p:nvPr>
            <p:custDataLst>
              <p:tags r:id="rId14"/>
            </p:custDataLst>
          </p:nvPr>
        </p:nvSpPr>
        <p:spPr>
          <a:xfrm>
            <a:off x="1505714" y="4752178"/>
            <a:ext cx="829072" cy="518151"/>
          </a:xfrm>
          <a:prstGeom prst="rect">
            <a:avLst/>
          </a:prstGeom>
          <a:solidFill>
            <a:srgbClr val="4B8D56"/>
          </a:solidFill>
          <a:ln w="9525" cap="flat" cmpd="sng" algn="ctr">
            <a:noFill/>
            <a:prstDash val="solid"/>
          </a:ln>
          <a:effectLst/>
        </p:spPr>
        <p:txBody>
          <a:bodyPr vertOverflow="overflow" horzOverflow="overflow" vert="horz" wrap="square" lIns="36000" rIns="3600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要素</a:t>
            </a:r>
            <a:r>
              <a:rPr kumimoji="0" lang="en-US" altLang="zh-CN"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1" u="none" strike="noStrike" kern="0" cap="none" spc="0" normalizeH="0" baseline="0" noProof="0" dirty="0">
                <a:ln>
                  <a:noFill/>
                </a:ln>
                <a:solidFill>
                  <a:srgbClr val="FFFFFF"/>
                </a:solidFill>
                <a:effectLst/>
                <a:uLnTx/>
                <a:uFillTx/>
                <a:latin typeface="Arial"/>
                <a:ea typeface="Alibaba PuHuiTi 2.0 55 Regular"/>
                <a:cs typeface="Alibaba PuHuiTi 2.0 55 Regular"/>
              </a:rPr>
              <a:t>7.9</a:t>
            </a:r>
            <a:endParaRPr kumimoji="0" lang="zh-CN" altLang="en-US" sz="1100" b="1" i="1" u="none" strike="noStrike" kern="0" cap="none" spc="0" normalizeH="0" baseline="0" noProof="0" dirty="0">
              <a:ln>
                <a:noFill/>
              </a:ln>
              <a:solidFill>
                <a:srgbClr val="FFFFFF"/>
              </a:solidFill>
              <a:effectLst/>
              <a:uLnTx/>
              <a:uFillTx/>
              <a:latin typeface="Arial"/>
              <a:ea typeface="Alibaba PuHuiTi 2.0 55 Regular"/>
              <a:cs typeface="Alibaba PuHuiTi 2.0 55 Regular"/>
            </a:endParaRPr>
          </a:p>
        </p:txBody>
      </p:sp>
      <p:sp>
        <p:nvSpPr>
          <p:cNvPr id="28" name="矩形 27">
            <a:extLst>
              <a:ext uri="{FF2B5EF4-FFF2-40B4-BE49-F238E27FC236}">
                <a16:creationId xmlns:a16="http://schemas.microsoft.com/office/drawing/2014/main" id="{9E2939A8-A6E5-4D56-90A7-0E06DF675314}"/>
              </a:ext>
            </a:extLst>
          </p:cNvPr>
          <p:cNvSpPr/>
          <p:nvPr>
            <p:custDataLst>
              <p:tags r:id="rId15"/>
            </p:custDataLst>
          </p:nvPr>
        </p:nvSpPr>
        <p:spPr>
          <a:xfrm>
            <a:off x="2550179" y="4752178"/>
            <a:ext cx="829072" cy="518151"/>
          </a:xfrm>
          <a:prstGeom prst="rect">
            <a:avLst/>
          </a:prstGeom>
          <a:solidFill>
            <a:srgbClr val="4B8D56"/>
          </a:solidFill>
          <a:ln w="9525" cap="flat" cmpd="sng" algn="ctr">
            <a:noFill/>
            <a:prstDash val="solid"/>
          </a:ln>
          <a:effectLst/>
        </p:spPr>
        <p:txBody>
          <a:bodyPr vertOverflow="overflow" horzOverflow="overflow" vert="horz" wrap="square" lIns="36000" rIns="3600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要素</a:t>
            </a:r>
            <a:r>
              <a:rPr kumimoji="0" lang="en-US" altLang="zh-CN"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r>
              <a:rPr kumimoji="0" lang="zh-CN" altLang="en-US" sz="11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评价</a:t>
            </a:r>
            <a:r>
              <a:rPr kumimoji="0" lang="en-US" altLang="zh-CN" sz="11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endParaRPr kumimoji="0" lang="zh-CN" altLang="en-US" sz="1100" b="1" i="0" u="none" strike="noStrike" kern="0" cap="none" spc="0" normalizeH="0" baseline="0" noProof="0" dirty="0">
              <a:ln>
                <a:noFill/>
              </a:ln>
              <a:solidFill>
                <a:srgbClr val="FFFFFF"/>
              </a:solidFill>
              <a:effectLst/>
              <a:uLnTx/>
              <a:uFillTx/>
              <a:latin typeface="Arial"/>
              <a:ea typeface="Alibaba PuHuiTi 2.0 55 Regular"/>
              <a:cs typeface="Alibaba PuHuiTi 2.0 55 Regular"/>
            </a:endParaRPr>
          </a:p>
        </p:txBody>
      </p:sp>
      <p:sp>
        <p:nvSpPr>
          <p:cNvPr id="29" name="矩形 28">
            <a:extLst>
              <a:ext uri="{FF2B5EF4-FFF2-40B4-BE49-F238E27FC236}">
                <a16:creationId xmlns:a16="http://schemas.microsoft.com/office/drawing/2014/main" id="{543BEBC2-8A25-779D-7AD2-3EAE7631205A}"/>
              </a:ext>
            </a:extLst>
          </p:cNvPr>
          <p:cNvSpPr/>
          <p:nvPr>
            <p:custDataLst>
              <p:tags r:id="rId16"/>
            </p:custDataLst>
          </p:nvPr>
        </p:nvSpPr>
        <p:spPr>
          <a:xfrm>
            <a:off x="3594644" y="4752178"/>
            <a:ext cx="829072" cy="518151"/>
          </a:xfrm>
          <a:prstGeom prst="rect">
            <a:avLst/>
          </a:prstGeom>
          <a:solidFill>
            <a:srgbClr val="4B8D56"/>
          </a:solidFill>
          <a:ln w="9525" cap="flat" cmpd="sng" algn="ctr">
            <a:noFill/>
            <a:prstDash val="solid"/>
          </a:ln>
          <a:effectLst/>
        </p:spPr>
        <p:txBody>
          <a:bodyPr vertOverflow="overflow" horzOverflow="overflow" vert="horz" wrap="square" lIns="36000" rIns="3600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endParaRPr kumimoji="0" lang="zh-CN" altLang="en-US"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endParaRPr>
          </a:p>
        </p:txBody>
      </p:sp>
      <p:sp>
        <p:nvSpPr>
          <p:cNvPr id="30" name="矩形 29">
            <a:extLst>
              <a:ext uri="{FF2B5EF4-FFF2-40B4-BE49-F238E27FC236}">
                <a16:creationId xmlns:a16="http://schemas.microsoft.com/office/drawing/2014/main" id="{E70CFCF3-172E-19AF-3EB4-C299CE9A0C04}"/>
              </a:ext>
            </a:extLst>
          </p:cNvPr>
          <p:cNvSpPr/>
          <p:nvPr>
            <p:custDataLst>
              <p:tags r:id="rId17"/>
            </p:custDataLst>
          </p:nvPr>
        </p:nvSpPr>
        <p:spPr>
          <a:xfrm>
            <a:off x="4627220" y="4752178"/>
            <a:ext cx="652650" cy="518151"/>
          </a:xfrm>
          <a:prstGeom prst="rect">
            <a:avLst/>
          </a:prstGeom>
          <a:solidFill>
            <a:srgbClr val="4B8D56"/>
          </a:solidFill>
          <a:ln w="9525" cap="flat" cmpd="sng" algn="ctr">
            <a:noFill/>
            <a:prstDash val="solid"/>
          </a:ln>
          <a:effectLst/>
        </p:spPr>
        <p:txBody>
          <a:bodyPr vertOverflow="overflow" horzOverflow="overflow" vert="horz" wrap="square" lIns="36000" rIns="3600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endParaRPr kumimoji="0" lang="zh-CN" altLang="en-US"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endParaRPr>
          </a:p>
        </p:txBody>
      </p:sp>
      <p:sp>
        <p:nvSpPr>
          <p:cNvPr id="31" name="矩形 30">
            <a:extLst>
              <a:ext uri="{FF2B5EF4-FFF2-40B4-BE49-F238E27FC236}">
                <a16:creationId xmlns:a16="http://schemas.microsoft.com/office/drawing/2014/main" id="{ED1E498F-5CF8-3BB5-0F9C-BDD70A8CFF16}"/>
              </a:ext>
            </a:extLst>
          </p:cNvPr>
          <p:cNvSpPr/>
          <p:nvPr>
            <p:custDataLst>
              <p:tags r:id="rId18"/>
            </p:custDataLst>
          </p:nvPr>
        </p:nvSpPr>
        <p:spPr>
          <a:xfrm>
            <a:off x="3131003" y="5675136"/>
            <a:ext cx="1444989" cy="518151"/>
          </a:xfrm>
          <a:prstGeom prst="rect">
            <a:avLst/>
          </a:prstGeom>
          <a:solidFill>
            <a:schemeClr val="bg1">
              <a:lumMod val="75000"/>
            </a:schemeClr>
          </a:solidFill>
          <a:ln w="9525" cap="flat" cmpd="sng" algn="ctr">
            <a:noFill/>
            <a:prstDash val="solid"/>
          </a:ln>
          <a:effectLst/>
        </p:spPr>
        <p:txBody>
          <a:bodyPr vertOverflow="overflow" horzOverflow="overflow" vert="horz" wrap="square" lIns="36000" rIns="3600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诊断题</a:t>
            </a:r>
            <a:r>
              <a:rPr kumimoji="0" lang="en-US" altLang="zh-CN" sz="140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r>
              <a:rPr kumimoji="0" lang="zh-CN" altLang="en-US"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认知</a:t>
            </a:r>
            <a:r>
              <a:rPr kumimoji="0" lang="en-US" altLang="zh-CN"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r>
              <a:rPr kumimoji="0" lang="zh-CN" altLang="en-US"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需求</a:t>
            </a:r>
            <a:r>
              <a:rPr kumimoji="0" lang="en-US" altLang="zh-CN"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r>
              <a:rPr kumimoji="0" lang="zh-CN" altLang="en-US"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体验</a:t>
            </a:r>
            <a:r>
              <a:rPr kumimoji="0" lang="en-US" altLang="zh-CN"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r>
              <a:rPr kumimoji="0" lang="zh-CN" altLang="en-US"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期望</a:t>
            </a:r>
            <a:r>
              <a:rPr kumimoji="0" lang="en-US" altLang="zh-CN"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rPr>
              <a:t>)</a:t>
            </a:r>
            <a:endParaRPr kumimoji="0" lang="zh-CN" altLang="en-US" sz="1050" b="1" i="0" u="none" strike="noStrike" kern="0" cap="none" spc="0" normalizeH="0" baseline="0" noProof="0" dirty="0">
              <a:ln>
                <a:noFill/>
              </a:ln>
              <a:solidFill>
                <a:srgbClr val="FFFFFF"/>
              </a:solidFill>
              <a:effectLst/>
              <a:uLnTx/>
              <a:uFillTx/>
              <a:latin typeface="Arial"/>
              <a:ea typeface="Alibaba PuHuiTi 2.0 55 Regular"/>
              <a:cs typeface="Alibaba PuHuiTi 2.0 55 Regular"/>
            </a:endParaRPr>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6B5E2783-DEE1-A902-5CC8-9C4AD5FACF52}"/>
                  </a:ext>
                </a:extLst>
              </p:cNvPr>
              <p:cNvSpPr txBox="1"/>
              <p:nvPr/>
            </p:nvSpPr>
            <p:spPr>
              <a:xfrm>
                <a:off x="5730334" y="3887137"/>
                <a:ext cx="5893486" cy="967090"/>
              </a:xfrm>
              <a:prstGeom prst="rect">
                <a:avLst/>
              </a:prstGeom>
              <a:noFill/>
              <a:ln>
                <a:noFill/>
              </a:ln>
            </p:spPr>
            <p:txBody>
              <a:bodyPr wrap="square"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zh-CN" altLang="en-US" sz="1400" b="1" i="0" u="none" strike="noStrike" kern="1200" cap="none" spc="0" normalizeH="0" baseline="0" noProof="0" dirty="0">
                    <a:ln>
                      <a:noFill/>
                    </a:ln>
                    <a:effectLst/>
                    <a:uLnTx/>
                    <a:uFillTx/>
                    <a:latin typeface="微软雅黑" panose="020B0503020204020204" pitchFamily="34" charset="-122"/>
                    <a:ea typeface="Alibaba PuHuiTi 2.0 55 Regular"/>
                    <a:cs typeface="+mn-cs"/>
                  </a:rPr>
                  <a:t>第②步：因子得分</a:t>
                </a:r>
                <a:r>
                  <a:rPr kumimoji="0" lang="en-US" altLang="zh-CN" sz="1400" b="1"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a:t>
                </a:r>
                <a14:m>
                  <m:oMath xmlns:m="http://schemas.openxmlformats.org/officeDocument/2006/math">
                    <m:nary>
                      <m:naryPr>
                        <m:chr m:val="∑"/>
                        <m:subHide m:val="on"/>
                        <m:supHide m:val="on"/>
                        <m:ctrlPr>
                          <a:rPr kumimoji="0" lang="en-US" altLang="zh-CN" sz="1400" b="0" i="1" u="none" strike="noStrike" kern="1200" cap="none" spc="0" normalizeH="0" baseline="0" noProof="0" smtClean="0">
                            <a:ln>
                              <a:noFill/>
                            </a:ln>
                            <a:solidFill>
                              <a:srgbClr val="181818"/>
                            </a:solidFill>
                            <a:effectLst/>
                            <a:uLnTx/>
                            <a:uFillTx/>
                            <a:latin typeface="Cambria Math" panose="02040503050406030204" pitchFamily="18" charset="0"/>
                            <a:cs typeface="+mn-cs"/>
                          </a:rPr>
                        </m:ctrlPr>
                      </m:naryPr>
                      <m:sub/>
                      <m:sup/>
                      <m:e>
                        <m:r>
                          <a:rPr kumimoji="0" lang="zh-CN" altLang="en-US" sz="1400" b="0" i="1" u="none" strike="noStrike" kern="1200" cap="none" spc="0" normalizeH="0" baseline="0" noProof="0">
                            <a:ln>
                              <a:noFill/>
                            </a:ln>
                            <a:solidFill>
                              <a:srgbClr val="181818"/>
                            </a:solidFill>
                            <a:effectLst/>
                            <a:uLnTx/>
                            <a:uFillTx/>
                            <a:latin typeface="Cambria Math" panose="02040503050406030204" pitchFamily="18" charset="0"/>
                            <a:cs typeface="+mn-cs"/>
                          </a:rPr>
                          <m:t>因子所包含要素得分</m:t>
                        </m:r>
                        <m:r>
                          <a:rPr kumimoji="0" lang="en-US" altLang="zh-CN" sz="1400" b="0" i="1" u="none" strike="noStrike" kern="1200" cap="none" spc="0" normalizeH="0" baseline="0" noProof="0">
                            <a:ln>
                              <a:noFill/>
                            </a:ln>
                            <a:solidFill>
                              <a:srgbClr val="181818"/>
                            </a:solidFill>
                            <a:effectLst/>
                            <a:uLnTx/>
                            <a:uFillTx/>
                            <a:latin typeface="Cambria Math" panose="02040503050406030204" pitchFamily="18" charset="0"/>
                            <a:cs typeface="+mn-cs"/>
                          </a:rPr>
                          <m:t>×</m:t>
                        </m:r>
                        <m:r>
                          <a:rPr kumimoji="0" lang="zh-CN" altLang="en-US" sz="1400" b="0" i="1" u="none" strike="noStrike" kern="1200" cap="none" spc="0" normalizeH="0" baseline="0" noProof="0">
                            <a:ln>
                              <a:noFill/>
                            </a:ln>
                            <a:solidFill>
                              <a:srgbClr val="181818"/>
                            </a:solidFill>
                            <a:effectLst/>
                            <a:uLnTx/>
                            <a:uFillTx/>
                            <a:latin typeface="Cambria Math" panose="02040503050406030204" pitchFamily="18" charset="0"/>
                            <a:cs typeface="+mn-cs"/>
                          </a:rPr>
                          <m:t>要素权重</m:t>
                        </m:r>
                      </m:e>
                    </m:nary>
                  </m:oMath>
                </a14:m>
                <a:endParaRPr kumimoji="0" lang="en-US" altLang="zh-CN" sz="1400" b="0"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zh-CN" altLang="en-US" sz="14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要素权重：通过相关性分析模型计算输出</a:t>
                </a:r>
                <a:endParaRPr kumimoji="0" lang="en-US" altLang="zh-CN" sz="14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endParaRP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endParaRPr kumimoji="0" lang="en-US" altLang="zh-CN" sz="1400" b="1"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endParaRPr>
              </a:p>
            </p:txBody>
          </p:sp>
        </mc:Choice>
        <mc:Fallback xmlns="">
          <p:sp>
            <p:nvSpPr>
              <p:cNvPr id="32" name="文本框 31">
                <a:extLst>
                  <a:ext uri="{FF2B5EF4-FFF2-40B4-BE49-F238E27FC236}">
                    <a16:creationId xmlns:a16="http://schemas.microsoft.com/office/drawing/2014/main" id="{6B5E2783-DEE1-A902-5CC8-9C4AD5FACF52}"/>
                  </a:ext>
                </a:extLst>
              </p:cNvPr>
              <p:cNvSpPr txBox="1">
                <a:spLocks noRot="1" noChangeAspect="1" noMove="1" noResize="1" noEditPoints="1" noAdjustHandles="1" noChangeArrowheads="1" noChangeShapeType="1" noTextEdit="1"/>
              </p:cNvSpPr>
              <p:nvPr/>
            </p:nvSpPr>
            <p:spPr>
              <a:xfrm>
                <a:off x="5730334" y="3887137"/>
                <a:ext cx="5893486" cy="967090"/>
              </a:xfrm>
              <a:prstGeom prst="rect">
                <a:avLst/>
              </a:prstGeom>
              <a:blipFill>
                <a:blip r:embed="rId22"/>
                <a:stretch>
                  <a:fillRect l="-430" t="-3376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4928F122-A8EA-1303-EC0D-A45376D36D4D}"/>
                  </a:ext>
                </a:extLst>
              </p:cNvPr>
              <p:cNvSpPr txBox="1"/>
              <p:nvPr/>
            </p:nvSpPr>
            <p:spPr>
              <a:xfrm>
                <a:off x="5730334" y="3130733"/>
                <a:ext cx="6295228" cy="967090"/>
              </a:xfrm>
              <a:prstGeom prst="rect">
                <a:avLst/>
              </a:prstGeom>
              <a:noFill/>
              <a:ln>
                <a:noFill/>
              </a:ln>
            </p:spPr>
            <p:txBody>
              <a:bodyPr wrap="square"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zh-CN" altLang="en-US" sz="1400" b="1" i="0" u="none" strike="noStrike" kern="1200" cap="none" spc="0" normalizeH="0" baseline="0" noProof="0" dirty="0">
                    <a:ln>
                      <a:noFill/>
                    </a:ln>
                    <a:effectLst/>
                    <a:uLnTx/>
                    <a:uFillTx/>
                    <a:latin typeface="微软雅黑" panose="020B0503020204020204" pitchFamily="34" charset="-122"/>
                    <a:ea typeface="Alibaba PuHuiTi 2.0 55 Regular"/>
                    <a:cs typeface="+mn-cs"/>
                  </a:rPr>
                  <a:t>第③步：</a:t>
                </a:r>
                <a:r>
                  <a:rPr kumimoji="0" lang="en-US" altLang="zh-CN" sz="1400" b="1" i="0" u="none" strike="noStrike" kern="1200" cap="none" spc="0" normalizeH="0" baseline="0" noProof="0" dirty="0">
                    <a:ln>
                      <a:noFill/>
                    </a:ln>
                    <a:effectLst/>
                    <a:uLnTx/>
                    <a:uFillTx/>
                    <a:latin typeface="微软雅黑" panose="020B0503020204020204" pitchFamily="34" charset="-122"/>
                    <a:ea typeface="Alibaba PuHuiTi 2.0 55 Regular"/>
                    <a:cs typeface="+mn-cs"/>
                  </a:rPr>
                  <a:t>SSI</a:t>
                </a:r>
                <a:r>
                  <a:rPr kumimoji="0" lang="zh-CN" altLang="en-US" sz="1400" b="1" i="0" u="none" strike="noStrike" kern="1200" cap="none" spc="0" normalizeH="0" baseline="0" noProof="0" dirty="0">
                    <a:ln>
                      <a:noFill/>
                    </a:ln>
                    <a:effectLst/>
                    <a:uLnTx/>
                    <a:uFillTx/>
                    <a:latin typeface="微软雅黑" panose="020B0503020204020204" pitchFamily="34" charset="-122"/>
                    <a:ea typeface="Alibaba PuHuiTi 2.0 55 Regular"/>
                    <a:cs typeface="+mn-cs"/>
                  </a:rPr>
                  <a:t>满意度得分</a:t>
                </a:r>
                <a:r>
                  <a:rPr kumimoji="0" lang="en-US" altLang="zh-CN" sz="1400" b="1" i="0" u="none" strike="noStrike" kern="1200" cap="none" spc="0" normalizeH="0" baseline="0" noProof="0" dirty="0">
                    <a:ln>
                      <a:noFill/>
                    </a:ln>
                    <a:effectLst/>
                    <a:uLnTx/>
                    <a:uFillTx/>
                    <a:latin typeface="微软雅黑" panose="020B0503020204020204" pitchFamily="34" charset="-122"/>
                    <a:ea typeface="Alibaba PuHuiTi 2.0 55 Regular"/>
                    <a:cs typeface="+mn-cs"/>
                  </a:rPr>
                  <a:t>*</a:t>
                </a:r>
                <a:r>
                  <a:rPr kumimoji="0" lang="en-US" altLang="zh-CN" sz="1400" b="1"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a:t>
                </a:r>
                <a14:m>
                  <m:oMath xmlns:m="http://schemas.openxmlformats.org/officeDocument/2006/math">
                    <m:nary>
                      <m:naryPr>
                        <m:chr m:val="∑"/>
                        <m:subHide m:val="on"/>
                        <m:supHide m:val="on"/>
                        <m:ctrlPr>
                          <a:rPr kumimoji="0" lang="en-US" altLang="zh-CN" sz="1400" b="1" i="1" u="none" strike="noStrike" kern="1200" cap="none" spc="0" normalizeH="0" baseline="0" noProof="0">
                            <a:ln>
                              <a:noFill/>
                            </a:ln>
                            <a:solidFill>
                              <a:srgbClr val="181818"/>
                            </a:solidFill>
                            <a:effectLst/>
                            <a:uLnTx/>
                            <a:uFillTx/>
                            <a:latin typeface="Cambria Math" panose="02040503050406030204" pitchFamily="18" charset="0"/>
                            <a:cs typeface="+mn-cs"/>
                          </a:rPr>
                        </m:ctrlPr>
                      </m:naryPr>
                      <m:sub/>
                      <m:sup/>
                      <m:e>
                        <m:r>
                          <a:rPr kumimoji="0" lang="en-US" altLang="zh-CN" sz="1400" b="1" i="1" u="none" strike="noStrike" kern="1200" cap="none" spc="0" normalizeH="0" baseline="0" noProof="0">
                            <a:ln>
                              <a:noFill/>
                            </a:ln>
                            <a:solidFill>
                              <a:srgbClr val="181818"/>
                            </a:solidFill>
                            <a:effectLst/>
                            <a:uLnTx/>
                            <a:uFillTx/>
                            <a:latin typeface="Cambria Math" panose="02040503050406030204" pitchFamily="18" charset="0"/>
                            <a:cs typeface="+mn-cs"/>
                          </a:rPr>
                          <m:t>𝑺𝑺𝑰</m:t>
                        </m:r>
                        <m:r>
                          <a:rPr kumimoji="0" lang="zh-CN" altLang="en-US" sz="1400" b="1" i="1" u="none" strike="noStrike" kern="1200" cap="none" spc="0" normalizeH="0" baseline="0" noProof="0">
                            <a:ln>
                              <a:noFill/>
                            </a:ln>
                            <a:solidFill>
                              <a:srgbClr val="181818"/>
                            </a:solidFill>
                            <a:effectLst/>
                            <a:uLnTx/>
                            <a:uFillTx/>
                            <a:latin typeface="Cambria Math" panose="02040503050406030204" pitchFamily="18" charset="0"/>
                            <a:cs typeface="+mn-cs"/>
                          </a:rPr>
                          <m:t>所包含因子得分</m:t>
                        </m:r>
                        <m:r>
                          <a:rPr kumimoji="0" lang="en-US" altLang="zh-CN" sz="1400" b="1" i="1" u="none" strike="noStrike" kern="1200" cap="none" spc="0" normalizeH="0" baseline="0" noProof="0">
                            <a:ln>
                              <a:noFill/>
                            </a:ln>
                            <a:solidFill>
                              <a:srgbClr val="181818"/>
                            </a:solidFill>
                            <a:effectLst/>
                            <a:uLnTx/>
                            <a:uFillTx/>
                            <a:latin typeface="Cambria Math" panose="02040503050406030204" pitchFamily="18" charset="0"/>
                            <a:cs typeface="+mn-cs"/>
                          </a:rPr>
                          <m:t>×</m:t>
                        </m:r>
                        <m:r>
                          <a:rPr kumimoji="0" lang="zh-CN" altLang="en-US" sz="1400" b="1" i="1" u="none" strike="noStrike" kern="1200" cap="none" spc="0" normalizeH="0" baseline="0" noProof="0">
                            <a:ln>
                              <a:noFill/>
                            </a:ln>
                            <a:solidFill>
                              <a:srgbClr val="181818"/>
                            </a:solidFill>
                            <a:effectLst/>
                            <a:uLnTx/>
                            <a:uFillTx/>
                            <a:latin typeface="Cambria Math" panose="02040503050406030204" pitchFamily="18" charset="0"/>
                            <a:cs typeface="+mn-cs"/>
                          </a:rPr>
                          <m:t>因子权重</m:t>
                        </m:r>
                      </m:e>
                    </m:nary>
                  </m:oMath>
                </a14:m>
                <a:endParaRPr kumimoji="0" lang="en-US" altLang="zh-CN" sz="14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zh-CN" altLang="en-US" sz="14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因子权重：通过相关性分析模型计算输出</a:t>
                </a:r>
                <a:endParaRPr kumimoji="0" lang="en-US" altLang="zh-CN" sz="1400" b="0" i="1"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endParaRP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Ø"/>
                  <a:tabLst/>
                  <a:defRPr/>
                </a:pPr>
                <a:endParaRPr kumimoji="0" lang="en-US" altLang="zh-CN" sz="1400" b="1"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endParaRPr>
              </a:p>
            </p:txBody>
          </p:sp>
        </mc:Choice>
        <mc:Fallback xmlns="">
          <p:sp>
            <p:nvSpPr>
              <p:cNvPr id="33" name="文本框 32">
                <a:extLst>
                  <a:ext uri="{FF2B5EF4-FFF2-40B4-BE49-F238E27FC236}">
                    <a16:creationId xmlns:a16="http://schemas.microsoft.com/office/drawing/2014/main" id="{4928F122-A8EA-1303-EC0D-A45376D36D4D}"/>
                  </a:ext>
                </a:extLst>
              </p:cNvPr>
              <p:cNvSpPr txBox="1">
                <a:spLocks noRot="1" noChangeAspect="1" noMove="1" noResize="1" noEditPoints="1" noAdjustHandles="1" noChangeArrowheads="1" noChangeShapeType="1" noTextEdit="1"/>
              </p:cNvSpPr>
              <p:nvPr/>
            </p:nvSpPr>
            <p:spPr>
              <a:xfrm>
                <a:off x="5730334" y="3130733"/>
                <a:ext cx="6295228" cy="967090"/>
              </a:xfrm>
              <a:prstGeom prst="rect">
                <a:avLst/>
              </a:prstGeom>
              <a:blipFill>
                <a:blip r:embed="rId23"/>
                <a:stretch>
                  <a:fillRect l="-402" t="-32468"/>
                </a:stretch>
              </a:blipFill>
              <a:ln>
                <a:noFill/>
              </a:ln>
            </p:spPr>
            <p:txBody>
              <a:bodyPr/>
              <a:lstStyle/>
              <a:p>
                <a:r>
                  <a:rPr lang="zh-CN" altLang="en-US">
                    <a:noFill/>
                  </a:rPr>
                  <a:t> </a:t>
                </a:r>
              </a:p>
            </p:txBody>
          </p:sp>
        </mc:Fallback>
      </mc:AlternateContent>
      <p:sp>
        <p:nvSpPr>
          <p:cNvPr id="34" name="箭头: 上 33">
            <a:extLst>
              <a:ext uri="{FF2B5EF4-FFF2-40B4-BE49-F238E27FC236}">
                <a16:creationId xmlns:a16="http://schemas.microsoft.com/office/drawing/2014/main" id="{09A41B79-E634-3977-1CE0-AB5A07462D84}"/>
              </a:ext>
            </a:extLst>
          </p:cNvPr>
          <p:cNvSpPr/>
          <p:nvPr/>
        </p:nvSpPr>
        <p:spPr>
          <a:xfrm>
            <a:off x="11542185" y="3672032"/>
            <a:ext cx="368141" cy="1962903"/>
          </a:xfrm>
          <a:prstGeom prst="up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BFBFB"/>
              </a:solidFill>
              <a:effectLst/>
              <a:uLnTx/>
              <a:uFillTx/>
              <a:latin typeface="DIN Pro"/>
              <a:ea typeface="Alibaba PuHuiTi 2.0 55 Regular"/>
              <a:cs typeface="+mn-cs"/>
            </a:endParaRPr>
          </a:p>
        </p:txBody>
      </p:sp>
      <p:sp>
        <p:nvSpPr>
          <p:cNvPr id="35" name="矩形: 圆角 96">
            <a:extLst>
              <a:ext uri="{FF2B5EF4-FFF2-40B4-BE49-F238E27FC236}">
                <a16:creationId xmlns:a16="http://schemas.microsoft.com/office/drawing/2014/main" id="{7DCB1653-21C1-5721-0BFF-181D8ED980D6}"/>
              </a:ext>
            </a:extLst>
          </p:cNvPr>
          <p:cNvSpPr/>
          <p:nvPr>
            <p:custDataLst>
              <p:tags r:id="rId19"/>
            </p:custDataLst>
          </p:nvPr>
        </p:nvSpPr>
        <p:spPr>
          <a:xfrm>
            <a:off x="5840765" y="5709048"/>
            <a:ext cx="4220755" cy="392233"/>
          </a:xfrm>
          <a:prstGeom prst="rect">
            <a:avLst/>
          </a:prstGeom>
          <a:noFill/>
          <a:ln w="9525" cap="flat" cmpd="sng" algn="ctr">
            <a:noFill/>
            <a:prstDash val="solid"/>
          </a:ln>
          <a:effectLst/>
        </p:spPr>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1"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rPr>
              <a:t>诊断题支持要素打分解释，不纳入分值计算</a:t>
            </a:r>
          </a:p>
        </p:txBody>
      </p:sp>
      <p:sp>
        <p:nvSpPr>
          <p:cNvPr id="36" name="Text Box 45">
            <a:extLst>
              <a:ext uri="{FF2B5EF4-FFF2-40B4-BE49-F238E27FC236}">
                <a16:creationId xmlns:a16="http://schemas.microsoft.com/office/drawing/2014/main" id="{680D5041-E89C-A5E1-40AB-1BBB24F2D4FC}"/>
              </a:ext>
            </a:extLst>
          </p:cNvPr>
          <p:cNvSpPr txBox="1">
            <a:spLocks noChangeArrowheads="1"/>
          </p:cNvSpPr>
          <p:nvPr/>
        </p:nvSpPr>
        <p:spPr bwMode="auto">
          <a:xfrm>
            <a:off x="5210875" y="2703804"/>
            <a:ext cx="624382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8000" tIns="0" rIns="18000" bIns="0">
            <a:spAutoFit/>
          </a:bodyPr>
          <a:lstStyle>
            <a:lvl1pPr marL="186055" indent="-186055" algn="l" defTabSz="957580">
              <a:spcBef>
                <a:spcPct val="0"/>
              </a:spcBef>
              <a:defRPr>
                <a:solidFill>
                  <a:schemeClr val="tx1"/>
                </a:solidFill>
                <a:latin typeface="Arial" panose="020B0604020202020204" pitchFamily="34" charset="0"/>
                <a:ea typeface="宋体" panose="02010600030101010101" pitchFamily="2" charset="-122"/>
              </a:defRPr>
            </a:lvl1pPr>
            <a:lvl2pPr algn="l" defTabSz="957580">
              <a:spcBef>
                <a:spcPct val="0"/>
              </a:spcBef>
              <a:defRPr>
                <a:solidFill>
                  <a:schemeClr val="tx1"/>
                </a:solidFill>
                <a:latin typeface="Arial" panose="020B0604020202020204" pitchFamily="34" charset="0"/>
                <a:ea typeface="宋体" panose="02010600030101010101" pitchFamily="2" charset="-122"/>
              </a:defRPr>
            </a:lvl2pPr>
            <a:lvl3pPr algn="l" defTabSz="957580">
              <a:spcBef>
                <a:spcPct val="0"/>
              </a:spcBef>
              <a:defRPr>
                <a:solidFill>
                  <a:schemeClr val="tx1"/>
                </a:solidFill>
                <a:latin typeface="Arial" panose="020B0604020202020204" pitchFamily="34" charset="0"/>
                <a:ea typeface="宋体" panose="02010600030101010101" pitchFamily="2" charset="-122"/>
              </a:defRPr>
            </a:lvl3pPr>
            <a:lvl4pPr algn="l" defTabSz="957580">
              <a:spcBef>
                <a:spcPct val="0"/>
              </a:spcBef>
              <a:defRPr>
                <a:solidFill>
                  <a:schemeClr val="tx1"/>
                </a:solidFill>
                <a:latin typeface="Arial" panose="020B0604020202020204" pitchFamily="34" charset="0"/>
                <a:ea typeface="宋体" panose="02010600030101010101" pitchFamily="2" charset="-122"/>
              </a:defRPr>
            </a:lvl4pPr>
            <a:lvl5pPr algn="l" defTabSz="957580">
              <a:spcBef>
                <a:spcPct val="0"/>
              </a:spcBef>
              <a:defRPr>
                <a:solidFill>
                  <a:schemeClr val="tx1"/>
                </a:solidFill>
                <a:latin typeface="Arial" panose="020B0604020202020204" pitchFamily="34" charset="0"/>
                <a:ea typeface="宋体" panose="02010600030101010101" pitchFamily="2" charset="-122"/>
              </a:defRPr>
            </a:lvl5pPr>
            <a:lvl6pPr defTabSz="95758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95758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95758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95758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186055" marR="0" lvl="0" indent="-186055" algn="ctr" defTabSz="957580" rtl="0" eaLnBrk="1" fontAlgn="auto" latinLnBrk="0" hangingPunct="1">
              <a:lnSpc>
                <a:spcPct val="100000"/>
              </a:lnSpc>
              <a:spcBef>
                <a:spcPct val="50000"/>
              </a:spcBef>
              <a:spcAft>
                <a:spcPts val="0"/>
              </a:spcAft>
              <a:buClrTx/>
              <a:buSzTx/>
              <a:buFontTx/>
              <a:buNone/>
              <a:tabLst/>
              <a:defRPr/>
            </a:pPr>
            <a:r>
              <a:rPr kumimoji="0" lang="zh-CN" altLang="en-US" sz="1600" b="1" i="0" u="none" strike="noStrike" kern="1200" cap="none" spc="0" normalizeH="0" baseline="0" noProof="0" dirty="0">
                <a:ln>
                  <a:noFill/>
                </a:ln>
                <a:effectLst/>
                <a:uLnTx/>
                <a:uFillTx/>
                <a:latin typeface="Arial"/>
                <a:ea typeface="楷体_GB2312" pitchFamily="49" charset="-122"/>
                <a:cs typeface="+mn-cs"/>
              </a:rPr>
              <a:t>分值计算方式</a:t>
            </a:r>
            <a:endParaRPr kumimoji="0" lang="en-US" altLang="zh-CN" sz="1600" b="1" i="0" u="none" strike="noStrike" kern="1200" cap="none" spc="0" normalizeH="0" baseline="0" noProof="0" dirty="0">
              <a:ln>
                <a:noFill/>
              </a:ln>
              <a:effectLst/>
              <a:uLnTx/>
              <a:uFillTx/>
              <a:latin typeface="Arial"/>
              <a:ea typeface="楷体_GB2312" pitchFamily="49" charset="-122"/>
              <a:cs typeface="+mn-cs"/>
            </a:endParaRPr>
          </a:p>
        </p:txBody>
      </p:sp>
      <p:sp>
        <p:nvSpPr>
          <p:cNvPr id="37" name="文本框 36">
            <a:extLst>
              <a:ext uri="{FF2B5EF4-FFF2-40B4-BE49-F238E27FC236}">
                <a16:creationId xmlns:a16="http://schemas.microsoft.com/office/drawing/2014/main" id="{1262B08B-0CB0-F3D9-2E83-64EF47A6C314}"/>
              </a:ext>
            </a:extLst>
          </p:cNvPr>
          <p:cNvSpPr txBox="1"/>
          <p:nvPr/>
        </p:nvSpPr>
        <p:spPr>
          <a:xfrm>
            <a:off x="270860" y="1537786"/>
            <a:ext cx="11662236" cy="1107996"/>
          </a:xfrm>
          <a:prstGeom prst="rect">
            <a:avLst/>
          </a:prstGeom>
          <a:noFill/>
        </p:spPr>
        <p:txBody>
          <a:bodyPr wrap="square">
            <a:spAutoFit/>
          </a:bodyPr>
          <a:lstStyle/>
          <a:p>
            <a:pPr marL="2984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1" lang="zh-CN" altLang="en-US" sz="1400" b="1" dirty="0">
                <a:solidFill>
                  <a:srgbClr val="181818"/>
                </a:solidFill>
                <a:latin typeface="微软雅黑" panose="020B0503020204020204" pitchFamily="34" charset="-122"/>
                <a:ea typeface="Alibaba PuHuiTi 2.0 55 Regular"/>
              </a:rPr>
              <a:t>计算依据：</a:t>
            </a:r>
            <a:r>
              <a:rPr kumimoji="1" lang="zh-CN" altLang="en-US" sz="1400" dirty="0">
                <a:solidFill>
                  <a:srgbClr val="181818"/>
                </a:solidFill>
                <a:latin typeface="微软雅黑" panose="020B0503020204020204" pitchFamily="34" charset="-122"/>
                <a:ea typeface="Alibaba PuHuiTi 2.0 55 Regular"/>
              </a:rPr>
              <a:t>根据用户总体满意度评分，通过相关性分析模型计算权重</a:t>
            </a:r>
            <a:endParaRPr kumimoji="1" lang="en-US" altLang="zh-CN" sz="1400" b="0"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endParaRPr>
          </a:p>
          <a:p>
            <a:pPr marL="2984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1" lang="zh-CN" altLang="en-US" sz="1400" b="1"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整体计算逻辑：</a:t>
            </a:r>
            <a:r>
              <a:rPr kumimoji="1" lang="zh-CN" altLang="en-US" sz="1400" b="0"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要素得分</a:t>
            </a:r>
            <a:r>
              <a:rPr kumimoji="1" lang="en-US" altLang="zh-CN" sz="1400" b="0"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a:t>
            </a:r>
            <a:r>
              <a:rPr kumimoji="1" lang="zh-CN" altLang="en-US" sz="1400" b="0"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因子得分</a:t>
            </a:r>
            <a:r>
              <a:rPr kumimoji="1" lang="en-US" altLang="zh-CN" sz="1400" b="0"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a:t>
            </a:r>
            <a:r>
              <a:rPr kumimoji="1" lang="zh-CN" altLang="en-US" sz="1400" b="0"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rPr>
              <a:t>满意度总分</a:t>
            </a:r>
            <a:endParaRPr kumimoji="1" lang="en-US" altLang="zh-CN" sz="1400" b="0" i="0" u="none" strike="noStrike" kern="1200" cap="none" spc="0" normalizeH="0" baseline="0" noProof="0" dirty="0">
              <a:ln>
                <a:noFill/>
              </a:ln>
              <a:solidFill>
                <a:srgbClr val="181818"/>
              </a:solidFill>
              <a:effectLst/>
              <a:uLnTx/>
              <a:uFillTx/>
              <a:latin typeface="微软雅黑" panose="020B0503020204020204" pitchFamily="34" charset="-122"/>
              <a:ea typeface="Alibaba PuHuiTi 2.0 55 Regular"/>
              <a:cs typeface="+mn-cs"/>
            </a:endParaRPr>
          </a:p>
          <a:p>
            <a:pPr marL="2984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1" lang="zh-CN" altLang="en-US" sz="1400" b="0" i="0" u="none" strike="noStrike" kern="1200" cap="none" spc="0" normalizeH="0" baseline="0" noProof="0" dirty="0">
                <a:ln>
                  <a:noFill/>
                </a:ln>
                <a:solidFill>
                  <a:srgbClr val="333333"/>
                </a:solidFill>
                <a:effectLst/>
                <a:uLnTx/>
                <a:uFillTx/>
                <a:latin typeface="微软雅黑" panose="020B0503020204020204" pitchFamily="34" charset="-122"/>
                <a:ea typeface="Alibaba PuHuiTi 2.0 55 Regular"/>
                <a:cs typeface="+mn-cs"/>
              </a:rPr>
              <a:t>其中，不同品牌车主对各自品牌销售</a:t>
            </a:r>
            <a:r>
              <a:rPr kumimoji="1" lang="en-US" altLang="zh-CN" sz="1400" b="0" i="0" u="none" strike="noStrike" kern="1200" cap="none" spc="0" normalizeH="0" baseline="0" noProof="0" dirty="0">
                <a:ln>
                  <a:noFill/>
                </a:ln>
                <a:solidFill>
                  <a:srgbClr val="333333"/>
                </a:solidFill>
                <a:effectLst/>
                <a:uLnTx/>
                <a:uFillTx/>
                <a:latin typeface="微软雅黑" panose="020B0503020204020204" pitchFamily="34" charset="-122"/>
                <a:ea typeface="Alibaba PuHuiTi 2.0 55 Regular"/>
                <a:cs typeface="+mn-cs"/>
              </a:rPr>
              <a:t>/</a:t>
            </a:r>
            <a:r>
              <a:rPr kumimoji="1" lang="zh-CN" altLang="en-US" sz="1400" b="0" i="0" u="none" strike="noStrike" kern="1200" cap="none" spc="0" normalizeH="0" baseline="0" noProof="0" dirty="0">
                <a:ln>
                  <a:noFill/>
                </a:ln>
                <a:solidFill>
                  <a:srgbClr val="333333"/>
                </a:solidFill>
                <a:effectLst/>
                <a:uLnTx/>
                <a:uFillTx/>
                <a:latin typeface="微软雅黑" panose="020B0503020204020204" pitchFamily="34" charset="-122"/>
                <a:ea typeface="Alibaba PuHuiTi 2.0 55 Regular"/>
                <a:cs typeface="+mn-cs"/>
              </a:rPr>
              <a:t>售后服务的分值，不适合简单直接比较和排序，而是科学地基于统计学显著性检验判断基于抽样样本而不是所有车主计算的总分差异究竟是不是大概率真实存在的（即样本统计得分</a:t>
            </a:r>
            <a:r>
              <a:rPr kumimoji="1" lang="en-US" altLang="zh-CN" sz="1400" b="0" i="0" u="none" strike="noStrike" kern="1200" cap="none" spc="0" normalizeH="0" baseline="0" noProof="0" dirty="0">
                <a:ln>
                  <a:noFill/>
                </a:ln>
                <a:solidFill>
                  <a:srgbClr val="333333"/>
                </a:solidFill>
                <a:effectLst/>
                <a:uLnTx/>
                <a:uFillTx/>
                <a:latin typeface="微软雅黑" panose="020B0503020204020204" pitchFamily="34" charset="-122"/>
                <a:ea typeface="Alibaba PuHuiTi 2.0 55 Regular"/>
                <a:cs typeface="+mn-cs"/>
              </a:rPr>
              <a:t> VS </a:t>
            </a:r>
            <a:r>
              <a:rPr kumimoji="1" lang="zh-CN" altLang="en-US" sz="1400" b="0" i="0" u="none" strike="noStrike" kern="1200" cap="none" spc="0" normalizeH="0" baseline="0" noProof="0" dirty="0">
                <a:ln>
                  <a:noFill/>
                </a:ln>
                <a:solidFill>
                  <a:srgbClr val="333333"/>
                </a:solidFill>
                <a:effectLst/>
                <a:uLnTx/>
                <a:uFillTx/>
                <a:latin typeface="微软雅黑" panose="020B0503020204020204" pitchFamily="34" charset="-122"/>
                <a:ea typeface="Alibaba PuHuiTi 2.0 55 Regular"/>
                <a:cs typeface="+mn-cs"/>
              </a:rPr>
              <a:t>普查所有车主的得分）</a:t>
            </a:r>
          </a:p>
        </p:txBody>
      </p:sp>
      <p:sp>
        <p:nvSpPr>
          <p:cNvPr id="4" name="文本框 3">
            <a:extLst>
              <a:ext uri="{FF2B5EF4-FFF2-40B4-BE49-F238E27FC236}">
                <a16:creationId xmlns:a16="http://schemas.microsoft.com/office/drawing/2014/main" id="{F16A542A-4A81-1BA0-CACE-FA190616DE70}"/>
              </a:ext>
            </a:extLst>
          </p:cNvPr>
          <p:cNvSpPr txBox="1"/>
          <p:nvPr>
            <p:custDataLst>
              <p:tags r:id="rId20"/>
            </p:custDataLst>
          </p:nvPr>
        </p:nvSpPr>
        <p:spPr>
          <a:xfrm>
            <a:off x="6760396" y="6284044"/>
            <a:ext cx="5172700" cy="2616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100" u="none" strike="noStrike" kern="1200" cap="none" spc="0" normalizeH="0" baseline="0" noProof="0" dirty="0">
                <a:ln>
                  <a:noFill/>
                </a:ln>
                <a:solidFill>
                  <a:schemeClr val="bg1">
                    <a:lumMod val="50000"/>
                  </a:schemeClr>
                </a:solidFill>
                <a:effectLst/>
                <a:uLnTx/>
                <a:uFillTx/>
                <a:latin typeface="+mn-ea"/>
                <a:cs typeface="+mn-cs"/>
              </a:rPr>
              <a:t>* </a:t>
            </a:r>
            <a:r>
              <a:rPr kumimoji="0" lang="zh-CN" altLang="en-US" sz="1100" u="none" strike="noStrike" kern="1200" cap="none" spc="0" normalizeH="0" baseline="0" noProof="0" dirty="0">
                <a:ln>
                  <a:noFill/>
                </a:ln>
                <a:solidFill>
                  <a:schemeClr val="bg1">
                    <a:lumMod val="50000"/>
                  </a:schemeClr>
                </a:solidFill>
                <a:effectLst/>
                <a:uLnTx/>
                <a:uFillTx/>
                <a:latin typeface="+mn-ea"/>
                <a:cs typeface="+mn-cs"/>
              </a:rPr>
              <a:t>满意度得分为十分制，但为比较时能突出差异，乘以</a:t>
            </a:r>
            <a:r>
              <a:rPr kumimoji="0" lang="en-US" altLang="zh-CN" sz="1100" u="none" strike="noStrike" kern="1200" cap="none" spc="0" normalizeH="0" baseline="0" noProof="0" dirty="0">
                <a:ln>
                  <a:noFill/>
                </a:ln>
                <a:solidFill>
                  <a:schemeClr val="bg1">
                    <a:lumMod val="50000"/>
                  </a:schemeClr>
                </a:solidFill>
                <a:effectLst/>
                <a:uLnTx/>
                <a:uFillTx/>
                <a:latin typeface="+mn-ea"/>
                <a:cs typeface="+mn-cs"/>
              </a:rPr>
              <a:t>100</a:t>
            </a:r>
            <a:r>
              <a:rPr kumimoji="0" lang="zh-CN" altLang="en-US" sz="1100" u="none" strike="noStrike" kern="1200" cap="none" spc="0" normalizeH="0" baseline="0" noProof="0" dirty="0">
                <a:ln>
                  <a:noFill/>
                </a:ln>
                <a:solidFill>
                  <a:schemeClr val="bg1">
                    <a:lumMod val="50000"/>
                  </a:schemeClr>
                </a:solidFill>
                <a:effectLst/>
                <a:uLnTx/>
                <a:uFillTx/>
                <a:latin typeface="+mn-ea"/>
                <a:cs typeface="+mn-cs"/>
              </a:rPr>
              <a:t>，显示为千分制</a:t>
            </a:r>
          </a:p>
        </p:txBody>
      </p:sp>
      <p:sp>
        <p:nvSpPr>
          <p:cNvPr id="39" name="文本占位符 7">
            <a:extLst>
              <a:ext uri="{FF2B5EF4-FFF2-40B4-BE49-F238E27FC236}">
                <a16:creationId xmlns:a16="http://schemas.microsoft.com/office/drawing/2014/main" id="{6498C0FB-188F-B571-A256-D99EA9A97FCA}"/>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buSzPct val="60000"/>
            </a:pPr>
            <a:r>
              <a:rPr lang="en-US" altLang="zh-CN" sz="1600" dirty="0">
                <a:latin typeface="+mn-ea"/>
                <a:ea typeface="+mn-ea"/>
              </a:rPr>
              <a:t>SSI</a:t>
            </a:r>
            <a:r>
              <a:rPr lang="zh-CN" altLang="en-US" sz="1600" dirty="0">
                <a:latin typeface="+mn-ea"/>
                <a:ea typeface="+mn-ea"/>
              </a:rPr>
              <a:t>和</a:t>
            </a:r>
            <a:r>
              <a:rPr lang="en-US" altLang="zh-CN" sz="1600" dirty="0">
                <a:latin typeface="+mn-ea"/>
                <a:ea typeface="+mn-ea"/>
              </a:rPr>
              <a:t>CSI</a:t>
            </a:r>
            <a:r>
              <a:rPr lang="zh-CN" altLang="en-US" sz="1600" dirty="0">
                <a:latin typeface="+mn-ea"/>
                <a:ea typeface="+mn-ea"/>
              </a:rPr>
              <a:t>分数的计算方式，以及统计显著性检验</a:t>
            </a:r>
            <a:r>
              <a:rPr lang="zh-CN" altLang="en-US" sz="1400" dirty="0">
                <a:latin typeface="+mn-ea"/>
                <a:ea typeface="+mn-ea"/>
              </a:rPr>
              <a:t>（以判断“呈现的差异大概率是真实存在的”）</a:t>
            </a:r>
            <a:endParaRPr lang="zh-CN" altLang="en-US" dirty="0">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8">
            <a:extLst>
              <a:ext uri="{FF2B5EF4-FFF2-40B4-BE49-F238E27FC236}">
                <a16:creationId xmlns:a16="http://schemas.microsoft.com/office/drawing/2014/main" id="{77F17BE9-D8E2-2D7C-57CD-92A09847F7BF}"/>
              </a:ext>
            </a:extLst>
          </p:cNvPr>
          <p:cNvSpPr>
            <a:spLocks noGrp="1"/>
          </p:cNvSpPr>
          <p:nvPr>
            <p:ph type="body" sz="quarter" idx="21"/>
          </p:nvPr>
        </p:nvSpPr>
        <p:spPr/>
        <p:txBody>
          <a:bodyPr/>
          <a:lstStyle/>
          <a:p>
            <a:r>
              <a:rPr lang="en-US" altLang="zh-CN" dirty="0">
                <a:latin typeface="+mn-ea"/>
                <a:ea typeface="+mn-ea"/>
              </a:rPr>
              <a:t>1.3 </a:t>
            </a:r>
            <a:r>
              <a:rPr lang="zh-CN" altLang="en-US" dirty="0">
                <a:latin typeface="+mn-ea"/>
                <a:ea typeface="+mn-ea"/>
              </a:rPr>
              <a:t>项目弱项分类</a:t>
            </a:r>
          </a:p>
        </p:txBody>
      </p:sp>
      <p:sp>
        <p:nvSpPr>
          <p:cNvPr id="5" name="灯片编号占位符 4">
            <a:extLst>
              <a:ext uri="{FF2B5EF4-FFF2-40B4-BE49-F238E27FC236}">
                <a16:creationId xmlns:a16="http://schemas.microsoft.com/office/drawing/2014/main" id="{83966712-9B92-14CC-332D-019B2529384A}"/>
              </a:ext>
            </a:extLst>
          </p:cNvPr>
          <p:cNvSpPr>
            <a:spLocks noGrp="1"/>
          </p:cNvSpPr>
          <p:nvPr>
            <p:ph type="sldNum" sz="quarter" idx="4"/>
          </p:nvPr>
        </p:nvSpPr>
        <p:spPr/>
        <p:txBody>
          <a:bodyPr/>
          <a:lstStyle/>
          <a:p>
            <a:fld id="{04824671-56D2-5D44-834F-250C3DA554E9}" type="slidenum">
              <a:rPr lang="zh-CN" altLang="en-US" smtClean="0"/>
              <a:t>12</a:t>
            </a:fld>
            <a:endParaRPr lang="zh-CN" altLang="en-US" dirty="0"/>
          </a:p>
        </p:txBody>
      </p:sp>
      <p:sp>
        <p:nvSpPr>
          <p:cNvPr id="12" name="Grafik 492">
            <a:extLst>
              <a:ext uri="{FF2B5EF4-FFF2-40B4-BE49-F238E27FC236}">
                <a16:creationId xmlns:a16="http://schemas.microsoft.com/office/drawing/2014/main" id="{0360E0D7-3030-C961-258B-A4F745ACC7C0}"/>
              </a:ext>
            </a:extLst>
          </p:cNvPr>
          <p:cNvSpPr/>
          <p:nvPr>
            <p:custDataLst>
              <p:tags r:id="rId1"/>
            </p:custDataLst>
          </p:nvPr>
        </p:nvSpPr>
        <p:spPr>
          <a:xfrm>
            <a:off x="823382" y="2963413"/>
            <a:ext cx="208710" cy="203610"/>
          </a:xfrm>
          <a:custGeom>
            <a:avLst/>
            <a:gdLst>
              <a:gd name="connsiteX0" fmla="*/ 253365 w 381000"/>
              <a:gd name="connsiteY0" fmla="*/ 295275 h 323850"/>
              <a:gd name="connsiteX1" fmla="*/ 381000 w 381000"/>
              <a:gd name="connsiteY1" fmla="*/ 295275 h 323850"/>
              <a:gd name="connsiteX2" fmla="*/ 381000 w 381000"/>
              <a:gd name="connsiteY2" fmla="*/ 180975 h 323850"/>
              <a:gd name="connsiteX3" fmla="*/ 352425 w 381000"/>
              <a:gd name="connsiteY3" fmla="*/ 152400 h 323850"/>
              <a:gd name="connsiteX4" fmla="*/ 195263 w 381000"/>
              <a:gd name="connsiteY4" fmla="*/ 152400 h 323850"/>
              <a:gd name="connsiteX5" fmla="*/ 238125 w 381000"/>
              <a:gd name="connsiteY5" fmla="*/ 0 h 323850"/>
              <a:gd name="connsiteX6" fmla="*/ 295275 w 381000"/>
              <a:gd name="connsiteY6" fmla="*/ 0 h 323850"/>
              <a:gd name="connsiteX7" fmla="*/ 323850 w 381000"/>
              <a:gd name="connsiteY7" fmla="*/ 28575 h 323850"/>
              <a:gd name="connsiteX8" fmla="*/ 323850 w 381000"/>
              <a:gd name="connsiteY8" fmla="*/ 85725 h 323850"/>
              <a:gd name="connsiteX9" fmla="*/ 295275 w 381000"/>
              <a:gd name="connsiteY9" fmla="*/ 114300 h 323850"/>
              <a:gd name="connsiteX10" fmla="*/ 238125 w 381000"/>
              <a:gd name="connsiteY10" fmla="*/ 114300 h 323850"/>
              <a:gd name="connsiteX11" fmla="*/ 209550 w 381000"/>
              <a:gd name="connsiteY11" fmla="*/ 85725 h 323850"/>
              <a:gd name="connsiteX12" fmla="*/ 209550 w 381000"/>
              <a:gd name="connsiteY12" fmla="*/ 28575 h 323850"/>
              <a:gd name="connsiteX13" fmla="*/ 238125 w 381000"/>
              <a:gd name="connsiteY13" fmla="*/ 0 h 323850"/>
              <a:gd name="connsiteX14" fmla="*/ 0 w 381000"/>
              <a:gd name="connsiteY14" fmla="*/ 323850 h 323850"/>
              <a:gd name="connsiteX15" fmla="*/ 0 w 381000"/>
              <a:gd name="connsiteY15" fmla="*/ 209550 h 323850"/>
              <a:gd name="connsiteX16" fmla="*/ 28575 w 381000"/>
              <a:gd name="connsiteY16" fmla="*/ 180975 h 323850"/>
              <a:gd name="connsiteX17" fmla="*/ 200025 w 381000"/>
              <a:gd name="connsiteY17" fmla="*/ 180975 h 323850"/>
              <a:gd name="connsiteX18" fmla="*/ 228600 w 381000"/>
              <a:gd name="connsiteY18" fmla="*/ 209550 h 323850"/>
              <a:gd name="connsiteX19" fmla="*/ 228600 w 381000"/>
              <a:gd name="connsiteY19" fmla="*/ 323850 h 323850"/>
              <a:gd name="connsiteX20" fmla="*/ 0 w 381000"/>
              <a:gd name="connsiteY20" fmla="*/ 323850 h 323850"/>
              <a:gd name="connsiteX21" fmla="*/ 85725 w 381000"/>
              <a:gd name="connsiteY21" fmla="*/ 28575 h 323850"/>
              <a:gd name="connsiteX22" fmla="*/ 142875 w 381000"/>
              <a:gd name="connsiteY22" fmla="*/ 28575 h 323850"/>
              <a:gd name="connsiteX23" fmla="*/ 171450 w 381000"/>
              <a:gd name="connsiteY23" fmla="*/ 57150 h 323850"/>
              <a:gd name="connsiteX24" fmla="*/ 171450 w 381000"/>
              <a:gd name="connsiteY24" fmla="*/ 114300 h 323850"/>
              <a:gd name="connsiteX25" fmla="*/ 142875 w 381000"/>
              <a:gd name="connsiteY25" fmla="*/ 142875 h 323850"/>
              <a:gd name="connsiteX26" fmla="*/ 85725 w 381000"/>
              <a:gd name="connsiteY26" fmla="*/ 142875 h 323850"/>
              <a:gd name="connsiteX27" fmla="*/ 57150 w 381000"/>
              <a:gd name="connsiteY27" fmla="*/ 114300 h 323850"/>
              <a:gd name="connsiteX28" fmla="*/ 57150 w 381000"/>
              <a:gd name="connsiteY28" fmla="*/ 57150 h 323850"/>
              <a:gd name="connsiteX29" fmla="*/ 85725 w 381000"/>
              <a:gd name="connsiteY29" fmla="*/ 2857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81000" h="323850">
                <a:moveTo>
                  <a:pt x="253365" y="295275"/>
                </a:moveTo>
                <a:lnTo>
                  <a:pt x="381000" y="295275"/>
                </a:lnTo>
                <a:lnTo>
                  <a:pt x="381000" y="180975"/>
                </a:lnTo>
                <a:cubicBezTo>
                  <a:pt x="381000" y="164783"/>
                  <a:pt x="368618" y="152400"/>
                  <a:pt x="352425" y="152400"/>
                </a:cubicBezTo>
                <a:lnTo>
                  <a:pt x="195263" y="152400"/>
                </a:lnTo>
                <a:moveTo>
                  <a:pt x="238125" y="0"/>
                </a:moveTo>
                <a:lnTo>
                  <a:pt x="295275" y="0"/>
                </a:lnTo>
                <a:cubicBezTo>
                  <a:pt x="311468" y="0"/>
                  <a:pt x="323850" y="12383"/>
                  <a:pt x="323850" y="28575"/>
                </a:cubicBezTo>
                <a:lnTo>
                  <a:pt x="323850" y="85725"/>
                </a:lnTo>
                <a:cubicBezTo>
                  <a:pt x="323850" y="101918"/>
                  <a:pt x="311468" y="114300"/>
                  <a:pt x="295275" y="114300"/>
                </a:cubicBezTo>
                <a:lnTo>
                  <a:pt x="238125" y="114300"/>
                </a:lnTo>
                <a:cubicBezTo>
                  <a:pt x="221933" y="114300"/>
                  <a:pt x="209550" y="101918"/>
                  <a:pt x="209550" y="85725"/>
                </a:cubicBezTo>
                <a:lnTo>
                  <a:pt x="209550" y="28575"/>
                </a:lnTo>
                <a:cubicBezTo>
                  <a:pt x="209550" y="12383"/>
                  <a:pt x="221933" y="0"/>
                  <a:pt x="238125" y="0"/>
                </a:cubicBezTo>
                <a:close/>
                <a:moveTo>
                  <a:pt x="0" y="323850"/>
                </a:moveTo>
                <a:lnTo>
                  <a:pt x="0" y="209550"/>
                </a:lnTo>
                <a:cubicBezTo>
                  <a:pt x="0" y="193358"/>
                  <a:pt x="12383" y="180975"/>
                  <a:pt x="28575" y="180975"/>
                </a:cubicBezTo>
                <a:lnTo>
                  <a:pt x="200025" y="180975"/>
                </a:lnTo>
                <a:cubicBezTo>
                  <a:pt x="216218" y="180975"/>
                  <a:pt x="228600" y="193358"/>
                  <a:pt x="228600" y="209550"/>
                </a:cubicBezTo>
                <a:lnTo>
                  <a:pt x="228600" y="323850"/>
                </a:lnTo>
                <a:lnTo>
                  <a:pt x="0" y="323850"/>
                </a:lnTo>
                <a:close/>
                <a:moveTo>
                  <a:pt x="85725" y="28575"/>
                </a:moveTo>
                <a:lnTo>
                  <a:pt x="142875" y="28575"/>
                </a:lnTo>
                <a:cubicBezTo>
                  <a:pt x="159068" y="28575"/>
                  <a:pt x="171450" y="40958"/>
                  <a:pt x="171450" y="57150"/>
                </a:cubicBezTo>
                <a:lnTo>
                  <a:pt x="171450" y="114300"/>
                </a:lnTo>
                <a:cubicBezTo>
                  <a:pt x="171450" y="130493"/>
                  <a:pt x="159068" y="142875"/>
                  <a:pt x="142875" y="142875"/>
                </a:cubicBezTo>
                <a:lnTo>
                  <a:pt x="85725" y="142875"/>
                </a:lnTo>
                <a:cubicBezTo>
                  <a:pt x="69533" y="142875"/>
                  <a:pt x="57150" y="130493"/>
                  <a:pt x="57150" y="114300"/>
                </a:cubicBezTo>
                <a:lnTo>
                  <a:pt x="57150" y="57150"/>
                </a:lnTo>
                <a:cubicBezTo>
                  <a:pt x="57150" y="40958"/>
                  <a:pt x="69533" y="28575"/>
                  <a:pt x="85725" y="28575"/>
                </a:cubicBezTo>
                <a:close/>
              </a:path>
            </a:pathLst>
          </a:custGeom>
          <a:noFill/>
          <a:ln w="12700" cap="flat">
            <a:solidFill>
              <a:srgbClr val="000000"/>
            </a:solidFill>
            <a:prstDash val="solid"/>
            <a:miter/>
          </a:ln>
        </p:spPr>
        <p:txBody>
          <a:bodyPr rtlCol="0" anchor="ctr"/>
          <a:lstStyle/>
          <a:p>
            <a:endParaRPr lang="en-GB" dirty="0">
              <a:ea typeface="Alibaba PuHuiTi 2.0 55 Regular"/>
            </a:endParaRPr>
          </a:p>
        </p:txBody>
      </p:sp>
      <p:sp>
        <p:nvSpPr>
          <p:cNvPr id="13" name="Grafik 30">
            <a:extLst>
              <a:ext uri="{FF2B5EF4-FFF2-40B4-BE49-F238E27FC236}">
                <a16:creationId xmlns:a16="http://schemas.microsoft.com/office/drawing/2014/main" id="{5F74A99B-4BFF-02A4-C3D3-2370D6C14210}"/>
              </a:ext>
            </a:extLst>
          </p:cNvPr>
          <p:cNvSpPr/>
          <p:nvPr>
            <p:custDataLst>
              <p:tags r:id="rId2"/>
            </p:custDataLst>
          </p:nvPr>
        </p:nvSpPr>
        <p:spPr>
          <a:xfrm>
            <a:off x="872063" y="4213912"/>
            <a:ext cx="219358" cy="191743"/>
          </a:xfrm>
          <a:custGeom>
            <a:avLst/>
            <a:gdLst>
              <a:gd name="connsiteX0" fmla="*/ 352425 w 400050"/>
              <a:gd name="connsiteY0" fmla="*/ 117158 h 305752"/>
              <a:gd name="connsiteX1" fmla="*/ 352425 w 400050"/>
              <a:gd name="connsiteY1" fmla="*/ 305753 h 305752"/>
              <a:gd name="connsiteX2" fmla="*/ 77153 w 400050"/>
              <a:gd name="connsiteY2" fmla="*/ 305753 h 305752"/>
              <a:gd name="connsiteX3" fmla="*/ 47625 w 400050"/>
              <a:gd name="connsiteY3" fmla="*/ 277178 h 305752"/>
              <a:gd name="connsiteX4" fmla="*/ 47625 w 400050"/>
              <a:gd name="connsiteY4" fmla="*/ 117158 h 305752"/>
              <a:gd name="connsiteX5" fmla="*/ 400050 w 400050"/>
              <a:gd name="connsiteY5" fmla="*/ 153353 h 305752"/>
              <a:gd name="connsiteX6" fmla="*/ 200025 w 400050"/>
              <a:gd name="connsiteY6" fmla="*/ 0 h 305752"/>
              <a:gd name="connsiteX7" fmla="*/ 0 w 400050"/>
              <a:gd name="connsiteY7" fmla="*/ 153353 h 305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0050" h="305752">
                <a:moveTo>
                  <a:pt x="352425" y="117158"/>
                </a:moveTo>
                <a:lnTo>
                  <a:pt x="352425" y="305753"/>
                </a:lnTo>
                <a:lnTo>
                  <a:pt x="77153" y="305753"/>
                </a:lnTo>
                <a:cubicBezTo>
                  <a:pt x="60960" y="305753"/>
                  <a:pt x="48578" y="293370"/>
                  <a:pt x="47625" y="277178"/>
                </a:cubicBezTo>
                <a:lnTo>
                  <a:pt x="47625" y="117158"/>
                </a:lnTo>
                <a:moveTo>
                  <a:pt x="400050" y="153353"/>
                </a:moveTo>
                <a:lnTo>
                  <a:pt x="200025" y="0"/>
                </a:lnTo>
                <a:lnTo>
                  <a:pt x="0" y="153353"/>
                </a:lnTo>
              </a:path>
            </a:pathLst>
          </a:custGeom>
          <a:noFill/>
          <a:ln w="12700" cap="flat">
            <a:solidFill>
              <a:srgbClr val="000000"/>
            </a:solidFill>
            <a:prstDash val="solid"/>
            <a:miter/>
          </a:ln>
        </p:spPr>
        <p:txBody>
          <a:bodyPr rtlCol="0" anchor="ctr"/>
          <a:lstStyle/>
          <a:p>
            <a:endParaRPr lang="en-GB" dirty="0">
              <a:ea typeface="Alibaba PuHuiTi 2.0 55 Regular"/>
            </a:endParaRPr>
          </a:p>
        </p:txBody>
      </p:sp>
      <p:sp>
        <p:nvSpPr>
          <p:cNvPr id="14" name="Grafik 82">
            <a:extLst>
              <a:ext uri="{FF2B5EF4-FFF2-40B4-BE49-F238E27FC236}">
                <a16:creationId xmlns:a16="http://schemas.microsoft.com/office/drawing/2014/main" id="{34369AD5-BCBD-D52A-CC2D-0C497E5F441F}"/>
              </a:ext>
            </a:extLst>
          </p:cNvPr>
          <p:cNvSpPr/>
          <p:nvPr>
            <p:custDataLst>
              <p:tags r:id="rId3"/>
            </p:custDataLst>
          </p:nvPr>
        </p:nvSpPr>
        <p:spPr>
          <a:xfrm>
            <a:off x="914126" y="5385935"/>
            <a:ext cx="115003" cy="209231"/>
          </a:xfrm>
          <a:custGeom>
            <a:avLst/>
            <a:gdLst>
              <a:gd name="connsiteX0" fmla="*/ 209550 w 209550"/>
              <a:gd name="connsiteY0" fmla="*/ 333375 h 333375"/>
              <a:gd name="connsiteX1" fmla="*/ 133350 w 209550"/>
              <a:gd name="connsiteY1" fmla="*/ 333375 h 333375"/>
              <a:gd name="connsiteX2" fmla="*/ 133350 w 209550"/>
              <a:gd name="connsiteY2" fmla="*/ 247650 h 333375"/>
              <a:gd name="connsiteX3" fmla="*/ 76200 w 209550"/>
              <a:gd name="connsiteY3" fmla="*/ 247650 h 333375"/>
              <a:gd name="connsiteX4" fmla="*/ 76200 w 209550"/>
              <a:gd name="connsiteY4" fmla="*/ 333375 h 333375"/>
              <a:gd name="connsiteX5" fmla="*/ 0 w 209550"/>
              <a:gd name="connsiteY5" fmla="*/ 333375 h 333375"/>
              <a:gd name="connsiteX6" fmla="*/ 0 w 209550"/>
              <a:gd name="connsiteY6" fmla="*/ 0 h 333375"/>
              <a:gd name="connsiteX7" fmla="*/ 209550 w 209550"/>
              <a:gd name="connsiteY7" fmla="*/ 0 h 333375"/>
              <a:gd name="connsiteX8" fmla="*/ 209550 w 209550"/>
              <a:gd name="connsiteY8" fmla="*/ 333375 h 333375"/>
              <a:gd name="connsiteX9" fmla="*/ 38100 w 209550"/>
              <a:gd name="connsiteY9" fmla="*/ 38100 h 333375"/>
              <a:gd name="connsiteX10" fmla="*/ 85725 w 209550"/>
              <a:gd name="connsiteY10" fmla="*/ 38100 h 333375"/>
              <a:gd name="connsiteX11" fmla="*/ 85725 w 209550"/>
              <a:gd name="connsiteY11" fmla="*/ 85725 h 333375"/>
              <a:gd name="connsiteX12" fmla="*/ 38100 w 209550"/>
              <a:gd name="connsiteY12" fmla="*/ 85725 h 333375"/>
              <a:gd name="connsiteX13" fmla="*/ 38100 w 209550"/>
              <a:gd name="connsiteY13" fmla="*/ 38100 h 333375"/>
              <a:gd name="connsiteX14" fmla="*/ 123825 w 209550"/>
              <a:gd name="connsiteY14" fmla="*/ 38100 h 333375"/>
              <a:gd name="connsiteX15" fmla="*/ 171450 w 209550"/>
              <a:gd name="connsiteY15" fmla="*/ 38100 h 333375"/>
              <a:gd name="connsiteX16" fmla="*/ 171450 w 209550"/>
              <a:gd name="connsiteY16" fmla="*/ 85725 h 333375"/>
              <a:gd name="connsiteX17" fmla="*/ 123825 w 209550"/>
              <a:gd name="connsiteY17" fmla="*/ 85725 h 333375"/>
              <a:gd name="connsiteX18" fmla="*/ 123825 w 209550"/>
              <a:gd name="connsiteY18" fmla="*/ 38100 h 333375"/>
              <a:gd name="connsiteX19" fmla="*/ 38100 w 209550"/>
              <a:gd name="connsiteY19" fmla="*/ 142875 h 333375"/>
              <a:gd name="connsiteX20" fmla="*/ 85725 w 209550"/>
              <a:gd name="connsiteY20" fmla="*/ 142875 h 333375"/>
              <a:gd name="connsiteX21" fmla="*/ 85725 w 209550"/>
              <a:gd name="connsiteY21" fmla="*/ 190500 h 333375"/>
              <a:gd name="connsiteX22" fmla="*/ 38100 w 209550"/>
              <a:gd name="connsiteY22" fmla="*/ 190500 h 333375"/>
              <a:gd name="connsiteX23" fmla="*/ 38100 w 209550"/>
              <a:gd name="connsiteY23" fmla="*/ 142875 h 333375"/>
              <a:gd name="connsiteX24" fmla="*/ 123825 w 209550"/>
              <a:gd name="connsiteY24" fmla="*/ 142875 h 333375"/>
              <a:gd name="connsiteX25" fmla="*/ 171450 w 209550"/>
              <a:gd name="connsiteY25" fmla="*/ 142875 h 333375"/>
              <a:gd name="connsiteX26" fmla="*/ 171450 w 209550"/>
              <a:gd name="connsiteY26" fmla="*/ 190500 h 333375"/>
              <a:gd name="connsiteX27" fmla="*/ 123825 w 209550"/>
              <a:gd name="connsiteY27" fmla="*/ 190500 h 333375"/>
              <a:gd name="connsiteX28" fmla="*/ 123825 w 209550"/>
              <a:gd name="connsiteY28" fmla="*/ 142875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9550" h="333375">
                <a:moveTo>
                  <a:pt x="209550" y="333375"/>
                </a:moveTo>
                <a:lnTo>
                  <a:pt x="133350" y="333375"/>
                </a:lnTo>
                <a:lnTo>
                  <a:pt x="133350" y="247650"/>
                </a:lnTo>
                <a:lnTo>
                  <a:pt x="76200" y="247650"/>
                </a:lnTo>
                <a:lnTo>
                  <a:pt x="76200" y="333375"/>
                </a:lnTo>
                <a:lnTo>
                  <a:pt x="0" y="333375"/>
                </a:lnTo>
                <a:lnTo>
                  <a:pt x="0" y="0"/>
                </a:lnTo>
                <a:lnTo>
                  <a:pt x="209550" y="0"/>
                </a:lnTo>
                <a:lnTo>
                  <a:pt x="209550" y="333375"/>
                </a:lnTo>
                <a:close/>
                <a:moveTo>
                  <a:pt x="38100" y="38100"/>
                </a:moveTo>
                <a:lnTo>
                  <a:pt x="85725" y="38100"/>
                </a:lnTo>
                <a:lnTo>
                  <a:pt x="85725" y="85725"/>
                </a:lnTo>
                <a:lnTo>
                  <a:pt x="38100" y="85725"/>
                </a:lnTo>
                <a:lnTo>
                  <a:pt x="38100" y="38100"/>
                </a:lnTo>
                <a:close/>
                <a:moveTo>
                  <a:pt x="123825" y="38100"/>
                </a:moveTo>
                <a:lnTo>
                  <a:pt x="171450" y="38100"/>
                </a:lnTo>
                <a:lnTo>
                  <a:pt x="171450" y="85725"/>
                </a:lnTo>
                <a:lnTo>
                  <a:pt x="123825" y="85725"/>
                </a:lnTo>
                <a:lnTo>
                  <a:pt x="123825" y="38100"/>
                </a:lnTo>
                <a:close/>
                <a:moveTo>
                  <a:pt x="38100" y="142875"/>
                </a:moveTo>
                <a:lnTo>
                  <a:pt x="85725" y="142875"/>
                </a:lnTo>
                <a:lnTo>
                  <a:pt x="85725" y="190500"/>
                </a:lnTo>
                <a:lnTo>
                  <a:pt x="38100" y="190500"/>
                </a:lnTo>
                <a:lnTo>
                  <a:pt x="38100" y="142875"/>
                </a:lnTo>
                <a:close/>
                <a:moveTo>
                  <a:pt x="123825" y="142875"/>
                </a:moveTo>
                <a:lnTo>
                  <a:pt x="171450" y="142875"/>
                </a:lnTo>
                <a:lnTo>
                  <a:pt x="171450" y="190500"/>
                </a:lnTo>
                <a:lnTo>
                  <a:pt x="123825" y="190500"/>
                </a:lnTo>
                <a:lnTo>
                  <a:pt x="123825" y="142875"/>
                </a:lnTo>
                <a:close/>
              </a:path>
            </a:pathLst>
          </a:custGeom>
          <a:noFill/>
          <a:ln w="12700" cap="flat">
            <a:solidFill>
              <a:srgbClr val="000000"/>
            </a:solidFill>
            <a:prstDash val="solid"/>
            <a:miter/>
          </a:ln>
        </p:spPr>
        <p:txBody>
          <a:bodyPr rtlCol="0" anchor="ctr"/>
          <a:lstStyle/>
          <a:p>
            <a:endParaRPr lang="en-GB" dirty="0">
              <a:ea typeface="Alibaba PuHuiTi 2.0 55 Regular"/>
            </a:endParaRPr>
          </a:p>
        </p:txBody>
      </p:sp>
      <p:cxnSp>
        <p:nvCxnSpPr>
          <p:cNvPr id="15" name="AutoShape 25">
            <a:extLst>
              <a:ext uri="{FF2B5EF4-FFF2-40B4-BE49-F238E27FC236}">
                <a16:creationId xmlns:a16="http://schemas.microsoft.com/office/drawing/2014/main" id="{279C24AD-BA81-2E90-132F-FB80844C24D1}"/>
              </a:ext>
            </a:extLst>
          </p:cNvPr>
          <p:cNvCxnSpPr>
            <a:cxnSpLocks noChangeShapeType="1"/>
            <a:stCxn id="23" idx="0"/>
            <a:endCxn id="22" idx="2"/>
          </p:cNvCxnSpPr>
          <p:nvPr>
            <p:custDataLst>
              <p:tags r:id="rId4"/>
            </p:custDataLst>
          </p:nvPr>
        </p:nvCxnSpPr>
        <p:spPr bwMode="auto">
          <a:xfrm flipV="1">
            <a:off x="2934138" y="3079070"/>
            <a:ext cx="0" cy="400973"/>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16" name="Rectangle 4">
            <a:extLst>
              <a:ext uri="{FF2B5EF4-FFF2-40B4-BE49-F238E27FC236}">
                <a16:creationId xmlns:a16="http://schemas.microsoft.com/office/drawing/2014/main" id="{C19AAAC8-7486-2705-7D58-5DCBB79C2E3F}"/>
              </a:ext>
            </a:extLst>
          </p:cNvPr>
          <p:cNvSpPr>
            <a:spLocks noChangeArrowheads="1"/>
          </p:cNvSpPr>
          <p:nvPr>
            <p:custDataLst>
              <p:tags r:id="rId5"/>
            </p:custDataLst>
          </p:nvPr>
        </p:nvSpPr>
        <p:spPr bwMode="auto">
          <a:xfrm>
            <a:off x="303440" y="1964528"/>
            <a:ext cx="5136278" cy="2042653"/>
          </a:xfrm>
          <a:prstGeom prst="rect">
            <a:avLst/>
          </a:prstGeom>
          <a:noFill/>
          <a:ln w="9525" algn="ctr">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Font typeface="Arial" panose="020B0604020202020204" pitchFamily="34" charset="0"/>
              <a:buChar char="•"/>
              <a:defRPr sz="16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14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ü"/>
              <a:defRPr sz="1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Ø"/>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50000"/>
              </a:spcBef>
              <a:spcAft>
                <a:spcPts val="600"/>
              </a:spcAft>
              <a:buNone/>
            </a:pPr>
            <a:endParaRPr lang="zh-CN" altLang="en-US" sz="1400" dirty="0">
              <a:latin typeface="+mn-lt"/>
              <a:ea typeface="Alibaba PuHuiTi 2.0 55 Regular"/>
            </a:endParaRPr>
          </a:p>
        </p:txBody>
      </p:sp>
      <p:sp>
        <p:nvSpPr>
          <p:cNvPr id="17" name="Rectangle 5">
            <a:extLst>
              <a:ext uri="{FF2B5EF4-FFF2-40B4-BE49-F238E27FC236}">
                <a16:creationId xmlns:a16="http://schemas.microsoft.com/office/drawing/2014/main" id="{EAA55EC5-8ADA-5DA0-8D39-EE9F4DC3FD13}"/>
              </a:ext>
            </a:extLst>
          </p:cNvPr>
          <p:cNvSpPr>
            <a:spLocks noChangeArrowheads="1"/>
          </p:cNvSpPr>
          <p:nvPr>
            <p:custDataLst>
              <p:tags r:id="rId6"/>
            </p:custDataLst>
          </p:nvPr>
        </p:nvSpPr>
        <p:spPr bwMode="auto">
          <a:xfrm>
            <a:off x="303440" y="4007804"/>
            <a:ext cx="5136278" cy="1024294"/>
          </a:xfrm>
          <a:prstGeom prst="rect">
            <a:avLst/>
          </a:prstGeom>
          <a:noFill/>
          <a:ln w="9525" algn="ctr">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Font typeface="Arial" panose="020B0604020202020204" pitchFamily="34" charset="0"/>
              <a:buChar char="•"/>
              <a:defRPr sz="16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14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ü"/>
              <a:defRPr sz="1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Ø"/>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50000"/>
              </a:spcBef>
              <a:spcAft>
                <a:spcPts val="600"/>
              </a:spcAft>
              <a:buNone/>
            </a:pPr>
            <a:endParaRPr lang="zh-CN" altLang="en-US" sz="1400" dirty="0">
              <a:latin typeface="+mn-lt"/>
              <a:ea typeface="Alibaba PuHuiTi 2.0 55 Regular"/>
            </a:endParaRPr>
          </a:p>
        </p:txBody>
      </p:sp>
      <p:sp>
        <p:nvSpPr>
          <p:cNvPr id="18" name="Rectangle 6">
            <a:extLst>
              <a:ext uri="{FF2B5EF4-FFF2-40B4-BE49-F238E27FC236}">
                <a16:creationId xmlns:a16="http://schemas.microsoft.com/office/drawing/2014/main" id="{687B4770-FAB8-7277-83A9-76AE74E020C4}"/>
              </a:ext>
            </a:extLst>
          </p:cNvPr>
          <p:cNvSpPr>
            <a:spLocks noChangeArrowheads="1"/>
          </p:cNvSpPr>
          <p:nvPr>
            <p:custDataLst>
              <p:tags r:id="rId7"/>
            </p:custDataLst>
          </p:nvPr>
        </p:nvSpPr>
        <p:spPr bwMode="auto">
          <a:xfrm>
            <a:off x="303440" y="5032098"/>
            <a:ext cx="5136278" cy="1184550"/>
          </a:xfrm>
          <a:prstGeom prst="rect">
            <a:avLst/>
          </a:prstGeom>
          <a:noFill/>
          <a:ln w="9525" algn="ctr">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Font typeface="Arial" panose="020B0604020202020204" pitchFamily="34" charset="0"/>
              <a:buChar char="•"/>
              <a:defRPr sz="16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14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ü"/>
              <a:defRPr sz="1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Ø"/>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a:spcBef>
                <a:spcPct val="50000"/>
              </a:spcBef>
              <a:spcAft>
                <a:spcPts val="600"/>
              </a:spcAft>
              <a:buNone/>
            </a:pPr>
            <a:endParaRPr lang="zh-CN" altLang="en-US" sz="1400" dirty="0">
              <a:latin typeface="+mn-lt"/>
              <a:ea typeface="Alibaba PuHuiTi 2.0 55 Regular"/>
            </a:endParaRPr>
          </a:p>
        </p:txBody>
      </p:sp>
      <p:sp>
        <p:nvSpPr>
          <p:cNvPr id="19" name="Text Box 7">
            <a:extLst>
              <a:ext uri="{FF2B5EF4-FFF2-40B4-BE49-F238E27FC236}">
                <a16:creationId xmlns:a16="http://schemas.microsoft.com/office/drawing/2014/main" id="{1C42BA43-33EF-C2C6-391A-856059D4E58B}"/>
              </a:ext>
            </a:extLst>
          </p:cNvPr>
          <p:cNvSpPr txBox="1">
            <a:spLocks noChangeArrowheads="1"/>
          </p:cNvSpPr>
          <p:nvPr>
            <p:custDataLst>
              <p:tags r:id="rId8"/>
            </p:custDataLst>
          </p:nvPr>
        </p:nvSpPr>
        <p:spPr bwMode="auto">
          <a:xfrm>
            <a:off x="1072790" y="2151585"/>
            <a:ext cx="1143686" cy="308537"/>
          </a:xfrm>
          <a:prstGeom prst="rect">
            <a:avLst/>
          </a:prstGeom>
          <a:solidFill>
            <a:schemeClr val="bg1">
              <a:lumMod val="50000"/>
            </a:schemeClr>
          </a:solidFill>
          <a:ln w="9525" algn="ctr">
            <a:noFill/>
            <a:miter lim="800000"/>
          </a:ln>
        </p:spPr>
        <p:txBody>
          <a:bodyPr lIns="90000" tIns="46800" rIns="90000" bIns="46800" anchor="ctr" anchorCtr="1"/>
          <a:lstStyle>
            <a:lvl1pPr marL="179705" indent="-179705">
              <a:spcBef>
                <a:spcPct val="20000"/>
              </a:spcBef>
              <a:buFont typeface="Arial" panose="020B0604020202020204" pitchFamily="34" charset="0"/>
              <a:buChar char="•"/>
              <a:defRPr sz="16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14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ü"/>
              <a:defRPr sz="1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Ø"/>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lgn="ctr" eaLnBrk="1" hangingPunct="1">
              <a:spcBef>
                <a:spcPct val="50000"/>
              </a:spcBef>
              <a:buFontTx/>
              <a:buNone/>
            </a:pPr>
            <a:r>
              <a:rPr lang="zh-CN" altLang="en-US" sz="1200" dirty="0">
                <a:solidFill>
                  <a:schemeClr val="bg1"/>
                </a:solidFill>
                <a:latin typeface="+mn-lt"/>
                <a:ea typeface="Alibaba PuHuiTi 2.0 55 Regular"/>
              </a:rPr>
              <a:t>与他人的交流</a:t>
            </a:r>
          </a:p>
        </p:txBody>
      </p:sp>
      <p:sp>
        <p:nvSpPr>
          <p:cNvPr id="20" name="Text Box 8">
            <a:extLst>
              <a:ext uri="{FF2B5EF4-FFF2-40B4-BE49-F238E27FC236}">
                <a16:creationId xmlns:a16="http://schemas.microsoft.com/office/drawing/2014/main" id="{36612D3D-4118-8AF6-2761-5F92DA6D70E1}"/>
              </a:ext>
            </a:extLst>
          </p:cNvPr>
          <p:cNvSpPr txBox="1">
            <a:spLocks noChangeArrowheads="1"/>
          </p:cNvSpPr>
          <p:nvPr>
            <p:custDataLst>
              <p:tags r:id="rId9"/>
            </p:custDataLst>
          </p:nvPr>
        </p:nvSpPr>
        <p:spPr bwMode="auto">
          <a:xfrm>
            <a:off x="2411300" y="2151585"/>
            <a:ext cx="1046210" cy="308537"/>
          </a:xfrm>
          <a:prstGeom prst="rect">
            <a:avLst/>
          </a:prstGeom>
          <a:solidFill>
            <a:schemeClr val="bg1">
              <a:lumMod val="50000"/>
            </a:schemeClr>
          </a:solidFill>
          <a:ln w="9525" algn="ctr">
            <a:noFill/>
            <a:miter lim="800000"/>
          </a:ln>
        </p:spPr>
        <p:txBody>
          <a:bodyPr lIns="90000" tIns="46800" rIns="90000" bIns="46800" anchor="ctr" anchorCtr="1"/>
          <a:lstStyle>
            <a:defPPr>
              <a:defRPr lang="zh-CN"/>
            </a:defPPr>
            <a:lvl1pPr marL="179705" indent="-179705" algn="ctr">
              <a:spcBef>
                <a:spcPct val="50000"/>
              </a:spcBef>
              <a:buFontTx/>
              <a:buNone/>
              <a:defRPr sz="1200">
                <a:solidFill>
                  <a:schemeClr val="bg1"/>
                </a:solidFill>
                <a:ea typeface="微软雅黑" panose="020B0503020204020204" pitchFamily="34" charset="-122"/>
              </a:defRPr>
            </a:lvl1pPr>
            <a:lvl2pPr marL="742950" indent="-285750">
              <a:spcBef>
                <a:spcPct val="20000"/>
              </a:spcBef>
              <a:buFont typeface="Arial" panose="020B0604020202020204" pitchFamily="34" charset="0"/>
              <a:buChar char="–"/>
              <a:defRPr sz="1400">
                <a:latin typeface="Arial" panose="020B0604020202020204" pitchFamily="34" charset="0"/>
              </a:defRPr>
            </a:lvl2pPr>
            <a:lvl3pPr marL="1143000" indent="-228600">
              <a:spcBef>
                <a:spcPct val="20000"/>
              </a:spcBef>
              <a:buFont typeface="Wingdings" panose="05000000000000000000" pitchFamily="2" charset="2"/>
              <a:buChar char="ü"/>
              <a:defRPr sz="1400">
                <a:latin typeface="Arial" panose="020B0604020202020204" pitchFamily="34" charset="0"/>
              </a:defRPr>
            </a:lvl3pPr>
            <a:lvl4pPr marL="1600200" indent="-228600">
              <a:spcBef>
                <a:spcPct val="20000"/>
              </a:spcBef>
              <a:buFont typeface="Wingdings" panose="05000000000000000000" pitchFamily="2" charset="2"/>
              <a:buChar char="Ø"/>
              <a:defRPr sz="1400">
                <a:latin typeface="Arial" panose="020B0604020202020204" pitchFamily="34" charset="0"/>
              </a:defRPr>
            </a:lvl4pPr>
            <a:lvl5pPr marL="2057400" indent="-228600">
              <a:spcBef>
                <a:spcPct val="20000"/>
              </a:spcBef>
              <a:buFont typeface="Arial" panose="020B0604020202020204" pitchFamily="34" charset="0"/>
              <a:buChar char="»"/>
              <a:defRPr sz="1400">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9pPr>
          </a:lstStyle>
          <a:p>
            <a:r>
              <a:rPr lang="zh-CN" altLang="en-US" dirty="0">
                <a:ea typeface="Alibaba PuHuiTi 2.0 55 Regular"/>
              </a:rPr>
              <a:t>个人需求</a:t>
            </a:r>
          </a:p>
        </p:txBody>
      </p:sp>
      <p:sp>
        <p:nvSpPr>
          <p:cNvPr id="21" name="Text Box 9">
            <a:extLst>
              <a:ext uri="{FF2B5EF4-FFF2-40B4-BE49-F238E27FC236}">
                <a16:creationId xmlns:a16="http://schemas.microsoft.com/office/drawing/2014/main" id="{759351A8-7D5D-D539-ECE9-8C83C077E327}"/>
              </a:ext>
            </a:extLst>
          </p:cNvPr>
          <p:cNvSpPr txBox="1">
            <a:spLocks noChangeArrowheads="1"/>
          </p:cNvSpPr>
          <p:nvPr>
            <p:custDataLst>
              <p:tags r:id="rId10"/>
            </p:custDataLst>
          </p:nvPr>
        </p:nvSpPr>
        <p:spPr bwMode="auto">
          <a:xfrm>
            <a:off x="3749810" y="2151585"/>
            <a:ext cx="1046210" cy="308537"/>
          </a:xfrm>
          <a:prstGeom prst="rect">
            <a:avLst/>
          </a:prstGeom>
          <a:solidFill>
            <a:schemeClr val="bg1">
              <a:lumMod val="50000"/>
            </a:schemeClr>
          </a:solidFill>
          <a:ln w="9525" algn="ctr">
            <a:noFill/>
            <a:miter lim="800000"/>
          </a:ln>
        </p:spPr>
        <p:txBody>
          <a:bodyPr lIns="90000" tIns="46800" rIns="90000" bIns="46800" anchor="ctr" anchorCtr="1"/>
          <a:lstStyle>
            <a:defPPr>
              <a:defRPr lang="zh-CN"/>
            </a:defPPr>
            <a:lvl1pPr marL="179705" indent="-179705" algn="ctr">
              <a:spcBef>
                <a:spcPct val="50000"/>
              </a:spcBef>
              <a:buFontTx/>
              <a:buNone/>
              <a:defRPr sz="1200">
                <a:solidFill>
                  <a:schemeClr val="bg1"/>
                </a:solidFill>
                <a:ea typeface="微软雅黑" panose="020B0503020204020204" pitchFamily="34" charset="-122"/>
              </a:defRPr>
            </a:lvl1pPr>
            <a:lvl2pPr marL="742950" indent="-285750">
              <a:spcBef>
                <a:spcPct val="20000"/>
              </a:spcBef>
              <a:buFont typeface="Arial" panose="020B0604020202020204" pitchFamily="34" charset="0"/>
              <a:buChar char="–"/>
              <a:defRPr sz="1400">
                <a:latin typeface="Arial" panose="020B0604020202020204" pitchFamily="34" charset="0"/>
              </a:defRPr>
            </a:lvl2pPr>
            <a:lvl3pPr marL="1143000" indent="-228600">
              <a:spcBef>
                <a:spcPct val="20000"/>
              </a:spcBef>
              <a:buFont typeface="Wingdings" panose="05000000000000000000" pitchFamily="2" charset="2"/>
              <a:buChar char="ü"/>
              <a:defRPr sz="1400">
                <a:latin typeface="Arial" panose="020B0604020202020204" pitchFamily="34" charset="0"/>
              </a:defRPr>
            </a:lvl3pPr>
            <a:lvl4pPr marL="1600200" indent="-228600">
              <a:spcBef>
                <a:spcPct val="20000"/>
              </a:spcBef>
              <a:buFont typeface="Wingdings" panose="05000000000000000000" pitchFamily="2" charset="2"/>
              <a:buChar char="Ø"/>
              <a:defRPr sz="1400">
                <a:latin typeface="Arial" panose="020B0604020202020204" pitchFamily="34" charset="0"/>
              </a:defRPr>
            </a:lvl4pPr>
            <a:lvl5pPr marL="2057400" indent="-228600">
              <a:spcBef>
                <a:spcPct val="20000"/>
              </a:spcBef>
              <a:buFont typeface="Arial" panose="020B0604020202020204" pitchFamily="34" charset="0"/>
              <a:buChar char="»"/>
              <a:defRPr sz="1400">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9pPr>
          </a:lstStyle>
          <a:p>
            <a:r>
              <a:rPr lang="zh-CN" altLang="en-US" dirty="0">
                <a:ea typeface="Alibaba PuHuiTi 2.0 55 Regular"/>
              </a:rPr>
              <a:t>过去经验</a:t>
            </a:r>
          </a:p>
        </p:txBody>
      </p:sp>
      <p:sp>
        <p:nvSpPr>
          <p:cNvPr id="22" name="Text Box 10">
            <a:extLst>
              <a:ext uri="{FF2B5EF4-FFF2-40B4-BE49-F238E27FC236}">
                <a16:creationId xmlns:a16="http://schemas.microsoft.com/office/drawing/2014/main" id="{F6F0C285-D611-550C-F183-A5A212270915}"/>
              </a:ext>
            </a:extLst>
          </p:cNvPr>
          <p:cNvSpPr txBox="1">
            <a:spLocks noChangeArrowheads="1"/>
          </p:cNvSpPr>
          <p:nvPr>
            <p:custDataLst>
              <p:tags r:id="rId11"/>
            </p:custDataLst>
          </p:nvPr>
        </p:nvSpPr>
        <p:spPr bwMode="auto">
          <a:xfrm>
            <a:off x="2411300" y="2770533"/>
            <a:ext cx="1046210" cy="308537"/>
          </a:xfrm>
          <a:prstGeom prst="rect">
            <a:avLst/>
          </a:prstGeom>
          <a:solidFill>
            <a:schemeClr val="bg1">
              <a:lumMod val="50000"/>
            </a:schemeClr>
          </a:solidFill>
          <a:ln w="9525" algn="ctr">
            <a:noFill/>
            <a:miter lim="800000"/>
          </a:ln>
        </p:spPr>
        <p:txBody>
          <a:bodyPr lIns="90000" tIns="46800" rIns="90000" bIns="46800" anchor="ctr" anchorCtr="1"/>
          <a:lstStyle>
            <a:defPPr>
              <a:defRPr lang="zh-CN"/>
            </a:defPPr>
            <a:lvl1pPr marL="179705" indent="-179705" algn="ctr">
              <a:spcBef>
                <a:spcPct val="50000"/>
              </a:spcBef>
              <a:buFontTx/>
              <a:buNone/>
              <a:defRPr sz="1200">
                <a:solidFill>
                  <a:schemeClr val="bg1"/>
                </a:solidFill>
                <a:ea typeface="微软雅黑" panose="020B0503020204020204" pitchFamily="34" charset="-122"/>
              </a:defRPr>
            </a:lvl1pPr>
            <a:lvl2pPr marL="742950" indent="-285750">
              <a:spcBef>
                <a:spcPct val="20000"/>
              </a:spcBef>
              <a:buFont typeface="Arial" panose="020B0604020202020204" pitchFamily="34" charset="0"/>
              <a:buChar char="–"/>
              <a:defRPr sz="1400">
                <a:latin typeface="Arial" panose="020B0604020202020204" pitchFamily="34" charset="0"/>
              </a:defRPr>
            </a:lvl2pPr>
            <a:lvl3pPr marL="1143000" indent="-228600">
              <a:spcBef>
                <a:spcPct val="20000"/>
              </a:spcBef>
              <a:buFont typeface="Wingdings" panose="05000000000000000000" pitchFamily="2" charset="2"/>
              <a:buChar char="ü"/>
              <a:defRPr sz="1400">
                <a:latin typeface="Arial" panose="020B0604020202020204" pitchFamily="34" charset="0"/>
              </a:defRPr>
            </a:lvl3pPr>
            <a:lvl4pPr marL="1600200" indent="-228600">
              <a:spcBef>
                <a:spcPct val="20000"/>
              </a:spcBef>
              <a:buFont typeface="Wingdings" panose="05000000000000000000" pitchFamily="2" charset="2"/>
              <a:buChar char="Ø"/>
              <a:defRPr sz="1400">
                <a:latin typeface="Arial" panose="020B0604020202020204" pitchFamily="34" charset="0"/>
              </a:defRPr>
            </a:lvl4pPr>
            <a:lvl5pPr marL="2057400" indent="-228600">
              <a:spcBef>
                <a:spcPct val="20000"/>
              </a:spcBef>
              <a:buFont typeface="Arial" panose="020B0604020202020204" pitchFamily="34" charset="0"/>
              <a:buChar char="»"/>
              <a:defRPr sz="1400">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9pPr>
          </a:lstStyle>
          <a:p>
            <a:r>
              <a:rPr lang="zh-CN" altLang="en-US" dirty="0">
                <a:ea typeface="Alibaba PuHuiTi 2.0 55 Regular"/>
              </a:rPr>
              <a:t>期望的服务</a:t>
            </a:r>
          </a:p>
        </p:txBody>
      </p:sp>
      <p:sp>
        <p:nvSpPr>
          <p:cNvPr id="23" name="Text Box 11">
            <a:extLst>
              <a:ext uri="{FF2B5EF4-FFF2-40B4-BE49-F238E27FC236}">
                <a16:creationId xmlns:a16="http://schemas.microsoft.com/office/drawing/2014/main" id="{A5AFE65B-47E5-FD32-1244-5E0DF599FB23}"/>
              </a:ext>
            </a:extLst>
          </p:cNvPr>
          <p:cNvSpPr txBox="1">
            <a:spLocks noChangeArrowheads="1"/>
          </p:cNvSpPr>
          <p:nvPr>
            <p:custDataLst>
              <p:tags r:id="rId12"/>
            </p:custDataLst>
          </p:nvPr>
        </p:nvSpPr>
        <p:spPr bwMode="auto">
          <a:xfrm>
            <a:off x="2411300" y="3480043"/>
            <a:ext cx="1046210" cy="308537"/>
          </a:xfrm>
          <a:prstGeom prst="rect">
            <a:avLst/>
          </a:prstGeom>
          <a:solidFill>
            <a:schemeClr val="bg1">
              <a:lumMod val="50000"/>
            </a:schemeClr>
          </a:solidFill>
          <a:ln w="9525" algn="ctr">
            <a:noFill/>
            <a:miter lim="800000"/>
          </a:ln>
        </p:spPr>
        <p:txBody>
          <a:bodyPr lIns="90000" tIns="46800" rIns="90000" bIns="46800" anchor="ctr" anchorCtr="1"/>
          <a:lstStyle>
            <a:defPPr>
              <a:defRPr lang="zh-CN"/>
            </a:defPPr>
            <a:lvl1pPr marL="179705" indent="-179705" algn="ctr">
              <a:spcBef>
                <a:spcPct val="50000"/>
              </a:spcBef>
              <a:buFontTx/>
              <a:buNone/>
              <a:defRPr sz="1200">
                <a:solidFill>
                  <a:schemeClr val="bg1"/>
                </a:solidFill>
                <a:ea typeface="微软雅黑" panose="020B0503020204020204" pitchFamily="34" charset="-122"/>
              </a:defRPr>
            </a:lvl1pPr>
            <a:lvl2pPr marL="742950" indent="-285750">
              <a:spcBef>
                <a:spcPct val="20000"/>
              </a:spcBef>
              <a:buFont typeface="Arial" panose="020B0604020202020204" pitchFamily="34" charset="0"/>
              <a:buChar char="–"/>
              <a:defRPr sz="1400">
                <a:latin typeface="Arial" panose="020B0604020202020204" pitchFamily="34" charset="0"/>
              </a:defRPr>
            </a:lvl2pPr>
            <a:lvl3pPr marL="1143000" indent="-228600">
              <a:spcBef>
                <a:spcPct val="20000"/>
              </a:spcBef>
              <a:buFont typeface="Wingdings" panose="05000000000000000000" pitchFamily="2" charset="2"/>
              <a:buChar char="ü"/>
              <a:defRPr sz="1400">
                <a:latin typeface="Arial" panose="020B0604020202020204" pitchFamily="34" charset="0"/>
              </a:defRPr>
            </a:lvl3pPr>
            <a:lvl4pPr marL="1600200" indent="-228600">
              <a:spcBef>
                <a:spcPct val="20000"/>
              </a:spcBef>
              <a:buFont typeface="Wingdings" panose="05000000000000000000" pitchFamily="2" charset="2"/>
              <a:buChar char="Ø"/>
              <a:defRPr sz="1400">
                <a:latin typeface="Arial" panose="020B0604020202020204" pitchFamily="34" charset="0"/>
              </a:defRPr>
            </a:lvl4pPr>
            <a:lvl5pPr marL="2057400" indent="-228600">
              <a:spcBef>
                <a:spcPct val="20000"/>
              </a:spcBef>
              <a:buFont typeface="Arial" panose="020B0604020202020204" pitchFamily="34" charset="0"/>
              <a:buChar char="»"/>
              <a:defRPr sz="1400">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9pPr>
          </a:lstStyle>
          <a:p>
            <a:r>
              <a:rPr lang="zh-CN" altLang="en-US" dirty="0">
                <a:ea typeface="Alibaba PuHuiTi 2.0 55 Regular"/>
              </a:rPr>
              <a:t>感知的服务</a:t>
            </a:r>
          </a:p>
        </p:txBody>
      </p:sp>
      <p:sp>
        <p:nvSpPr>
          <p:cNvPr id="24" name="Text Box 12">
            <a:extLst>
              <a:ext uri="{FF2B5EF4-FFF2-40B4-BE49-F238E27FC236}">
                <a16:creationId xmlns:a16="http://schemas.microsoft.com/office/drawing/2014/main" id="{FFC533AF-B287-F2A6-2932-DD52398E6391}"/>
              </a:ext>
            </a:extLst>
          </p:cNvPr>
          <p:cNvSpPr txBox="1">
            <a:spLocks noChangeArrowheads="1"/>
          </p:cNvSpPr>
          <p:nvPr>
            <p:custDataLst>
              <p:tags r:id="rId13"/>
            </p:custDataLst>
          </p:nvPr>
        </p:nvSpPr>
        <p:spPr bwMode="auto">
          <a:xfrm>
            <a:off x="2411300" y="4213912"/>
            <a:ext cx="1046210" cy="308537"/>
          </a:xfrm>
          <a:prstGeom prst="rect">
            <a:avLst/>
          </a:prstGeom>
          <a:solidFill>
            <a:schemeClr val="bg1">
              <a:lumMod val="50000"/>
            </a:schemeClr>
          </a:solidFill>
          <a:ln w="9525" algn="ctr">
            <a:noFill/>
            <a:miter lim="800000"/>
          </a:ln>
        </p:spPr>
        <p:txBody>
          <a:bodyPr lIns="90000" tIns="46800" rIns="90000" bIns="46800" anchor="ctr" anchorCtr="1"/>
          <a:lstStyle>
            <a:defPPr>
              <a:defRPr lang="zh-CN"/>
            </a:defPPr>
            <a:lvl1pPr marL="179705" indent="-179705" algn="ctr">
              <a:spcBef>
                <a:spcPct val="50000"/>
              </a:spcBef>
              <a:buFontTx/>
              <a:buNone/>
              <a:defRPr sz="1200">
                <a:solidFill>
                  <a:schemeClr val="bg1"/>
                </a:solidFill>
                <a:ea typeface="微软雅黑" panose="020B0503020204020204" pitchFamily="34" charset="-122"/>
              </a:defRPr>
            </a:lvl1pPr>
            <a:lvl2pPr marL="742950" indent="-285750">
              <a:spcBef>
                <a:spcPct val="20000"/>
              </a:spcBef>
              <a:buFont typeface="Arial" panose="020B0604020202020204" pitchFamily="34" charset="0"/>
              <a:buChar char="–"/>
              <a:defRPr sz="1400">
                <a:latin typeface="Arial" panose="020B0604020202020204" pitchFamily="34" charset="0"/>
              </a:defRPr>
            </a:lvl2pPr>
            <a:lvl3pPr marL="1143000" indent="-228600">
              <a:spcBef>
                <a:spcPct val="20000"/>
              </a:spcBef>
              <a:buFont typeface="Wingdings" panose="05000000000000000000" pitchFamily="2" charset="2"/>
              <a:buChar char="ü"/>
              <a:defRPr sz="1400">
                <a:latin typeface="Arial" panose="020B0604020202020204" pitchFamily="34" charset="0"/>
              </a:defRPr>
            </a:lvl3pPr>
            <a:lvl4pPr marL="1600200" indent="-228600">
              <a:spcBef>
                <a:spcPct val="20000"/>
              </a:spcBef>
              <a:buFont typeface="Wingdings" panose="05000000000000000000" pitchFamily="2" charset="2"/>
              <a:buChar char="Ø"/>
              <a:defRPr sz="1400">
                <a:latin typeface="Arial" panose="020B0604020202020204" pitchFamily="34" charset="0"/>
              </a:defRPr>
            </a:lvl4pPr>
            <a:lvl5pPr marL="2057400" indent="-228600">
              <a:spcBef>
                <a:spcPct val="20000"/>
              </a:spcBef>
              <a:buFont typeface="Arial" panose="020B0604020202020204" pitchFamily="34" charset="0"/>
              <a:buChar char="»"/>
              <a:defRPr sz="1400">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9pPr>
          </a:lstStyle>
          <a:p>
            <a:r>
              <a:rPr lang="zh-CN" altLang="en-US" dirty="0">
                <a:ea typeface="Alibaba PuHuiTi 2.0 55 Regular"/>
              </a:rPr>
              <a:t>提供的服务</a:t>
            </a:r>
          </a:p>
        </p:txBody>
      </p:sp>
      <p:sp>
        <p:nvSpPr>
          <p:cNvPr id="25" name="Text Box 13">
            <a:extLst>
              <a:ext uri="{FF2B5EF4-FFF2-40B4-BE49-F238E27FC236}">
                <a16:creationId xmlns:a16="http://schemas.microsoft.com/office/drawing/2014/main" id="{3FE0C5BA-D236-EE87-0818-B737DB47DA6D}"/>
              </a:ext>
            </a:extLst>
          </p:cNvPr>
          <p:cNvSpPr txBox="1">
            <a:spLocks noChangeArrowheads="1"/>
          </p:cNvSpPr>
          <p:nvPr>
            <p:custDataLst>
              <p:tags r:id="rId14"/>
            </p:custDataLst>
          </p:nvPr>
        </p:nvSpPr>
        <p:spPr bwMode="auto">
          <a:xfrm>
            <a:off x="2352856" y="5181370"/>
            <a:ext cx="1143686" cy="308537"/>
          </a:xfrm>
          <a:prstGeom prst="rect">
            <a:avLst/>
          </a:prstGeom>
          <a:solidFill>
            <a:schemeClr val="bg1">
              <a:lumMod val="50000"/>
            </a:schemeClr>
          </a:solidFill>
          <a:ln w="9525" algn="ctr">
            <a:noFill/>
            <a:miter lim="800000"/>
          </a:ln>
        </p:spPr>
        <p:txBody>
          <a:bodyPr lIns="90000" tIns="46800" rIns="90000" bIns="46800" anchor="ctr" anchorCtr="1"/>
          <a:lstStyle>
            <a:defPPr>
              <a:defRPr lang="zh-CN"/>
            </a:defPPr>
            <a:lvl1pPr marL="179705" indent="-179705" algn="ctr">
              <a:spcBef>
                <a:spcPct val="50000"/>
              </a:spcBef>
              <a:buFontTx/>
              <a:buNone/>
              <a:defRPr sz="1200">
                <a:solidFill>
                  <a:schemeClr val="bg1"/>
                </a:solidFill>
                <a:ea typeface="微软雅黑" panose="020B0503020204020204" pitchFamily="34" charset="-122"/>
              </a:defRPr>
            </a:lvl1pPr>
            <a:lvl2pPr marL="742950" indent="-285750">
              <a:spcBef>
                <a:spcPct val="20000"/>
              </a:spcBef>
              <a:buFont typeface="Arial" panose="020B0604020202020204" pitchFamily="34" charset="0"/>
              <a:buChar char="–"/>
              <a:defRPr sz="1400">
                <a:latin typeface="Arial" panose="020B0604020202020204" pitchFamily="34" charset="0"/>
              </a:defRPr>
            </a:lvl2pPr>
            <a:lvl3pPr marL="1143000" indent="-228600">
              <a:spcBef>
                <a:spcPct val="20000"/>
              </a:spcBef>
              <a:buFont typeface="Wingdings" panose="05000000000000000000" pitchFamily="2" charset="2"/>
              <a:buChar char="ü"/>
              <a:defRPr sz="1400">
                <a:latin typeface="Arial" panose="020B0604020202020204" pitchFamily="34" charset="0"/>
              </a:defRPr>
            </a:lvl3pPr>
            <a:lvl4pPr marL="1600200" indent="-228600">
              <a:spcBef>
                <a:spcPct val="20000"/>
              </a:spcBef>
              <a:buFont typeface="Wingdings" panose="05000000000000000000" pitchFamily="2" charset="2"/>
              <a:buChar char="Ø"/>
              <a:defRPr sz="1400">
                <a:latin typeface="Arial" panose="020B0604020202020204" pitchFamily="34" charset="0"/>
              </a:defRPr>
            </a:lvl4pPr>
            <a:lvl5pPr marL="2057400" indent="-228600">
              <a:spcBef>
                <a:spcPct val="20000"/>
              </a:spcBef>
              <a:buFont typeface="Arial" panose="020B0604020202020204" pitchFamily="34" charset="0"/>
              <a:buChar char="»"/>
              <a:defRPr sz="1400">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9pPr>
          </a:lstStyle>
          <a:p>
            <a:r>
              <a:rPr lang="zh-CN" altLang="en-US" dirty="0">
                <a:ea typeface="Alibaba PuHuiTi 2.0 55 Regular"/>
              </a:rPr>
              <a:t>服务质量要求</a:t>
            </a:r>
          </a:p>
        </p:txBody>
      </p:sp>
      <p:sp>
        <p:nvSpPr>
          <p:cNvPr id="26" name="Text Box 14">
            <a:extLst>
              <a:ext uri="{FF2B5EF4-FFF2-40B4-BE49-F238E27FC236}">
                <a16:creationId xmlns:a16="http://schemas.microsoft.com/office/drawing/2014/main" id="{58C0E906-67EF-9CF9-B9F9-BB313EE0947D}"/>
              </a:ext>
            </a:extLst>
          </p:cNvPr>
          <p:cNvSpPr txBox="1">
            <a:spLocks noChangeArrowheads="1"/>
          </p:cNvSpPr>
          <p:nvPr>
            <p:custDataLst>
              <p:tags r:id="rId15"/>
            </p:custDataLst>
          </p:nvPr>
        </p:nvSpPr>
        <p:spPr bwMode="auto">
          <a:xfrm>
            <a:off x="2345833" y="5872238"/>
            <a:ext cx="1143682" cy="286448"/>
          </a:xfrm>
          <a:prstGeom prst="rect">
            <a:avLst/>
          </a:prstGeom>
          <a:solidFill>
            <a:schemeClr val="bg1">
              <a:lumMod val="50000"/>
            </a:schemeClr>
          </a:solidFill>
          <a:ln w="9525" algn="ctr">
            <a:noFill/>
            <a:miter lim="800000"/>
          </a:ln>
        </p:spPr>
        <p:txBody>
          <a:bodyPr lIns="90000" tIns="46800" rIns="90000" bIns="46800" anchor="ctr" anchorCtr="1"/>
          <a:lstStyle>
            <a:defPPr>
              <a:defRPr lang="zh-CN"/>
            </a:defPPr>
            <a:lvl1pPr marL="179705" indent="-179705" algn="ctr">
              <a:spcBef>
                <a:spcPct val="50000"/>
              </a:spcBef>
              <a:buFontTx/>
              <a:buNone/>
              <a:defRPr sz="1200">
                <a:solidFill>
                  <a:schemeClr val="bg1"/>
                </a:solidFill>
                <a:ea typeface="微软雅黑" panose="020B0503020204020204" pitchFamily="34" charset="-122"/>
              </a:defRPr>
            </a:lvl1pPr>
            <a:lvl2pPr marL="742950" indent="-285750">
              <a:spcBef>
                <a:spcPct val="20000"/>
              </a:spcBef>
              <a:buFont typeface="Arial" panose="020B0604020202020204" pitchFamily="34" charset="0"/>
              <a:buChar char="–"/>
              <a:defRPr sz="1400">
                <a:latin typeface="Arial" panose="020B0604020202020204" pitchFamily="34" charset="0"/>
              </a:defRPr>
            </a:lvl2pPr>
            <a:lvl3pPr marL="1143000" indent="-228600">
              <a:spcBef>
                <a:spcPct val="20000"/>
              </a:spcBef>
              <a:buFont typeface="Wingdings" panose="05000000000000000000" pitchFamily="2" charset="2"/>
              <a:buChar char="ü"/>
              <a:defRPr sz="1400">
                <a:latin typeface="Arial" panose="020B0604020202020204" pitchFamily="34" charset="0"/>
              </a:defRPr>
            </a:lvl3pPr>
            <a:lvl4pPr marL="1600200" indent="-228600">
              <a:spcBef>
                <a:spcPct val="20000"/>
              </a:spcBef>
              <a:buFont typeface="Wingdings" panose="05000000000000000000" pitchFamily="2" charset="2"/>
              <a:buChar char="Ø"/>
              <a:defRPr sz="1400">
                <a:latin typeface="Arial" panose="020B0604020202020204" pitchFamily="34" charset="0"/>
              </a:defRPr>
            </a:lvl4pPr>
            <a:lvl5pPr marL="2057400" indent="-228600">
              <a:spcBef>
                <a:spcPct val="20000"/>
              </a:spcBef>
              <a:buFont typeface="Arial" panose="020B0604020202020204" pitchFamily="34" charset="0"/>
              <a:buChar char="»"/>
              <a:defRPr sz="1400">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9pPr>
          </a:lstStyle>
          <a:p>
            <a:r>
              <a:rPr lang="zh-CN" altLang="en-US" dirty="0">
                <a:ea typeface="Alibaba PuHuiTi 2.0 55 Regular"/>
              </a:rPr>
              <a:t>对期望的感知</a:t>
            </a:r>
          </a:p>
        </p:txBody>
      </p:sp>
      <p:sp>
        <p:nvSpPr>
          <p:cNvPr id="27" name="Text Box 15">
            <a:extLst>
              <a:ext uri="{FF2B5EF4-FFF2-40B4-BE49-F238E27FC236}">
                <a16:creationId xmlns:a16="http://schemas.microsoft.com/office/drawing/2014/main" id="{01381B5F-70F9-0063-2B87-D490D42FA1AF}"/>
              </a:ext>
            </a:extLst>
          </p:cNvPr>
          <p:cNvSpPr txBox="1">
            <a:spLocks noChangeArrowheads="1"/>
          </p:cNvSpPr>
          <p:nvPr>
            <p:custDataLst>
              <p:tags r:id="rId16"/>
            </p:custDataLst>
          </p:nvPr>
        </p:nvSpPr>
        <p:spPr bwMode="auto">
          <a:xfrm>
            <a:off x="282941" y="5589398"/>
            <a:ext cx="1303370" cy="469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a:spcBef>
                <a:spcPct val="20000"/>
              </a:spcBef>
              <a:buFont typeface="Arial" panose="020B0604020202020204" pitchFamily="34" charset="0"/>
              <a:buChar char="•"/>
              <a:defRPr sz="16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14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ü"/>
              <a:defRPr sz="1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Ø"/>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50000"/>
              </a:spcBef>
              <a:buFontTx/>
              <a:buNone/>
            </a:pPr>
            <a:r>
              <a:rPr lang="zh-CN" altLang="en-US" sz="1200" b="1" dirty="0">
                <a:latin typeface="+mn-lt"/>
                <a:ea typeface="Alibaba PuHuiTi 2.0 55 Regular"/>
              </a:rPr>
              <a:t>整车厂对服务标准/产品的设计</a:t>
            </a:r>
          </a:p>
        </p:txBody>
      </p:sp>
      <p:sp>
        <p:nvSpPr>
          <p:cNvPr id="28" name="Text Box 16">
            <a:extLst>
              <a:ext uri="{FF2B5EF4-FFF2-40B4-BE49-F238E27FC236}">
                <a16:creationId xmlns:a16="http://schemas.microsoft.com/office/drawing/2014/main" id="{A209BF0F-5D00-D45D-4BFE-30CEB0AD0C8B}"/>
              </a:ext>
            </a:extLst>
          </p:cNvPr>
          <p:cNvSpPr txBox="1">
            <a:spLocks noChangeArrowheads="1"/>
          </p:cNvSpPr>
          <p:nvPr>
            <p:custDataLst>
              <p:tags r:id="rId17"/>
            </p:custDataLst>
          </p:nvPr>
        </p:nvSpPr>
        <p:spPr bwMode="auto">
          <a:xfrm>
            <a:off x="303439" y="4446187"/>
            <a:ext cx="1375779" cy="469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spAutoFit/>
          </a:bodyPr>
          <a:lstStyle>
            <a:lvl1pPr>
              <a:spcBef>
                <a:spcPct val="20000"/>
              </a:spcBef>
              <a:buFont typeface="Arial" panose="020B0604020202020204" pitchFamily="34" charset="0"/>
              <a:buChar char="•"/>
              <a:defRPr sz="16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14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ü"/>
              <a:defRPr sz="1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Ø"/>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50000"/>
              </a:spcBef>
              <a:buFontTx/>
              <a:buNone/>
            </a:pPr>
            <a:r>
              <a:rPr lang="zh-CN" altLang="en-US" sz="1200" b="1" dirty="0">
                <a:latin typeface="+mn-lt"/>
                <a:ea typeface="Alibaba PuHuiTi 2.0 55 Regular"/>
              </a:rPr>
              <a:t>服务商服务标准实施</a:t>
            </a:r>
          </a:p>
        </p:txBody>
      </p:sp>
      <p:sp>
        <p:nvSpPr>
          <p:cNvPr id="29" name="Text Box 17">
            <a:extLst>
              <a:ext uri="{FF2B5EF4-FFF2-40B4-BE49-F238E27FC236}">
                <a16:creationId xmlns:a16="http://schemas.microsoft.com/office/drawing/2014/main" id="{FE6F25E5-DCCD-7479-12BB-9637905A7D62}"/>
              </a:ext>
            </a:extLst>
          </p:cNvPr>
          <p:cNvSpPr txBox="1">
            <a:spLocks noChangeArrowheads="1"/>
          </p:cNvSpPr>
          <p:nvPr>
            <p:custDataLst>
              <p:tags r:id="rId18"/>
            </p:custDataLst>
          </p:nvPr>
        </p:nvSpPr>
        <p:spPr bwMode="auto">
          <a:xfrm>
            <a:off x="282941" y="3218377"/>
            <a:ext cx="1356607" cy="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lstStyle>
            <a:lvl1pPr>
              <a:spcBef>
                <a:spcPct val="20000"/>
              </a:spcBef>
              <a:buFont typeface="Arial" panose="020B0604020202020204" pitchFamily="34" charset="0"/>
              <a:buChar char="•"/>
              <a:defRPr sz="16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14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ü"/>
              <a:defRPr sz="1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Ø"/>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50000"/>
              </a:spcBef>
              <a:buFontTx/>
              <a:buNone/>
            </a:pPr>
            <a:r>
              <a:rPr lang="zh-CN" altLang="en-US" sz="1200" b="1" dirty="0">
                <a:latin typeface="+mn-lt"/>
                <a:ea typeface="Alibaba PuHuiTi 2.0 55 Regular"/>
              </a:rPr>
              <a:t>客户期望与感知</a:t>
            </a:r>
          </a:p>
        </p:txBody>
      </p:sp>
      <p:cxnSp>
        <p:nvCxnSpPr>
          <p:cNvPr id="30" name="AutoShape 18">
            <a:extLst>
              <a:ext uri="{FF2B5EF4-FFF2-40B4-BE49-F238E27FC236}">
                <a16:creationId xmlns:a16="http://schemas.microsoft.com/office/drawing/2014/main" id="{AAC7AE6F-9888-218F-FF45-6029011356D7}"/>
              </a:ext>
            </a:extLst>
          </p:cNvPr>
          <p:cNvCxnSpPr>
            <a:cxnSpLocks noChangeShapeType="1"/>
            <a:stCxn id="20" idx="2"/>
            <a:endCxn id="22" idx="0"/>
          </p:cNvCxnSpPr>
          <p:nvPr>
            <p:custDataLst>
              <p:tags r:id="rId19"/>
            </p:custDataLst>
          </p:nvPr>
        </p:nvCxnSpPr>
        <p:spPr bwMode="auto">
          <a:xfrm>
            <a:off x="2934138" y="2460123"/>
            <a:ext cx="0" cy="310411"/>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31" name="AutoShape 25">
            <a:extLst>
              <a:ext uri="{FF2B5EF4-FFF2-40B4-BE49-F238E27FC236}">
                <a16:creationId xmlns:a16="http://schemas.microsoft.com/office/drawing/2014/main" id="{F35F2CD9-A47F-209B-EC5D-064C251FE0B0}"/>
              </a:ext>
            </a:extLst>
          </p:cNvPr>
          <p:cNvCxnSpPr>
            <a:cxnSpLocks noChangeShapeType="1"/>
            <a:stCxn id="24" idx="0"/>
            <a:endCxn id="23" idx="2"/>
          </p:cNvCxnSpPr>
          <p:nvPr>
            <p:custDataLst>
              <p:tags r:id="rId20"/>
            </p:custDataLst>
          </p:nvPr>
        </p:nvCxnSpPr>
        <p:spPr bwMode="auto">
          <a:xfrm flipV="1">
            <a:off x="2934138" y="3788581"/>
            <a:ext cx="0" cy="425956"/>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32" name="AutoShape 27">
            <a:extLst>
              <a:ext uri="{FF2B5EF4-FFF2-40B4-BE49-F238E27FC236}">
                <a16:creationId xmlns:a16="http://schemas.microsoft.com/office/drawing/2014/main" id="{747DFB7A-41BF-5DB7-85C4-9BAD1517AED2}"/>
              </a:ext>
            </a:extLst>
          </p:cNvPr>
          <p:cNvCxnSpPr>
            <a:cxnSpLocks noChangeShapeType="1"/>
            <a:stCxn id="25" idx="0"/>
            <a:endCxn id="24" idx="2"/>
          </p:cNvCxnSpPr>
          <p:nvPr>
            <p:custDataLst>
              <p:tags r:id="rId21"/>
            </p:custDataLst>
          </p:nvPr>
        </p:nvCxnSpPr>
        <p:spPr bwMode="auto">
          <a:xfrm flipV="1">
            <a:off x="2924699" y="4522449"/>
            <a:ext cx="9706" cy="658921"/>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cxnSp>
        <p:nvCxnSpPr>
          <p:cNvPr id="33" name="AutoShape 33">
            <a:extLst>
              <a:ext uri="{FF2B5EF4-FFF2-40B4-BE49-F238E27FC236}">
                <a16:creationId xmlns:a16="http://schemas.microsoft.com/office/drawing/2014/main" id="{5DE7AB85-971E-1ABE-0580-A7B3E09283BF}"/>
              </a:ext>
            </a:extLst>
          </p:cNvPr>
          <p:cNvCxnSpPr>
            <a:cxnSpLocks noChangeShapeType="1"/>
            <a:stCxn id="26" idx="0"/>
            <a:endCxn id="25" idx="2"/>
          </p:cNvCxnSpPr>
          <p:nvPr>
            <p:custDataLst>
              <p:tags r:id="rId22"/>
            </p:custDataLst>
          </p:nvPr>
        </p:nvCxnSpPr>
        <p:spPr bwMode="auto">
          <a:xfrm flipV="1">
            <a:off x="2917674" y="5489907"/>
            <a:ext cx="7025" cy="382331"/>
          </a:xfrm>
          <a:prstGeom prst="straightConnector1">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34" name="Line 37">
            <a:extLst>
              <a:ext uri="{FF2B5EF4-FFF2-40B4-BE49-F238E27FC236}">
                <a16:creationId xmlns:a16="http://schemas.microsoft.com/office/drawing/2014/main" id="{ED16AC8D-B3FB-597C-B6FB-35717DAD1922}"/>
              </a:ext>
            </a:extLst>
          </p:cNvPr>
          <p:cNvSpPr>
            <a:spLocks noChangeShapeType="1"/>
          </p:cNvSpPr>
          <p:nvPr>
            <p:custDataLst>
              <p:tags r:id="rId23"/>
            </p:custDataLst>
          </p:nvPr>
        </p:nvSpPr>
        <p:spPr bwMode="auto">
          <a:xfrm>
            <a:off x="2719039" y="5578597"/>
            <a:ext cx="0" cy="12054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lIns="90000" tIns="0" rIns="90000" bIns="0"/>
          <a:lstStyle/>
          <a:p>
            <a:endParaRPr lang="zh-CN" altLang="en-US" dirty="0"/>
          </a:p>
        </p:txBody>
      </p:sp>
      <p:sp>
        <p:nvSpPr>
          <p:cNvPr id="35" name="Line 38">
            <a:extLst>
              <a:ext uri="{FF2B5EF4-FFF2-40B4-BE49-F238E27FC236}">
                <a16:creationId xmlns:a16="http://schemas.microsoft.com/office/drawing/2014/main" id="{23028C62-A7B7-CB06-D518-68C84D6ACBC8}"/>
              </a:ext>
            </a:extLst>
          </p:cNvPr>
          <p:cNvSpPr>
            <a:spLocks noChangeShapeType="1"/>
          </p:cNvSpPr>
          <p:nvPr>
            <p:custDataLst>
              <p:tags r:id="rId24"/>
            </p:custDataLst>
          </p:nvPr>
        </p:nvSpPr>
        <p:spPr bwMode="auto">
          <a:xfrm>
            <a:off x="3063516" y="5578597"/>
            <a:ext cx="0" cy="12054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lIns="90000" tIns="0" rIns="90000" bIns="0"/>
          <a:lstStyle/>
          <a:p>
            <a:endParaRPr lang="zh-CN" altLang="en-US" dirty="0"/>
          </a:p>
        </p:txBody>
      </p:sp>
      <p:sp>
        <p:nvSpPr>
          <p:cNvPr id="36" name="Text Box 39">
            <a:extLst>
              <a:ext uri="{FF2B5EF4-FFF2-40B4-BE49-F238E27FC236}">
                <a16:creationId xmlns:a16="http://schemas.microsoft.com/office/drawing/2014/main" id="{13217F85-178E-E385-B5CF-AB7182B0AC18}"/>
              </a:ext>
            </a:extLst>
          </p:cNvPr>
          <p:cNvSpPr txBox="1">
            <a:spLocks noChangeArrowheads="1"/>
          </p:cNvSpPr>
          <p:nvPr>
            <p:custDataLst>
              <p:tags r:id="rId25"/>
            </p:custDataLst>
          </p:nvPr>
        </p:nvSpPr>
        <p:spPr bwMode="auto">
          <a:xfrm>
            <a:off x="4317372" y="4213912"/>
            <a:ext cx="1046210" cy="308537"/>
          </a:xfrm>
          <a:prstGeom prst="rect">
            <a:avLst/>
          </a:prstGeom>
          <a:solidFill>
            <a:schemeClr val="bg1">
              <a:lumMod val="50000"/>
            </a:schemeClr>
          </a:solidFill>
          <a:ln w="9525" algn="ctr">
            <a:noFill/>
            <a:miter lim="800000"/>
          </a:ln>
        </p:spPr>
        <p:txBody>
          <a:bodyPr lIns="90000" tIns="46800" rIns="90000" bIns="46800" anchor="ctr" anchorCtr="1"/>
          <a:lstStyle>
            <a:defPPr>
              <a:defRPr lang="zh-CN"/>
            </a:defPPr>
            <a:lvl1pPr marL="179705" indent="-179705" algn="ctr">
              <a:spcBef>
                <a:spcPct val="50000"/>
              </a:spcBef>
              <a:buFontTx/>
              <a:buNone/>
              <a:defRPr sz="1200">
                <a:solidFill>
                  <a:schemeClr val="bg1"/>
                </a:solidFill>
                <a:ea typeface="微软雅黑" panose="020B0503020204020204" pitchFamily="34" charset="-122"/>
              </a:defRPr>
            </a:lvl1pPr>
            <a:lvl2pPr marL="742950" indent="-285750">
              <a:spcBef>
                <a:spcPct val="20000"/>
              </a:spcBef>
              <a:buFont typeface="Arial" panose="020B0604020202020204" pitchFamily="34" charset="0"/>
              <a:buChar char="–"/>
              <a:defRPr sz="1400">
                <a:latin typeface="Arial" panose="020B0604020202020204" pitchFamily="34" charset="0"/>
              </a:defRPr>
            </a:lvl2pPr>
            <a:lvl3pPr marL="1143000" indent="-228600">
              <a:spcBef>
                <a:spcPct val="20000"/>
              </a:spcBef>
              <a:buFont typeface="Wingdings" panose="05000000000000000000" pitchFamily="2" charset="2"/>
              <a:buChar char="ü"/>
              <a:defRPr sz="1400">
                <a:latin typeface="Arial" panose="020B0604020202020204" pitchFamily="34" charset="0"/>
              </a:defRPr>
            </a:lvl3pPr>
            <a:lvl4pPr marL="1600200" indent="-228600">
              <a:spcBef>
                <a:spcPct val="20000"/>
              </a:spcBef>
              <a:buFont typeface="Wingdings" panose="05000000000000000000" pitchFamily="2" charset="2"/>
              <a:buChar char="Ø"/>
              <a:defRPr sz="1400">
                <a:latin typeface="Arial" panose="020B0604020202020204" pitchFamily="34" charset="0"/>
              </a:defRPr>
            </a:lvl4pPr>
            <a:lvl5pPr marL="2057400" indent="-228600">
              <a:spcBef>
                <a:spcPct val="20000"/>
              </a:spcBef>
              <a:buFont typeface="Arial" panose="020B0604020202020204" pitchFamily="34" charset="0"/>
              <a:buChar char="»"/>
              <a:defRPr sz="1400">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latin typeface="Arial" panose="020B0604020202020204" pitchFamily="34" charset="0"/>
              </a:defRPr>
            </a:lvl9pPr>
          </a:lstStyle>
          <a:p>
            <a:r>
              <a:rPr lang="zh-CN" altLang="en-US" dirty="0">
                <a:ea typeface="Alibaba PuHuiTi 2.0 55 Regular"/>
              </a:rPr>
              <a:t>外部交流</a:t>
            </a:r>
          </a:p>
        </p:txBody>
      </p:sp>
      <p:cxnSp>
        <p:nvCxnSpPr>
          <p:cNvPr id="37" name="AutoShape 40">
            <a:extLst>
              <a:ext uri="{FF2B5EF4-FFF2-40B4-BE49-F238E27FC236}">
                <a16:creationId xmlns:a16="http://schemas.microsoft.com/office/drawing/2014/main" id="{7BBC038B-4393-B377-2876-36693366CC27}"/>
              </a:ext>
            </a:extLst>
          </p:cNvPr>
          <p:cNvCxnSpPr>
            <a:cxnSpLocks noChangeShapeType="1"/>
            <a:stCxn id="25" idx="3"/>
            <a:endCxn id="36" idx="2"/>
          </p:cNvCxnSpPr>
          <p:nvPr>
            <p:custDataLst>
              <p:tags r:id="rId26"/>
            </p:custDataLst>
          </p:nvPr>
        </p:nvCxnSpPr>
        <p:spPr bwMode="auto">
          <a:xfrm flipV="1">
            <a:off x="3496542" y="4522449"/>
            <a:ext cx="1343935" cy="813190"/>
          </a:xfrm>
          <a:prstGeom prst="bentConnector2">
            <a:avLst/>
          </a:prstGeom>
          <a:noFill/>
          <a:ln w="19050">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38" name="AutoShape 41">
            <a:extLst>
              <a:ext uri="{FF2B5EF4-FFF2-40B4-BE49-F238E27FC236}">
                <a16:creationId xmlns:a16="http://schemas.microsoft.com/office/drawing/2014/main" id="{E2369638-6519-902F-4EF7-D0D572014A07}"/>
              </a:ext>
            </a:extLst>
          </p:cNvPr>
          <p:cNvCxnSpPr>
            <a:cxnSpLocks noChangeShapeType="1"/>
            <a:stCxn id="36" idx="0"/>
            <a:endCxn id="23" idx="3"/>
          </p:cNvCxnSpPr>
          <p:nvPr>
            <p:custDataLst>
              <p:tags r:id="rId27"/>
            </p:custDataLst>
          </p:nvPr>
        </p:nvCxnSpPr>
        <p:spPr bwMode="auto">
          <a:xfrm rot="16200000" flipV="1">
            <a:off x="3858748" y="3232450"/>
            <a:ext cx="580225" cy="1382701"/>
          </a:xfrm>
          <a:prstGeom prst="bentConnector2">
            <a:avLst/>
          </a:prstGeom>
          <a:noFill/>
          <a:ln w="19050">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39" name="AutoShape 42">
            <a:extLst>
              <a:ext uri="{FF2B5EF4-FFF2-40B4-BE49-F238E27FC236}">
                <a16:creationId xmlns:a16="http://schemas.microsoft.com/office/drawing/2014/main" id="{D290234E-3E81-87DB-B7A2-73A8A90117B4}"/>
              </a:ext>
            </a:extLst>
          </p:cNvPr>
          <p:cNvCxnSpPr>
            <a:cxnSpLocks noChangeShapeType="1"/>
            <a:stCxn id="36" idx="0"/>
            <a:endCxn id="22" idx="3"/>
          </p:cNvCxnSpPr>
          <p:nvPr>
            <p:custDataLst>
              <p:tags r:id="rId28"/>
            </p:custDataLst>
          </p:nvPr>
        </p:nvCxnSpPr>
        <p:spPr bwMode="auto">
          <a:xfrm rot="16200000" flipV="1">
            <a:off x="3504525" y="2877695"/>
            <a:ext cx="1289735" cy="1382701"/>
          </a:xfrm>
          <a:prstGeom prst="bentConnector2">
            <a:avLst/>
          </a:prstGeom>
          <a:noFill/>
          <a:ln w="19050">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40" name="AutoShape 43">
            <a:extLst>
              <a:ext uri="{FF2B5EF4-FFF2-40B4-BE49-F238E27FC236}">
                <a16:creationId xmlns:a16="http://schemas.microsoft.com/office/drawing/2014/main" id="{0B2711DD-8971-478E-68A0-483784CFDB0F}"/>
              </a:ext>
            </a:extLst>
          </p:cNvPr>
          <p:cNvCxnSpPr>
            <a:cxnSpLocks noChangeShapeType="1"/>
            <a:stCxn id="24" idx="3"/>
            <a:endCxn id="36" idx="1"/>
          </p:cNvCxnSpPr>
          <p:nvPr>
            <p:custDataLst>
              <p:tags r:id="rId29"/>
            </p:custDataLst>
          </p:nvPr>
        </p:nvCxnSpPr>
        <p:spPr bwMode="auto">
          <a:xfrm>
            <a:off x="3457509" y="4368805"/>
            <a:ext cx="859330" cy="0"/>
          </a:xfrm>
          <a:prstGeom prst="straightConnector1">
            <a:avLst/>
          </a:prstGeom>
          <a:noFill/>
          <a:ln w="19050">
            <a:solidFill>
              <a:schemeClr val="tx1"/>
            </a:solidFill>
            <a:round/>
          </a:ln>
          <a:extLst>
            <a:ext uri="{909E8E84-426E-40DD-AFC4-6F175D3DCCD1}">
              <a14:hiddenFill xmlns:a14="http://schemas.microsoft.com/office/drawing/2010/main">
                <a:noFill/>
              </a14:hiddenFill>
            </a:ext>
          </a:extLst>
        </p:spPr>
      </p:cxnSp>
      <p:cxnSp>
        <p:nvCxnSpPr>
          <p:cNvPr id="41" name="AutoShape 49">
            <a:extLst>
              <a:ext uri="{FF2B5EF4-FFF2-40B4-BE49-F238E27FC236}">
                <a16:creationId xmlns:a16="http://schemas.microsoft.com/office/drawing/2014/main" id="{59D6E150-A1E0-EB01-5689-C068A86C4F60}"/>
              </a:ext>
            </a:extLst>
          </p:cNvPr>
          <p:cNvCxnSpPr>
            <a:cxnSpLocks noChangeShapeType="1"/>
            <a:stCxn id="22" idx="1"/>
            <a:endCxn id="26" idx="1"/>
          </p:cNvCxnSpPr>
          <p:nvPr>
            <p:custDataLst>
              <p:tags r:id="rId30"/>
            </p:custDataLst>
          </p:nvPr>
        </p:nvCxnSpPr>
        <p:spPr bwMode="auto">
          <a:xfrm rot="10800000" flipV="1">
            <a:off x="2345834" y="2924802"/>
            <a:ext cx="65467" cy="3090660"/>
          </a:xfrm>
          <a:prstGeom prst="bentConnector3">
            <a:avLst>
              <a:gd name="adj1" fmla="val 449184"/>
            </a:avLst>
          </a:prstGeom>
          <a:noFill/>
          <a:ln w="19050">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42" name="AutoShape 61">
            <a:extLst>
              <a:ext uri="{FF2B5EF4-FFF2-40B4-BE49-F238E27FC236}">
                <a16:creationId xmlns:a16="http://schemas.microsoft.com/office/drawing/2014/main" id="{E682D750-D97B-754F-3CA9-525BD377A9DF}"/>
              </a:ext>
            </a:extLst>
          </p:cNvPr>
          <p:cNvCxnSpPr>
            <a:cxnSpLocks noChangeShapeType="1"/>
            <a:stCxn id="19" idx="2"/>
            <a:endCxn id="22" idx="0"/>
          </p:cNvCxnSpPr>
          <p:nvPr>
            <p:custDataLst>
              <p:tags r:id="rId31"/>
            </p:custDataLst>
          </p:nvPr>
        </p:nvCxnSpPr>
        <p:spPr bwMode="auto">
          <a:xfrm rot="16200000" flipH="1">
            <a:off x="2134313" y="1970441"/>
            <a:ext cx="310411" cy="1289772"/>
          </a:xfrm>
          <a:prstGeom prst="bentConnector3">
            <a:avLst>
              <a:gd name="adj1" fmla="val 50000"/>
            </a:avLst>
          </a:prstGeom>
          <a:noFill/>
          <a:ln w="9525">
            <a:solidFill>
              <a:schemeClr val="tx1"/>
            </a:solidFill>
            <a:miter lim="800000"/>
          </a:ln>
          <a:extLst>
            <a:ext uri="{909E8E84-426E-40DD-AFC4-6F175D3DCCD1}">
              <a14:hiddenFill xmlns:a14="http://schemas.microsoft.com/office/drawing/2010/main">
                <a:noFill/>
              </a14:hiddenFill>
            </a:ext>
          </a:extLst>
        </p:spPr>
      </p:cxnSp>
      <p:cxnSp>
        <p:nvCxnSpPr>
          <p:cNvPr id="43" name="AutoShape 62">
            <a:extLst>
              <a:ext uri="{FF2B5EF4-FFF2-40B4-BE49-F238E27FC236}">
                <a16:creationId xmlns:a16="http://schemas.microsoft.com/office/drawing/2014/main" id="{070F4F1D-36FF-CDE0-B5E8-5A81FB9D051E}"/>
              </a:ext>
            </a:extLst>
          </p:cNvPr>
          <p:cNvCxnSpPr>
            <a:cxnSpLocks noChangeShapeType="1"/>
            <a:stCxn id="21" idx="2"/>
            <a:endCxn id="22" idx="0"/>
          </p:cNvCxnSpPr>
          <p:nvPr>
            <p:custDataLst>
              <p:tags r:id="rId32"/>
            </p:custDataLst>
          </p:nvPr>
        </p:nvCxnSpPr>
        <p:spPr bwMode="auto">
          <a:xfrm rot="5400000">
            <a:off x="3448454" y="1945760"/>
            <a:ext cx="310411" cy="1338510"/>
          </a:xfrm>
          <a:prstGeom prst="bentConnector3">
            <a:avLst>
              <a:gd name="adj1" fmla="val 50000"/>
            </a:avLst>
          </a:prstGeom>
          <a:noFill/>
          <a:ln w="9525">
            <a:solidFill>
              <a:schemeClr val="tx1"/>
            </a:solidFill>
            <a:miter lim="800000"/>
          </a:ln>
          <a:extLst>
            <a:ext uri="{909E8E84-426E-40DD-AFC4-6F175D3DCCD1}">
              <a14:hiddenFill xmlns:a14="http://schemas.microsoft.com/office/drawing/2010/main">
                <a:noFill/>
              </a14:hiddenFill>
            </a:ext>
          </a:extLst>
        </p:spPr>
      </p:cxnSp>
      <p:sp>
        <p:nvSpPr>
          <p:cNvPr id="44" name="文本框 43">
            <a:extLst>
              <a:ext uri="{FF2B5EF4-FFF2-40B4-BE49-F238E27FC236}">
                <a16:creationId xmlns:a16="http://schemas.microsoft.com/office/drawing/2014/main" id="{A4C71C7D-D060-3C6D-E691-7E3B5513FCAD}"/>
              </a:ext>
            </a:extLst>
          </p:cNvPr>
          <p:cNvSpPr txBox="1"/>
          <p:nvPr>
            <p:custDataLst>
              <p:tags r:id="rId33"/>
            </p:custDataLst>
          </p:nvPr>
        </p:nvSpPr>
        <p:spPr>
          <a:xfrm>
            <a:off x="1135083" y="6059515"/>
            <a:ext cx="1046210" cy="162166"/>
          </a:xfrm>
          <a:prstGeom prst="rect">
            <a:avLst/>
          </a:prstGeom>
          <a:noFill/>
        </p:spPr>
        <p:txBody>
          <a:bodyPr wrap="square" lIns="0" tIns="0" rIns="0" bIns="0" rtlCol="0">
            <a:spAutoFit/>
          </a:bodyPr>
          <a:lstStyle/>
          <a:p>
            <a:pPr algn="ctr">
              <a:lnSpc>
                <a:spcPct val="110000"/>
              </a:lnSpc>
            </a:pPr>
            <a:r>
              <a:rPr lang="zh-CN" altLang="en-US" sz="1000" b="1" kern="0" dirty="0">
                <a:ea typeface="Alibaba PuHuiTi 2.0 55 Regular"/>
                <a:cs typeface="Audi Type" panose="020B0503040200000003" pitchFamily="34" charset="0"/>
              </a:rPr>
              <a:t>客户需求理解缺口</a:t>
            </a:r>
          </a:p>
        </p:txBody>
      </p:sp>
      <p:sp>
        <p:nvSpPr>
          <p:cNvPr id="45" name="文本框 44">
            <a:extLst>
              <a:ext uri="{FF2B5EF4-FFF2-40B4-BE49-F238E27FC236}">
                <a16:creationId xmlns:a16="http://schemas.microsoft.com/office/drawing/2014/main" id="{57C52DD3-B342-196C-810E-5D8B7A8AB9DC}"/>
              </a:ext>
            </a:extLst>
          </p:cNvPr>
          <p:cNvSpPr txBox="1"/>
          <p:nvPr>
            <p:custDataLst>
              <p:tags r:id="rId34"/>
            </p:custDataLst>
          </p:nvPr>
        </p:nvSpPr>
        <p:spPr>
          <a:xfrm>
            <a:off x="3354752" y="5615446"/>
            <a:ext cx="1285491" cy="162166"/>
          </a:xfrm>
          <a:prstGeom prst="rect">
            <a:avLst/>
          </a:prstGeom>
          <a:noFill/>
        </p:spPr>
        <p:txBody>
          <a:bodyPr wrap="square" lIns="0" tIns="0" rIns="0" bIns="0" rtlCol="0">
            <a:spAutoFit/>
          </a:bodyPr>
          <a:lstStyle/>
          <a:p>
            <a:pPr>
              <a:lnSpc>
                <a:spcPct val="110000"/>
              </a:lnSpc>
            </a:pPr>
            <a:r>
              <a:rPr lang="zh-CN" altLang="en-US" sz="1000" b="1" kern="0" dirty="0">
                <a:ea typeface="Alibaba PuHuiTi 2.0 55 Regular"/>
                <a:cs typeface="Audi Type" panose="020B0503040200000003" pitchFamily="34" charset="0"/>
              </a:rPr>
              <a:t>服务标准设计缺口</a:t>
            </a:r>
          </a:p>
        </p:txBody>
      </p:sp>
      <p:sp>
        <p:nvSpPr>
          <p:cNvPr id="46" name="文本框 45">
            <a:extLst>
              <a:ext uri="{FF2B5EF4-FFF2-40B4-BE49-F238E27FC236}">
                <a16:creationId xmlns:a16="http://schemas.microsoft.com/office/drawing/2014/main" id="{FDD2BF49-B8AB-B071-C2E6-B4A604228DAA}"/>
              </a:ext>
            </a:extLst>
          </p:cNvPr>
          <p:cNvSpPr txBox="1"/>
          <p:nvPr>
            <p:custDataLst>
              <p:tags r:id="rId35"/>
            </p:custDataLst>
          </p:nvPr>
        </p:nvSpPr>
        <p:spPr>
          <a:xfrm>
            <a:off x="1863970" y="4777899"/>
            <a:ext cx="981254" cy="145525"/>
          </a:xfrm>
          <a:prstGeom prst="rect">
            <a:avLst/>
          </a:prstGeom>
          <a:noFill/>
        </p:spPr>
        <p:txBody>
          <a:bodyPr wrap="square" lIns="0" tIns="0" rIns="0" bIns="0" rtlCol="0">
            <a:noAutofit/>
          </a:bodyPr>
          <a:lstStyle/>
          <a:p>
            <a:pPr algn="ctr">
              <a:lnSpc>
                <a:spcPct val="110000"/>
              </a:lnSpc>
            </a:pPr>
            <a:r>
              <a:rPr lang="zh-CN" altLang="en-US" sz="1000" b="1" kern="0" dirty="0">
                <a:ea typeface="Alibaba PuHuiTi 2.0 55 Regular"/>
                <a:cs typeface="Audi Type" panose="020B0503040200000003" pitchFamily="34" charset="0"/>
              </a:rPr>
              <a:t>服务商标准执行缺口</a:t>
            </a:r>
          </a:p>
        </p:txBody>
      </p:sp>
      <p:sp>
        <p:nvSpPr>
          <p:cNvPr id="47" name="文本框 46">
            <a:extLst>
              <a:ext uri="{FF2B5EF4-FFF2-40B4-BE49-F238E27FC236}">
                <a16:creationId xmlns:a16="http://schemas.microsoft.com/office/drawing/2014/main" id="{B590879F-85ED-A518-0C65-4004F0301572}"/>
              </a:ext>
            </a:extLst>
          </p:cNvPr>
          <p:cNvSpPr txBox="1"/>
          <p:nvPr>
            <p:custDataLst>
              <p:tags r:id="rId36"/>
            </p:custDataLst>
          </p:nvPr>
        </p:nvSpPr>
        <p:spPr>
          <a:xfrm>
            <a:off x="3443134" y="4694832"/>
            <a:ext cx="1054196" cy="333618"/>
          </a:xfrm>
          <a:prstGeom prst="rect">
            <a:avLst/>
          </a:prstGeom>
          <a:noFill/>
        </p:spPr>
        <p:txBody>
          <a:bodyPr wrap="square" lIns="0" tIns="0" rIns="0" bIns="0" rtlCol="0">
            <a:spAutoFit/>
          </a:bodyPr>
          <a:lstStyle/>
          <a:p>
            <a:pPr algn="ctr">
              <a:lnSpc>
                <a:spcPct val="110000"/>
              </a:lnSpc>
            </a:pPr>
            <a:r>
              <a:rPr lang="zh-CN" altLang="en-US" sz="1000" b="1" kern="0" dirty="0">
                <a:ea typeface="Alibaba PuHuiTi 2.0 55 Regular"/>
                <a:cs typeface="微软雅黑" panose="020B0503020204020204" pitchFamily="34" charset="-122"/>
              </a:rPr>
              <a:t>总部</a:t>
            </a:r>
            <a:r>
              <a:rPr lang="en-US" altLang="zh-CN" sz="1000" b="1" kern="0" dirty="0">
                <a:ea typeface="Alibaba PuHuiTi 2.0 55 Regular"/>
                <a:cs typeface="微软雅黑" panose="020B0503020204020204" pitchFamily="34" charset="-122"/>
              </a:rPr>
              <a:t>/</a:t>
            </a:r>
            <a:r>
              <a:rPr lang="zh-CN" altLang="en-US" sz="1000" b="1" kern="0" dirty="0">
                <a:ea typeface="Alibaba PuHuiTi 2.0 55 Regular"/>
                <a:cs typeface="微软雅黑" panose="020B0503020204020204" pitchFamily="34" charset="-122"/>
              </a:rPr>
              <a:t>服务商传播缺口</a:t>
            </a:r>
          </a:p>
        </p:txBody>
      </p:sp>
      <p:sp>
        <p:nvSpPr>
          <p:cNvPr id="48" name="文本框 47">
            <a:extLst>
              <a:ext uri="{FF2B5EF4-FFF2-40B4-BE49-F238E27FC236}">
                <a16:creationId xmlns:a16="http://schemas.microsoft.com/office/drawing/2014/main" id="{C193C787-7777-EA26-3ED1-9F594C1568FF}"/>
              </a:ext>
            </a:extLst>
          </p:cNvPr>
          <p:cNvSpPr txBox="1"/>
          <p:nvPr>
            <p:custDataLst>
              <p:tags r:id="rId37"/>
            </p:custDataLst>
          </p:nvPr>
        </p:nvSpPr>
        <p:spPr>
          <a:xfrm>
            <a:off x="3354751" y="3212729"/>
            <a:ext cx="1338509" cy="162166"/>
          </a:xfrm>
          <a:prstGeom prst="rect">
            <a:avLst/>
          </a:prstGeom>
          <a:noFill/>
        </p:spPr>
        <p:txBody>
          <a:bodyPr wrap="square" lIns="0" tIns="0" rIns="0" bIns="0" rtlCol="0">
            <a:spAutoFit/>
          </a:bodyPr>
          <a:lstStyle/>
          <a:p>
            <a:pPr>
              <a:lnSpc>
                <a:spcPct val="110000"/>
              </a:lnSpc>
            </a:pPr>
            <a:r>
              <a:rPr lang="zh-CN" altLang="en-US" sz="1000" b="1" kern="0" dirty="0">
                <a:ea typeface="Alibaba PuHuiTi 2.0 55 Regular"/>
                <a:cs typeface="Audi Type" panose="020B0503040200000003" pitchFamily="34" charset="0"/>
              </a:rPr>
              <a:t>客户体验与期望缺口</a:t>
            </a:r>
          </a:p>
        </p:txBody>
      </p:sp>
      <p:pic>
        <p:nvPicPr>
          <p:cNvPr id="49" name="图形 48" descr="徽章 5 纯色填充">
            <a:extLst>
              <a:ext uri="{FF2B5EF4-FFF2-40B4-BE49-F238E27FC236}">
                <a16:creationId xmlns:a16="http://schemas.microsoft.com/office/drawing/2014/main" id="{7154EBDE-C58B-E4B2-C78E-F7060A880437}"/>
              </a:ext>
            </a:extLst>
          </p:cNvPr>
          <p:cNvPicPr preferRelativeResize="0">
            <a:picLocks/>
          </p:cNvPicPr>
          <p:nvPr>
            <p:custDataLst>
              <p:tags r:id="rId38"/>
            </p:custDataLst>
          </p:nvPr>
        </p:nvPicPr>
        <p:blipFill>
          <a:blip r:embed="rId85" cstate="print">
            <a:extLst>
              <a:ext uri="{28A0092B-C50C-407E-A947-70E740481C1C}">
                <a14:useLocalDpi xmlns:a14="http://schemas.microsoft.com/office/drawing/2010/main" val="0"/>
              </a:ext>
              <a:ext uri="{96DAC541-7B7A-43D3-8B79-37D633B846F1}">
                <asvg:svgBlip xmlns:asvg="http://schemas.microsoft.com/office/drawing/2016/SVG/main" r:embed="rId86"/>
              </a:ext>
            </a:extLst>
          </a:blip>
          <a:stretch>
            <a:fillRect/>
          </a:stretch>
        </p:blipFill>
        <p:spPr>
          <a:xfrm>
            <a:off x="3150834" y="3167135"/>
            <a:ext cx="184465" cy="182313"/>
          </a:xfrm>
          <a:prstGeom prst="rect">
            <a:avLst/>
          </a:prstGeom>
        </p:spPr>
      </p:pic>
      <p:grpSp>
        <p:nvGrpSpPr>
          <p:cNvPr id="50" name="组合 49">
            <a:extLst>
              <a:ext uri="{FF2B5EF4-FFF2-40B4-BE49-F238E27FC236}">
                <a16:creationId xmlns:a16="http://schemas.microsoft.com/office/drawing/2014/main" id="{80C580CE-D89A-18F9-C87C-F630A8351B87}"/>
              </a:ext>
            </a:extLst>
          </p:cNvPr>
          <p:cNvGrpSpPr/>
          <p:nvPr/>
        </p:nvGrpSpPr>
        <p:grpSpPr>
          <a:xfrm>
            <a:off x="1708501" y="5715377"/>
            <a:ext cx="215099" cy="153644"/>
            <a:chOff x="4379448" y="4699471"/>
            <a:chExt cx="462726" cy="173681"/>
          </a:xfrm>
        </p:grpSpPr>
        <p:sp>
          <p:nvSpPr>
            <p:cNvPr id="95" name="Rectangle 28">
              <a:extLst>
                <a:ext uri="{FF2B5EF4-FFF2-40B4-BE49-F238E27FC236}">
                  <a16:creationId xmlns:a16="http://schemas.microsoft.com/office/drawing/2014/main" id="{68557DB3-0030-6D9B-4910-E94DD8D0BA0F}"/>
                </a:ext>
              </a:extLst>
            </p:cNvPr>
            <p:cNvSpPr>
              <a:spLocks noChangeArrowheads="1"/>
            </p:cNvSpPr>
            <p:nvPr>
              <p:custDataLst>
                <p:tags r:id="rId79"/>
              </p:custDataLst>
            </p:nvPr>
          </p:nvSpPr>
          <p:spPr bwMode="auto">
            <a:xfrm>
              <a:off x="4379448" y="4704951"/>
              <a:ext cx="462726" cy="106717"/>
            </a:xfrm>
            <a:prstGeom prst="rect">
              <a:avLst/>
            </a:prstGeom>
            <a:solidFill>
              <a:schemeClr val="accent6">
                <a:lumMod val="20000"/>
                <a:lumOff val="80000"/>
              </a:schemeClr>
            </a:solidFill>
            <a:ln>
              <a:noFill/>
            </a:ln>
          </p:spPr>
          <p:txBody>
            <a:bodyPr lIns="90000" tIns="0" rIns="90000" bIns="0"/>
            <a:lstStyle>
              <a:lvl1pPr>
                <a:spcBef>
                  <a:spcPct val="20000"/>
                </a:spcBef>
                <a:buFont typeface="Arial" panose="020B0604020202020204" pitchFamily="34" charset="0"/>
                <a:buChar char="•"/>
                <a:defRPr sz="16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14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ü"/>
                <a:defRPr sz="1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Ø"/>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 typeface="Arial" panose="020B0604020202020204" pitchFamily="34" charset="0"/>
                <a:buNone/>
              </a:pPr>
              <a:endParaRPr lang="zh-CN" altLang="en-US" sz="700" dirty="0">
                <a:latin typeface="+mn-lt"/>
                <a:ea typeface="Alibaba PuHuiTi 2.0 55 Regular"/>
              </a:endParaRPr>
            </a:p>
          </p:txBody>
        </p:sp>
        <p:sp>
          <p:nvSpPr>
            <p:cNvPr id="96" name="Line 29">
              <a:extLst>
                <a:ext uri="{FF2B5EF4-FFF2-40B4-BE49-F238E27FC236}">
                  <a16:creationId xmlns:a16="http://schemas.microsoft.com/office/drawing/2014/main" id="{6E8ABAA7-A1D3-30EB-C632-7E1D886FA318}"/>
                </a:ext>
              </a:extLst>
            </p:cNvPr>
            <p:cNvSpPr>
              <a:spLocks noChangeShapeType="1"/>
            </p:cNvSpPr>
            <p:nvPr>
              <p:custDataLst>
                <p:tags r:id="rId80"/>
              </p:custDataLst>
            </p:nvPr>
          </p:nvSpPr>
          <p:spPr bwMode="auto">
            <a:xfrm>
              <a:off x="4379448" y="4699471"/>
              <a:ext cx="46272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lIns="90000" tIns="0" rIns="90000" bIns="0"/>
            <a:lstStyle/>
            <a:p>
              <a:endParaRPr lang="zh-CN" altLang="en-US" dirty="0"/>
            </a:p>
          </p:txBody>
        </p:sp>
        <p:sp>
          <p:nvSpPr>
            <p:cNvPr id="97" name="Line 30">
              <a:extLst>
                <a:ext uri="{FF2B5EF4-FFF2-40B4-BE49-F238E27FC236}">
                  <a16:creationId xmlns:a16="http://schemas.microsoft.com/office/drawing/2014/main" id="{A4231F13-69E9-D007-74D1-AC5B38DCF054}"/>
                </a:ext>
              </a:extLst>
            </p:cNvPr>
            <p:cNvSpPr>
              <a:spLocks noChangeShapeType="1"/>
            </p:cNvSpPr>
            <p:nvPr>
              <p:custDataLst>
                <p:tags r:id="rId81"/>
              </p:custDataLst>
            </p:nvPr>
          </p:nvSpPr>
          <p:spPr bwMode="auto">
            <a:xfrm>
              <a:off x="4379448" y="4816286"/>
              <a:ext cx="46272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lIns="90000" tIns="0" rIns="90000" bIns="0"/>
            <a:lstStyle/>
            <a:p>
              <a:endParaRPr lang="zh-CN" altLang="en-US" dirty="0"/>
            </a:p>
          </p:txBody>
        </p:sp>
        <p:sp>
          <p:nvSpPr>
            <p:cNvPr id="98" name="Line 31">
              <a:extLst>
                <a:ext uri="{FF2B5EF4-FFF2-40B4-BE49-F238E27FC236}">
                  <a16:creationId xmlns:a16="http://schemas.microsoft.com/office/drawing/2014/main" id="{66426D61-4491-AB70-FFE0-F7598FD5B23D}"/>
                </a:ext>
              </a:extLst>
            </p:cNvPr>
            <p:cNvSpPr>
              <a:spLocks noChangeShapeType="1"/>
            </p:cNvSpPr>
            <p:nvPr>
              <p:custDataLst>
                <p:tags r:id="rId82"/>
              </p:custDataLst>
            </p:nvPr>
          </p:nvSpPr>
          <p:spPr bwMode="auto">
            <a:xfrm>
              <a:off x="4379448" y="4731966"/>
              <a:ext cx="0" cy="14118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lIns="90000" tIns="0" rIns="90000" bIns="0"/>
            <a:lstStyle/>
            <a:p>
              <a:endParaRPr lang="zh-CN" altLang="en-US" dirty="0"/>
            </a:p>
          </p:txBody>
        </p:sp>
        <p:sp>
          <p:nvSpPr>
            <p:cNvPr id="99" name="Line 32">
              <a:extLst>
                <a:ext uri="{FF2B5EF4-FFF2-40B4-BE49-F238E27FC236}">
                  <a16:creationId xmlns:a16="http://schemas.microsoft.com/office/drawing/2014/main" id="{DFB432B4-8D3A-17D5-82E3-534FC5270378}"/>
                </a:ext>
              </a:extLst>
            </p:cNvPr>
            <p:cNvSpPr>
              <a:spLocks noChangeShapeType="1"/>
            </p:cNvSpPr>
            <p:nvPr>
              <p:custDataLst>
                <p:tags r:id="rId83"/>
              </p:custDataLst>
            </p:nvPr>
          </p:nvSpPr>
          <p:spPr bwMode="auto">
            <a:xfrm>
              <a:off x="4842173" y="4731966"/>
              <a:ext cx="0" cy="14118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lIns="90000" tIns="0" rIns="90000" bIns="0"/>
            <a:lstStyle/>
            <a:p>
              <a:endParaRPr lang="zh-CN" altLang="en-US" dirty="0"/>
            </a:p>
          </p:txBody>
        </p:sp>
      </p:grpSp>
      <p:pic>
        <p:nvPicPr>
          <p:cNvPr id="51" name="图形 86" descr="徽章 1 纯色填充">
            <a:extLst>
              <a:ext uri="{FF2B5EF4-FFF2-40B4-BE49-F238E27FC236}">
                <a16:creationId xmlns:a16="http://schemas.microsoft.com/office/drawing/2014/main" id="{6EF1ABCD-CCFC-EBCB-7028-0ABC66206C35}"/>
              </a:ext>
            </a:extLst>
          </p:cNvPr>
          <p:cNvPicPr preferRelativeResize="0">
            <a:picLocks/>
          </p:cNvPicPr>
          <p:nvPr>
            <p:custDataLst>
              <p:tags r:id="rId39"/>
            </p:custDataLst>
          </p:nvPr>
        </p:nvPicPr>
        <p:blipFill>
          <a:blip r:embed="rId87" cstate="print">
            <a:extLst>
              <a:ext uri="{28A0092B-C50C-407E-A947-70E740481C1C}">
                <a14:useLocalDpi xmlns:a14="http://schemas.microsoft.com/office/drawing/2010/main" val="0"/>
              </a:ext>
              <a:ext uri="{96DAC541-7B7A-43D3-8B79-37D633B846F1}">
                <asvg:svgBlip xmlns:asvg="http://schemas.microsoft.com/office/drawing/2016/SVG/main" r:embed="rId88"/>
              </a:ext>
            </a:extLst>
          </a:blip>
          <a:stretch>
            <a:fillRect/>
          </a:stretch>
        </p:blipFill>
        <p:spPr>
          <a:xfrm>
            <a:off x="1571670" y="5843413"/>
            <a:ext cx="184465" cy="182313"/>
          </a:xfrm>
          <a:prstGeom prst="rect">
            <a:avLst/>
          </a:prstGeom>
        </p:spPr>
      </p:pic>
      <p:pic>
        <p:nvPicPr>
          <p:cNvPr id="52" name="图形 90" descr="徽章 纯色填充">
            <a:extLst>
              <a:ext uri="{FF2B5EF4-FFF2-40B4-BE49-F238E27FC236}">
                <a16:creationId xmlns:a16="http://schemas.microsoft.com/office/drawing/2014/main" id="{138404FE-57FA-7E03-3095-CB944EE93127}"/>
              </a:ext>
            </a:extLst>
          </p:cNvPr>
          <p:cNvPicPr preferRelativeResize="0">
            <a:picLocks/>
          </p:cNvPicPr>
          <p:nvPr>
            <p:custDataLst>
              <p:tags r:id="rId40"/>
            </p:custDataLst>
          </p:nvPr>
        </p:nvPicPr>
        <p:blipFill>
          <a:blip r:embed="rId89" cstate="print">
            <a:extLst>
              <a:ext uri="{28A0092B-C50C-407E-A947-70E740481C1C}">
                <a14:useLocalDpi xmlns:a14="http://schemas.microsoft.com/office/drawing/2010/main" val="0"/>
              </a:ext>
              <a:ext uri="{96DAC541-7B7A-43D3-8B79-37D633B846F1}">
                <asvg:svgBlip xmlns:asvg="http://schemas.microsoft.com/office/drawing/2016/SVG/main" r:embed="rId90"/>
              </a:ext>
            </a:extLst>
          </a:blip>
          <a:stretch>
            <a:fillRect/>
          </a:stretch>
        </p:blipFill>
        <p:spPr>
          <a:xfrm>
            <a:off x="3150834" y="5576723"/>
            <a:ext cx="184465" cy="182313"/>
          </a:xfrm>
          <a:prstGeom prst="rect">
            <a:avLst/>
          </a:prstGeom>
        </p:spPr>
      </p:pic>
      <p:grpSp>
        <p:nvGrpSpPr>
          <p:cNvPr id="53" name="组合 52">
            <a:extLst>
              <a:ext uri="{FF2B5EF4-FFF2-40B4-BE49-F238E27FC236}">
                <a16:creationId xmlns:a16="http://schemas.microsoft.com/office/drawing/2014/main" id="{48DA82E8-9D92-F98E-56E6-8C5DC09A1DF7}"/>
              </a:ext>
            </a:extLst>
          </p:cNvPr>
          <p:cNvGrpSpPr/>
          <p:nvPr/>
        </p:nvGrpSpPr>
        <p:grpSpPr>
          <a:xfrm>
            <a:off x="2820732" y="5631684"/>
            <a:ext cx="215099" cy="153644"/>
            <a:chOff x="4379448" y="4699471"/>
            <a:chExt cx="462726" cy="173681"/>
          </a:xfrm>
        </p:grpSpPr>
        <p:sp>
          <p:nvSpPr>
            <p:cNvPr id="90" name="Rectangle 28">
              <a:extLst>
                <a:ext uri="{FF2B5EF4-FFF2-40B4-BE49-F238E27FC236}">
                  <a16:creationId xmlns:a16="http://schemas.microsoft.com/office/drawing/2014/main" id="{5C3DF4EC-F414-CAF6-773A-340F2CCF7EA8}"/>
                </a:ext>
              </a:extLst>
            </p:cNvPr>
            <p:cNvSpPr>
              <a:spLocks noChangeArrowheads="1"/>
            </p:cNvSpPr>
            <p:nvPr>
              <p:custDataLst>
                <p:tags r:id="rId74"/>
              </p:custDataLst>
            </p:nvPr>
          </p:nvSpPr>
          <p:spPr bwMode="auto">
            <a:xfrm>
              <a:off x="4379448" y="4704951"/>
              <a:ext cx="462726" cy="106717"/>
            </a:xfrm>
            <a:prstGeom prst="rect">
              <a:avLst/>
            </a:prstGeom>
            <a:solidFill>
              <a:schemeClr val="accent6">
                <a:lumMod val="20000"/>
                <a:lumOff val="80000"/>
              </a:schemeClr>
            </a:solidFill>
            <a:ln>
              <a:noFill/>
            </a:ln>
          </p:spPr>
          <p:txBody>
            <a:bodyPr lIns="90000" tIns="0" rIns="90000" bIns="0"/>
            <a:lstStyle>
              <a:lvl1pPr>
                <a:spcBef>
                  <a:spcPct val="20000"/>
                </a:spcBef>
                <a:buFont typeface="Arial" panose="020B0604020202020204" pitchFamily="34" charset="0"/>
                <a:buChar char="•"/>
                <a:defRPr sz="16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14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ü"/>
                <a:defRPr sz="1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Ø"/>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 typeface="Arial" panose="020B0604020202020204" pitchFamily="34" charset="0"/>
                <a:buNone/>
              </a:pPr>
              <a:endParaRPr lang="zh-CN" altLang="en-US" sz="700" dirty="0">
                <a:latin typeface="+mn-lt"/>
                <a:ea typeface="Alibaba PuHuiTi 2.0 55 Regular"/>
              </a:endParaRPr>
            </a:p>
          </p:txBody>
        </p:sp>
        <p:sp>
          <p:nvSpPr>
            <p:cNvPr id="91" name="Line 29">
              <a:extLst>
                <a:ext uri="{FF2B5EF4-FFF2-40B4-BE49-F238E27FC236}">
                  <a16:creationId xmlns:a16="http://schemas.microsoft.com/office/drawing/2014/main" id="{449FD718-8B07-06F2-6777-88FEED4DBB57}"/>
                </a:ext>
              </a:extLst>
            </p:cNvPr>
            <p:cNvSpPr>
              <a:spLocks noChangeShapeType="1"/>
            </p:cNvSpPr>
            <p:nvPr>
              <p:custDataLst>
                <p:tags r:id="rId75"/>
              </p:custDataLst>
            </p:nvPr>
          </p:nvSpPr>
          <p:spPr bwMode="auto">
            <a:xfrm>
              <a:off x="4379448" y="4699471"/>
              <a:ext cx="46272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lIns="90000" tIns="0" rIns="90000" bIns="0"/>
            <a:lstStyle/>
            <a:p>
              <a:endParaRPr lang="zh-CN" altLang="en-US" dirty="0"/>
            </a:p>
          </p:txBody>
        </p:sp>
        <p:sp>
          <p:nvSpPr>
            <p:cNvPr id="92" name="Line 30">
              <a:extLst>
                <a:ext uri="{FF2B5EF4-FFF2-40B4-BE49-F238E27FC236}">
                  <a16:creationId xmlns:a16="http://schemas.microsoft.com/office/drawing/2014/main" id="{9CE96DB0-EFD6-F1BC-F028-E2F6D8FBBC6A}"/>
                </a:ext>
              </a:extLst>
            </p:cNvPr>
            <p:cNvSpPr>
              <a:spLocks noChangeShapeType="1"/>
            </p:cNvSpPr>
            <p:nvPr>
              <p:custDataLst>
                <p:tags r:id="rId76"/>
              </p:custDataLst>
            </p:nvPr>
          </p:nvSpPr>
          <p:spPr bwMode="auto">
            <a:xfrm>
              <a:off x="4379448" y="4816286"/>
              <a:ext cx="46272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lIns="90000" tIns="0" rIns="90000" bIns="0"/>
            <a:lstStyle/>
            <a:p>
              <a:endParaRPr lang="zh-CN" altLang="en-US" dirty="0"/>
            </a:p>
          </p:txBody>
        </p:sp>
        <p:sp>
          <p:nvSpPr>
            <p:cNvPr id="93" name="Line 31">
              <a:extLst>
                <a:ext uri="{FF2B5EF4-FFF2-40B4-BE49-F238E27FC236}">
                  <a16:creationId xmlns:a16="http://schemas.microsoft.com/office/drawing/2014/main" id="{27F5E708-C7C0-2BE2-F034-F3785FB2D7FD}"/>
                </a:ext>
              </a:extLst>
            </p:cNvPr>
            <p:cNvSpPr>
              <a:spLocks noChangeShapeType="1"/>
            </p:cNvSpPr>
            <p:nvPr>
              <p:custDataLst>
                <p:tags r:id="rId77"/>
              </p:custDataLst>
            </p:nvPr>
          </p:nvSpPr>
          <p:spPr bwMode="auto">
            <a:xfrm>
              <a:off x="4379448" y="4731966"/>
              <a:ext cx="0" cy="14118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lIns="90000" tIns="0" rIns="90000" bIns="0"/>
            <a:lstStyle/>
            <a:p>
              <a:endParaRPr lang="zh-CN" altLang="en-US" dirty="0"/>
            </a:p>
          </p:txBody>
        </p:sp>
        <p:sp>
          <p:nvSpPr>
            <p:cNvPr id="94" name="Line 32">
              <a:extLst>
                <a:ext uri="{FF2B5EF4-FFF2-40B4-BE49-F238E27FC236}">
                  <a16:creationId xmlns:a16="http://schemas.microsoft.com/office/drawing/2014/main" id="{D1CDD246-8942-A634-6419-4E4E7739603F}"/>
                </a:ext>
              </a:extLst>
            </p:cNvPr>
            <p:cNvSpPr>
              <a:spLocks noChangeShapeType="1"/>
            </p:cNvSpPr>
            <p:nvPr>
              <p:custDataLst>
                <p:tags r:id="rId78"/>
              </p:custDataLst>
            </p:nvPr>
          </p:nvSpPr>
          <p:spPr bwMode="auto">
            <a:xfrm>
              <a:off x="4842173" y="4731966"/>
              <a:ext cx="0" cy="14118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lIns="90000" tIns="0" rIns="90000" bIns="0"/>
            <a:lstStyle/>
            <a:p>
              <a:endParaRPr lang="zh-CN" altLang="en-US" dirty="0"/>
            </a:p>
          </p:txBody>
        </p:sp>
      </p:grpSp>
      <p:grpSp>
        <p:nvGrpSpPr>
          <p:cNvPr id="54" name="组合 53">
            <a:extLst>
              <a:ext uri="{FF2B5EF4-FFF2-40B4-BE49-F238E27FC236}">
                <a16:creationId xmlns:a16="http://schemas.microsoft.com/office/drawing/2014/main" id="{4BC98EF0-5B70-538B-A219-BA580D27E99A}"/>
              </a:ext>
            </a:extLst>
          </p:cNvPr>
          <p:cNvGrpSpPr/>
          <p:nvPr/>
        </p:nvGrpSpPr>
        <p:grpSpPr>
          <a:xfrm>
            <a:off x="2818602" y="4699827"/>
            <a:ext cx="215099" cy="153644"/>
            <a:chOff x="4379448" y="4699471"/>
            <a:chExt cx="462726" cy="173681"/>
          </a:xfrm>
        </p:grpSpPr>
        <p:sp>
          <p:nvSpPr>
            <p:cNvPr id="85" name="Rectangle 28">
              <a:extLst>
                <a:ext uri="{FF2B5EF4-FFF2-40B4-BE49-F238E27FC236}">
                  <a16:creationId xmlns:a16="http://schemas.microsoft.com/office/drawing/2014/main" id="{FD22A61D-7ACF-3F0E-D317-15BEB2D0F698}"/>
                </a:ext>
              </a:extLst>
            </p:cNvPr>
            <p:cNvSpPr>
              <a:spLocks noChangeArrowheads="1"/>
            </p:cNvSpPr>
            <p:nvPr>
              <p:custDataLst>
                <p:tags r:id="rId69"/>
              </p:custDataLst>
            </p:nvPr>
          </p:nvSpPr>
          <p:spPr bwMode="auto">
            <a:xfrm>
              <a:off x="4379448" y="4704951"/>
              <a:ext cx="462726" cy="106717"/>
            </a:xfrm>
            <a:prstGeom prst="rect">
              <a:avLst/>
            </a:prstGeom>
            <a:solidFill>
              <a:schemeClr val="accent6">
                <a:lumMod val="20000"/>
                <a:lumOff val="80000"/>
              </a:schemeClr>
            </a:solidFill>
            <a:ln>
              <a:noFill/>
            </a:ln>
          </p:spPr>
          <p:txBody>
            <a:bodyPr lIns="90000" tIns="0" rIns="90000" bIns="0"/>
            <a:lstStyle>
              <a:lvl1pPr>
                <a:spcBef>
                  <a:spcPct val="20000"/>
                </a:spcBef>
                <a:buFont typeface="Arial" panose="020B0604020202020204" pitchFamily="34" charset="0"/>
                <a:buChar char="•"/>
                <a:defRPr sz="16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14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ü"/>
                <a:defRPr sz="1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Ø"/>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 typeface="Arial" panose="020B0604020202020204" pitchFamily="34" charset="0"/>
                <a:buNone/>
              </a:pPr>
              <a:endParaRPr lang="zh-CN" altLang="en-US" sz="700" dirty="0">
                <a:latin typeface="+mn-lt"/>
                <a:ea typeface="Alibaba PuHuiTi 2.0 55 Regular"/>
              </a:endParaRPr>
            </a:p>
          </p:txBody>
        </p:sp>
        <p:sp>
          <p:nvSpPr>
            <p:cNvPr id="86" name="Line 29">
              <a:extLst>
                <a:ext uri="{FF2B5EF4-FFF2-40B4-BE49-F238E27FC236}">
                  <a16:creationId xmlns:a16="http://schemas.microsoft.com/office/drawing/2014/main" id="{A7BCF001-22FB-EFEA-5091-3783960D461D}"/>
                </a:ext>
              </a:extLst>
            </p:cNvPr>
            <p:cNvSpPr>
              <a:spLocks noChangeShapeType="1"/>
            </p:cNvSpPr>
            <p:nvPr>
              <p:custDataLst>
                <p:tags r:id="rId70"/>
              </p:custDataLst>
            </p:nvPr>
          </p:nvSpPr>
          <p:spPr bwMode="auto">
            <a:xfrm>
              <a:off x="4379448" y="4699471"/>
              <a:ext cx="46272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lIns="90000" tIns="0" rIns="90000" bIns="0"/>
            <a:lstStyle/>
            <a:p>
              <a:endParaRPr lang="zh-CN" altLang="en-US" dirty="0"/>
            </a:p>
          </p:txBody>
        </p:sp>
        <p:sp>
          <p:nvSpPr>
            <p:cNvPr id="87" name="Line 30">
              <a:extLst>
                <a:ext uri="{FF2B5EF4-FFF2-40B4-BE49-F238E27FC236}">
                  <a16:creationId xmlns:a16="http://schemas.microsoft.com/office/drawing/2014/main" id="{9AFF6C2D-8B89-E336-DA8A-674807D5215E}"/>
                </a:ext>
              </a:extLst>
            </p:cNvPr>
            <p:cNvSpPr>
              <a:spLocks noChangeShapeType="1"/>
            </p:cNvSpPr>
            <p:nvPr>
              <p:custDataLst>
                <p:tags r:id="rId71"/>
              </p:custDataLst>
            </p:nvPr>
          </p:nvSpPr>
          <p:spPr bwMode="auto">
            <a:xfrm>
              <a:off x="4379448" y="4816286"/>
              <a:ext cx="46272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lIns="90000" tIns="0" rIns="90000" bIns="0"/>
            <a:lstStyle/>
            <a:p>
              <a:endParaRPr lang="zh-CN" altLang="en-US" dirty="0"/>
            </a:p>
          </p:txBody>
        </p:sp>
        <p:sp>
          <p:nvSpPr>
            <p:cNvPr id="88" name="Line 31">
              <a:extLst>
                <a:ext uri="{FF2B5EF4-FFF2-40B4-BE49-F238E27FC236}">
                  <a16:creationId xmlns:a16="http://schemas.microsoft.com/office/drawing/2014/main" id="{F4575475-FDE8-DAB3-FEF8-3C1DFA619143}"/>
                </a:ext>
              </a:extLst>
            </p:cNvPr>
            <p:cNvSpPr>
              <a:spLocks noChangeShapeType="1"/>
            </p:cNvSpPr>
            <p:nvPr>
              <p:custDataLst>
                <p:tags r:id="rId72"/>
              </p:custDataLst>
            </p:nvPr>
          </p:nvSpPr>
          <p:spPr bwMode="auto">
            <a:xfrm>
              <a:off x="4379448" y="4731966"/>
              <a:ext cx="0" cy="14118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lIns="90000" tIns="0" rIns="90000" bIns="0"/>
            <a:lstStyle/>
            <a:p>
              <a:endParaRPr lang="zh-CN" altLang="en-US" dirty="0"/>
            </a:p>
          </p:txBody>
        </p:sp>
        <p:sp>
          <p:nvSpPr>
            <p:cNvPr id="89" name="Line 32">
              <a:extLst>
                <a:ext uri="{FF2B5EF4-FFF2-40B4-BE49-F238E27FC236}">
                  <a16:creationId xmlns:a16="http://schemas.microsoft.com/office/drawing/2014/main" id="{B69B2A0E-4931-2516-859F-D5249A50FA80}"/>
                </a:ext>
              </a:extLst>
            </p:cNvPr>
            <p:cNvSpPr>
              <a:spLocks noChangeShapeType="1"/>
            </p:cNvSpPr>
            <p:nvPr>
              <p:custDataLst>
                <p:tags r:id="rId73"/>
              </p:custDataLst>
            </p:nvPr>
          </p:nvSpPr>
          <p:spPr bwMode="auto">
            <a:xfrm>
              <a:off x="4842173" y="4731966"/>
              <a:ext cx="0" cy="14118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lIns="90000" tIns="0" rIns="90000" bIns="0"/>
            <a:lstStyle/>
            <a:p>
              <a:endParaRPr lang="zh-CN" altLang="en-US" dirty="0"/>
            </a:p>
          </p:txBody>
        </p:sp>
      </p:grpSp>
      <p:pic>
        <p:nvPicPr>
          <p:cNvPr id="55" name="图形 104" descr="徽章 3 纯色填充">
            <a:extLst>
              <a:ext uri="{FF2B5EF4-FFF2-40B4-BE49-F238E27FC236}">
                <a16:creationId xmlns:a16="http://schemas.microsoft.com/office/drawing/2014/main" id="{712975DB-2F16-489D-FE01-5440303F637D}"/>
              </a:ext>
            </a:extLst>
          </p:cNvPr>
          <p:cNvPicPr preferRelativeResize="0">
            <a:picLocks/>
          </p:cNvPicPr>
          <p:nvPr>
            <p:custDataLst>
              <p:tags r:id="rId41"/>
            </p:custDataLst>
          </p:nvPr>
        </p:nvPicPr>
        <p:blipFill>
          <a:blip r:embed="rId91" cstate="print">
            <a:extLst>
              <a:ext uri="{28A0092B-C50C-407E-A947-70E740481C1C}">
                <a14:useLocalDpi xmlns:a14="http://schemas.microsoft.com/office/drawing/2010/main" val="0"/>
              </a:ext>
              <a:ext uri="{96DAC541-7B7A-43D3-8B79-37D633B846F1}">
                <asvg:svgBlip xmlns:asvg="http://schemas.microsoft.com/office/drawing/2016/SVG/main" r:embed="rId92"/>
              </a:ext>
            </a:extLst>
          </a:blip>
          <a:stretch>
            <a:fillRect/>
          </a:stretch>
        </p:blipFill>
        <p:spPr>
          <a:xfrm>
            <a:off x="2260624" y="4563048"/>
            <a:ext cx="184465" cy="182313"/>
          </a:xfrm>
          <a:prstGeom prst="rect">
            <a:avLst/>
          </a:prstGeom>
        </p:spPr>
      </p:pic>
      <p:grpSp>
        <p:nvGrpSpPr>
          <p:cNvPr id="56" name="组合 55">
            <a:extLst>
              <a:ext uri="{FF2B5EF4-FFF2-40B4-BE49-F238E27FC236}">
                <a16:creationId xmlns:a16="http://schemas.microsoft.com/office/drawing/2014/main" id="{249804BA-6A56-7A58-CC9D-5B314954B416}"/>
              </a:ext>
            </a:extLst>
          </p:cNvPr>
          <p:cNvGrpSpPr/>
          <p:nvPr/>
        </p:nvGrpSpPr>
        <p:grpSpPr>
          <a:xfrm rot="5400000">
            <a:off x="3771587" y="4282983"/>
            <a:ext cx="246080" cy="134170"/>
            <a:chOff x="4379448" y="4699471"/>
            <a:chExt cx="462726" cy="173681"/>
          </a:xfrm>
        </p:grpSpPr>
        <p:sp>
          <p:nvSpPr>
            <p:cNvPr id="80" name="Rectangle 28">
              <a:extLst>
                <a:ext uri="{FF2B5EF4-FFF2-40B4-BE49-F238E27FC236}">
                  <a16:creationId xmlns:a16="http://schemas.microsoft.com/office/drawing/2014/main" id="{17D4D19F-8E44-39A8-3EF9-09217B87A97D}"/>
                </a:ext>
              </a:extLst>
            </p:cNvPr>
            <p:cNvSpPr>
              <a:spLocks noChangeArrowheads="1"/>
            </p:cNvSpPr>
            <p:nvPr>
              <p:custDataLst>
                <p:tags r:id="rId64"/>
              </p:custDataLst>
            </p:nvPr>
          </p:nvSpPr>
          <p:spPr bwMode="auto">
            <a:xfrm>
              <a:off x="4379448" y="4704951"/>
              <a:ext cx="462726" cy="106717"/>
            </a:xfrm>
            <a:prstGeom prst="rect">
              <a:avLst/>
            </a:prstGeom>
            <a:solidFill>
              <a:schemeClr val="accent6">
                <a:lumMod val="20000"/>
                <a:lumOff val="80000"/>
              </a:schemeClr>
            </a:solidFill>
            <a:ln>
              <a:noFill/>
            </a:ln>
          </p:spPr>
          <p:txBody>
            <a:bodyPr lIns="90000" tIns="0" rIns="90000" bIns="0"/>
            <a:lstStyle>
              <a:lvl1pPr>
                <a:spcBef>
                  <a:spcPct val="20000"/>
                </a:spcBef>
                <a:buFont typeface="Arial" panose="020B0604020202020204" pitchFamily="34" charset="0"/>
                <a:buChar char="•"/>
                <a:defRPr sz="16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14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ü"/>
                <a:defRPr sz="1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Ø"/>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 typeface="Arial" panose="020B0604020202020204" pitchFamily="34" charset="0"/>
                <a:buNone/>
              </a:pPr>
              <a:endParaRPr lang="zh-CN" altLang="en-US" sz="700" dirty="0">
                <a:latin typeface="+mn-lt"/>
                <a:ea typeface="Alibaba PuHuiTi 2.0 55 Regular"/>
              </a:endParaRPr>
            </a:p>
          </p:txBody>
        </p:sp>
        <p:sp>
          <p:nvSpPr>
            <p:cNvPr id="81" name="Line 29">
              <a:extLst>
                <a:ext uri="{FF2B5EF4-FFF2-40B4-BE49-F238E27FC236}">
                  <a16:creationId xmlns:a16="http://schemas.microsoft.com/office/drawing/2014/main" id="{5348C80E-A4CC-EF1F-C019-8E41E3C7B0B5}"/>
                </a:ext>
              </a:extLst>
            </p:cNvPr>
            <p:cNvSpPr>
              <a:spLocks noChangeShapeType="1"/>
            </p:cNvSpPr>
            <p:nvPr>
              <p:custDataLst>
                <p:tags r:id="rId65"/>
              </p:custDataLst>
            </p:nvPr>
          </p:nvSpPr>
          <p:spPr bwMode="auto">
            <a:xfrm>
              <a:off x="4379448" y="4699471"/>
              <a:ext cx="46272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lIns="90000" tIns="0" rIns="90000" bIns="0"/>
            <a:lstStyle/>
            <a:p>
              <a:endParaRPr lang="zh-CN" altLang="en-US" dirty="0"/>
            </a:p>
          </p:txBody>
        </p:sp>
        <p:sp>
          <p:nvSpPr>
            <p:cNvPr id="82" name="Line 30">
              <a:extLst>
                <a:ext uri="{FF2B5EF4-FFF2-40B4-BE49-F238E27FC236}">
                  <a16:creationId xmlns:a16="http://schemas.microsoft.com/office/drawing/2014/main" id="{D8DB293F-8DCD-F868-B636-CAEEE62DBE4C}"/>
                </a:ext>
              </a:extLst>
            </p:cNvPr>
            <p:cNvSpPr>
              <a:spLocks noChangeShapeType="1"/>
            </p:cNvSpPr>
            <p:nvPr>
              <p:custDataLst>
                <p:tags r:id="rId66"/>
              </p:custDataLst>
            </p:nvPr>
          </p:nvSpPr>
          <p:spPr bwMode="auto">
            <a:xfrm>
              <a:off x="4379448" y="4816286"/>
              <a:ext cx="46272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lIns="90000" tIns="0" rIns="90000" bIns="0"/>
            <a:lstStyle/>
            <a:p>
              <a:endParaRPr lang="zh-CN" altLang="en-US" dirty="0"/>
            </a:p>
          </p:txBody>
        </p:sp>
        <p:sp>
          <p:nvSpPr>
            <p:cNvPr id="83" name="Line 31">
              <a:extLst>
                <a:ext uri="{FF2B5EF4-FFF2-40B4-BE49-F238E27FC236}">
                  <a16:creationId xmlns:a16="http://schemas.microsoft.com/office/drawing/2014/main" id="{9AB837F3-AD00-07A1-A67D-4E57B86FDDC3}"/>
                </a:ext>
              </a:extLst>
            </p:cNvPr>
            <p:cNvSpPr>
              <a:spLocks noChangeShapeType="1"/>
            </p:cNvSpPr>
            <p:nvPr>
              <p:custDataLst>
                <p:tags r:id="rId67"/>
              </p:custDataLst>
            </p:nvPr>
          </p:nvSpPr>
          <p:spPr bwMode="auto">
            <a:xfrm>
              <a:off x="4379448" y="4731966"/>
              <a:ext cx="0" cy="14118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lIns="90000" tIns="0" rIns="90000" bIns="0"/>
            <a:lstStyle/>
            <a:p>
              <a:endParaRPr lang="zh-CN" altLang="en-US" dirty="0"/>
            </a:p>
          </p:txBody>
        </p:sp>
        <p:sp>
          <p:nvSpPr>
            <p:cNvPr id="84" name="Line 32">
              <a:extLst>
                <a:ext uri="{FF2B5EF4-FFF2-40B4-BE49-F238E27FC236}">
                  <a16:creationId xmlns:a16="http://schemas.microsoft.com/office/drawing/2014/main" id="{B1F6B10E-717C-4A12-CF76-BE066B0BE5B6}"/>
                </a:ext>
              </a:extLst>
            </p:cNvPr>
            <p:cNvSpPr>
              <a:spLocks noChangeShapeType="1"/>
            </p:cNvSpPr>
            <p:nvPr>
              <p:custDataLst>
                <p:tags r:id="rId68"/>
              </p:custDataLst>
            </p:nvPr>
          </p:nvSpPr>
          <p:spPr bwMode="auto">
            <a:xfrm>
              <a:off x="4842173" y="4731966"/>
              <a:ext cx="0" cy="14118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lIns="90000" tIns="0" rIns="90000" bIns="0"/>
            <a:lstStyle/>
            <a:p>
              <a:endParaRPr lang="zh-CN" altLang="en-US" dirty="0"/>
            </a:p>
          </p:txBody>
        </p:sp>
      </p:grpSp>
      <p:pic>
        <p:nvPicPr>
          <p:cNvPr id="57" name="图形 112" descr="徽章 4 纯色填充">
            <a:extLst>
              <a:ext uri="{FF2B5EF4-FFF2-40B4-BE49-F238E27FC236}">
                <a16:creationId xmlns:a16="http://schemas.microsoft.com/office/drawing/2014/main" id="{BFC4EC23-11A2-43DB-974F-BA7B59ADC808}"/>
              </a:ext>
            </a:extLst>
          </p:cNvPr>
          <p:cNvPicPr preferRelativeResize="0">
            <a:picLocks/>
          </p:cNvPicPr>
          <p:nvPr>
            <p:custDataLst>
              <p:tags r:id="rId42"/>
            </p:custDataLst>
          </p:nvPr>
        </p:nvPicPr>
        <p:blipFill>
          <a:blip r:embed="rId93" cstate="print">
            <a:extLst>
              <a:ext uri="{28A0092B-C50C-407E-A947-70E740481C1C}">
                <a14:useLocalDpi xmlns:a14="http://schemas.microsoft.com/office/drawing/2010/main" val="0"/>
              </a:ext>
              <a:ext uri="{96DAC541-7B7A-43D3-8B79-37D633B846F1}">
                <asvg:svgBlip xmlns:asvg="http://schemas.microsoft.com/office/drawing/2016/SVG/main" r:embed="rId94"/>
              </a:ext>
            </a:extLst>
          </a:blip>
          <a:stretch>
            <a:fillRect/>
          </a:stretch>
        </p:blipFill>
        <p:spPr>
          <a:xfrm>
            <a:off x="3822218" y="4484352"/>
            <a:ext cx="184465" cy="182313"/>
          </a:xfrm>
          <a:prstGeom prst="rect">
            <a:avLst/>
          </a:prstGeom>
        </p:spPr>
      </p:pic>
      <p:grpSp>
        <p:nvGrpSpPr>
          <p:cNvPr id="58" name="组合 57">
            <a:extLst>
              <a:ext uri="{FF2B5EF4-FFF2-40B4-BE49-F238E27FC236}">
                <a16:creationId xmlns:a16="http://schemas.microsoft.com/office/drawing/2014/main" id="{72B14874-8FFA-1FD0-EBCB-E640FDE7CE1B}"/>
              </a:ext>
            </a:extLst>
          </p:cNvPr>
          <p:cNvGrpSpPr/>
          <p:nvPr/>
        </p:nvGrpSpPr>
        <p:grpSpPr>
          <a:xfrm>
            <a:off x="2823394" y="3246455"/>
            <a:ext cx="215099" cy="153644"/>
            <a:chOff x="4379448" y="4699471"/>
            <a:chExt cx="462726" cy="173681"/>
          </a:xfrm>
        </p:grpSpPr>
        <p:sp>
          <p:nvSpPr>
            <p:cNvPr id="75" name="Rectangle 28">
              <a:extLst>
                <a:ext uri="{FF2B5EF4-FFF2-40B4-BE49-F238E27FC236}">
                  <a16:creationId xmlns:a16="http://schemas.microsoft.com/office/drawing/2014/main" id="{09959836-0C6F-2CA9-3317-1919C6284EF3}"/>
                </a:ext>
              </a:extLst>
            </p:cNvPr>
            <p:cNvSpPr>
              <a:spLocks noChangeArrowheads="1"/>
            </p:cNvSpPr>
            <p:nvPr>
              <p:custDataLst>
                <p:tags r:id="rId59"/>
              </p:custDataLst>
            </p:nvPr>
          </p:nvSpPr>
          <p:spPr bwMode="auto">
            <a:xfrm>
              <a:off x="4379448" y="4704951"/>
              <a:ext cx="462726" cy="106717"/>
            </a:xfrm>
            <a:prstGeom prst="rect">
              <a:avLst/>
            </a:prstGeom>
            <a:solidFill>
              <a:schemeClr val="accent6">
                <a:lumMod val="20000"/>
                <a:lumOff val="80000"/>
              </a:schemeClr>
            </a:solidFill>
            <a:ln>
              <a:noFill/>
            </a:ln>
          </p:spPr>
          <p:txBody>
            <a:bodyPr lIns="90000" tIns="0" rIns="90000" bIns="0"/>
            <a:lstStyle>
              <a:lvl1pPr>
                <a:spcBef>
                  <a:spcPct val="20000"/>
                </a:spcBef>
                <a:buFont typeface="Arial" panose="020B0604020202020204" pitchFamily="34" charset="0"/>
                <a:buChar char="•"/>
                <a:defRPr sz="16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14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ü"/>
                <a:defRPr sz="1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Ø"/>
                <a:defRPr sz="14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Arial" panose="020B0604020202020204" pitchFamily="34" charset="0"/>
                </a:defRPr>
              </a:lvl9pPr>
            </a:lstStyle>
            <a:p>
              <a:pPr>
                <a:buFont typeface="Arial" panose="020B0604020202020204" pitchFamily="34" charset="0"/>
                <a:buNone/>
              </a:pPr>
              <a:endParaRPr lang="zh-CN" altLang="en-US" sz="700" dirty="0">
                <a:latin typeface="+mn-lt"/>
                <a:ea typeface="Alibaba PuHuiTi 2.0 55 Regular"/>
              </a:endParaRPr>
            </a:p>
          </p:txBody>
        </p:sp>
        <p:sp>
          <p:nvSpPr>
            <p:cNvPr id="76" name="Line 29">
              <a:extLst>
                <a:ext uri="{FF2B5EF4-FFF2-40B4-BE49-F238E27FC236}">
                  <a16:creationId xmlns:a16="http://schemas.microsoft.com/office/drawing/2014/main" id="{38DF384E-4F05-2E37-05F5-B7B5CDA547A9}"/>
                </a:ext>
              </a:extLst>
            </p:cNvPr>
            <p:cNvSpPr>
              <a:spLocks noChangeShapeType="1"/>
            </p:cNvSpPr>
            <p:nvPr>
              <p:custDataLst>
                <p:tags r:id="rId60"/>
              </p:custDataLst>
            </p:nvPr>
          </p:nvSpPr>
          <p:spPr bwMode="auto">
            <a:xfrm>
              <a:off x="4379448" y="4699471"/>
              <a:ext cx="46272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lIns="90000" tIns="0" rIns="90000" bIns="0"/>
            <a:lstStyle/>
            <a:p>
              <a:endParaRPr lang="zh-CN" altLang="en-US" dirty="0"/>
            </a:p>
          </p:txBody>
        </p:sp>
        <p:sp>
          <p:nvSpPr>
            <p:cNvPr id="77" name="Line 30">
              <a:extLst>
                <a:ext uri="{FF2B5EF4-FFF2-40B4-BE49-F238E27FC236}">
                  <a16:creationId xmlns:a16="http://schemas.microsoft.com/office/drawing/2014/main" id="{4D3FE3A6-0F5A-3750-64E2-185E63A19796}"/>
                </a:ext>
              </a:extLst>
            </p:cNvPr>
            <p:cNvSpPr>
              <a:spLocks noChangeShapeType="1"/>
            </p:cNvSpPr>
            <p:nvPr>
              <p:custDataLst>
                <p:tags r:id="rId61"/>
              </p:custDataLst>
            </p:nvPr>
          </p:nvSpPr>
          <p:spPr bwMode="auto">
            <a:xfrm>
              <a:off x="4379448" y="4816286"/>
              <a:ext cx="46272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lIns="90000" tIns="0" rIns="90000" bIns="0"/>
            <a:lstStyle/>
            <a:p>
              <a:endParaRPr lang="zh-CN" altLang="en-US" dirty="0"/>
            </a:p>
          </p:txBody>
        </p:sp>
        <p:sp>
          <p:nvSpPr>
            <p:cNvPr id="78" name="Line 31">
              <a:extLst>
                <a:ext uri="{FF2B5EF4-FFF2-40B4-BE49-F238E27FC236}">
                  <a16:creationId xmlns:a16="http://schemas.microsoft.com/office/drawing/2014/main" id="{2165E9B0-3C6D-1DD8-62BC-413E361547B2}"/>
                </a:ext>
              </a:extLst>
            </p:cNvPr>
            <p:cNvSpPr>
              <a:spLocks noChangeShapeType="1"/>
            </p:cNvSpPr>
            <p:nvPr>
              <p:custDataLst>
                <p:tags r:id="rId62"/>
              </p:custDataLst>
            </p:nvPr>
          </p:nvSpPr>
          <p:spPr bwMode="auto">
            <a:xfrm>
              <a:off x="4379448" y="4731966"/>
              <a:ext cx="0" cy="14118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lIns="90000" tIns="0" rIns="90000" bIns="0"/>
            <a:lstStyle/>
            <a:p>
              <a:endParaRPr lang="zh-CN" altLang="en-US" dirty="0"/>
            </a:p>
          </p:txBody>
        </p:sp>
        <p:sp>
          <p:nvSpPr>
            <p:cNvPr id="79" name="Line 32">
              <a:extLst>
                <a:ext uri="{FF2B5EF4-FFF2-40B4-BE49-F238E27FC236}">
                  <a16:creationId xmlns:a16="http://schemas.microsoft.com/office/drawing/2014/main" id="{5DE652E4-1AD6-4969-063A-7184ED8D7E39}"/>
                </a:ext>
              </a:extLst>
            </p:cNvPr>
            <p:cNvSpPr>
              <a:spLocks noChangeShapeType="1"/>
            </p:cNvSpPr>
            <p:nvPr>
              <p:custDataLst>
                <p:tags r:id="rId63"/>
              </p:custDataLst>
            </p:nvPr>
          </p:nvSpPr>
          <p:spPr bwMode="auto">
            <a:xfrm>
              <a:off x="4842173" y="4731966"/>
              <a:ext cx="0" cy="14118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14:hiddenLine>
              </a:ext>
            </a:extLst>
          </p:spPr>
          <p:txBody>
            <a:bodyPr lIns="90000" tIns="0" rIns="90000" bIns="0"/>
            <a:lstStyle/>
            <a:p>
              <a:endParaRPr lang="zh-CN" altLang="en-US" dirty="0"/>
            </a:p>
          </p:txBody>
        </p:sp>
      </p:grpSp>
      <p:pic>
        <p:nvPicPr>
          <p:cNvPr id="59" name="图形 54" descr="徽章 5 纯色填充">
            <a:extLst>
              <a:ext uri="{FF2B5EF4-FFF2-40B4-BE49-F238E27FC236}">
                <a16:creationId xmlns:a16="http://schemas.microsoft.com/office/drawing/2014/main" id="{0307F5E5-0C7D-D407-D9CD-AC29E905CF47}"/>
              </a:ext>
            </a:extLst>
          </p:cNvPr>
          <p:cNvPicPr preferRelativeResize="0">
            <a:picLocks/>
          </p:cNvPicPr>
          <p:nvPr>
            <p:custDataLst>
              <p:tags r:id="rId43"/>
            </p:custDataLst>
          </p:nvPr>
        </p:nvPicPr>
        <p:blipFill>
          <a:blip r:embed="rId85" cstate="print">
            <a:extLst>
              <a:ext uri="{28A0092B-C50C-407E-A947-70E740481C1C}">
                <a14:useLocalDpi xmlns:a14="http://schemas.microsoft.com/office/drawing/2010/main" val="0"/>
              </a:ext>
              <a:ext uri="{96DAC541-7B7A-43D3-8B79-37D633B846F1}">
                <asvg:svgBlip xmlns:asvg="http://schemas.microsoft.com/office/drawing/2016/SVG/main" r:embed="rId95"/>
              </a:ext>
            </a:extLst>
          </a:blip>
          <a:stretch>
            <a:fillRect/>
          </a:stretch>
        </p:blipFill>
        <p:spPr>
          <a:xfrm>
            <a:off x="5483359" y="5595165"/>
            <a:ext cx="221359" cy="218775"/>
          </a:xfrm>
          <a:prstGeom prst="rect">
            <a:avLst/>
          </a:prstGeom>
        </p:spPr>
      </p:pic>
      <p:pic>
        <p:nvPicPr>
          <p:cNvPr id="60" name="图形 53" descr="徽章 4 纯色填充">
            <a:extLst>
              <a:ext uri="{FF2B5EF4-FFF2-40B4-BE49-F238E27FC236}">
                <a16:creationId xmlns:a16="http://schemas.microsoft.com/office/drawing/2014/main" id="{5642182D-C775-06A3-D927-5E82EF1B6708}"/>
              </a:ext>
            </a:extLst>
          </p:cNvPr>
          <p:cNvPicPr preferRelativeResize="0">
            <a:picLocks/>
          </p:cNvPicPr>
          <p:nvPr>
            <p:custDataLst>
              <p:tags r:id="rId44"/>
            </p:custDataLst>
          </p:nvPr>
        </p:nvPicPr>
        <p:blipFill>
          <a:blip r:embed="rId93" cstate="print">
            <a:extLst>
              <a:ext uri="{28A0092B-C50C-407E-A947-70E740481C1C}">
                <a14:useLocalDpi xmlns:a14="http://schemas.microsoft.com/office/drawing/2010/main" val="0"/>
              </a:ext>
              <a:ext uri="{96DAC541-7B7A-43D3-8B79-37D633B846F1}">
                <asvg:svgBlip xmlns:asvg="http://schemas.microsoft.com/office/drawing/2016/SVG/main" r:embed="rId96"/>
              </a:ext>
            </a:extLst>
          </a:blip>
          <a:stretch>
            <a:fillRect/>
          </a:stretch>
        </p:blipFill>
        <p:spPr>
          <a:xfrm>
            <a:off x="5485355" y="4713454"/>
            <a:ext cx="221359" cy="218775"/>
          </a:xfrm>
          <a:prstGeom prst="rect">
            <a:avLst/>
          </a:prstGeom>
        </p:spPr>
      </p:pic>
      <p:pic>
        <p:nvPicPr>
          <p:cNvPr id="61" name="图形 25" descr="徽章 1 纯色填充">
            <a:extLst>
              <a:ext uri="{FF2B5EF4-FFF2-40B4-BE49-F238E27FC236}">
                <a16:creationId xmlns:a16="http://schemas.microsoft.com/office/drawing/2014/main" id="{CE20F5EC-8518-B856-6C22-1ECC2D7D738B}"/>
              </a:ext>
            </a:extLst>
          </p:cNvPr>
          <p:cNvPicPr preferRelativeResize="0">
            <a:picLocks/>
          </p:cNvPicPr>
          <p:nvPr>
            <p:custDataLst>
              <p:tags r:id="rId45"/>
            </p:custDataLst>
          </p:nvPr>
        </p:nvPicPr>
        <p:blipFill>
          <a:blip r:embed="rId87" cstate="print">
            <a:extLst>
              <a:ext uri="{28A0092B-C50C-407E-A947-70E740481C1C}">
                <a14:useLocalDpi xmlns:a14="http://schemas.microsoft.com/office/drawing/2010/main" val="0"/>
              </a:ext>
              <a:ext uri="{96DAC541-7B7A-43D3-8B79-37D633B846F1}">
                <asvg:svgBlip xmlns:asvg="http://schemas.microsoft.com/office/drawing/2016/SVG/main" r:embed="rId97"/>
              </a:ext>
            </a:extLst>
          </a:blip>
          <a:stretch>
            <a:fillRect/>
          </a:stretch>
        </p:blipFill>
        <p:spPr>
          <a:xfrm>
            <a:off x="5483359" y="2021816"/>
            <a:ext cx="221359" cy="218775"/>
          </a:xfrm>
          <a:prstGeom prst="rect">
            <a:avLst/>
          </a:prstGeom>
        </p:spPr>
      </p:pic>
      <p:pic>
        <p:nvPicPr>
          <p:cNvPr id="62" name="图形 40" descr="徽章 3 纯色填充">
            <a:extLst>
              <a:ext uri="{FF2B5EF4-FFF2-40B4-BE49-F238E27FC236}">
                <a16:creationId xmlns:a16="http://schemas.microsoft.com/office/drawing/2014/main" id="{50C5FCD0-4DD4-FBE4-1448-A1DACF6BDCFD}"/>
              </a:ext>
            </a:extLst>
          </p:cNvPr>
          <p:cNvPicPr preferRelativeResize="0">
            <a:picLocks/>
          </p:cNvPicPr>
          <p:nvPr>
            <p:custDataLst>
              <p:tags r:id="rId46"/>
            </p:custDataLst>
          </p:nvPr>
        </p:nvPicPr>
        <p:blipFill>
          <a:blip r:embed="rId91" cstate="print">
            <a:extLst>
              <a:ext uri="{28A0092B-C50C-407E-A947-70E740481C1C}">
                <a14:useLocalDpi xmlns:a14="http://schemas.microsoft.com/office/drawing/2010/main" val="0"/>
              </a:ext>
              <a:ext uri="{96DAC541-7B7A-43D3-8B79-37D633B846F1}">
                <asvg:svgBlip xmlns:asvg="http://schemas.microsoft.com/office/drawing/2016/SVG/main" r:embed="rId98"/>
              </a:ext>
            </a:extLst>
          </a:blip>
          <a:stretch>
            <a:fillRect/>
          </a:stretch>
        </p:blipFill>
        <p:spPr>
          <a:xfrm>
            <a:off x="5483359" y="3816261"/>
            <a:ext cx="221359" cy="218775"/>
          </a:xfrm>
          <a:prstGeom prst="rect">
            <a:avLst/>
          </a:prstGeom>
        </p:spPr>
      </p:pic>
      <p:pic>
        <p:nvPicPr>
          <p:cNvPr id="63" name="图形 42" descr="徽章 纯色填充">
            <a:extLst>
              <a:ext uri="{FF2B5EF4-FFF2-40B4-BE49-F238E27FC236}">
                <a16:creationId xmlns:a16="http://schemas.microsoft.com/office/drawing/2014/main" id="{1AFBD316-B764-3F7B-7C41-518C8A5F6D1D}"/>
              </a:ext>
            </a:extLst>
          </p:cNvPr>
          <p:cNvPicPr preferRelativeResize="0">
            <a:picLocks/>
          </p:cNvPicPr>
          <p:nvPr>
            <p:custDataLst>
              <p:tags r:id="rId47"/>
            </p:custDataLst>
          </p:nvPr>
        </p:nvPicPr>
        <p:blipFill>
          <a:blip r:embed="rId89" cstate="print">
            <a:extLst>
              <a:ext uri="{28A0092B-C50C-407E-A947-70E740481C1C}">
                <a14:useLocalDpi xmlns:a14="http://schemas.microsoft.com/office/drawing/2010/main" val="0"/>
              </a:ext>
              <a:ext uri="{96DAC541-7B7A-43D3-8B79-37D633B846F1}">
                <asvg:svgBlip xmlns:asvg="http://schemas.microsoft.com/office/drawing/2016/SVG/main" r:embed="rId99"/>
              </a:ext>
            </a:extLst>
          </a:blip>
          <a:stretch>
            <a:fillRect/>
          </a:stretch>
        </p:blipFill>
        <p:spPr>
          <a:xfrm>
            <a:off x="5483359" y="2919039"/>
            <a:ext cx="221359" cy="218775"/>
          </a:xfrm>
          <a:prstGeom prst="rect">
            <a:avLst/>
          </a:prstGeom>
        </p:spPr>
      </p:pic>
      <p:sp>
        <p:nvSpPr>
          <p:cNvPr id="64" name="文本框 63">
            <a:extLst>
              <a:ext uri="{FF2B5EF4-FFF2-40B4-BE49-F238E27FC236}">
                <a16:creationId xmlns:a16="http://schemas.microsoft.com/office/drawing/2014/main" id="{D4401546-4410-21C5-123C-FE92C01CC2C9}"/>
              </a:ext>
            </a:extLst>
          </p:cNvPr>
          <p:cNvSpPr txBox="1"/>
          <p:nvPr>
            <p:custDataLst>
              <p:tags r:id="rId48"/>
            </p:custDataLst>
          </p:nvPr>
        </p:nvSpPr>
        <p:spPr>
          <a:xfrm>
            <a:off x="5784990" y="2035538"/>
            <a:ext cx="1768710" cy="223278"/>
          </a:xfrm>
          <a:prstGeom prst="rect">
            <a:avLst/>
          </a:prstGeom>
          <a:noFill/>
        </p:spPr>
        <p:txBody>
          <a:bodyPr wrap="square" lIns="0" tIns="0" rIns="0" bIns="0" rtlCol="0">
            <a:spAutoFit/>
          </a:bodyPr>
          <a:lstStyle/>
          <a:p>
            <a:pPr>
              <a:lnSpc>
                <a:spcPct val="110000"/>
              </a:lnSpc>
            </a:pPr>
            <a:r>
              <a:rPr lang="zh-CN" altLang="en-US" sz="1400" b="1" kern="0" dirty="0">
                <a:latin typeface="+mn-ea"/>
                <a:cs typeface="Audi Type" panose="020B0503040200000003" pitchFamily="34" charset="0"/>
              </a:rPr>
              <a:t>客户需求理解缺口</a:t>
            </a:r>
          </a:p>
        </p:txBody>
      </p:sp>
      <p:sp>
        <p:nvSpPr>
          <p:cNvPr id="65" name="文本框 64">
            <a:extLst>
              <a:ext uri="{FF2B5EF4-FFF2-40B4-BE49-F238E27FC236}">
                <a16:creationId xmlns:a16="http://schemas.microsoft.com/office/drawing/2014/main" id="{23626272-6027-21BE-8638-ACC2368885EE}"/>
              </a:ext>
            </a:extLst>
          </p:cNvPr>
          <p:cNvSpPr txBox="1"/>
          <p:nvPr>
            <p:custDataLst>
              <p:tags r:id="rId49"/>
            </p:custDataLst>
          </p:nvPr>
        </p:nvSpPr>
        <p:spPr>
          <a:xfrm>
            <a:off x="5679308" y="2266012"/>
            <a:ext cx="1875724" cy="420837"/>
          </a:xfrm>
          <a:prstGeom prst="rect">
            <a:avLst/>
          </a:prstGeom>
          <a:noFill/>
        </p:spPr>
        <p:txBody>
          <a:bodyPr wrap="square">
            <a:spAutoFit/>
          </a:bodyPr>
          <a:lstStyle/>
          <a:p>
            <a:pPr marL="97155" indent="-97155">
              <a:buFont typeface="Arial" panose="020B0604020202020204" pitchFamily="34" charset="0"/>
              <a:buChar char="•"/>
            </a:pPr>
            <a:r>
              <a:rPr lang="zh-CN" altLang="en-US" sz="1050" i="1" dirty="0">
                <a:ea typeface="Alibaba PuHuiTi 2.0 55 Regular"/>
              </a:rPr>
              <a:t>总部理解的客户需求与客户真实需求之间的差异</a:t>
            </a:r>
          </a:p>
        </p:txBody>
      </p:sp>
      <p:sp>
        <p:nvSpPr>
          <p:cNvPr id="66" name="文本框 65">
            <a:extLst>
              <a:ext uri="{FF2B5EF4-FFF2-40B4-BE49-F238E27FC236}">
                <a16:creationId xmlns:a16="http://schemas.microsoft.com/office/drawing/2014/main" id="{F5C95948-7109-6BAF-B669-52A49D89644C}"/>
              </a:ext>
            </a:extLst>
          </p:cNvPr>
          <p:cNvSpPr txBox="1"/>
          <p:nvPr>
            <p:custDataLst>
              <p:tags r:id="rId50"/>
            </p:custDataLst>
          </p:nvPr>
        </p:nvSpPr>
        <p:spPr>
          <a:xfrm>
            <a:off x="5679308" y="3164767"/>
            <a:ext cx="1875724" cy="584496"/>
          </a:xfrm>
          <a:prstGeom prst="rect">
            <a:avLst/>
          </a:prstGeom>
          <a:noFill/>
        </p:spPr>
        <p:txBody>
          <a:bodyPr wrap="square">
            <a:spAutoFit/>
          </a:bodyPr>
          <a:lstStyle/>
          <a:p>
            <a:pPr marL="97155" indent="-97155">
              <a:buFont typeface="Arial" panose="020B0604020202020204" pitchFamily="34" charset="0"/>
              <a:buChar char="•"/>
            </a:pPr>
            <a:r>
              <a:rPr lang="zh-CN" altLang="en-US" sz="1050" i="1" dirty="0">
                <a:ea typeface="Alibaba PuHuiTi 2.0 55 Regular"/>
              </a:rPr>
              <a:t>总部将理解的客户需求转化为服务标准设计时的差异</a:t>
            </a:r>
          </a:p>
        </p:txBody>
      </p:sp>
      <p:sp>
        <p:nvSpPr>
          <p:cNvPr id="67" name="文本框 66">
            <a:extLst>
              <a:ext uri="{FF2B5EF4-FFF2-40B4-BE49-F238E27FC236}">
                <a16:creationId xmlns:a16="http://schemas.microsoft.com/office/drawing/2014/main" id="{B0CECC43-C6DE-54DE-A216-D4585FFF12D0}"/>
              </a:ext>
            </a:extLst>
          </p:cNvPr>
          <p:cNvSpPr txBox="1"/>
          <p:nvPr>
            <p:custDataLst>
              <p:tags r:id="rId51"/>
            </p:custDataLst>
          </p:nvPr>
        </p:nvSpPr>
        <p:spPr>
          <a:xfrm>
            <a:off x="5784990" y="2932760"/>
            <a:ext cx="1768710" cy="223278"/>
          </a:xfrm>
          <a:prstGeom prst="rect">
            <a:avLst/>
          </a:prstGeom>
          <a:noFill/>
        </p:spPr>
        <p:txBody>
          <a:bodyPr wrap="square" lIns="0" tIns="0" rIns="0" bIns="0" rtlCol="0">
            <a:spAutoFit/>
          </a:bodyPr>
          <a:lstStyle/>
          <a:p>
            <a:pPr>
              <a:lnSpc>
                <a:spcPct val="110000"/>
              </a:lnSpc>
            </a:pPr>
            <a:r>
              <a:rPr lang="zh-CN" altLang="en-US" sz="1400" b="1" kern="0" dirty="0">
                <a:latin typeface="+mn-ea"/>
                <a:cs typeface="Audi Type" panose="020B0503040200000003" pitchFamily="34" charset="0"/>
              </a:rPr>
              <a:t>服务标准设计缺口</a:t>
            </a:r>
          </a:p>
        </p:txBody>
      </p:sp>
      <p:sp>
        <p:nvSpPr>
          <p:cNvPr id="68" name="文本框 67">
            <a:extLst>
              <a:ext uri="{FF2B5EF4-FFF2-40B4-BE49-F238E27FC236}">
                <a16:creationId xmlns:a16="http://schemas.microsoft.com/office/drawing/2014/main" id="{34D2A3F8-A9F6-7569-3717-24ED10189B9A}"/>
              </a:ext>
            </a:extLst>
          </p:cNvPr>
          <p:cNvSpPr txBox="1"/>
          <p:nvPr>
            <p:custDataLst>
              <p:tags r:id="rId52"/>
            </p:custDataLst>
          </p:nvPr>
        </p:nvSpPr>
        <p:spPr>
          <a:xfrm>
            <a:off x="5784990" y="3829982"/>
            <a:ext cx="1768710" cy="223278"/>
          </a:xfrm>
          <a:prstGeom prst="rect">
            <a:avLst/>
          </a:prstGeom>
          <a:noFill/>
        </p:spPr>
        <p:txBody>
          <a:bodyPr wrap="square" lIns="0" tIns="0" rIns="0" bIns="0" rtlCol="0">
            <a:spAutoFit/>
          </a:bodyPr>
          <a:lstStyle/>
          <a:p>
            <a:pPr>
              <a:lnSpc>
                <a:spcPct val="110000"/>
              </a:lnSpc>
            </a:pPr>
            <a:r>
              <a:rPr lang="zh-CN" altLang="en-US" sz="1400" b="1" kern="0" dirty="0">
                <a:latin typeface="+mn-ea"/>
                <a:cs typeface="Audi Type" panose="020B0503040200000003" pitchFamily="34" charset="0"/>
              </a:rPr>
              <a:t>服务商标准执行缺口</a:t>
            </a:r>
          </a:p>
        </p:txBody>
      </p:sp>
      <p:sp>
        <p:nvSpPr>
          <p:cNvPr id="69" name="文本框 68">
            <a:extLst>
              <a:ext uri="{FF2B5EF4-FFF2-40B4-BE49-F238E27FC236}">
                <a16:creationId xmlns:a16="http://schemas.microsoft.com/office/drawing/2014/main" id="{CCE03349-125B-2F03-AB0B-71A5B71179D1}"/>
              </a:ext>
            </a:extLst>
          </p:cNvPr>
          <p:cNvSpPr txBox="1"/>
          <p:nvPr>
            <p:custDataLst>
              <p:tags r:id="rId53"/>
            </p:custDataLst>
          </p:nvPr>
        </p:nvSpPr>
        <p:spPr>
          <a:xfrm>
            <a:off x="5679308" y="4056027"/>
            <a:ext cx="1875724" cy="584496"/>
          </a:xfrm>
          <a:prstGeom prst="rect">
            <a:avLst/>
          </a:prstGeom>
          <a:noFill/>
        </p:spPr>
        <p:txBody>
          <a:bodyPr wrap="square">
            <a:spAutoFit/>
          </a:bodyPr>
          <a:lstStyle/>
          <a:p>
            <a:pPr marL="97155" indent="-97155">
              <a:buFont typeface="Arial" panose="020B0604020202020204" pitchFamily="34" charset="0"/>
              <a:buChar char="•"/>
            </a:pPr>
            <a:r>
              <a:rPr lang="zh-CN" altLang="en-US" sz="1050" i="1" dirty="0">
                <a:ea typeface="Alibaba PuHuiTi 2.0 55 Regular"/>
              </a:rPr>
              <a:t>服务商执行总部服务标准和实际总部服务标准之间的差异</a:t>
            </a:r>
          </a:p>
        </p:txBody>
      </p:sp>
      <p:sp>
        <p:nvSpPr>
          <p:cNvPr id="70" name="文本框 69">
            <a:extLst>
              <a:ext uri="{FF2B5EF4-FFF2-40B4-BE49-F238E27FC236}">
                <a16:creationId xmlns:a16="http://schemas.microsoft.com/office/drawing/2014/main" id="{D35E1805-5AB8-3A0C-E382-282B48E6ACF8}"/>
              </a:ext>
            </a:extLst>
          </p:cNvPr>
          <p:cNvSpPr txBox="1"/>
          <p:nvPr>
            <p:custDataLst>
              <p:tags r:id="rId54"/>
            </p:custDataLst>
          </p:nvPr>
        </p:nvSpPr>
        <p:spPr>
          <a:xfrm>
            <a:off x="5784990" y="4727205"/>
            <a:ext cx="1768710" cy="223278"/>
          </a:xfrm>
          <a:prstGeom prst="rect">
            <a:avLst/>
          </a:prstGeom>
          <a:noFill/>
        </p:spPr>
        <p:txBody>
          <a:bodyPr wrap="square" lIns="0" tIns="0" rIns="0" bIns="0" rtlCol="0">
            <a:spAutoFit/>
          </a:bodyPr>
          <a:lstStyle/>
          <a:p>
            <a:pPr>
              <a:lnSpc>
                <a:spcPct val="110000"/>
              </a:lnSpc>
            </a:pPr>
            <a:r>
              <a:rPr lang="zh-CN" altLang="en-US" sz="1400" b="1" kern="0" dirty="0">
                <a:latin typeface="+mn-ea"/>
                <a:cs typeface="微软雅黑" panose="020B0503020204020204" pitchFamily="34" charset="-122"/>
              </a:rPr>
              <a:t>总部</a:t>
            </a:r>
            <a:r>
              <a:rPr lang="en-US" altLang="zh-CN" sz="1400" b="1" kern="0" dirty="0">
                <a:latin typeface="+mn-ea"/>
                <a:cs typeface="微软雅黑" panose="020B0503020204020204" pitchFamily="34" charset="-122"/>
              </a:rPr>
              <a:t>/</a:t>
            </a:r>
            <a:r>
              <a:rPr lang="zh-CN" altLang="en-US" sz="1400" b="1" kern="0" dirty="0">
                <a:latin typeface="+mn-ea"/>
                <a:cs typeface="微软雅黑" panose="020B0503020204020204" pitchFamily="34" charset="-122"/>
              </a:rPr>
              <a:t>服务商传播缺口</a:t>
            </a:r>
          </a:p>
        </p:txBody>
      </p:sp>
      <p:sp>
        <p:nvSpPr>
          <p:cNvPr id="71" name="文本框 70">
            <a:extLst>
              <a:ext uri="{FF2B5EF4-FFF2-40B4-BE49-F238E27FC236}">
                <a16:creationId xmlns:a16="http://schemas.microsoft.com/office/drawing/2014/main" id="{0A6E8E3B-5A98-CD1D-3A53-28819165C049}"/>
              </a:ext>
            </a:extLst>
          </p:cNvPr>
          <p:cNvSpPr txBox="1"/>
          <p:nvPr>
            <p:custDataLst>
              <p:tags r:id="rId55"/>
            </p:custDataLst>
          </p:nvPr>
        </p:nvSpPr>
        <p:spPr>
          <a:xfrm>
            <a:off x="5679308" y="4947287"/>
            <a:ext cx="1875724" cy="584496"/>
          </a:xfrm>
          <a:prstGeom prst="rect">
            <a:avLst/>
          </a:prstGeom>
          <a:noFill/>
        </p:spPr>
        <p:txBody>
          <a:bodyPr wrap="square">
            <a:spAutoFit/>
          </a:bodyPr>
          <a:lstStyle/>
          <a:p>
            <a:pPr marL="97155" indent="-97155">
              <a:buFont typeface="Arial" panose="020B0604020202020204" pitchFamily="34" charset="0"/>
              <a:buChar char="•"/>
            </a:pPr>
            <a:r>
              <a:rPr lang="zh-CN" altLang="en-US" sz="1050" i="1" dirty="0">
                <a:ea typeface="Alibaba PuHuiTi 2.0 55 Regular"/>
              </a:rPr>
              <a:t>客户了解的传播内容和实际接收到的服务之间的差异</a:t>
            </a:r>
          </a:p>
        </p:txBody>
      </p:sp>
      <p:sp>
        <p:nvSpPr>
          <p:cNvPr id="72" name="文本框 71">
            <a:extLst>
              <a:ext uri="{FF2B5EF4-FFF2-40B4-BE49-F238E27FC236}">
                <a16:creationId xmlns:a16="http://schemas.microsoft.com/office/drawing/2014/main" id="{40E4C6B3-F028-BA1F-BE3A-90E330CCAE6F}"/>
              </a:ext>
            </a:extLst>
          </p:cNvPr>
          <p:cNvSpPr txBox="1"/>
          <p:nvPr>
            <p:custDataLst>
              <p:tags r:id="rId56"/>
            </p:custDataLst>
          </p:nvPr>
        </p:nvSpPr>
        <p:spPr>
          <a:xfrm>
            <a:off x="5784990" y="5624427"/>
            <a:ext cx="1768710" cy="223278"/>
          </a:xfrm>
          <a:prstGeom prst="rect">
            <a:avLst/>
          </a:prstGeom>
          <a:noFill/>
        </p:spPr>
        <p:txBody>
          <a:bodyPr wrap="square" lIns="0" tIns="0" rIns="0" bIns="0" rtlCol="0">
            <a:spAutoFit/>
          </a:bodyPr>
          <a:lstStyle/>
          <a:p>
            <a:pPr>
              <a:lnSpc>
                <a:spcPct val="110000"/>
              </a:lnSpc>
            </a:pPr>
            <a:r>
              <a:rPr lang="zh-CN" altLang="en-US" sz="1400" b="1" kern="0" dirty="0">
                <a:latin typeface="+mn-ea"/>
                <a:cs typeface="Audi Type" panose="020B0503040200000003" pitchFamily="34" charset="0"/>
              </a:rPr>
              <a:t>客户体验与期望缺口</a:t>
            </a:r>
          </a:p>
        </p:txBody>
      </p:sp>
      <p:sp>
        <p:nvSpPr>
          <p:cNvPr id="73" name="文本框 72">
            <a:extLst>
              <a:ext uri="{FF2B5EF4-FFF2-40B4-BE49-F238E27FC236}">
                <a16:creationId xmlns:a16="http://schemas.microsoft.com/office/drawing/2014/main" id="{FCBC7A9B-A95C-AA0A-E92D-91BCF2C28A80}"/>
              </a:ext>
            </a:extLst>
          </p:cNvPr>
          <p:cNvSpPr txBox="1"/>
          <p:nvPr>
            <p:custDataLst>
              <p:tags r:id="rId57"/>
            </p:custDataLst>
          </p:nvPr>
        </p:nvSpPr>
        <p:spPr>
          <a:xfrm>
            <a:off x="5679308" y="5839172"/>
            <a:ext cx="1875724" cy="420837"/>
          </a:xfrm>
          <a:prstGeom prst="rect">
            <a:avLst/>
          </a:prstGeom>
          <a:noFill/>
        </p:spPr>
        <p:txBody>
          <a:bodyPr wrap="square">
            <a:spAutoFit/>
          </a:bodyPr>
          <a:lstStyle/>
          <a:p>
            <a:pPr marL="97155" indent="-97155">
              <a:buFont typeface="Arial" panose="020B0604020202020204" pitchFamily="34" charset="0"/>
              <a:buChar char="•"/>
            </a:pPr>
            <a:r>
              <a:rPr lang="zh-CN" altLang="en-US" sz="1050" i="1" dirty="0">
                <a:ea typeface="Alibaba PuHuiTi 2.0 55 Regular"/>
              </a:rPr>
              <a:t>客户对于服务的期望与感知到的服务之间的差异</a:t>
            </a:r>
          </a:p>
        </p:txBody>
      </p:sp>
      <p:sp>
        <p:nvSpPr>
          <p:cNvPr id="74" name="Text Box 45">
            <a:extLst>
              <a:ext uri="{FF2B5EF4-FFF2-40B4-BE49-F238E27FC236}">
                <a16:creationId xmlns:a16="http://schemas.microsoft.com/office/drawing/2014/main" id="{3E7E0610-3D89-10A0-F160-0A4DE610FBE3}"/>
              </a:ext>
            </a:extLst>
          </p:cNvPr>
          <p:cNvSpPr txBox="1">
            <a:spLocks noChangeArrowheads="1"/>
          </p:cNvSpPr>
          <p:nvPr>
            <p:custDataLst>
              <p:tags r:id="rId58"/>
            </p:custDataLst>
          </p:nvPr>
        </p:nvSpPr>
        <p:spPr bwMode="auto">
          <a:xfrm>
            <a:off x="2724631" y="1597281"/>
            <a:ext cx="2414535" cy="249385"/>
          </a:xfrm>
          <a:prstGeom prst="rect">
            <a:avLst/>
          </a:prstGeom>
          <a:noFill/>
          <a:ln>
            <a:no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0" rIns="18000" bIns="0">
            <a:spAutoFit/>
          </a:bodyPr>
          <a:lstStyle>
            <a:lvl1pPr marL="186055" indent="-186055" algn="l" defTabSz="957580">
              <a:spcBef>
                <a:spcPct val="0"/>
              </a:spcBef>
              <a:defRPr>
                <a:solidFill>
                  <a:schemeClr val="tx1"/>
                </a:solidFill>
                <a:latin typeface="Arial" panose="020B0604020202020204" pitchFamily="34" charset="0"/>
                <a:ea typeface="宋体" panose="02010600030101010101" pitchFamily="2" charset="-122"/>
              </a:defRPr>
            </a:lvl1pPr>
            <a:lvl2pPr algn="l" defTabSz="957580">
              <a:spcBef>
                <a:spcPct val="0"/>
              </a:spcBef>
              <a:defRPr>
                <a:solidFill>
                  <a:schemeClr val="tx1"/>
                </a:solidFill>
                <a:latin typeface="Arial" panose="020B0604020202020204" pitchFamily="34" charset="0"/>
                <a:ea typeface="宋体" panose="02010600030101010101" pitchFamily="2" charset="-122"/>
              </a:defRPr>
            </a:lvl2pPr>
            <a:lvl3pPr algn="l" defTabSz="957580">
              <a:spcBef>
                <a:spcPct val="0"/>
              </a:spcBef>
              <a:defRPr>
                <a:solidFill>
                  <a:schemeClr val="tx1"/>
                </a:solidFill>
                <a:latin typeface="Arial" panose="020B0604020202020204" pitchFamily="34" charset="0"/>
                <a:ea typeface="宋体" panose="02010600030101010101" pitchFamily="2" charset="-122"/>
              </a:defRPr>
            </a:lvl3pPr>
            <a:lvl4pPr algn="l" defTabSz="957580">
              <a:spcBef>
                <a:spcPct val="0"/>
              </a:spcBef>
              <a:defRPr>
                <a:solidFill>
                  <a:schemeClr val="tx1"/>
                </a:solidFill>
                <a:latin typeface="Arial" panose="020B0604020202020204" pitchFamily="34" charset="0"/>
                <a:ea typeface="宋体" panose="02010600030101010101" pitchFamily="2" charset="-122"/>
              </a:defRPr>
            </a:lvl4pPr>
            <a:lvl5pPr algn="l" defTabSz="957580">
              <a:spcBef>
                <a:spcPct val="0"/>
              </a:spcBef>
              <a:defRPr>
                <a:solidFill>
                  <a:schemeClr val="tx1"/>
                </a:solidFill>
                <a:latin typeface="Arial" panose="020B0604020202020204" pitchFamily="34" charset="0"/>
                <a:ea typeface="宋体" panose="02010600030101010101" pitchFamily="2" charset="-122"/>
              </a:defRPr>
            </a:lvl5pPr>
            <a:lvl6pPr defTabSz="95758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95758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95758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95758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a:spcBef>
                <a:spcPct val="50000"/>
              </a:spcBef>
              <a:buClrTx/>
              <a:buSzTx/>
              <a:buFontTx/>
            </a:pPr>
            <a:endParaRPr lang="zh-CN" altLang="en-US" sz="1600" b="1" dirty="0">
              <a:latin typeface="+mn-lt"/>
              <a:ea typeface="楷体_GB2312" pitchFamily="49" charset="-122"/>
              <a:sym typeface="+mn-ea"/>
            </a:endParaRPr>
          </a:p>
        </p:txBody>
      </p:sp>
      <p:sp>
        <p:nvSpPr>
          <p:cNvPr id="102" name="矩形 101">
            <a:extLst>
              <a:ext uri="{FF2B5EF4-FFF2-40B4-BE49-F238E27FC236}">
                <a16:creationId xmlns:a16="http://schemas.microsoft.com/office/drawing/2014/main" id="{FE1C221B-CF6D-D6BB-5921-BA1942BE8315}"/>
              </a:ext>
            </a:extLst>
          </p:cNvPr>
          <p:cNvSpPr/>
          <p:nvPr/>
        </p:nvSpPr>
        <p:spPr>
          <a:xfrm>
            <a:off x="263525" y="1848173"/>
            <a:ext cx="7290176" cy="4425627"/>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ea"/>
            </a:endParaRPr>
          </a:p>
        </p:txBody>
      </p:sp>
      <p:sp>
        <p:nvSpPr>
          <p:cNvPr id="101" name="矩形 100">
            <a:extLst>
              <a:ext uri="{FF2B5EF4-FFF2-40B4-BE49-F238E27FC236}">
                <a16:creationId xmlns:a16="http://schemas.microsoft.com/office/drawing/2014/main" id="{624DDC84-3C9C-ECBE-3DE2-5FB00FCE04F6}"/>
              </a:ext>
            </a:extLst>
          </p:cNvPr>
          <p:cNvSpPr/>
          <p:nvPr/>
        </p:nvSpPr>
        <p:spPr>
          <a:xfrm>
            <a:off x="263525" y="1484311"/>
            <a:ext cx="7307851" cy="432000"/>
          </a:xfrm>
          <a:prstGeom prst="rect">
            <a:avLst/>
          </a:prstGeom>
          <a:solidFill>
            <a:srgbClr val="4B8D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ct val="50000"/>
              </a:spcBef>
              <a:buClrTx/>
              <a:buSzTx/>
              <a:buFontTx/>
            </a:pPr>
            <a:r>
              <a:rPr lang="zh-CN" altLang="en-US" sz="1400" b="1" dirty="0">
                <a:latin typeface="+mn-ea"/>
                <a:sym typeface="+mn-ea"/>
              </a:rPr>
              <a:t>满意度缺口模型</a:t>
            </a:r>
          </a:p>
        </p:txBody>
      </p:sp>
      <p:sp>
        <p:nvSpPr>
          <p:cNvPr id="3" name="文本占位符 7">
            <a:extLst>
              <a:ext uri="{FF2B5EF4-FFF2-40B4-BE49-F238E27FC236}">
                <a16:creationId xmlns:a16="http://schemas.microsoft.com/office/drawing/2014/main" id="{A338D3CD-9C81-5A0E-67A6-EEA8B9FE4A29}"/>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根据满意度五缺口模型从用户视角开展服务缺口诊断，明确弱项的类型，进行分类整改</a:t>
            </a:r>
          </a:p>
        </p:txBody>
      </p:sp>
      <p:sp>
        <p:nvSpPr>
          <p:cNvPr id="106" name="矩形 105">
            <a:extLst>
              <a:ext uri="{FF2B5EF4-FFF2-40B4-BE49-F238E27FC236}">
                <a16:creationId xmlns:a16="http://schemas.microsoft.com/office/drawing/2014/main" id="{6BBD8099-4049-CA01-7646-97C5C62B6A80}"/>
              </a:ext>
            </a:extLst>
          </p:cNvPr>
          <p:cNvSpPr/>
          <p:nvPr/>
        </p:nvSpPr>
        <p:spPr>
          <a:xfrm>
            <a:off x="8298507" y="1484313"/>
            <a:ext cx="3629968" cy="364626"/>
          </a:xfrm>
          <a:prstGeom prst="rect">
            <a:avLst/>
          </a:prstGeom>
          <a:solidFill>
            <a:srgbClr val="4B8D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50000"/>
              </a:spcBef>
            </a:pPr>
            <a:r>
              <a:rPr lang="zh-CN" altLang="en-US" sz="1400" b="1" dirty="0">
                <a:latin typeface="+mn-ea"/>
              </a:rPr>
              <a:t>解决方案归类</a:t>
            </a:r>
          </a:p>
        </p:txBody>
      </p:sp>
      <p:sp>
        <p:nvSpPr>
          <p:cNvPr id="107" name="矩形 106">
            <a:extLst>
              <a:ext uri="{FF2B5EF4-FFF2-40B4-BE49-F238E27FC236}">
                <a16:creationId xmlns:a16="http://schemas.microsoft.com/office/drawing/2014/main" id="{D5FC0EE7-AB62-E41C-232D-6A44A90FCBC5}"/>
              </a:ext>
            </a:extLst>
          </p:cNvPr>
          <p:cNvSpPr/>
          <p:nvPr/>
        </p:nvSpPr>
        <p:spPr>
          <a:xfrm>
            <a:off x="8314554" y="1848173"/>
            <a:ext cx="3603025" cy="4613637"/>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pPr>
            <a:endParaRPr lang="en-US" altLang="zh-CN" sz="1600" b="0" i="0" u="none" strike="noStrike" dirty="0">
              <a:solidFill>
                <a:schemeClr val="tx1"/>
              </a:solidFill>
              <a:effectLst/>
              <a:latin typeface="微软雅黑" panose="020B0503020204020204" pitchFamily="34" charset="-122"/>
              <a:ea typeface="Alibaba PuHuiTi 2.0 55 Regular"/>
            </a:endParaRPr>
          </a:p>
          <a:p>
            <a:pPr indent="-342900">
              <a:spcBef>
                <a:spcPts val="600"/>
              </a:spcBef>
              <a:buFont typeface="+mj-lt"/>
              <a:buAutoNum type="arabicPeriod"/>
            </a:pPr>
            <a:endParaRPr lang="en-US" altLang="zh-CN" sz="1600" b="0" i="0" u="none" strike="noStrike" dirty="0">
              <a:solidFill>
                <a:schemeClr val="tx1"/>
              </a:solidFill>
              <a:effectLst/>
              <a:latin typeface="微软雅黑" panose="020B0503020204020204" pitchFamily="34" charset="-122"/>
              <a:ea typeface="Alibaba PuHuiTi 2.0 55 Regular"/>
            </a:endParaRPr>
          </a:p>
          <a:p>
            <a:pPr indent="-342900">
              <a:spcBef>
                <a:spcPts val="600"/>
              </a:spcBef>
              <a:buFont typeface="+mj-lt"/>
              <a:buAutoNum type="arabicPeriod"/>
            </a:pPr>
            <a:endParaRPr lang="en-US" altLang="zh-CN" sz="1600" dirty="0">
              <a:solidFill>
                <a:schemeClr val="tx1"/>
              </a:solidFill>
              <a:latin typeface="微软雅黑" panose="020B0503020204020204" pitchFamily="34" charset="-122"/>
              <a:ea typeface="Alibaba PuHuiTi 2.0 55 Regular"/>
            </a:endParaRPr>
          </a:p>
          <a:p>
            <a:pPr indent="-342900">
              <a:spcBef>
                <a:spcPts val="600"/>
              </a:spcBef>
              <a:buFont typeface="+mj-lt"/>
              <a:buAutoNum type="arabicPeriod"/>
            </a:pPr>
            <a:endParaRPr lang="zh-CN" altLang="en-US" sz="1600" dirty="0"/>
          </a:p>
        </p:txBody>
      </p:sp>
      <p:sp>
        <p:nvSpPr>
          <p:cNvPr id="108" name="箭头: 右 107">
            <a:extLst>
              <a:ext uri="{FF2B5EF4-FFF2-40B4-BE49-F238E27FC236}">
                <a16:creationId xmlns:a16="http://schemas.microsoft.com/office/drawing/2014/main" id="{378461E7-B6C7-EC59-64B9-D3B492581699}"/>
              </a:ext>
            </a:extLst>
          </p:cNvPr>
          <p:cNvSpPr/>
          <p:nvPr/>
        </p:nvSpPr>
        <p:spPr>
          <a:xfrm>
            <a:off x="7610154" y="4870559"/>
            <a:ext cx="684000" cy="25392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 name="箭头: 右 108">
            <a:extLst>
              <a:ext uri="{FF2B5EF4-FFF2-40B4-BE49-F238E27FC236}">
                <a16:creationId xmlns:a16="http://schemas.microsoft.com/office/drawing/2014/main" id="{C8F0AE51-9DF6-65E6-B0DD-9118A60BBAF0}"/>
              </a:ext>
            </a:extLst>
          </p:cNvPr>
          <p:cNvSpPr/>
          <p:nvPr/>
        </p:nvSpPr>
        <p:spPr>
          <a:xfrm>
            <a:off x="7610154" y="3961292"/>
            <a:ext cx="684000" cy="25392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 name="箭头: 右 109">
            <a:extLst>
              <a:ext uri="{FF2B5EF4-FFF2-40B4-BE49-F238E27FC236}">
                <a16:creationId xmlns:a16="http://schemas.microsoft.com/office/drawing/2014/main" id="{E898F011-6EA0-1D04-F4E6-A511133E8ACF}"/>
              </a:ext>
            </a:extLst>
          </p:cNvPr>
          <p:cNvSpPr/>
          <p:nvPr/>
        </p:nvSpPr>
        <p:spPr>
          <a:xfrm>
            <a:off x="7610154" y="5779825"/>
            <a:ext cx="684000" cy="25392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 name="文本框 110">
            <a:extLst>
              <a:ext uri="{FF2B5EF4-FFF2-40B4-BE49-F238E27FC236}">
                <a16:creationId xmlns:a16="http://schemas.microsoft.com/office/drawing/2014/main" id="{3573EA21-DF41-B7FE-0CC3-42E08BDF5B8F}"/>
              </a:ext>
            </a:extLst>
          </p:cNvPr>
          <p:cNvSpPr txBox="1"/>
          <p:nvPr/>
        </p:nvSpPr>
        <p:spPr>
          <a:xfrm>
            <a:off x="8320370" y="2427251"/>
            <a:ext cx="3608106" cy="523220"/>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zh-CN" altLang="en-US" sz="1400" b="1" i="0" u="none" strike="noStrike" dirty="0">
                <a:solidFill>
                  <a:schemeClr val="tx1"/>
                </a:solidFill>
                <a:effectLst/>
                <a:latin typeface="微软雅黑" panose="020B0503020204020204" pitchFamily="34" charset="-122"/>
                <a:ea typeface="Alibaba PuHuiTi 2.0 55 Regular"/>
              </a:rPr>
              <a:t>强化基础标准，结合用户需求</a:t>
            </a:r>
            <a:r>
              <a:rPr lang="zh-CN" altLang="en-US" sz="1400" b="1" dirty="0">
                <a:latin typeface="微软雅黑" panose="020B0503020204020204" pitchFamily="34" charset="-122"/>
                <a:ea typeface="Alibaba PuHuiTi 2.0 55 Regular"/>
              </a:rPr>
              <a:t>添加</a:t>
            </a:r>
            <a:r>
              <a:rPr lang="zh-CN" altLang="en-US" sz="1400" b="1" i="0" u="none" strike="noStrike" dirty="0">
                <a:solidFill>
                  <a:schemeClr val="tx1"/>
                </a:solidFill>
                <a:effectLst/>
                <a:latin typeface="微软雅黑" panose="020B0503020204020204" pitchFamily="34" charset="-122"/>
                <a:ea typeface="Alibaba PuHuiTi 2.0 55 Regular"/>
              </a:rPr>
              <a:t>流程空白点</a:t>
            </a:r>
            <a:endParaRPr lang="en-US" altLang="zh-CN" sz="1400" b="1" i="0" u="none" strike="noStrike" dirty="0">
              <a:solidFill>
                <a:schemeClr val="tx1"/>
              </a:solidFill>
              <a:effectLst/>
              <a:latin typeface="微软雅黑" panose="020B0503020204020204" pitchFamily="34" charset="-122"/>
              <a:ea typeface="Alibaba PuHuiTi 2.0 55 Regular"/>
            </a:endParaRPr>
          </a:p>
        </p:txBody>
      </p:sp>
      <p:sp>
        <p:nvSpPr>
          <p:cNvPr id="112" name="文本框 111">
            <a:extLst>
              <a:ext uri="{FF2B5EF4-FFF2-40B4-BE49-F238E27FC236}">
                <a16:creationId xmlns:a16="http://schemas.microsoft.com/office/drawing/2014/main" id="{F171057B-6D2A-8FFF-5014-044D3D8B090D}"/>
              </a:ext>
            </a:extLst>
          </p:cNvPr>
          <p:cNvSpPr txBox="1"/>
          <p:nvPr/>
        </p:nvSpPr>
        <p:spPr>
          <a:xfrm>
            <a:off x="8314554" y="3643852"/>
            <a:ext cx="3652918" cy="1031051"/>
          </a:xfrm>
          <a:prstGeom prst="rect">
            <a:avLst/>
          </a:prstGeom>
          <a:noFill/>
        </p:spPr>
        <p:txBody>
          <a:bodyPr wrap="square" rtlCol="0">
            <a:spAutoFit/>
          </a:bodyPr>
          <a:lstStyle>
            <a:defPPr>
              <a:defRPr lang="zh-CN"/>
            </a:defPPr>
            <a:lvl1pPr marL="285750" indent="-285750">
              <a:spcBef>
                <a:spcPts val="600"/>
              </a:spcBef>
              <a:buFont typeface="Arial" panose="020B0604020202020204" pitchFamily="34" charset="0"/>
              <a:buChar char="•"/>
              <a:defRPr sz="1400" b="1" i="0" u="none" strike="noStrike">
                <a:effectLst/>
                <a:latin typeface="微软雅黑" panose="020B0503020204020204" pitchFamily="34" charset="-122"/>
                <a:ea typeface="Alibaba PuHuiTi 2.0 55 Regular"/>
              </a:defRPr>
            </a:lvl1pPr>
          </a:lstStyle>
          <a:p>
            <a:r>
              <a:rPr lang="zh-CN" altLang="en-US" dirty="0"/>
              <a:t>加强流程检查，采用多手段的监控方式，全面了解店端状态</a:t>
            </a:r>
            <a:endParaRPr lang="en-US" altLang="zh-CN" dirty="0"/>
          </a:p>
          <a:p>
            <a:r>
              <a:rPr lang="zh-CN" altLang="en-US" dirty="0"/>
              <a:t>强化员工培训，提升对一线人员的感召力和执行能力</a:t>
            </a:r>
            <a:endParaRPr lang="en-US" altLang="zh-CN" dirty="0"/>
          </a:p>
        </p:txBody>
      </p:sp>
      <p:sp>
        <p:nvSpPr>
          <p:cNvPr id="113" name="文本框 112">
            <a:extLst>
              <a:ext uri="{FF2B5EF4-FFF2-40B4-BE49-F238E27FC236}">
                <a16:creationId xmlns:a16="http://schemas.microsoft.com/office/drawing/2014/main" id="{706E6C59-7D5B-33C3-DEC0-F559C2B8B93D}"/>
              </a:ext>
            </a:extLst>
          </p:cNvPr>
          <p:cNvSpPr txBox="1"/>
          <p:nvPr/>
        </p:nvSpPr>
        <p:spPr>
          <a:xfrm>
            <a:off x="8320371" y="4838890"/>
            <a:ext cx="3608104" cy="307777"/>
          </a:xfrm>
          <a:prstGeom prst="rect">
            <a:avLst/>
          </a:prstGeom>
          <a:noFill/>
        </p:spPr>
        <p:txBody>
          <a:bodyPr wrap="square" rtlCol="0">
            <a:spAutoFit/>
          </a:bodyPr>
          <a:lstStyle>
            <a:defPPr>
              <a:defRPr lang="zh-CN"/>
            </a:defPPr>
            <a:lvl1pPr marL="285750" indent="-285750">
              <a:spcBef>
                <a:spcPts val="600"/>
              </a:spcBef>
              <a:buFont typeface="Arial" panose="020B0604020202020204" pitchFamily="34" charset="0"/>
              <a:buChar char="•"/>
              <a:defRPr sz="1400" b="1" i="0" u="none" strike="noStrike">
                <a:effectLst/>
                <a:latin typeface="微软雅黑" panose="020B0503020204020204" pitchFamily="34" charset="-122"/>
                <a:ea typeface="Alibaba PuHuiTi 2.0 55 Regular"/>
              </a:defRPr>
            </a:lvl1pPr>
          </a:lstStyle>
          <a:p>
            <a:r>
              <a:rPr lang="zh-CN" altLang="en-US" dirty="0"/>
              <a:t>重视客户运营和口碑传播</a:t>
            </a:r>
            <a:endParaRPr lang="en-US" altLang="zh-CN" dirty="0"/>
          </a:p>
        </p:txBody>
      </p:sp>
      <p:sp>
        <p:nvSpPr>
          <p:cNvPr id="114" name="文本框 113">
            <a:extLst>
              <a:ext uri="{FF2B5EF4-FFF2-40B4-BE49-F238E27FC236}">
                <a16:creationId xmlns:a16="http://schemas.microsoft.com/office/drawing/2014/main" id="{DB4AA24C-80A6-7EA5-5F29-C744BFF8F7DB}"/>
              </a:ext>
            </a:extLst>
          </p:cNvPr>
          <p:cNvSpPr txBox="1"/>
          <p:nvPr/>
        </p:nvSpPr>
        <p:spPr>
          <a:xfrm>
            <a:off x="8320370" y="5753423"/>
            <a:ext cx="3594514" cy="307777"/>
          </a:xfrm>
          <a:prstGeom prst="rect">
            <a:avLst/>
          </a:prstGeom>
          <a:noFill/>
        </p:spPr>
        <p:txBody>
          <a:bodyPr wrap="square" rtlCol="0">
            <a:spAutoFit/>
          </a:bodyPr>
          <a:lstStyle>
            <a:defPPr>
              <a:defRPr lang="zh-CN"/>
            </a:defPPr>
            <a:lvl1pPr marL="285750" indent="-285750">
              <a:spcBef>
                <a:spcPts val="600"/>
              </a:spcBef>
              <a:buFont typeface="Arial" panose="020B0604020202020204" pitchFamily="34" charset="0"/>
              <a:buChar char="•"/>
              <a:defRPr sz="1400" b="1" i="0" u="none" strike="noStrike">
                <a:effectLst/>
                <a:latin typeface="微软雅黑" panose="020B0503020204020204" pitchFamily="34" charset="-122"/>
                <a:ea typeface="Alibaba PuHuiTi 2.0 55 Regular"/>
              </a:defRPr>
            </a:lvl1pPr>
          </a:lstStyle>
          <a:p>
            <a:r>
              <a:rPr lang="zh-CN" altLang="en-US" dirty="0"/>
              <a:t>强化基础标准，细化并补齐流程空白点</a:t>
            </a:r>
            <a:endParaRPr lang="en-US" altLang="zh-CN" dirty="0"/>
          </a:p>
        </p:txBody>
      </p:sp>
      <p:sp>
        <p:nvSpPr>
          <p:cNvPr id="115" name="箭头: 右 114">
            <a:extLst>
              <a:ext uri="{FF2B5EF4-FFF2-40B4-BE49-F238E27FC236}">
                <a16:creationId xmlns:a16="http://schemas.microsoft.com/office/drawing/2014/main" id="{FDF47604-6D49-CEA9-95D4-E812AD41675F}"/>
              </a:ext>
            </a:extLst>
          </p:cNvPr>
          <p:cNvSpPr/>
          <p:nvPr/>
        </p:nvSpPr>
        <p:spPr>
          <a:xfrm>
            <a:off x="7610154" y="2490914"/>
            <a:ext cx="684000" cy="253928"/>
          </a:xfrm>
          <a:prstGeom prst="right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617055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 name="表格 47"/>
          <p:cNvGraphicFramePr>
            <a:graphicFrameLocks noGrp="1"/>
          </p:cNvGraphicFramePr>
          <p:nvPr>
            <p:extLst>
              <p:ext uri="{D42A27DB-BD31-4B8C-83A1-F6EECF244321}">
                <p14:modId xmlns:p14="http://schemas.microsoft.com/office/powerpoint/2010/main" val="1349414615"/>
              </p:ext>
            </p:extLst>
          </p:nvPr>
        </p:nvGraphicFramePr>
        <p:xfrm>
          <a:off x="263525" y="1968131"/>
          <a:ext cx="9082494" cy="4314980"/>
        </p:xfrm>
        <a:graphic>
          <a:graphicData uri="http://schemas.openxmlformats.org/drawingml/2006/table">
            <a:tbl>
              <a:tblPr>
                <a:tableStyleId>{5C22544A-7EE6-4342-B048-85BDC9FD1C3A}</a:tableStyleId>
              </a:tblPr>
              <a:tblGrid>
                <a:gridCol w="406417">
                  <a:extLst>
                    <a:ext uri="{9D8B030D-6E8A-4147-A177-3AD203B41FA5}">
                      <a16:colId xmlns:a16="http://schemas.microsoft.com/office/drawing/2014/main" val="20000"/>
                    </a:ext>
                  </a:extLst>
                </a:gridCol>
                <a:gridCol w="995303">
                  <a:extLst>
                    <a:ext uri="{9D8B030D-6E8A-4147-A177-3AD203B41FA5}">
                      <a16:colId xmlns:a16="http://schemas.microsoft.com/office/drawing/2014/main" val="20001"/>
                    </a:ext>
                  </a:extLst>
                </a:gridCol>
                <a:gridCol w="3323744">
                  <a:extLst>
                    <a:ext uri="{9D8B030D-6E8A-4147-A177-3AD203B41FA5}">
                      <a16:colId xmlns:a16="http://schemas.microsoft.com/office/drawing/2014/main" val="20002"/>
                    </a:ext>
                  </a:extLst>
                </a:gridCol>
                <a:gridCol w="871406">
                  <a:extLst>
                    <a:ext uri="{9D8B030D-6E8A-4147-A177-3AD203B41FA5}">
                      <a16:colId xmlns:a16="http://schemas.microsoft.com/office/drawing/2014/main" val="20003"/>
                    </a:ext>
                  </a:extLst>
                </a:gridCol>
                <a:gridCol w="871406">
                  <a:extLst>
                    <a:ext uri="{9D8B030D-6E8A-4147-A177-3AD203B41FA5}">
                      <a16:colId xmlns:a16="http://schemas.microsoft.com/office/drawing/2014/main" val="20004"/>
                    </a:ext>
                  </a:extLst>
                </a:gridCol>
                <a:gridCol w="871406">
                  <a:extLst>
                    <a:ext uri="{9D8B030D-6E8A-4147-A177-3AD203B41FA5}">
                      <a16:colId xmlns:a16="http://schemas.microsoft.com/office/drawing/2014/main" val="20005"/>
                    </a:ext>
                  </a:extLst>
                </a:gridCol>
                <a:gridCol w="871406">
                  <a:extLst>
                    <a:ext uri="{9D8B030D-6E8A-4147-A177-3AD203B41FA5}">
                      <a16:colId xmlns:a16="http://schemas.microsoft.com/office/drawing/2014/main" val="20006"/>
                    </a:ext>
                  </a:extLst>
                </a:gridCol>
                <a:gridCol w="871406">
                  <a:extLst>
                    <a:ext uri="{9D8B030D-6E8A-4147-A177-3AD203B41FA5}">
                      <a16:colId xmlns:a16="http://schemas.microsoft.com/office/drawing/2014/main" val="20007"/>
                    </a:ext>
                  </a:extLst>
                </a:gridCol>
              </a:tblGrid>
              <a:tr h="367497">
                <a:tc gridSpan="3">
                  <a:txBody>
                    <a:bodyPr/>
                    <a:lstStyle/>
                    <a:p>
                      <a:pPr algn="ctr" fontAlgn="ctr"/>
                      <a:r>
                        <a:rPr lang="zh-CN" altLang="en-US" sz="1000" b="1" u="none" strike="noStrike" dirty="0">
                          <a:solidFill>
                            <a:schemeClr val="bg1"/>
                          </a:solidFill>
                          <a:effectLst/>
                          <a:latin typeface="微软雅黑" panose="020B0503020204020204" pitchFamily="34" charset="-122"/>
                          <a:ea typeface="Alibaba PuHuiTi 2.0 55 Regular"/>
                        </a:rPr>
                        <a:t>要素</a:t>
                      </a:r>
                      <a:endParaRPr lang="zh-CN" altLang="en-US" sz="1000" b="1" i="0" u="none" strike="noStrike" dirty="0">
                        <a:solidFill>
                          <a:schemeClr val="bg1"/>
                        </a:solidFill>
                        <a:effectLst/>
                        <a:latin typeface="微软雅黑" panose="020B0503020204020204" pitchFamily="34" charset="-122"/>
                        <a:ea typeface="Alibaba PuHuiTi 2.0 55 Regular"/>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endParaRPr lang="zh-CN"/>
                    </a:p>
                  </a:txBody>
                  <a:tcPr>
                    <a:lnL w="12700" cmpd="sng">
                      <a:noFill/>
                    </a:lnL>
                  </a:tcPr>
                </a:tc>
                <a:tc hMerge="1">
                  <a:txBody>
                    <a:bodyPr/>
                    <a:lstStyle/>
                    <a:p>
                      <a:endParaRPr lang="zh-CN"/>
                    </a:p>
                  </a:txBody>
                  <a:tcPr marL="3700" marR="3700" marT="3700" marB="0" anchor="ctr">
                    <a:lnL w="12700" cmpd="sng">
                      <a:noFill/>
                    </a:lnL>
                  </a:tcPr>
                </a:tc>
                <a:tc>
                  <a:txBody>
                    <a:bodyPr/>
                    <a:lstStyle/>
                    <a:p>
                      <a:pPr algn="ctr" fontAlgn="ctr"/>
                      <a:r>
                        <a:rPr lang="zh-CN" altLang="en-US" sz="1000" b="1" u="none" strike="noStrike" dirty="0">
                          <a:solidFill>
                            <a:schemeClr val="bg1"/>
                          </a:solidFill>
                          <a:effectLst/>
                          <a:latin typeface="微软雅黑" panose="020B0503020204020204" pitchFamily="34" charset="-122"/>
                          <a:ea typeface="Alibaba PuHuiTi 2.0 55 Regular"/>
                        </a:rPr>
                        <a:t>与本品总体得差值分</a:t>
                      </a:r>
                      <a:endParaRPr lang="zh-CN" altLang="en-US" sz="1000" b="1" i="0" u="none" strike="noStrike" dirty="0">
                        <a:solidFill>
                          <a:schemeClr val="bg1"/>
                        </a:solidFill>
                        <a:effectLst/>
                        <a:latin typeface="微软雅黑" panose="020B0503020204020204" pitchFamily="34" charset="-122"/>
                        <a:ea typeface="Alibaba PuHuiTi 2.0 55 Regular"/>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ctr"/>
                      <a:r>
                        <a:rPr lang="zh-CN" altLang="en-US" sz="1000" b="1" u="none" strike="noStrike" kern="1200" dirty="0">
                          <a:solidFill>
                            <a:schemeClr val="bg1"/>
                          </a:solidFill>
                          <a:effectLst/>
                          <a:latin typeface="微软雅黑" panose="020B0503020204020204" pitchFamily="34" charset="-122"/>
                          <a:ea typeface="Alibaba PuHuiTi 2.0 55 Regular"/>
                          <a:cs typeface="+mn-cs"/>
                        </a:rPr>
                        <a:t>与蔚来差值</a:t>
                      </a: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ctr"/>
                      <a:r>
                        <a:rPr lang="zh-CN" altLang="en-US" sz="1000" b="1" u="none" strike="noStrike" kern="1200" dirty="0">
                          <a:solidFill>
                            <a:schemeClr val="bg1"/>
                          </a:solidFill>
                          <a:effectLst/>
                          <a:latin typeface="微软雅黑" panose="020B0503020204020204" pitchFamily="34" charset="-122"/>
                          <a:ea typeface="Alibaba PuHuiTi 2.0 55 Regular"/>
                          <a:cs typeface="+mn-cs"/>
                        </a:rPr>
                        <a:t>权重</a:t>
                      </a: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l" fontAlgn="ctr"/>
                      <a:r>
                        <a:rPr lang="zh-CN" altLang="en-US" sz="1000" b="1" u="none" strike="noStrike" kern="1200" dirty="0">
                          <a:solidFill>
                            <a:schemeClr val="bg1"/>
                          </a:solidFill>
                          <a:effectLst/>
                          <a:latin typeface="微软雅黑" panose="020B0503020204020204" pitchFamily="34" charset="-122"/>
                          <a:ea typeface="Alibaba PuHuiTi 2.0 55 Regular"/>
                          <a:cs typeface="+mn-cs"/>
                        </a:rPr>
                        <a:t>      分值追赶</a:t>
                      </a: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ctr"/>
                      <a:r>
                        <a:rPr lang="zh-CN" altLang="en-US" sz="1000" b="1" u="none" strike="noStrike" kern="1200" dirty="0">
                          <a:solidFill>
                            <a:schemeClr val="bg1"/>
                          </a:solidFill>
                          <a:effectLst/>
                          <a:latin typeface="微软雅黑" panose="020B0503020204020204" pitchFamily="34" charset="-122"/>
                          <a:ea typeface="Alibaba PuHuiTi 2.0 55 Regular"/>
                          <a:cs typeface="+mn-cs"/>
                        </a:rPr>
                        <a:t>弱项定位结果</a:t>
                      </a: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0"/>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C9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店内看车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提供的饮料服务</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0.72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0.62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2.31%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1.65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1"/>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H1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交付等待</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交付等待流程体验</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0.49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3.21%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1.57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2"/>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J1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用户维系</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跟进与关怀环节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0.48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0.62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2.49%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1.53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3"/>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I3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交车环节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验车体验满意度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0.44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3.03%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1.33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4"/>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J2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交车环节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门店迎接环节体验（包含门店接待效率和态度）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0.41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2.92%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1.20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5"/>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I1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交车环节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交车仪式环节体验满意度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0.46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2.59%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1.20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6"/>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I5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入店前沟通</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咨询过程的专业度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0.34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0.41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2.57%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1.05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7"/>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A1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用户维系</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车辆问题</a:t>
                      </a:r>
                      <a:r>
                        <a:rPr lang="en-US" altLang="zh-CN" sz="1000" b="0" i="0" u="none" strike="noStrike" dirty="0">
                          <a:solidFill>
                            <a:srgbClr val="000000"/>
                          </a:solidFill>
                          <a:effectLst/>
                          <a:latin typeface="微软雅黑" panose="020B0503020204020204" pitchFamily="34" charset="-122"/>
                          <a:ea typeface="Alibaba PuHuiTi 2.0 55 Regular"/>
                        </a:rPr>
                        <a:t>/</a:t>
                      </a:r>
                      <a:r>
                        <a:rPr lang="zh-CN" altLang="en-US" sz="1000" b="0" i="0" u="none" strike="noStrike" dirty="0">
                          <a:solidFill>
                            <a:srgbClr val="000000"/>
                          </a:solidFill>
                          <a:effectLst/>
                          <a:latin typeface="微软雅黑" panose="020B0503020204020204" pitchFamily="34" charset="-122"/>
                          <a:ea typeface="Alibaba PuHuiTi 2.0 55 Regular"/>
                        </a:rPr>
                        <a:t>疑问解决</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0.44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2.36%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1.03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8"/>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J3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交车环节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交付后沟通体验</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0.38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2.51%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0.94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9"/>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I7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洽谈下定</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销售顾问对车主权益和服务的介绍清晰程度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0.15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0.32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2.80%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0.90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0"/>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E2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送别与回访</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离店后的回访表现</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0.28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2.49%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0.70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1"/>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F2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交车环节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新车车况满意度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FF0000"/>
                          </a:solidFill>
                          <a:effectLst/>
                          <a:latin typeface="微软雅黑" panose="020B0503020204020204" pitchFamily="34" charset="-122"/>
                          <a:ea typeface="Alibaba PuHuiTi 2.0 55 Regular"/>
                        </a:rPr>
                        <a:t>-0.18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0.25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2.37%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0.59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2"/>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I2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送别与回访</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离店送别服务表现</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FF0000"/>
                          </a:solidFill>
                          <a:effectLst/>
                          <a:latin typeface="微软雅黑" panose="020B0503020204020204" pitchFamily="34" charset="-122"/>
                          <a:ea typeface="Alibaba PuHuiTi 2.0 55 Regular"/>
                        </a:rPr>
                        <a:t>-0.06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2.16%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0.56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3"/>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F1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店内看车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店内设计风格</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0.13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1.94%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0.53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4"/>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C10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交车环节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手续办理环节体验满意度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FF0000"/>
                          </a:solidFill>
                          <a:effectLst/>
                          <a:latin typeface="微软雅黑" panose="020B0503020204020204" pitchFamily="34" charset="-122"/>
                          <a:ea typeface="Alibaba PuHuiTi 2.0 55 Regular"/>
                        </a:rPr>
                        <a:t>-0.14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2.54%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0.52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5"/>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I4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交付等待</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交付服务人员沟通的体验</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0.13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2.94%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0.48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6"/>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H2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洽谈下定</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产品报价和下定政策介绍清晰程度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0.07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0.15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2.77%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0.42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7"/>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E1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店内看车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店内硬件设施</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0.04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1.98%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0.42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8"/>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C8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店内看车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销售顾问对车型介绍专业性</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FF0000"/>
                          </a:solidFill>
                          <a:effectLst/>
                          <a:latin typeface="微软雅黑" panose="020B0503020204020204" pitchFamily="34" charset="-122"/>
                          <a:ea typeface="Alibaba PuHuiTi 2.0 55 Regular"/>
                        </a:rPr>
                        <a:t>-0.01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2.08%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0.34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9"/>
                  </a:ext>
                </a:extLst>
              </a:tr>
              <a:tr h="196909">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C1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交车环节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新车账户激活和功能讲解环节体验</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FF0000"/>
                          </a:solidFill>
                          <a:effectLst/>
                          <a:latin typeface="微软雅黑" panose="020B0503020204020204" pitchFamily="34" charset="-122"/>
                          <a:ea typeface="Alibaba PuHuiTi 2.0 55 Regular"/>
                        </a:rPr>
                        <a:t>-0.02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1.89%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0.24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20"/>
                  </a:ext>
                </a:extLst>
              </a:tr>
            </a:tbl>
          </a:graphicData>
        </a:graphic>
      </p:graphicFrame>
      <p:sp>
        <p:nvSpPr>
          <p:cNvPr id="7" name="文本占位符 6"/>
          <p:cNvSpPr>
            <a:spLocks noGrp="1"/>
          </p:cNvSpPr>
          <p:nvPr>
            <p:ph type="body" sz="quarter" idx="21"/>
          </p:nvPr>
        </p:nvSpPr>
        <p:spPr/>
        <p:txBody>
          <a:bodyPr/>
          <a:lstStyle/>
          <a:p>
            <a:r>
              <a:rPr lang="en-US" altLang="zh-CN" sz="2400" dirty="0">
                <a:latin typeface="+mn-ea"/>
                <a:ea typeface="+mn-ea"/>
              </a:rPr>
              <a:t>1.4 </a:t>
            </a:r>
            <a:r>
              <a:rPr lang="zh-CN" altLang="en-US" sz="2400" dirty="0">
                <a:latin typeface="+mn-ea"/>
                <a:ea typeface="+mn-ea"/>
              </a:rPr>
              <a:t>项目主要发现</a:t>
            </a:r>
            <a:r>
              <a:rPr lang="en-US" altLang="zh-CN" sz="2400" dirty="0">
                <a:latin typeface="+mn-ea"/>
                <a:ea typeface="+mn-ea"/>
              </a:rPr>
              <a:t>-</a:t>
            </a:r>
            <a:r>
              <a:rPr lang="en-US" altLang="zh-CN" dirty="0">
                <a:latin typeface="+mn-ea"/>
                <a:ea typeface="+mn-ea"/>
              </a:rPr>
              <a:t>SSI</a:t>
            </a:r>
            <a:r>
              <a:rPr lang="zh-CN" altLang="en-US" dirty="0">
                <a:latin typeface="+mn-ea"/>
                <a:ea typeface="+mn-ea"/>
              </a:rPr>
              <a:t>（销售</a:t>
            </a:r>
            <a:r>
              <a:rPr lang="en-US" altLang="zh-CN" dirty="0">
                <a:latin typeface="+mn-ea"/>
                <a:ea typeface="+mn-ea"/>
              </a:rPr>
              <a:t>+</a:t>
            </a:r>
            <a:r>
              <a:rPr lang="zh-CN" altLang="en-US" dirty="0">
                <a:latin typeface="+mn-ea"/>
                <a:ea typeface="+mn-ea"/>
              </a:rPr>
              <a:t>交付）</a:t>
            </a:r>
            <a:r>
              <a:rPr lang="zh-CN" altLang="en-US" sz="2400" dirty="0">
                <a:latin typeface="+mn-ea"/>
                <a:ea typeface="+mn-ea"/>
              </a:rPr>
              <a:t>弱项汇总</a:t>
            </a:r>
            <a:endParaRPr lang="zh-CN" altLang="en-US" dirty="0">
              <a:latin typeface="+mn-ea"/>
              <a:ea typeface="+mn-ea"/>
            </a:endParaRPr>
          </a:p>
        </p:txBody>
      </p:sp>
      <p:sp>
        <p:nvSpPr>
          <p:cNvPr id="5" name="灯片编号占位符 4"/>
          <p:cNvSpPr>
            <a:spLocks noGrp="1"/>
          </p:cNvSpPr>
          <p:nvPr>
            <p:ph type="sldNum" sz="quarter" idx="4"/>
          </p:nvPr>
        </p:nvSpPr>
        <p:spPr/>
        <p:txBody>
          <a:bodyPr/>
          <a:lstStyle/>
          <a:p>
            <a:fld id="{5BC33376-1D8B-E948-ACD6-AA21A3D30A8E}" type="slidenum">
              <a:rPr lang="zh-CN" altLang="en-US" smtClean="0"/>
              <a:t>13</a:t>
            </a:fld>
            <a:endParaRPr lang="zh-CN" altLang="en-US" dirty="0"/>
          </a:p>
        </p:txBody>
      </p:sp>
      <p:sp>
        <p:nvSpPr>
          <p:cNvPr id="28" name="文本框 27"/>
          <p:cNvSpPr txBox="1"/>
          <p:nvPr/>
        </p:nvSpPr>
        <p:spPr>
          <a:xfrm>
            <a:off x="263525" y="1497479"/>
            <a:ext cx="11664950" cy="432000"/>
          </a:xfrm>
          <a:prstGeom prst="rect">
            <a:avLst/>
          </a:prstGeom>
          <a:solidFill>
            <a:srgbClr val="4B8D56"/>
          </a:solidFill>
        </p:spPr>
        <p:txBody>
          <a:bodyPr wrap="square" anchor="ctr" anchorCtr="0">
            <a:noAutofit/>
          </a:bodyPr>
          <a:lstStyle>
            <a:defPPr>
              <a:defRPr lang="zh-CN"/>
            </a:defPPr>
            <a:lvl1pPr algn="ctr">
              <a:defRPr b="1">
                <a:solidFill>
                  <a:schemeClr val="bg1"/>
                </a:solidFill>
                <a:latin typeface="+mn-ea"/>
              </a:defRPr>
            </a:lvl1pPr>
          </a:lstStyle>
          <a:p>
            <a:r>
              <a:rPr lang="zh-CN" altLang="en-US" dirty="0"/>
              <a:t>某品牌</a:t>
            </a:r>
            <a:r>
              <a:rPr lang="en-US" altLang="zh-CN" dirty="0"/>
              <a:t>2023</a:t>
            </a:r>
            <a:r>
              <a:rPr lang="zh-CN" altLang="en-US" dirty="0"/>
              <a:t>年</a:t>
            </a:r>
            <a:r>
              <a:rPr lang="en-US" altLang="zh-CN" dirty="0"/>
              <a:t>H2</a:t>
            </a:r>
            <a:r>
              <a:rPr lang="zh-CN" altLang="en-US" dirty="0"/>
              <a:t>改进弱项</a:t>
            </a:r>
          </a:p>
        </p:txBody>
      </p:sp>
      <p:graphicFrame>
        <p:nvGraphicFramePr>
          <p:cNvPr id="31" name="表格 30"/>
          <p:cNvGraphicFramePr>
            <a:graphicFrameLocks noGrp="1"/>
          </p:cNvGraphicFramePr>
          <p:nvPr/>
        </p:nvGraphicFramePr>
        <p:xfrm>
          <a:off x="10617393" y="2668324"/>
          <a:ext cx="1199113" cy="456784"/>
        </p:xfrm>
        <a:graphic>
          <a:graphicData uri="http://schemas.openxmlformats.org/drawingml/2006/table">
            <a:tbl>
              <a:tblPr>
                <a:tableStyleId>{5C22544A-7EE6-4342-B048-85BDC9FD1C3A}</a:tableStyleId>
              </a:tblPr>
              <a:tblGrid>
                <a:gridCol w="1199113">
                  <a:extLst>
                    <a:ext uri="{9D8B030D-6E8A-4147-A177-3AD203B41FA5}">
                      <a16:colId xmlns:a16="http://schemas.microsoft.com/office/drawing/2014/main" val="20000"/>
                    </a:ext>
                  </a:extLst>
                </a:gridCol>
              </a:tblGrid>
              <a:tr h="228392">
                <a:tc>
                  <a:txBody>
                    <a:bodyPr/>
                    <a:lstStyle/>
                    <a:p>
                      <a:pPr algn="ctr" fontAlgn="b"/>
                      <a:r>
                        <a:rPr lang="zh-CN" altLang="en-US" sz="1000" b="1" u="none" strike="noStrike" dirty="0">
                          <a:solidFill>
                            <a:schemeClr val="bg1"/>
                          </a:solidFill>
                          <a:effectLst/>
                          <a:latin typeface="微软雅黑" panose="020B0503020204020204" pitchFamily="34" charset="-122"/>
                          <a:ea typeface="Alibaba PuHuiTi 2.0 55 Regular"/>
                        </a:rPr>
                        <a:t>与第一名总分差距</a:t>
                      </a:r>
                      <a:endParaRPr lang="zh-CN" altLang="en-US" sz="1000" b="1" i="0" u="none" strike="noStrike" dirty="0">
                        <a:solidFill>
                          <a:schemeClr val="bg1"/>
                        </a:solidFill>
                        <a:effectLst/>
                        <a:latin typeface="微软雅黑" panose="020B0503020204020204" pitchFamily="34" charset="-122"/>
                        <a:ea typeface="Alibaba PuHuiTi 2.0 55 Regular"/>
                      </a:endParaRPr>
                    </a:p>
                  </a:txBody>
                  <a:tcPr marL="36000" marR="36000" marT="36000" marB="36000" anchor="b">
                    <a:solidFill>
                      <a:srgbClr val="4B8D56"/>
                    </a:solidFill>
                  </a:tcPr>
                </a:tc>
                <a:extLst>
                  <a:ext uri="{0D108BD9-81ED-4DB2-BD59-A6C34878D82A}">
                    <a16:rowId xmlns:a16="http://schemas.microsoft.com/office/drawing/2014/main" val="10000"/>
                  </a:ext>
                </a:extLst>
              </a:tr>
              <a:tr h="228392">
                <a:tc>
                  <a:txBody>
                    <a:bodyPr/>
                    <a:lstStyle/>
                    <a:p>
                      <a:pPr algn="ctr" fontAlgn="b"/>
                      <a:r>
                        <a:rPr lang="en-US" altLang="zh-CN" sz="1000" b="1" i="0" u="none" strike="noStrike" dirty="0">
                          <a:solidFill>
                            <a:srgbClr val="000000"/>
                          </a:solidFill>
                          <a:effectLst/>
                          <a:latin typeface="微软雅黑" panose="020B0503020204020204" pitchFamily="34" charset="-122"/>
                          <a:ea typeface="Alibaba PuHuiTi 2.0 55 Regular"/>
                        </a:rPr>
                        <a:t>13.46</a:t>
                      </a:r>
                    </a:p>
                  </a:txBody>
                  <a:tcPr marL="36000" marR="36000" marT="36000" marB="36000" anchor="b"/>
                </a:tc>
                <a:extLst>
                  <a:ext uri="{0D108BD9-81ED-4DB2-BD59-A6C34878D82A}">
                    <a16:rowId xmlns:a16="http://schemas.microsoft.com/office/drawing/2014/main" val="10001"/>
                  </a:ext>
                </a:extLst>
              </a:tr>
            </a:tbl>
          </a:graphicData>
        </a:graphic>
      </p:graphicFrame>
      <p:graphicFrame>
        <p:nvGraphicFramePr>
          <p:cNvPr id="32" name="表格 31"/>
          <p:cNvGraphicFramePr>
            <a:graphicFrameLocks noGrp="1"/>
          </p:cNvGraphicFramePr>
          <p:nvPr/>
        </p:nvGraphicFramePr>
        <p:xfrm>
          <a:off x="9512099" y="2669590"/>
          <a:ext cx="857248" cy="456784"/>
        </p:xfrm>
        <a:graphic>
          <a:graphicData uri="http://schemas.openxmlformats.org/drawingml/2006/table">
            <a:tbl>
              <a:tblPr>
                <a:tableStyleId>{5C22544A-7EE6-4342-B048-85BDC9FD1C3A}</a:tableStyleId>
              </a:tblPr>
              <a:tblGrid>
                <a:gridCol w="857248">
                  <a:extLst>
                    <a:ext uri="{9D8B030D-6E8A-4147-A177-3AD203B41FA5}">
                      <a16:colId xmlns:a16="http://schemas.microsoft.com/office/drawing/2014/main" val="20000"/>
                    </a:ext>
                  </a:extLst>
                </a:gridCol>
              </a:tblGrid>
              <a:tr h="228392">
                <a:tc>
                  <a:txBody>
                    <a:bodyPr/>
                    <a:lstStyle/>
                    <a:p>
                      <a:pPr algn="ctr" fontAlgn="b"/>
                      <a:r>
                        <a:rPr lang="zh-CN" altLang="en-US" sz="1000" b="1" u="none" strike="noStrike" kern="1200" dirty="0">
                          <a:solidFill>
                            <a:schemeClr val="bg1"/>
                          </a:solidFill>
                          <a:effectLst/>
                          <a:latin typeface="微软雅黑" panose="020B0503020204020204" pitchFamily="34" charset="-122"/>
                          <a:ea typeface="Alibaba PuHuiTi 2.0 55 Regular"/>
                          <a:cs typeface="+mn-cs"/>
                        </a:rPr>
                        <a:t>弥补差值</a:t>
                      </a:r>
                    </a:p>
                  </a:txBody>
                  <a:tcPr marL="36000" marR="36000" marT="36000" marB="36000" anchor="b">
                    <a:solidFill>
                      <a:srgbClr val="4B8D56"/>
                    </a:solidFill>
                  </a:tcPr>
                </a:tc>
                <a:extLst>
                  <a:ext uri="{0D108BD9-81ED-4DB2-BD59-A6C34878D82A}">
                    <a16:rowId xmlns:a16="http://schemas.microsoft.com/office/drawing/2014/main" val="10000"/>
                  </a:ext>
                </a:extLst>
              </a:tr>
              <a:tr h="228392">
                <a:tc>
                  <a:txBody>
                    <a:bodyPr/>
                    <a:lstStyle/>
                    <a:p>
                      <a:pPr algn="ctr" fontAlgn="b"/>
                      <a:r>
                        <a:rPr lang="en-US" altLang="zh-CN" sz="1000" b="1" i="0" u="none" strike="noStrike" dirty="0">
                          <a:solidFill>
                            <a:srgbClr val="000000"/>
                          </a:solidFill>
                          <a:effectLst/>
                          <a:latin typeface="微软雅黑" panose="020B0503020204020204" pitchFamily="34" charset="-122"/>
                          <a:ea typeface="Alibaba PuHuiTi 2.0 55 Regular"/>
                        </a:rPr>
                        <a:t>13.71</a:t>
                      </a:r>
                    </a:p>
                  </a:txBody>
                  <a:tcPr marL="36000" marR="36000" marT="36000" marB="36000" anchor="b"/>
                </a:tc>
                <a:extLst>
                  <a:ext uri="{0D108BD9-81ED-4DB2-BD59-A6C34878D82A}">
                    <a16:rowId xmlns:a16="http://schemas.microsoft.com/office/drawing/2014/main" val="10001"/>
                  </a:ext>
                </a:extLst>
              </a:tr>
            </a:tbl>
          </a:graphicData>
        </a:graphic>
      </p:graphicFrame>
      <p:sp>
        <p:nvSpPr>
          <p:cNvPr id="33" name="箭头: V 形 32"/>
          <p:cNvSpPr/>
          <p:nvPr/>
        </p:nvSpPr>
        <p:spPr>
          <a:xfrm>
            <a:off x="10431459" y="2777299"/>
            <a:ext cx="123822" cy="190500"/>
          </a:xfrm>
          <a:prstGeom prst="chevron">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0" dirty="0">
              <a:solidFill>
                <a:schemeClr val="bg1"/>
              </a:solidFill>
              <a:latin typeface="+mn-ea"/>
            </a:endParaRPr>
          </a:p>
        </p:txBody>
      </p:sp>
      <p:cxnSp>
        <p:nvCxnSpPr>
          <p:cNvPr id="46" name="直接箭头连接符 8"/>
          <p:cNvCxnSpPr/>
          <p:nvPr/>
        </p:nvCxnSpPr>
        <p:spPr>
          <a:xfrm>
            <a:off x="9419479" y="2270269"/>
            <a:ext cx="0" cy="2438891"/>
          </a:xfrm>
          <a:prstGeom prst="straightConnector1">
            <a:avLst/>
          </a:prstGeom>
          <a:ln w="28575">
            <a:solidFill>
              <a:schemeClr val="accent2"/>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 name="文本占位符 7">
            <a:extLst>
              <a:ext uri="{FF2B5EF4-FFF2-40B4-BE49-F238E27FC236}">
                <a16:creationId xmlns:a16="http://schemas.microsoft.com/office/drawing/2014/main" id="{948167BF-2906-C050-293F-C8A331413577}"/>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spcBef>
                <a:spcPts val="0"/>
              </a:spcBef>
              <a:buClrTx/>
              <a:buSzPct val="60000"/>
              <a:buNone/>
            </a:pPr>
            <a:r>
              <a:rPr lang="zh-CN" altLang="en-US" sz="1600" b="1" kern="0" dirty="0">
                <a:ln>
                  <a:noFill/>
                </a:ln>
                <a:solidFill>
                  <a:srgbClr val="595757"/>
                </a:solidFill>
                <a:effectLst/>
                <a:uLnTx/>
                <a:uFillTx/>
                <a:latin typeface="DIN Pro Regular" panose="02000503040000020003" pitchFamily="2" charset="0"/>
                <a:ea typeface="阿里巴巴普惠体 2.0 55 Regular" panose="00020600040101010101" pitchFamily="18" charset="-122"/>
                <a:cs typeface="阿里巴巴普惠体 2.0 55 Regular" panose="00020600040101010101" pitchFamily="18" charset="-122"/>
              </a:rPr>
              <a:t>SSI根据重视度加权，由高到底选择出12项弱项；交付环节弱项更多一些</a:t>
            </a:r>
          </a:p>
        </p:txBody>
      </p:sp>
    </p:spTree>
    <p:extLst>
      <p:ext uri="{BB962C8B-B14F-4D97-AF65-F5344CB8AC3E}">
        <p14:creationId xmlns:p14="http://schemas.microsoft.com/office/powerpoint/2010/main" val="3672764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7FF41C6-F6E7-20A1-8B91-7BADACE31ECF}"/>
              </a:ext>
            </a:extLst>
          </p:cNvPr>
          <p:cNvSpPr>
            <a:spLocks noGrp="1"/>
          </p:cNvSpPr>
          <p:nvPr>
            <p:ph type="body" sz="quarter" idx="14"/>
          </p:nvPr>
        </p:nvSpPr>
        <p:spPr/>
        <p:txBody>
          <a:bodyPr/>
          <a:lstStyle/>
          <a:p>
            <a:endParaRPr lang="zh-CN" altLang="en-US"/>
          </a:p>
        </p:txBody>
      </p:sp>
      <p:sp>
        <p:nvSpPr>
          <p:cNvPr id="7" name="文本占位符 6">
            <a:extLst>
              <a:ext uri="{FF2B5EF4-FFF2-40B4-BE49-F238E27FC236}">
                <a16:creationId xmlns:a16="http://schemas.microsoft.com/office/drawing/2014/main" id="{DADDE207-ADC8-E124-91B3-68AE020E08FF}"/>
              </a:ext>
            </a:extLst>
          </p:cNvPr>
          <p:cNvSpPr>
            <a:spLocks noGrp="1"/>
          </p:cNvSpPr>
          <p:nvPr>
            <p:ph type="body" sz="quarter" idx="21"/>
          </p:nvPr>
        </p:nvSpPr>
        <p:spPr/>
        <p:txBody>
          <a:bodyPr/>
          <a:lstStyle/>
          <a:p>
            <a:r>
              <a:rPr lang="en-US" altLang="zh-CN" sz="2400" dirty="0">
                <a:latin typeface="+mn-ea"/>
                <a:ea typeface="+mn-ea"/>
              </a:rPr>
              <a:t>1.4 </a:t>
            </a:r>
            <a:r>
              <a:rPr lang="zh-CN" altLang="en-US" sz="2400" dirty="0">
                <a:latin typeface="+mn-ea"/>
                <a:ea typeface="+mn-ea"/>
              </a:rPr>
              <a:t>项目主要发现</a:t>
            </a:r>
            <a:r>
              <a:rPr lang="en-US" altLang="zh-CN" sz="2400" dirty="0">
                <a:latin typeface="+mn-ea"/>
                <a:ea typeface="+mn-ea"/>
              </a:rPr>
              <a:t>-</a:t>
            </a:r>
            <a:r>
              <a:rPr lang="zh-CN" altLang="en-US" dirty="0">
                <a:latin typeface="+mn-ea"/>
                <a:ea typeface="+mn-ea"/>
              </a:rPr>
              <a:t>销售（不含交付）三个维度弱项汇总</a:t>
            </a:r>
          </a:p>
        </p:txBody>
      </p:sp>
      <p:sp>
        <p:nvSpPr>
          <p:cNvPr id="5" name="灯片编号占位符 4">
            <a:extLst>
              <a:ext uri="{FF2B5EF4-FFF2-40B4-BE49-F238E27FC236}">
                <a16:creationId xmlns:a16="http://schemas.microsoft.com/office/drawing/2014/main" id="{6C4DDD87-5993-DBD7-3824-D3F59D0ADF61}"/>
              </a:ext>
            </a:extLst>
          </p:cNvPr>
          <p:cNvSpPr>
            <a:spLocks noGrp="1"/>
          </p:cNvSpPr>
          <p:nvPr>
            <p:ph type="sldNum" sz="quarter" idx="4"/>
          </p:nvPr>
        </p:nvSpPr>
        <p:spPr/>
        <p:txBody>
          <a:bodyPr/>
          <a:lstStyle/>
          <a:p>
            <a:fld id="{04824671-56D2-5D44-834F-250C3DA554E9}" type="slidenum">
              <a:rPr lang="zh-CN" altLang="en-US" smtClean="0"/>
              <a:t>14</a:t>
            </a:fld>
            <a:endParaRPr lang="zh-CN" altLang="en-US" dirty="0"/>
          </a:p>
        </p:txBody>
      </p:sp>
      <p:graphicFrame>
        <p:nvGraphicFramePr>
          <p:cNvPr id="6" name="表格 5">
            <a:extLst>
              <a:ext uri="{FF2B5EF4-FFF2-40B4-BE49-F238E27FC236}">
                <a16:creationId xmlns:a16="http://schemas.microsoft.com/office/drawing/2014/main" id="{23274D3F-C9E2-01B1-5730-6085AEF80132}"/>
              </a:ext>
            </a:extLst>
          </p:cNvPr>
          <p:cNvGraphicFramePr>
            <a:graphicFrameLocks noGrp="1"/>
          </p:cNvGraphicFramePr>
          <p:nvPr>
            <p:extLst>
              <p:ext uri="{D42A27DB-BD31-4B8C-83A1-F6EECF244321}">
                <p14:modId xmlns:p14="http://schemas.microsoft.com/office/powerpoint/2010/main" val="3178366220"/>
              </p:ext>
            </p:extLst>
          </p:nvPr>
        </p:nvGraphicFramePr>
        <p:xfrm>
          <a:off x="263523" y="1492249"/>
          <a:ext cx="11664952" cy="4789590"/>
        </p:xfrm>
        <a:graphic>
          <a:graphicData uri="http://schemas.openxmlformats.org/drawingml/2006/table">
            <a:tbl>
              <a:tblPr>
                <a:tableStyleId>{5C22544A-7EE6-4342-B048-85BDC9FD1C3A}</a:tableStyleId>
              </a:tblPr>
              <a:tblGrid>
                <a:gridCol w="1125137">
                  <a:extLst>
                    <a:ext uri="{9D8B030D-6E8A-4147-A177-3AD203B41FA5}">
                      <a16:colId xmlns:a16="http://schemas.microsoft.com/office/drawing/2014/main" val="2250779237"/>
                    </a:ext>
                  </a:extLst>
                </a:gridCol>
                <a:gridCol w="2733675">
                  <a:extLst>
                    <a:ext uri="{9D8B030D-6E8A-4147-A177-3AD203B41FA5}">
                      <a16:colId xmlns:a16="http://schemas.microsoft.com/office/drawing/2014/main" val="553779841"/>
                    </a:ext>
                  </a:extLst>
                </a:gridCol>
                <a:gridCol w="1450153">
                  <a:extLst>
                    <a:ext uri="{9D8B030D-6E8A-4147-A177-3AD203B41FA5}">
                      <a16:colId xmlns:a16="http://schemas.microsoft.com/office/drawing/2014/main" val="1272567022"/>
                    </a:ext>
                  </a:extLst>
                </a:gridCol>
                <a:gridCol w="1450153">
                  <a:extLst>
                    <a:ext uri="{9D8B030D-6E8A-4147-A177-3AD203B41FA5}">
                      <a16:colId xmlns:a16="http://schemas.microsoft.com/office/drawing/2014/main" val="2718776074"/>
                    </a:ext>
                  </a:extLst>
                </a:gridCol>
                <a:gridCol w="1450153">
                  <a:extLst>
                    <a:ext uri="{9D8B030D-6E8A-4147-A177-3AD203B41FA5}">
                      <a16:colId xmlns:a16="http://schemas.microsoft.com/office/drawing/2014/main" val="3556111171"/>
                    </a:ext>
                  </a:extLst>
                </a:gridCol>
                <a:gridCol w="3455681">
                  <a:extLst>
                    <a:ext uri="{9D8B030D-6E8A-4147-A177-3AD203B41FA5}">
                      <a16:colId xmlns:a16="http://schemas.microsoft.com/office/drawing/2014/main" val="707970589"/>
                    </a:ext>
                  </a:extLst>
                </a:gridCol>
              </a:tblGrid>
              <a:tr h="432000">
                <a:tc>
                  <a:txBody>
                    <a:bodyPr/>
                    <a:lstStyle/>
                    <a:p>
                      <a:pPr algn="ctr" fontAlgn="ctr"/>
                      <a:r>
                        <a:rPr lang="zh-CN" altLang="en-US" sz="1100" b="1" u="none" strike="noStrike" dirty="0">
                          <a:solidFill>
                            <a:schemeClr val="bg1"/>
                          </a:solidFill>
                          <a:effectLst/>
                          <a:latin typeface="+mn-ea"/>
                          <a:ea typeface="+mn-ea"/>
                        </a:rPr>
                        <a:t>环节</a:t>
                      </a:r>
                      <a:endParaRPr lang="zh-CN" altLang="en-US" sz="1100" b="1" i="0" u="none" strike="noStrike" dirty="0">
                        <a:solidFill>
                          <a:schemeClr val="bg1"/>
                        </a:solidFill>
                        <a:effectLst/>
                        <a:latin typeface="+mn-ea"/>
                        <a:ea typeface="+mn-ea"/>
                      </a:endParaRPr>
                    </a:p>
                  </a:txBody>
                  <a:tcPr marL="45720" marR="45720" anchor="ctr">
                    <a:solidFill>
                      <a:srgbClr val="4B8D56"/>
                    </a:solidFill>
                  </a:tcPr>
                </a:tc>
                <a:tc>
                  <a:txBody>
                    <a:bodyPr/>
                    <a:lstStyle/>
                    <a:p>
                      <a:pPr algn="ctr" fontAlgn="ctr"/>
                      <a:r>
                        <a:rPr lang="zh-CN" altLang="en-US" sz="1100" b="1" u="none" strike="noStrike" dirty="0">
                          <a:solidFill>
                            <a:schemeClr val="bg1"/>
                          </a:solidFill>
                          <a:effectLst/>
                          <a:latin typeface="+mn-ea"/>
                          <a:ea typeface="+mn-ea"/>
                        </a:rPr>
                        <a:t>弱项</a:t>
                      </a:r>
                      <a:endParaRPr lang="zh-CN" altLang="en-US" sz="1100" b="1" i="0" u="none" strike="noStrike" dirty="0">
                        <a:solidFill>
                          <a:schemeClr val="bg1"/>
                        </a:solidFill>
                        <a:effectLst/>
                        <a:latin typeface="+mn-ea"/>
                        <a:ea typeface="+mn-ea"/>
                      </a:endParaRPr>
                    </a:p>
                  </a:txBody>
                  <a:tcPr marL="45720" marR="45720" anchor="ctr">
                    <a:solidFill>
                      <a:srgbClr val="4B8D56"/>
                    </a:solidFill>
                  </a:tcPr>
                </a:tc>
                <a:tc>
                  <a:txBody>
                    <a:bodyPr/>
                    <a:lstStyle/>
                    <a:p>
                      <a:pPr algn="ctr" fontAlgn="ctr"/>
                      <a:r>
                        <a:rPr lang="zh-CN" altLang="en-US" sz="1100" b="1" i="0" u="none" strike="noStrike" dirty="0">
                          <a:solidFill>
                            <a:schemeClr val="bg1"/>
                          </a:solidFill>
                          <a:effectLst/>
                          <a:latin typeface="+mn-ea"/>
                          <a:ea typeface="+mn-ea"/>
                        </a:rPr>
                        <a:t>自评</a:t>
                      </a:r>
                      <a:r>
                        <a:rPr lang="zh-CN" altLang="en-US" sz="1100" b="1" i="0" u="none" strike="noStrike" kern="100" dirty="0">
                          <a:solidFill>
                            <a:schemeClr val="bg1"/>
                          </a:solidFill>
                          <a:effectLst/>
                          <a:latin typeface="+mn-ea"/>
                          <a:ea typeface="+mn-ea"/>
                          <a:cs typeface="Times New Roman" panose="02020603050405020304" pitchFamily="18" charset="0"/>
                        </a:rPr>
                        <a:t>弱项</a:t>
                      </a:r>
                      <a:endParaRPr lang="zh-CN" altLang="en-US" sz="1100" b="1" i="0" u="none" strike="noStrike" dirty="0">
                        <a:solidFill>
                          <a:schemeClr val="bg1"/>
                        </a:solidFill>
                        <a:effectLst/>
                        <a:latin typeface="+mn-ea"/>
                        <a:ea typeface="+mn-ea"/>
                      </a:endParaRPr>
                    </a:p>
                  </a:txBody>
                  <a:tcPr marL="45720" marR="45720" anchor="ctr">
                    <a:solidFill>
                      <a:srgbClr val="4B8D56"/>
                    </a:solidFill>
                  </a:tcPr>
                </a:tc>
                <a:tc>
                  <a:txBody>
                    <a:bodyPr/>
                    <a:lstStyle/>
                    <a:p>
                      <a:pPr algn="ctr" fontAlgn="ctr"/>
                      <a:r>
                        <a:rPr lang="zh-CN" altLang="en-US" sz="1100" b="1" i="0" u="none" strike="noStrike" dirty="0">
                          <a:solidFill>
                            <a:schemeClr val="bg1"/>
                          </a:solidFill>
                          <a:effectLst/>
                          <a:latin typeface="+mn-ea"/>
                          <a:ea typeface="+mn-ea"/>
                        </a:rPr>
                        <a:t>战败</a:t>
                      </a:r>
                      <a:r>
                        <a:rPr lang="zh-CN" altLang="en-US" sz="1100" b="1" i="0" u="none" strike="noStrike" kern="100" dirty="0">
                          <a:solidFill>
                            <a:schemeClr val="bg1"/>
                          </a:solidFill>
                          <a:effectLst/>
                          <a:latin typeface="+mn-ea"/>
                          <a:ea typeface="+mn-ea"/>
                          <a:cs typeface="Times New Roman" panose="02020603050405020304" pitchFamily="18" charset="0"/>
                        </a:rPr>
                        <a:t>弱项</a:t>
                      </a:r>
                      <a:endParaRPr lang="zh-CN" altLang="en-US" sz="1100" b="1" i="0" u="none" strike="noStrike" dirty="0">
                        <a:solidFill>
                          <a:schemeClr val="bg1"/>
                        </a:solidFill>
                        <a:effectLst/>
                        <a:latin typeface="+mn-ea"/>
                        <a:ea typeface="+mn-ea"/>
                      </a:endParaRPr>
                    </a:p>
                  </a:txBody>
                  <a:tcPr marL="45720" marR="45720" anchor="ctr">
                    <a:solidFill>
                      <a:srgbClr val="4B8D56"/>
                    </a:solidFill>
                  </a:tcPr>
                </a:tc>
                <a:tc>
                  <a:txBody>
                    <a:bodyPr/>
                    <a:lstStyle/>
                    <a:p>
                      <a:pPr algn="ctr" fontAlgn="ctr"/>
                      <a:r>
                        <a:rPr lang="zh-CN" altLang="en-US" sz="1100" b="1" i="0" u="none" strike="noStrike" dirty="0">
                          <a:solidFill>
                            <a:schemeClr val="bg1"/>
                          </a:solidFill>
                          <a:effectLst/>
                          <a:latin typeface="+mn-ea"/>
                          <a:ea typeface="+mn-ea"/>
                        </a:rPr>
                        <a:t>犹豫</a:t>
                      </a:r>
                      <a:r>
                        <a:rPr lang="zh-CN" altLang="en-US" sz="1100" b="1" i="0" u="none" strike="noStrike" kern="100" dirty="0">
                          <a:solidFill>
                            <a:schemeClr val="bg1"/>
                          </a:solidFill>
                          <a:effectLst/>
                          <a:latin typeface="+mn-ea"/>
                          <a:ea typeface="+mn-ea"/>
                          <a:cs typeface="Times New Roman" panose="02020603050405020304" pitchFamily="18" charset="0"/>
                        </a:rPr>
                        <a:t>弱项</a:t>
                      </a:r>
                      <a:endParaRPr lang="zh-CN" altLang="en-US" sz="1100" b="1" i="0" u="none" strike="noStrike" dirty="0">
                        <a:solidFill>
                          <a:schemeClr val="bg1"/>
                        </a:solidFill>
                        <a:effectLst/>
                        <a:latin typeface="+mn-ea"/>
                        <a:ea typeface="+mn-ea"/>
                      </a:endParaRPr>
                    </a:p>
                  </a:txBody>
                  <a:tcPr marL="45720" marR="45720" anchor="ctr">
                    <a:solidFill>
                      <a:srgbClr val="4B8D56"/>
                    </a:solidFill>
                  </a:tcPr>
                </a:tc>
                <a:tc>
                  <a:txBody>
                    <a:bodyPr/>
                    <a:lstStyle/>
                    <a:p>
                      <a:pPr algn="ctr" fontAlgn="ctr"/>
                      <a:r>
                        <a:rPr lang="zh-CN" altLang="en-US" sz="1100" b="1" i="0" u="none" strike="noStrike" dirty="0">
                          <a:solidFill>
                            <a:schemeClr val="bg1"/>
                          </a:solidFill>
                          <a:effectLst/>
                          <a:latin typeface="+mn-ea"/>
                          <a:ea typeface="+mn-ea"/>
                        </a:rPr>
                        <a:t>改进目的</a:t>
                      </a:r>
                    </a:p>
                  </a:txBody>
                  <a:tcPr marL="45720" marR="45720" anchor="ctr">
                    <a:solidFill>
                      <a:srgbClr val="4B8D56"/>
                    </a:solidFill>
                  </a:tcPr>
                </a:tc>
                <a:extLst>
                  <a:ext uri="{0D108BD9-81ED-4DB2-BD59-A6C34878D82A}">
                    <a16:rowId xmlns:a16="http://schemas.microsoft.com/office/drawing/2014/main" val="4240328065"/>
                  </a:ext>
                </a:extLst>
              </a:tr>
              <a:tr h="435759">
                <a:tc rowSpan="2">
                  <a:txBody>
                    <a:bodyPr/>
                    <a:lstStyle/>
                    <a:p>
                      <a:pPr algn="ctr" fontAlgn="ctr"/>
                      <a:r>
                        <a:rPr lang="zh-CN" altLang="en-US" sz="1000" b="0" i="0" u="none" strike="noStrike" dirty="0">
                          <a:solidFill>
                            <a:srgbClr val="000000"/>
                          </a:solidFill>
                          <a:effectLst/>
                          <a:latin typeface="+mn-ea"/>
                          <a:ea typeface="+mn-ea"/>
                        </a:rPr>
                        <a:t>入店前沟通</a:t>
                      </a:r>
                    </a:p>
                  </a:txBody>
                  <a:tcPr marL="45720" marR="45720" anchor="ctr">
                    <a:solidFill>
                      <a:schemeClr val="accent6">
                        <a:lumMod val="20000"/>
                        <a:lumOff val="80000"/>
                      </a:schemeClr>
                    </a:solidFill>
                  </a:tcPr>
                </a:tc>
                <a:tc>
                  <a:txBody>
                    <a:bodyPr/>
                    <a:lstStyle/>
                    <a:p>
                      <a:pPr algn="l" fontAlgn="ctr"/>
                      <a:r>
                        <a:rPr lang="zh-CN" altLang="en-US" sz="1000" b="0" i="0" u="none" strike="noStrike" dirty="0">
                          <a:solidFill>
                            <a:srgbClr val="000000"/>
                          </a:solidFill>
                          <a:effectLst/>
                          <a:latin typeface="+mn-ea"/>
                          <a:ea typeface="+mn-ea"/>
                        </a:rPr>
                        <a:t>咨询过程的专业度</a:t>
                      </a:r>
                    </a:p>
                  </a:txBody>
                  <a:tcPr marL="45720" marR="45720" anchor="ctr">
                    <a:solidFill>
                      <a:schemeClr val="accent6">
                        <a:lumMod val="20000"/>
                        <a:lumOff val="80000"/>
                      </a:schemeClr>
                    </a:solidFill>
                  </a:tcP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solidFill>
                      <a:schemeClr val="accent6">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000" b="0" i="0" u="none" strike="noStrike" kern="100" dirty="0">
                          <a:solidFill>
                            <a:schemeClr val="tx1"/>
                          </a:solidFill>
                          <a:effectLst/>
                          <a:latin typeface="+mn-ea"/>
                          <a:ea typeface="+mn-ea"/>
                          <a:cs typeface="Times New Roman" panose="02020603050405020304" pitchFamily="18" charset="0"/>
                        </a:rPr>
                        <a:t>提升本品车主满意度，同时吸引潜在用户</a:t>
                      </a:r>
                      <a:endParaRPr lang="zh-CN" altLang="en-US" sz="10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extLst>
                  <a:ext uri="{0D108BD9-81ED-4DB2-BD59-A6C34878D82A}">
                    <a16:rowId xmlns:a16="http://schemas.microsoft.com/office/drawing/2014/main" val="1669513560"/>
                  </a:ext>
                </a:extLst>
              </a:tr>
              <a:tr h="435759">
                <a:tc vMerge="1">
                  <a:txBody>
                    <a:bodyPr/>
                    <a:lstStyle/>
                    <a:p>
                      <a:pPr algn="l" fontAlgn="ctr"/>
                      <a:r>
                        <a:rPr lang="zh-CN" altLang="en-US" sz="1000" b="0" i="0" u="none" strike="noStrike" dirty="0">
                          <a:solidFill>
                            <a:srgbClr val="181818"/>
                          </a:solidFill>
                          <a:effectLst/>
                          <a:latin typeface="宋体" panose="02010600030101010101" pitchFamily="2" charset="-122"/>
                          <a:ea typeface="宋体" panose="02010600030101010101" pitchFamily="2" charset="-122"/>
                        </a:rPr>
                        <a:t>入店前沟通</a:t>
                      </a:r>
                    </a:p>
                  </a:txBody>
                  <a:tcPr marL="6350" marR="6350" marT="6350" marB="0" anchor="ctr"/>
                </a:tc>
                <a:tc>
                  <a:txBody>
                    <a:bodyPr/>
                    <a:lstStyle/>
                    <a:p>
                      <a:pPr algn="l" fontAlgn="ctr"/>
                      <a:r>
                        <a:rPr lang="zh-CN" altLang="en-US" sz="1000" b="0" i="0" u="none" strike="noStrike" dirty="0">
                          <a:solidFill>
                            <a:srgbClr val="181818"/>
                          </a:solidFill>
                          <a:effectLst/>
                          <a:latin typeface="+mn-ea"/>
                          <a:ea typeface="+mn-ea"/>
                        </a:rPr>
                        <a:t>预约便利性</a:t>
                      </a: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algn="l" fontAlgn="ctr"/>
                      <a:r>
                        <a:rPr lang="zh-CN" altLang="en-US" sz="1000" b="0" i="0" u="none" strike="noStrike" kern="100" dirty="0">
                          <a:solidFill>
                            <a:schemeClr val="tx1"/>
                          </a:solidFill>
                          <a:effectLst/>
                          <a:latin typeface="+mn-ea"/>
                          <a:ea typeface="+mn-ea"/>
                          <a:cs typeface="Times New Roman" panose="02020603050405020304" pitchFamily="18" charset="0"/>
                        </a:rPr>
                        <a:t>减少用户流失</a:t>
                      </a:r>
                      <a:endParaRPr lang="zh-CN" altLang="en-US" sz="10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extLst>
                  <a:ext uri="{0D108BD9-81ED-4DB2-BD59-A6C34878D82A}">
                    <a16:rowId xmlns:a16="http://schemas.microsoft.com/office/drawing/2014/main" val="3065633557"/>
                  </a:ext>
                </a:extLst>
              </a:tr>
              <a:tr h="435759">
                <a:tc rowSpan="5">
                  <a:txBody>
                    <a:bodyPr/>
                    <a:lstStyle/>
                    <a:p>
                      <a:pPr algn="ctr" fontAlgn="ctr"/>
                      <a:r>
                        <a:rPr lang="zh-CN" altLang="en-US" sz="1000" b="0" i="0" u="none" strike="noStrike" dirty="0">
                          <a:solidFill>
                            <a:srgbClr val="000000"/>
                          </a:solidFill>
                          <a:effectLst/>
                          <a:latin typeface="+mn-ea"/>
                          <a:ea typeface="+mn-ea"/>
                        </a:rPr>
                        <a:t>店内看车</a:t>
                      </a:r>
                    </a:p>
                  </a:txBody>
                  <a:tcPr marL="45720" marR="45720" anchor="ctr">
                    <a:solidFill>
                      <a:schemeClr val="accent6">
                        <a:lumMod val="20000"/>
                        <a:lumOff val="80000"/>
                      </a:schemeClr>
                    </a:solidFill>
                  </a:tcPr>
                </a:tc>
                <a:tc>
                  <a:txBody>
                    <a:bodyPr/>
                    <a:lstStyle/>
                    <a:p>
                      <a:pPr algn="l" fontAlgn="ctr"/>
                      <a:r>
                        <a:rPr lang="zh-CN" altLang="en-US" sz="1000" b="0" i="0" u="none" strike="noStrike" dirty="0">
                          <a:solidFill>
                            <a:srgbClr val="000000"/>
                          </a:solidFill>
                          <a:effectLst/>
                          <a:latin typeface="+mn-ea"/>
                          <a:ea typeface="+mn-ea"/>
                        </a:rPr>
                        <a:t>提供的饮料服务</a:t>
                      </a:r>
                    </a:p>
                  </a:txBody>
                  <a:tcPr marL="45720" marR="45720" anchor="ctr">
                    <a:solidFill>
                      <a:schemeClr val="accent6">
                        <a:lumMod val="20000"/>
                        <a:lumOff val="80000"/>
                      </a:schemeClr>
                    </a:solidFill>
                  </a:tcP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algn="l" fontAlgn="ctr"/>
                      <a:endParaRPr lang="zh-CN" altLang="en-US" sz="1200" b="0" i="0" u="none" strike="noStrike">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algn="l" fontAlgn="ctr"/>
                      <a:r>
                        <a:rPr lang="zh-CN" altLang="en-US" sz="1000" b="0" i="0" u="none" strike="noStrike" kern="100" dirty="0">
                          <a:solidFill>
                            <a:schemeClr val="tx1"/>
                          </a:solidFill>
                          <a:effectLst/>
                          <a:latin typeface="+mn-ea"/>
                          <a:ea typeface="+mn-ea"/>
                          <a:cs typeface="Times New Roman" panose="02020603050405020304" pitchFamily="18" charset="0"/>
                        </a:rPr>
                        <a:t>提升本品车主满意度</a:t>
                      </a:r>
                      <a:endParaRPr lang="zh-CN" altLang="en-US" sz="10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extLst>
                  <a:ext uri="{0D108BD9-81ED-4DB2-BD59-A6C34878D82A}">
                    <a16:rowId xmlns:a16="http://schemas.microsoft.com/office/drawing/2014/main" val="3639934487"/>
                  </a:ext>
                </a:extLst>
              </a:tr>
              <a:tr h="435759">
                <a:tc vMerge="1">
                  <a:txBody>
                    <a:bodyPr/>
                    <a:lstStyle/>
                    <a:p>
                      <a:pPr algn="l" fontAlgn="ctr"/>
                      <a:r>
                        <a:rPr lang="zh-CN" altLang="en-US" sz="1000" b="0" i="0" u="none" strike="noStrike" dirty="0">
                          <a:solidFill>
                            <a:srgbClr val="181818"/>
                          </a:solidFill>
                          <a:effectLst/>
                          <a:latin typeface="宋体" panose="02010600030101010101" pitchFamily="2" charset="-122"/>
                          <a:ea typeface="宋体" panose="02010600030101010101" pitchFamily="2" charset="-122"/>
                        </a:rPr>
                        <a:t>店内看车</a:t>
                      </a:r>
                    </a:p>
                  </a:txBody>
                  <a:tcPr marL="6350" marR="6350" marT="6350" marB="0" anchor="ctr"/>
                </a:tc>
                <a:tc>
                  <a:txBody>
                    <a:bodyPr/>
                    <a:lstStyle/>
                    <a:p>
                      <a:pPr algn="l" fontAlgn="ctr"/>
                      <a:r>
                        <a:rPr lang="zh-CN" altLang="en-US" sz="1000" b="0" i="0" u="none" strike="noStrike" dirty="0">
                          <a:solidFill>
                            <a:srgbClr val="181818"/>
                          </a:solidFill>
                          <a:effectLst/>
                          <a:latin typeface="+mn-ea"/>
                          <a:ea typeface="+mn-ea"/>
                        </a:rPr>
                        <a:t>销售顾问对车型介绍专业性</a:t>
                      </a: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algn="l" fontAlgn="ctr"/>
                      <a:r>
                        <a:rPr lang="zh-CN" altLang="en-US" sz="1000" b="0" i="0" u="none" strike="noStrike" kern="100" dirty="0">
                          <a:solidFill>
                            <a:schemeClr val="tx1"/>
                          </a:solidFill>
                          <a:effectLst/>
                          <a:latin typeface="+mn-ea"/>
                          <a:ea typeface="+mn-ea"/>
                          <a:cs typeface="Times New Roman" panose="02020603050405020304" pitchFamily="18" charset="0"/>
                        </a:rPr>
                        <a:t>减少用户流失</a:t>
                      </a:r>
                      <a:endParaRPr lang="zh-CN" altLang="en-US" sz="10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extLst>
                  <a:ext uri="{0D108BD9-81ED-4DB2-BD59-A6C34878D82A}">
                    <a16:rowId xmlns:a16="http://schemas.microsoft.com/office/drawing/2014/main" val="348132674"/>
                  </a:ext>
                </a:extLst>
              </a:tr>
              <a:tr h="435759">
                <a:tc vMerge="1">
                  <a:txBody>
                    <a:bodyPr/>
                    <a:lstStyle/>
                    <a:p>
                      <a:pPr algn="l" fontAlgn="ctr"/>
                      <a:r>
                        <a:rPr lang="zh-CN" altLang="en-US" sz="1000" b="0" i="0" u="none" strike="noStrike" dirty="0">
                          <a:solidFill>
                            <a:srgbClr val="181818"/>
                          </a:solidFill>
                          <a:effectLst/>
                          <a:latin typeface="宋体" panose="02010600030101010101" pitchFamily="2" charset="-122"/>
                          <a:ea typeface="宋体" panose="02010600030101010101" pitchFamily="2" charset="-122"/>
                        </a:rPr>
                        <a:t>店内看车</a:t>
                      </a:r>
                    </a:p>
                  </a:txBody>
                  <a:tcPr marL="6350" marR="6350" marT="6350" marB="0" anchor="ctr"/>
                </a:tc>
                <a:tc>
                  <a:txBody>
                    <a:bodyPr/>
                    <a:lstStyle/>
                    <a:p>
                      <a:pPr algn="l" fontAlgn="ctr"/>
                      <a:r>
                        <a:rPr lang="zh-CN" altLang="en-US" sz="1000" b="0" i="0" u="none" strike="noStrike" dirty="0">
                          <a:solidFill>
                            <a:srgbClr val="181818"/>
                          </a:solidFill>
                          <a:effectLst/>
                          <a:latin typeface="+mn-ea"/>
                          <a:ea typeface="+mn-ea"/>
                        </a:rPr>
                        <a:t>销售顾问理解购车需求及针对性的推荐程度</a:t>
                      </a: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solidFill>
                      <a:schemeClr val="accent6">
                        <a:lumMod val="20000"/>
                        <a:lumOff val="80000"/>
                      </a:schemeClr>
                    </a:solidFill>
                  </a:tcP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solidFill>
                      <a:schemeClr val="accent6">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000" b="0" i="0" u="none" strike="noStrike" kern="100" dirty="0">
                          <a:solidFill>
                            <a:schemeClr val="tx1"/>
                          </a:solidFill>
                          <a:effectLst/>
                          <a:latin typeface="+mn-ea"/>
                          <a:ea typeface="+mn-ea"/>
                          <a:cs typeface="Times New Roman" panose="02020603050405020304" pitchFamily="18" charset="0"/>
                        </a:rPr>
                        <a:t>减少用户流失</a:t>
                      </a:r>
                      <a:r>
                        <a:rPr lang="zh-CN" altLang="en-US" sz="1000" kern="100" noProof="0" dirty="0">
                          <a:solidFill>
                            <a:schemeClr val="tx1"/>
                          </a:solidFill>
                          <a:latin typeface="+mn-ea"/>
                          <a:ea typeface="+mn-ea"/>
                          <a:cs typeface="Times New Roman" panose="02020603050405020304" pitchFamily="18" charset="0"/>
                        </a:rPr>
                        <a:t>，同时</a:t>
                      </a:r>
                      <a:r>
                        <a:rPr lang="zh-CN" altLang="en-US" sz="1000" b="0" i="0" u="none" strike="noStrike" dirty="0">
                          <a:solidFill>
                            <a:srgbClr val="000000"/>
                          </a:solidFill>
                          <a:effectLst/>
                          <a:latin typeface="+mn-ea"/>
                          <a:ea typeface="+mn-ea"/>
                        </a:rPr>
                        <a:t>吸引潜在用户</a:t>
                      </a:r>
                    </a:p>
                  </a:txBody>
                  <a:tcPr marL="45720" marR="45720" anchor="ctr">
                    <a:solidFill>
                      <a:schemeClr val="accent6">
                        <a:lumMod val="20000"/>
                        <a:lumOff val="80000"/>
                      </a:schemeClr>
                    </a:solidFill>
                  </a:tcPr>
                </a:tc>
                <a:extLst>
                  <a:ext uri="{0D108BD9-81ED-4DB2-BD59-A6C34878D82A}">
                    <a16:rowId xmlns:a16="http://schemas.microsoft.com/office/drawing/2014/main" val="552035653"/>
                  </a:ext>
                </a:extLst>
              </a:tr>
              <a:tr h="435759">
                <a:tc vMerge="1">
                  <a:txBody>
                    <a:bodyPr/>
                    <a:lstStyle/>
                    <a:p>
                      <a:pPr algn="l" fontAlgn="ctr"/>
                      <a:r>
                        <a:rPr lang="zh-CN" altLang="en-US" sz="1000" b="0" i="0" u="none" strike="noStrike" dirty="0">
                          <a:solidFill>
                            <a:srgbClr val="181818"/>
                          </a:solidFill>
                          <a:effectLst/>
                          <a:latin typeface="宋体" panose="02010600030101010101" pitchFamily="2" charset="-122"/>
                          <a:ea typeface="宋体" panose="02010600030101010101" pitchFamily="2" charset="-122"/>
                        </a:rPr>
                        <a:t>店内看车</a:t>
                      </a:r>
                    </a:p>
                  </a:txBody>
                  <a:tcPr marL="6350" marR="6350" marT="6350" marB="0" anchor="ctr"/>
                </a:tc>
                <a:tc>
                  <a:txBody>
                    <a:bodyPr/>
                    <a:lstStyle/>
                    <a:p>
                      <a:pPr algn="l" fontAlgn="ctr"/>
                      <a:r>
                        <a:rPr lang="zh-CN" altLang="en-US" sz="1000" b="0" i="0" u="none" strike="noStrike" dirty="0">
                          <a:solidFill>
                            <a:srgbClr val="181818"/>
                          </a:solidFill>
                          <a:effectLst/>
                          <a:latin typeface="+mn-ea"/>
                          <a:ea typeface="+mn-ea"/>
                        </a:rPr>
                        <a:t>门店静态演示和体验表现</a:t>
                      </a: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000000"/>
                          </a:solidFill>
                          <a:effectLst/>
                          <a:uLnTx/>
                          <a:uFillTx/>
                          <a:latin typeface="+mn-ea"/>
                          <a:ea typeface="+mn-ea"/>
                          <a:cs typeface="+mn-cs"/>
                        </a:rPr>
                        <a:t>√</a:t>
                      </a:r>
                      <a:endParaRPr kumimoji="0" lang="zh-CN" altLang="en-US" sz="1200" b="0" i="0" u="none" strike="noStrike" kern="1200" cap="none" spc="0" normalizeH="0" baseline="0" noProof="0" dirty="0">
                        <a:ln>
                          <a:noFill/>
                        </a:ln>
                        <a:solidFill>
                          <a:srgbClr val="000000"/>
                        </a:solidFill>
                        <a:effectLst/>
                        <a:uLnTx/>
                        <a:uFillTx/>
                        <a:latin typeface="+mn-ea"/>
                        <a:ea typeface="+mn-ea"/>
                        <a:cs typeface="+mn-cs"/>
                      </a:endParaRP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marL="0" algn="l" defTabSz="914400" rtl="0" eaLnBrk="1" fontAlgn="ctr" latinLnBrk="0" hangingPunct="1"/>
                      <a:r>
                        <a:rPr lang="zh-CN" altLang="en-US" sz="1000" b="0" i="0" u="none" strike="noStrike" kern="100" dirty="0">
                          <a:solidFill>
                            <a:schemeClr val="tx1"/>
                          </a:solidFill>
                          <a:effectLst/>
                          <a:latin typeface="+mn-ea"/>
                          <a:ea typeface="+mn-ea"/>
                          <a:cs typeface="Times New Roman" panose="02020603050405020304" pitchFamily="18" charset="0"/>
                        </a:rPr>
                        <a:t>减少用户流失</a:t>
                      </a:r>
                      <a:endParaRPr lang="zh-CN" altLang="en-US" sz="1000" kern="100" dirty="0">
                        <a:solidFill>
                          <a:schemeClr val="tx1"/>
                        </a:solidFill>
                        <a:latin typeface="+mn-ea"/>
                        <a:ea typeface="+mn-ea"/>
                        <a:cs typeface="Times New Roman" panose="02020603050405020304" pitchFamily="18" charset="0"/>
                      </a:endParaRPr>
                    </a:p>
                  </a:txBody>
                  <a:tcPr marL="45720" marR="45720" anchor="ctr">
                    <a:solidFill>
                      <a:schemeClr val="accent6">
                        <a:lumMod val="20000"/>
                        <a:lumOff val="80000"/>
                      </a:schemeClr>
                    </a:solidFill>
                  </a:tcPr>
                </a:tc>
                <a:extLst>
                  <a:ext uri="{0D108BD9-81ED-4DB2-BD59-A6C34878D82A}">
                    <a16:rowId xmlns:a16="http://schemas.microsoft.com/office/drawing/2014/main" val="151566211"/>
                  </a:ext>
                </a:extLst>
              </a:tr>
              <a:tr h="435759">
                <a:tc vMerge="1">
                  <a:txBody>
                    <a:bodyPr/>
                    <a:lstStyle/>
                    <a:p>
                      <a:pPr algn="l" fontAlgn="ctr"/>
                      <a:r>
                        <a:rPr lang="zh-CN" altLang="en-US" sz="1000" b="0" i="0" u="none" strike="noStrike" dirty="0">
                          <a:solidFill>
                            <a:srgbClr val="181818"/>
                          </a:solidFill>
                          <a:effectLst/>
                          <a:latin typeface="宋体" panose="02010600030101010101" pitchFamily="2" charset="-122"/>
                          <a:ea typeface="宋体" panose="02010600030101010101" pitchFamily="2" charset="-122"/>
                        </a:rPr>
                        <a:t>店内看车</a:t>
                      </a:r>
                    </a:p>
                  </a:txBody>
                  <a:tcPr marL="6350" marR="6350" marT="6350" marB="0" anchor="ctr"/>
                </a:tc>
                <a:tc>
                  <a:txBody>
                    <a:bodyPr/>
                    <a:lstStyle/>
                    <a:p>
                      <a:pPr algn="l" fontAlgn="ctr"/>
                      <a:r>
                        <a:rPr lang="zh-CN" altLang="en-US" sz="1000" b="0" i="0" u="none" strike="noStrike" dirty="0">
                          <a:solidFill>
                            <a:srgbClr val="181818"/>
                          </a:solidFill>
                          <a:effectLst/>
                          <a:latin typeface="+mn-ea"/>
                          <a:ea typeface="+mn-ea"/>
                        </a:rPr>
                        <a:t>店内设计风格</a:t>
                      </a: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mn-ea"/>
                          <a:ea typeface="+mn-ea"/>
                          <a:cs typeface="+mn-cs"/>
                        </a:rPr>
                        <a:t>√</a:t>
                      </a: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marL="0" algn="l" defTabSz="914400" rtl="0" eaLnBrk="1" fontAlgn="ctr" latinLnBrk="0" hangingPunct="1"/>
                      <a:r>
                        <a:rPr lang="zh-CN" altLang="en-US" sz="1000" b="0" i="0" u="none" strike="noStrike" kern="100" dirty="0">
                          <a:solidFill>
                            <a:schemeClr val="tx1"/>
                          </a:solidFill>
                          <a:effectLst/>
                          <a:latin typeface="+mn-ea"/>
                          <a:ea typeface="+mn-ea"/>
                          <a:cs typeface="Times New Roman" panose="02020603050405020304" pitchFamily="18" charset="0"/>
                        </a:rPr>
                        <a:t>减少用户流失</a:t>
                      </a:r>
                      <a:endParaRPr lang="zh-CN" altLang="en-US" sz="1000" kern="100" dirty="0">
                        <a:solidFill>
                          <a:schemeClr val="tx1"/>
                        </a:solidFill>
                        <a:latin typeface="+mn-ea"/>
                        <a:ea typeface="+mn-ea"/>
                        <a:cs typeface="Times New Roman" panose="02020603050405020304" pitchFamily="18" charset="0"/>
                      </a:endParaRPr>
                    </a:p>
                  </a:txBody>
                  <a:tcPr marL="45720" marR="45720" anchor="ctr">
                    <a:solidFill>
                      <a:schemeClr val="accent6">
                        <a:lumMod val="20000"/>
                        <a:lumOff val="80000"/>
                      </a:schemeClr>
                    </a:solidFill>
                  </a:tcPr>
                </a:tc>
                <a:extLst>
                  <a:ext uri="{0D108BD9-81ED-4DB2-BD59-A6C34878D82A}">
                    <a16:rowId xmlns:a16="http://schemas.microsoft.com/office/drawing/2014/main" val="2757629026"/>
                  </a:ext>
                </a:extLst>
              </a:tr>
              <a:tr h="435759">
                <a:tc>
                  <a:txBody>
                    <a:bodyPr/>
                    <a:lstStyle/>
                    <a:p>
                      <a:pPr algn="ctr" fontAlgn="ctr"/>
                      <a:r>
                        <a:rPr lang="zh-CN" altLang="en-US" sz="1000" b="0" i="0" u="none" strike="noStrike" dirty="0">
                          <a:solidFill>
                            <a:srgbClr val="000000"/>
                          </a:solidFill>
                          <a:effectLst/>
                          <a:latin typeface="+mn-ea"/>
                          <a:ea typeface="+mn-ea"/>
                        </a:rPr>
                        <a:t>洽谈下定</a:t>
                      </a:r>
                    </a:p>
                  </a:txBody>
                  <a:tcPr marL="45720" marR="45720" anchor="ctr">
                    <a:solidFill>
                      <a:schemeClr val="accent6">
                        <a:lumMod val="20000"/>
                        <a:lumOff val="80000"/>
                      </a:schemeClr>
                    </a:solidFill>
                  </a:tcPr>
                </a:tc>
                <a:tc>
                  <a:txBody>
                    <a:bodyPr/>
                    <a:lstStyle/>
                    <a:p>
                      <a:pPr algn="l" fontAlgn="ctr"/>
                      <a:r>
                        <a:rPr lang="zh-CN" altLang="en-US" sz="1000" b="0" i="0" u="none" strike="noStrike">
                          <a:solidFill>
                            <a:srgbClr val="000000"/>
                          </a:solidFill>
                          <a:effectLst/>
                          <a:latin typeface="+mn-ea"/>
                          <a:ea typeface="+mn-ea"/>
                        </a:rPr>
                        <a:t>销售顾问对车主权益和服务的介绍清晰程度</a:t>
                      </a:r>
                    </a:p>
                  </a:txBody>
                  <a:tcPr marL="45720" marR="4572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200" b="0" i="0" u="none" strike="noStrike" dirty="0">
                          <a:solidFill>
                            <a:srgbClr val="000000"/>
                          </a:solidFill>
                          <a:effectLst/>
                          <a:latin typeface="+mn-ea"/>
                          <a:ea typeface="+mn-ea"/>
                        </a:rPr>
                        <a:t>√</a:t>
                      </a: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algn="l" fontAlgn="ctr"/>
                      <a:r>
                        <a:rPr lang="zh-CN" altLang="en-US" sz="1000" b="0" i="0" u="none" strike="noStrike" kern="100" dirty="0">
                          <a:solidFill>
                            <a:schemeClr val="tx1"/>
                          </a:solidFill>
                          <a:effectLst/>
                          <a:latin typeface="+mn-ea"/>
                          <a:ea typeface="+mn-ea"/>
                          <a:cs typeface="Times New Roman" panose="02020603050405020304" pitchFamily="18" charset="0"/>
                        </a:rPr>
                        <a:t>提升本品车主满意度</a:t>
                      </a:r>
                      <a:endParaRPr lang="zh-CN" altLang="en-US" sz="10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extLst>
                  <a:ext uri="{0D108BD9-81ED-4DB2-BD59-A6C34878D82A}">
                    <a16:rowId xmlns:a16="http://schemas.microsoft.com/office/drawing/2014/main" val="673498978"/>
                  </a:ext>
                </a:extLst>
              </a:tr>
              <a:tr h="435759">
                <a:tc>
                  <a:txBody>
                    <a:bodyPr/>
                    <a:lstStyle/>
                    <a:p>
                      <a:pPr algn="ctr" fontAlgn="ctr"/>
                      <a:r>
                        <a:rPr lang="zh-CN" altLang="en-US" sz="1000" b="0" i="0" u="none" strike="noStrike" dirty="0">
                          <a:solidFill>
                            <a:srgbClr val="000000"/>
                          </a:solidFill>
                          <a:effectLst/>
                          <a:latin typeface="+mn-ea"/>
                          <a:ea typeface="+mn-ea"/>
                        </a:rPr>
                        <a:t>试乘试驾</a:t>
                      </a:r>
                    </a:p>
                  </a:txBody>
                  <a:tcPr marL="45720" marR="45720" anchor="ctr">
                    <a:solidFill>
                      <a:schemeClr val="accent6">
                        <a:lumMod val="20000"/>
                        <a:lumOff val="80000"/>
                      </a:schemeClr>
                    </a:solidFill>
                  </a:tcPr>
                </a:tc>
                <a:tc>
                  <a:txBody>
                    <a:bodyPr/>
                    <a:lstStyle/>
                    <a:p>
                      <a:pPr algn="l" fontAlgn="ctr"/>
                      <a:r>
                        <a:rPr lang="zh-CN" altLang="en-US" sz="1000" b="0" i="0" u="none" strike="noStrike" dirty="0">
                          <a:solidFill>
                            <a:srgbClr val="181818"/>
                          </a:solidFill>
                          <a:effectLst/>
                          <a:latin typeface="+mn-ea"/>
                          <a:ea typeface="+mn-ea"/>
                        </a:rPr>
                        <a:t>试驾结束后的持续服务</a:t>
                      </a: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solidFill>
                      <a:schemeClr val="accent6">
                        <a:lumMod val="20000"/>
                        <a:lumOff val="80000"/>
                      </a:schemeClr>
                    </a:solidFill>
                  </a:tcPr>
                </a:tc>
                <a:tc>
                  <a:txBody>
                    <a:bodyPr/>
                    <a:lstStyle/>
                    <a:p>
                      <a:pPr algn="l" fontAlgn="ctr"/>
                      <a:r>
                        <a:rPr lang="zh-CN" altLang="en-US" sz="1000" b="0" i="0" u="none" strike="noStrike" dirty="0">
                          <a:solidFill>
                            <a:srgbClr val="000000"/>
                          </a:solidFill>
                          <a:effectLst/>
                          <a:latin typeface="+mn-ea"/>
                          <a:ea typeface="+mn-ea"/>
                        </a:rPr>
                        <a:t>吸引潜在用户</a:t>
                      </a:r>
                    </a:p>
                  </a:txBody>
                  <a:tcPr marL="45720" marR="45720" anchor="ctr">
                    <a:solidFill>
                      <a:schemeClr val="accent6">
                        <a:lumMod val="20000"/>
                        <a:lumOff val="80000"/>
                      </a:schemeClr>
                    </a:solidFill>
                  </a:tcPr>
                </a:tc>
                <a:extLst>
                  <a:ext uri="{0D108BD9-81ED-4DB2-BD59-A6C34878D82A}">
                    <a16:rowId xmlns:a16="http://schemas.microsoft.com/office/drawing/2014/main" val="3270329998"/>
                  </a:ext>
                </a:extLst>
              </a:tr>
              <a:tr h="435759">
                <a:tc>
                  <a:txBody>
                    <a:bodyPr/>
                    <a:lstStyle/>
                    <a:p>
                      <a:pPr algn="ctr" fontAlgn="ctr"/>
                      <a:r>
                        <a:rPr lang="zh-CN" altLang="en-US" sz="1000" b="0" i="0" u="none" strike="noStrike" dirty="0">
                          <a:solidFill>
                            <a:srgbClr val="000000"/>
                          </a:solidFill>
                          <a:effectLst/>
                          <a:latin typeface="+mn-ea"/>
                          <a:ea typeface="+mn-ea"/>
                        </a:rPr>
                        <a:t>送别与回访</a:t>
                      </a:r>
                    </a:p>
                  </a:txBody>
                  <a:tcPr marL="45720" marR="45720" anchor="ctr">
                    <a:solidFill>
                      <a:schemeClr val="accent6">
                        <a:lumMod val="20000"/>
                        <a:lumOff val="80000"/>
                      </a:schemeClr>
                    </a:solidFill>
                  </a:tcPr>
                </a:tc>
                <a:tc>
                  <a:txBody>
                    <a:bodyPr/>
                    <a:lstStyle/>
                    <a:p>
                      <a:pPr algn="l" fontAlgn="ctr"/>
                      <a:r>
                        <a:rPr lang="zh-CN" altLang="en-US" sz="1000" b="0" i="0" u="none" strike="noStrike" dirty="0">
                          <a:solidFill>
                            <a:srgbClr val="000000"/>
                          </a:solidFill>
                          <a:effectLst/>
                          <a:latin typeface="+mn-ea"/>
                          <a:ea typeface="+mn-ea"/>
                        </a:rPr>
                        <a:t>离店后的回访表现</a:t>
                      </a:r>
                    </a:p>
                  </a:txBody>
                  <a:tcPr marL="45720" marR="4572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000000"/>
                          </a:solidFill>
                          <a:effectLst/>
                          <a:uLnTx/>
                          <a:uFillTx/>
                          <a:latin typeface="+mn-ea"/>
                          <a:ea typeface="+mn-ea"/>
                          <a:cs typeface="+mn-cs"/>
                        </a:rPr>
                        <a:t>√</a:t>
                      </a:r>
                      <a:endParaRPr kumimoji="0" lang="zh-CN" altLang="en-US" sz="1200" b="0" i="0" u="none" strike="noStrike" kern="1200" cap="none" spc="0" normalizeH="0" baseline="0" noProof="0" dirty="0">
                        <a:ln>
                          <a:noFill/>
                        </a:ln>
                        <a:solidFill>
                          <a:srgbClr val="000000"/>
                        </a:solidFill>
                        <a:effectLst/>
                        <a:uLnTx/>
                        <a:uFillTx/>
                        <a:latin typeface="+mn-ea"/>
                        <a:ea typeface="+mn-ea"/>
                        <a:cs typeface="+mn-cs"/>
                      </a:endParaRPr>
                    </a:p>
                  </a:txBody>
                  <a:tcPr marL="45720" marR="4572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mn-ea"/>
                          <a:ea typeface="+mn-ea"/>
                          <a:cs typeface="+mn-cs"/>
                        </a:rPr>
                        <a:t>√</a:t>
                      </a:r>
                    </a:p>
                  </a:txBody>
                  <a:tcPr marL="45720" marR="45720" anchor="ctr">
                    <a:solidFill>
                      <a:schemeClr val="accent6">
                        <a:lumMod val="20000"/>
                        <a:lumOff val="80000"/>
                      </a:schemeClr>
                    </a:solidFill>
                  </a:tcP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tc>
                  <a:txBody>
                    <a:bodyPr/>
                    <a:lstStyle/>
                    <a:p>
                      <a:pPr algn="l" fontAlgn="ctr"/>
                      <a:r>
                        <a:rPr lang="zh-CN" altLang="en-US" sz="1000" b="0" i="0" u="none" strike="noStrike" kern="100" dirty="0">
                          <a:solidFill>
                            <a:schemeClr val="tx1"/>
                          </a:solidFill>
                          <a:effectLst/>
                          <a:latin typeface="+mn-ea"/>
                          <a:ea typeface="+mn-ea"/>
                          <a:cs typeface="Times New Roman" panose="02020603050405020304" pitchFamily="18" charset="0"/>
                        </a:rPr>
                        <a:t>提升本品车主满意度，减少用户流失</a:t>
                      </a:r>
                      <a:endParaRPr lang="zh-CN" altLang="en-US" sz="1000" b="0" i="0" u="none" strike="noStrike" dirty="0">
                        <a:solidFill>
                          <a:srgbClr val="000000"/>
                        </a:solidFill>
                        <a:effectLst/>
                        <a:latin typeface="+mn-ea"/>
                        <a:ea typeface="+mn-ea"/>
                      </a:endParaRPr>
                    </a:p>
                  </a:txBody>
                  <a:tcPr marL="45720" marR="45720" anchor="ctr">
                    <a:solidFill>
                      <a:schemeClr val="accent6">
                        <a:lumMod val="20000"/>
                        <a:lumOff val="80000"/>
                      </a:schemeClr>
                    </a:solidFill>
                  </a:tcPr>
                </a:tc>
                <a:extLst>
                  <a:ext uri="{0D108BD9-81ED-4DB2-BD59-A6C34878D82A}">
                    <a16:rowId xmlns:a16="http://schemas.microsoft.com/office/drawing/2014/main" val="3902312219"/>
                  </a:ext>
                </a:extLst>
              </a:tr>
            </a:tbl>
          </a:graphicData>
        </a:graphic>
      </p:graphicFrame>
      <p:sp>
        <p:nvSpPr>
          <p:cNvPr id="3" name="文本占位符 7">
            <a:extLst>
              <a:ext uri="{FF2B5EF4-FFF2-40B4-BE49-F238E27FC236}">
                <a16:creationId xmlns:a16="http://schemas.microsoft.com/office/drawing/2014/main" id="{7FC2DEB3-97D5-34D4-C214-68A333E512EA}"/>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algn="just">
              <a:spcBef>
                <a:spcPts val="0"/>
              </a:spcBef>
              <a:spcAft>
                <a:spcPts val="600"/>
              </a:spcAft>
            </a:pPr>
            <a:r>
              <a:rPr lang="zh-CN" altLang="en-US" kern="100" dirty="0">
                <a:solidFill>
                  <a:schemeClr val="accent2"/>
                </a:solidFill>
                <a:latin typeface="+mn-ea"/>
                <a:ea typeface="+mn-ea"/>
                <a:cs typeface="Times New Roman" panose="02020603050405020304" pitchFamily="18" charset="0"/>
              </a:rPr>
              <a:t>其中销售部分，结合车主自评、车主战胜战败、犹豫用户三大角度共定义出</a:t>
            </a:r>
            <a:r>
              <a:rPr lang="en-US" altLang="zh-CN" kern="100" dirty="0">
                <a:solidFill>
                  <a:schemeClr val="accent2"/>
                </a:solidFill>
                <a:latin typeface="+mn-ea"/>
                <a:ea typeface="+mn-ea"/>
                <a:cs typeface="Times New Roman" panose="02020603050405020304" pitchFamily="18" charset="0"/>
              </a:rPr>
              <a:t>10</a:t>
            </a:r>
            <a:r>
              <a:rPr lang="zh-CN" altLang="en-US" kern="100" dirty="0">
                <a:solidFill>
                  <a:schemeClr val="accent2"/>
                </a:solidFill>
                <a:latin typeface="+mn-ea"/>
                <a:ea typeface="+mn-ea"/>
                <a:cs typeface="Times New Roman" panose="02020603050405020304" pitchFamily="18" charset="0"/>
              </a:rPr>
              <a:t>个弱项</a:t>
            </a:r>
            <a:endParaRPr lang="en-US" altLang="zh-CN" kern="100" dirty="0">
              <a:solidFill>
                <a:schemeClr val="accent2"/>
              </a:solidFill>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116902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 name="表格 47"/>
          <p:cNvGraphicFramePr>
            <a:graphicFrameLocks noGrp="1"/>
          </p:cNvGraphicFramePr>
          <p:nvPr>
            <p:extLst>
              <p:ext uri="{D42A27DB-BD31-4B8C-83A1-F6EECF244321}">
                <p14:modId xmlns:p14="http://schemas.microsoft.com/office/powerpoint/2010/main" val="1578998882"/>
              </p:ext>
            </p:extLst>
          </p:nvPr>
        </p:nvGraphicFramePr>
        <p:xfrm>
          <a:off x="263525" y="1968131"/>
          <a:ext cx="9082493" cy="4305666"/>
        </p:xfrm>
        <a:graphic>
          <a:graphicData uri="http://schemas.openxmlformats.org/drawingml/2006/table">
            <a:tbl>
              <a:tblPr>
                <a:tableStyleId>{5C22544A-7EE6-4342-B048-85BDC9FD1C3A}</a:tableStyleId>
              </a:tblPr>
              <a:tblGrid>
                <a:gridCol w="406417">
                  <a:extLst>
                    <a:ext uri="{9D8B030D-6E8A-4147-A177-3AD203B41FA5}">
                      <a16:colId xmlns:a16="http://schemas.microsoft.com/office/drawing/2014/main" val="20000"/>
                    </a:ext>
                  </a:extLst>
                </a:gridCol>
                <a:gridCol w="752085">
                  <a:extLst>
                    <a:ext uri="{9D8B030D-6E8A-4147-A177-3AD203B41FA5}">
                      <a16:colId xmlns:a16="http://schemas.microsoft.com/office/drawing/2014/main" val="20001"/>
                    </a:ext>
                  </a:extLst>
                </a:gridCol>
                <a:gridCol w="3566961">
                  <a:extLst>
                    <a:ext uri="{9D8B030D-6E8A-4147-A177-3AD203B41FA5}">
                      <a16:colId xmlns:a16="http://schemas.microsoft.com/office/drawing/2014/main" val="20002"/>
                    </a:ext>
                  </a:extLst>
                </a:gridCol>
                <a:gridCol w="871406">
                  <a:extLst>
                    <a:ext uri="{9D8B030D-6E8A-4147-A177-3AD203B41FA5}">
                      <a16:colId xmlns:a16="http://schemas.microsoft.com/office/drawing/2014/main" val="20003"/>
                    </a:ext>
                  </a:extLst>
                </a:gridCol>
                <a:gridCol w="871406">
                  <a:extLst>
                    <a:ext uri="{9D8B030D-6E8A-4147-A177-3AD203B41FA5}">
                      <a16:colId xmlns:a16="http://schemas.microsoft.com/office/drawing/2014/main" val="20004"/>
                    </a:ext>
                  </a:extLst>
                </a:gridCol>
                <a:gridCol w="871406">
                  <a:extLst>
                    <a:ext uri="{9D8B030D-6E8A-4147-A177-3AD203B41FA5}">
                      <a16:colId xmlns:a16="http://schemas.microsoft.com/office/drawing/2014/main" val="20005"/>
                    </a:ext>
                  </a:extLst>
                </a:gridCol>
                <a:gridCol w="871406">
                  <a:extLst>
                    <a:ext uri="{9D8B030D-6E8A-4147-A177-3AD203B41FA5}">
                      <a16:colId xmlns:a16="http://schemas.microsoft.com/office/drawing/2014/main" val="20006"/>
                    </a:ext>
                  </a:extLst>
                </a:gridCol>
                <a:gridCol w="871406">
                  <a:extLst>
                    <a:ext uri="{9D8B030D-6E8A-4147-A177-3AD203B41FA5}">
                      <a16:colId xmlns:a16="http://schemas.microsoft.com/office/drawing/2014/main" val="20007"/>
                    </a:ext>
                  </a:extLst>
                </a:gridCol>
              </a:tblGrid>
              <a:tr h="387498">
                <a:tc gridSpan="3">
                  <a:txBody>
                    <a:bodyPr/>
                    <a:lstStyle/>
                    <a:p>
                      <a:pPr algn="ctr" fontAlgn="ctr"/>
                      <a:r>
                        <a:rPr lang="zh-CN" altLang="en-US" sz="1000" b="1" u="none" strike="noStrike" dirty="0">
                          <a:solidFill>
                            <a:schemeClr val="bg1"/>
                          </a:solidFill>
                          <a:effectLst/>
                          <a:latin typeface="微软雅黑" panose="020B0503020204020204" pitchFamily="34" charset="-122"/>
                          <a:ea typeface="Alibaba PuHuiTi 2.0 55 Regular"/>
                        </a:rPr>
                        <a:t>要素</a:t>
                      </a:r>
                      <a:endParaRPr lang="zh-CN" altLang="en-US" sz="1000" b="1" i="0" u="none" strike="noStrike" dirty="0">
                        <a:solidFill>
                          <a:schemeClr val="bg1"/>
                        </a:solidFill>
                        <a:effectLst/>
                        <a:latin typeface="微软雅黑" panose="020B0503020204020204" pitchFamily="34" charset="-122"/>
                        <a:ea typeface="Alibaba PuHuiTi 2.0 55 Regular"/>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endParaRPr lang="zh-CN"/>
                    </a:p>
                  </a:txBody>
                  <a:tcPr/>
                </a:tc>
                <a:tc hMerge="1">
                  <a:txBody>
                    <a:bodyPr/>
                    <a:lstStyle/>
                    <a:p>
                      <a:endParaRPr lang="zh-CN"/>
                    </a:p>
                  </a:txBody>
                  <a:tcPr marL="3700" marR="3700" marT="3700" marB="0" anchor="ctr"/>
                </a:tc>
                <a:tc>
                  <a:txBody>
                    <a:bodyPr/>
                    <a:lstStyle/>
                    <a:p>
                      <a:pPr algn="ctr" fontAlgn="ctr"/>
                      <a:r>
                        <a:rPr lang="zh-CN" altLang="en-US" sz="1000" b="1" u="none" strike="noStrike" dirty="0">
                          <a:solidFill>
                            <a:schemeClr val="bg1"/>
                          </a:solidFill>
                          <a:effectLst/>
                          <a:latin typeface="微软雅黑" panose="020B0503020204020204" pitchFamily="34" charset="-122"/>
                          <a:ea typeface="Alibaba PuHuiTi 2.0 55 Regular"/>
                        </a:rPr>
                        <a:t>与本品总体得差值分</a:t>
                      </a:r>
                      <a:endParaRPr lang="zh-CN" altLang="en-US" sz="1000" b="1" i="0" u="none" strike="noStrike" dirty="0">
                        <a:solidFill>
                          <a:schemeClr val="bg1"/>
                        </a:solidFill>
                        <a:effectLst/>
                        <a:latin typeface="微软雅黑" panose="020B0503020204020204" pitchFamily="34" charset="-122"/>
                        <a:ea typeface="Alibaba PuHuiTi 2.0 55 Regular"/>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ctr"/>
                      <a:r>
                        <a:rPr lang="zh-CN" altLang="en-US" sz="1000" b="1" u="none" strike="noStrike" kern="1200" dirty="0">
                          <a:solidFill>
                            <a:schemeClr val="bg1"/>
                          </a:solidFill>
                          <a:effectLst/>
                          <a:latin typeface="微软雅黑" panose="020B0503020204020204" pitchFamily="34" charset="-122"/>
                          <a:ea typeface="Alibaba PuHuiTi 2.0 55 Regular"/>
                          <a:cs typeface="+mn-cs"/>
                        </a:rPr>
                        <a:t>与问界差值</a:t>
                      </a: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ctr"/>
                      <a:r>
                        <a:rPr lang="zh-CN" altLang="en-US" sz="1000" b="1" u="none" strike="noStrike" kern="1200" dirty="0">
                          <a:solidFill>
                            <a:schemeClr val="bg1"/>
                          </a:solidFill>
                          <a:effectLst/>
                          <a:latin typeface="微软雅黑" panose="020B0503020204020204" pitchFamily="34" charset="-122"/>
                          <a:ea typeface="Alibaba PuHuiTi 2.0 55 Regular"/>
                          <a:cs typeface="+mn-cs"/>
                        </a:rPr>
                        <a:t>权重</a:t>
                      </a: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l" fontAlgn="ctr"/>
                      <a:r>
                        <a:rPr lang="zh-CN" altLang="en-US" sz="1000" b="1" u="none" strike="noStrike" kern="1200" dirty="0">
                          <a:solidFill>
                            <a:schemeClr val="bg1"/>
                          </a:solidFill>
                          <a:effectLst/>
                          <a:latin typeface="微软雅黑" panose="020B0503020204020204" pitchFamily="34" charset="-122"/>
                          <a:ea typeface="Alibaba PuHuiTi 2.0 55 Regular"/>
                          <a:cs typeface="+mn-cs"/>
                        </a:rPr>
                        <a:t>      分值追赶</a:t>
                      </a: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ctr"/>
                      <a:r>
                        <a:rPr lang="zh-CN" altLang="en-US" sz="1000" b="1" u="none" strike="noStrike" kern="1200" dirty="0">
                          <a:solidFill>
                            <a:schemeClr val="bg1"/>
                          </a:solidFill>
                          <a:effectLst/>
                          <a:latin typeface="微软雅黑" panose="020B0503020204020204" pitchFamily="34" charset="-122"/>
                          <a:ea typeface="Alibaba PuHuiTi 2.0 55 Regular"/>
                          <a:cs typeface="+mn-cs"/>
                        </a:rPr>
                        <a:t>弱项定位结果</a:t>
                      </a: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0"/>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A3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入店前沟通</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服务人员的咨询服务质量</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0.25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0.72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3.4%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2.45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1"/>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D4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服务等待</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客休区环境的舒适度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0.60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0.81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2.24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2"/>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D1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服务等待</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客休区提供打发时间的设施设备的丰富度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0.88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0.62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2.09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3"/>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G3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用户维系</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售后促销活动的丰富度</a:t>
                      </a:r>
                      <a:r>
                        <a:rPr lang="en-US" altLang="zh-CN" sz="900" b="0" i="0" u="none" strike="noStrike" dirty="0">
                          <a:solidFill>
                            <a:schemeClr val="tx1"/>
                          </a:solidFill>
                          <a:effectLst/>
                          <a:latin typeface="微软雅黑" panose="020B0503020204020204" pitchFamily="34" charset="-122"/>
                          <a:ea typeface="Alibaba PuHuiTi 2.0 55 Regular"/>
                        </a:rPr>
                        <a:t>/</a:t>
                      </a:r>
                      <a:r>
                        <a:rPr lang="zh-CN" altLang="en-US" sz="900" b="0" i="0" u="none" strike="noStrike" dirty="0">
                          <a:solidFill>
                            <a:schemeClr val="tx1"/>
                          </a:solidFill>
                          <a:effectLst/>
                          <a:latin typeface="微软雅黑" panose="020B0503020204020204" pitchFamily="34" charset="-122"/>
                          <a:ea typeface="Alibaba PuHuiTi 2.0 55 Regular"/>
                        </a:rPr>
                        <a:t>吸引力</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0.90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0.71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1.80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4"/>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D3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服务等待</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客休区服务人员评价</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0.40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0.62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1.63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5"/>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G1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用户维系</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交车后维保中心服务人员对您使用车辆的致电关怀与日常关怀</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0.46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0.50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3.0%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1.50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6"/>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E8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交车结算</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总体保养</a:t>
                      </a:r>
                      <a:r>
                        <a:rPr lang="en-US" altLang="zh-CN" sz="900" b="0" i="0" u="none" strike="noStrike" dirty="0">
                          <a:solidFill>
                            <a:schemeClr val="tx1"/>
                          </a:solidFill>
                          <a:effectLst/>
                          <a:latin typeface="微软雅黑" panose="020B0503020204020204" pitchFamily="34" charset="-122"/>
                          <a:ea typeface="Alibaba PuHuiTi 2.0 55 Regular"/>
                        </a:rPr>
                        <a:t>/</a:t>
                      </a:r>
                      <a:r>
                        <a:rPr lang="zh-CN" altLang="en-US" sz="900" b="0" i="0" u="none" strike="noStrike" dirty="0">
                          <a:solidFill>
                            <a:schemeClr val="tx1"/>
                          </a:solidFill>
                          <a:effectLst/>
                          <a:latin typeface="微软雅黑" panose="020B0503020204020204" pitchFamily="34" charset="-122"/>
                          <a:ea typeface="Alibaba PuHuiTi 2.0 55 Regular"/>
                        </a:rPr>
                        <a:t>维修时长</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0.08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0.47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3.1%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1.46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7"/>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G5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用户维系</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专属群对车辆问题</a:t>
                      </a:r>
                      <a:r>
                        <a:rPr lang="en-US" altLang="zh-CN" sz="900" b="0" i="0" u="none" strike="noStrike" dirty="0">
                          <a:solidFill>
                            <a:schemeClr val="tx1"/>
                          </a:solidFill>
                          <a:effectLst/>
                          <a:latin typeface="微软雅黑" panose="020B0503020204020204" pitchFamily="34" charset="-122"/>
                          <a:ea typeface="Alibaba PuHuiTi 2.0 55 Regular"/>
                        </a:rPr>
                        <a:t>/</a:t>
                      </a:r>
                      <a:r>
                        <a:rPr lang="zh-CN" altLang="en-US" sz="900" b="0" i="0" u="none" strike="noStrike" dirty="0">
                          <a:solidFill>
                            <a:schemeClr val="tx1"/>
                          </a:solidFill>
                          <a:effectLst/>
                          <a:latin typeface="微软雅黑" panose="020B0503020204020204" pitchFamily="34" charset="-122"/>
                          <a:ea typeface="Alibaba PuHuiTi 2.0 55 Regular"/>
                        </a:rPr>
                        <a:t>疑问解决的评价</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0.30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0.68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1.35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8"/>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E6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交车结算</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工具数字化程度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0.38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0.50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1.34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9"/>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E7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交车结算</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售后硬件设施总体满意度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0.04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0.43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3.1%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1.32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0"/>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D2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服务等待</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维保中心现场提供的餐饮服务</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0.53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-0.22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1.7%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0.89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1"/>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E9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交车结算</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售后项目的完工质量</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-0.17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0.24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3.5%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0.85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2"/>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D6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服务等待</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车间人员作业规范性</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-0.19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0.25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3.1%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0.78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3"/>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E12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交车结算</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服务工作人员工作纪律性</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-0.30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0.27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0.77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4"/>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G4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用户维系</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服务人员解决您日常用车疑问的表现</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0.24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0.31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0.75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5"/>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D5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服务等待</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及时告知维修保养进度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0.25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0.26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0.71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6"/>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E13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交车结算</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送别服务体验</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-0.07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0.17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3.3%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0.57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7"/>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E1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交车结算</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交车时间满意度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-0.30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0.23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0.51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8"/>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B1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到店接待</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到店时停车体验</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-0.08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0.22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0.50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19"/>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C3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接车问诊</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检查过程和结果讲解清晰度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-0.24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0.17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0.47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20"/>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E3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交车结算</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交车时店内人员详细解释作业内容和效果的清晰程度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-0.05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0.17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0.47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defRPr/>
                      </a:pPr>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21"/>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E2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交车结算</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车辆清洗干净程度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0.13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0.20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0.42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endParaRPr lang="zh-CN" altLang="en-US"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22"/>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C6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接车问诊</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维修工单确认的及时性和高效性</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-0.19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0.14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2.9%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0.40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endParaRPr lang="zh-CN" altLang="en-US"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23"/>
                  </a:ext>
                </a:extLst>
              </a:tr>
              <a:tr h="163257">
                <a:tc>
                  <a:txBody>
                    <a:bodyPr/>
                    <a:lstStyle/>
                    <a:p>
                      <a:pPr algn="ctr" fontAlgn="ctr"/>
                      <a:r>
                        <a:rPr lang="en-US" sz="900" b="0" i="0" u="none" strike="noStrike" dirty="0">
                          <a:solidFill>
                            <a:schemeClr val="tx1"/>
                          </a:solidFill>
                          <a:effectLst/>
                          <a:latin typeface="微软雅黑" panose="020B0503020204020204" pitchFamily="34" charset="-122"/>
                          <a:ea typeface="Alibaba PuHuiTi 2.0 55 Regular"/>
                        </a:rPr>
                        <a:t>G2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chemeClr val="tx1"/>
                          </a:solidFill>
                          <a:effectLst/>
                          <a:latin typeface="微软雅黑" panose="020B0503020204020204" pitchFamily="34" charset="-122"/>
                          <a:ea typeface="Alibaba PuHuiTi 2.0 55 Regular"/>
                        </a:rPr>
                        <a:t>用户维系</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r" fontAlgn="ctr"/>
                      <a:r>
                        <a:rPr lang="zh-CN" altLang="en-US" sz="900" b="0" i="0" u="none" strike="noStrike" dirty="0">
                          <a:solidFill>
                            <a:schemeClr val="tx1"/>
                          </a:solidFill>
                          <a:effectLst/>
                          <a:latin typeface="微软雅黑" panose="020B0503020204020204" pitchFamily="34" charset="-122"/>
                          <a:ea typeface="Alibaba PuHuiTi 2.0 55 Regular"/>
                        </a:rPr>
                        <a:t>车主活动的丰富度</a:t>
                      </a:r>
                      <a:r>
                        <a:rPr lang="en-US" altLang="zh-CN" sz="900" b="0" i="0" u="none" strike="noStrike" dirty="0">
                          <a:solidFill>
                            <a:schemeClr val="tx1"/>
                          </a:solidFill>
                          <a:effectLst/>
                          <a:latin typeface="微软雅黑" panose="020B0503020204020204" pitchFamily="34" charset="-122"/>
                          <a:ea typeface="Alibaba PuHuiTi 2.0 55 Regular"/>
                        </a:rPr>
                        <a:t>/</a:t>
                      </a:r>
                      <a:r>
                        <a:rPr lang="zh-CN" altLang="en-US" sz="900" b="0" i="0" u="none" strike="noStrike" dirty="0">
                          <a:solidFill>
                            <a:schemeClr val="tx1"/>
                          </a:solidFill>
                          <a:effectLst/>
                          <a:latin typeface="微软雅黑" panose="020B0503020204020204" pitchFamily="34" charset="-122"/>
                          <a:ea typeface="Alibaba PuHuiTi 2.0 55 Regular"/>
                        </a:rPr>
                        <a:t>吸引力</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0.47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0.26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chemeClr val="tx1"/>
                          </a:solidFill>
                          <a:effectLst/>
                          <a:latin typeface="微软雅黑" panose="020B0503020204020204" pitchFamily="34" charset="-122"/>
                          <a:ea typeface="Alibaba PuHuiTi 2.0 55 Regular"/>
                        </a:rPr>
                        <a:t>0.7%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en-US" altLang="zh-CN" sz="900" b="0" i="0" u="none" strike="noStrike" dirty="0">
                          <a:solidFill>
                            <a:srgbClr val="181818"/>
                          </a:solidFill>
                          <a:effectLst/>
                          <a:latin typeface="微软雅黑" panose="020B0503020204020204" pitchFamily="34" charset="-122"/>
                          <a:ea typeface="Alibaba PuHuiTi 2.0 55 Regular"/>
                        </a:rPr>
                        <a:t>0.34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endParaRPr lang="zh-CN" altLang="en-US"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24"/>
                  </a:ext>
                </a:extLst>
              </a:tr>
            </a:tbl>
          </a:graphicData>
        </a:graphic>
      </p:graphicFrame>
      <p:sp>
        <p:nvSpPr>
          <p:cNvPr id="7" name="文本占位符 6"/>
          <p:cNvSpPr>
            <a:spLocks noGrp="1"/>
          </p:cNvSpPr>
          <p:nvPr>
            <p:ph type="body" sz="quarter" idx="21"/>
          </p:nvPr>
        </p:nvSpPr>
        <p:spPr/>
        <p:txBody>
          <a:bodyPr/>
          <a:lstStyle/>
          <a:p>
            <a:r>
              <a:rPr lang="en-US" altLang="zh-CN" sz="2400" dirty="0">
                <a:latin typeface="+mj-ea"/>
                <a:ea typeface="+mj-ea"/>
              </a:rPr>
              <a:t>1.4 </a:t>
            </a:r>
            <a:r>
              <a:rPr lang="zh-CN" altLang="en-US" sz="2400" dirty="0">
                <a:latin typeface="+mj-ea"/>
                <a:ea typeface="+mj-ea"/>
              </a:rPr>
              <a:t>项目主要发现</a:t>
            </a:r>
            <a:r>
              <a:rPr lang="en-US" altLang="zh-CN" sz="2400" dirty="0">
                <a:latin typeface="+mj-ea"/>
                <a:ea typeface="+mj-ea"/>
              </a:rPr>
              <a:t>-C</a:t>
            </a:r>
            <a:r>
              <a:rPr lang="en-US" altLang="zh-CN" dirty="0">
                <a:latin typeface="+mj-ea"/>
                <a:ea typeface="+mj-ea"/>
              </a:rPr>
              <a:t>SI</a:t>
            </a:r>
            <a:r>
              <a:rPr lang="zh-CN" altLang="en-US" sz="2400" dirty="0">
                <a:latin typeface="+mj-ea"/>
                <a:ea typeface="+mj-ea"/>
              </a:rPr>
              <a:t>弱项汇总</a:t>
            </a:r>
            <a:endParaRPr lang="zh-CN" altLang="en-US" dirty="0">
              <a:latin typeface="+mj-ea"/>
              <a:ea typeface="+mj-ea"/>
            </a:endParaRPr>
          </a:p>
        </p:txBody>
      </p:sp>
      <p:sp>
        <p:nvSpPr>
          <p:cNvPr id="5" name="灯片编号占位符 4"/>
          <p:cNvSpPr>
            <a:spLocks noGrp="1"/>
          </p:cNvSpPr>
          <p:nvPr>
            <p:ph type="sldNum" sz="quarter" idx="4"/>
          </p:nvPr>
        </p:nvSpPr>
        <p:spPr/>
        <p:txBody>
          <a:bodyPr/>
          <a:lstStyle/>
          <a:p>
            <a:fld id="{5BC33376-1D8B-E948-ACD6-AA21A3D30A8E}" type="slidenum">
              <a:rPr lang="zh-CN" altLang="en-US" smtClean="0"/>
              <a:t>15</a:t>
            </a:fld>
            <a:endParaRPr lang="zh-CN" altLang="en-US" dirty="0"/>
          </a:p>
        </p:txBody>
      </p:sp>
      <p:sp>
        <p:nvSpPr>
          <p:cNvPr id="28" name="文本框 27"/>
          <p:cNvSpPr txBox="1"/>
          <p:nvPr/>
        </p:nvSpPr>
        <p:spPr>
          <a:xfrm>
            <a:off x="263525" y="1497477"/>
            <a:ext cx="11667879" cy="432000"/>
          </a:xfrm>
          <a:prstGeom prst="rect">
            <a:avLst/>
          </a:prstGeom>
          <a:solidFill>
            <a:srgbClr val="4B8D56"/>
          </a:solidFill>
        </p:spPr>
        <p:txBody>
          <a:bodyPr wrap="square" anchor="ctr" anchorCtr="0">
            <a:noAutofit/>
          </a:bodyPr>
          <a:lstStyle/>
          <a:p>
            <a:pPr algn="ctr"/>
            <a:r>
              <a:rPr lang="zh-CN" altLang="en-US" b="1" dirty="0">
                <a:solidFill>
                  <a:schemeClr val="bg1"/>
                </a:solidFill>
                <a:latin typeface="+mn-ea"/>
              </a:rPr>
              <a:t>某品牌</a:t>
            </a:r>
            <a:r>
              <a:rPr lang="en-US" altLang="zh-CN" b="1" dirty="0">
                <a:solidFill>
                  <a:schemeClr val="bg1"/>
                </a:solidFill>
                <a:latin typeface="+mn-ea"/>
              </a:rPr>
              <a:t>2023</a:t>
            </a:r>
            <a:r>
              <a:rPr lang="zh-CN" altLang="en-US" b="1" dirty="0">
                <a:solidFill>
                  <a:schemeClr val="bg1"/>
                </a:solidFill>
                <a:latin typeface="+mn-ea"/>
              </a:rPr>
              <a:t>年</a:t>
            </a:r>
            <a:r>
              <a:rPr lang="en-US" altLang="zh-CN" b="1" dirty="0">
                <a:solidFill>
                  <a:schemeClr val="bg1"/>
                </a:solidFill>
                <a:latin typeface="+mn-ea"/>
              </a:rPr>
              <a:t>H2</a:t>
            </a:r>
            <a:r>
              <a:rPr lang="zh-CN" altLang="en-US" b="1" dirty="0">
                <a:solidFill>
                  <a:schemeClr val="bg1"/>
                </a:solidFill>
                <a:latin typeface="+mn-ea"/>
              </a:rPr>
              <a:t>改进弱项</a:t>
            </a:r>
          </a:p>
        </p:txBody>
      </p:sp>
      <p:graphicFrame>
        <p:nvGraphicFramePr>
          <p:cNvPr id="31" name="表格 30"/>
          <p:cNvGraphicFramePr>
            <a:graphicFrameLocks noGrp="1"/>
          </p:cNvGraphicFramePr>
          <p:nvPr/>
        </p:nvGraphicFramePr>
        <p:xfrm>
          <a:off x="10617393" y="2668324"/>
          <a:ext cx="1199113" cy="456784"/>
        </p:xfrm>
        <a:graphic>
          <a:graphicData uri="http://schemas.openxmlformats.org/drawingml/2006/table">
            <a:tbl>
              <a:tblPr>
                <a:tableStyleId>{5C22544A-7EE6-4342-B048-85BDC9FD1C3A}</a:tableStyleId>
              </a:tblPr>
              <a:tblGrid>
                <a:gridCol w="1199113">
                  <a:extLst>
                    <a:ext uri="{9D8B030D-6E8A-4147-A177-3AD203B41FA5}">
                      <a16:colId xmlns:a16="http://schemas.microsoft.com/office/drawing/2014/main" val="20000"/>
                    </a:ext>
                  </a:extLst>
                </a:gridCol>
              </a:tblGrid>
              <a:tr h="228392">
                <a:tc>
                  <a:txBody>
                    <a:bodyPr/>
                    <a:lstStyle/>
                    <a:p>
                      <a:pPr algn="ctr" fontAlgn="b"/>
                      <a:r>
                        <a:rPr lang="zh-CN" altLang="en-US" sz="1000" b="1" u="none" strike="noStrike" dirty="0">
                          <a:solidFill>
                            <a:schemeClr val="bg1"/>
                          </a:solidFill>
                          <a:effectLst/>
                          <a:latin typeface="微软雅黑" panose="020B0503020204020204" pitchFamily="34" charset="-122"/>
                          <a:ea typeface="Alibaba PuHuiTi 2.0 55 Regular"/>
                        </a:rPr>
                        <a:t>与第一名总分差距</a:t>
                      </a:r>
                      <a:endParaRPr lang="zh-CN" altLang="en-US" sz="1000" b="1" i="0" u="none" strike="noStrike" dirty="0">
                        <a:solidFill>
                          <a:schemeClr val="bg1"/>
                        </a:solidFill>
                        <a:effectLst/>
                        <a:latin typeface="微软雅黑" panose="020B0503020204020204" pitchFamily="34" charset="-122"/>
                        <a:ea typeface="Alibaba PuHuiTi 2.0 55 Regular"/>
                      </a:endParaRPr>
                    </a:p>
                  </a:txBody>
                  <a:tcPr marL="36000" marR="36000" marT="36000" marB="36000" anchor="b">
                    <a:solidFill>
                      <a:srgbClr val="4B8D56"/>
                    </a:solidFill>
                  </a:tcPr>
                </a:tc>
                <a:extLst>
                  <a:ext uri="{0D108BD9-81ED-4DB2-BD59-A6C34878D82A}">
                    <a16:rowId xmlns:a16="http://schemas.microsoft.com/office/drawing/2014/main" val="10000"/>
                  </a:ext>
                </a:extLst>
              </a:tr>
              <a:tr h="228392">
                <a:tc>
                  <a:txBody>
                    <a:bodyPr/>
                    <a:lstStyle/>
                    <a:p>
                      <a:pPr algn="ctr" fontAlgn="b"/>
                      <a:r>
                        <a:rPr lang="en-US" altLang="zh-CN" sz="1000" b="1" i="0" u="none" strike="noStrike" dirty="0">
                          <a:solidFill>
                            <a:srgbClr val="000000"/>
                          </a:solidFill>
                          <a:effectLst/>
                          <a:latin typeface="微软雅黑" panose="020B0503020204020204" pitchFamily="34" charset="-122"/>
                          <a:ea typeface="Alibaba PuHuiTi 2.0 55 Regular"/>
                        </a:rPr>
                        <a:t>24.32</a:t>
                      </a:r>
                    </a:p>
                  </a:txBody>
                  <a:tcPr marL="36000" marR="36000" marT="36000" marB="36000" anchor="b"/>
                </a:tc>
                <a:extLst>
                  <a:ext uri="{0D108BD9-81ED-4DB2-BD59-A6C34878D82A}">
                    <a16:rowId xmlns:a16="http://schemas.microsoft.com/office/drawing/2014/main" val="10001"/>
                  </a:ext>
                </a:extLst>
              </a:tr>
            </a:tbl>
          </a:graphicData>
        </a:graphic>
      </p:graphicFrame>
      <p:graphicFrame>
        <p:nvGraphicFramePr>
          <p:cNvPr id="32" name="表格 31"/>
          <p:cNvGraphicFramePr>
            <a:graphicFrameLocks noGrp="1"/>
          </p:cNvGraphicFramePr>
          <p:nvPr/>
        </p:nvGraphicFramePr>
        <p:xfrm>
          <a:off x="9512099" y="2669590"/>
          <a:ext cx="857248" cy="456784"/>
        </p:xfrm>
        <a:graphic>
          <a:graphicData uri="http://schemas.openxmlformats.org/drawingml/2006/table">
            <a:tbl>
              <a:tblPr>
                <a:tableStyleId>{5C22544A-7EE6-4342-B048-85BDC9FD1C3A}</a:tableStyleId>
              </a:tblPr>
              <a:tblGrid>
                <a:gridCol w="857248">
                  <a:extLst>
                    <a:ext uri="{9D8B030D-6E8A-4147-A177-3AD203B41FA5}">
                      <a16:colId xmlns:a16="http://schemas.microsoft.com/office/drawing/2014/main" val="20000"/>
                    </a:ext>
                  </a:extLst>
                </a:gridCol>
              </a:tblGrid>
              <a:tr h="228392">
                <a:tc>
                  <a:txBody>
                    <a:bodyPr/>
                    <a:lstStyle/>
                    <a:p>
                      <a:pPr algn="ctr" fontAlgn="b"/>
                      <a:r>
                        <a:rPr lang="zh-CN" altLang="en-US" sz="1000" b="1" u="none" strike="noStrike" kern="1200" dirty="0">
                          <a:solidFill>
                            <a:schemeClr val="bg1"/>
                          </a:solidFill>
                          <a:effectLst/>
                          <a:latin typeface="微软雅黑" panose="020B0503020204020204" pitchFamily="34" charset="-122"/>
                          <a:ea typeface="Alibaba PuHuiTi 2.0 55 Regular"/>
                          <a:cs typeface="+mn-cs"/>
                        </a:rPr>
                        <a:t>弥补差值</a:t>
                      </a:r>
                    </a:p>
                  </a:txBody>
                  <a:tcPr marL="36000" marR="36000" marT="36000" marB="36000" anchor="b">
                    <a:solidFill>
                      <a:srgbClr val="4B8D56"/>
                    </a:solidFill>
                  </a:tcPr>
                </a:tc>
                <a:extLst>
                  <a:ext uri="{0D108BD9-81ED-4DB2-BD59-A6C34878D82A}">
                    <a16:rowId xmlns:a16="http://schemas.microsoft.com/office/drawing/2014/main" val="10000"/>
                  </a:ext>
                </a:extLst>
              </a:tr>
              <a:tr h="228392">
                <a:tc>
                  <a:txBody>
                    <a:bodyPr/>
                    <a:lstStyle/>
                    <a:p>
                      <a:pPr algn="ctr" fontAlgn="b"/>
                      <a:r>
                        <a:rPr lang="en-US" altLang="zh-CN" sz="1000" b="1" i="0" u="none" strike="noStrike" dirty="0">
                          <a:solidFill>
                            <a:srgbClr val="000000"/>
                          </a:solidFill>
                          <a:effectLst/>
                          <a:latin typeface="微软雅黑" panose="020B0503020204020204" pitchFamily="34" charset="-122"/>
                          <a:ea typeface="Alibaba PuHuiTi 2.0 55 Regular"/>
                        </a:rPr>
                        <a:t>24.42</a:t>
                      </a:r>
                    </a:p>
                  </a:txBody>
                  <a:tcPr marL="36000" marR="36000" marT="36000" marB="36000" anchor="b"/>
                </a:tc>
                <a:extLst>
                  <a:ext uri="{0D108BD9-81ED-4DB2-BD59-A6C34878D82A}">
                    <a16:rowId xmlns:a16="http://schemas.microsoft.com/office/drawing/2014/main" val="10001"/>
                  </a:ext>
                </a:extLst>
              </a:tr>
            </a:tbl>
          </a:graphicData>
        </a:graphic>
      </p:graphicFrame>
      <p:sp>
        <p:nvSpPr>
          <p:cNvPr id="33" name="箭头: V 形 32"/>
          <p:cNvSpPr/>
          <p:nvPr/>
        </p:nvSpPr>
        <p:spPr>
          <a:xfrm>
            <a:off x="10431459" y="2777299"/>
            <a:ext cx="123822" cy="190500"/>
          </a:xfrm>
          <a:prstGeom prst="chevron">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0" dirty="0">
              <a:solidFill>
                <a:schemeClr val="bg1"/>
              </a:solidFill>
              <a:latin typeface="+mn-ea"/>
            </a:endParaRPr>
          </a:p>
        </p:txBody>
      </p:sp>
      <p:cxnSp>
        <p:nvCxnSpPr>
          <p:cNvPr id="46" name="直接箭头连接符 8"/>
          <p:cNvCxnSpPr>
            <a:cxnSpLocks/>
          </p:cNvCxnSpPr>
          <p:nvPr/>
        </p:nvCxnSpPr>
        <p:spPr>
          <a:xfrm>
            <a:off x="9419479" y="2338255"/>
            <a:ext cx="0" cy="3419608"/>
          </a:xfrm>
          <a:prstGeom prst="straightConnector1">
            <a:avLst/>
          </a:prstGeom>
          <a:ln w="28575">
            <a:solidFill>
              <a:schemeClr val="accent2"/>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 name="文本占位符 7">
            <a:extLst>
              <a:ext uri="{FF2B5EF4-FFF2-40B4-BE49-F238E27FC236}">
                <a16:creationId xmlns:a16="http://schemas.microsoft.com/office/drawing/2014/main" id="{2F263326-3A63-A0B6-413D-B4D999E1BC89}"/>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CSI</a:t>
            </a:r>
            <a:r>
              <a:rPr lang="zh-CN" altLang="en-US" dirty="0"/>
              <a:t>根据重视度加权，由高到底选择出</a:t>
            </a:r>
            <a:r>
              <a:rPr lang="en-US" altLang="zh-CN" dirty="0"/>
              <a:t>21</a:t>
            </a:r>
            <a:r>
              <a:rPr lang="zh-CN" altLang="en-US" dirty="0"/>
              <a:t>项弱项；服务等待弱项更多一些</a:t>
            </a:r>
          </a:p>
        </p:txBody>
      </p:sp>
    </p:spTree>
    <p:extLst>
      <p:ext uri="{BB962C8B-B14F-4D97-AF65-F5344CB8AC3E}">
        <p14:creationId xmlns:p14="http://schemas.microsoft.com/office/powerpoint/2010/main" val="1497584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CE1A8736-9ACE-DA46-B790-8ABE7958B598}"/>
              </a:ext>
            </a:extLst>
          </p:cNvPr>
          <p:cNvSpPr>
            <a:spLocks noGrp="1"/>
          </p:cNvSpPr>
          <p:nvPr>
            <p:ph type="body" sz="quarter" idx="14"/>
          </p:nvPr>
        </p:nvSpPr>
        <p:spPr/>
        <p:txBody>
          <a:bodyPr/>
          <a:lstStyle/>
          <a:p>
            <a:endParaRPr lang="zh-CN" altLang="en-US" dirty="0"/>
          </a:p>
        </p:txBody>
      </p:sp>
      <p:sp>
        <p:nvSpPr>
          <p:cNvPr id="7" name="文本占位符 6">
            <a:extLst>
              <a:ext uri="{FF2B5EF4-FFF2-40B4-BE49-F238E27FC236}">
                <a16:creationId xmlns:a16="http://schemas.microsoft.com/office/drawing/2014/main" id="{672E21D2-E394-5C8A-3877-A7F07E5878B5}"/>
              </a:ext>
            </a:extLst>
          </p:cNvPr>
          <p:cNvSpPr>
            <a:spLocks noGrp="1"/>
          </p:cNvSpPr>
          <p:nvPr>
            <p:ph type="body" sz="quarter" idx="21"/>
          </p:nvPr>
        </p:nvSpPr>
        <p:spPr/>
        <p:txBody>
          <a:bodyPr/>
          <a:lstStyle/>
          <a:p>
            <a:r>
              <a:rPr lang="en-US" altLang="zh-CN" dirty="0">
                <a:latin typeface="+mj-ea"/>
                <a:ea typeface="+mj-ea"/>
              </a:rPr>
              <a:t>1.4 </a:t>
            </a:r>
            <a:r>
              <a:rPr lang="zh-CN" altLang="en-US" dirty="0">
                <a:latin typeface="+mj-ea"/>
                <a:ea typeface="+mj-ea"/>
              </a:rPr>
              <a:t>销售弱项建议</a:t>
            </a:r>
          </a:p>
        </p:txBody>
      </p:sp>
      <p:sp>
        <p:nvSpPr>
          <p:cNvPr id="5" name="灯片编号占位符 4">
            <a:extLst>
              <a:ext uri="{FF2B5EF4-FFF2-40B4-BE49-F238E27FC236}">
                <a16:creationId xmlns:a16="http://schemas.microsoft.com/office/drawing/2014/main" id="{8A40F7E5-6669-B5AD-E7C9-951226BE65C6}"/>
              </a:ext>
            </a:extLst>
          </p:cNvPr>
          <p:cNvSpPr>
            <a:spLocks noGrp="1"/>
          </p:cNvSpPr>
          <p:nvPr>
            <p:ph type="sldNum" sz="quarter" idx="4"/>
          </p:nvPr>
        </p:nvSpPr>
        <p:spPr/>
        <p:txBody>
          <a:bodyPr/>
          <a:lstStyle/>
          <a:p>
            <a:fld id="{04824671-56D2-5D44-834F-250C3DA554E9}" type="slidenum">
              <a:rPr lang="zh-CN" altLang="en-US" smtClean="0"/>
              <a:t>16</a:t>
            </a:fld>
            <a:endParaRPr lang="zh-CN" altLang="en-US" dirty="0"/>
          </a:p>
        </p:txBody>
      </p:sp>
      <p:sp>
        <p:nvSpPr>
          <p:cNvPr id="3" name="文本框 2">
            <a:extLst>
              <a:ext uri="{FF2B5EF4-FFF2-40B4-BE49-F238E27FC236}">
                <a16:creationId xmlns:a16="http://schemas.microsoft.com/office/drawing/2014/main" id="{5B8D723C-4EEE-B4ED-3F8F-A4A310678DC9}"/>
              </a:ext>
            </a:extLst>
          </p:cNvPr>
          <p:cNvSpPr txBox="1"/>
          <p:nvPr/>
        </p:nvSpPr>
        <p:spPr>
          <a:xfrm>
            <a:off x="263526" y="1494499"/>
            <a:ext cx="11676002" cy="432000"/>
          </a:xfrm>
          <a:prstGeom prst="rect">
            <a:avLst/>
          </a:prstGeom>
          <a:solidFill>
            <a:srgbClr val="4B8D56"/>
          </a:solidFill>
        </p:spPr>
        <p:txBody>
          <a:bodyPr wrap="square" anchor="ctr" anchorCtr="0">
            <a:noAutofit/>
          </a:bodyPr>
          <a:lstStyle>
            <a:defPPr>
              <a:defRPr lang="zh-CN"/>
            </a:defPPr>
            <a:lvl1pPr algn="ctr">
              <a:defRPr b="1">
                <a:solidFill>
                  <a:schemeClr val="bg1"/>
                </a:solidFill>
                <a:latin typeface="+mn-ea"/>
              </a:defRPr>
            </a:lvl1pPr>
          </a:lstStyle>
          <a:p>
            <a:r>
              <a:rPr lang="zh-CN" altLang="en-US" dirty="0"/>
              <a:t>销售服务弱项</a:t>
            </a:r>
          </a:p>
        </p:txBody>
      </p:sp>
      <p:graphicFrame>
        <p:nvGraphicFramePr>
          <p:cNvPr id="4" name="表格 3">
            <a:extLst>
              <a:ext uri="{FF2B5EF4-FFF2-40B4-BE49-F238E27FC236}">
                <a16:creationId xmlns:a16="http://schemas.microsoft.com/office/drawing/2014/main" id="{AAEA62EF-FA96-9B0E-6450-3F211FEED03E}"/>
              </a:ext>
            </a:extLst>
          </p:cNvPr>
          <p:cNvGraphicFramePr>
            <a:graphicFrameLocks noGrp="1"/>
          </p:cNvGraphicFramePr>
          <p:nvPr>
            <p:extLst>
              <p:ext uri="{D42A27DB-BD31-4B8C-83A1-F6EECF244321}">
                <p14:modId xmlns:p14="http://schemas.microsoft.com/office/powerpoint/2010/main" val="2093325402"/>
              </p:ext>
            </p:extLst>
          </p:nvPr>
        </p:nvGraphicFramePr>
        <p:xfrm>
          <a:off x="263526" y="1926983"/>
          <a:ext cx="11676002" cy="4373880"/>
        </p:xfrm>
        <a:graphic>
          <a:graphicData uri="http://schemas.openxmlformats.org/drawingml/2006/table">
            <a:tbl>
              <a:tblPr>
                <a:tableStyleId>{5C22544A-7EE6-4342-B048-85BDC9FD1C3A}</a:tableStyleId>
              </a:tblPr>
              <a:tblGrid>
                <a:gridCol w="1707681">
                  <a:extLst>
                    <a:ext uri="{9D8B030D-6E8A-4147-A177-3AD203B41FA5}">
                      <a16:colId xmlns:a16="http://schemas.microsoft.com/office/drawing/2014/main" val="3641100078"/>
                    </a:ext>
                  </a:extLst>
                </a:gridCol>
                <a:gridCol w="1285923">
                  <a:extLst>
                    <a:ext uri="{9D8B030D-6E8A-4147-A177-3AD203B41FA5}">
                      <a16:colId xmlns:a16="http://schemas.microsoft.com/office/drawing/2014/main" val="1928503319"/>
                    </a:ext>
                  </a:extLst>
                </a:gridCol>
                <a:gridCol w="8682398">
                  <a:extLst>
                    <a:ext uri="{9D8B030D-6E8A-4147-A177-3AD203B41FA5}">
                      <a16:colId xmlns:a16="http://schemas.microsoft.com/office/drawing/2014/main" val="2277777967"/>
                    </a:ext>
                  </a:extLst>
                </a:gridCol>
              </a:tblGrid>
              <a:tr h="304023">
                <a:tc>
                  <a:txBody>
                    <a:bodyPr/>
                    <a:lstStyle/>
                    <a:p>
                      <a:pPr algn="ctr" fontAlgn="b">
                        <a:lnSpc>
                          <a:spcPct val="100000"/>
                        </a:lnSpc>
                      </a:pPr>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服务弱项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lnSpc>
                          <a:spcPct val="100000"/>
                        </a:lnSpc>
                      </a:pPr>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弱项来源</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lnSpc>
                          <a:spcPct val="100000"/>
                        </a:lnSpc>
                      </a:pPr>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弱项提升建议</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709687140"/>
                  </a:ext>
                </a:extLst>
              </a:tr>
              <a:tr h="499671">
                <a:tc>
                  <a:txBody>
                    <a:bodyPr/>
                    <a:lstStyle/>
                    <a:p>
                      <a:pPr algn="l"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咨询过程的专业度</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自评弱项、犹豫弱项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b="1" kern="100" dirty="0">
                          <a:solidFill>
                            <a:schemeClr val="tx1"/>
                          </a:solidFill>
                          <a:effectLst/>
                          <a:latin typeface="+mn-ea"/>
                          <a:ea typeface="+mn-ea"/>
                          <a:cs typeface="+mn-cs"/>
                        </a:rPr>
                        <a:t>【</a:t>
                      </a:r>
                      <a:r>
                        <a:rPr lang="zh-CN" altLang="en-US" sz="900" b="1" kern="100" dirty="0">
                          <a:solidFill>
                            <a:schemeClr val="tx1"/>
                          </a:solidFill>
                          <a:effectLst/>
                          <a:latin typeface="+mn-ea"/>
                          <a:ea typeface="+mn-ea"/>
                          <a:cs typeface="+mn-cs"/>
                        </a:rPr>
                        <a:t>优化流程衔接</a:t>
                      </a:r>
                      <a:r>
                        <a:rPr lang="en-US" altLang="zh-CN" sz="900" b="1" kern="100" dirty="0">
                          <a:solidFill>
                            <a:schemeClr val="tx1"/>
                          </a:solidFill>
                          <a:effectLst/>
                          <a:latin typeface="+mn-ea"/>
                          <a:ea typeface="+mn-ea"/>
                          <a:cs typeface="+mn-cs"/>
                        </a:rPr>
                        <a:t>】</a:t>
                      </a:r>
                      <a:r>
                        <a:rPr lang="zh-CN" altLang="en-US" sz="900" b="0" kern="100" dirty="0">
                          <a:solidFill>
                            <a:schemeClr val="tx1"/>
                          </a:solidFill>
                          <a:effectLst/>
                          <a:latin typeface="+mn-ea"/>
                          <a:ea typeface="+mn-ea"/>
                          <a:cs typeface="+mn-cs"/>
                        </a:rPr>
                        <a:t>车主询问车辆相关时，线上人员记录在系统并交接给销售，销售主动致电答疑。</a:t>
                      </a:r>
                      <a:endParaRPr lang="en-US" altLang="zh-CN" sz="900" b="0" kern="100" dirty="0">
                        <a:solidFill>
                          <a:schemeClr val="tx1"/>
                        </a:solidFill>
                        <a:effectLst/>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b="1" kern="100" dirty="0">
                          <a:solidFill>
                            <a:schemeClr val="tx1"/>
                          </a:solidFill>
                          <a:effectLst/>
                          <a:latin typeface="+mn-ea"/>
                          <a:ea typeface="+mn-ea"/>
                          <a:cs typeface="+mn-cs"/>
                        </a:rPr>
                        <a:t>【</a:t>
                      </a:r>
                      <a:r>
                        <a:rPr lang="zh-CN" altLang="en-US" sz="900" b="1" kern="100" dirty="0">
                          <a:solidFill>
                            <a:schemeClr val="tx1"/>
                          </a:solidFill>
                          <a:effectLst/>
                          <a:latin typeface="+mn-ea"/>
                          <a:ea typeface="+mn-ea"/>
                          <a:cs typeface="+mn-cs"/>
                        </a:rPr>
                        <a:t>优化流程衔接</a:t>
                      </a:r>
                      <a:r>
                        <a:rPr lang="en-US" altLang="zh-CN" sz="900" b="1" kern="100" dirty="0">
                          <a:solidFill>
                            <a:schemeClr val="tx1"/>
                          </a:solidFill>
                          <a:effectLst/>
                          <a:latin typeface="+mn-ea"/>
                          <a:ea typeface="+mn-ea"/>
                          <a:cs typeface="+mn-cs"/>
                        </a:rPr>
                        <a:t>】</a:t>
                      </a:r>
                      <a:r>
                        <a:rPr lang="zh-CN" altLang="en-US" sz="900" b="0" kern="100" dirty="0">
                          <a:solidFill>
                            <a:schemeClr val="tx1"/>
                          </a:solidFill>
                          <a:effectLst/>
                          <a:latin typeface="+mn-ea"/>
                          <a:ea typeface="+mn-ea"/>
                          <a:cs typeface="+mn-cs"/>
                        </a:rPr>
                        <a:t>明确离职员工交接内容，避免客户重复沟通，包括客户信息和沟通的内容。</a:t>
                      </a:r>
                      <a:endParaRPr lang="en-US" altLang="zh-CN" sz="900" b="0" kern="100" dirty="0">
                        <a:solidFill>
                          <a:schemeClr val="tx1"/>
                        </a:solidFill>
                        <a:effectLst/>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b="1" kern="100" dirty="0">
                          <a:solidFill>
                            <a:schemeClr val="tx1"/>
                          </a:solidFill>
                          <a:effectLst/>
                          <a:latin typeface="+mn-ea"/>
                          <a:ea typeface="+mn-ea"/>
                          <a:cs typeface="+mn-cs"/>
                        </a:rPr>
                        <a:t>【</a:t>
                      </a:r>
                      <a:r>
                        <a:rPr lang="zh-CN" altLang="en-US" sz="900" b="1" kern="100" dirty="0">
                          <a:solidFill>
                            <a:schemeClr val="tx1"/>
                          </a:solidFill>
                          <a:effectLst/>
                          <a:latin typeface="+mn-ea"/>
                          <a:ea typeface="+mn-ea"/>
                          <a:cs typeface="+mn-cs"/>
                        </a:rPr>
                        <a:t>强化基础标准</a:t>
                      </a:r>
                      <a:r>
                        <a:rPr lang="en-US" altLang="zh-CN" sz="900" b="1" kern="100" dirty="0">
                          <a:solidFill>
                            <a:schemeClr val="tx1"/>
                          </a:solidFill>
                          <a:effectLst/>
                          <a:latin typeface="+mn-ea"/>
                          <a:ea typeface="+mn-ea"/>
                          <a:cs typeface="+mn-cs"/>
                        </a:rPr>
                        <a:t>】</a:t>
                      </a:r>
                      <a:r>
                        <a:rPr lang="en-US" altLang="zh-CN" sz="900" b="0" kern="100" dirty="0">
                          <a:solidFill>
                            <a:schemeClr val="tx1"/>
                          </a:solidFill>
                          <a:effectLst/>
                          <a:latin typeface="+mn-ea"/>
                          <a:ea typeface="+mn-ea"/>
                          <a:cs typeface="+mn-cs"/>
                        </a:rPr>
                        <a:t>1. </a:t>
                      </a:r>
                      <a:r>
                        <a:rPr lang="zh-CN" altLang="en-US" sz="900" b="0" kern="100" dirty="0">
                          <a:solidFill>
                            <a:schemeClr val="tx1"/>
                          </a:solidFill>
                          <a:effectLst/>
                          <a:latin typeface="+mn-ea"/>
                          <a:ea typeface="+mn-ea"/>
                          <a:cs typeface="+mn-cs"/>
                        </a:rPr>
                        <a:t>由总部分配线索，并且每条线索仅由一位销售顾问跟进。</a:t>
                      </a:r>
                      <a:r>
                        <a:rPr lang="en-US" altLang="zh-CN" sz="900" b="0" kern="100" dirty="0">
                          <a:solidFill>
                            <a:schemeClr val="tx1"/>
                          </a:solidFill>
                          <a:effectLst/>
                          <a:latin typeface="+mn-ea"/>
                          <a:ea typeface="+mn-ea"/>
                          <a:cs typeface="+mn-cs"/>
                        </a:rPr>
                        <a:t>2. </a:t>
                      </a:r>
                      <a:r>
                        <a:rPr lang="zh-CN" altLang="en-US" sz="900" b="0" kern="100" dirty="0">
                          <a:solidFill>
                            <a:schemeClr val="tx1"/>
                          </a:solidFill>
                          <a:effectLst/>
                          <a:latin typeface="+mn-ea"/>
                          <a:ea typeface="+mn-ea"/>
                          <a:cs typeface="+mn-cs"/>
                        </a:rPr>
                        <a:t>优先通过微信沟通。</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535764134"/>
                  </a:ext>
                </a:extLst>
              </a:tr>
              <a:tr h="499671">
                <a:tc>
                  <a:txBody>
                    <a:bodyPr/>
                    <a:lstStyle/>
                    <a:p>
                      <a:pPr algn="l"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预约便利性</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战败弱项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just">
                        <a:lnSpc>
                          <a:spcPct val="100000"/>
                        </a:lnSpc>
                        <a:spcBef>
                          <a:spcPts val="0"/>
                        </a:spcBef>
                      </a:pPr>
                      <a:r>
                        <a:rPr lang="en-US" altLang="zh-CN" sz="900" b="1" dirty="0"/>
                        <a:t>【</a:t>
                      </a:r>
                      <a:r>
                        <a:rPr lang="zh-CN" altLang="en-US" sz="900" b="1" dirty="0"/>
                        <a:t>加强流程检查</a:t>
                      </a:r>
                      <a:r>
                        <a:rPr lang="en-US" altLang="zh-CN" sz="900" b="1" dirty="0"/>
                        <a:t>】</a:t>
                      </a:r>
                      <a:r>
                        <a:rPr lang="en-US" altLang="zh-CN" sz="900" b="0" dirty="0">
                          <a:latin typeface="+mn-ea"/>
                          <a:ea typeface="+mn-ea"/>
                        </a:rPr>
                        <a:t>1. </a:t>
                      </a:r>
                      <a:r>
                        <a:rPr lang="zh-CN" altLang="en-US" sz="900" b="0" kern="100" dirty="0">
                          <a:solidFill>
                            <a:schemeClr val="tx1"/>
                          </a:solidFill>
                          <a:effectLst/>
                          <a:latin typeface="+mn-ea"/>
                          <a:ea typeface="+mn-ea"/>
                        </a:rPr>
                        <a:t>店长每天检查当天的来电客户，并分配好次日负责对接的销售顾问。</a:t>
                      </a:r>
                      <a:r>
                        <a:rPr lang="en-US" altLang="zh-CN" sz="900" b="0" kern="100" dirty="0">
                          <a:solidFill>
                            <a:schemeClr val="tx1"/>
                          </a:solidFill>
                          <a:effectLst/>
                          <a:latin typeface="+mn-ea"/>
                          <a:ea typeface="+mn-ea"/>
                        </a:rPr>
                        <a:t>2. </a:t>
                      </a:r>
                      <a:r>
                        <a:rPr lang="zh-CN" altLang="en-US" sz="900" dirty="0">
                          <a:latin typeface="+mn-ea"/>
                          <a:ea typeface="+mn-ea"/>
                        </a:rPr>
                        <a:t>明检</a:t>
                      </a:r>
                      <a:r>
                        <a:rPr lang="en-US" altLang="zh-CN" sz="900" dirty="0">
                          <a:latin typeface="+mn-ea"/>
                          <a:ea typeface="+mn-ea"/>
                        </a:rPr>
                        <a:t>/</a:t>
                      </a:r>
                      <a:r>
                        <a:rPr lang="zh-CN" altLang="en-US" sz="900" dirty="0">
                          <a:latin typeface="+mn-ea"/>
                          <a:ea typeface="+mn-ea"/>
                        </a:rPr>
                        <a:t>暗访注意检查预约客户接待和提前准备工作。</a:t>
                      </a:r>
                      <a:endParaRPr lang="en-US" altLang="zh-CN" sz="900" dirty="0">
                        <a:latin typeface="+mn-ea"/>
                        <a:ea typeface="+mn-ea"/>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900" b="1" kern="1200" dirty="0">
                          <a:solidFill>
                            <a:schemeClr val="dk1"/>
                          </a:solidFill>
                          <a:effectLst/>
                          <a:latin typeface="+mn-lt"/>
                          <a:ea typeface="+mn-ea"/>
                        </a:rPr>
                        <a:t>【</a:t>
                      </a:r>
                      <a:r>
                        <a:rPr lang="zh-CN" altLang="en-US" sz="900" b="1" kern="1200" dirty="0">
                          <a:solidFill>
                            <a:schemeClr val="dk1"/>
                          </a:solidFill>
                          <a:effectLst/>
                          <a:latin typeface="+mn-lt"/>
                          <a:ea typeface="+mn-ea"/>
                        </a:rPr>
                        <a:t>备选方案沟通</a:t>
                      </a:r>
                      <a:r>
                        <a:rPr lang="en-US" altLang="zh-CN" sz="900" b="1" kern="1200" dirty="0">
                          <a:solidFill>
                            <a:schemeClr val="dk1"/>
                          </a:solidFill>
                          <a:effectLst/>
                          <a:latin typeface="+mn-lt"/>
                          <a:ea typeface="+mn-ea"/>
                        </a:rPr>
                        <a:t>】</a:t>
                      </a:r>
                      <a:r>
                        <a:rPr lang="zh-CN" altLang="en-US" sz="900" b="0" kern="1200" dirty="0">
                          <a:solidFill>
                            <a:schemeClr val="dk1"/>
                          </a:solidFill>
                          <a:effectLst/>
                          <a:latin typeface="+mn-lt"/>
                          <a:ea typeface="+mn-ea"/>
                        </a:rPr>
                        <a:t>如有不能提供试驾，提前与客户沟通说明。</a:t>
                      </a:r>
                      <a:endParaRPr lang="en-US" altLang="zh-CN" sz="900" b="0" kern="1200" dirty="0">
                        <a:solidFill>
                          <a:schemeClr val="dk1"/>
                        </a:solidFill>
                        <a:effectLst/>
                        <a:latin typeface="+mn-lt"/>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b="1" kern="100" dirty="0">
                          <a:solidFill>
                            <a:schemeClr val="tx1"/>
                          </a:solidFill>
                          <a:effectLst/>
                          <a:latin typeface="+mn-ea"/>
                          <a:ea typeface="+mn-ea"/>
                          <a:cs typeface="+mn-cs"/>
                        </a:rPr>
                        <a:t>【</a:t>
                      </a:r>
                      <a:r>
                        <a:rPr lang="zh-CN" altLang="en-US" sz="900" b="1" kern="100" dirty="0">
                          <a:solidFill>
                            <a:schemeClr val="tx1"/>
                          </a:solidFill>
                          <a:effectLst/>
                          <a:latin typeface="+mn-ea"/>
                          <a:ea typeface="+mn-ea"/>
                          <a:cs typeface="+mn-cs"/>
                        </a:rPr>
                        <a:t>强化基础标准</a:t>
                      </a:r>
                      <a:r>
                        <a:rPr lang="en-US" altLang="zh-CN" sz="900" b="1" kern="100" dirty="0">
                          <a:solidFill>
                            <a:schemeClr val="tx1"/>
                          </a:solidFill>
                          <a:effectLst/>
                          <a:latin typeface="+mn-ea"/>
                          <a:ea typeface="+mn-ea"/>
                          <a:cs typeface="+mn-cs"/>
                        </a:rPr>
                        <a:t>】</a:t>
                      </a:r>
                      <a:r>
                        <a:rPr lang="zh-CN" altLang="en-US" sz="900" b="0" kern="100" dirty="0">
                          <a:solidFill>
                            <a:schemeClr val="tx1"/>
                          </a:solidFill>
                          <a:effectLst/>
                          <a:latin typeface="+mn-ea"/>
                          <a:ea typeface="+mn-ea"/>
                          <a:cs typeface="+mn-cs"/>
                        </a:rPr>
                        <a:t>门店加强预约渠道管理，及时更新反馈。</a:t>
                      </a:r>
                      <a:endParaRPr lang="en-US" altLang="zh-CN" sz="900" b="0" kern="1200" dirty="0">
                        <a:solidFill>
                          <a:schemeClr val="dk1"/>
                        </a:solidFill>
                        <a:effectLst/>
                        <a:latin typeface="+mn-lt"/>
                        <a:ea typeface="+mn-ea"/>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6051164"/>
                  </a:ext>
                </a:extLst>
              </a:tr>
              <a:tr h="363397">
                <a:tc>
                  <a:txBody>
                    <a:bodyPr/>
                    <a:lstStyle/>
                    <a:p>
                      <a:pPr algn="l"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提供的饮料服务</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自评弱项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900" b="1" kern="1200" dirty="0">
                          <a:solidFill>
                            <a:schemeClr val="dk1"/>
                          </a:solidFill>
                          <a:latin typeface="+mn-ea"/>
                          <a:ea typeface="+mn-ea"/>
                          <a:cs typeface="+mn-cs"/>
                        </a:rPr>
                        <a:t>【</a:t>
                      </a:r>
                      <a:r>
                        <a:rPr lang="zh-CN" altLang="en-US" sz="900" b="1" kern="1200" dirty="0">
                          <a:solidFill>
                            <a:schemeClr val="dk1"/>
                          </a:solidFill>
                          <a:latin typeface="+mn-ea"/>
                          <a:ea typeface="+mn-ea"/>
                          <a:cs typeface="+mn-cs"/>
                        </a:rPr>
                        <a:t>强化基础标准</a:t>
                      </a:r>
                      <a:r>
                        <a:rPr lang="en-US" altLang="zh-CN" sz="900" b="1" kern="1200" dirty="0">
                          <a:solidFill>
                            <a:schemeClr val="dk1"/>
                          </a:solidFill>
                          <a:latin typeface="+mn-ea"/>
                          <a:ea typeface="+mn-ea"/>
                          <a:cs typeface="+mn-cs"/>
                        </a:rPr>
                        <a:t>】</a:t>
                      </a:r>
                      <a:r>
                        <a:rPr lang="zh-CN" altLang="en-US" sz="900" b="0" kern="1200" dirty="0">
                          <a:solidFill>
                            <a:schemeClr val="dk1"/>
                          </a:solidFill>
                          <a:latin typeface="+mn-ea"/>
                          <a:ea typeface="+mn-ea"/>
                          <a:cs typeface="+mn-cs"/>
                        </a:rPr>
                        <a:t>不管是否预约客户，进店第一时间主动提供饮品。</a:t>
                      </a:r>
                      <a:br>
                        <a:rPr lang="zh-CN" altLang="en-US" sz="900" b="1" kern="1200" dirty="0">
                          <a:solidFill>
                            <a:schemeClr val="dk1"/>
                          </a:solidFill>
                          <a:latin typeface="+mn-ea"/>
                          <a:ea typeface="+mn-ea"/>
                          <a:cs typeface="+mn-cs"/>
                        </a:rPr>
                      </a:br>
                      <a:r>
                        <a:rPr lang="en-US" altLang="zh-CN" sz="900" b="1" kern="1200" dirty="0">
                          <a:solidFill>
                            <a:schemeClr val="dk1"/>
                          </a:solidFill>
                          <a:latin typeface="+mn-ea"/>
                          <a:ea typeface="+mn-ea"/>
                          <a:cs typeface="+mn-cs"/>
                        </a:rPr>
                        <a:t>【</a:t>
                      </a:r>
                      <a:r>
                        <a:rPr lang="zh-CN" altLang="en-US" sz="900" b="1" kern="1200" dirty="0">
                          <a:solidFill>
                            <a:schemeClr val="dk1"/>
                          </a:solidFill>
                          <a:latin typeface="+mn-ea"/>
                          <a:ea typeface="+mn-ea"/>
                          <a:cs typeface="+mn-cs"/>
                        </a:rPr>
                        <a:t>强化基础标准</a:t>
                      </a:r>
                      <a:r>
                        <a:rPr lang="en-US" altLang="zh-CN" sz="900" b="1" kern="1200" dirty="0">
                          <a:solidFill>
                            <a:schemeClr val="dk1"/>
                          </a:solidFill>
                          <a:latin typeface="+mn-ea"/>
                          <a:ea typeface="+mn-ea"/>
                          <a:cs typeface="+mn-cs"/>
                        </a:rPr>
                        <a:t>】</a:t>
                      </a:r>
                      <a:r>
                        <a:rPr lang="en-US" altLang="zh-CN" sz="900" b="0" kern="1200" dirty="0">
                          <a:solidFill>
                            <a:schemeClr val="dk1"/>
                          </a:solidFill>
                          <a:latin typeface="+mn-ea"/>
                          <a:ea typeface="+mn-ea"/>
                          <a:cs typeface="+mn-cs"/>
                        </a:rPr>
                        <a:t>1.</a:t>
                      </a:r>
                      <a:r>
                        <a:rPr lang="zh-CN" altLang="en-US" sz="900" b="0" kern="1200" dirty="0">
                          <a:solidFill>
                            <a:schemeClr val="dk1"/>
                          </a:solidFill>
                          <a:latin typeface="+mn-ea"/>
                          <a:ea typeface="+mn-ea"/>
                          <a:cs typeface="+mn-cs"/>
                        </a:rPr>
                        <a:t>增加饮料种类，至少提供</a:t>
                      </a:r>
                      <a:r>
                        <a:rPr lang="en-US" altLang="zh-CN" sz="900" b="0" kern="1200" dirty="0">
                          <a:solidFill>
                            <a:schemeClr val="dk1"/>
                          </a:solidFill>
                          <a:latin typeface="+mn-ea"/>
                          <a:ea typeface="+mn-ea"/>
                          <a:cs typeface="+mn-cs"/>
                        </a:rPr>
                        <a:t>3</a:t>
                      </a:r>
                      <a:r>
                        <a:rPr lang="zh-CN" altLang="en-US" sz="900" b="0" kern="1200" dirty="0">
                          <a:solidFill>
                            <a:schemeClr val="dk1"/>
                          </a:solidFill>
                          <a:latin typeface="+mn-ea"/>
                          <a:ea typeface="+mn-ea"/>
                          <a:cs typeface="+mn-cs"/>
                        </a:rPr>
                        <a:t>种。</a:t>
                      </a:r>
                      <a:r>
                        <a:rPr lang="en-US" altLang="zh-CN" sz="900" b="0" kern="1200" dirty="0">
                          <a:solidFill>
                            <a:schemeClr val="dk1"/>
                          </a:solidFill>
                          <a:latin typeface="+mn-ea"/>
                          <a:ea typeface="+mn-ea"/>
                          <a:cs typeface="+mn-cs"/>
                        </a:rPr>
                        <a:t>2.</a:t>
                      </a:r>
                      <a:r>
                        <a:rPr lang="zh-CN" altLang="en-US" sz="900" b="0" kern="1200" dirty="0">
                          <a:solidFill>
                            <a:schemeClr val="dk1"/>
                          </a:solidFill>
                          <a:latin typeface="+mn-ea"/>
                          <a:ea typeface="+mn-ea"/>
                          <a:cs typeface="+mn-cs"/>
                        </a:rPr>
                        <a:t>当车主进入洽谈区就坐后，保证现磨咖啡提供。</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220353235"/>
                  </a:ext>
                </a:extLst>
              </a:tr>
              <a:tr h="363397">
                <a:tc>
                  <a:txBody>
                    <a:bodyPr/>
                    <a:lstStyle/>
                    <a:p>
                      <a:pPr algn="l"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销售顾问对车型介绍专业性</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战败弱项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just">
                        <a:lnSpc>
                          <a:spcPct val="100000"/>
                        </a:lnSpc>
                        <a:spcBef>
                          <a:spcPts val="600"/>
                        </a:spcBef>
                      </a:pPr>
                      <a:r>
                        <a:rPr lang="en-US" altLang="zh-CN" sz="900" b="1" kern="100" dirty="0">
                          <a:solidFill>
                            <a:schemeClr val="bg1">
                              <a:lumMod val="10000"/>
                            </a:schemeClr>
                          </a:solidFill>
                          <a:effectLst/>
                          <a:latin typeface="+mn-ea"/>
                          <a:ea typeface="+mn-ea"/>
                          <a:cs typeface="Times New Roman" panose="02020603050405020304" pitchFamily="18" charset="0"/>
                        </a:rPr>
                        <a:t>【</a:t>
                      </a:r>
                      <a:r>
                        <a:rPr lang="zh-CN" altLang="en-US" sz="900" b="1" kern="100" dirty="0">
                          <a:solidFill>
                            <a:schemeClr val="bg1">
                              <a:lumMod val="10000"/>
                            </a:schemeClr>
                          </a:solidFill>
                          <a:effectLst/>
                          <a:latin typeface="+mn-ea"/>
                          <a:ea typeface="+mn-ea"/>
                          <a:cs typeface="Times New Roman" panose="02020603050405020304" pitchFamily="18" charset="0"/>
                        </a:rPr>
                        <a:t>强化员工培训</a:t>
                      </a:r>
                      <a:r>
                        <a:rPr lang="en-US" altLang="zh-CN" sz="900" b="1" kern="100" dirty="0">
                          <a:solidFill>
                            <a:schemeClr val="bg1">
                              <a:lumMod val="10000"/>
                            </a:schemeClr>
                          </a:solidFill>
                          <a:effectLst/>
                          <a:latin typeface="+mn-ea"/>
                          <a:ea typeface="+mn-ea"/>
                          <a:cs typeface="Times New Roman" panose="02020603050405020304" pitchFamily="18" charset="0"/>
                        </a:rPr>
                        <a:t>】</a:t>
                      </a:r>
                      <a:r>
                        <a:rPr lang="en-US" altLang="zh-CN" sz="900" b="0" kern="100" dirty="0">
                          <a:solidFill>
                            <a:schemeClr val="bg1">
                              <a:lumMod val="10000"/>
                            </a:schemeClr>
                          </a:solidFill>
                          <a:effectLst/>
                          <a:latin typeface="+mn-ea"/>
                          <a:ea typeface="+mn-ea"/>
                          <a:cs typeface="Times New Roman" panose="02020603050405020304" pitchFamily="18" charset="0"/>
                        </a:rPr>
                        <a:t>1. </a:t>
                      </a:r>
                      <a:r>
                        <a:rPr lang="zh-CN" altLang="en-US" sz="900" b="0" kern="100" dirty="0">
                          <a:solidFill>
                            <a:schemeClr val="bg1">
                              <a:lumMod val="10000"/>
                            </a:schemeClr>
                          </a:solidFill>
                          <a:effectLst/>
                          <a:latin typeface="+mn-ea"/>
                          <a:ea typeface="+mn-ea"/>
                          <a:cs typeface="Times New Roman" panose="02020603050405020304" pitchFamily="18" charset="0"/>
                        </a:rPr>
                        <a:t>增强销售顾问自己对产品的理解，将术语转化为通俗易懂的话。</a:t>
                      </a:r>
                      <a:r>
                        <a:rPr lang="en-US" altLang="zh-CN" sz="900" b="0" kern="100" dirty="0">
                          <a:solidFill>
                            <a:schemeClr val="bg1">
                              <a:lumMod val="10000"/>
                            </a:schemeClr>
                          </a:solidFill>
                          <a:effectLst/>
                          <a:latin typeface="+mn-ea"/>
                          <a:ea typeface="+mn-ea"/>
                          <a:cs typeface="Times New Roman" panose="02020603050405020304" pitchFamily="18" charset="0"/>
                        </a:rPr>
                        <a:t>2. </a:t>
                      </a:r>
                      <a:r>
                        <a:rPr lang="zh-CN" altLang="en-US" sz="900" b="0" kern="100" dirty="0">
                          <a:solidFill>
                            <a:schemeClr val="bg1">
                              <a:lumMod val="10000"/>
                            </a:schemeClr>
                          </a:solidFill>
                          <a:effectLst/>
                          <a:latin typeface="+mn-ea"/>
                          <a:ea typeface="+mn-ea"/>
                          <a:cs typeface="Times New Roman" panose="02020603050405020304" pitchFamily="18" charset="0"/>
                        </a:rPr>
                        <a:t>增强与客户互动性，从客户回答中着重介绍。</a:t>
                      </a:r>
                      <a:r>
                        <a:rPr lang="en-US" altLang="zh-CN" sz="900" b="0" kern="100" dirty="0">
                          <a:solidFill>
                            <a:schemeClr val="bg1">
                              <a:lumMod val="10000"/>
                            </a:schemeClr>
                          </a:solidFill>
                          <a:effectLst/>
                          <a:latin typeface="+mn-ea"/>
                          <a:ea typeface="+mn-ea"/>
                          <a:cs typeface="Times New Roman" panose="02020603050405020304" pitchFamily="18" charset="0"/>
                        </a:rPr>
                        <a:t>3. </a:t>
                      </a:r>
                      <a:r>
                        <a:rPr lang="zh-CN" altLang="en-US" sz="900" b="0" kern="100" dirty="0">
                          <a:solidFill>
                            <a:schemeClr val="bg1">
                              <a:lumMod val="10000"/>
                            </a:schemeClr>
                          </a:solidFill>
                          <a:effectLst/>
                          <a:latin typeface="+mn-ea"/>
                          <a:ea typeface="+mn-ea"/>
                          <a:cs typeface="Times New Roman" panose="02020603050405020304" pitchFamily="18" charset="0"/>
                        </a:rPr>
                        <a:t>增强产品介绍话术的培训、门店内训、门店内部总结。</a:t>
                      </a:r>
                      <a:endParaRPr lang="en-US" altLang="zh-CN" sz="900" b="0" kern="100" dirty="0">
                        <a:solidFill>
                          <a:srgbClr val="FF0000"/>
                        </a:solidFill>
                        <a:effectLst/>
                        <a:latin typeface="+mn-ea"/>
                        <a:ea typeface="+mn-ea"/>
                        <a:cs typeface="Times New Roman" panose="02020603050405020304" pitchFamily="18" charset="0"/>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493536052"/>
                  </a:ext>
                </a:extLst>
              </a:tr>
              <a:tr h="363397">
                <a:tc>
                  <a:txBody>
                    <a:bodyPr/>
                    <a:lstStyle/>
                    <a:p>
                      <a:pPr algn="l"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销售顾问理解购车需求及针对性的推荐程度</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战败弱项、犹豫弱项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just">
                        <a:lnSpc>
                          <a:spcPct val="100000"/>
                        </a:lnSpc>
                        <a:spcBef>
                          <a:spcPts val="600"/>
                        </a:spcBef>
                      </a:pPr>
                      <a:r>
                        <a:rPr lang="en-US" altLang="zh-CN" sz="900" b="1" kern="100" dirty="0">
                          <a:solidFill>
                            <a:schemeClr val="bg1">
                              <a:lumMod val="10000"/>
                            </a:schemeClr>
                          </a:solidFill>
                          <a:effectLst/>
                          <a:latin typeface="+mn-ea"/>
                          <a:ea typeface="+mn-ea"/>
                          <a:cs typeface="Times New Roman" panose="02020603050405020304" pitchFamily="18" charset="0"/>
                        </a:rPr>
                        <a:t>【</a:t>
                      </a:r>
                      <a:r>
                        <a:rPr lang="zh-CN" altLang="en-US" sz="900" b="1" kern="100" dirty="0">
                          <a:solidFill>
                            <a:schemeClr val="bg1">
                              <a:lumMod val="10000"/>
                            </a:schemeClr>
                          </a:solidFill>
                          <a:effectLst/>
                          <a:latin typeface="+mn-ea"/>
                          <a:ea typeface="+mn-ea"/>
                          <a:cs typeface="Times New Roman" panose="02020603050405020304" pitchFamily="18" charset="0"/>
                        </a:rPr>
                        <a:t>强化员工培训、神秘客检查</a:t>
                      </a:r>
                      <a:r>
                        <a:rPr lang="en-US" altLang="zh-CN" sz="900" b="1" kern="100" dirty="0">
                          <a:solidFill>
                            <a:schemeClr val="bg1">
                              <a:lumMod val="10000"/>
                            </a:schemeClr>
                          </a:solidFill>
                          <a:effectLst/>
                          <a:latin typeface="+mn-ea"/>
                          <a:ea typeface="+mn-ea"/>
                          <a:cs typeface="Times New Roman" panose="02020603050405020304" pitchFamily="18" charset="0"/>
                        </a:rPr>
                        <a:t>】</a:t>
                      </a:r>
                      <a:r>
                        <a:rPr lang="en-US" altLang="zh-CN" sz="900" b="0" kern="100" dirty="0">
                          <a:solidFill>
                            <a:schemeClr val="bg1">
                              <a:lumMod val="10000"/>
                            </a:schemeClr>
                          </a:solidFill>
                          <a:effectLst/>
                          <a:latin typeface="+mn-ea"/>
                          <a:ea typeface="+mn-ea"/>
                          <a:cs typeface="Times New Roman" panose="02020603050405020304" pitchFamily="18" charset="0"/>
                        </a:rPr>
                        <a:t>1</a:t>
                      </a:r>
                      <a:r>
                        <a:rPr lang="zh-CN" altLang="en-US" sz="900" b="0" kern="100" dirty="0">
                          <a:solidFill>
                            <a:schemeClr val="bg1">
                              <a:lumMod val="10000"/>
                            </a:schemeClr>
                          </a:solidFill>
                          <a:effectLst/>
                          <a:latin typeface="+mn-ea"/>
                          <a:ea typeface="+mn-ea"/>
                          <a:cs typeface="Times New Roman" panose="02020603050405020304" pitchFamily="18" charset="0"/>
                        </a:rPr>
                        <a:t>、加强对销售人员培训，在购车者的角度虑问题，加强日常的模拟训练；</a:t>
                      </a:r>
                      <a:r>
                        <a:rPr lang="en-US" altLang="zh-CN" sz="900" b="0" kern="100" dirty="0">
                          <a:solidFill>
                            <a:schemeClr val="bg1">
                              <a:lumMod val="10000"/>
                            </a:schemeClr>
                          </a:solidFill>
                          <a:effectLst/>
                          <a:latin typeface="+mn-ea"/>
                          <a:ea typeface="+mn-ea"/>
                          <a:cs typeface="Times New Roman" panose="02020603050405020304" pitchFamily="18" charset="0"/>
                        </a:rPr>
                        <a:t>2</a:t>
                      </a:r>
                      <a:r>
                        <a:rPr lang="zh-CN" altLang="en-US" sz="900" b="0" kern="100" dirty="0">
                          <a:solidFill>
                            <a:schemeClr val="bg1">
                              <a:lumMod val="10000"/>
                            </a:schemeClr>
                          </a:solidFill>
                          <a:effectLst/>
                          <a:latin typeface="+mn-ea"/>
                          <a:ea typeface="+mn-ea"/>
                          <a:cs typeface="Times New Roman" panose="02020603050405020304" pitchFamily="18" charset="0"/>
                        </a:rPr>
                        <a:t>、对业绩不高的销售，抽检试驾录音，判断对客户需求的理解和推荐，进行针对性提升；</a:t>
                      </a:r>
                      <a:r>
                        <a:rPr lang="en-US" altLang="zh-CN" sz="900" b="0" kern="100" dirty="0">
                          <a:solidFill>
                            <a:schemeClr val="bg1">
                              <a:lumMod val="10000"/>
                            </a:schemeClr>
                          </a:solidFill>
                          <a:effectLst/>
                          <a:latin typeface="+mn-ea"/>
                          <a:ea typeface="+mn-ea"/>
                          <a:cs typeface="Times New Roman" panose="02020603050405020304" pitchFamily="18" charset="0"/>
                        </a:rPr>
                        <a:t>3</a:t>
                      </a:r>
                      <a:r>
                        <a:rPr lang="zh-CN" altLang="en-US" sz="900" b="0" kern="100" dirty="0">
                          <a:solidFill>
                            <a:schemeClr val="bg1">
                              <a:lumMod val="10000"/>
                            </a:schemeClr>
                          </a:solidFill>
                          <a:effectLst/>
                          <a:latin typeface="+mn-ea"/>
                          <a:ea typeface="+mn-ea"/>
                          <a:cs typeface="Times New Roman" panose="02020603050405020304" pitchFamily="18" charset="0"/>
                        </a:rPr>
                        <a:t>、门店演练频次增加至每周一次，检查销售顾问是否按照标准了解客户需求；</a:t>
                      </a:r>
                      <a:r>
                        <a:rPr lang="en-US" altLang="zh-CN" sz="900" b="0" kern="100" dirty="0">
                          <a:solidFill>
                            <a:schemeClr val="bg1">
                              <a:lumMod val="10000"/>
                            </a:schemeClr>
                          </a:solidFill>
                          <a:effectLst/>
                          <a:latin typeface="+mn-ea"/>
                          <a:ea typeface="+mn-ea"/>
                          <a:cs typeface="Times New Roman" panose="02020603050405020304" pitchFamily="18" charset="0"/>
                        </a:rPr>
                        <a:t>4</a:t>
                      </a:r>
                      <a:r>
                        <a:rPr lang="zh-CN" altLang="en-US" sz="900" b="0" kern="100" dirty="0">
                          <a:solidFill>
                            <a:schemeClr val="bg1">
                              <a:lumMod val="10000"/>
                            </a:schemeClr>
                          </a:solidFill>
                          <a:effectLst/>
                          <a:latin typeface="+mn-ea"/>
                          <a:ea typeface="+mn-ea"/>
                          <a:cs typeface="Times New Roman" panose="02020603050405020304" pitchFamily="18" charset="0"/>
                        </a:rPr>
                        <a:t>、店长定期帮助销售复盘客户画像，尤其是新员工。</a:t>
                      </a:r>
                      <a:endParaRPr lang="en-US" altLang="zh-CN" sz="900" b="0" kern="100" dirty="0">
                        <a:solidFill>
                          <a:schemeClr val="bg1">
                            <a:lumMod val="10000"/>
                          </a:schemeClr>
                        </a:solidFill>
                        <a:effectLst/>
                        <a:latin typeface="+mn-ea"/>
                        <a:ea typeface="+mn-ea"/>
                        <a:cs typeface="Times New Roman" panose="02020603050405020304" pitchFamily="18" charset="0"/>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42752440"/>
                  </a:ext>
                </a:extLst>
              </a:tr>
              <a:tr h="227123">
                <a:tc>
                  <a:txBody>
                    <a:bodyPr/>
                    <a:lstStyle/>
                    <a:p>
                      <a:pPr algn="l"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门店静态演示和体验表现</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战败弱项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600"/>
                        </a:spcBef>
                        <a:spcAft>
                          <a:spcPts val="0"/>
                        </a:spcAft>
                        <a:buClrTx/>
                        <a:buSzTx/>
                        <a:buFontTx/>
                        <a:buNone/>
                        <a:tabLst/>
                        <a:defRPr/>
                      </a:pPr>
                      <a:r>
                        <a:rPr lang="en-US" altLang="zh-CN" sz="900" b="1" kern="100" dirty="0">
                          <a:solidFill>
                            <a:schemeClr val="bg1">
                              <a:lumMod val="10000"/>
                            </a:schemeClr>
                          </a:solidFill>
                          <a:effectLst/>
                          <a:latin typeface="+mn-ea"/>
                          <a:ea typeface="+mn-ea"/>
                          <a:cs typeface="Times New Roman" panose="02020603050405020304" pitchFamily="18" charset="0"/>
                        </a:rPr>
                        <a:t>【</a:t>
                      </a:r>
                      <a:r>
                        <a:rPr lang="zh-CN" altLang="en-US" sz="900" b="1" kern="100" dirty="0">
                          <a:solidFill>
                            <a:schemeClr val="bg1">
                              <a:lumMod val="10000"/>
                            </a:schemeClr>
                          </a:solidFill>
                          <a:effectLst/>
                          <a:latin typeface="+mn-ea"/>
                          <a:ea typeface="+mn-ea"/>
                          <a:cs typeface="Times New Roman" panose="02020603050405020304" pitchFamily="18" charset="0"/>
                        </a:rPr>
                        <a:t>强化员工培训</a:t>
                      </a:r>
                      <a:r>
                        <a:rPr lang="en-US" altLang="zh-CN" sz="900" b="1" kern="100" dirty="0">
                          <a:solidFill>
                            <a:schemeClr val="bg1">
                              <a:lumMod val="10000"/>
                            </a:schemeClr>
                          </a:solidFill>
                          <a:effectLst/>
                          <a:latin typeface="+mn-ea"/>
                          <a:ea typeface="+mn-ea"/>
                          <a:cs typeface="Times New Roman" panose="02020603050405020304" pitchFamily="18" charset="0"/>
                        </a:rPr>
                        <a:t>】</a:t>
                      </a:r>
                      <a:r>
                        <a:rPr lang="en-US" altLang="zh-CN" sz="900" b="0" kern="100" dirty="0">
                          <a:solidFill>
                            <a:schemeClr val="bg1">
                              <a:lumMod val="10000"/>
                            </a:schemeClr>
                          </a:solidFill>
                          <a:effectLst/>
                          <a:latin typeface="+mn-ea"/>
                          <a:ea typeface="+mn-ea"/>
                          <a:cs typeface="Times New Roman" panose="02020603050405020304" pitchFamily="18" charset="0"/>
                        </a:rPr>
                        <a:t>1</a:t>
                      </a:r>
                      <a:r>
                        <a:rPr lang="zh-CN" altLang="en-US" sz="900" b="0" kern="100" dirty="0">
                          <a:solidFill>
                            <a:schemeClr val="bg1">
                              <a:lumMod val="10000"/>
                            </a:schemeClr>
                          </a:solidFill>
                          <a:effectLst/>
                          <a:latin typeface="+mn-ea"/>
                          <a:ea typeface="+mn-ea"/>
                          <a:cs typeface="Times New Roman" panose="02020603050405020304" pitchFamily="18" charset="0"/>
                        </a:rPr>
                        <a:t>、加强展车检查维护工作；</a:t>
                      </a:r>
                      <a:r>
                        <a:rPr lang="en-US" altLang="zh-CN" sz="900" b="0" kern="100" dirty="0">
                          <a:solidFill>
                            <a:schemeClr val="bg1">
                              <a:lumMod val="10000"/>
                            </a:schemeClr>
                          </a:solidFill>
                          <a:effectLst/>
                          <a:latin typeface="+mn-ea"/>
                          <a:ea typeface="+mn-ea"/>
                          <a:cs typeface="Times New Roman" panose="02020603050405020304" pitchFamily="18" charset="0"/>
                        </a:rPr>
                        <a:t>2</a:t>
                      </a:r>
                      <a:r>
                        <a:rPr lang="zh-CN" altLang="en-US" sz="900" b="0" kern="100" dirty="0">
                          <a:solidFill>
                            <a:schemeClr val="bg1">
                              <a:lumMod val="10000"/>
                            </a:schemeClr>
                          </a:solidFill>
                          <a:effectLst/>
                          <a:latin typeface="+mn-ea"/>
                          <a:ea typeface="+mn-ea"/>
                          <a:cs typeface="Times New Roman" panose="02020603050405020304" pitchFamily="18" charset="0"/>
                        </a:rPr>
                        <a:t>、销售顾问主动邀请客户及其陪同人员入车体验；</a:t>
                      </a:r>
                      <a:r>
                        <a:rPr lang="en-US" altLang="zh-CN" sz="900" b="0" kern="100" dirty="0">
                          <a:solidFill>
                            <a:schemeClr val="bg1">
                              <a:lumMod val="10000"/>
                            </a:schemeClr>
                          </a:solidFill>
                          <a:effectLst/>
                          <a:latin typeface="+mn-ea"/>
                          <a:ea typeface="+mn-ea"/>
                          <a:cs typeface="Times New Roman" panose="02020603050405020304" pitchFamily="18" charset="0"/>
                        </a:rPr>
                        <a:t>3</a:t>
                      </a:r>
                      <a:r>
                        <a:rPr lang="zh-CN" altLang="en-US" sz="900" b="0" kern="100" dirty="0">
                          <a:solidFill>
                            <a:schemeClr val="bg1">
                              <a:lumMod val="10000"/>
                            </a:schemeClr>
                          </a:solidFill>
                          <a:effectLst/>
                          <a:latin typeface="+mn-ea"/>
                          <a:ea typeface="+mn-ea"/>
                          <a:cs typeface="Times New Roman" panose="02020603050405020304" pitchFamily="18" charset="0"/>
                        </a:rPr>
                        <a:t>、针对客户兴趣点与疑惑，销售顾问应针对性介绍。</a:t>
                      </a:r>
                      <a:endParaRPr lang="en-US" altLang="zh-CN" sz="900" b="0" kern="100" dirty="0">
                        <a:solidFill>
                          <a:schemeClr val="bg1">
                            <a:lumMod val="10000"/>
                          </a:schemeClr>
                        </a:solidFill>
                        <a:effectLst/>
                        <a:latin typeface="+mn-ea"/>
                        <a:ea typeface="+mn-ea"/>
                        <a:cs typeface="Times New Roman" panose="02020603050405020304" pitchFamily="18" charset="0"/>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788013860"/>
                  </a:ext>
                </a:extLst>
              </a:tr>
              <a:tr h="363397">
                <a:tc>
                  <a:txBody>
                    <a:bodyPr/>
                    <a:lstStyle/>
                    <a:p>
                      <a:pPr algn="l"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店内设计风格</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战败弱项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just">
                        <a:lnSpc>
                          <a:spcPct val="100000"/>
                        </a:lnSpc>
                        <a:spcBef>
                          <a:spcPts val="0"/>
                        </a:spcBef>
                      </a:pPr>
                      <a:r>
                        <a:rPr lang="en-US" altLang="zh-CN" sz="900" b="1" kern="100" dirty="0">
                          <a:solidFill>
                            <a:schemeClr val="bg1">
                              <a:lumMod val="10000"/>
                            </a:schemeClr>
                          </a:solidFill>
                          <a:effectLst/>
                          <a:latin typeface="+mn-ea"/>
                          <a:ea typeface="+mn-ea"/>
                          <a:cs typeface="Times New Roman" panose="02020603050405020304" pitchFamily="18" charset="0"/>
                        </a:rPr>
                        <a:t>【</a:t>
                      </a:r>
                      <a:r>
                        <a:rPr lang="zh-CN" altLang="en-US" sz="900" b="1" kern="100" dirty="0">
                          <a:solidFill>
                            <a:schemeClr val="bg1">
                              <a:lumMod val="10000"/>
                            </a:schemeClr>
                          </a:solidFill>
                          <a:effectLst/>
                          <a:latin typeface="+mn-ea"/>
                          <a:ea typeface="+mn-ea"/>
                          <a:cs typeface="Times New Roman" panose="02020603050405020304" pitchFamily="18" charset="0"/>
                        </a:rPr>
                        <a:t>强化基础标准</a:t>
                      </a:r>
                      <a:r>
                        <a:rPr lang="en-US" altLang="zh-CN" sz="900" b="1" kern="100" dirty="0">
                          <a:solidFill>
                            <a:schemeClr val="bg1">
                              <a:lumMod val="10000"/>
                            </a:schemeClr>
                          </a:solidFill>
                          <a:effectLst/>
                          <a:latin typeface="+mn-ea"/>
                          <a:ea typeface="+mn-ea"/>
                          <a:cs typeface="Times New Roman" panose="02020603050405020304" pitchFamily="18" charset="0"/>
                        </a:rPr>
                        <a:t>】</a:t>
                      </a:r>
                      <a:r>
                        <a:rPr lang="zh-CN" altLang="en-US" sz="900" b="0" kern="100" dirty="0">
                          <a:solidFill>
                            <a:schemeClr val="bg1">
                              <a:lumMod val="10000"/>
                            </a:schemeClr>
                          </a:solidFill>
                          <a:effectLst/>
                          <a:latin typeface="+mn-ea"/>
                          <a:ea typeface="+mn-ea"/>
                          <a:cs typeface="Times New Roman" panose="02020603050405020304" pitchFamily="18" charset="0"/>
                        </a:rPr>
                        <a:t>门店摆设更整洁；设计风格借鉴蔚来的“科技与美学结合”“高端体验”风格。增加培训内容：某品牌“模拟街区”设计。</a:t>
                      </a:r>
                      <a:endParaRPr lang="en-US" altLang="zh-CN" sz="900" b="0" kern="100" dirty="0">
                        <a:solidFill>
                          <a:schemeClr val="bg1">
                            <a:lumMod val="10000"/>
                          </a:schemeClr>
                        </a:solidFill>
                        <a:effectLst/>
                        <a:latin typeface="+mn-ea"/>
                        <a:ea typeface="+mn-ea"/>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900" b="1" kern="100" dirty="0">
                          <a:solidFill>
                            <a:schemeClr val="bg1">
                              <a:lumMod val="10000"/>
                            </a:schemeClr>
                          </a:solidFill>
                          <a:effectLst/>
                          <a:latin typeface="+mn-ea"/>
                          <a:ea typeface="+mn-ea"/>
                          <a:cs typeface="Times New Roman" panose="02020603050405020304" pitchFamily="18" charset="0"/>
                        </a:rPr>
                        <a:t>【</a:t>
                      </a:r>
                      <a:r>
                        <a:rPr lang="zh-CN" altLang="en-US" sz="900" b="1" kern="100" dirty="0">
                          <a:solidFill>
                            <a:schemeClr val="bg1">
                              <a:lumMod val="10000"/>
                            </a:schemeClr>
                          </a:solidFill>
                          <a:effectLst/>
                          <a:latin typeface="+mn-ea"/>
                          <a:ea typeface="+mn-ea"/>
                          <a:cs typeface="Times New Roman" panose="02020603050405020304" pitchFamily="18" charset="0"/>
                        </a:rPr>
                        <a:t>强化基础标准</a:t>
                      </a:r>
                      <a:r>
                        <a:rPr lang="en-US" altLang="zh-CN" sz="900" b="1" kern="100" dirty="0">
                          <a:solidFill>
                            <a:schemeClr val="bg1">
                              <a:lumMod val="10000"/>
                            </a:schemeClr>
                          </a:solidFill>
                          <a:effectLst/>
                          <a:latin typeface="+mn-ea"/>
                          <a:ea typeface="+mn-ea"/>
                          <a:cs typeface="Times New Roman" panose="02020603050405020304" pitchFamily="18" charset="0"/>
                        </a:rPr>
                        <a:t>】</a:t>
                      </a:r>
                      <a:r>
                        <a:rPr lang="zh-CN" altLang="en-US" sz="900" b="0" kern="100" dirty="0">
                          <a:solidFill>
                            <a:schemeClr val="bg1">
                              <a:lumMod val="10000"/>
                            </a:schemeClr>
                          </a:solidFill>
                          <a:effectLst/>
                          <a:latin typeface="+mn-ea"/>
                          <a:ea typeface="+mn-ea"/>
                          <a:cs typeface="Times New Roman" panose="02020603050405020304" pitchFamily="18" charset="0"/>
                        </a:rPr>
                        <a:t>线上传播、线下人员服饰、物料设计等凸显主题色，增强记忆点。</a:t>
                      </a:r>
                      <a:endParaRPr lang="en-US" altLang="zh-CN" sz="900" b="0" kern="100" dirty="0">
                        <a:solidFill>
                          <a:schemeClr val="bg1">
                            <a:lumMod val="10000"/>
                          </a:schemeClr>
                        </a:solidFill>
                        <a:effectLst/>
                        <a:latin typeface="+mn-ea"/>
                        <a:ea typeface="+mn-ea"/>
                        <a:cs typeface="Times New Roman" panose="02020603050405020304" pitchFamily="18" charset="0"/>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173302798"/>
                  </a:ext>
                </a:extLst>
              </a:tr>
              <a:tr h="499671">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900" b="0" i="0" u="none" strike="noStrike" dirty="0">
                          <a:solidFill>
                            <a:schemeClr val="tx1"/>
                          </a:solidFill>
                          <a:effectLst/>
                          <a:latin typeface="微软雅黑" panose="020B0503020204020204" pitchFamily="34" charset="-122"/>
                          <a:ea typeface="Alibaba PuHuiTi 2.0 55 Regular"/>
                        </a:rPr>
                        <a:t>销售顾问对车主权益和服务的介绍清晰程度</a:t>
                      </a:r>
                    </a:p>
                    <a:p>
                      <a:pPr algn="l" fontAlgn="ctr">
                        <a:lnSpc>
                          <a:spcPct val="100000"/>
                        </a:lnSpc>
                      </a:pPr>
                      <a:endParaRPr lang="zh-CN" altLang="en-US" sz="900" b="0" i="0" u="none" strike="noStrike" dirty="0">
                        <a:solidFill>
                          <a:schemeClr val="tx1"/>
                        </a:solidFill>
                        <a:effectLst/>
                        <a:latin typeface="微软雅黑" panose="020B0503020204020204" pitchFamily="34" charset="-122"/>
                        <a:ea typeface="Alibaba PuHuiTi 2.0 55 Regular"/>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犹豫弱项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900" b="1" i="0" u="none" strike="noStrike" dirty="0">
                          <a:solidFill>
                            <a:schemeClr val="tx1"/>
                          </a:solidFill>
                          <a:effectLst/>
                          <a:latin typeface="微软雅黑" panose="020B0503020204020204" pitchFamily="34" charset="-122"/>
                          <a:ea typeface="Alibaba PuHuiTi 2.0 55 Regular"/>
                        </a:rPr>
                        <a:t>【</a:t>
                      </a:r>
                      <a:r>
                        <a:rPr lang="zh-CN" altLang="en-US" sz="900" b="1" i="0" u="none" strike="noStrike" dirty="0">
                          <a:solidFill>
                            <a:schemeClr val="tx1"/>
                          </a:solidFill>
                          <a:effectLst/>
                          <a:latin typeface="微软雅黑" panose="020B0503020204020204" pitchFamily="34" charset="-122"/>
                          <a:ea typeface="Alibaba PuHuiTi 2.0 55 Regular"/>
                        </a:rPr>
                        <a:t>加强流程检查</a:t>
                      </a:r>
                      <a:r>
                        <a:rPr lang="en-US" altLang="zh-CN" sz="900" b="1" i="0" u="none" strike="noStrike" dirty="0">
                          <a:solidFill>
                            <a:schemeClr val="tx1"/>
                          </a:solidFill>
                          <a:effectLst/>
                          <a:latin typeface="微软雅黑" panose="020B0503020204020204" pitchFamily="34" charset="-122"/>
                          <a:ea typeface="Alibaba PuHuiTi 2.0 55 Regular"/>
                        </a:rPr>
                        <a:t>】</a:t>
                      </a:r>
                      <a:r>
                        <a:rPr lang="zh-CN" altLang="en-US" sz="900" b="0" i="0" u="none" strike="noStrike" dirty="0">
                          <a:solidFill>
                            <a:schemeClr val="tx1"/>
                          </a:solidFill>
                          <a:effectLst/>
                          <a:latin typeface="微软雅黑" panose="020B0503020204020204" pitchFamily="34" charset="-122"/>
                          <a:ea typeface="Alibaba PuHuiTi 2.0 55 Regular"/>
                        </a:rPr>
                        <a:t>完善相关执行标准，销售人员必须主动介绍规定范围内的权益政策，针对车主感兴趣的部分需要重点讲解。</a:t>
                      </a:r>
                    </a:p>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900" b="1" i="0" u="none" strike="noStrike" dirty="0">
                          <a:solidFill>
                            <a:schemeClr val="tx1"/>
                          </a:solidFill>
                          <a:effectLst/>
                          <a:latin typeface="微软雅黑" panose="020B0503020204020204" pitchFamily="34" charset="-122"/>
                          <a:ea typeface="Alibaba PuHuiTi 2.0 55 Regular"/>
                        </a:rPr>
                        <a:t>【</a:t>
                      </a:r>
                      <a:r>
                        <a:rPr lang="zh-CN" altLang="en-US" sz="900" b="1" i="0" u="none" strike="noStrike" dirty="0">
                          <a:solidFill>
                            <a:schemeClr val="tx1"/>
                          </a:solidFill>
                          <a:effectLst/>
                          <a:latin typeface="微软雅黑" panose="020B0503020204020204" pitchFamily="34" charset="-122"/>
                          <a:ea typeface="Alibaba PuHuiTi 2.0 55 Regular"/>
                        </a:rPr>
                        <a:t>强化基础标准</a:t>
                      </a:r>
                      <a:r>
                        <a:rPr lang="en-US" altLang="zh-CN" sz="900" b="1" i="0" u="none" strike="noStrike" dirty="0">
                          <a:solidFill>
                            <a:schemeClr val="tx1"/>
                          </a:solidFill>
                          <a:effectLst/>
                          <a:latin typeface="微软雅黑" panose="020B0503020204020204" pitchFamily="34" charset="-122"/>
                          <a:ea typeface="Alibaba PuHuiTi 2.0 55 Regular"/>
                        </a:rPr>
                        <a:t>】</a:t>
                      </a:r>
                      <a:r>
                        <a:rPr lang="en-US" altLang="zh-CN" sz="900" b="0" i="0" u="none" strike="noStrike" dirty="0">
                          <a:solidFill>
                            <a:schemeClr val="tx1"/>
                          </a:solidFill>
                          <a:effectLst/>
                          <a:latin typeface="微软雅黑" panose="020B0503020204020204" pitchFamily="34" charset="-122"/>
                          <a:ea typeface="Alibaba PuHuiTi 2.0 55 Regular"/>
                        </a:rPr>
                        <a:t>1</a:t>
                      </a:r>
                      <a:r>
                        <a:rPr lang="zh-CN" altLang="en-US" sz="900" b="0" i="0" u="none" strike="noStrike" dirty="0">
                          <a:solidFill>
                            <a:schemeClr val="tx1"/>
                          </a:solidFill>
                          <a:effectLst/>
                          <a:latin typeface="微软雅黑" panose="020B0503020204020204" pitchFamily="34" charset="-122"/>
                          <a:ea typeface="Alibaba PuHuiTi 2.0 55 Regular"/>
                        </a:rPr>
                        <a:t>、规范洽谈期间销售人员承诺的各项礼品、权益内容，对于过度承诺的进行罚款。</a:t>
                      </a:r>
                      <a:r>
                        <a:rPr lang="en-US" altLang="zh-CN" sz="900" b="0" i="0" u="none" strike="noStrike" dirty="0">
                          <a:solidFill>
                            <a:schemeClr val="tx1"/>
                          </a:solidFill>
                          <a:effectLst/>
                          <a:latin typeface="微软雅黑" panose="020B0503020204020204" pitchFamily="34" charset="-122"/>
                          <a:ea typeface="Alibaba PuHuiTi 2.0 55 Regular"/>
                        </a:rPr>
                        <a:t>2</a:t>
                      </a:r>
                      <a:r>
                        <a:rPr lang="zh-CN" altLang="en-US" sz="900" b="0" i="0" u="none" strike="noStrike" dirty="0">
                          <a:solidFill>
                            <a:schemeClr val="tx1"/>
                          </a:solidFill>
                          <a:effectLst/>
                          <a:latin typeface="微软雅黑" panose="020B0503020204020204" pitchFamily="34" charset="-122"/>
                          <a:ea typeface="Alibaba PuHuiTi 2.0 55 Regular"/>
                        </a:rPr>
                        <a:t>、口述完之后再给车主一个纸质的报价单，把权益写清楚。</a:t>
                      </a:r>
                    </a:p>
                    <a:p>
                      <a:pPr algn="l" fontAlgn="ctr">
                        <a:lnSpc>
                          <a:spcPct val="100000"/>
                        </a:lnSpc>
                      </a:pPr>
                      <a:r>
                        <a:rPr lang="en-US" altLang="zh-CN" sz="900" b="1" i="0" u="none" strike="noStrike" dirty="0">
                          <a:solidFill>
                            <a:schemeClr val="tx1"/>
                          </a:solidFill>
                          <a:effectLst/>
                          <a:latin typeface="微软雅黑" panose="020B0503020204020204" pitchFamily="34" charset="-122"/>
                          <a:ea typeface="Alibaba PuHuiTi 2.0 55 Regular"/>
                        </a:rPr>
                        <a:t>【</a:t>
                      </a:r>
                      <a:r>
                        <a:rPr lang="zh-CN" altLang="en-US" sz="900" b="1" i="0" u="none" strike="noStrike" dirty="0">
                          <a:solidFill>
                            <a:schemeClr val="tx1"/>
                          </a:solidFill>
                          <a:effectLst/>
                          <a:latin typeface="微软雅黑" panose="020B0503020204020204" pitchFamily="34" charset="-122"/>
                          <a:ea typeface="Alibaba PuHuiTi 2.0 55 Regular"/>
                        </a:rPr>
                        <a:t>强化基础标准</a:t>
                      </a:r>
                      <a:r>
                        <a:rPr lang="en-US" altLang="zh-CN" sz="900" b="1" i="0" u="none" strike="noStrike" dirty="0">
                          <a:solidFill>
                            <a:schemeClr val="tx1"/>
                          </a:solidFill>
                          <a:effectLst/>
                          <a:latin typeface="微软雅黑" panose="020B0503020204020204" pitchFamily="34" charset="-122"/>
                          <a:ea typeface="Alibaba PuHuiTi 2.0 55 Regular"/>
                        </a:rPr>
                        <a:t>】</a:t>
                      </a:r>
                      <a:r>
                        <a:rPr lang="zh-CN" altLang="en-US" sz="900" b="0" i="0" u="none" strike="noStrike" dirty="0">
                          <a:solidFill>
                            <a:schemeClr val="tx1"/>
                          </a:solidFill>
                          <a:effectLst/>
                          <a:latin typeface="微软雅黑" panose="020B0503020204020204" pitchFamily="34" charset="-122"/>
                          <a:ea typeface="Alibaba PuHuiTi 2.0 55 Regular"/>
                        </a:rPr>
                        <a:t>挖掘本区域优惠政策，并主动提供给用户。例如政府支持，大客户政策等。</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421706585"/>
                  </a:ext>
                </a:extLst>
              </a:tr>
              <a:tr h="363397">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900" b="0" i="0" u="none" strike="noStrike" dirty="0">
                          <a:solidFill>
                            <a:schemeClr val="tx1"/>
                          </a:solidFill>
                          <a:effectLst/>
                          <a:latin typeface="微软雅黑" panose="020B0503020204020204" pitchFamily="34" charset="-122"/>
                          <a:ea typeface="Alibaba PuHuiTi 2.0 55 Regular"/>
                        </a:rPr>
                        <a:t>试驾结束后的持续服务</a:t>
                      </a:r>
                      <a:endParaRPr lang="en-US" altLang="zh-CN" sz="900" b="0" i="0" u="none" strike="noStrike" dirty="0">
                        <a:solidFill>
                          <a:schemeClr val="tx1"/>
                        </a:solidFill>
                        <a:effectLst/>
                        <a:latin typeface="微软雅黑" panose="020B0503020204020204" pitchFamily="34" charset="-122"/>
                        <a:ea typeface="Alibaba PuHuiTi 2.0 55 Regular"/>
                      </a:endParaRPr>
                    </a:p>
                    <a:p>
                      <a:pPr algn="l" fontAlgn="ctr">
                        <a:lnSpc>
                          <a:spcPct val="100000"/>
                        </a:lnSpc>
                      </a:pPr>
                      <a:endParaRPr lang="zh-CN" altLang="en-US" sz="900" b="0" i="0" u="none" strike="noStrike" dirty="0">
                        <a:solidFill>
                          <a:schemeClr val="tx1"/>
                        </a:solidFill>
                        <a:effectLst/>
                        <a:latin typeface="微软雅黑" panose="020B0503020204020204" pitchFamily="34" charset="-122"/>
                        <a:ea typeface="Alibaba PuHuiTi 2.0 55 Regular"/>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自评弱项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just">
                        <a:lnSpc>
                          <a:spcPct val="100000"/>
                        </a:lnSpc>
                        <a:spcBef>
                          <a:spcPts val="600"/>
                        </a:spcBef>
                      </a:pPr>
                      <a:r>
                        <a:rPr lang="en-US" altLang="zh-CN" sz="900" b="1" kern="100" dirty="0">
                          <a:solidFill>
                            <a:schemeClr val="bg1">
                              <a:lumMod val="10000"/>
                            </a:schemeClr>
                          </a:solidFill>
                          <a:effectLst/>
                          <a:latin typeface="+mn-ea"/>
                          <a:ea typeface="+mn-ea"/>
                          <a:cs typeface="Times New Roman" panose="02020603050405020304" pitchFamily="18" charset="0"/>
                        </a:rPr>
                        <a:t>【</a:t>
                      </a:r>
                      <a:r>
                        <a:rPr lang="zh-CN" altLang="en-US" sz="900" b="1" kern="100" dirty="0">
                          <a:solidFill>
                            <a:schemeClr val="bg1">
                              <a:lumMod val="10000"/>
                            </a:schemeClr>
                          </a:solidFill>
                          <a:effectLst/>
                          <a:latin typeface="+mn-ea"/>
                          <a:ea typeface="+mn-ea"/>
                          <a:cs typeface="Times New Roman" panose="02020603050405020304" pitchFamily="18" charset="0"/>
                        </a:rPr>
                        <a:t>加强流程检查</a:t>
                      </a:r>
                      <a:r>
                        <a:rPr lang="en-US" altLang="zh-CN" sz="900" b="1" kern="100" dirty="0">
                          <a:solidFill>
                            <a:schemeClr val="bg1">
                              <a:lumMod val="10000"/>
                            </a:schemeClr>
                          </a:solidFill>
                          <a:effectLst/>
                          <a:latin typeface="+mn-ea"/>
                          <a:ea typeface="+mn-ea"/>
                          <a:cs typeface="Times New Roman" panose="02020603050405020304" pitchFamily="18" charset="0"/>
                        </a:rPr>
                        <a:t>】</a:t>
                      </a:r>
                      <a:r>
                        <a:rPr lang="en-US" altLang="zh-CN" sz="900" b="0" kern="100" dirty="0">
                          <a:solidFill>
                            <a:schemeClr val="bg1">
                              <a:lumMod val="10000"/>
                            </a:schemeClr>
                          </a:solidFill>
                          <a:effectLst/>
                          <a:latin typeface="+mn-ea"/>
                          <a:ea typeface="+mn-ea"/>
                          <a:cs typeface="Times New Roman" panose="02020603050405020304" pitchFamily="18" charset="0"/>
                        </a:rPr>
                        <a:t>1</a:t>
                      </a:r>
                      <a:r>
                        <a:rPr lang="zh-CN" altLang="en-US" sz="900" b="0" kern="100" dirty="0">
                          <a:solidFill>
                            <a:schemeClr val="bg1">
                              <a:lumMod val="10000"/>
                            </a:schemeClr>
                          </a:solidFill>
                          <a:effectLst/>
                          <a:latin typeface="+mn-ea"/>
                          <a:ea typeface="+mn-ea"/>
                          <a:cs typeface="Times New Roman" panose="02020603050405020304" pitchFamily="18" charset="0"/>
                        </a:rPr>
                        <a:t>、考核试驾后引导回店，以及询问客户感受意向检查。</a:t>
                      </a:r>
                      <a:r>
                        <a:rPr lang="en-US" altLang="zh-CN" sz="900" b="0" kern="100" dirty="0">
                          <a:solidFill>
                            <a:schemeClr val="bg1">
                              <a:lumMod val="10000"/>
                            </a:schemeClr>
                          </a:solidFill>
                          <a:effectLst/>
                          <a:latin typeface="+mn-ea"/>
                          <a:ea typeface="+mn-ea"/>
                          <a:cs typeface="Times New Roman" panose="02020603050405020304" pitchFamily="18" charset="0"/>
                        </a:rPr>
                        <a:t>2</a:t>
                      </a:r>
                      <a:r>
                        <a:rPr lang="zh-CN" altLang="en-US" sz="900" b="0" kern="100" dirty="0">
                          <a:solidFill>
                            <a:schemeClr val="bg1">
                              <a:lumMod val="10000"/>
                            </a:schemeClr>
                          </a:solidFill>
                          <a:effectLst/>
                          <a:latin typeface="+mn-ea"/>
                          <a:ea typeface="+mn-ea"/>
                          <a:cs typeface="Times New Roman" panose="02020603050405020304" pitchFamily="18" charset="0"/>
                        </a:rPr>
                        <a:t>、要求试驾完之后把客户带上来，如果不带上来，主管询问销售顾问未带上来的原因。</a:t>
                      </a:r>
                      <a:r>
                        <a:rPr lang="en-US" altLang="zh-CN" sz="900" b="0" kern="100" dirty="0">
                          <a:solidFill>
                            <a:schemeClr val="bg1">
                              <a:lumMod val="10000"/>
                            </a:schemeClr>
                          </a:solidFill>
                          <a:effectLst/>
                          <a:latin typeface="+mn-ea"/>
                          <a:ea typeface="+mn-ea"/>
                          <a:cs typeface="Times New Roman" panose="02020603050405020304" pitchFamily="18" charset="0"/>
                        </a:rPr>
                        <a:t>3. </a:t>
                      </a:r>
                      <a:r>
                        <a:rPr lang="zh-CN" altLang="en-US" sz="900" b="0" kern="100" dirty="0">
                          <a:solidFill>
                            <a:schemeClr val="bg1">
                              <a:lumMod val="10000"/>
                            </a:schemeClr>
                          </a:solidFill>
                          <a:effectLst/>
                          <a:latin typeface="+mn-ea"/>
                          <a:ea typeface="+mn-ea"/>
                          <a:cs typeface="Times New Roman" panose="02020603050405020304" pitchFamily="18" charset="0"/>
                        </a:rPr>
                        <a:t>试驾结束引导话术，如提供咖啡方式邀请客户回店。</a:t>
                      </a:r>
                      <a:endParaRPr lang="en-US" altLang="zh-CN" sz="900" b="0" kern="100" dirty="0">
                        <a:solidFill>
                          <a:schemeClr val="bg1">
                            <a:lumMod val="10000"/>
                          </a:schemeClr>
                        </a:solidFill>
                        <a:effectLst/>
                        <a:latin typeface="+mn-ea"/>
                        <a:ea typeface="+mn-ea"/>
                        <a:cs typeface="Times New Roman" panose="02020603050405020304" pitchFamily="18" charset="0"/>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119267817"/>
                  </a:ext>
                </a:extLst>
              </a:tr>
              <a:tr h="499671">
                <a:tc>
                  <a:txBody>
                    <a:bodyPr/>
                    <a:lstStyle/>
                    <a:p>
                      <a:pPr algn="l"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离店后的回访表现</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lnSpc>
                          <a:spcPct val="100000"/>
                        </a:lnSpc>
                      </a:pPr>
                      <a:r>
                        <a:rPr lang="zh-CN" altLang="en-US" sz="900" b="0" i="0" u="none" strike="noStrike" dirty="0">
                          <a:solidFill>
                            <a:schemeClr val="tx1"/>
                          </a:solidFill>
                          <a:effectLst/>
                          <a:latin typeface="微软雅黑" panose="020B0503020204020204" pitchFamily="34" charset="-122"/>
                          <a:ea typeface="Alibaba PuHuiTi 2.0 55 Regular"/>
                        </a:rPr>
                        <a:t>自评弱项、战败弱项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900" b="1" kern="100" dirty="0">
                          <a:solidFill>
                            <a:schemeClr val="bg1">
                              <a:lumMod val="10000"/>
                            </a:schemeClr>
                          </a:solidFill>
                          <a:effectLst/>
                          <a:latin typeface="+mn-ea"/>
                          <a:ea typeface="+mn-ea"/>
                          <a:cs typeface="Times New Roman" panose="02020603050405020304" pitchFamily="18" charset="0"/>
                        </a:rPr>
                        <a:t>【</a:t>
                      </a:r>
                      <a:r>
                        <a:rPr lang="zh-CN" altLang="en-US" sz="900" b="1" kern="100" dirty="0">
                          <a:solidFill>
                            <a:schemeClr val="bg1">
                              <a:lumMod val="10000"/>
                            </a:schemeClr>
                          </a:solidFill>
                          <a:effectLst/>
                          <a:latin typeface="+mn-ea"/>
                          <a:ea typeface="+mn-ea"/>
                          <a:cs typeface="Times New Roman" panose="02020603050405020304" pitchFamily="18" charset="0"/>
                        </a:rPr>
                        <a:t>加强流程检查</a:t>
                      </a:r>
                      <a:r>
                        <a:rPr lang="en-US" altLang="zh-CN" sz="900" b="1" kern="100" dirty="0">
                          <a:solidFill>
                            <a:schemeClr val="bg1">
                              <a:lumMod val="10000"/>
                            </a:schemeClr>
                          </a:solidFill>
                          <a:effectLst/>
                          <a:latin typeface="+mn-ea"/>
                          <a:ea typeface="+mn-ea"/>
                          <a:cs typeface="Times New Roman" panose="02020603050405020304" pitchFamily="18" charset="0"/>
                        </a:rPr>
                        <a:t>】</a:t>
                      </a:r>
                      <a:r>
                        <a:rPr lang="zh-CN" altLang="en-US" sz="900" b="0" kern="100" dirty="0">
                          <a:solidFill>
                            <a:schemeClr val="bg1">
                              <a:lumMod val="10000"/>
                            </a:schemeClr>
                          </a:solidFill>
                          <a:effectLst/>
                          <a:latin typeface="+mn-ea"/>
                          <a:ea typeface="+mn-ea"/>
                          <a:cs typeface="Times New Roman" panose="02020603050405020304" pitchFamily="18" charset="0"/>
                        </a:rPr>
                        <a:t>通过神秘客，增强客户离店</a:t>
                      </a:r>
                      <a:r>
                        <a:rPr lang="en-US" altLang="zh-CN" sz="900" b="0" kern="100" dirty="0">
                          <a:solidFill>
                            <a:schemeClr val="bg1">
                              <a:lumMod val="10000"/>
                            </a:schemeClr>
                          </a:solidFill>
                          <a:effectLst/>
                          <a:latin typeface="+mn-ea"/>
                          <a:ea typeface="+mn-ea"/>
                          <a:cs typeface="Times New Roman" panose="02020603050405020304" pitchFamily="18" charset="0"/>
                        </a:rPr>
                        <a:t>24</a:t>
                      </a:r>
                      <a:r>
                        <a:rPr lang="zh-CN" altLang="en-US" sz="900" b="0" kern="100" dirty="0">
                          <a:solidFill>
                            <a:schemeClr val="bg1">
                              <a:lumMod val="10000"/>
                            </a:schemeClr>
                          </a:solidFill>
                          <a:effectLst/>
                          <a:latin typeface="+mn-ea"/>
                          <a:ea typeface="+mn-ea"/>
                          <a:cs typeface="Times New Roman" panose="02020603050405020304" pitchFamily="18" charset="0"/>
                        </a:rPr>
                        <a:t>小时内回访检查。</a:t>
                      </a:r>
                      <a:endParaRPr lang="en-US" altLang="zh-CN" sz="900" b="0" kern="100" dirty="0">
                        <a:solidFill>
                          <a:schemeClr val="bg1">
                            <a:lumMod val="10000"/>
                          </a:schemeClr>
                        </a:solidFill>
                        <a:effectLst/>
                        <a:latin typeface="+mn-ea"/>
                        <a:ea typeface="+mn-ea"/>
                        <a:cs typeface="Times New Roman" panose="02020603050405020304"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900" b="1" kern="100" dirty="0">
                          <a:solidFill>
                            <a:schemeClr val="bg1">
                              <a:lumMod val="10000"/>
                            </a:schemeClr>
                          </a:solidFill>
                          <a:effectLst/>
                          <a:latin typeface="+mn-ea"/>
                          <a:ea typeface="+mn-ea"/>
                          <a:cs typeface="Times New Roman" panose="02020603050405020304" pitchFamily="18" charset="0"/>
                        </a:rPr>
                        <a:t>【</a:t>
                      </a:r>
                      <a:r>
                        <a:rPr lang="zh-CN" altLang="en-US" sz="900" b="1" kern="100" dirty="0">
                          <a:solidFill>
                            <a:schemeClr val="bg1">
                              <a:lumMod val="10000"/>
                            </a:schemeClr>
                          </a:solidFill>
                          <a:effectLst/>
                          <a:latin typeface="+mn-ea"/>
                          <a:ea typeface="+mn-ea"/>
                          <a:cs typeface="Times New Roman" panose="02020603050405020304" pitchFamily="18" charset="0"/>
                        </a:rPr>
                        <a:t>改善沟通话术</a:t>
                      </a:r>
                      <a:r>
                        <a:rPr lang="en-US" altLang="zh-CN" sz="900" b="1" kern="100" dirty="0">
                          <a:solidFill>
                            <a:schemeClr val="bg1">
                              <a:lumMod val="10000"/>
                            </a:schemeClr>
                          </a:solidFill>
                          <a:effectLst/>
                          <a:latin typeface="+mn-ea"/>
                          <a:ea typeface="+mn-ea"/>
                          <a:cs typeface="Times New Roman" panose="02020603050405020304" pitchFamily="18" charset="0"/>
                        </a:rPr>
                        <a:t>】【</a:t>
                      </a:r>
                      <a:r>
                        <a:rPr lang="zh-CN" altLang="en-US" sz="900" b="1" kern="100" dirty="0">
                          <a:solidFill>
                            <a:schemeClr val="bg1">
                              <a:lumMod val="10000"/>
                            </a:schemeClr>
                          </a:solidFill>
                          <a:effectLst/>
                          <a:latin typeface="+mn-ea"/>
                          <a:ea typeface="+mn-ea"/>
                          <a:cs typeface="Times New Roman" panose="02020603050405020304" pitchFamily="18" charset="0"/>
                        </a:rPr>
                        <a:t>客户分类跟进</a:t>
                      </a:r>
                      <a:r>
                        <a:rPr lang="en-US" altLang="zh-CN" sz="900" b="1" kern="100" dirty="0">
                          <a:solidFill>
                            <a:schemeClr val="bg1">
                              <a:lumMod val="10000"/>
                            </a:schemeClr>
                          </a:solidFill>
                          <a:effectLst/>
                          <a:latin typeface="+mn-ea"/>
                          <a:ea typeface="+mn-ea"/>
                          <a:cs typeface="Times New Roman" panose="02020603050405020304" pitchFamily="18" charset="0"/>
                        </a:rPr>
                        <a:t>】</a:t>
                      </a:r>
                      <a:r>
                        <a:rPr lang="en-US" altLang="zh-CN" sz="900" b="0" kern="100" dirty="0">
                          <a:solidFill>
                            <a:schemeClr val="bg1">
                              <a:lumMod val="10000"/>
                            </a:schemeClr>
                          </a:solidFill>
                          <a:effectLst/>
                          <a:latin typeface="+mn-ea"/>
                          <a:ea typeface="+mn-ea"/>
                          <a:cs typeface="Times New Roman" panose="02020603050405020304" pitchFamily="18" charset="0"/>
                        </a:rPr>
                        <a:t>1</a:t>
                      </a:r>
                      <a:r>
                        <a:rPr lang="zh-CN" altLang="en-US" sz="900" b="0" kern="100" dirty="0">
                          <a:solidFill>
                            <a:schemeClr val="bg1">
                              <a:lumMod val="10000"/>
                            </a:schemeClr>
                          </a:solidFill>
                          <a:effectLst/>
                          <a:latin typeface="+mn-ea"/>
                          <a:ea typeface="+mn-ea"/>
                          <a:cs typeface="Times New Roman" panose="02020603050405020304" pitchFamily="18" charset="0"/>
                        </a:rPr>
                        <a:t>、回访时询问体验满意度，主动介绍活动信息，可同时提供上门接送、上门试驾等服务，不能直接催促下定。</a:t>
                      </a:r>
                      <a:r>
                        <a:rPr lang="en-US" altLang="zh-CN" sz="900" b="0" kern="100" dirty="0">
                          <a:solidFill>
                            <a:schemeClr val="bg1">
                              <a:lumMod val="10000"/>
                            </a:schemeClr>
                          </a:solidFill>
                          <a:effectLst/>
                          <a:latin typeface="+mn-ea"/>
                          <a:ea typeface="+mn-ea"/>
                          <a:cs typeface="Times New Roman" panose="02020603050405020304" pitchFamily="18" charset="0"/>
                        </a:rPr>
                        <a:t>2</a:t>
                      </a:r>
                      <a:r>
                        <a:rPr lang="zh-CN" altLang="en-US" sz="900" b="0" kern="100" dirty="0">
                          <a:solidFill>
                            <a:schemeClr val="bg1">
                              <a:lumMod val="10000"/>
                            </a:schemeClr>
                          </a:solidFill>
                          <a:effectLst/>
                          <a:latin typeface="+mn-ea"/>
                          <a:ea typeface="+mn-ea"/>
                          <a:cs typeface="Times New Roman" panose="02020603050405020304" pitchFamily="18" charset="0"/>
                        </a:rPr>
                        <a:t>、回访频率根据客户类别定，分别为</a:t>
                      </a:r>
                      <a:r>
                        <a:rPr lang="en-US" altLang="zh-CN" sz="900" b="0" kern="100" dirty="0">
                          <a:solidFill>
                            <a:schemeClr val="bg1">
                              <a:lumMod val="10000"/>
                            </a:schemeClr>
                          </a:solidFill>
                          <a:effectLst/>
                          <a:latin typeface="+mn-ea"/>
                          <a:ea typeface="+mn-ea"/>
                          <a:cs typeface="Times New Roman" panose="02020603050405020304" pitchFamily="18" charset="0"/>
                        </a:rPr>
                        <a:t>3</a:t>
                      </a:r>
                      <a:r>
                        <a:rPr lang="zh-CN" altLang="en-US" sz="900" b="0" kern="100" dirty="0">
                          <a:solidFill>
                            <a:schemeClr val="bg1">
                              <a:lumMod val="10000"/>
                            </a:schemeClr>
                          </a:solidFill>
                          <a:effectLst/>
                          <a:latin typeface="+mn-ea"/>
                          <a:ea typeface="+mn-ea"/>
                          <a:cs typeface="Times New Roman" panose="02020603050405020304" pitchFamily="18" charset="0"/>
                        </a:rPr>
                        <a:t>天、</a:t>
                      </a:r>
                      <a:r>
                        <a:rPr lang="en-US" altLang="zh-CN" sz="900" b="0" kern="100" dirty="0">
                          <a:solidFill>
                            <a:schemeClr val="bg1">
                              <a:lumMod val="10000"/>
                            </a:schemeClr>
                          </a:solidFill>
                          <a:effectLst/>
                          <a:latin typeface="+mn-ea"/>
                          <a:ea typeface="+mn-ea"/>
                          <a:cs typeface="Times New Roman" panose="02020603050405020304" pitchFamily="18" charset="0"/>
                        </a:rPr>
                        <a:t>7</a:t>
                      </a:r>
                      <a:r>
                        <a:rPr lang="zh-CN" altLang="en-US" sz="900" b="0" kern="100" dirty="0">
                          <a:solidFill>
                            <a:schemeClr val="bg1">
                              <a:lumMod val="10000"/>
                            </a:schemeClr>
                          </a:solidFill>
                          <a:effectLst/>
                          <a:latin typeface="+mn-ea"/>
                          <a:ea typeface="+mn-ea"/>
                          <a:cs typeface="Times New Roman" panose="02020603050405020304" pitchFamily="18" charset="0"/>
                        </a:rPr>
                        <a:t>天、</a:t>
                      </a:r>
                      <a:r>
                        <a:rPr lang="en-US" altLang="zh-CN" sz="900" b="0" kern="100" dirty="0">
                          <a:solidFill>
                            <a:schemeClr val="bg1">
                              <a:lumMod val="10000"/>
                            </a:schemeClr>
                          </a:solidFill>
                          <a:effectLst/>
                          <a:latin typeface="+mn-ea"/>
                          <a:ea typeface="+mn-ea"/>
                          <a:cs typeface="Times New Roman" panose="02020603050405020304" pitchFamily="18" charset="0"/>
                        </a:rPr>
                        <a:t>15</a:t>
                      </a:r>
                      <a:r>
                        <a:rPr lang="zh-CN" altLang="en-US" sz="900" b="0" kern="100" dirty="0">
                          <a:solidFill>
                            <a:schemeClr val="bg1">
                              <a:lumMod val="10000"/>
                            </a:schemeClr>
                          </a:solidFill>
                          <a:effectLst/>
                          <a:latin typeface="+mn-ea"/>
                          <a:ea typeface="+mn-ea"/>
                          <a:cs typeface="Times New Roman" panose="02020603050405020304" pitchFamily="18" charset="0"/>
                        </a:rPr>
                        <a:t>天等。</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897399097"/>
                  </a:ext>
                </a:extLst>
              </a:tr>
            </a:tbl>
          </a:graphicData>
        </a:graphic>
      </p:graphicFrame>
      <p:sp>
        <p:nvSpPr>
          <p:cNvPr id="2" name="文本占位符 7">
            <a:extLst>
              <a:ext uri="{FF2B5EF4-FFF2-40B4-BE49-F238E27FC236}">
                <a16:creationId xmlns:a16="http://schemas.microsoft.com/office/drawing/2014/main" id="{864070E5-DD27-C530-E00E-847D30F49293}"/>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针对销售满意度调研中反映的弱项，总部应修订服务流程标准，并配合人员培训和流程检查确保终端执行</a:t>
            </a:r>
          </a:p>
        </p:txBody>
      </p:sp>
    </p:spTree>
    <p:extLst>
      <p:ext uri="{BB962C8B-B14F-4D97-AF65-F5344CB8AC3E}">
        <p14:creationId xmlns:p14="http://schemas.microsoft.com/office/powerpoint/2010/main" val="2316353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CE1A8736-9ACE-DA46-B790-8ABE7958B598}"/>
              </a:ext>
            </a:extLst>
          </p:cNvPr>
          <p:cNvSpPr>
            <a:spLocks noGrp="1"/>
          </p:cNvSpPr>
          <p:nvPr>
            <p:ph type="body" sz="quarter" idx="14"/>
          </p:nvPr>
        </p:nvSpPr>
        <p:spPr/>
        <p:txBody>
          <a:bodyPr/>
          <a:lstStyle/>
          <a:p>
            <a:endParaRPr lang="zh-CN" altLang="en-US" dirty="0"/>
          </a:p>
        </p:txBody>
      </p:sp>
      <p:sp>
        <p:nvSpPr>
          <p:cNvPr id="7" name="文本占位符 6">
            <a:extLst>
              <a:ext uri="{FF2B5EF4-FFF2-40B4-BE49-F238E27FC236}">
                <a16:creationId xmlns:a16="http://schemas.microsoft.com/office/drawing/2014/main" id="{672E21D2-E394-5C8A-3877-A7F07E5878B5}"/>
              </a:ext>
            </a:extLst>
          </p:cNvPr>
          <p:cNvSpPr>
            <a:spLocks noGrp="1"/>
          </p:cNvSpPr>
          <p:nvPr>
            <p:ph type="body" sz="quarter" idx="21"/>
          </p:nvPr>
        </p:nvSpPr>
        <p:spPr/>
        <p:txBody>
          <a:bodyPr/>
          <a:lstStyle/>
          <a:p>
            <a:r>
              <a:rPr lang="en-US" altLang="zh-CN" dirty="0">
                <a:latin typeface="+mn-ea"/>
                <a:ea typeface="+mn-ea"/>
              </a:rPr>
              <a:t>1.4 </a:t>
            </a:r>
            <a:r>
              <a:rPr lang="zh-CN" altLang="en-US" dirty="0"/>
              <a:t>交付弱项建议</a:t>
            </a:r>
          </a:p>
        </p:txBody>
      </p:sp>
      <p:sp>
        <p:nvSpPr>
          <p:cNvPr id="5" name="灯片编号占位符 4">
            <a:extLst>
              <a:ext uri="{FF2B5EF4-FFF2-40B4-BE49-F238E27FC236}">
                <a16:creationId xmlns:a16="http://schemas.microsoft.com/office/drawing/2014/main" id="{8A40F7E5-6669-B5AD-E7C9-951226BE65C6}"/>
              </a:ext>
            </a:extLst>
          </p:cNvPr>
          <p:cNvSpPr>
            <a:spLocks noGrp="1"/>
          </p:cNvSpPr>
          <p:nvPr>
            <p:ph type="sldNum" sz="quarter" idx="4"/>
          </p:nvPr>
        </p:nvSpPr>
        <p:spPr/>
        <p:txBody>
          <a:bodyPr/>
          <a:lstStyle/>
          <a:p>
            <a:fld id="{04824671-56D2-5D44-834F-250C3DA554E9}" type="slidenum">
              <a:rPr lang="zh-CN" altLang="en-US" smtClean="0"/>
              <a:t>17</a:t>
            </a:fld>
            <a:endParaRPr lang="zh-CN" altLang="en-US" dirty="0"/>
          </a:p>
        </p:txBody>
      </p:sp>
      <p:graphicFrame>
        <p:nvGraphicFramePr>
          <p:cNvPr id="4" name="表格 3">
            <a:extLst>
              <a:ext uri="{FF2B5EF4-FFF2-40B4-BE49-F238E27FC236}">
                <a16:creationId xmlns:a16="http://schemas.microsoft.com/office/drawing/2014/main" id="{AAEA62EF-FA96-9B0E-6450-3F211FEED03E}"/>
              </a:ext>
            </a:extLst>
          </p:cNvPr>
          <p:cNvGraphicFramePr>
            <a:graphicFrameLocks noGrp="1"/>
          </p:cNvGraphicFramePr>
          <p:nvPr>
            <p:extLst>
              <p:ext uri="{D42A27DB-BD31-4B8C-83A1-F6EECF244321}">
                <p14:modId xmlns:p14="http://schemas.microsoft.com/office/powerpoint/2010/main" val="3532200957"/>
              </p:ext>
            </p:extLst>
          </p:nvPr>
        </p:nvGraphicFramePr>
        <p:xfrm>
          <a:off x="263524" y="1932805"/>
          <a:ext cx="11675366" cy="4352418"/>
        </p:xfrm>
        <a:graphic>
          <a:graphicData uri="http://schemas.openxmlformats.org/drawingml/2006/table">
            <a:tbl>
              <a:tblPr>
                <a:tableStyleId>{5C22544A-7EE6-4342-B048-85BDC9FD1C3A}</a:tableStyleId>
              </a:tblPr>
              <a:tblGrid>
                <a:gridCol w="1707588">
                  <a:extLst>
                    <a:ext uri="{9D8B030D-6E8A-4147-A177-3AD203B41FA5}">
                      <a16:colId xmlns:a16="http://schemas.microsoft.com/office/drawing/2014/main" val="3641100078"/>
                    </a:ext>
                  </a:extLst>
                </a:gridCol>
                <a:gridCol w="1285853">
                  <a:extLst>
                    <a:ext uri="{9D8B030D-6E8A-4147-A177-3AD203B41FA5}">
                      <a16:colId xmlns:a16="http://schemas.microsoft.com/office/drawing/2014/main" val="1928503319"/>
                    </a:ext>
                  </a:extLst>
                </a:gridCol>
                <a:gridCol w="8681925">
                  <a:extLst>
                    <a:ext uri="{9D8B030D-6E8A-4147-A177-3AD203B41FA5}">
                      <a16:colId xmlns:a16="http://schemas.microsoft.com/office/drawing/2014/main" val="2277777967"/>
                    </a:ext>
                  </a:extLst>
                </a:gridCol>
              </a:tblGrid>
              <a:tr h="306000">
                <a:tc>
                  <a:txBody>
                    <a:bodyPr/>
                    <a:lstStyle/>
                    <a:p>
                      <a:pPr algn="ctr" fontAlgn="b"/>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服务弱项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弱项来源</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弱项提升建议</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709687140"/>
                  </a:ext>
                </a:extLst>
              </a:tr>
              <a:tr h="848547">
                <a:tc>
                  <a:txBody>
                    <a:bodyPr/>
                    <a:lstStyle/>
                    <a:p>
                      <a:pPr marL="0" algn="l"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交付等待流程体验</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自评弱项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just">
                        <a:lnSpc>
                          <a:spcPct val="100000"/>
                        </a:lnSpc>
                        <a:spcBef>
                          <a:spcPts val="600"/>
                        </a:spcBef>
                      </a:pPr>
                      <a:r>
                        <a:rPr lang="en-US" altLang="zh-CN" sz="1000" b="1" kern="100" dirty="0">
                          <a:solidFill>
                            <a:schemeClr val="tx1"/>
                          </a:solidFill>
                          <a:effectLst/>
                          <a:latin typeface="+mn-ea"/>
                          <a:ea typeface="+mn-ea"/>
                        </a:rPr>
                        <a:t>【</a:t>
                      </a:r>
                      <a:r>
                        <a:rPr lang="zh-CN" altLang="en-US" sz="1000" b="1" kern="100" dirty="0">
                          <a:solidFill>
                            <a:schemeClr val="tx1"/>
                          </a:solidFill>
                          <a:effectLst/>
                          <a:latin typeface="+mn-ea"/>
                          <a:ea typeface="+mn-ea"/>
                        </a:rPr>
                        <a:t>加强流程检查</a:t>
                      </a:r>
                      <a:r>
                        <a:rPr lang="en-US" altLang="zh-CN" sz="1000" b="1" kern="100" dirty="0">
                          <a:solidFill>
                            <a:schemeClr val="tx1"/>
                          </a:solidFill>
                          <a:effectLst/>
                          <a:latin typeface="+mn-ea"/>
                          <a:ea typeface="+mn-ea"/>
                        </a:rPr>
                        <a:t>】</a:t>
                      </a:r>
                      <a:r>
                        <a:rPr lang="zh-CN" altLang="en-US" sz="1000" b="0" kern="100" dirty="0">
                          <a:solidFill>
                            <a:schemeClr val="tx1"/>
                          </a:solidFill>
                          <a:effectLst/>
                          <a:latin typeface="+mn-ea"/>
                          <a:ea typeface="+mn-ea"/>
                        </a:rPr>
                        <a:t>微信群以及</a:t>
                      </a:r>
                      <a:r>
                        <a:rPr lang="en-US" altLang="zh-CN" sz="1000" b="0" kern="100" dirty="0">
                          <a:solidFill>
                            <a:schemeClr val="tx1"/>
                          </a:solidFill>
                          <a:effectLst/>
                          <a:latin typeface="+mn-ea"/>
                          <a:ea typeface="+mn-ea"/>
                        </a:rPr>
                        <a:t>APP</a:t>
                      </a:r>
                      <a:r>
                        <a:rPr lang="zh-CN" altLang="en-US" sz="1000" b="0" kern="100" dirty="0">
                          <a:solidFill>
                            <a:schemeClr val="tx1"/>
                          </a:solidFill>
                          <a:effectLst/>
                          <a:latin typeface="+mn-ea"/>
                          <a:ea typeface="+mn-ea"/>
                        </a:rPr>
                        <a:t>内同时反馈进度，比如车辆入库、到店、</a:t>
                      </a:r>
                      <a:r>
                        <a:rPr lang="en-US" altLang="zh-CN" sz="1000" b="0" kern="100" dirty="0">
                          <a:solidFill>
                            <a:schemeClr val="tx1"/>
                          </a:solidFill>
                          <a:effectLst/>
                          <a:latin typeface="+mn-ea"/>
                          <a:ea typeface="+mn-ea"/>
                        </a:rPr>
                        <a:t>PDI</a:t>
                      </a:r>
                      <a:r>
                        <a:rPr lang="zh-CN" altLang="en-US" sz="1000" b="0" kern="100" dirty="0">
                          <a:solidFill>
                            <a:schemeClr val="tx1"/>
                          </a:solidFill>
                          <a:effectLst/>
                          <a:latin typeface="+mn-ea"/>
                          <a:ea typeface="+mn-ea"/>
                        </a:rPr>
                        <a:t>准备完成。门店每周抽检交付聊天记录，检核主动性（进度主动告知）和及时性（</a:t>
                      </a:r>
                      <a:r>
                        <a:rPr lang="en-US" altLang="zh-CN" sz="1000" b="0" kern="100" dirty="0">
                          <a:solidFill>
                            <a:schemeClr val="tx1"/>
                          </a:solidFill>
                          <a:effectLst/>
                          <a:latin typeface="+mn-ea"/>
                          <a:ea typeface="+mn-ea"/>
                        </a:rPr>
                        <a:t>10</a:t>
                      </a:r>
                      <a:r>
                        <a:rPr lang="zh-CN" altLang="en-US" sz="1000" b="0" kern="100" dirty="0">
                          <a:solidFill>
                            <a:schemeClr val="tx1"/>
                          </a:solidFill>
                          <a:effectLst/>
                          <a:latin typeface="+mn-ea"/>
                          <a:ea typeface="+mn-ea"/>
                        </a:rPr>
                        <a:t>分钟内回复消息），并做抽检及跟踪处理记录，形成闭环管理。</a:t>
                      </a:r>
                    </a:p>
                    <a:p>
                      <a:pPr algn="l">
                        <a:lnSpc>
                          <a:spcPct val="100000"/>
                        </a:lnSpc>
                        <a:spcBef>
                          <a:spcPts val="600"/>
                        </a:spcBef>
                      </a:pPr>
                      <a:r>
                        <a:rPr lang="en-US" altLang="zh-CN" sz="1000" b="1" kern="100" dirty="0">
                          <a:solidFill>
                            <a:schemeClr val="tx1"/>
                          </a:solidFill>
                          <a:effectLst/>
                          <a:latin typeface="+mn-ea"/>
                          <a:ea typeface="+mn-ea"/>
                          <a:cs typeface="Times New Roman" panose="02020603050405020304" pitchFamily="18" charset="0"/>
                        </a:rPr>
                        <a:t>【</a:t>
                      </a:r>
                      <a:r>
                        <a:rPr lang="zh-CN" altLang="en-US" sz="1000" b="1" kern="100" dirty="0">
                          <a:solidFill>
                            <a:schemeClr val="tx1"/>
                          </a:solidFill>
                          <a:effectLst/>
                          <a:latin typeface="+mn-ea"/>
                          <a:ea typeface="+mn-ea"/>
                          <a:cs typeface="Times New Roman" panose="02020603050405020304" pitchFamily="18" charset="0"/>
                        </a:rPr>
                        <a:t>加强流程检查</a:t>
                      </a:r>
                      <a:r>
                        <a:rPr lang="en-US" altLang="zh-CN" sz="1000" b="1" kern="100" dirty="0">
                          <a:solidFill>
                            <a:schemeClr val="tx1"/>
                          </a:solidFill>
                          <a:effectLst/>
                          <a:latin typeface="+mn-ea"/>
                          <a:ea typeface="+mn-ea"/>
                          <a:cs typeface="Times New Roman" panose="02020603050405020304" pitchFamily="18" charset="0"/>
                        </a:rPr>
                        <a:t>】</a:t>
                      </a:r>
                      <a:r>
                        <a:rPr lang="zh-CN" altLang="en-US" sz="1000" b="0" kern="100" dirty="0">
                          <a:solidFill>
                            <a:schemeClr val="tx1"/>
                          </a:solidFill>
                          <a:effectLst/>
                          <a:latin typeface="+mn-ea"/>
                          <a:ea typeface="+mn-ea"/>
                          <a:cs typeface="Times New Roman" panose="02020603050405020304" pitchFamily="18" charset="0"/>
                        </a:rPr>
                        <a:t>将充电、交付服务人员设置在</a:t>
                      </a:r>
                      <a:r>
                        <a:rPr lang="en-US" altLang="zh-CN" sz="1000" b="0" kern="100" dirty="0">
                          <a:solidFill>
                            <a:schemeClr val="tx1"/>
                          </a:solidFill>
                          <a:effectLst/>
                          <a:latin typeface="+mn-ea"/>
                          <a:ea typeface="+mn-ea"/>
                          <a:cs typeface="Times New Roman" panose="02020603050405020304" pitchFamily="18" charset="0"/>
                        </a:rPr>
                        <a:t>1</a:t>
                      </a:r>
                      <a:r>
                        <a:rPr lang="zh-CN" altLang="en-US" sz="1000" b="0" kern="100" dirty="0">
                          <a:solidFill>
                            <a:schemeClr val="tx1"/>
                          </a:solidFill>
                          <a:effectLst/>
                          <a:latin typeface="+mn-ea"/>
                          <a:ea typeface="+mn-ea"/>
                          <a:cs typeface="Times New Roman" panose="02020603050405020304" pitchFamily="18" charset="0"/>
                        </a:rPr>
                        <a:t>个群内，入群主动向用户进行自我介绍：职务</a:t>
                      </a:r>
                      <a:r>
                        <a:rPr lang="en-US" altLang="zh-CN" sz="1000" b="0" kern="100" dirty="0">
                          <a:solidFill>
                            <a:schemeClr val="tx1"/>
                          </a:solidFill>
                          <a:effectLst/>
                          <a:latin typeface="+mn-ea"/>
                          <a:ea typeface="+mn-ea"/>
                          <a:cs typeface="Times New Roman" panose="02020603050405020304" pitchFamily="18" charset="0"/>
                        </a:rPr>
                        <a:t>+</a:t>
                      </a:r>
                      <a:r>
                        <a:rPr lang="zh-CN" altLang="en-US" sz="1000" b="0" kern="100" dirty="0">
                          <a:solidFill>
                            <a:schemeClr val="tx1"/>
                          </a:solidFill>
                          <a:effectLst/>
                          <a:latin typeface="+mn-ea"/>
                          <a:ea typeface="+mn-ea"/>
                          <a:cs typeface="Times New Roman" panose="02020603050405020304" pitchFamily="18" charset="0"/>
                        </a:rPr>
                        <a:t>姓名。</a:t>
                      </a:r>
                      <a:endParaRPr lang="en-US" altLang="zh-CN" sz="1000" b="0" kern="100" dirty="0">
                        <a:solidFill>
                          <a:schemeClr val="tx1"/>
                        </a:solidFill>
                        <a:effectLst/>
                        <a:latin typeface="+mn-ea"/>
                        <a:ea typeface="+mn-ea"/>
                        <a:cs typeface="Times New Roman" panose="02020603050405020304" pitchFamily="18" charset="0"/>
                      </a:endParaRPr>
                    </a:p>
                    <a:p>
                      <a:pPr algn="l">
                        <a:lnSpc>
                          <a:spcPct val="100000"/>
                        </a:lnSpc>
                        <a:spcBef>
                          <a:spcPts val="600"/>
                        </a:spcBef>
                      </a:pPr>
                      <a:r>
                        <a:rPr lang="en-US" altLang="zh-CN" sz="1000" b="1" kern="100" dirty="0">
                          <a:solidFill>
                            <a:schemeClr val="tx1"/>
                          </a:solidFill>
                          <a:effectLst/>
                          <a:latin typeface="+mn-ea"/>
                          <a:ea typeface="+mn-ea"/>
                          <a:cs typeface="Times New Roman" panose="02020603050405020304" pitchFamily="18" charset="0"/>
                        </a:rPr>
                        <a:t>【</a:t>
                      </a:r>
                      <a:r>
                        <a:rPr lang="zh-CN" altLang="en-US" sz="1000" b="1" kern="100" dirty="0">
                          <a:solidFill>
                            <a:schemeClr val="tx1"/>
                          </a:solidFill>
                          <a:effectLst/>
                          <a:latin typeface="+mn-ea"/>
                          <a:ea typeface="+mn-ea"/>
                          <a:cs typeface="Times New Roman" panose="02020603050405020304" pitchFamily="18" charset="0"/>
                        </a:rPr>
                        <a:t>强化基础标准</a:t>
                      </a:r>
                      <a:r>
                        <a:rPr lang="en-US" altLang="zh-CN" sz="1000" b="1" kern="100" dirty="0">
                          <a:solidFill>
                            <a:schemeClr val="tx1"/>
                          </a:solidFill>
                          <a:effectLst/>
                          <a:latin typeface="+mn-ea"/>
                          <a:ea typeface="+mn-ea"/>
                          <a:cs typeface="Times New Roman" panose="02020603050405020304" pitchFamily="18" charset="0"/>
                        </a:rPr>
                        <a:t>】</a:t>
                      </a:r>
                      <a:r>
                        <a:rPr lang="zh-CN" altLang="en-US" sz="1000" b="0" kern="100" dirty="0">
                          <a:solidFill>
                            <a:schemeClr val="tx1"/>
                          </a:solidFill>
                          <a:effectLst/>
                          <a:latin typeface="+mn-ea"/>
                          <a:ea typeface="+mn-ea"/>
                          <a:cs typeface="Times New Roman" panose="02020603050405020304" pitchFamily="18" charset="0"/>
                        </a:rPr>
                        <a:t>当交付时间超出约定时间后，及时与车主沟通并给予一定补偿例如超出一天给一定积分补偿或关怀礼品。</a:t>
                      </a:r>
                      <a:endParaRPr lang="en-US" altLang="zh-CN" sz="1000" b="0" kern="100" dirty="0">
                        <a:solidFill>
                          <a:schemeClr val="tx1"/>
                        </a:solidFill>
                        <a:effectLst/>
                        <a:latin typeface="+mn-ea"/>
                        <a:ea typeface="+mn-ea"/>
                        <a:cs typeface="Times New Roman" panose="02020603050405020304" pitchFamily="18" charset="0"/>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535764134"/>
                  </a:ext>
                </a:extLst>
              </a:tr>
              <a:tr h="428023">
                <a:tc>
                  <a:txBody>
                    <a:bodyPr/>
                    <a:lstStyle/>
                    <a:p>
                      <a:pPr marL="0" algn="l"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跟进与关怀环节</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自评弱项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000" b="1" kern="100" dirty="0">
                          <a:solidFill>
                            <a:schemeClr val="tx1"/>
                          </a:solidFill>
                          <a:effectLst/>
                          <a:latin typeface="+mn-ea"/>
                          <a:ea typeface="+mn-ea"/>
                          <a:cs typeface="+mn-cs"/>
                        </a:rPr>
                        <a:t>【</a:t>
                      </a:r>
                      <a:r>
                        <a:rPr lang="zh-CN" altLang="en-US" sz="1000" b="1" kern="100" dirty="0">
                          <a:solidFill>
                            <a:schemeClr val="tx1"/>
                          </a:solidFill>
                          <a:effectLst/>
                          <a:latin typeface="+mn-ea"/>
                          <a:ea typeface="+mn-ea"/>
                          <a:cs typeface="+mn-cs"/>
                        </a:rPr>
                        <a:t>加强流程检查</a:t>
                      </a:r>
                      <a:r>
                        <a:rPr lang="en-US" altLang="zh-CN" sz="1000" b="1" kern="100" dirty="0">
                          <a:solidFill>
                            <a:schemeClr val="tx1"/>
                          </a:solidFill>
                          <a:effectLst/>
                          <a:latin typeface="+mn-ea"/>
                          <a:ea typeface="+mn-ea"/>
                          <a:cs typeface="+mn-cs"/>
                        </a:rPr>
                        <a:t>】</a:t>
                      </a:r>
                      <a:r>
                        <a:rPr lang="zh-CN" altLang="en-US" sz="1000" b="0" kern="100" dirty="0">
                          <a:solidFill>
                            <a:schemeClr val="tx1"/>
                          </a:solidFill>
                          <a:effectLst/>
                          <a:latin typeface="+mn-ea"/>
                          <a:ea typeface="+mn-ea"/>
                          <a:cs typeface="+mn-cs"/>
                        </a:rPr>
                        <a:t>定期检查门店电话回访记录与跟进记录。明检</a:t>
                      </a:r>
                      <a:r>
                        <a:rPr lang="en-US" altLang="zh-CN" sz="1000" b="0" kern="100" dirty="0">
                          <a:solidFill>
                            <a:schemeClr val="tx1"/>
                          </a:solidFill>
                          <a:effectLst/>
                          <a:latin typeface="+mn-ea"/>
                          <a:ea typeface="+mn-ea"/>
                          <a:cs typeface="+mn-cs"/>
                        </a:rPr>
                        <a:t>/</a:t>
                      </a:r>
                      <a:r>
                        <a:rPr lang="zh-CN" altLang="en-US" sz="1000" b="0" kern="100" dirty="0">
                          <a:solidFill>
                            <a:schemeClr val="tx1"/>
                          </a:solidFill>
                          <a:effectLst/>
                          <a:latin typeface="+mn-ea"/>
                          <a:ea typeface="+mn-ea"/>
                          <a:cs typeface="+mn-cs"/>
                        </a:rPr>
                        <a:t>暗访中增加离店当日</a:t>
                      </a:r>
                      <a:r>
                        <a:rPr lang="en-US" altLang="zh-CN" sz="1000" b="0" kern="100" dirty="0">
                          <a:solidFill>
                            <a:schemeClr val="tx1"/>
                          </a:solidFill>
                          <a:effectLst/>
                          <a:latin typeface="+mn-ea"/>
                          <a:ea typeface="+mn-ea"/>
                          <a:cs typeface="+mn-cs"/>
                        </a:rPr>
                        <a:t>/3</a:t>
                      </a:r>
                      <a:r>
                        <a:rPr lang="zh-CN" altLang="en-US" sz="1000" b="0" kern="100" dirty="0">
                          <a:solidFill>
                            <a:schemeClr val="tx1"/>
                          </a:solidFill>
                          <a:effectLst/>
                          <a:latin typeface="+mn-ea"/>
                          <a:ea typeface="+mn-ea"/>
                          <a:cs typeface="+mn-cs"/>
                        </a:rPr>
                        <a:t>日后是否均收到感谢</a:t>
                      </a:r>
                      <a:r>
                        <a:rPr lang="en-US" altLang="zh-CN" sz="1000" b="0" kern="100" dirty="0">
                          <a:solidFill>
                            <a:schemeClr val="tx1"/>
                          </a:solidFill>
                          <a:effectLst/>
                          <a:latin typeface="+mn-ea"/>
                          <a:ea typeface="+mn-ea"/>
                          <a:cs typeface="+mn-cs"/>
                        </a:rPr>
                        <a:t>/</a:t>
                      </a:r>
                      <a:r>
                        <a:rPr lang="zh-CN" altLang="en-US" sz="1000" b="0" kern="100" dirty="0">
                          <a:solidFill>
                            <a:schemeClr val="tx1"/>
                          </a:solidFill>
                          <a:effectLst/>
                          <a:latin typeface="+mn-ea"/>
                          <a:ea typeface="+mn-ea"/>
                          <a:cs typeface="+mn-cs"/>
                        </a:rPr>
                        <a:t>关怀电话。</a:t>
                      </a:r>
                    </a:p>
                    <a:p>
                      <a:pPr algn="l" fontAlgn="ctr">
                        <a:lnSpc>
                          <a:spcPct val="100000"/>
                        </a:lnSpc>
                      </a:pPr>
                      <a:r>
                        <a:rPr lang="en-US" altLang="zh-CN" sz="1000" b="1" kern="100" dirty="0">
                          <a:solidFill>
                            <a:schemeClr val="tx1"/>
                          </a:solidFill>
                          <a:effectLst/>
                          <a:latin typeface="+mn-ea"/>
                          <a:ea typeface="+mn-ea"/>
                          <a:cs typeface="+mn-cs"/>
                        </a:rPr>
                        <a:t>【</a:t>
                      </a:r>
                      <a:r>
                        <a:rPr lang="zh-CN" altLang="en-US" sz="1000" b="1" kern="100" dirty="0">
                          <a:solidFill>
                            <a:schemeClr val="tx1"/>
                          </a:solidFill>
                          <a:effectLst/>
                          <a:latin typeface="+mn-ea"/>
                          <a:ea typeface="+mn-ea"/>
                          <a:cs typeface="+mn-cs"/>
                        </a:rPr>
                        <a:t>加强话术沟通过</a:t>
                      </a:r>
                      <a:r>
                        <a:rPr lang="en-US" altLang="zh-CN" sz="1000" b="1" kern="100" dirty="0">
                          <a:solidFill>
                            <a:schemeClr val="tx1"/>
                          </a:solidFill>
                          <a:effectLst/>
                          <a:latin typeface="+mn-ea"/>
                          <a:ea typeface="+mn-ea"/>
                          <a:cs typeface="+mn-cs"/>
                        </a:rPr>
                        <a:t>】</a:t>
                      </a:r>
                      <a:r>
                        <a:rPr lang="zh-CN" altLang="en-US" sz="1000" b="0" kern="100" dirty="0">
                          <a:solidFill>
                            <a:schemeClr val="tx1"/>
                          </a:solidFill>
                          <a:effectLst/>
                          <a:latin typeface="+mn-ea"/>
                          <a:ea typeface="+mn-ea"/>
                          <a:cs typeface="+mn-cs"/>
                        </a:rPr>
                        <a:t>当车主有车辆疑问时，交付顾问主动关怀安抚，并接洽售后服务人员帮助车主解决问题。</a:t>
                      </a:r>
                      <a:endParaRPr lang="zh-CN" altLang="en-US" sz="1000" b="0" i="0" u="none" strike="noStrike" dirty="0">
                        <a:solidFill>
                          <a:srgbClr val="000000"/>
                        </a:solidFill>
                        <a:effectLst/>
                        <a:latin typeface="微软雅黑" panose="020B0503020204020204" pitchFamily="34" charset="-122"/>
                        <a:ea typeface="Alibaba PuHuiTi 2.0 55 Regular"/>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220353235"/>
                  </a:ext>
                </a:extLst>
              </a:tr>
              <a:tr h="621258">
                <a:tc>
                  <a:txBody>
                    <a:bodyPr/>
                    <a:lstStyle/>
                    <a:p>
                      <a:pPr marL="0" algn="l"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验车体验满意度</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自评弱项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l" defTabSz="914400" rtl="0" eaLnBrk="1" fontAlgn="ctr" latinLnBrk="0" hangingPunct="1">
                        <a:lnSpc>
                          <a:spcPct val="100000"/>
                        </a:lnSpc>
                        <a:spcBef>
                          <a:spcPts val="600"/>
                        </a:spcBef>
                      </a:pPr>
                      <a:r>
                        <a:rPr lang="en-US" altLang="zh-CN" sz="1000" b="1" kern="100" dirty="0">
                          <a:solidFill>
                            <a:schemeClr val="tx1"/>
                          </a:solidFill>
                          <a:effectLst/>
                          <a:latin typeface="+mn-ea"/>
                          <a:ea typeface="+mn-ea"/>
                          <a:cs typeface="+mn-cs"/>
                        </a:rPr>
                        <a:t>【</a:t>
                      </a:r>
                      <a:r>
                        <a:rPr lang="zh-CN" altLang="en-US" sz="1000" b="1" kern="100" dirty="0">
                          <a:solidFill>
                            <a:schemeClr val="tx1"/>
                          </a:solidFill>
                          <a:effectLst/>
                          <a:latin typeface="+mn-ea"/>
                          <a:ea typeface="+mn-ea"/>
                          <a:cs typeface="+mn-cs"/>
                        </a:rPr>
                        <a:t>加强流程检查</a:t>
                      </a:r>
                      <a:r>
                        <a:rPr lang="en-US" altLang="zh-CN" sz="1000" b="1" kern="100" dirty="0">
                          <a:solidFill>
                            <a:schemeClr val="tx1"/>
                          </a:solidFill>
                          <a:effectLst/>
                          <a:latin typeface="+mn-ea"/>
                          <a:ea typeface="+mn-ea"/>
                          <a:cs typeface="+mn-cs"/>
                        </a:rPr>
                        <a:t>】</a:t>
                      </a:r>
                      <a:r>
                        <a:rPr lang="zh-CN" altLang="en-US" sz="1000" b="0" kern="100" dirty="0">
                          <a:solidFill>
                            <a:schemeClr val="tx1"/>
                          </a:solidFill>
                          <a:effectLst/>
                          <a:latin typeface="+mn-ea"/>
                          <a:ea typeface="+mn-ea"/>
                          <a:cs typeface="+mn-cs"/>
                        </a:rPr>
                        <a:t>加强明检暗访中注意检查主动邀请车主验车动作。增加备车过程记录复核，避免交车当天发现车辆问题。备车发现问题时，及时记录并与车主沟通，给予一定的补偿。</a:t>
                      </a:r>
                    </a:p>
                    <a:p>
                      <a:pPr marL="0" algn="l" defTabSz="914400" rtl="0" eaLnBrk="1" fontAlgn="ctr" latinLnBrk="0" hangingPunct="1">
                        <a:lnSpc>
                          <a:spcPct val="100000"/>
                        </a:lnSpc>
                        <a:spcBef>
                          <a:spcPts val="600"/>
                        </a:spcBef>
                      </a:pPr>
                      <a:r>
                        <a:rPr lang="en-US" altLang="zh-CN" sz="1000" b="1" kern="100" dirty="0">
                          <a:solidFill>
                            <a:schemeClr val="tx1"/>
                          </a:solidFill>
                          <a:effectLst/>
                          <a:latin typeface="+mn-ea"/>
                          <a:ea typeface="+mn-ea"/>
                          <a:cs typeface="+mn-cs"/>
                        </a:rPr>
                        <a:t>【</a:t>
                      </a:r>
                      <a:r>
                        <a:rPr lang="zh-CN" altLang="en-US" sz="1000" b="1" kern="100" dirty="0">
                          <a:solidFill>
                            <a:schemeClr val="tx1"/>
                          </a:solidFill>
                          <a:effectLst/>
                          <a:latin typeface="+mn-ea"/>
                          <a:ea typeface="+mn-ea"/>
                          <a:cs typeface="+mn-cs"/>
                        </a:rPr>
                        <a:t>加强流程检查</a:t>
                      </a:r>
                      <a:r>
                        <a:rPr lang="en-US" altLang="zh-CN" sz="1000" b="1" kern="100" dirty="0">
                          <a:solidFill>
                            <a:schemeClr val="tx1"/>
                          </a:solidFill>
                          <a:effectLst/>
                          <a:latin typeface="+mn-ea"/>
                          <a:ea typeface="+mn-ea"/>
                          <a:cs typeface="+mn-cs"/>
                        </a:rPr>
                        <a:t>】</a:t>
                      </a:r>
                      <a:r>
                        <a:rPr lang="zh-CN" altLang="en-US" sz="1000" b="0" kern="100" dirty="0">
                          <a:solidFill>
                            <a:schemeClr val="tx1"/>
                          </a:solidFill>
                          <a:effectLst/>
                          <a:latin typeface="+mn-ea"/>
                          <a:ea typeface="+mn-ea"/>
                          <a:cs typeface="+mn-cs"/>
                        </a:rPr>
                        <a:t>备车时对备车细项进行记录。在交车前，再次确认新车与订车车辆选配一致，并做记录。</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973185948"/>
                  </a:ext>
                </a:extLst>
              </a:tr>
              <a:tr h="428023">
                <a:tc>
                  <a:txBody>
                    <a:bodyPr/>
                    <a:lstStyle/>
                    <a:p>
                      <a:pPr marL="0" algn="l"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门店迎接环节体验</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自评弱项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just">
                        <a:lnSpc>
                          <a:spcPct val="100000"/>
                        </a:lnSpc>
                        <a:spcBef>
                          <a:spcPts val="600"/>
                        </a:spcBef>
                      </a:pPr>
                      <a:r>
                        <a:rPr lang="en-US" altLang="zh-CN" sz="1000" b="1" kern="100" dirty="0">
                          <a:solidFill>
                            <a:schemeClr val="tx1"/>
                          </a:solidFill>
                          <a:effectLst/>
                          <a:latin typeface="+mn-ea"/>
                          <a:ea typeface="+mn-ea"/>
                        </a:rPr>
                        <a:t>【</a:t>
                      </a:r>
                      <a:r>
                        <a:rPr lang="zh-CN" altLang="en-US" sz="1000" b="1" kern="100" dirty="0">
                          <a:solidFill>
                            <a:schemeClr val="tx1"/>
                          </a:solidFill>
                          <a:effectLst/>
                          <a:latin typeface="+mn-ea"/>
                          <a:ea typeface="+mn-ea"/>
                        </a:rPr>
                        <a:t>加强流程检查</a:t>
                      </a:r>
                      <a:r>
                        <a:rPr lang="en-US" altLang="zh-CN" sz="1000" b="1" kern="100" dirty="0">
                          <a:solidFill>
                            <a:schemeClr val="tx1"/>
                          </a:solidFill>
                          <a:effectLst/>
                          <a:latin typeface="+mn-ea"/>
                          <a:ea typeface="+mn-ea"/>
                        </a:rPr>
                        <a:t>】</a:t>
                      </a:r>
                      <a:r>
                        <a:rPr lang="zh-CN" altLang="en-US" sz="1000" b="0" kern="100" dirty="0">
                          <a:solidFill>
                            <a:schemeClr val="tx1"/>
                          </a:solidFill>
                          <a:effectLst/>
                          <a:latin typeface="+mn-ea"/>
                          <a:ea typeface="+mn-ea"/>
                        </a:rPr>
                        <a:t>加强明检暗访中注意检查门店交付人员主动迎接动作，只要有客户进店，无论是谁的客户，店内交付必须第一时间热情迎接。交付专员在客户落座后先送花增加客户好感。交付专员考勤检查。</a:t>
                      </a:r>
                      <a:endParaRPr lang="en-US" altLang="zh-CN" sz="1000" b="0" kern="100" dirty="0">
                        <a:solidFill>
                          <a:schemeClr val="tx1"/>
                        </a:solidFill>
                        <a:effectLst/>
                        <a:latin typeface="+mn-ea"/>
                        <a:ea typeface="+mn-ea"/>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42752440"/>
                  </a:ext>
                </a:extLst>
              </a:tr>
              <a:tr h="428023">
                <a:tc>
                  <a:txBody>
                    <a:bodyPr/>
                    <a:lstStyle/>
                    <a:p>
                      <a:pPr marL="0" algn="l"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交车仪式环节体验满意度</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自评弱项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just">
                        <a:lnSpc>
                          <a:spcPct val="100000"/>
                        </a:lnSpc>
                        <a:spcBef>
                          <a:spcPts val="600"/>
                        </a:spcBef>
                      </a:pPr>
                      <a:r>
                        <a:rPr lang="en-US" altLang="zh-CN" sz="1000" b="1" kern="100" dirty="0">
                          <a:solidFill>
                            <a:schemeClr val="tx1"/>
                          </a:solidFill>
                          <a:effectLst/>
                          <a:latin typeface="+mn-ea"/>
                          <a:ea typeface="+mn-ea"/>
                        </a:rPr>
                        <a:t>【</a:t>
                      </a:r>
                      <a:r>
                        <a:rPr lang="zh-CN" altLang="en-US" sz="1000" b="1" kern="100" dirty="0">
                          <a:solidFill>
                            <a:schemeClr val="tx1"/>
                          </a:solidFill>
                          <a:effectLst/>
                          <a:latin typeface="+mn-ea"/>
                          <a:ea typeface="+mn-ea"/>
                        </a:rPr>
                        <a:t>强化基础标准</a:t>
                      </a:r>
                      <a:r>
                        <a:rPr lang="en-US" altLang="zh-CN" sz="1000" b="1" kern="100" dirty="0">
                          <a:solidFill>
                            <a:schemeClr val="tx1"/>
                          </a:solidFill>
                          <a:effectLst/>
                          <a:latin typeface="+mn-ea"/>
                          <a:ea typeface="+mn-ea"/>
                        </a:rPr>
                        <a:t>】</a:t>
                      </a:r>
                      <a:r>
                        <a:rPr lang="zh-CN" altLang="en-US" sz="1000" b="0" kern="100" dirty="0">
                          <a:solidFill>
                            <a:schemeClr val="tx1"/>
                          </a:solidFill>
                          <a:effectLst/>
                          <a:latin typeface="+mn-ea"/>
                          <a:ea typeface="+mn-ea"/>
                        </a:rPr>
                        <a:t>交车仪式前和客户沟通仪式流程，确认是否需要仪式，用户如果提出不需要交付仪式，一切从简。准备充足的交付仪式物料，提前布置车辆，提升交付仪式的仪式感。</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421706585"/>
                  </a:ext>
                </a:extLst>
              </a:tr>
              <a:tr h="428023">
                <a:tc>
                  <a:txBody>
                    <a:bodyPr/>
                    <a:lstStyle/>
                    <a:p>
                      <a:pPr marL="0" algn="l"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车辆问题</a:t>
                      </a:r>
                      <a:r>
                        <a:rPr lang="en-US" altLang="zh-CN" sz="900" b="0" i="0" u="none" strike="noStrike" kern="1200" dirty="0">
                          <a:solidFill>
                            <a:schemeClr val="tx1"/>
                          </a:solidFill>
                          <a:effectLst/>
                          <a:latin typeface="微软雅黑" panose="020B0503020204020204" pitchFamily="34" charset="-122"/>
                          <a:ea typeface="Alibaba PuHuiTi 2.0 55 Regular"/>
                          <a:cs typeface="+mn-cs"/>
                        </a:rPr>
                        <a:t>/</a:t>
                      </a:r>
                      <a:r>
                        <a:rPr lang="zh-CN" altLang="en-US" sz="900" b="0" i="0" u="none" strike="noStrike" kern="1200" dirty="0">
                          <a:solidFill>
                            <a:schemeClr val="tx1"/>
                          </a:solidFill>
                          <a:effectLst/>
                          <a:latin typeface="微软雅黑" panose="020B0503020204020204" pitchFamily="34" charset="-122"/>
                          <a:ea typeface="Alibaba PuHuiTi 2.0 55 Regular"/>
                          <a:cs typeface="+mn-cs"/>
                        </a:rPr>
                        <a:t>疑问解决</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自评弱项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ctr" latinLnBrk="0" hangingPunct="1">
                        <a:lnSpc>
                          <a:spcPct val="100000"/>
                        </a:lnSpc>
                        <a:spcBef>
                          <a:spcPts val="600"/>
                        </a:spcBef>
                        <a:spcAft>
                          <a:spcPts val="0"/>
                        </a:spcAft>
                        <a:buClrTx/>
                        <a:buSzTx/>
                        <a:buFontTx/>
                        <a:buNone/>
                        <a:tabLst/>
                        <a:defRPr/>
                      </a:pPr>
                      <a:r>
                        <a:rPr lang="en-US" altLang="zh-CN" sz="1000" b="1" kern="100" dirty="0">
                          <a:solidFill>
                            <a:schemeClr val="tx1"/>
                          </a:solidFill>
                          <a:effectLst/>
                          <a:latin typeface="+mn-ea"/>
                          <a:ea typeface="+mn-ea"/>
                          <a:cs typeface="+mn-cs"/>
                        </a:rPr>
                        <a:t>【</a:t>
                      </a:r>
                      <a:r>
                        <a:rPr lang="zh-CN" altLang="en-US" sz="1000" b="1" kern="100" dirty="0">
                          <a:solidFill>
                            <a:schemeClr val="tx1"/>
                          </a:solidFill>
                          <a:effectLst/>
                          <a:latin typeface="+mn-ea"/>
                          <a:ea typeface="+mn-ea"/>
                          <a:cs typeface="+mn-cs"/>
                        </a:rPr>
                        <a:t>加强话术沟通过</a:t>
                      </a:r>
                      <a:r>
                        <a:rPr lang="en-US" altLang="zh-CN" sz="1000" b="1" kern="100" dirty="0">
                          <a:solidFill>
                            <a:schemeClr val="tx1"/>
                          </a:solidFill>
                          <a:effectLst/>
                          <a:latin typeface="+mn-ea"/>
                          <a:ea typeface="+mn-ea"/>
                          <a:cs typeface="+mn-cs"/>
                        </a:rPr>
                        <a:t>】</a:t>
                      </a:r>
                      <a:r>
                        <a:rPr lang="zh-CN" altLang="en-US" sz="1000" b="0" kern="100" dirty="0">
                          <a:solidFill>
                            <a:schemeClr val="tx1"/>
                          </a:solidFill>
                          <a:effectLst/>
                          <a:latin typeface="+mn-ea"/>
                          <a:ea typeface="+mn-ea"/>
                          <a:cs typeface="+mn-cs"/>
                        </a:rPr>
                        <a:t>当车主有车辆疑问时，交付顾问主动关怀安抚，并接洽售后服务人员帮助车主解决问题。</a:t>
                      </a:r>
                      <a:br>
                        <a:rPr lang="zh-CN" altLang="en-US" sz="1000" b="0" kern="100" dirty="0">
                          <a:solidFill>
                            <a:schemeClr val="tx1"/>
                          </a:solidFill>
                          <a:effectLst/>
                          <a:latin typeface="+mn-ea"/>
                          <a:ea typeface="+mn-ea"/>
                          <a:cs typeface="+mn-cs"/>
                        </a:rPr>
                      </a:br>
                      <a:r>
                        <a:rPr lang="en-US" altLang="zh-CN" sz="1000" b="1" kern="100" dirty="0">
                          <a:solidFill>
                            <a:schemeClr val="tx1"/>
                          </a:solidFill>
                          <a:effectLst/>
                          <a:latin typeface="+mn-ea"/>
                          <a:ea typeface="+mn-ea"/>
                          <a:cs typeface="+mn-cs"/>
                        </a:rPr>
                        <a:t>【</a:t>
                      </a:r>
                      <a:r>
                        <a:rPr lang="zh-CN" altLang="en-US" sz="1000" b="1" kern="100" dirty="0">
                          <a:solidFill>
                            <a:schemeClr val="tx1"/>
                          </a:solidFill>
                          <a:effectLst/>
                          <a:latin typeface="+mn-ea"/>
                          <a:ea typeface="+mn-ea"/>
                          <a:cs typeface="+mn-cs"/>
                        </a:rPr>
                        <a:t>强化基础标准</a:t>
                      </a:r>
                      <a:r>
                        <a:rPr lang="en-US" altLang="zh-CN" sz="1000" b="1" kern="100" dirty="0">
                          <a:solidFill>
                            <a:schemeClr val="tx1"/>
                          </a:solidFill>
                          <a:effectLst/>
                          <a:latin typeface="+mn-ea"/>
                          <a:ea typeface="+mn-ea"/>
                          <a:cs typeface="+mn-cs"/>
                        </a:rPr>
                        <a:t>】</a:t>
                      </a:r>
                      <a:r>
                        <a:rPr lang="zh-CN" altLang="en-US" sz="1000" b="0" kern="100" dirty="0">
                          <a:solidFill>
                            <a:schemeClr val="tx1"/>
                          </a:solidFill>
                          <a:effectLst/>
                          <a:latin typeface="+mn-ea"/>
                          <a:ea typeface="+mn-ea"/>
                          <a:cs typeface="+mn-cs"/>
                        </a:rPr>
                        <a:t>加强人员培训，对于车主经常询问的问题归纳汇总；当出现出现不能解决问题时，及时引进专业工作人员。</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995851070"/>
                  </a:ext>
                </a:extLst>
              </a:tr>
              <a:tr h="428023">
                <a:tc>
                  <a:txBody>
                    <a:bodyPr/>
                    <a:lstStyle/>
                    <a:p>
                      <a:pPr marL="0" algn="l"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交付后沟通体验</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algn="ctr"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自评弱项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just">
                        <a:lnSpc>
                          <a:spcPct val="100000"/>
                        </a:lnSpc>
                        <a:spcBef>
                          <a:spcPts val="0"/>
                        </a:spcBef>
                      </a:pPr>
                      <a:r>
                        <a:rPr lang="en-US" altLang="zh-CN" sz="1000" b="1" kern="100" dirty="0">
                          <a:solidFill>
                            <a:schemeClr val="tx1"/>
                          </a:solidFill>
                          <a:effectLst/>
                          <a:latin typeface="+mn-ea"/>
                          <a:ea typeface="+mn-ea"/>
                        </a:rPr>
                        <a:t>【</a:t>
                      </a:r>
                      <a:r>
                        <a:rPr lang="zh-CN" altLang="en-US" sz="1000" b="1" kern="100" dirty="0">
                          <a:solidFill>
                            <a:schemeClr val="tx1"/>
                          </a:solidFill>
                          <a:effectLst/>
                          <a:latin typeface="+mn-ea"/>
                          <a:ea typeface="+mn-ea"/>
                        </a:rPr>
                        <a:t>加强流程检查</a:t>
                      </a:r>
                      <a:r>
                        <a:rPr lang="en-US" altLang="zh-CN" sz="1000" b="1" kern="100" dirty="0">
                          <a:solidFill>
                            <a:schemeClr val="tx1"/>
                          </a:solidFill>
                          <a:effectLst/>
                          <a:latin typeface="+mn-ea"/>
                          <a:ea typeface="+mn-ea"/>
                        </a:rPr>
                        <a:t>】</a:t>
                      </a:r>
                      <a:r>
                        <a:rPr lang="en-US" altLang="zh-CN" sz="1000" b="0" kern="100" dirty="0">
                          <a:solidFill>
                            <a:schemeClr val="tx1"/>
                          </a:solidFill>
                          <a:effectLst/>
                          <a:latin typeface="+mn-ea"/>
                          <a:ea typeface="+mn-ea"/>
                        </a:rPr>
                        <a:t>1. </a:t>
                      </a:r>
                      <a:r>
                        <a:rPr lang="zh-CN" altLang="en-US" sz="1000" b="0" kern="100" dirty="0">
                          <a:solidFill>
                            <a:schemeClr val="tx1"/>
                          </a:solidFill>
                          <a:effectLst/>
                          <a:latin typeface="+mn-ea"/>
                          <a:ea typeface="+mn-ea"/>
                        </a:rPr>
                        <a:t>交付后添加告知车主注意事项（注意安全、速度慢点等），并放矿泉水在车上；</a:t>
                      </a:r>
                      <a:r>
                        <a:rPr lang="en-US" altLang="zh-CN" sz="1000" b="0" kern="100" dirty="0">
                          <a:solidFill>
                            <a:schemeClr val="tx1"/>
                          </a:solidFill>
                          <a:effectLst/>
                          <a:latin typeface="+mn-ea"/>
                          <a:ea typeface="+mn-ea"/>
                        </a:rPr>
                        <a:t>2. </a:t>
                      </a:r>
                      <a:r>
                        <a:rPr lang="zh-CN" altLang="en-US" sz="1000" b="0" kern="100" dirty="0">
                          <a:solidFill>
                            <a:schemeClr val="tx1"/>
                          </a:solidFill>
                          <a:effectLst/>
                          <a:latin typeface="+mn-ea"/>
                          <a:ea typeface="+mn-ea"/>
                        </a:rPr>
                        <a:t>明检</a:t>
                      </a:r>
                      <a:r>
                        <a:rPr lang="en-US" altLang="zh-CN" sz="1000" b="0" kern="100" dirty="0">
                          <a:solidFill>
                            <a:schemeClr val="tx1"/>
                          </a:solidFill>
                          <a:effectLst/>
                          <a:latin typeface="+mn-ea"/>
                          <a:ea typeface="+mn-ea"/>
                        </a:rPr>
                        <a:t>/</a:t>
                      </a:r>
                      <a:r>
                        <a:rPr lang="zh-CN" altLang="en-US" sz="1000" b="0" kern="100" dirty="0">
                          <a:solidFill>
                            <a:schemeClr val="tx1"/>
                          </a:solidFill>
                          <a:effectLst/>
                          <a:latin typeface="+mn-ea"/>
                          <a:ea typeface="+mn-ea"/>
                        </a:rPr>
                        <a:t>暗访中注意检查交付后的沟通和送别服务；</a:t>
                      </a:r>
                    </a:p>
                    <a:p>
                      <a:pPr algn="just">
                        <a:lnSpc>
                          <a:spcPct val="100000"/>
                        </a:lnSpc>
                        <a:spcBef>
                          <a:spcPts val="0"/>
                        </a:spcBef>
                      </a:pPr>
                      <a:r>
                        <a:rPr lang="en-US" altLang="zh-CN" sz="1000" b="0" kern="100" dirty="0">
                          <a:solidFill>
                            <a:schemeClr val="tx1"/>
                          </a:solidFill>
                          <a:effectLst/>
                          <a:latin typeface="+mn-ea"/>
                          <a:ea typeface="+mn-ea"/>
                        </a:rPr>
                        <a:t>3. </a:t>
                      </a:r>
                      <a:r>
                        <a:rPr lang="zh-CN" altLang="en-US" sz="1000" b="0" kern="100" dirty="0">
                          <a:solidFill>
                            <a:schemeClr val="tx1"/>
                          </a:solidFill>
                          <a:effectLst/>
                          <a:latin typeface="+mn-ea"/>
                          <a:ea typeface="+mn-ea"/>
                        </a:rPr>
                        <a:t>在离店后的回访中增加交付后下销售顾问是否主动介绍车主活动，用车保养小知识等题目。</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897399097"/>
                  </a:ext>
                </a:extLst>
              </a:tr>
              <a:tr h="428023">
                <a:tc>
                  <a:txBody>
                    <a:bodyPr/>
                    <a:lstStyle/>
                    <a:p>
                      <a:pPr marL="0" algn="l" defTabSz="914400" rtl="0" eaLnBrk="1" fontAlgn="ctr" latinLnBrk="0" hangingPunct="1"/>
                      <a:r>
                        <a:rPr lang="zh-CN" altLang="en-US" sz="900" b="0" i="0" u="none" strike="noStrike" kern="1200" dirty="0">
                          <a:solidFill>
                            <a:schemeClr val="tx1"/>
                          </a:solidFill>
                          <a:effectLst/>
                          <a:latin typeface="微软雅黑" panose="020B0503020204020204" pitchFamily="34" charset="-122"/>
                          <a:ea typeface="Alibaba PuHuiTi 2.0 55 Regular"/>
                          <a:cs typeface="+mn-cs"/>
                        </a:rPr>
                        <a:t>新车车况满意度</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900" b="0" i="0" u="none" strike="noStrike" kern="1200" dirty="0">
                          <a:solidFill>
                            <a:schemeClr val="tx1"/>
                          </a:solidFill>
                          <a:effectLst/>
                          <a:latin typeface="微软雅黑" panose="020B0503020204020204" pitchFamily="34" charset="-122"/>
                          <a:ea typeface="Alibaba PuHuiTi 2.0 55 Regular"/>
                          <a:cs typeface="+mn-cs"/>
                        </a:rPr>
                        <a:t>自评弱项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just">
                        <a:lnSpc>
                          <a:spcPct val="100000"/>
                        </a:lnSpc>
                        <a:spcBef>
                          <a:spcPts val="600"/>
                        </a:spcBef>
                      </a:pPr>
                      <a:r>
                        <a:rPr lang="en-US" altLang="zh-CN" sz="1000" b="1" kern="100" dirty="0">
                          <a:solidFill>
                            <a:schemeClr val="tx1"/>
                          </a:solidFill>
                          <a:effectLst/>
                          <a:latin typeface="+mn-ea"/>
                          <a:ea typeface="+mn-ea"/>
                        </a:rPr>
                        <a:t>【</a:t>
                      </a:r>
                      <a:r>
                        <a:rPr lang="zh-CN" altLang="en-US" sz="1000" b="1" kern="100" dirty="0">
                          <a:solidFill>
                            <a:schemeClr val="tx1"/>
                          </a:solidFill>
                          <a:effectLst/>
                          <a:latin typeface="+mn-ea"/>
                          <a:ea typeface="+mn-ea"/>
                        </a:rPr>
                        <a:t>加强流程检查</a:t>
                      </a:r>
                      <a:r>
                        <a:rPr lang="en-US" altLang="zh-CN" sz="1000" b="1" kern="100" dirty="0">
                          <a:solidFill>
                            <a:schemeClr val="tx1"/>
                          </a:solidFill>
                          <a:effectLst/>
                          <a:latin typeface="+mn-ea"/>
                          <a:ea typeface="+mn-ea"/>
                        </a:rPr>
                        <a:t>】</a:t>
                      </a:r>
                      <a:r>
                        <a:rPr lang="zh-CN" altLang="en-US" sz="1000" b="0" kern="100" dirty="0">
                          <a:solidFill>
                            <a:schemeClr val="tx1"/>
                          </a:solidFill>
                          <a:effectLst/>
                          <a:latin typeface="+mn-ea"/>
                          <a:ea typeface="+mn-ea"/>
                        </a:rPr>
                        <a:t>加强明检暗访中注意检查新车外部是否整洁干净、电池、胎压是否充足，是否有检查记录，门店每周复盘问题点。如遇到物流问题导致的刮蹭，及时与车主沟通、提供解决方案。</a:t>
                      </a:r>
                      <a:endParaRPr lang="en-US" altLang="zh-CN" sz="1000" b="0" kern="100" dirty="0">
                        <a:solidFill>
                          <a:schemeClr val="tx1"/>
                        </a:solidFill>
                        <a:effectLst/>
                        <a:latin typeface="+mn-ea"/>
                        <a:ea typeface="+mn-ea"/>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030991587"/>
                  </a:ext>
                </a:extLst>
              </a:tr>
            </a:tbl>
          </a:graphicData>
        </a:graphic>
      </p:graphicFrame>
      <p:sp>
        <p:nvSpPr>
          <p:cNvPr id="3" name="文本框 2">
            <a:extLst>
              <a:ext uri="{FF2B5EF4-FFF2-40B4-BE49-F238E27FC236}">
                <a16:creationId xmlns:a16="http://schemas.microsoft.com/office/drawing/2014/main" id="{5B8D723C-4EEE-B4ED-3F8F-A4A310678DC9}"/>
              </a:ext>
            </a:extLst>
          </p:cNvPr>
          <p:cNvSpPr txBox="1"/>
          <p:nvPr/>
        </p:nvSpPr>
        <p:spPr>
          <a:xfrm>
            <a:off x="263525" y="1494945"/>
            <a:ext cx="11675367" cy="432000"/>
          </a:xfrm>
          <a:prstGeom prst="rect">
            <a:avLst/>
          </a:prstGeom>
          <a:solidFill>
            <a:srgbClr val="4B8D56"/>
          </a:solidFill>
        </p:spPr>
        <p:txBody>
          <a:bodyPr wrap="square" anchor="ctr" anchorCtr="0">
            <a:noAutofit/>
          </a:bodyPr>
          <a:lstStyle>
            <a:defPPr>
              <a:defRPr lang="zh-CN"/>
            </a:defPPr>
            <a:lvl1pPr algn="ctr">
              <a:defRPr b="1">
                <a:solidFill>
                  <a:schemeClr val="bg1"/>
                </a:solidFill>
                <a:latin typeface="+mn-ea"/>
              </a:defRPr>
            </a:lvl1pPr>
          </a:lstStyle>
          <a:p>
            <a:r>
              <a:rPr lang="zh-CN" altLang="en-US" dirty="0"/>
              <a:t>交付服务弱项</a:t>
            </a:r>
          </a:p>
        </p:txBody>
      </p:sp>
      <p:sp>
        <p:nvSpPr>
          <p:cNvPr id="2" name="文本占位符 7">
            <a:extLst>
              <a:ext uri="{FF2B5EF4-FFF2-40B4-BE49-F238E27FC236}">
                <a16:creationId xmlns:a16="http://schemas.microsoft.com/office/drawing/2014/main" id="{1ADF144F-0ADC-D721-265D-9063246EA4F7}"/>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针对交付满意度调研中反映的弱项，总部应修订服务流程标准，并配合人员培训和流程检查确保终端执行</a:t>
            </a:r>
          </a:p>
        </p:txBody>
      </p:sp>
    </p:spTree>
    <p:extLst>
      <p:ext uri="{BB962C8B-B14F-4D97-AF65-F5344CB8AC3E}">
        <p14:creationId xmlns:p14="http://schemas.microsoft.com/office/powerpoint/2010/main" val="1229969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CE1A8736-9ACE-DA46-B790-8ABE7958B598}"/>
              </a:ext>
            </a:extLst>
          </p:cNvPr>
          <p:cNvSpPr>
            <a:spLocks noGrp="1"/>
          </p:cNvSpPr>
          <p:nvPr>
            <p:ph type="body" sz="quarter" idx="14"/>
          </p:nvPr>
        </p:nvSpPr>
        <p:spPr/>
        <p:txBody>
          <a:bodyPr/>
          <a:lstStyle/>
          <a:p>
            <a:endParaRPr lang="zh-CN" altLang="en-US" dirty="0"/>
          </a:p>
        </p:txBody>
      </p:sp>
      <p:sp>
        <p:nvSpPr>
          <p:cNvPr id="7" name="文本占位符 6">
            <a:extLst>
              <a:ext uri="{FF2B5EF4-FFF2-40B4-BE49-F238E27FC236}">
                <a16:creationId xmlns:a16="http://schemas.microsoft.com/office/drawing/2014/main" id="{672E21D2-E394-5C8A-3877-A7F07E5878B5}"/>
              </a:ext>
            </a:extLst>
          </p:cNvPr>
          <p:cNvSpPr>
            <a:spLocks noGrp="1"/>
          </p:cNvSpPr>
          <p:nvPr>
            <p:ph type="body" sz="quarter" idx="21"/>
          </p:nvPr>
        </p:nvSpPr>
        <p:spPr/>
        <p:txBody>
          <a:bodyPr/>
          <a:lstStyle/>
          <a:p>
            <a:r>
              <a:rPr lang="en-US" altLang="zh-CN" dirty="0">
                <a:latin typeface="+mn-ea"/>
                <a:ea typeface="+mn-ea"/>
              </a:rPr>
              <a:t>1.4 </a:t>
            </a:r>
            <a:r>
              <a:rPr lang="zh-CN" altLang="en-US" dirty="0"/>
              <a:t>售后弱项建议（</a:t>
            </a:r>
            <a:r>
              <a:rPr lang="en-US" altLang="zh-CN" dirty="0"/>
              <a:t>1/3</a:t>
            </a:r>
            <a:r>
              <a:rPr lang="zh-CN" altLang="en-US" dirty="0"/>
              <a:t>）</a:t>
            </a:r>
          </a:p>
        </p:txBody>
      </p:sp>
      <p:sp>
        <p:nvSpPr>
          <p:cNvPr id="5" name="灯片编号占位符 4">
            <a:extLst>
              <a:ext uri="{FF2B5EF4-FFF2-40B4-BE49-F238E27FC236}">
                <a16:creationId xmlns:a16="http://schemas.microsoft.com/office/drawing/2014/main" id="{8A40F7E5-6669-B5AD-E7C9-951226BE65C6}"/>
              </a:ext>
            </a:extLst>
          </p:cNvPr>
          <p:cNvSpPr>
            <a:spLocks noGrp="1"/>
          </p:cNvSpPr>
          <p:nvPr>
            <p:ph type="sldNum" sz="quarter" idx="4"/>
          </p:nvPr>
        </p:nvSpPr>
        <p:spPr/>
        <p:txBody>
          <a:bodyPr/>
          <a:lstStyle/>
          <a:p>
            <a:fld id="{04824671-56D2-5D44-834F-250C3DA554E9}" type="slidenum">
              <a:rPr lang="zh-CN" altLang="en-US" smtClean="0"/>
              <a:t>18</a:t>
            </a:fld>
            <a:endParaRPr lang="zh-CN" altLang="en-US" dirty="0"/>
          </a:p>
        </p:txBody>
      </p:sp>
      <p:sp>
        <p:nvSpPr>
          <p:cNvPr id="3" name="文本框 2">
            <a:extLst>
              <a:ext uri="{FF2B5EF4-FFF2-40B4-BE49-F238E27FC236}">
                <a16:creationId xmlns:a16="http://schemas.microsoft.com/office/drawing/2014/main" id="{5B8D723C-4EEE-B4ED-3F8F-A4A310678DC9}"/>
              </a:ext>
            </a:extLst>
          </p:cNvPr>
          <p:cNvSpPr txBox="1"/>
          <p:nvPr/>
        </p:nvSpPr>
        <p:spPr>
          <a:xfrm>
            <a:off x="263526" y="1494947"/>
            <a:ext cx="11664949" cy="432000"/>
          </a:xfrm>
          <a:prstGeom prst="rect">
            <a:avLst/>
          </a:prstGeom>
          <a:solidFill>
            <a:srgbClr val="4B8D56"/>
          </a:solidFill>
        </p:spPr>
        <p:txBody>
          <a:bodyPr wrap="square" anchor="ctr" anchorCtr="0">
            <a:noAutofit/>
          </a:bodyPr>
          <a:lstStyle>
            <a:defPPr>
              <a:defRPr lang="zh-CN"/>
            </a:defPPr>
            <a:lvl1pPr algn="ctr">
              <a:defRPr b="1">
                <a:solidFill>
                  <a:schemeClr val="bg1"/>
                </a:solidFill>
                <a:latin typeface="+mn-ea"/>
              </a:defRPr>
            </a:lvl1pPr>
          </a:lstStyle>
          <a:p>
            <a:r>
              <a:rPr lang="zh-CN" altLang="en-US" dirty="0"/>
              <a:t>售后服务弱项</a:t>
            </a:r>
          </a:p>
        </p:txBody>
      </p:sp>
      <p:graphicFrame>
        <p:nvGraphicFramePr>
          <p:cNvPr id="4" name="表格 3">
            <a:extLst>
              <a:ext uri="{FF2B5EF4-FFF2-40B4-BE49-F238E27FC236}">
                <a16:creationId xmlns:a16="http://schemas.microsoft.com/office/drawing/2014/main" id="{AAEA62EF-FA96-9B0E-6450-3F211FEED03E}"/>
              </a:ext>
            </a:extLst>
          </p:cNvPr>
          <p:cNvGraphicFramePr>
            <a:graphicFrameLocks noGrp="1"/>
          </p:cNvGraphicFramePr>
          <p:nvPr>
            <p:extLst>
              <p:ext uri="{D42A27DB-BD31-4B8C-83A1-F6EECF244321}">
                <p14:modId xmlns:p14="http://schemas.microsoft.com/office/powerpoint/2010/main" val="4197772298"/>
              </p:ext>
            </p:extLst>
          </p:nvPr>
        </p:nvGraphicFramePr>
        <p:xfrm>
          <a:off x="263525" y="1929920"/>
          <a:ext cx="11664950" cy="4343879"/>
        </p:xfrm>
        <a:graphic>
          <a:graphicData uri="http://schemas.openxmlformats.org/drawingml/2006/table">
            <a:tbl>
              <a:tblPr>
                <a:tableStyleId>{5C22544A-7EE6-4342-B048-85BDC9FD1C3A}</a:tableStyleId>
              </a:tblPr>
              <a:tblGrid>
                <a:gridCol w="1706065">
                  <a:extLst>
                    <a:ext uri="{9D8B030D-6E8A-4147-A177-3AD203B41FA5}">
                      <a16:colId xmlns:a16="http://schemas.microsoft.com/office/drawing/2014/main" val="3641100078"/>
                    </a:ext>
                  </a:extLst>
                </a:gridCol>
                <a:gridCol w="1284706">
                  <a:extLst>
                    <a:ext uri="{9D8B030D-6E8A-4147-A177-3AD203B41FA5}">
                      <a16:colId xmlns:a16="http://schemas.microsoft.com/office/drawing/2014/main" val="1928503319"/>
                    </a:ext>
                  </a:extLst>
                </a:gridCol>
                <a:gridCol w="8674179">
                  <a:extLst>
                    <a:ext uri="{9D8B030D-6E8A-4147-A177-3AD203B41FA5}">
                      <a16:colId xmlns:a16="http://schemas.microsoft.com/office/drawing/2014/main" val="2277777967"/>
                    </a:ext>
                  </a:extLst>
                </a:gridCol>
              </a:tblGrid>
              <a:tr h="324939">
                <a:tc>
                  <a:txBody>
                    <a:bodyPr/>
                    <a:lstStyle/>
                    <a:p>
                      <a:pPr algn="ctr" fontAlgn="b"/>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服务弱项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弱项来源</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弱项提升建议</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709687140"/>
                  </a:ext>
                </a:extLst>
              </a:tr>
              <a:tr h="357433">
                <a:tc>
                  <a:txBody>
                    <a:bodyPr/>
                    <a:lstStyle/>
                    <a:p>
                      <a:pPr algn="l" fontAlgn="ctr"/>
                      <a:r>
                        <a:rPr lang="zh-CN" altLang="en-US" sz="900" b="0" i="0" u="none" strike="noStrike" dirty="0">
                          <a:solidFill>
                            <a:srgbClr val="181818"/>
                          </a:solidFill>
                          <a:effectLst/>
                          <a:latin typeface="+mn-ea"/>
                          <a:ea typeface="+mn-ea"/>
                        </a:rPr>
                        <a:t>服务人员的咨询服务质量</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rgbClr val="000000"/>
                          </a:solidFill>
                          <a:effectLst/>
                          <a:latin typeface="+mn-ea"/>
                          <a:ea typeface="+mn-ea"/>
                        </a:rPr>
                        <a:t>自评弱项</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0" i="0" u="none" strike="noStrike" kern="1200" dirty="0">
                          <a:solidFill>
                            <a:srgbClr val="000000"/>
                          </a:solidFill>
                          <a:effectLst/>
                          <a:latin typeface="+mn-ea"/>
                          <a:ea typeface="+mn-ea"/>
                          <a:cs typeface="+mn-cs"/>
                        </a:rPr>
                        <a:t>【</a:t>
                      </a:r>
                      <a:r>
                        <a:rPr lang="zh-CN" altLang="en-US" sz="800" b="0" i="0" u="none" strike="noStrike" kern="1200" dirty="0">
                          <a:solidFill>
                            <a:srgbClr val="000000"/>
                          </a:solidFill>
                          <a:effectLst/>
                          <a:latin typeface="+mn-ea"/>
                          <a:ea typeface="+mn-ea"/>
                          <a:cs typeface="+mn-cs"/>
                        </a:rPr>
                        <a:t>强化人员培训</a:t>
                      </a:r>
                      <a:r>
                        <a:rPr lang="en-US" altLang="zh-CN" sz="800" b="0" i="0" u="none" strike="noStrike" kern="1200" dirty="0">
                          <a:solidFill>
                            <a:srgbClr val="000000"/>
                          </a:solidFill>
                          <a:effectLst/>
                          <a:latin typeface="+mn-ea"/>
                          <a:ea typeface="+mn-ea"/>
                          <a:cs typeface="+mn-cs"/>
                        </a:rPr>
                        <a:t>】</a:t>
                      </a:r>
                      <a:r>
                        <a:rPr lang="zh-CN" altLang="en-US" sz="800" b="0" i="0" u="none" strike="noStrike" kern="1200" dirty="0">
                          <a:solidFill>
                            <a:srgbClr val="000000"/>
                          </a:solidFill>
                          <a:effectLst/>
                          <a:latin typeface="+mn-ea"/>
                          <a:ea typeface="+mn-ea"/>
                          <a:cs typeface="+mn-cs"/>
                        </a:rPr>
                        <a:t>定期开展服务顾问培训：</a:t>
                      </a:r>
                      <a:r>
                        <a:rPr lang="en-US" altLang="zh-CN" sz="800" b="0" i="0" u="none" strike="noStrike" kern="1200" dirty="0">
                          <a:solidFill>
                            <a:srgbClr val="000000"/>
                          </a:solidFill>
                          <a:effectLst/>
                          <a:latin typeface="+mn-ea"/>
                          <a:ea typeface="+mn-ea"/>
                          <a:cs typeface="+mn-cs"/>
                        </a:rPr>
                        <a:t>1. </a:t>
                      </a:r>
                      <a:r>
                        <a:rPr lang="zh-CN" altLang="en-US" sz="800" b="0" i="0" u="none" strike="noStrike" kern="1200" dirty="0">
                          <a:solidFill>
                            <a:srgbClr val="000000"/>
                          </a:solidFill>
                          <a:effectLst/>
                          <a:latin typeface="+mn-ea"/>
                          <a:ea typeface="+mn-ea"/>
                          <a:cs typeface="+mn-cs"/>
                        </a:rPr>
                        <a:t>针对客服话术进行改善，对于常见问题的提供具体解决方案；</a:t>
                      </a:r>
                      <a:r>
                        <a:rPr lang="en-US" altLang="zh-CN" sz="800" b="0" i="0" u="none" strike="noStrike" kern="1200" dirty="0">
                          <a:solidFill>
                            <a:srgbClr val="000000"/>
                          </a:solidFill>
                          <a:effectLst/>
                          <a:latin typeface="+mn-ea"/>
                          <a:ea typeface="+mn-ea"/>
                          <a:cs typeface="+mn-cs"/>
                        </a:rPr>
                        <a:t>2. </a:t>
                      </a:r>
                      <a:r>
                        <a:rPr lang="zh-CN" altLang="en-US" sz="800" b="0" i="0" u="none" strike="noStrike" kern="1200" dirty="0">
                          <a:solidFill>
                            <a:srgbClr val="000000"/>
                          </a:solidFill>
                          <a:effectLst/>
                          <a:latin typeface="+mn-ea"/>
                          <a:ea typeface="+mn-ea"/>
                          <a:cs typeface="+mn-cs"/>
                        </a:rPr>
                        <a:t>针对不常见或不能解答问题及时引进专业人员给解答；</a:t>
                      </a:r>
                      <a:r>
                        <a:rPr lang="en-US" altLang="zh-CN" sz="800" b="0" i="0" u="none" strike="noStrike" kern="1200" dirty="0">
                          <a:solidFill>
                            <a:srgbClr val="000000"/>
                          </a:solidFill>
                          <a:effectLst/>
                          <a:latin typeface="+mn-ea"/>
                          <a:ea typeface="+mn-ea"/>
                          <a:cs typeface="+mn-cs"/>
                        </a:rPr>
                        <a:t>3. APP</a:t>
                      </a:r>
                      <a:r>
                        <a:rPr lang="zh-CN" altLang="en-US" sz="800" b="0" i="0" u="none" strike="noStrike" kern="1200" dirty="0">
                          <a:solidFill>
                            <a:srgbClr val="000000"/>
                          </a:solidFill>
                          <a:effectLst/>
                          <a:latin typeface="+mn-ea"/>
                          <a:ea typeface="+mn-ea"/>
                          <a:cs typeface="+mn-cs"/>
                        </a:rPr>
                        <a:t>内系统提醒与客户沟通的内容，包括进店时间、地点、维修项目，提醒携带钥匙、行驶证等。</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535764134"/>
                  </a:ext>
                </a:extLst>
              </a:tr>
              <a:tr h="487408">
                <a:tc>
                  <a:txBody>
                    <a:bodyPr/>
                    <a:lstStyle/>
                    <a:p>
                      <a:pPr algn="l" fontAlgn="ctr"/>
                      <a:r>
                        <a:rPr lang="zh-CN" altLang="en-US" sz="900" b="0" i="0" u="none" strike="noStrike" dirty="0">
                          <a:solidFill>
                            <a:srgbClr val="181818"/>
                          </a:solidFill>
                          <a:effectLst/>
                          <a:latin typeface="+mn-ea"/>
                          <a:ea typeface="+mn-ea"/>
                        </a:rPr>
                        <a:t>客休区环境的舒适度</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srgbClr val="000000"/>
                          </a:solidFill>
                          <a:effectLst/>
                          <a:uLnTx/>
                          <a:uFillTx/>
                          <a:latin typeface="+mn-ea"/>
                          <a:ea typeface="+mn-ea"/>
                          <a:cs typeface="+mn-cs"/>
                        </a:rPr>
                        <a:t>自评弱项</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dirty="0">
                          <a:solidFill>
                            <a:srgbClr val="000000"/>
                          </a:solidFill>
                          <a:effectLst/>
                          <a:latin typeface="+mn-ea"/>
                          <a:ea typeface="+mn-ea"/>
                        </a:rPr>
                        <a:t>【</a:t>
                      </a:r>
                      <a:r>
                        <a:rPr lang="zh-CN" altLang="en-US" sz="800" b="1" i="0" u="none" strike="noStrike" dirty="0">
                          <a:solidFill>
                            <a:srgbClr val="000000"/>
                          </a:solidFill>
                          <a:effectLst/>
                          <a:latin typeface="+mn-ea"/>
                          <a:ea typeface="+mn-ea"/>
                        </a:rPr>
                        <a:t>强化基础标准</a:t>
                      </a:r>
                      <a:r>
                        <a:rPr lang="en-US" altLang="zh-CN" sz="800" b="1" i="0" u="none" strike="noStrike" dirty="0">
                          <a:solidFill>
                            <a:srgbClr val="000000"/>
                          </a:solidFill>
                          <a:effectLst/>
                          <a:latin typeface="+mn-ea"/>
                          <a:ea typeface="+mn-ea"/>
                        </a:rPr>
                        <a:t>】</a:t>
                      </a:r>
                      <a:r>
                        <a:rPr lang="zh-CN" altLang="en-US" sz="800" b="0" i="0" u="none" strike="noStrike" dirty="0">
                          <a:solidFill>
                            <a:srgbClr val="000000"/>
                          </a:solidFill>
                          <a:effectLst/>
                          <a:latin typeface="+mn-ea"/>
                          <a:ea typeface="+mn-ea"/>
                        </a:rPr>
                        <a:t>：独立出某品牌自己休息室，不与某某共用。</a:t>
                      </a:r>
                    </a:p>
                    <a:p>
                      <a:pPr algn="l" fontAlgn="ctr"/>
                      <a:r>
                        <a:rPr lang="en-US" altLang="zh-CN" sz="800" b="1" i="0" u="none" strike="noStrike" dirty="0">
                          <a:solidFill>
                            <a:srgbClr val="000000"/>
                          </a:solidFill>
                          <a:effectLst/>
                          <a:latin typeface="+mn-ea"/>
                          <a:ea typeface="+mn-ea"/>
                        </a:rPr>
                        <a:t>【</a:t>
                      </a:r>
                      <a:r>
                        <a:rPr lang="zh-CN" altLang="en-US" sz="800" b="1" i="0" u="none" strike="noStrike" dirty="0">
                          <a:solidFill>
                            <a:srgbClr val="000000"/>
                          </a:solidFill>
                          <a:effectLst/>
                          <a:latin typeface="+mn-ea"/>
                          <a:ea typeface="+mn-ea"/>
                        </a:rPr>
                        <a:t>加强流程检查</a:t>
                      </a:r>
                      <a:r>
                        <a:rPr lang="en-US" altLang="zh-CN" sz="800" b="1" i="0" u="none" strike="noStrike" dirty="0">
                          <a:solidFill>
                            <a:srgbClr val="000000"/>
                          </a:solidFill>
                          <a:effectLst/>
                          <a:latin typeface="+mn-ea"/>
                          <a:ea typeface="+mn-ea"/>
                        </a:rPr>
                        <a:t>】</a:t>
                      </a:r>
                      <a:r>
                        <a:rPr lang="zh-CN" altLang="en-US" sz="800" b="0" i="0" u="none" strike="noStrike" dirty="0">
                          <a:solidFill>
                            <a:srgbClr val="000000"/>
                          </a:solidFill>
                          <a:effectLst/>
                          <a:latin typeface="+mn-ea"/>
                          <a:ea typeface="+mn-ea"/>
                        </a:rPr>
                        <a:t>：明检</a:t>
                      </a:r>
                      <a:r>
                        <a:rPr lang="en-US" altLang="zh-CN" sz="800" b="0" i="0" u="none" strike="noStrike" dirty="0">
                          <a:solidFill>
                            <a:srgbClr val="000000"/>
                          </a:solidFill>
                          <a:effectLst/>
                          <a:latin typeface="+mn-ea"/>
                          <a:ea typeface="+mn-ea"/>
                        </a:rPr>
                        <a:t>/</a:t>
                      </a:r>
                      <a:r>
                        <a:rPr lang="zh-CN" altLang="en-US" sz="800" b="0" i="0" u="none" strike="noStrike" dirty="0">
                          <a:solidFill>
                            <a:srgbClr val="000000"/>
                          </a:solidFill>
                          <a:effectLst/>
                          <a:latin typeface="+mn-ea"/>
                          <a:ea typeface="+mn-ea"/>
                        </a:rPr>
                        <a:t>暗访中增加客休区环境和硬件设施是否符合标准；对不符合门店布置装饰要求的，进行相应惩罚门店。</a:t>
                      </a:r>
                    </a:p>
                    <a:p>
                      <a:pPr algn="l" fontAlgn="ctr"/>
                      <a:r>
                        <a:rPr lang="en-US" altLang="zh-CN" sz="800" b="1" i="0" u="none" strike="noStrike" dirty="0">
                          <a:solidFill>
                            <a:srgbClr val="000000"/>
                          </a:solidFill>
                          <a:effectLst/>
                          <a:latin typeface="+mn-ea"/>
                          <a:ea typeface="+mn-ea"/>
                        </a:rPr>
                        <a:t>【</a:t>
                      </a:r>
                      <a:r>
                        <a:rPr lang="zh-CN" altLang="en-US" sz="800" b="1" i="0" u="none" strike="noStrike" dirty="0">
                          <a:solidFill>
                            <a:srgbClr val="000000"/>
                          </a:solidFill>
                          <a:effectLst/>
                          <a:latin typeface="+mn-ea"/>
                          <a:ea typeface="+mn-ea"/>
                        </a:rPr>
                        <a:t>客休区及时清理，干净整洁</a:t>
                      </a:r>
                      <a:r>
                        <a:rPr lang="en-US" altLang="zh-CN" sz="800" b="1" i="0" u="none" strike="noStrike" dirty="0">
                          <a:solidFill>
                            <a:srgbClr val="000000"/>
                          </a:solidFill>
                          <a:effectLst/>
                          <a:latin typeface="+mn-ea"/>
                          <a:ea typeface="+mn-ea"/>
                        </a:rPr>
                        <a:t>】</a:t>
                      </a:r>
                      <a:r>
                        <a:rPr lang="zh-CN" altLang="en-US" sz="800" b="1" i="0" u="none" strike="noStrike" dirty="0">
                          <a:solidFill>
                            <a:srgbClr val="000000"/>
                          </a:solidFill>
                          <a:effectLst/>
                          <a:latin typeface="+mn-ea"/>
                          <a:ea typeface="+mn-ea"/>
                        </a:rPr>
                        <a:t>：</a:t>
                      </a:r>
                      <a:r>
                        <a:rPr lang="zh-CN" altLang="en-US" sz="800" b="0" i="0" u="none" strike="noStrike" dirty="0">
                          <a:solidFill>
                            <a:srgbClr val="000000"/>
                          </a:solidFill>
                          <a:effectLst/>
                          <a:latin typeface="+mn-ea"/>
                          <a:ea typeface="+mn-ea"/>
                        </a:rPr>
                        <a:t>每日在系统提交门店环境照片。</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038027300"/>
                  </a:ext>
                </a:extLst>
              </a:tr>
              <a:tr h="389927">
                <a:tc>
                  <a:txBody>
                    <a:bodyPr/>
                    <a:lstStyle/>
                    <a:p>
                      <a:pPr algn="l" fontAlgn="ctr"/>
                      <a:r>
                        <a:rPr lang="zh-CN" altLang="en-US" sz="900" b="0" i="0" u="none" strike="noStrike" dirty="0">
                          <a:solidFill>
                            <a:srgbClr val="181818"/>
                          </a:solidFill>
                          <a:effectLst/>
                          <a:latin typeface="+mn-ea"/>
                          <a:ea typeface="+mn-ea"/>
                        </a:rPr>
                        <a:t>客休区提供打发时间的设施设备的丰富度</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srgbClr val="000000"/>
                          </a:solidFill>
                          <a:effectLst/>
                          <a:uLnTx/>
                          <a:uFillTx/>
                          <a:latin typeface="+mn-ea"/>
                          <a:ea typeface="+mn-ea"/>
                          <a:cs typeface="+mn-cs"/>
                        </a:rPr>
                        <a:t>自评弱项</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dirty="0">
                          <a:solidFill>
                            <a:srgbClr val="000000"/>
                          </a:solidFill>
                          <a:effectLst/>
                          <a:latin typeface="+mn-ea"/>
                          <a:ea typeface="+mn-ea"/>
                        </a:rPr>
                        <a:t>【</a:t>
                      </a:r>
                      <a:r>
                        <a:rPr lang="zh-CN" altLang="en-US" sz="800" b="1" i="0" u="none" strike="noStrike" dirty="0">
                          <a:solidFill>
                            <a:srgbClr val="000000"/>
                          </a:solidFill>
                          <a:effectLst/>
                          <a:latin typeface="+mn-ea"/>
                          <a:ea typeface="+mn-ea"/>
                        </a:rPr>
                        <a:t>强化基础标准</a:t>
                      </a:r>
                      <a:r>
                        <a:rPr lang="en-US" altLang="zh-CN" sz="800" b="1" i="0" u="none" strike="noStrike" dirty="0">
                          <a:solidFill>
                            <a:srgbClr val="000000"/>
                          </a:solidFill>
                          <a:effectLst/>
                          <a:latin typeface="+mn-ea"/>
                          <a:ea typeface="+mn-ea"/>
                        </a:rPr>
                        <a:t>】</a:t>
                      </a:r>
                      <a:r>
                        <a:rPr lang="zh-CN" altLang="en-US" sz="800" b="1" i="0" u="none" strike="noStrike" dirty="0">
                          <a:solidFill>
                            <a:srgbClr val="000000"/>
                          </a:solidFill>
                          <a:effectLst/>
                          <a:latin typeface="+mn-ea"/>
                          <a:ea typeface="+mn-ea"/>
                        </a:rPr>
                        <a:t>：</a:t>
                      </a:r>
                      <a:r>
                        <a:rPr lang="zh-CN" altLang="en-US" sz="800" b="0" i="0" u="none" strike="noStrike" dirty="0">
                          <a:solidFill>
                            <a:srgbClr val="000000"/>
                          </a:solidFill>
                          <a:effectLst/>
                          <a:latin typeface="+mn-ea"/>
                          <a:ea typeface="+mn-ea"/>
                        </a:rPr>
                        <a:t>要求门店展厅布置统一按照要求执行，要求区域划分清晰明确；对于分区设置最低标准如（儿童区、餐食区、展车展示区等），要求门店必须设置，参考标准：问界；为用户推荐周边商圈，并提供上限</a:t>
                      </a:r>
                      <a:r>
                        <a:rPr lang="en-US" altLang="zh-CN" sz="800" b="0" i="0" u="none" strike="noStrike" dirty="0">
                          <a:solidFill>
                            <a:srgbClr val="000000"/>
                          </a:solidFill>
                          <a:effectLst/>
                          <a:latin typeface="+mn-ea"/>
                          <a:ea typeface="+mn-ea"/>
                        </a:rPr>
                        <a:t>150</a:t>
                      </a:r>
                      <a:r>
                        <a:rPr lang="zh-CN" altLang="en-US" sz="800" b="0" i="0" u="none" strike="noStrike" dirty="0">
                          <a:solidFill>
                            <a:srgbClr val="000000"/>
                          </a:solidFill>
                          <a:effectLst/>
                          <a:latin typeface="+mn-ea"/>
                          <a:ea typeface="+mn-ea"/>
                        </a:rPr>
                        <a:t>元的免费打车（上限价格根据城市差异制定），参考极氪。</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6051164"/>
                  </a:ext>
                </a:extLst>
              </a:tr>
              <a:tr h="357433">
                <a:tc>
                  <a:txBody>
                    <a:bodyPr/>
                    <a:lstStyle/>
                    <a:p>
                      <a:pPr algn="l" fontAlgn="ctr"/>
                      <a:r>
                        <a:rPr lang="zh-CN" altLang="en-US" sz="900" b="0" i="0" u="none" strike="noStrike" dirty="0">
                          <a:solidFill>
                            <a:srgbClr val="181818"/>
                          </a:solidFill>
                          <a:effectLst/>
                          <a:latin typeface="+mn-ea"/>
                          <a:ea typeface="+mn-ea"/>
                        </a:rPr>
                        <a:t>售后促销活动的丰富度</a:t>
                      </a:r>
                      <a:r>
                        <a:rPr lang="en-US" altLang="zh-CN" sz="900" b="0" i="0" u="none" strike="noStrike" dirty="0">
                          <a:solidFill>
                            <a:srgbClr val="181818"/>
                          </a:solidFill>
                          <a:effectLst/>
                          <a:latin typeface="+mn-ea"/>
                          <a:ea typeface="+mn-ea"/>
                        </a:rPr>
                        <a:t>/</a:t>
                      </a:r>
                      <a:r>
                        <a:rPr lang="zh-CN" altLang="en-US" sz="900" b="0" i="0" u="none" strike="noStrike" dirty="0">
                          <a:solidFill>
                            <a:srgbClr val="181818"/>
                          </a:solidFill>
                          <a:effectLst/>
                          <a:latin typeface="+mn-ea"/>
                          <a:ea typeface="+mn-ea"/>
                        </a:rPr>
                        <a:t>吸引力</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a:ln>
                            <a:noFill/>
                          </a:ln>
                          <a:solidFill>
                            <a:srgbClr val="000000"/>
                          </a:solidFill>
                          <a:effectLst/>
                          <a:uLnTx/>
                          <a:uFillTx/>
                          <a:latin typeface="+mn-ea"/>
                          <a:ea typeface="+mn-ea"/>
                          <a:cs typeface="+mn-cs"/>
                        </a:rPr>
                        <a:t>自评弱项</a:t>
                      </a:r>
                      <a:endParaRPr kumimoji="0" lang="zh-CN" altLang="en-US" sz="900" b="0" i="0" u="none" strike="noStrike" kern="1200" cap="none" spc="0" normalizeH="0" baseline="0" noProof="0" dirty="0">
                        <a:ln>
                          <a:noFill/>
                        </a:ln>
                        <a:solidFill>
                          <a:srgbClr val="000000"/>
                        </a:solidFill>
                        <a:effectLst/>
                        <a:uLnTx/>
                        <a:uFillTx/>
                        <a:latin typeface="+mn-ea"/>
                        <a:ea typeface="+mn-ea"/>
                        <a:cs typeface="+mn-cs"/>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强化基础标准</a:t>
                      </a: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a:t>
                      </a:r>
                      <a:r>
                        <a:rPr lang="zh-CN" altLang="en-US" sz="800" b="0" i="0" u="none" strike="noStrike" dirty="0">
                          <a:solidFill>
                            <a:srgbClr val="000000"/>
                          </a:solidFill>
                          <a:effectLst/>
                          <a:latin typeface="+mn-ea"/>
                          <a:ea typeface="+mn-ea"/>
                        </a:rPr>
                        <a:t>将售后活动邀约纳入流程规范，售后门店推送服务信息时要求服务顾问对车主进行主动邀约，明检</a:t>
                      </a:r>
                      <a:r>
                        <a:rPr lang="en-US" altLang="zh-CN" sz="800" b="0" i="0" u="none" strike="noStrike" dirty="0">
                          <a:solidFill>
                            <a:srgbClr val="000000"/>
                          </a:solidFill>
                          <a:effectLst/>
                          <a:latin typeface="+mn-ea"/>
                          <a:ea typeface="+mn-ea"/>
                        </a:rPr>
                        <a:t>/</a:t>
                      </a:r>
                      <a:r>
                        <a:rPr lang="zh-CN" altLang="en-US" sz="800" b="0" i="0" u="none" strike="noStrike" dirty="0">
                          <a:solidFill>
                            <a:srgbClr val="000000"/>
                          </a:solidFill>
                          <a:effectLst/>
                          <a:latin typeface="+mn-ea"/>
                          <a:ea typeface="+mn-ea"/>
                        </a:rPr>
                        <a:t>暗访以及满意度回访增加对车主是否受到售后活动邀请一项，根据当季车主反馈比较多的需求设置营销活动，维护车主满意度创造盈利点：参考极氪。</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220353235"/>
                  </a:ext>
                </a:extLst>
              </a:tr>
              <a:tr h="612290">
                <a:tc>
                  <a:txBody>
                    <a:bodyPr/>
                    <a:lstStyle/>
                    <a:p>
                      <a:pPr algn="l" fontAlgn="ctr"/>
                      <a:r>
                        <a:rPr lang="zh-CN" altLang="en-US" sz="900" b="0" i="0" u="none" strike="noStrike" dirty="0">
                          <a:solidFill>
                            <a:srgbClr val="181818"/>
                          </a:solidFill>
                          <a:effectLst/>
                          <a:latin typeface="+mn-ea"/>
                          <a:ea typeface="+mn-ea"/>
                        </a:rPr>
                        <a:t>客休区服务人员评价</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a:ln>
                            <a:noFill/>
                          </a:ln>
                          <a:solidFill>
                            <a:srgbClr val="000000"/>
                          </a:solidFill>
                          <a:effectLst/>
                          <a:uLnTx/>
                          <a:uFillTx/>
                          <a:latin typeface="+mn-ea"/>
                          <a:ea typeface="+mn-ea"/>
                          <a:cs typeface="+mn-cs"/>
                        </a:rPr>
                        <a:t>自评弱项</a:t>
                      </a:r>
                      <a:endParaRPr kumimoji="0" lang="zh-CN" altLang="en-US" sz="900" b="0" i="0" u="none" strike="noStrike" kern="1200" cap="none" spc="0" normalizeH="0" baseline="0" noProof="0" dirty="0">
                        <a:ln>
                          <a:noFill/>
                        </a:ln>
                        <a:solidFill>
                          <a:srgbClr val="000000"/>
                        </a:solidFill>
                        <a:effectLst/>
                        <a:uLnTx/>
                        <a:uFillTx/>
                        <a:latin typeface="+mn-ea"/>
                        <a:ea typeface="+mn-ea"/>
                        <a:cs typeface="+mn-cs"/>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indent="0" algn="just">
                        <a:lnSpc>
                          <a:spcPct val="100000"/>
                        </a:lnSpc>
                        <a:spcBef>
                          <a:spcPts val="0"/>
                        </a:spcBef>
                        <a:buFont typeface="Arial" panose="020B0604020202020204" pitchFamily="34" charset="0"/>
                        <a:buNone/>
                      </a:pPr>
                      <a:r>
                        <a:rPr lang="en-US" altLang="zh-CN" sz="800" b="1" kern="100" dirty="0">
                          <a:solidFill>
                            <a:schemeClr val="tx1"/>
                          </a:solidFill>
                          <a:effectLst/>
                          <a:latin typeface="+mn-ea"/>
                          <a:ea typeface="+mn-ea"/>
                        </a:rPr>
                        <a:t>【</a:t>
                      </a:r>
                      <a:r>
                        <a:rPr lang="zh-CN" altLang="en-US" sz="800" b="1" kern="100" dirty="0">
                          <a:solidFill>
                            <a:schemeClr val="tx1"/>
                          </a:solidFill>
                          <a:effectLst/>
                          <a:latin typeface="+mn-ea"/>
                          <a:ea typeface="+mn-ea"/>
                        </a:rPr>
                        <a:t>加强流程检查</a:t>
                      </a:r>
                      <a:r>
                        <a:rPr lang="en-US" altLang="zh-CN" sz="800" b="1" kern="100" dirty="0">
                          <a:solidFill>
                            <a:schemeClr val="tx1"/>
                          </a:solidFill>
                          <a:effectLst/>
                          <a:latin typeface="+mn-ea"/>
                          <a:ea typeface="+mn-ea"/>
                        </a:rPr>
                        <a:t>】</a:t>
                      </a:r>
                      <a:r>
                        <a:rPr lang="zh-CN" altLang="en-US" sz="800" b="0" kern="100" dirty="0">
                          <a:solidFill>
                            <a:schemeClr val="tx1"/>
                          </a:solidFill>
                          <a:effectLst/>
                          <a:latin typeface="+mn-ea"/>
                          <a:ea typeface="+mn-ea"/>
                        </a:rPr>
                        <a:t>明检</a:t>
                      </a:r>
                      <a:r>
                        <a:rPr lang="en-US" altLang="zh-CN" sz="800" b="0" kern="100" dirty="0">
                          <a:solidFill>
                            <a:schemeClr val="tx1"/>
                          </a:solidFill>
                          <a:effectLst/>
                          <a:latin typeface="+mn-ea"/>
                          <a:ea typeface="+mn-ea"/>
                        </a:rPr>
                        <a:t>/</a:t>
                      </a:r>
                      <a:r>
                        <a:rPr lang="zh-CN" altLang="en-US" sz="800" b="0" kern="100" dirty="0">
                          <a:solidFill>
                            <a:schemeClr val="tx1"/>
                          </a:solidFill>
                          <a:effectLst/>
                          <a:latin typeface="+mn-ea"/>
                          <a:ea typeface="+mn-ea"/>
                        </a:rPr>
                        <a:t>暗访中增加客休区服务人员是否主动提供饮品服务。</a:t>
                      </a:r>
                      <a:endParaRPr lang="en-US" altLang="zh-CN" sz="800" b="0" kern="100" dirty="0">
                        <a:solidFill>
                          <a:schemeClr val="tx1"/>
                        </a:solidFill>
                        <a:effectLst/>
                        <a:latin typeface="+mn-ea"/>
                        <a:ea typeface="+mn-ea"/>
                      </a:endParaRPr>
                    </a:p>
                    <a:p>
                      <a:pPr marL="0" indent="0" algn="l">
                        <a:lnSpc>
                          <a:spcPct val="100000"/>
                        </a:lnSpc>
                        <a:spcBef>
                          <a:spcPts val="0"/>
                        </a:spcBef>
                        <a:buFont typeface="Arial" panose="020B0604020202020204" pitchFamily="34" charset="0"/>
                        <a:buNone/>
                      </a:pPr>
                      <a:r>
                        <a:rPr lang="en-US" altLang="zh-CN" sz="800" b="1" kern="100" dirty="0">
                          <a:solidFill>
                            <a:schemeClr val="tx1"/>
                          </a:solidFill>
                          <a:effectLst/>
                          <a:latin typeface="+mn-ea"/>
                          <a:ea typeface="+mn-ea"/>
                        </a:rPr>
                        <a:t>【</a:t>
                      </a:r>
                      <a:r>
                        <a:rPr lang="zh-CN" altLang="en-US" sz="800" b="1" kern="100" dirty="0">
                          <a:solidFill>
                            <a:schemeClr val="tx1"/>
                          </a:solidFill>
                          <a:effectLst/>
                          <a:latin typeface="+mn-ea"/>
                          <a:ea typeface="+mn-ea"/>
                        </a:rPr>
                        <a:t>强化基础标准</a:t>
                      </a:r>
                      <a:r>
                        <a:rPr lang="en-US" altLang="zh-CN" sz="800" b="1" kern="100" dirty="0">
                          <a:solidFill>
                            <a:schemeClr val="tx1"/>
                          </a:solidFill>
                          <a:effectLst/>
                          <a:latin typeface="+mn-ea"/>
                          <a:ea typeface="+mn-ea"/>
                        </a:rPr>
                        <a:t>】</a:t>
                      </a:r>
                      <a:r>
                        <a:rPr lang="en-US" altLang="zh-CN" sz="800" b="0" kern="100" dirty="0">
                          <a:solidFill>
                            <a:schemeClr val="tx1"/>
                          </a:solidFill>
                          <a:effectLst/>
                          <a:latin typeface="+mn-ea"/>
                          <a:ea typeface="+mn-ea"/>
                        </a:rPr>
                        <a:t>1. </a:t>
                      </a:r>
                      <a:r>
                        <a:rPr lang="zh-CN" altLang="en-US" sz="800" b="0" kern="100" dirty="0">
                          <a:solidFill>
                            <a:schemeClr val="tx1"/>
                          </a:solidFill>
                          <a:effectLst/>
                          <a:latin typeface="+mn-ea"/>
                          <a:ea typeface="+mn-ea"/>
                        </a:rPr>
                        <a:t>客休区设置专门接待人员；</a:t>
                      </a:r>
                      <a:r>
                        <a:rPr lang="en-US" altLang="zh-CN" sz="800" b="0" kern="100" dirty="0">
                          <a:solidFill>
                            <a:schemeClr val="tx1"/>
                          </a:solidFill>
                          <a:effectLst/>
                          <a:latin typeface="+mn-ea"/>
                          <a:ea typeface="+mn-ea"/>
                        </a:rPr>
                        <a:t>2. </a:t>
                      </a:r>
                      <a:r>
                        <a:rPr lang="zh-CN" altLang="en-US" sz="800" b="0" kern="100" dirty="0">
                          <a:solidFill>
                            <a:schemeClr val="tx1"/>
                          </a:solidFill>
                          <a:effectLst/>
                          <a:latin typeface="+mn-ea"/>
                          <a:ea typeface="+mn-ea"/>
                        </a:rPr>
                        <a:t>服务顾问主动询问续杯动作。</a:t>
                      </a:r>
                      <a:endParaRPr lang="en-US" altLang="zh-CN" sz="800" b="0" kern="100" dirty="0">
                        <a:solidFill>
                          <a:schemeClr val="tx1"/>
                        </a:solidFill>
                        <a:effectLst/>
                        <a:latin typeface="+mn-ea"/>
                        <a:ea typeface="+mn-ea"/>
                      </a:endParaRPr>
                    </a:p>
                    <a:p>
                      <a:pPr marL="0" indent="0" algn="just">
                        <a:lnSpc>
                          <a:spcPct val="100000"/>
                        </a:lnSpc>
                        <a:spcBef>
                          <a:spcPts val="0"/>
                        </a:spcBef>
                        <a:buFont typeface="Arial" panose="020B0604020202020204" pitchFamily="34" charset="0"/>
                        <a:buNone/>
                      </a:pPr>
                      <a:r>
                        <a:rPr lang="en-US" altLang="zh-CN" sz="800" b="1" kern="100" dirty="0">
                          <a:solidFill>
                            <a:schemeClr val="tx1"/>
                          </a:solidFill>
                          <a:effectLst/>
                          <a:latin typeface="+mn-ea"/>
                          <a:ea typeface="+mn-ea"/>
                        </a:rPr>
                        <a:t>【</a:t>
                      </a:r>
                      <a:r>
                        <a:rPr lang="zh-CN" altLang="en-US" sz="800" b="1" kern="100" dirty="0">
                          <a:solidFill>
                            <a:schemeClr val="tx1"/>
                          </a:solidFill>
                          <a:effectLst/>
                          <a:latin typeface="+mn-ea"/>
                          <a:ea typeface="+mn-ea"/>
                        </a:rPr>
                        <a:t>加强员工培训</a:t>
                      </a:r>
                      <a:r>
                        <a:rPr lang="en-US" altLang="zh-CN" sz="800" b="1" kern="100" dirty="0">
                          <a:solidFill>
                            <a:schemeClr val="tx1"/>
                          </a:solidFill>
                          <a:effectLst/>
                          <a:latin typeface="+mn-ea"/>
                          <a:ea typeface="+mn-ea"/>
                        </a:rPr>
                        <a:t>】</a:t>
                      </a:r>
                      <a:r>
                        <a:rPr lang="en-US" altLang="zh-CN" sz="800" b="0" kern="100" dirty="0">
                          <a:solidFill>
                            <a:schemeClr val="tx1"/>
                          </a:solidFill>
                          <a:effectLst/>
                          <a:latin typeface="+mn-ea"/>
                          <a:ea typeface="+mn-ea"/>
                        </a:rPr>
                        <a:t>1. </a:t>
                      </a:r>
                      <a:r>
                        <a:rPr lang="zh-CN" altLang="en-US" sz="800" b="0" kern="100" dirty="0">
                          <a:solidFill>
                            <a:schemeClr val="tx1"/>
                          </a:solidFill>
                          <a:effectLst/>
                          <a:latin typeface="+mn-ea"/>
                          <a:ea typeface="+mn-ea"/>
                        </a:rPr>
                        <a:t>门店设置周培训，对接待流程进行演练，增强服务人员对企业文化“悦己”的认同感，提高服务人员主动服务的意识；</a:t>
                      </a:r>
                      <a:r>
                        <a:rPr lang="en-US" altLang="zh-CN" sz="800" b="0" kern="100" dirty="0">
                          <a:solidFill>
                            <a:schemeClr val="tx1"/>
                          </a:solidFill>
                          <a:effectLst/>
                          <a:latin typeface="+mn-ea"/>
                          <a:ea typeface="+mn-ea"/>
                        </a:rPr>
                        <a:t>2. </a:t>
                      </a:r>
                      <a:r>
                        <a:rPr lang="zh-CN" altLang="en-US" sz="800" b="0" kern="100" dirty="0">
                          <a:solidFill>
                            <a:schemeClr val="tx1"/>
                          </a:solidFill>
                          <a:effectLst/>
                          <a:latin typeface="+mn-ea"/>
                          <a:ea typeface="+mn-ea"/>
                        </a:rPr>
                        <a:t>提高客休区接待人员的服务意识，主动礼貌接待；</a:t>
                      </a:r>
                      <a:endParaRPr lang="en-US" altLang="zh-CN" sz="800" b="0" kern="100" dirty="0">
                        <a:solidFill>
                          <a:schemeClr val="tx1"/>
                        </a:solidFill>
                        <a:effectLst/>
                        <a:latin typeface="+mn-ea"/>
                        <a:ea typeface="+mn-ea"/>
                      </a:endParaRPr>
                    </a:p>
                    <a:p>
                      <a:pPr marL="0" indent="0" algn="just">
                        <a:lnSpc>
                          <a:spcPct val="100000"/>
                        </a:lnSpc>
                        <a:spcBef>
                          <a:spcPts val="0"/>
                        </a:spcBef>
                        <a:buFont typeface="Arial" panose="020B0604020202020204" pitchFamily="34" charset="0"/>
                        <a:buNone/>
                      </a:pPr>
                      <a:r>
                        <a:rPr lang="en-US" altLang="zh-CN" sz="800" b="0" kern="100" dirty="0">
                          <a:solidFill>
                            <a:schemeClr val="tx1"/>
                          </a:solidFill>
                          <a:effectLst/>
                          <a:latin typeface="+mn-ea"/>
                          <a:ea typeface="+mn-ea"/>
                        </a:rPr>
                        <a:t>3. </a:t>
                      </a:r>
                      <a:r>
                        <a:rPr lang="zh-CN" altLang="en-US" sz="800" b="0" kern="100" dirty="0">
                          <a:solidFill>
                            <a:schemeClr val="tx1"/>
                          </a:solidFill>
                          <a:effectLst/>
                          <a:latin typeface="+mn-ea"/>
                          <a:ea typeface="+mn-ea"/>
                        </a:rPr>
                        <a:t>避免客户和内部其他人员的直接对接。</a:t>
                      </a:r>
                      <a:endParaRPr lang="en-US" altLang="zh-CN" sz="800" b="0" kern="100" dirty="0">
                        <a:solidFill>
                          <a:schemeClr val="tx1"/>
                        </a:solidFill>
                        <a:effectLst/>
                        <a:latin typeface="+mn-ea"/>
                        <a:ea typeface="+mn-ea"/>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973185948"/>
                  </a:ext>
                </a:extLst>
              </a:tr>
              <a:tr h="354828">
                <a:tc>
                  <a:txBody>
                    <a:bodyPr/>
                    <a:lstStyle/>
                    <a:p>
                      <a:pPr algn="l" fontAlgn="ctr"/>
                      <a:r>
                        <a:rPr lang="zh-CN" altLang="en-US" sz="900" b="0" i="0" u="none" strike="noStrike" dirty="0">
                          <a:solidFill>
                            <a:srgbClr val="181818"/>
                          </a:solidFill>
                          <a:effectLst/>
                          <a:latin typeface="+mn-ea"/>
                          <a:ea typeface="+mn-ea"/>
                        </a:rPr>
                        <a:t>交车后的致电关怀与日常关怀</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a:ln>
                            <a:noFill/>
                          </a:ln>
                          <a:solidFill>
                            <a:srgbClr val="000000"/>
                          </a:solidFill>
                          <a:effectLst/>
                          <a:uLnTx/>
                          <a:uFillTx/>
                          <a:latin typeface="+mn-ea"/>
                          <a:ea typeface="+mn-ea"/>
                          <a:cs typeface="+mn-cs"/>
                        </a:rPr>
                        <a:t>自评弱项</a:t>
                      </a:r>
                      <a:endParaRPr kumimoji="0" lang="zh-CN" altLang="en-US" sz="900" b="0" i="0" u="none" strike="noStrike" kern="1200" cap="none" spc="0" normalizeH="0" baseline="0" noProof="0" dirty="0">
                        <a:ln>
                          <a:noFill/>
                        </a:ln>
                        <a:solidFill>
                          <a:srgbClr val="000000"/>
                        </a:solidFill>
                        <a:effectLst/>
                        <a:uLnTx/>
                        <a:uFillTx/>
                        <a:latin typeface="+mn-ea"/>
                        <a:ea typeface="+mn-ea"/>
                        <a:cs typeface="+mn-cs"/>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强化基础标准</a:t>
                      </a:r>
                      <a:r>
                        <a:rPr lang="en-US" altLang="zh-CN" sz="800" b="1" i="0" u="none" strike="noStrike" kern="1200" dirty="0">
                          <a:solidFill>
                            <a:srgbClr val="000000"/>
                          </a:solidFill>
                          <a:effectLst/>
                          <a:latin typeface="+mn-ea"/>
                          <a:ea typeface="+mn-ea"/>
                          <a:cs typeface="+mn-cs"/>
                        </a:rPr>
                        <a:t>】</a:t>
                      </a:r>
                      <a:r>
                        <a:rPr lang="zh-CN" altLang="en-US" sz="800" b="0" i="0" u="none" strike="noStrike" dirty="0">
                          <a:solidFill>
                            <a:srgbClr val="000000"/>
                          </a:solidFill>
                          <a:effectLst/>
                          <a:latin typeface="+mn-ea"/>
                          <a:ea typeface="+mn-ea"/>
                        </a:rPr>
                        <a:t>将售后活动邀约纳入流程规范；售后门店推送服务信息时要求服务顾问对车主进行主动邀约；明检</a:t>
                      </a:r>
                      <a:r>
                        <a:rPr lang="en-US" altLang="zh-CN" sz="800" b="0" i="0" u="none" strike="noStrike" dirty="0">
                          <a:solidFill>
                            <a:srgbClr val="000000"/>
                          </a:solidFill>
                          <a:effectLst/>
                          <a:latin typeface="+mn-ea"/>
                          <a:ea typeface="+mn-ea"/>
                        </a:rPr>
                        <a:t>/</a:t>
                      </a:r>
                      <a:r>
                        <a:rPr lang="zh-CN" altLang="en-US" sz="800" b="0" i="0" u="none" strike="noStrike" dirty="0">
                          <a:solidFill>
                            <a:srgbClr val="000000"/>
                          </a:solidFill>
                          <a:effectLst/>
                          <a:latin typeface="+mn-ea"/>
                          <a:ea typeface="+mn-ea"/>
                        </a:rPr>
                        <a:t>暗访以及满意度回访增加对车主是否受到售后活动邀请一项。</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493536052"/>
                  </a:ext>
                </a:extLst>
              </a:tr>
              <a:tr h="357433">
                <a:tc>
                  <a:txBody>
                    <a:bodyPr/>
                    <a:lstStyle/>
                    <a:p>
                      <a:pPr algn="l" fontAlgn="ctr"/>
                      <a:r>
                        <a:rPr lang="zh-CN" altLang="en-US" sz="900" b="0" i="0" u="none" strike="noStrike" dirty="0">
                          <a:solidFill>
                            <a:srgbClr val="181818"/>
                          </a:solidFill>
                          <a:effectLst/>
                          <a:latin typeface="+mn-ea"/>
                          <a:ea typeface="+mn-ea"/>
                        </a:rPr>
                        <a:t>总体保养</a:t>
                      </a:r>
                      <a:r>
                        <a:rPr lang="en-US" altLang="zh-CN" sz="900" b="0" i="0" u="none" strike="noStrike" dirty="0">
                          <a:solidFill>
                            <a:srgbClr val="181818"/>
                          </a:solidFill>
                          <a:effectLst/>
                          <a:latin typeface="+mn-ea"/>
                          <a:ea typeface="+mn-ea"/>
                        </a:rPr>
                        <a:t>/</a:t>
                      </a:r>
                      <a:r>
                        <a:rPr lang="zh-CN" altLang="en-US" sz="900" b="0" i="0" u="none" strike="noStrike" dirty="0">
                          <a:solidFill>
                            <a:srgbClr val="181818"/>
                          </a:solidFill>
                          <a:effectLst/>
                          <a:latin typeface="+mn-ea"/>
                          <a:ea typeface="+mn-ea"/>
                        </a:rPr>
                        <a:t>维修时长</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a:ln>
                            <a:noFill/>
                          </a:ln>
                          <a:solidFill>
                            <a:srgbClr val="000000"/>
                          </a:solidFill>
                          <a:effectLst/>
                          <a:uLnTx/>
                          <a:uFillTx/>
                          <a:latin typeface="+mn-ea"/>
                          <a:ea typeface="+mn-ea"/>
                          <a:cs typeface="+mn-cs"/>
                        </a:rPr>
                        <a:t>自评弱项</a:t>
                      </a:r>
                      <a:endParaRPr kumimoji="0" lang="zh-CN" altLang="en-US" sz="900" b="0" i="0" u="none" strike="noStrike" kern="1200" cap="none" spc="0" normalizeH="0" baseline="0" noProof="0" dirty="0">
                        <a:ln>
                          <a:noFill/>
                        </a:ln>
                        <a:solidFill>
                          <a:srgbClr val="000000"/>
                        </a:solidFill>
                        <a:effectLst/>
                        <a:uLnTx/>
                        <a:uFillTx/>
                        <a:latin typeface="+mn-ea"/>
                        <a:ea typeface="+mn-ea"/>
                        <a:cs typeface="+mn-cs"/>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强化基础标准</a:t>
                      </a:r>
                      <a:r>
                        <a:rPr lang="en-US" altLang="zh-CN" sz="800" b="1" i="0" u="none" strike="noStrike" kern="1200" dirty="0">
                          <a:solidFill>
                            <a:srgbClr val="000000"/>
                          </a:solidFill>
                          <a:effectLst/>
                          <a:latin typeface="+mn-ea"/>
                          <a:ea typeface="+mn-ea"/>
                          <a:cs typeface="+mn-cs"/>
                        </a:rPr>
                        <a:t>】</a:t>
                      </a:r>
                      <a:r>
                        <a:rPr lang="en-US" altLang="zh-CN" sz="800" b="0" i="0" u="none" strike="noStrike" dirty="0">
                          <a:solidFill>
                            <a:srgbClr val="000000"/>
                          </a:solidFill>
                          <a:effectLst/>
                          <a:latin typeface="+mn-ea"/>
                          <a:ea typeface="+mn-ea"/>
                        </a:rPr>
                        <a:t>1. </a:t>
                      </a:r>
                      <a:r>
                        <a:rPr lang="zh-CN" altLang="en-US" sz="800" b="0" i="0" u="none" strike="noStrike" dirty="0">
                          <a:solidFill>
                            <a:srgbClr val="000000"/>
                          </a:solidFill>
                          <a:effectLst/>
                          <a:latin typeface="+mn-ea"/>
                          <a:ea typeface="+mn-ea"/>
                        </a:rPr>
                        <a:t>提前和客户沟通总体时长；</a:t>
                      </a:r>
                      <a:r>
                        <a:rPr lang="en-US" altLang="zh-CN" sz="800" b="0" i="0" u="none" strike="noStrike" dirty="0">
                          <a:solidFill>
                            <a:srgbClr val="000000"/>
                          </a:solidFill>
                          <a:effectLst/>
                          <a:latin typeface="+mn-ea"/>
                          <a:ea typeface="+mn-ea"/>
                        </a:rPr>
                        <a:t>2.</a:t>
                      </a:r>
                      <a:r>
                        <a:rPr lang="zh-CN" altLang="en-US" sz="800" b="0" i="0" u="none" strike="noStrike" dirty="0">
                          <a:solidFill>
                            <a:srgbClr val="000000"/>
                          </a:solidFill>
                          <a:effectLst/>
                          <a:latin typeface="+mn-ea"/>
                          <a:ea typeface="+mn-ea"/>
                        </a:rPr>
                        <a:t>告知车主的时长中预留一段时间做缓冲；</a:t>
                      </a:r>
                      <a:r>
                        <a:rPr lang="en-US" altLang="zh-CN" sz="800" b="0" i="0" u="none" strike="noStrike" dirty="0">
                          <a:solidFill>
                            <a:srgbClr val="000000"/>
                          </a:solidFill>
                          <a:effectLst/>
                          <a:latin typeface="+mn-ea"/>
                          <a:ea typeface="+mn-ea"/>
                        </a:rPr>
                        <a:t>3.</a:t>
                      </a:r>
                      <a:r>
                        <a:rPr lang="zh-CN" altLang="en-US" sz="800" b="0" i="0" u="none" strike="noStrike" dirty="0">
                          <a:solidFill>
                            <a:srgbClr val="000000"/>
                          </a:solidFill>
                          <a:effectLst/>
                          <a:latin typeface="+mn-ea"/>
                          <a:ea typeface="+mn-ea"/>
                        </a:rPr>
                        <a:t>当天超时：提供超时补偿：如低成本的积分刮刮乐；</a:t>
                      </a:r>
                      <a:r>
                        <a:rPr lang="en-US" altLang="zh-CN" sz="800" b="0" i="0" u="none" strike="noStrike" dirty="0">
                          <a:solidFill>
                            <a:srgbClr val="000000"/>
                          </a:solidFill>
                          <a:effectLst/>
                          <a:latin typeface="+mn-ea"/>
                          <a:ea typeface="+mn-ea"/>
                        </a:rPr>
                        <a:t>4. </a:t>
                      </a:r>
                      <a:r>
                        <a:rPr lang="zh-CN" altLang="en-US" sz="800" b="0" i="0" u="none" strike="noStrike" dirty="0">
                          <a:solidFill>
                            <a:srgbClr val="000000"/>
                          </a:solidFill>
                          <a:effectLst/>
                          <a:latin typeface="+mn-ea"/>
                          <a:ea typeface="+mn-ea"/>
                        </a:rPr>
                        <a:t>合理安排洗车的人工和进度；</a:t>
                      </a:r>
                      <a:r>
                        <a:rPr lang="en-US" altLang="zh-CN" sz="800" b="0" i="0" u="none" strike="noStrike" dirty="0">
                          <a:solidFill>
                            <a:srgbClr val="000000"/>
                          </a:solidFill>
                          <a:effectLst/>
                          <a:latin typeface="+mn-ea"/>
                          <a:ea typeface="+mn-ea"/>
                        </a:rPr>
                        <a:t>5. </a:t>
                      </a:r>
                      <a:r>
                        <a:rPr lang="zh-CN" altLang="en-US" sz="800" b="0" i="0" u="none" strike="noStrike" dirty="0">
                          <a:solidFill>
                            <a:srgbClr val="000000"/>
                          </a:solidFill>
                          <a:effectLst/>
                          <a:latin typeface="+mn-ea"/>
                          <a:ea typeface="+mn-ea"/>
                        </a:rPr>
                        <a:t>提升配件订货配送时效性；</a:t>
                      </a:r>
                      <a:r>
                        <a:rPr lang="en-US" altLang="zh-CN" sz="800" b="0" i="0" u="none" strike="noStrike" dirty="0">
                          <a:solidFill>
                            <a:srgbClr val="000000"/>
                          </a:solidFill>
                          <a:effectLst/>
                          <a:latin typeface="+mn-ea"/>
                          <a:ea typeface="+mn-ea"/>
                        </a:rPr>
                        <a:t>6.</a:t>
                      </a:r>
                      <a:r>
                        <a:rPr lang="zh-CN" altLang="en-US" sz="800" b="0" i="0" u="none" strike="noStrike" dirty="0">
                          <a:solidFill>
                            <a:srgbClr val="000000"/>
                          </a:solidFill>
                          <a:effectLst/>
                          <a:latin typeface="+mn-ea"/>
                          <a:ea typeface="+mn-ea"/>
                        </a:rPr>
                        <a:t>提供代步车服务。</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42752440"/>
                  </a:ext>
                </a:extLst>
              </a:tr>
              <a:tr h="747360">
                <a:tc>
                  <a:txBody>
                    <a:bodyPr/>
                    <a:lstStyle/>
                    <a:p>
                      <a:pPr algn="l" fontAlgn="ctr"/>
                      <a:r>
                        <a:rPr lang="zh-CN" altLang="en-US" sz="900" b="0" i="0" u="none" strike="noStrike" dirty="0">
                          <a:solidFill>
                            <a:srgbClr val="181818"/>
                          </a:solidFill>
                          <a:effectLst/>
                          <a:latin typeface="+mn-ea"/>
                          <a:ea typeface="+mn-ea"/>
                        </a:rPr>
                        <a:t>专属群对车辆问题</a:t>
                      </a:r>
                      <a:r>
                        <a:rPr lang="en-US" altLang="zh-CN" sz="900" b="0" i="0" u="none" strike="noStrike" dirty="0">
                          <a:solidFill>
                            <a:srgbClr val="181818"/>
                          </a:solidFill>
                          <a:effectLst/>
                          <a:latin typeface="+mn-ea"/>
                          <a:ea typeface="+mn-ea"/>
                        </a:rPr>
                        <a:t>/</a:t>
                      </a:r>
                      <a:r>
                        <a:rPr lang="zh-CN" altLang="en-US" sz="900" b="0" i="0" u="none" strike="noStrike" dirty="0">
                          <a:solidFill>
                            <a:srgbClr val="181818"/>
                          </a:solidFill>
                          <a:effectLst/>
                          <a:latin typeface="+mn-ea"/>
                          <a:ea typeface="+mn-ea"/>
                        </a:rPr>
                        <a:t>疑问解决的评价</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srgbClr val="000000"/>
                          </a:solidFill>
                          <a:effectLst/>
                          <a:uLnTx/>
                          <a:uFillTx/>
                          <a:latin typeface="+mn-ea"/>
                          <a:ea typeface="+mn-ea"/>
                          <a:cs typeface="+mn-cs"/>
                        </a:rPr>
                        <a:t>自评弱项</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强化人员培训</a:t>
                      </a:r>
                      <a:r>
                        <a:rPr lang="en-US" altLang="zh-CN" sz="800" b="1" i="0" u="none" strike="noStrike" kern="1200" dirty="0">
                          <a:solidFill>
                            <a:srgbClr val="000000"/>
                          </a:solidFill>
                          <a:effectLst/>
                          <a:latin typeface="+mn-ea"/>
                          <a:ea typeface="+mn-ea"/>
                          <a:cs typeface="+mn-cs"/>
                        </a:rPr>
                        <a:t>】</a:t>
                      </a:r>
                      <a:r>
                        <a:rPr lang="zh-CN" altLang="en-US" sz="800" b="0" i="0" u="none" strike="noStrike" kern="1200" dirty="0">
                          <a:solidFill>
                            <a:srgbClr val="000000"/>
                          </a:solidFill>
                          <a:effectLst/>
                          <a:latin typeface="+mn-ea"/>
                          <a:ea typeface="+mn-ea"/>
                          <a:cs typeface="+mn-cs"/>
                        </a:rPr>
                        <a:t>定期开展对于服务人员专业知识讲座或培训，要求员工熟知车辆维保以及常备件等相关知识（话术培训、专业知识考核）。</a:t>
                      </a:r>
                    </a:p>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强化基础标准</a:t>
                      </a:r>
                      <a:r>
                        <a:rPr lang="en-US" altLang="zh-CN" sz="800" b="1" i="0" u="none" strike="noStrike" kern="1200" dirty="0">
                          <a:solidFill>
                            <a:srgbClr val="000000"/>
                          </a:solidFill>
                          <a:effectLst/>
                          <a:latin typeface="+mn-ea"/>
                          <a:ea typeface="+mn-ea"/>
                          <a:cs typeface="+mn-cs"/>
                        </a:rPr>
                        <a:t>】</a:t>
                      </a:r>
                      <a:r>
                        <a:rPr lang="en-US" altLang="zh-CN" sz="800" b="0" i="0" u="none" strike="noStrike" kern="1200" dirty="0">
                          <a:solidFill>
                            <a:srgbClr val="000000"/>
                          </a:solidFill>
                          <a:effectLst/>
                          <a:latin typeface="+mn-ea"/>
                          <a:ea typeface="+mn-ea"/>
                          <a:cs typeface="+mn-cs"/>
                        </a:rPr>
                        <a:t>1. </a:t>
                      </a:r>
                      <a:r>
                        <a:rPr lang="zh-CN" altLang="en-US" sz="800" b="0" i="0" u="none" strike="noStrike" kern="1200" dirty="0">
                          <a:solidFill>
                            <a:srgbClr val="000000"/>
                          </a:solidFill>
                          <a:effectLst/>
                          <a:latin typeface="+mn-ea"/>
                          <a:ea typeface="+mn-ea"/>
                          <a:cs typeface="+mn-cs"/>
                        </a:rPr>
                        <a:t>制定服务群回复考核标准；</a:t>
                      </a:r>
                      <a:r>
                        <a:rPr lang="en-US" altLang="zh-CN" sz="800" b="0" i="0" u="none" strike="noStrike" kern="1200" dirty="0">
                          <a:solidFill>
                            <a:srgbClr val="000000"/>
                          </a:solidFill>
                          <a:effectLst/>
                          <a:latin typeface="+mn-ea"/>
                          <a:ea typeface="+mn-ea"/>
                          <a:cs typeface="+mn-cs"/>
                        </a:rPr>
                        <a:t>2. </a:t>
                      </a:r>
                      <a:r>
                        <a:rPr lang="zh-CN" altLang="en-US" sz="800" b="0" i="0" u="none" strike="noStrike" kern="1200" dirty="0">
                          <a:solidFill>
                            <a:srgbClr val="000000"/>
                          </a:solidFill>
                          <a:effectLst/>
                          <a:latin typeface="+mn-ea"/>
                          <a:ea typeface="+mn-ea"/>
                          <a:cs typeface="+mn-cs"/>
                        </a:rPr>
                        <a:t>由城市运营的经营专属群和用户用车疑问，一对一。</a:t>
                      </a:r>
                    </a:p>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加强流程检查</a:t>
                      </a:r>
                      <a:r>
                        <a:rPr lang="en-US" altLang="zh-CN" sz="800" b="1" i="0" u="none" strike="noStrike" kern="1200" dirty="0">
                          <a:solidFill>
                            <a:srgbClr val="000000"/>
                          </a:solidFill>
                          <a:effectLst/>
                          <a:latin typeface="+mn-ea"/>
                          <a:ea typeface="+mn-ea"/>
                          <a:cs typeface="+mn-cs"/>
                        </a:rPr>
                        <a:t>】</a:t>
                      </a:r>
                      <a:r>
                        <a:rPr lang="zh-CN" altLang="en-US" sz="800" b="0" i="0" u="none" strike="noStrike" kern="1200" dirty="0">
                          <a:solidFill>
                            <a:srgbClr val="000000"/>
                          </a:solidFill>
                          <a:effectLst/>
                          <a:latin typeface="+mn-ea"/>
                          <a:ea typeface="+mn-ea"/>
                          <a:cs typeface="+mn-cs"/>
                        </a:rPr>
                        <a:t>明检中增加抽查是否及时回复、回复内容。</a:t>
                      </a:r>
                    </a:p>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加强流程闭环检查</a:t>
                      </a:r>
                      <a:r>
                        <a:rPr lang="en-US" altLang="zh-CN" sz="800" b="1" i="0" u="none" strike="noStrike" kern="1200" dirty="0">
                          <a:solidFill>
                            <a:srgbClr val="000000"/>
                          </a:solidFill>
                          <a:effectLst/>
                          <a:latin typeface="+mn-ea"/>
                          <a:ea typeface="+mn-ea"/>
                          <a:cs typeface="+mn-cs"/>
                        </a:rPr>
                        <a:t>】</a:t>
                      </a:r>
                      <a:r>
                        <a:rPr lang="zh-CN" altLang="en-US" sz="800" b="0" i="0" u="none" strike="noStrike" kern="1200" dirty="0">
                          <a:solidFill>
                            <a:srgbClr val="000000"/>
                          </a:solidFill>
                          <a:effectLst/>
                          <a:latin typeface="+mn-ea"/>
                          <a:ea typeface="+mn-ea"/>
                          <a:cs typeface="+mn-cs"/>
                        </a:rPr>
                        <a:t>是否有客户问题解决过程的闭环记录。</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421706585"/>
                  </a:ext>
                </a:extLst>
              </a:tr>
              <a:tr h="354828">
                <a:tc>
                  <a:txBody>
                    <a:bodyPr/>
                    <a:lstStyle/>
                    <a:p>
                      <a:pPr algn="l" fontAlgn="ctr"/>
                      <a:r>
                        <a:rPr lang="zh-CN" altLang="en-US" sz="900" b="0" i="0" u="none" strike="noStrike" dirty="0">
                          <a:solidFill>
                            <a:srgbClr val="181818"/>
                          </a:solidFill>
                          <a:effectLst/>
                          <a:latin typeface="+mn-ea"/>
                          <a:ea typeface="+mn-ea"/>
                        </a:rPr>
                        <a:t>工具数字化程度</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srgbClr val="000000"/>
                          </a:solidFill>
                          <a:effectLst/>
                          <a:uLnTx/>
                          <a:uFillTx/>
                          <a:latin typeface="+mn-ea"/>
                          <a:ea typeface="+mn-ea"/>
                          <a:cs typeface="+mn-cs"/>
                        </a:rPr>
                        <a:t>自评弱项</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0" i="0" u="none" strike="noStrike" dirty="0">
                          <a:solidFill>
                            <a:srgbClr val="000000"/>
                          </a:solidFill>
                          <a:effectLst/>
                          <a:latin typeface="+mn-ea"/>
                          <a:ea typeface="+mn-ea"/>
                        </a:rPr>
                        <a:t>【</a:t>
                      </a:r>
                      <a:r>
                        <a:rPr lang="zh-CN" altLang="en-US" sz="800" b="0" i="0" u="none" strike="noStrike" dirty="0">
                          <a:solidFill>
                            <a:srgbClr val="000000"/>
                          </a:solidFill>
                          <a:effectLst/>
                          <a:latin typeface="+mn-ea"/>
                          <a:ea typeface="+mn-ea"/>
                        </a:rPr>
                        <a:t>强化基础标准</a:t>
                      </a:r>
                      <a:r>
                        <a:rPr lang="en-US" altLang="zh-CN" sz="800" b="0" i="0" u="none" strike="noStrike" dirty="0">
                          <a:solidFill>
                            <a:srgbClr val="000000"/>
                          </a:solidFill>
                          <a:effectLst/>
                          <a:latin typeface="+mn-ea"/>
                          <a:ea typeface="+mn-ea"/>
                        </a:rPr>
                        <a:t>】1. </a:t>
                      </a:r>
                      <a:r>
                        <a:rPr lang="zh-CN" altLang="en-US" sz="800" b="0" i="0" u="none" strike="noStrike" dirty="0">
                          <a:solidFill>
                            <a:srgbClr val="000000"/>
                          </a:solidFill>
                          <a:effectLst/>
                          <a:latin typeface="+mn-ea"/>
                          <a:ea typeface="+mn-ea"/>
                        </a:rPr>
                        <a:t>明检</a:t>
                      </a:r>
                      <a:r>
                        <a:rPr lang="en-US" altLang="zh-CN" sz="800" b="0" i="0" u="none" strike="noStrike" dirty="0">
                          <a:solidFill>
                            <a:srgbClr val="000000"/>
                          </a:solidFill>
                          <a:effectLst/>
                          <a:latin typeface="+mn-ea"/>
                          <a:ea typeface="+mn-ea"/>
                        </a:rPr>
                        <a:t>/</a:t>
                      </a:r>
                      <a:r>
                        <a:rPr lang="zh-CN" altLang="en-US" sz="800" b="0" i="0" u="none" strike="noStrike" dirty="0">
                          <a:solidFill>
                            <a:srgbClr val="000000"/>
                          </a:solidFill>
                          <a:effectLst/>
                          <a:latin typeface="+mn-ea"/>
                          <a:ea typeface="+mn-ea"/>
                        </a:rPr>
                        <a:t>暗访注意检查服务人员是否用</a:t>
                      </a:r>
                      <a:r>
                        <a:rPr lang="en-US" altLang="zh-CN" sz="800" b="0" i="0" u="none" strike="noStrike" dirty="0">
                          <a:solidFill>
                            <a:srgbClr val="000000"/>
                          </a:solidFill>
                          <a:effectLst/>
                          <a:latin typeface="+mn-ea"/>
                          <a:ea typeface="+mn-ea"/>
                        </a:rPr>
                        <a:t>Pad</a:t>
                      </a:r>
                      <a:r>
                        <a:rPr lang="zh-CN" altLang="en-US" sz="800" b="0" i="0" u="none" strike="noStrike" dirty="0">
                          <a:solidFill>
                            <a:srgbClr val="000000"/>
                          </a:solidFill>
                          <a:effectLst/>
                          <a:latin typeface="+mn-ea"/>
                          <a:ea typeface="+mn-ea"/>
                        </a:rPr>
                        <a:t>解释说明；</a:t>
                      </a:r>
                      <a:r>
                        <a:rPr lang="en-US" altLang="zh-CN" sz="800" b="0" i="0" u="none" strike="noStrike" dirty="0">
                          <a:solidFill>
                            <a:srgbClr val="000000"/>
                          </a:solidFill>
                          <a:effectLst/>
                          <a:latin typeface="+mn-ea"/>
                          <a:ea typeface="+mn-ea"/>
                        </a:rPr>
                        <a:t>2. </a:t>
                      </a:r>
                      <a:r>
                        <a:rPr lang="zh-CN" altLang="en-US" sz="800" b="0" i="0" u="none" strike="noStrike" dirty="0">
                          <a:solidFill>
                            <a:srgbClr val="000000"/>
                          </a:solidFill>
                          <a:effectLst/>
                          <a:latin typeface="+mn-ea"/>
                          <a:ea typeface="+mn-ea"/>
                        </a:rPr>
                        <a:t>提供电子发票。</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995851070"/>
                  </a:ext>
                </a:extLst>
              </a:tr>
            </a:tbl>
          </a:graphicData>
        </a:graphic>
      </p:graphicFrame>
      <p:sp>
        <p:nvSpPr>
          <p:cNvPr id="2" name="文本占位符 7">
            <a:extLst>
              <a:ext uri="{FF2B5EF4-FFF2-40B4-BE49-F238E27FC236}">
                <a16:creationId xmlns:a16="http://schemas.microsoft.com/office/drawing/2014/main" id="{C0F18D62-CA27-1506-9E11-2CFD9366BC89}"/>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针对售后满意度调研中反映的弱项，总部应修订服务流程标准，并配合人员培训和流程检查确保终端执行</a:t>
            </a:r>
          </a:p>
        </p:txBody>
      </p:sp>
    </p:spTree>
    <p:extLst>
      <p:ext uri="{BB962C8B-B14F-4D97-AF65-F5344CB8AC3E}">
        <p14:creationId xmlns:p14="http://schemas.microsoft.com/office/powerpoint/2010/main" val="3520209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CE1A8736-9ACE-DA46-B790-8ABE7958B598}"/>
              </a:ext>
            </a:extLst>
          </p:cNvPr>
          <p:cNvSpPr>
            <a:spLocks noGrp="1"/>
          </p:cNvSpPr>
          <p:nvPr>
            <p:ph type="body" sz="quarter" idx="14"/>
          </p:nvPr>
        </p:nvSpPr>
        <p:spPr/>
        <p:txBody>
          <a:bodyPr/>
          <a:lstStyle/>
          <a:p>
            <a:endParaRPr lang="zh-CN" altLang="en-US" dirty="0"/>
          </a:p>
        </p:txBody>
      </p:sp>
      <p:sp>
        <p:nvSpPr>
          <p:cNvPr id="7" name="文本占位符 6">
            <a:extLst>
              <a:ext uri="{FF2B5EF4-FFF2-40B4-BE49-F238E27FC236}">
                <a16:creationId xmlns:a16="http://schemas.microsoft.com/office/drawing/2014/main" id="{672E21D2-E394-5C8A-3877-A7F07E5878B5}"/>
              </a:ext>
            </a:extLst>
          </p:cNvPr>
          <p:cNvSpPr>
            <a:spLocks noGrp="1"/>
          </p:cNvSpPr>
          <p:nvPr>
            <p:ph type="body" sz="quarter" idx="21"/>
          </p:nvPr>
        </p:nvSpPr>
        <p:spPr/>
        <p:txBody>
          <a:bodyPr/>
          <a:lstStyle/>
          <a:p>
            <a:r>
              <a:rPr lang="en-US" altLang="zh-CN" dirty="0">
                <a:latin typeface="+mn-ea"/>
                <a:ea typeface="+mn-ea"/>
              </a:rPr>
              <a:t>1.4 </a:t>
            </a:r>
            <a:r>
              <a:rPr lang="zh-CN" altLang="en-US" dirty="0"/>
              <a:t>售后弱项建议（</a:t>
            </a:r>
            <a:r>
              <a:rPr lang="en-US" altLang="zh-CN" dirty="0"/>
              <a:t>2/3</a:t>
            </a:r>
            <a:r>
              <a:rPr lang="zh-CN" altLang="en-US" dirty="0"/>
              <a:t>）</a:t>
            </a:r>
          </a:p>
        </p:txBody>
      </p:sp>
      <p:sp>
        <p:nvSpPr>
          <p:cNvPr id="5" name="灯片编号占位符 4">
            <a:extLst>
              <a:ext uri="{FF2B5EF4-FFF2-40B4-BE49-F238E27FC236}">
                <a16:creationId xmlns:a16="http://schemas.microsoft.com/office/drawing/2014/main" id="{8A40F7E5-6669-B5AD-E7C9-951226BE65C6}"/>
              </a:ext>
            </a:extLst>
          </p:cNvPr>
          <p:cNvSpPr>
            <a:spLocks noGrp="1"/>
          </p:cNvSpPr>
          <p:nvPr>
            <p:ph type="sldNum" sz="quarter" idx="4"/>
          </p:nvPr>
        </p:nvSpPr>
        <p:spPr/>
        <p:txBody>
          <a:bodyPr/>
          <a:lstStyle/>
          <a:p>
            <a:fld id="{04824671-56D2-5D44-834F-250C3DA554E9}" type="slidenum">
              <a:rPr lang="zh-CN" altLang="en-US" smtClean="0"/>
              <a:t>19</a:t>
            </a:fld>
            <a:endParaRPr lang="zh-CN" altLang="en-US" dirty="0"/>
          </a:p>
        </p:txBody>
      </p:sp>
      <p:sp>
        <p:nvSpPr>
          <p:cNvPr id="3" name="文本框 2">
            <a:extLst>
              <a:ext uri="{FF2B5EF4-FFF2-40B4-BE49-F238E27FC236}">
                <a16:creationId xmlns:a16="http://schemas.microsoft.com/office/drawing/2014/main" id="{5B8D723C-4EEE-B4ED-3F8F-A4A310678DC9}"/>
              </a:ext>
            </a:extLst>
          </p:cNvPr>
          <p:cNvSpPr txBox="1"/>
          <p:nvPr/>
        </p:nvSpPr>
        <p:spPr>
          <a:xfrm>
            <a:off x="263526" y="1487454"/>
            <a:ext cx="11664950" cy="432000"/>
          </a:xfrm>
          <a:prstGeom prst="rect">
            <a:avLst/>
          </a:prstGeom>
          <a:solidFill>
            <a:srgbClr val="4B8D56"/>
          </a:solidFill>
        </p:spPr>
        <p:txBody>
          <a:bodyPr wrap="square" anchor="ctr" anchorCtr="0">
            <a:noAutofit/>
          </a:bodyPr>
          <a:lstStyle>
            <a:defPPr>
              <a:defRPr lang="zh-CN"/>
            </a:defPPr>
            <a:lvl1pPr algn="ctr">
              <a:defRPr b="1">
                <a:solidFill>
                  <a:schemeClr val="bg1"/>
                </a:solidFill>
                <a:latin typeface="+mn-ea"/>
              </a:defRPr>
            </a:lvl1pPr>
          </a:lstStyle>
          <a:p>
            <a:r>
              <a:rPr lang="zh-CN" altLang="en-US" dirty="0"/>
              <a:t>售后服务弱项</a:t>
            </a:r>
          </a:p>
        </p:txBody>
      </p:sp>
      <p:graphicFrame>
        <p:nvGraphicFramePr>
          <p:cNvPr id="4" name="表格 3">
            <a:extLst>
              <a:ext uri="{FF2B5EF4-FFF2-40B4-BE49-F238E27FC236}">
                <a16:creationId xmlns:a16="http://schemas.microsoft.com/office/drawing/2014/main" id="{AAEA62EF-FA96-9B0E-6450-3F211FEED03E}"/>
              </a:ext>
            </a:extLst>
          </p:cNvPr>
          <p:cNvGraphicFramePr>
            <a:graphicFrameLocks noGrp="1"/>
          </p:cNvGraphicFramePr>
          <p:nvPr>
            <p:extLst>
              <p:ext uri="{D42A27DB-BD31-4B8C-83A1-F6EECF244321}">
                <p14:modId xmlns:p14="http://schemas.microsoft.com/office/powerpoint/2010/main" val="2285816102"/>
              </p:ext>
            </p:extLst>
          </p:nvPr>
        </p:nvGraphicFramePr>
        <p:xfrm>
          <a:off x="263526" y="1929920"/>
          <a:ext cx="11664950" cy="4343091"/>
        </p:xfrm>
        <a:graphic>
          <a:graphicData uri="http://schemas.openxmlformats.org/drawingml/2006/table">
            <a:tbl>
              <a:tblPr>
                <a:tableStyleId>{5C22544A-7EE6-4342-B048-85BDC9FD1C3A}</a:tableStyleId>
              </a:tblPr>
              <a:tblGrid>
                <a:gridCol w="1706065">
                  <a:extLst>
                    <a:ext uri="{9D8B030D-6E8A-4147-A177-3AD203B41FA5}">
                      <a16:colId xmlns:a16="http://schemas.microsoft.com/office/drawing/2014/main" val="3641100078"/>
                    </a:ext>
                  </a:extLst>
                </a:gridCol>
                <a:gridCol w="1284706">
                  <a:extLst>
                    <a:ext uri="{9D8B030D-6E8A-4147-A177-3AD203B41FA5}">
                      <a16:colId xmlns:a16="http://schemas.microsoft.com/office/drawing/2014/main" val="1928503319"/>
                    </a:ext>
                  </a:extLst>
                </a:gridCol>
                <a:gridCol w="8674179">
                  <a:extLst>
                    <a:ext uri="{9D8B030D-6E8A-4147-A177-3AD203B41FA5}">
                      <a16:colId xmlns:a16="http://schemas.microsoft.com/office/drawing/2014/main" val="2277777967"/>
                    </a:ext>
                  </a:extLst>
                </a:gridCol>
              </a:tblGrid>
              <a:tr h="306000">
                <a:tc>
                  <a:txBody>
                    <a:bodyPr/>
                    <a:lstStyle/>
                    <a:p>
                      <a:pPr algn="ctr" fontAlgn="b"/>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服务弱项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弱项来源</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弱项提升建议</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709687140"/>
                  </a:ext>
                </a:extLst>
              </a:tr>
              <a:tr h="422889">
                <a:tc>
                  <a:txBody>
                    <a:bodyPr/>
                    <a:lstStyle/>
                    <a:p>
                      <a:pPr algn="l" fontAlgn="ctr"/>
                      <a:r>
                        <a:rPr lang="zh-CN" altLang="en-US" sz="900" b="0" i="0" u="none" strike="noStrike" dirty="0">
                          <a:solidFill>
                            <a:srgbClr val="181818"/>
                          </a:solidFill>
                          <a:effectLst/>
                          <a:latin typeface="+mn-ea"/>
                          <a:ea typeface="+mn-ea"/>
                        </a:rPr>
                        <a:t>售后硬件设施总体满意度</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rgbClr val="000000"/>
                          </a:solidFill>
                          <a:effectLst/>
                          <a:latin typeface="+mn-ea"/>
                          <a:ea typeface="+mn-ea"/>
                        </a:rPr>
                        <a:t>自评弱项</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强化基础标准</a:t>
                      </a: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a:t>
                      </a:r>
                      <a:r>
                        <a:rPr lang="zh-CN" altLang="en-US" sz="800" b="0" i="0" u="none" strike="noStrike" dirty="0">
                          <a:solidFill>
                            <a:srgbClr val="000000"/>
                          </a:solidFill>
                          <a:effectLst/>
                          <a:latin typeface="+mn-ea"/>
                          <a:ea typeface="+mn-ea"/>
                        </a:rPr>
                        <a:t>设立某品牌自己专属工位。</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535764134"/>
                  </a:ext>
                </a:extLst>
              </a:tr>
              <a:tr h="475089">
                <a:tc>
                  <a:txBody>
                    <a:bodyPr/>
                    <a:lstStyle/>
                    <a:p>
                      <a:pPr algn="l" fontAlgn="ctr"/>
                      <a:r>
                        <a:rPr lang="zh-CN" altLang="en-US" sz="900" b="0" i="0" u="none" strike="noStrike" dirty="0">
                          <a:solidFill>
                            <a:srgbClr val="181818"/>
                          </a:solidFill>
                          <a:effectLst/>
                          <a:latin typeface="+mn-ea"/>
                          <a:ea typeface="+mn-ea"/>
                        </a:rPr>
                        <a:t>维保中心现场提供的餐饮服务</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srgbClr val="000000"/>
                          </a:solidFill>
                          <a:effectLst/>
                          <a:uLnTx/>
                          <a:uFillTx/>
                          <a:latin typeface="+mn-ea"/>
                          <a:ea typeface="+mn-ea"/>
                          <a:cs typeface="+mn-cs"/>
                        </a:rPr>
                        <a:t>自评弱项</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强化基础标准</a:t>
                      </a: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a:t>
                      </a:r>
                      <a:r>
                        <a:rPr lang="zh-CN" altLang="en-US" sz="800" b="0" i="0" u="none" strike="noStrike" dirty="0">
                          <a:solidFill>
                            <a:srgbClr val="000000"/>
                          </a:solidFill>
                          <a:effectLst/>
                          <a:latin typeface="+mn-ea"/>
                          <a:ea typeface="+mn-ea"/>
                        </a:rPr>
                        <a:t>对于餐食设定费用标准；设置餐食标准，并根据城市级别不同设置不同费用标准如（一线城市</a:t>
                      </a:r>
                      <a:r>
                        <a:rPr lang="en-US" altLang="zh-CN" sz="800" b="0" i="0" u="none" strike="noStrike" dirty="0">
                          <a:solidFill>
                            <a:srgbClr val="000000"/>
                          </a:solidFill>
                          <a:effectLst/>
                          <a:latin typeface="+mn-ea"/>
                          <a:ea typeface="+mn-ea"/>
                        </a:rPr>
                        <a:t>25</a:t>
                      </a:r>
                      <a:r>
                        <a:rPr lang="zh-CN" altLang="en-US" sz="800" b="0" i="0" u="none" strike="noStrike" dirty="0">
                          <a:solidFill>
                            <a:srgbClr val="000000"/>
                          </a:solidFill>
                          <a:effectLst/>
                          <a:latin typeface="+mn-ea"/>
                          <a:ea typeface="+mn-ea"/>
                        </a:rPr>
                        <a:t>元，二线城市</a:t>
                      </a:r>
                      <a:r>
                        <a:rPr lang="en-US" altLang="zh-CN" sz="800" b="0" i="0" u="none" strike="noStrike" dirty="0">
                          <a:solidFill>
                            <a:srgbClr val="000000"/>
                          </a:solidFill>
                          <a:effectLst/>
                          <a:latin typeface="+mn-ea"/>
                          <a:ea typeface="+mn-ea"/>
                        </a:rPr>
                        <a:t>20</a:t>
                      </a:r>
                      <a:r>
                        <a:rPr lang="zh-CN" altLang="en-US" sz="800" b="0" i="0" u="none" strike="noStrike" dirty="0">
                          <a:solidFill>
                            <a:srgbClr val="000000"/>
                          </a:solidFill>
                          <a:effectLst/>
                          <a:latin typeface="+mn-ea"/>
                          <a:ea typeface="+mn-ea"/>
                        </a:rPr>
                        <a:t>元等）；饭点服务人员事先询问顾客是否需要用餐，并提前告知餐食标准，根据客户需求做出适当变化。</a:t>
                      </a:r>
                    </a:p>
                    <a:p>
                      <a:pPr algn="l" fontAlgn="ctr"/>
                      <a:r>
                        <a:rPr lang="en-US" altLang="zh-CN" sz="800" b="1" i="0" u="none" strike="noStrike" dirty="0">
                          <a:solidFill>
                            <a:srgbClr val="000000"/>
                          </a:solidFill>
                          <a:effectLst/>
                          <a:latin typeface="+mn-ea"/>
                          <a:ea typeface="+mn-ea"/>
                        </a:rPr>
                        <a:t>【</a:t>
                      </a:r>
                      <a:r>
                        <a:rPr lang="zh-CN" altLang="en-US" sz="800" b="1" i="0" u="none" strike="noStrike" dirty="0">
                          <a:solidFill>
                            <a:srgbClr val="000000"/>
                          </a:solidFill>
                          <a:effectLst/>
                          <a:latin typeface="+mn-ea"/>
                          <a:ea typeface="+mn-ea"/>
                        </a:rPr>
                        <a:t>加强流程检查</a:t>
                      </a:r>
                      <a:r>
                        <a:rPr lang="en-US" altLang="zh-CN" sz="800" b="1" i="0" u="none" strike="noStrike" dirty="0">
                          <a:solidFill>
                            <a:srgbClr val="000000"/>
                          </a:solidFill>
                          <a:effectLst/>
                          <a:latin typeface="+mn-ea"/>
                          <a:ea typeface="+mn-ea"/>
                        </a:rPr>
                        <a:t>】</a:t>
                      </a:r>
                      <a:r>
                        <a:rPr lang="zh-CN" altLang="en-US" sz="800" b="1" i="0" u="none" strike="noStrike" dirty="0">
                          <a:solidFill>
                            <a:srgbClr val="000000"/>
                          </a:solidFill>
                          <a:effectLst/>
                          <a:latin typeface="+mn-ea"/>
                          <a:ea typeface="+mn-ea"/>
                        </a:rPr>
                        <a:t>：</a:t>
                      </a:r>
                      <a:r>
                        <a:rPr lang="zh-CN" altLang="en-US" sz="800" b="0" i="0" u="none" strike="noStrike" dirty="0">
                          <a:solidFill>
                            <a:srgbClr val="000000"/>
                          </a:solidFill>
                          <a:effectLst/>
                          <a:latin typeface="+mn-ea"/>
                          <a:ea typeface="+mn-ea"/>
                        </a:rPr>
                        <a:t>加强对门店餐食的相关检查；明检</a:t>
                      </a:r>
                      <a:r>
                        <a:rPr lang="en-US" altLang="zh-CN" sz="800" b="0" i="0" u="none" strike="noStrike" dirty="0">
                          <a:solidFill>
                            <a:srgbClr val="000000"/>
                          </a:solidFill>
                          <a:effectLst/>
                          <a:latin typeface="+mn-ea"/>
                          <a:ea typeface="+mn-ea"/>
                        </a:rPr>
                        <a:t>/</a:t>
                      </a:r>
                      <a:r>
                        <a:rPr lang="zh-CN" altLang="en-US" sz="800" b="0" i="0" u="none" strike="noStrike" dirty="0">
                          <a:solidFill>
                            <a:srgbClr val="000000"/>
                          </a:solidFill>
                          <a:effectLst/>
                          <a:latin typeface="+mn-ea"/>
                          <a:ea typeface="+mn-ea"/>
                        </a:rPr>
                        <a:t>暗访不定期抽查门店餐食是否符合费用标准；对不符合门店布置装饰要求的，进行相应惩罚。</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038027300"/>
                  </a:ext>
                </a:extLst>
              </a:tr>
              <a:tr h="422889">
                <a:tc>
                  <a:txBody>
                    <a:bodyPr/>
                    <a:lstStyle/>
                    <a:p>
                      <a:pPr algn="l" fontAlgn="ctr"/>
                      <a:r>
                        <a:rPr lang="zh-CN" altLang="en-US" sz="900" b="0" i="0" u="none" strike="noStrike" dirty="0">
                          <a:solidFill>
                            <a:srgbClr val="181818"/>
                          </a:solidFill>
                          <a:effectLst/>
                          <a:latin typeface="+mn-ea"/>
                          <a:ea typeface="+mn-ea"/>
                        </a:rPr>
                        <a:t>售后项目的完工质量</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a:ln>
                            <a:noFill/>
                          </a:ln>
                          <a:solidFill>
                            <a:srgbClr val="000000"/>
                          </a:solidFill>
                          <a:effectLst/>
                          <a:uLnTx/>
                          <a:uFillTx/>
                          <a:latin typeface="+mn-ea"/>
                          <a:ea typeface="+mn-ea"/>
                          <a:cs typeface="+mn-cs"/>
                        </a:rPr>
                        <a:t>自评弱项</a:t>
                      </a:r>
                      <a:endParaRPr kumimoji="0" lang="zh-CN" altLang="en-US" sz="900" b="0" i="0" u="none" strike="noStrike" kern="1200" cap="none" spc="0" normalizeH="0" baseline="0" noProof="0" dirty="0">
                        <a:ln>
                          <a:noFill/>
                        </a:ln>
                        <a:solidFill>
                          <a:srgbClr val="000000"/>
                        </a:solidFill>
                        <a:effectLst/>
                        <a:uLnTx/>
                        <a:uFillTx/>
                        <a:latin typeface="+mn-ea"/>
                        <a:ea typeface="+mn-ea"/>
                        <a:cs typeface="+mn-cs"/>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加强流程检查</a:t>
                      </a: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a:t>
                      </a:r>
                      <a:r>
                        <a:rPr lang="en-US" altLang="zh-CN" sz="800" b="0" i="0" u="none" strike="noStrike" dirty="0">
                          <a:solidFill>
                            <a:srgbClr val="000000"/>
                          </a:solidFill>
                          <a:effectLst/>
                          <a:latin typeface="+mn-ea"/>
                          <a:ea typeface="+mn-ea"/>
                        </a:rPr>
                        <a:t>1. </a:t>
                      </a:r>
                      <a:r>
                        <a:rPr lang="zh-CN" altLang="en-US" sz="800" b="0" i="0" u="none" strike="noStrike" dirty="0">
                          <a:solidFill>
                            <a:srgbClr val="000000"/>
                          </a:solidFill>
                          <a:effectLst/>
                          <a:latin typeface="+mn-ea"/>
                          <a:ea typeface="+mn-ea"/>
                        </a:rPr>
                        <a:t>明检</a:t>
                      </a:r>
                      <a:r>
                        <a:rPr lang="en-US" altLang="zh-CN" sz="800" b="0" i="0" u="none" strike="noStrike" dirty="0">
                          <a:solidFill>
                            <a:srgbClr val="000000"/>
                          </a:solidFill>
                          <a:effectLst/>
                          <a:latin typeface="+mn-ea"/>
                          <a:ea typeface="+mn-ea"/>
                        </a:rPr>
                        <a:t>/</a:t>
                      </a:r>
                      <a:r>
                        <a:rPr lang="zh-CN" altLang="en-US" sz="800" b="0" i="0" u="none" strike="noStrike" dirty="0">
                          <a:solidFill>
                            <a:srgbClr val="000000"/>
                          </a:solidFill>
                          <a:effectLst/>
                          <a:latin typeface="+mn-ea"/>
                          <a:ea typeface="+mn-ea"/>
                        </a:rPr>
                        <a:t>暗访不定期抽查售后完工质量是否符合标准；</a:t>
                      </a:r>
                      <a:r>
                        <a:rPr lang="en-US" altLang="zh-CN" sz="800" b="0" i="0" u="none" strike="noStrike" dirty="0">
                          <a:solidFill>
                            <a:srgbClr val="000000"/>
                          </a:solidFill>
                          <a:effectLst/>
                          <a:latin typeface="+mn-ea"/>
                          <a:ea typeface="+mn-ea"/>
                        </a:rPr>
                        <a:t>2. </a:t>
                      </a:r>
                      <a:r>
                        <a:rPr lang="zh-CN" altLang="en-US" sz="800" b="0" i="0" u="none" strike="noStrike" dirty="0">
                          <a:solidFill>
                            <a:srgbClr val="000000"/>
                          </a:solidFill>
                          <a:effectLst/>
                          <a:latin typeface="+mn-ea"/>
                          <a:ea typeface="+mn-ea"/>
                        </a:rPr>
                        <a:t>通过回访检核一次性修复率及满意度；</a:t>
                      </a:r>
                      <a:r>
                        <a:rPr lang="en-US" altLang="zh-CN" sz="800" b="0" i="0" u="none" strike="noStrike" dirty="0">
                          <a:solidFill>
                            <a:srgbClr val="000000"/>
                          </a:solidFill>
                          <a:effectLst/>
                          <a:latin typeface="+mn-ea"/>
                          <a:ea typeface="+mn-ea"/>
                        </a:rPr>
                        <a:t>3. </a:t>
                      </a:r>
                      <a:r>
                        <a:rPr lang="zh-CN" altLang="en-US" sz="800" b="0" i="0" u="none" strike="noStrike" dirty="0">
                          <a:solidFill>
                            <a:srgbClr val="000000"/>
                          </a:solidFill>
                          <a:effectLst/>
                          <a:latin typeface="+mn-ea"/>
                          <a:ea typeface="+mn-ea"/>
                        </a:rPr>
                        <a:t>通过回访请用户对维修质量打分。</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6051164"/>
                  </a:ext>
                </a:extLst>
              </a:tr>
              <a:tr h="422889">
                <a:tc>
                  <a:txBody>
                    <a:bodyPr/>
                    <a:lstStyle/>
                    <a:p>
                      <a:pPr algn="l" fontAlgn="ctr"/>
                      <a:r>
                        <a:rPr lang="zh-CN" altLang="en-US" sz="900" b="0" i="0" u="none" strike="noStrike" dirty="0">
                          <a:solidFill>
                            <a:srgbClr val="181818"/>
                          </a:solidFill>
                          <a:effectLst/>
                          <a:latin typeface="+mn-ea"/>
                          <a:ea typeface="+mn-ea"/>
                        </a:rPr>
                        <a:t>车间人员作业规范性</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a:ln>
                            <a:noFill/>
                          </a:ln>
                          <a:solidFill>
                            <a:srgbClr val="000000"/>
                          </a:solidFill>
                          <a:effectLst/>
                          <a:uLnTx/>
                          <a:uFillTx/>
                          <a:latin typeface="+mn-ea"/>
                          <a:ea typeface="+mn-ea"/>
                          <a:cs typeface="+mn-cs"/>
                        </a:rPr>
                        <a:t>自评弱项</a:t>
                      </a:r>
                      <a:endParaRPr kumimoji="0" lang="zh-CN" altLang="en-US" sz="900" b="0" i="0" u="none" strike="noStrike" kern="1200" cap="none" spc="0" normalizeH="0" baseline="0" noProof="0" dirty="0">
                        <a:ln>
                          <a:noFill/>
                        </a:ln>
                        <a:solidFill>
                          <a:srgbClr val="000000"/>
                        </a:solidFill>
                        <a:effectLst/>
                        <a:uLnTx/>
                        <a:uFillTx/>
                        <a:latin typeface="+mn-ea"/>
                        <a:ea typeface="+mn-ea"/>
                        <a:cs typeface="+mn-cs"/>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强化基础标准</a:t>
                      </a: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a:t>
                      </a:r>
                      <a:r>
                        <a:rPr lang="zh-CN" altLang="en-US" sz="800" b="0" i="0" u="none" strike="noStrike" dirty="0">
                          <a:solidFill>
                            <a:srgbClr val="000000"/>
                          </a:solidFill>
                          <a:effectLst/>
                          <a:latin typeface="+mn-ea"/>
                          <a:ea typeface="+mn-ea"/>
                        </a:rPr>
                        <a:t>设立某品牌自己专属工位，与某某区分开。</a:t>
                      </a:r>
                    </a:p>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加强流程检查</a:t>
                      </a: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a:t>
                      </a:r>
                      <a:r>
                        <a:rPr lang="zh-CN" altLang="en-US" sz="800" b="0" i="0" u="none" strike="noStrike" dirty="0">
                          <a:solidFill>
                            <a:srgbClr val="000000"/>
                          </a:solidFill>
                          <a:effectLst/>
                          <a:latin typeface="+mn-ea"/>
                          <a:ea typeface="+mn-ea"/>
                        </a:rPr>
                        <a:t>车间进行</a:t>
                      </a:r>
                      <a:r>
                        <a:rPr lang="en-US" altLang="zh-CN" sz="800" b="0" i="0" u="none" strike="noStrike" dirty="0">
                          <a:solidFill>
                            <a:srgbClr val="000000"/>
                          </a:solidFill>
                          <a:effectLst/>
                          <a:latin typeface="+mn-ea"/>
                          <a:ea typeface="+mn-ea"/>
                        </a:rPr>
                        <a:t>5S</a:t>
                      </a:r>
                      <a:r>
                        <a:rPr lang="zh-CN" altLang="en-US" sz="800" b="0" i="0" u="none" strike="noStrike" dirty="0">
                          <a:solidFill>
                            <a:srgbClr val="000000"/>
                          </a:solidFill>
                          <a:effectLst/>
                          <a:latin typeface="+mn-ea"/>
                          <a:ea typeface="+mn-ea"/>
                        </a:rPr>
                        <a:t>、三不落地管理，纳入日常检核，摄像头抽检。</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220353235"/>
                  </a:ext>
                </a:extLst>
              </a:tr>
              <a:tr h="422889">
                <a:tc>
                  <a:txBody>
                    <a:bodyPr/>
                    <a:lstStyle/>
                    <a:p>
                      <a:pPr algn="l" fontAlgn="ctr"/>
                      <a:r>
                        <a:rPr lang="zh-CN" altLang="en-US" sz="900" b="0" i="0" u="none" strike="noStrike" dirty="0">
                          <a:solidFill>
                            <a:srgbClr val="181818"/>
                          </a:solidFill>
                          <a:effectLst/>
                          <a:latin typeface="+mn-ea"/>
                          <a:ea typeface="+mn-ea"/>
                        </a:rPr>
                        <a:t>服务工作人员工作纪律性</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a:ln>
                            <a:noFill/>
                          </a:ln>
                          <a:solidFill>
                            <a:srgbClr val="000000"/>
                          </a:solidFill>
                          <a:effectLst/>
                          <a:uLnTx/>
                          <a:uFillTx/>
                          <a:latin typeface="+mn-ea"/>
                          <a:ea typeface="+mn-ea"/>
                          <a:cs typeface="+mn-cs"/>
                        </a:rPr>
                        <a:t>自评弱项</a:t>
                      </a:r>
                      <a:endParaRPr kumimoji="0" lang="zh-CN" altLang="en-US" sz="900" b="0" i="0" u="none" strike="noStrike" kern="1200" cap="none" spc="0" normalizeH="0" baseline="0" noProof="0" dirty="0">
                        <a:ln>
                          <a:noFill/>
                        </a:ln>
                        <a:solidFill>
                          <a:srgbClr val="000000"/>
                        </a:solidFill>
                        <a:effectLst/>
                        <a:uLnTx/>
                        <a:uFillTx/>
                        <a:latin typeface="+mn-ea"/>
                        <a:ea typeface="+mn-ea"/>
                        <a:cs typeface="+mn-cs"/>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加强流程检查</a:t>
                      </a:r>
                      <a:r>
                        <a:rPr lang="en-US" altLang="zh-CN" sz="800" b="1" i="0" u="none" strike="noStrike" kern="1200" dirty="0">
                          <a:solidFill>
                            <a:srgbClr val="000000"/>
                          </a:solidFill>
                          <a:effectLst/>
                          <a:latin typeface="+mn-ea"/>
                          <a:ea typeface="+mn-ea"/>
                          <a:cs typeface="+mn-cs"/>
                        </a:rPr>
                        <a:t>】</a:t>
                      </a:r>
                      <a:r>
                        <a:rPr lang="zh-CN" altLang="en-US" sz="800" b="0" i="0" u="none" strike="noStrike" dirty="0">
                          <a:solidFill>
                            <a:srgbClr val="000000"/>
                          </a:solidFill>
                          <a:effectLst/>
                          <a:latin typeface="+mn-ea"/>
                          <a:ea typeface="+mn-ea"/>
                        </a:rPr>
                        <a:t>明检</a:t>
                      </a:r>
                      <a:r>
                        <a:rPr lang="en-US" altLang="zh-CN" sz="800" b="0" i="0" u="none" strike="noStrike" dirty="0">
                          <a:solidFill>
                            <a:srgbClr val="000000"/>
                          </a:solidFill>
                          <a:effectLst/>
                          <a:latin typeface="+mn-ea"/>
                          <a:ea typeface="+mn-ea"/>
                        </a:rPr>
                        <a:t>/</a:t>
                      </a:r>
                      <a:r>
                        <a:rPr lang="zh-CN" altLang="en-US" sz="800" b="0" i="0" u="none" strike="noStrike" dirty="0">
                          <a:solidFill>
                            <a:srgbClr val="000000"/>
                          </a:solidFill>
                          <a:effectLst/>
                          <a:latin typeface="+mn-ea"/>
                          <a:ea typeface="+mn-ea"/>
                        </a:rPr>
                        <a:t>暗访注意检查人员配置和服务人员操作过程中的规范性。</a:t>
                      </a:r>
                    </a:p>
                    <a:p>
                      <a:pPr algn="l" fontAlgn="ctr"/>
                      <a:r>
                        <a:rPr lang="en-US" altLang="zh-CN" sz="800" b="0" i="0" u="none" strike="noStrike" dirty="0">
                          <a:solidFill>
                            <a:srgbClr val="000000"/>
                          </a:solidFill>
                          <a:effectLst/>
                          <a:latin typeface="+mn-ea"/>
                          <a:ea typeface="+mn-ea"/>
                        </a:rPr>
                        <a:t>【</a:t>
                      </a:r>
                      <a:r>
                        <a:rPr lang="zh-CN" altLang="en-US" sz="800" b="1" i="0" u="none" strike="noStrike" kern="1200" dirty="0">
                          <a:solidFill>
                            <a:srgbClr val="000000"/>
                          </a:solidFill>
                          <a:effectLst/>
                          <a:latin typeface="+mn-ea"/>
                          <a:ea typeface="+mn-ea"/>
                          <a:cs typeface="+mn-cs"/>
                        </a:rPr>
                        <a:t>标准流程培训</a:t>
                      </a: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a:t>
                      </a:r>
                      <a:r>
                        <a:rPr lang="zh-CN" altLang="en-US" sz="800" b="0" i="0" u="none" strike="noStrike" dirty="0">
                          <a:solidFill>
                            <a:srgbClr val="000000"/>
                          </a:solidFill>
                          <a:effectLst/>
                          <a:latin typeface="+mn-ea"/>
                          <a:ea typeface="+mn-ea"/>
                        </a:rPr>
                        <a:t>门店端支持：一线人员状态不好时，在短时间内给予进行调整。</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973185948"/>
                  </a:ext>
                </a:extLst>
              </a:tr>
              <a:tr h="601779">
                <a:tc>
                  <a:txBody>
                    <a:bodyPr/>
                    <a:lstStyle/>
                    <a:p>
                      <a:pPr algn="l" fontAlgn="ctr"/>
                      <a:r>
                        <a:rPr lang="zh-CN" altLang="en-US" sz="900" b="0" i="0" u="none" strike="noStrike" dirty="0">
                          <a:solidFill>
                            <a:srgbClr val="181818"/>
                          </a:solidFill>
                          <a:effectLst/>
                          <a:latin typeface="+mn-ea"/>
                          <a:ea typeface="+mn-ea"/>
                        </a:rPr>
                        <a:t>服务人员解决您日常用车疑问的表现</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a:ln>
                            <a:noFill/>
                          </a:ln>
                          <a:solidFill>
                            <a:srgbClr val="000000"/>
                          </a:solidFill>
                          <a:effectLst/>
                          <a:uLnTx/>
                          <a:uFillTx/>
                          <a:latin typeface="+mn-ea"/>
                          <a:ea typeface="+mn-ea"/>
                          <a:cs typeface="+mn-cs"/>
                        </a:rPr>
                        <a:t>自评弱项</a:t>
                      </a:r>
                      <a:endParaRPr kumimoji="0" lang="zh-CN" altLang="en-US" sz="900" b="0" i="0" u="none" strike="noStrike" kern="1200" cap="none" spc="0" normalizeH="0" baseline="0" noProof="0" dirty="0">
                        <a:ln>
                          <a:noFill/>
                        </a:ln>
                        <a:solidFill>
                          <a:srgbClr val="000000"/>
                        </a:solidFill>
                        <a:effectLst/>
                        <a:uLnTx/>
                        <a:uFillTx/>
                        <a:latin typeface="+mn-ea"/>
                        <a:ea typeface="+mn-ea"/>
                        <a:cs typeface="+mn-cs"/>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强化人员培训</a:t>
                      </a: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a:t>
                      </a:r>
                      <a:r>
                        <a:rPr lang="zh-CN" altLang="en-US" sz="800" b="0" i="0" u="none" strike="noStrike" dirty="0">
                          <a:solidFill>
                            <a:srgbClr val="000000"/>
                          </a:solidFill>
                          <a:effectLst/>
                          <a:latin typeface="+mn-ea"/>
                          <a:ea typeface="+mn-ea"/>
                        </a:rPr>
                        <a:t>定期开展对于服务人员专业知识讲座或培训，要求员工熟知车辆维保以及常备件等相关知识（话术培训、专业知识考核）。</a:t>
                      </a:r>
                    </a:p>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强化基础标准</a:t>
                      </a: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a:t>
                      </a:r>
                      <a:r>
                        <a:rPr lang="en-US" altLang="zh-CN" sz="800" b="0" i="0" u="none" strike="noStrike" dirty="0">
                          <a:solidFill>
                            <a:srgbClr val="000000"/>
                          </a:solidFill>
                          <a:effectLst/>
                          <a:latin typeface="+mn-ea"/>
                          <a:ea typeface="+mn-ea"/>
                        </a:rPr>
                        <a:t>1. </a:t>
                      </a:r>
                      <a:r>
                        <a:rPr lang="zh-CN" altLang="en-US" sz="800" b="0" i="0" u="none" strike="noStrike" dirty="0">
                          <a:solidFill>
                            <a:srgbClr val="000000"/>
                          </a:solidFill>
                          <a:effectLst/>
                          <a:latin typeface="+mn-ea"/>
                          <a:ea typeface="+mn-ea"/>
                        </a:rPr>
                        <a:t>制定服务群回复考核标准；</a:t>
                      </a:r>
                      <a:r>
                        <a:rPr lang="en-US" altLang="zh-CN" sz="800" b="0" i="0" u="none" strike="noStrike" dirty="0">
                          <a:solidFill>
                            <a:srgbClr val="000000"/>
                          </a:solidFill>
                          <a:effectLst/>
                          <a:latin typeface="+mn-ea"/>
                          <a:ea typeface="+mn-ea"/>
                        </a:rPr>
                        <a:t>2. </a:t>
                      </a:r>
                      <a:r>
                        <a:rPr lang="zh-CN" altLang="en-US" sz="800" b="0" i="0" u="none" strike="noStrike" dirty="0">
                          <a:solidFill>
                            <a:srgbClr val="000000"/>
                          </a:solidFill>
                          <a:effectLst/>
                          <a:latin typeface="+mn-ea"/>
                          <a:ea typeface="+mn-ea"/>
                        </a:rPr>
                        <a:t>由城市运营的经营专属群和用户用车疑问，一对一。</a:t>
                      </a:r>
                    </a:p>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加强流程检查</a:t>
                      </a: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a:t>
                      </a:r>
                      <a:r>
                        <a:rPr lang="zh-CN" altLang="en-US" sz="800" b="0" i="0" u="none" strike="noStrike" dirty="0">
                          <a:solidFill>
                            <a:srgbClr val="000000"/>
                          </a:solidFill>
                          <a:effectLst/>
                          <a:latin typeface="+mn-ea"/>
                          <a:ea typeface="+mn-ea"/>
                        </a:rPr>
                        <a:t>明检中增加抽查是否及时回复、回复内容。</a:t>
                      </a:r>
                    </a:p>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加强流程闭环检查</a:t>
                      </a: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a:t>
                      </a:r>
                      <a:r>
                        <a:rPr lang="zh-CN" altLang="en-US" sz="800" b="0" i="0" u="none" strike="noStrike" dirty="0">
                          <a:solidFill>
                            <a:srgbClr val="000000"/>
                          </a:solidFill>
                          <a:effectLst/>
                          <a:latin typeface="+mn-ea"/>
                          <a:ea typeface="+mn-ea"/>
                        </a:rPr>
                        <a:t>是否有客户问题解决过程的闭环记录。</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493536052"/>
                  </a:ext>
                </a:extLst>
              </a:tr>
              <a:tr h="422889">
                <a:tc>
                  <a:txBody>
                    <a:bodyPr/>
                    <a:lstStyle/>
                    <a:p>
                      <a:pPr algn="l" fontAlgn="ctr"/>
                      <a:r>
                        <a:rPr lang="zh-CN" altLang="en-US" sz="900" b="0" i="0" u="none" strike="noStrike" dirty="0">
                          <a:solidFill>
                            <a:srgbClr val="181818"/>
                          </a:solidFill>
                          <a:effectLst/>
                          <a:latin typeface="+mn-ea"/>
                          <a:ea typeface="+mn-ea"/>
                        </a:rPr>
                        <a:t>及时告知维修保养进度</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a:ln>
                            <a:noFill/>
                          </a:ln>
                          <a:solidFill>
                            <a:srgbClr val="000000"/>
                          </a:solidFill>
                          <a:effectLst/>
                          <a:uLnTx/>
                          <a:uFillTx/>
                          <a:latin typeface="+mn-ea"/>
                          <a:ea typeface="+mn-ea"/>
                          <a:cs typeface="+mn-cs"/>
                        </a:rPr>
                        <a:t>自评弱项</a:t>
                      </a:r>
                      <a:endParaRPr kumimoji="0" lang="zh-CN" altLang="en-US" sz="900" b="0" i="0" u="none" strike="noStrike" kern="1200" cap="none" spc="0" normalizeH="0" baseline="0" noProof="0" dirty="0">
                        <a:ln>
                          <a:noFill/>
                        </a:ln>
                        <a:solidFill>
                          <a:srgbClr val="000000"/>
                        </a:solidFill>
                        <a:effectLst/>
                        <a:uLnTx/>
                        <a:uFillTx/>
                        <a:latin typeface="+mn-ea"/>
                        <a:ea typeface="+mn-ea"/>
                        <a:cs typeface="+mn-cs"/>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强化基础标准</a:t>
                      </a: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a:t>
                      </a:r>
                      <a:r>
                        <a:rPr lang="en-US" altLang="zh-CN" sz="800" b="0" i="0" u="none" strike="noStrike" kern="1200" dirty="0">
                          <a:solidFill>
                            <a:srgbClr val="000000"/>
                          </a:solidFill>
                          <a:effectLst/>
                          <a:latin typeface="+mn-ea"/>
                          <a:ea typeface="+mn-ea"/>
                          <a:cs typeface="+mn-cs"/>
                        </a:rPr>
                        <a:t>1. </a:t>
                      </a:r>
                      <a:r>
                        <a:rPr lang="zh-CN" altLang="en-US" sz="800" b="0" i="0" u="none" strike="noStrike" kern="1200" dirty="0">
                          <a:solidFill>
                            <a:srgbClr val="000000"/>
                          </a:solidFill>
                          <a:effectLst/>
                          <a:latin typeface="+mn-ea"/>
                          <a:ea typeface="+mn-ea"/>
                          <a:cs typeface="+mn-cs"/>
                        </a:rPr>
                        <a:t>在车辆维修保养工项完成后，进入洗车、充电等增值服务前，告知用户维修时间；</a:t>
                      </a:r>
                      <a:r>
                        <a:rPr lang="en-US" altLang="zh-CN" sz="800" b="0" i="0" u="none" strike="noStrike" kern="1200" dirty="0">
                          <a:solidFill>
                            <a:srgbClr val="000000"/>
                          </a:solidFill>
                          <a:effectLst/>
                          <a:latin typeface="+mn-ea"/>
                          <a:ea typeface="+mn-ea"/>
                          <a:cs typeface="+mn-cs"/>
                        </a:rPr>
                        <a:t>2. </a:t>
                      </a:r>
                      <a:r>
                        <a:rPr lang="zh-CN" altLang="en-US" sz="800" b="0" i="0" u="none" strike="noStrike" kern="1200" dirty="0">
                          <a:solidFill>
                            <a:srgbClr val="000000"/>
                          </a:solidFill>
                          <a:effectLst/>
                          <a:latin typeface="+mn-ea"/>
                          <a:ea typeface="+mn-ea"/>
                          <a:cs typeface="+mn-cs"/>
                        </a:rPr>
                        <a:t>在</a:t>
                      </a:r>
                      <a:r>
                        <a:rPr lang="en-US" altLang="zh-CN" sz="800" b="0" i="0" u="none" strike="noStrike" kern="1200" dirty="0">
                          <a:solidFill>
                            <a:srgbClr val="000000"/>
                          </a:solidFill>
                          <a:effectLst/>
                          <a:latin typeface="+mn-ea"/>
                          <a:ea typeface="+mn-ea"/>
                          <a:cs typeface="+mn-cs"/>
                        </a:rPr>
                        <a:t>APP</a:t>
                      </a:r>
                      <a:r>
                        <a:rPr lang="zh-CN" altLang="en-US" sz="800" b="0" i="0" u="none" strike="noStrike" kern="1200" dirty="0">
                          <a:solidFill>
                            <a:srgbClr val="000000"/>
                          </a:solidFill>
                          <a:effectLst/>
                          <a:latin typeface="+mn-ea"/>
                          <a:ea typeface="+mn-ea"/>
                          <a:cs typeface="+mn-cs"/>
                        </a:rPr>
                        <a:t>内上传当时车辆状态照片；</a:t>
                      </a:r>
                      <a:r>
                        <a:rPr lang="en-US" altLang="zh-CN" sz="800" b="0" i="0" u="none" strike="noStrike" kern="1200" dirty="0">
                          <a:solidFill>
                            <a:srgbClr val="000000"/>
                          </a:solidFill>
                          <a:effectLst/>
                          <a:latin typeface="+mn-ea"/>
                          <a:ea typeface="+mn-ea"/>
                          <a:cs typeface="+mn-cs"/>
                        </a:rPr>
                        <a:t>3. </a:t>
                      </a:r>
                      <a:r>
                        <a:rPr lang="zh-CN" altLang="en-US" sz="800" b="0" i="0" u="none" strike="noStrike" kern="1200" dirty="0">
                          <a:solidFill>
                            <a:srgbClr val="000000"/>
                          </a:solidFill>
                          <a:effectLst/>
                          <a:latin typeface="+mn-ea"/>
                          <a:ea typeface="+mn-ea"/>
                          <a:cs typeface="+mn-cs"/>
                        </a:rPr>
                        <a:t>维修中间必须与客户沟通一次进度。</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42752440"/>
                  </a:ext>
                </a:extLst>
              </a:tr>
              <a:tr h="422889">
                <a:tc>
                  <a:txBody>
                    <a:bodyPr/>
                    <a:lstStyle/>
                    <a:p>
                      <a:pPr algn="l" fontAlgn="ctr"/>
                      <a:r>
                        <a:rPr lang="zh-CN" altLang="en-US" sz="900" b="0" i="0" u="none" strike="noStrike" dirty="0">
                          <a:solidFill>
                            <a:srgbClr val="181818"/>
                          </a:solidFill>
                          <a:effectLst/>
                          <a:latin typeface="+mn-ea"/>
                          <a:ea typeface="+mn-ea"/>
                        </a:rPr>
                        <a:t>送别服务体验</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srgbClr val="000000"/>
                          </a:solidFill>
                          <a:effectLst/>
                          <a:uLnTx/>
                          <a:uFillTx/>
                          <a:latin typeface="+mn-ea"/>
                          <a:ea typeface="+mn-ea"/>
                          <a:cs typeface="+mn-cs"/>
                        </a:rPr>
                        <a:t>自评弱项</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加强流程检查</a:t>
                      </a: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a:t>
                      </a:r>
                      <a:r>
                        <a:rPr lang="en-US" altLang="zh-CN" sz="800" b="0" i="0" u="none" strike="noStrike" dirty="0">
                          <a:solidFill>
                            <a:srgbClr val="000000"/>
                          </a:solidFill>
                          <a:effectLst/>
                          <a:latin typeface="+mn-ea"/>
                          <a:ea typeface="+mn-ea"/>
                        </a:rPr>
                        <a:t>1. </a:t>
                      </a:r>
                      <a:r>
                        <a:rPr lang="zh-CN" altLang="en-US" sz="800" b="0" i="0" u="none" strike="noStrike" dirty="0">
                          <a:solidFill>
                            <a:srgbClr val="000000"/>
                          </a:solidFill>
                          <a:effectLst/>
                          <a:latin typeface="+mn-ea"/>
                          <a:ea typeface="+mn-ea"/>
                        </a:rPr>
                        <a:t>明检</a:t>
                      </a:r>
                      <a:r>
                        <a:rPr lang="en-US" altLang="zh-CN" sz="800" b="0" i="0" u="none" strike="noStrike" dirty="0">
                          <a:solidFill>
                            <a:srgbClr val="000000"/>
                          </a:solidFill>
                          <a:effectLst/>
                          <a:latin typeface="+mn-ea"/>
                          <a:ea typeface="+mn-ea"/>
                        </a:rPr>
                        <a:t>/</a:t>
                      </a:r>
                      <a:r>
                        <a:rPr lang="zh-CN" altLang="en-US" sz="800" b="0" i="0" u="none" strike="noStrike" dirty="0">
                          <a:solidFill>
                            <a:srgbClr val="000000"/>
                          </a:solidFill>
                          <a:effectLst/>
                          <a:latin typeface="+mn-ea"/>
                          <a:ea typeface="+mn-ea"/>
                        </a:rPr>
                        <a:t>暗访注意检查服务人送别主动性和态度；；</a:t>
                      </a:r>
                      <a:r>
                        <a:rPr lang="en-US" altLang="zh-CN" sz="800" b="0" i="0" u="none" strike="noStrike" dirty="0">
                          <a:solidFill>
                            <a:srgbClr val="000000"/>
                          </a:solidFill>
                          <a:effectLst/>
                          <a:latin typeface="+mn-ea"/>
                          <a:ea typeface="+mn-ea"/>
                        </a:rPr>
                        <a:t>2. </a:t>
                      </a:r>
                      <a:r>
                        <a:rPr lang="zh-CN" altLang="en-US" sz="800" b="0" i="0" u="none" strike="noStrike" dirty="0">
                          <a:solidFill>
                            <a:srgbClr val="000000"/>
                          </a:solidFill>
                          <a:effectLst/>
                          <a:latin typeface="+mn-ea"/>
                          <a:ea typeface="+mn-ea"/>
                        </a:rPr>
                        <a:t>送别服务门店端演练：目送用户车辆驶离，直至驶出大门或超出目视范围；</a:t>
                      </a:r>
                      <a:r>
                        <a:rPr lang="en-US" altLang="zh-CN" sz="800" b="0" i="0" u="none" strike="noStrike" dirty="0">
                          <a:solidFill>
                            <a:srgbClr val="000000"/>
                          </a:solidFill>
                          <a:effectLst/>
                          <a:latin typeface="+mn-ea"/>
                          <a:ea typeface="+mn-ea"/>
                        </a:rPr>
                        <a:t>3. </a:t>
                      </a:r>
                      <a:r>
                        <a:rPr lang="zh-CN" altLang="en-US" sz="800" b="0" i="0" u="none" strike="noStrike" dirty="0">
                          <a:solidFill>
                            <a:srgbClr val="000000"/>
                          </a:solidFill>
                          <a:effectLst/>
                          <a:latin typeface="+mn-ea"/>
                          <a:ea typeface="+mn-ea"/>
                        </a:rPr>
                        <a:t>提高售后人员主动性，强调满意度和绩效挂钩。</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421706585"/>
                  </a:ext>
                </a:extLst>
              </a:tr>
              <a:tr h="422889">
                <a:tc>
                  <a:txBody>
                    <a:bodyPr/>
                    <a:lstStyle/>
                    <a:p>
                      <a:pPr algn="l" fontAlgn="ctr"/>
                      <a:r>
                        <a:rPr lang="zh-CN" altLang="en-US" sz="900" b="0" i="0" u="none" strike="noStrike" dirty="0">
                          <a:solidFill>
                            <a:srgbClr val="181818"/>
                          </a:solidFill>
                          <a:effectLst/>
                          <a:latin typeface="+mn-ea"/>
                          <a:ea typeface="+mn-ea"/>
                        </a:rPr>
                        <a:t>交车时间满意度</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srgbClr val="000000"/>
                          </a:solidFill>
                          <a:effectLst/>
                          <a:uLnTx/>
                          <a:uFillTx/>
                          <a:latin typeface="+mn-ea"/>
                          <a:ea typeface="+mn-ea"/>
                          <a:cs typeface="+mn-cs"/>
                        </a:rPr>
                        <a:t>自评弱项</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800" b="1" i="0" u="none" strike="noStrike" kern="1200" dirty="0">
                          <a:solidFill>
                            <a:srgbClr val="000000"/>
                          </a:solidFill>
                          <a:effectLst/>
                          <a:latin typeface="+mn-ea"/>
                          <a:ea typeface="+mn-ea"/>
                          <a:cs typeface="+mn-cs"/>
                        </a:rPr>
                        <a:t>【</a:t>
                      </a:r>
                      <a:r>
                        <a:rPr lang="zh-CN" altLang="en-US" sz="800" b="1" i="0" u="none" strike="noStrike" kern="1200" dirty="0">
                          <a:solidFill>
                            <a:srgbClr val="000000"/>
                          </a:solidFill>
                          <a:effectLst/>
                          <a:latin typeface="+mn-ea"/>
                          <a:ea typeface="+mn-ea"/>
                          <a:cs typeface="+mn-cs"/>
                        </a:rPr>
                        <a:t>强化基础标准</a:t>
                      </a:r>
                      <a:r>
                        <a:rPr lang="en-US" altLang="zh-CN" sz="800" b="1" i="0" u="none" strike="noStrike" kern="1200" dirty="0">
                          <a:solidFill>
                            <a:srgbClr val="000000"/>
                          </a:solidFill>
                          <a:effectLst/>
                          <a:latin typeface="+mn-ea"/>
                          <a:ea typeface="+mn-ea"/>
                          <a:cs typeface="+mn-cs"/>
                        </a:rPr>
                        <a:t>】:</a:t>
                      </a:r>
                      <a:r>
                        <a:rPr lang="en-US" altLang="zh-CN" sz="800" b="0" i="0" u="none" strike="noStrike" dirty="0">
                          <a:solidFill>
                            <a:srgbClr val="000000"/>
                          </a:solidFill>
                          <a:effectLst/>
                          <a:latin typeface="+mn-ea"/>
                          <a:ea typeface="+mn-ea"/>
                        </a:rPr>
                        <a:t>1. </a:t>
                      </a:r>
                      <a:r>
                        <a:rPr lang="zh-CN" altLang="en-US" sz="800" b="0" i="0" u="none" strike="noStrike" dirty="0">
                          <a:solidFill>
                            <a:srgbClr val="000000"/>
                          </a:solidFill>
                          <a:effectLst/>
                          <a:latin typeface="+mn-ea"/>
                          <a:ea typeface="+mn-ea"/>
                        </a:rPr>
                        <a:t>当交车时间变动后，及时与用户沟通；</a:t>
                      </a:r>
                      <a:r>
                        <a:rPr lang="en-US" altLang="zh-CN" sz="800" b="0" i="0" u="none" strike="noStrike" dirty="0">
                          <a:solidFill>
                            <a:srgbClr val="000000"/>
                          </a:solidFill>
                          <a:effectLst/>
                          <a:latin typeface="+mn-ea"/>
                          <a:ea typeface="+mn-ea"/>
                        </a:rPr>
                        <a:t>2. </a:t>
                      </a:r>
                      <a:r>
                        <a:rPr lang="zh-CN" altLang="en-US" sz="800" b="0" i="0" u="none" strike="noStrike" dirty="0">
                          <a:solidFill>
                            <a:srgbClr val="000000"/>
                          </a:solidFill>
                          <a:effectLst/>
                          <a:latin typeface="+mn-ea"/>
                          <a:ea typeface="+mn-ea"/>
                        </a:rPr>
                        <a:t>提升对交车时间预估的准确性，门店对</a:t>
                      </a:r>
                      <a:r>
                        <a:rPr lang="en-US" altLang="zh-CN" sz="800" b="0" i="0" u="none" strike="noStrike" dirty="0">
                          <a:solidFill>
                            <a:srgbClr val="000000"/>
                          </a:solidFill>
                          <a:effectLst/>
                          <a:latin typeface="+mn-ea"/>
                          <a:ea typeface="+mn-ea"/>
                        </a:rPr>
                        <a:t>24</a:t>
                      </a:r>
                      <a:r>
                        <a:rPr lang="zh-CN" altLang="en-US" sz="800" b="0" i="0" u="none" strike="noStrike" dirty="0">
                          <a:solidFill>
                            <a:srgbClr val="000000"/>
                          </a:solidFill>
                          <a:effectLst/>
                          <a:latin typeface="+mn-ea"/>
                          <a:ea typeface="+mn-ea"/>
                        </a:rPr>
                        <a:t>小时不能交车的工单每天进行整理记录，做好进度维护，比如预计交车时间、等待时间、配件时间、客户情绪、是否提供代步车；</a:t>
                      </a:r>
                      <a:r>
                        <a:rPr lang="en-US" altLang="zh-CN" sz="800" b="0" i="0" u="none" strike="noStrike" dirty="0">
                          <a:solidFill>
                            <a:srgbClr val="000000"/>
                          </a:solidFill>
                          <a:effectLst/>
                          <a:latin typeface="+mn-ea"/>
                          <a:ea typeface="+mn-ea"/>
                        </a:rPr>
                        <a:t>3. </a:t>
                      </a:r>
                      <a:r>
                        <a:rPr lang="zh-CN" altLang="en-US" sz="800" b="0" i="0" u="none" strike="noStrike" dirty="0">
                          <a:solidFill>
                            <a:srgbClr val="000000"/>
                          </a:solidFill>
                          <a:effectLst/>
                          <a:latin typeface="+mn-ea"/>
                          <a:ea typeface="+mn-ea"/>
                        </a:rPr>
                        <a:t>提升充电和洗车服务质量。</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995851070"/>
                  </a:ext>
                </a:extLst>
              </a:tr>
            </a:tbl>
          </a:graphicData>
        </a:graphic>
      </p:graphicFrame>
      <p:sp>
        <p:nvSpPr>
          <p:cNvPr id="2" name="文本占位符 7">
            <a:extLst>
              <a:ext uri="{FF2B5EF4-FFF2-40B4-BE49-F238E27FC236}">
                <a16:creationId xmlns:a16="http://schemas.microsoft.com/office/drawing/2014/main" id="{EB37332A-EA0D-09AC-E8B5-BE8317B23956}"/>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针对售后满意度调研中反映的弱项，总部应修订服务流程标准，并配合人员培训和流程检查确保终端执行</a:t>
            </a:r>
          </a:p>
        </p:txBody>
      </p:sp>
    </p:spTree>
    <p:extLst>
      <p:ext uri="{BB962C8B-B14F-4D97-AF65-F5344CB8AC3E}">
        <p14:creationId xmlns:p14="http://schemas.microsoft.com/office/powerpoint/2010/main" val="1307467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672E21D2-E394-5C8A-3877-A7F07E5878B5}"/>
              </a:ext>
            </a:extLst>
          </p:cNvPr>
          <p:cNvSpPr>
            <a:spLocks noGrp="1"/>
          </p:cNvSpPr>
          <p:nvPr>
            <p:ph type="body" sz="quarter" idx="21"/>
          </p:nvPr>
        </p:nvSpPr>
        <p:spPr/>
        <p:txBody>
          <a:bodyPr/>
          <a:lstStyle/>
          <a:p>
            <a:r>
              <a:rPr lang="en-US" altLang="zh-CN" dirty="0">
                <a:latin typeface="+mn-ea"/>
                <a:ea typeface="+mn-ea"/>
              </a:rPr>
              <a:t>1.4 </a:t>
            </a:r>
            <a:r>
              <a:rPr lang="zh-CN" altLang="en-US" dirty="0"/>
              <a:t>售后弱项建议（</a:t>
            </a:r>
            <a:r>
              <a:rPr lang="en-US" altLang="zh-CN" dirty="0"/>
              <a:t>3/3</a:t>
            </a:r>
            <a:r>
              <a:rPr lang="zh-CN" altLang="en-US" dirty="0"/>
              <a:t>）</a:t>
            </a:r>
          </a:p>
        </p:txBody>
      </p:sp>
      <p:sp>
        <p:nvSpPr>
          <p:cNvPr id="5" name="灯片编号占位符 4">
            <a:extLst>
              <a:ext uri="{FF2B5EF4-FFF2-40B4-BE49-F238E27FC236}">
                <a16:creationId xmlns:a16="http://schemas.microsoft.com/office/drawing/2014/main" id="{8A40F7E5-6669-B5AD-E7C9-951226BE65C6}"/>
              </a:ext>
            </a:extLst>
          </p:cNvPr>
          <p:cNvSpPr>
            <a:spLocks noGrp="1"/>
          </p:cNvSpPr>
          <p:nvPr>
            <p:ph type="sldNum" sz="quarter" idx="4"/>
          </p:nvPr>
        </p:nvSpPr>
        <p:spPr/>
        <p:txBody>
          <a:bodyPr/>
          <a:lstStyle/>
          <a:p>
            <a:fld id="{04824671-56D2-5D44-834F-250C3DA554E9}" type="slidenum">
              <a:rPr lang="zh-CN" altLang="en-US" smtClean="0"/>
              <a:t>20</a:t>
            </a:fld>
            <a:endParaRPr lang="zh-CN" altLang="en-US" dirty="0"/>
          </a:p>
        </p:txBody>
      </p:sp>
      <p:graphicFrame>
        <p:nvGraphicFramePr>
          <p:cNvPr id="4" name="表格 3">
            <a:extLst>
              <a:ext uri="{FF2B5EF4-FFF2-40B4-BE49-F238E27FC236}">
                <a16:creationId xmlns:a16="http://schemas.microsoft.com/office/drawing/2014/main" id="{AAEA62EF-FA96-9B0E-6450-3F211FEED03E}"/>
              </a:ext>
            </a:extLst>
          </p:cNvPr>
          <p:cNvGraphicFramePr>
            <a:graphicFrameLocks noGrp="1"/>
          </p:cNvGraphicFramePr>
          <p:nvPr>
            <p:extLst>
              <p:ext uri="{D42A27DB-BD31-4B8C-83A1-F6EECF244321}">
                <p14:modId xmlns:p14="http://schemas.microsoft.com/office/powerpoint/2010/main" val="816793929"/>
              </p:ext>
            </p:extLst>
          </p:nvPr>
        </p:nvGraphicFramePr>
        <p:xfrm>
          <a:off x="263526" y="1929920"/>
          <a:ext cx="11664950" cy="1978098"/>
        </p:xfrm>
        <a:graphic>
          <a:graphicData uri="http://schemas.openxmlformats.org/drawingml/2006/table">
            <a:tbl>
              <a:tblPr>
                <a:tableStyleId>{5C22544A-7EE6-4342-B048-85BDC9FD1C3A}</a:tableStyleId>
              </a:tblPr>
              <a:tblGrid>
                <a:gridCol w="1706065">
                  <a:extLst>
                    <a:ext uri="{9D8B030D-6E8A-4147-A177-3AD203B41FA5}">
                      <a16:colId xmlns:a16="http://schemas.microsoft.com/office/drawing/2014/main" val="3641100078"/>
                    </a:ext>
                  </a:extLst>
                </a:gridCol>
                <a:gridCol w="1284706">
                  <a:extLst>
                    <a:ext uri="{9D8B030D-6E8A-4147-A177-3AD203B41FA5}">
                      <a16:colId xmlns:a16="http://schemas.microsoft.com/office/drawing/2014/main" val="1928503319"/>
                    </a:ext>
                  </a:extLst>
                </a:gridCol>
                <a:gridCol w="8674179">
                  <a:extLst>
                    <a:ext uri="{9D8B030D-6E8A-4147-A177-3AD203B41FA5}">
                      <a16:colId xmlns:a16="http://schemas.microsoft.com/office/drawing/2014/main" val="2277777967"/>
                    </a:ext>
                  </a:extLst>
                </a:gridCol>
              </a:tblGrid>
              <a:tr h="306000">
                <a:tc>
                  <a:txBody>
                    <a:bodyPr/>
                    <a:lstStyle/>
                    <a:p>
                      <a:pPr algn="ctr" fontAlgn="b"/>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服务弱项</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弱项来源</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b"/>
                      <a:r>
                        <a:rPr lang="zh-CN" altLang="en-US" sz="1400" b="1" i="0" u="none" strike="noStrike" dirty="0">
                          <a:solidFill>
                            <a:schemeClr val="tx1">
                              <a:lumMod val="75000"/>
                              <a:lumOff val="25000"/>
                            </a:schemeClr>
                          </a:solidFill>
                          <a:effectLst/>
                          <a:latin typeface="微软雅黑" panose="020B0503020204020204" pitchFamily="34" charset="-122"/>
                          <a:ea typeface="Alibaba PuHuiTi 2.0 55 Regular"/>
                        </a:rPr>
                        <a:t>弱项提升建议</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709687140"/>
                  </a:ext>
                </a:extLst>
              </a:tr>
              <a:tr h="836049">
                <a:tc>
                  <a:txBody>
                    <a:bodyPr/>
                    <a:lstStyle/>
                    <a:p>
                      <a:pPr algn="l" fontAlgn="ctr"/>
                      <a:r>
                        <a:rPr lang="zh-CN" altLang="en-US" sz="900" b="0" i="0" u="none" strike="noStrike" dirty="0">
                          <a:solidFill>
                            <a:srgbClr val="181818"/>
                          </a:solidFill>
                          <a:effectLst/>
                          <a:latin typeface="+mn-ea"/>
                          <a:ea typeface="+mn-ea"/>
                        </a:rPr>
                        <a:t>检查过程和结果讲解清晰度</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fontAlgn="ctr"/>
                      <a:r>
                        <a:rPr lang="zh-CN" altLang="en-US" sz="900" b="0" i="0" u="none" strike="noStrike" dirty="0">
                          <a:solidFill>
                            <a:srgbClr val="000000"/>
                          </a:solidFill>
                          <a:effectLst/>
                          <a:latin typeface="+mn-ea"/>
                          <a:ea typeface="+mn-ea"/>
                        </a:rPr>
                        <a:t>自评弱项</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900" b="1" i="0" u="none" strike="noStrike" kern="1200" dirty="0">
                          <a:solidFill>
                            <a:srgbClr val="000000"/>
                          </a:solidFill>
                          <a:effectLst/>
                          <a:latin typeface="+mn-ea"/>
                          <a:ea typeface="+mn-ea"/>
                          <a:cs typeface="+mn-cs"/>
                        </a:rPr>
                        <a:t>【</a:t>
                      </a:r>
                      <a:r>
                        <a:rPr lang="zh-CN" altLang="en-US" sz="900" b="1" i="0" u="none" strike="noStrike" kern="1200" dirty="0">
                          <a:solidFill>
                            <a:srgbClr val="000000"/>
                          </a:solidFill>
                          <a:effectLst/>
                          <a:latin typeface="+mn-ea"/>
                          <a:ea typeface="+mn-ea"/>
                          <a:cs typeface="+mn-cs"/>
                        </a:rPr>
                        <a:t>加强流程检查</a:t>
                      </a:r>
                      <a:r>
                        <a:rPr lang="en-US" altLang="zh-CN" sz="900" b="1" i="0" u="none" strike="noStrike" kern="1200" dirty="0">
                          <a:solidFill>
                            <a:srgbClr val="000000"/>
                          </a:solidFill>
                          <a:effectLst/>
                          <a:latin typeface="+mn-ea"/>
                          <a:ea typeface="+mn-ea"/>
                          <a:cs typeface="+mn-cs"/>
                        </a:rPr>
                        <a:t>】</a:t>
                      </a:r>
                      <a:r>
                        <a:rPr lang="zh-CN" altLang="en-US" sz="900" b="1" i="0" u="none" strike="noStrike" kern="1200" dirty="0">
                          <a:solidFill>
                            <a:srgbClr val="000000"/>
                          </a:solidFill>
                          <a:effectLst/>
                          <a:latin typeface="+mn-ea"/>
                          <a:ea typeface="+mn-ea"/>
                          <a:cs typeface="+mn-cs"/>
                        </a:rPr>
                        <a:t>：</a:t>
                      </a:r>
                      <a:r>
                        <a:rPr lang="zh-CN" altLang="en-US" sz="900" b="0" i="0" u="none" strike="noStrike" dirty="0">
                          <a:solidFill>
                            <a:srgbClr val="000000"/>
                          </a:solidFill>
                          <a:effectLst/>
                          <a:latin typeface="+mn-ea"/>
                          <a:ea typeface="+mn-ea"/>
                        </a:rPr>
                        <a:t>明检</a:t>
                      </a:r>
                      <a:r>
                        <a:rPr lang="en-US" altLang="zh-CN" sz="900" b="0" i="0" u="none" strike="noStrike" dirty="0">
                          <a:solidFill>
                            <a:srgbClr val="000000"/>
                          </a:solidFill>
                          <a:effectLst/>
                          <a:latin typeface="+mn-ea"/>
                          <a:ea typeface="+mn-ea"/>
                        </a:rPr>
                        <a:t>/</a:t>
                      </a:r>
                      <a:r>
                        <a:rPr lang="zh-CN" altLang="en-US" sz="900" b="0" i="0" u="none" strike="noStrike" dirty="0">
                          <a:solidFill>
                            <a:srgbClr val="000000"/>
                          </a:solidFill>
                          <a:effectLst/>
                          <a:latin typeface="+mn-ea"/>
                          <a:ea typeface="+mn-ea"/>
                        </a:rPr>
                        <a:t>暗访检查注意检查是是否主动说明车辆问题。</a:t>
                      </a:r>
                    </a:p>
                    <a:p>
                      <a:pPr algn="l" fontAlgn="ctr"/>
                      <a:r>
                        <a:rPr lang="en-US" altLang="zh-CN" sz="900" b="0" i="0" u="none" strike="noStrike" dirty="0">
                          <a:solidFill>
                            <a:srgbClr val="000000"/>
                          </a:solidFill>
                          <a:effectLst/>
                          <a:latin typeface="+mn-ea"/>
                          <a:ea typeface="+mn-ea"/>
                        </a:rPr>
                        <a:t>【</a:t>
                      </a:r>
                      <a:r>
                        <a:rPr lang="zh-CN" altLang="en-US" sz="900" b="1" i="0" u="none" strike="noStrike" kern="1200" dirty="0">
                          <a:solidFill>
                            <a:srgbClr val="000000"/>
                          </a:solidFill>
                          <a:effectLst/>
                          <a:latin typeface="+mn-ea"/>
                          <a:ea typeface="+mn-ea"/>
                          <a:cs typeface="+mn-cs"/>
                        </a:rPr>
                        <a:t>加强售后专业性培训</a:t>
                      </a:r>
                      <a:r>
                        <a:rPr lang="en-US" altLang="zh-CN" sz="900" b="1" i="0" u="none" strike="noStrike" kern="1200" dirty="0">
                          <a:solidFill>
                            <a:srgbClr val="000000"/>
                          </a:solidFill>
                          <a:effectLst/>
                          <a:latin typeface="+mn-ea"/>
                          <a:ea typeface="+mn-ea"/>
                          <a:cs typeface="+mn-cs"/>
                        </a:rPr>
                        <a:t>】</a:t>
                      </a:r>
                      <a:r>
                        <a:rPr lang="zh-CN" altLang="en-US" sz="900" b="1" i="0" u="none" strike="noStrike" kern="1200" dirty="0">
                          <a:solidFill>
                            <a:srgbClr val="000000"/>
                          </a:solidFill>
                          <a:effectLst/>
                          <a:latin typeface="+mn-ea"/>
                          <a:ea typeface="+mn-ea"/>
                          <a:cs typeface="+mn-cs"/>
                        </a:rPr>
                        <a:t>：</a:t>
                      </a:r>
                      <a:r>
                        <a:rPr lang="en-US" altLang="zh-CN" sz="900" b="0" i="0" u="none" strike="noStrike" dirty="0">
                          <a:solidFill>
                            <a:srgbClr val="000000"/>
                          </a:solidFill>
                          <a:effectLst/>
                          <a:latin typeface="+mn-ea"/>
                          <a:ea typeface="+mn-ea"/>
                        </a:rPr>
                        <a:t>1</a:t>
                      </a:r>
                      <a:r>
                        <a:rPr lang="zh-CN" altLang="en-US" sz="900" b="0" i="0" u="none" strike="noStrike" dirty="0">
                          <a:solidFill>
                            <a:srgbClr val="000000"/>
                          </a:solidFill>
                          <a:effectLst/>
                          <a:latin typeface="+mn-ea"/>
                          <a:ea typeface="+mn-ea"/>
                        </a:rPr>
                        <a:t>、门店端进行每周环车检查流程</a:t>
                      </a:r>
                      <a:r>
                        <a:rPr lang="en-US" altLang="zh-CN" sz="900" b="0" i="0" u="none" strike="noStrike" dirty="0">
                          <a:solidFill>
                            <a:srgbClr val="000000"/>
                          </a:solidFill>
                          <a:effectLst/>
                          <a:latin typeface="+mn-ea"/>
                          <a:ea typeface="+mn-ea"/>
                        </a:rPr>
                        <a:t>roleplay</a:t>
                      </a:r>
                      <a:r>
                        <a:rPr lang="zh-CN" altLang="en-US" sz="900" b="0" i="0" u="none" strike="noStrike" dirty="0">
                          <a:solidFill>
                            <a:srgbClr val="000000"/>
                          </a:solidFill>
                          <a:effectLst/>
                          <a:latin typeface="+mn-ea"/>
                          <a:ea typeface="+mn-ea"/>
                        </a:rPr>
                        <a:t>，复盘记录问题点，针对性训练；</a:t>
                      </a:r>
                      <a:r>
                        <a:rPr lang="en-US" altLang="zh-CN" sz="900" b="0" i="0" u="none" strike="noStrike" dirty="0">
                          <a:solidFill>
                            <a:srgbClr val="000000"/>
                          </a:solidFill>
                          <a:effectLst/>
                          <a:latin typeface="+mn-ea"/>
                          <a:ea typeface="+mn-ea"/>
                        </a:rPr>
                        <a:t>2</a:t>
                      </a:r>
                      <a:r>
                        <a:rPr lang="zh-CN" altLang="en-US" sz="900" b="0" i="0" u="none" strike="noStrike" dirty="0">
                          <a:solidFill>
                            <a:srgbClr val="000000"/>
                          </a:solidFill>
                          <a:effectLst/>
                          <a:latin typeface="+mn-ea"/>
                          <a:ea typeface="+mn-ea"/>
                        </a:rPr>
                        <a:t>、专业知识培训：门店组织基础知识培训考核，考核不通过</a:t>
                      </a:r>
                      <a:r>
                        <a:rPr lang="zh-CN" altLang="en-US" sz="900" b="0" kern="100" dirty="0">
                          <a:solidFill>
                            <a:schemeClr val="tx1"/>
                          </a:solidFill>
                          <a:effectLst/>
                          <a:latin typeface="+mn-ea"/>
                          <a:ea typeface="+mn-ea"/>
                        </a:rPr>
                        <a:t>暂停接待</a:t>
                      </a:r>
                      <a:r>
                        <a:rPr lang="zh-CN" altLang="en-US" sz="900" b="0" i="0" u="none" strike="noStrike" dirty="0">
                          <a:solidFill>
                            <a:srgbClr val="000000"/>
                          </a:solidFill>
                          <a:effectLst/>
                          <a:latin typeface="+mn-ea"/>
                          <a:ea typeface="+mn-ea"/>
                        </a:rPr>
                        <a:t>；区域内组织门店专业知识比拼；</a:t>
                      </a:r>
                      <a:r>
                        <a:rPr lang="en-US" altLang="zh-CN" sz="900" b="0" i="0" u="none" strike="noStrike" dirty="0">
                          <a:solidFill>
                            <a:srgbClr val="000000"/>
                          </a:solidFill>
                          <a:effectLst/>
                          <a:latin typeface="+mn-ea"/>
                          <a:ea typeface="+mn-ea"/>
                        </a:rPr>
                        <a:t>3</a:t>
                      </a:r>
                      <a:r>
                        <a:rPr lang="zh-CN" altLang="en-US" sz="900" b="0" i="0" u="none" strike="noStrike" dirty="0">
                          <a:solidFill>
                            <a:srgbClr val="000000"/>
                          </a:solidFill>
                          <a:effectLst/>
                          <a:latin typeface="+mn-ea"/>
                          <a:ea typeface="+mn-ea"/>
                        </a:rPr>
                        <a:t>、组织优秀员工经验分享。</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535764134"/>
                  </a:ext>
                </a:extLst>
              </a:tr>
              <a:tr h="836049">
                <a:tc>
                  <a:txBody>
                    <a:bodyPr/>
                    <a:lstStyle/>
                    <a:p>
                      <a:pPr algn="l" fontAlgn="ctr"/>
                      <a:r>
                        <a:rPr lang="zh-CN" altLang="en-US" sz="900" b="0" i="0" u="none" strike="noStrike" dirty="0">
                          <a:solidFill>
                            <a:srgbClr val="181818"/>
                          </a:solidFill>
                          <a:effectLst/>
                          <a:latin typeface="+mn-ea"/>
                          <a:ea typeface="+mn-ea"/>
                        </a:rPr>
                        <a:t>交车时店内人员详细解释作业内容和效果的清晰程度</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srgbClr val="000000"/>
                          </a:solidFill>
                          <a:effectLst/>
                          <a:uLnTx/>
                          <a:uFillTx/>
                          <a:latin typeface="+mn-ea"/>
                          <a:ea typeface="+mn-ea"/>
                          <a:cs typeface="+mn-cs"/>
                        </a:rPr>
                        <a:t>自评弱项</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altLang="zh-CN" sz="900" b="1" i="0" u="none" strike="noStrike" kern="1200" dirty="0">
                          <a:solidFill>
                            <a:srgbClr val="000000"/>
                          </a:solidFill>
                          <a:effectLst/>
                          <a:latin typeface="+mn-ea"/>
                          <a:ea typeface="+mn-ea"/>
                          <a:cs typeface="+mn-cs"/>
                        </a:rPr>
                        <a:t>【</a:t>
                      </a:r>
                      <a:r>
                        <a:rPr lang="zh-CN" altLang="en-US" sz="900" b="1" i="0" u="none" strike="noStrike" kern="1200" dirty="0">
                          <a:solidFill>
                            <a:srgbClr val="000000"/>
                          </a:solidFill>
                          <a:effectLst/>
                          <a:latin typeface="+mn-ea"/>
                          <a:ea typeface="+mn-ea"/>
                          <a:cs typeface="+mn-cs"/>
                        </a:rPr>
                        <a:t>加强流程检查</a:t>
                      </a:r>
                      <a:r>
                        <a:rPr lang="en-US" altLang="zh-CN" sz="900" b="1" i="0" u="none" strike="noStrike" kern="1200" dirty="0">
                          <a:solidFill>
                            <a:srgbClr val="000000"/>
                          </a:solidFill>
                          <a:effectLst/>
                          <a:latin typeface="+mn-ea"/>
                          <a:ea typeface="+mn-ea"/>
                          <a:cs typeface="+mn-cs"/>
                        </a:rPr>
                        <a:t>】</a:t>
                      </a:r>
                      <a:r>
                        <a:rPr lang="zh-CN" altLang="en-US" sz="900" b="1" i="0" u="none" strike="noStrike" kern="1200" dirty="0">
                          <a:solidFill>
                            <a:srgbClr val="000000"/>
                          </a:solidFill>
                          <a:effectLst/>
                          <a:latin typeface="+mn-ea"/>
                          <a:ea typeface="+mn-ea"/>
                          <a:cs typeface="+mn-cs"/>
                        </a:rPr>
                        <a:t>：</a:t>
                      </a:r>
                      <a:r>
                        <a:rPr lang="zh-CN" altLang="en-US" sz="900" b="0" i="0" u="none" strike="noStrike" dirty="0">
                          <a:solidFill>
                            <a:srgbClr val="000000"/>
                          </a:solidFill>
                          <a:effectLst/>
                          <a:latin typeface="+mn-ea"/>
                          <a:ea typeface="+mn-ea"/>
                        </a:rPr>
                        <a:t>明检</a:t>
                      </a:r>
                      <a:r>
                        <a:rPr lang="en-US" altLang="zh-CN" sz="900" b="0" i="0" u="none" strike="noStrike" dirty="0">
                          <a:solidFill>
                            <a:srgbClr val="000000"/>
                          </a:solidFill>
                          <a:effectLst/>
                          <a:latin typeface="+mn-ea"/>
                          <a:ea typeface="+mn-ea"/>
                        </a:rPr>
                        <a:t>/</a:t>
                      </a:r>
                      <a:r>
                        <a:rPr lang="zh-CN" altLang="en-US" sz="900" b="0" i="0" u="none" strike="noStrike" dirty="0">
                          <a:solidFill>
                            <a:srgbClr val="000000"/>
                          </a:solidFill>
                          <a:effectLst/>
                          <a:latin typeface="+mn-ea"/>
                          <a:ea typeface="+mn-ea"/>
                        </a:rPr>
                        <a:t>暗访检查注意检查是是否主动说明车辆问题。</a:t>
                      </a:r>
                    </a:p>
                    <a:p>
                      <a:pPr algn="l" fontAlgn="ctr"/>
                      <a:r>
                        <a:rPr lang="en-US" altLang="zh-CN" sz="900" b="1" i="0" u="none" strike="noStrike" kern="1200" dirty="0">
                          <a:solidFill>
                            <a:srgbClr val="000000"/>
                          </a:solidFill>
                          <a:effectLst/>
                          <a:latin typeface="+mn-ea"/>
                          <a:ea typeface="+mn-ea"/>
                          <a:cs typeface="+mn-cs"/>
                        </a:rPr>
                        <a:t>【</a:t>
                      </a:r>
                      <a:r>
                        <a:rPr lang="zh-CN" altLang="en-US" sz="900" b="1" i="0" u="none" strike="noStrike" kern="1200" dirty="0">
                          <a:solidFill>
                            <a:srgbClr val="000000"/>
                          </a:solidFill>
                          <a:effectLst/>
                          <a:latin typeface="+mn-ea"/>
                          <a:ea typeface="+mn-ea"/>
                          <a:cs typeface="+mn-cs"/>
                        </a:rPr>
                        <a:t>加强员工培训</a:t>
                      </a:r>
                      <a:r>
                        <a:rPr lang="en-US" altLang="zh-CN" sz="900" b="1" i="0" u="none" strike="noStrike" kern="1200" dirty="0">
                          <a:solidFill>
                            <a:srgbClr val="000000"/>
                          </a:solidFill>
                          <a:effectLst/>
                          <a:latin typeface="+mn-ea"/>
                          <a:ea typeface="+mn-ea"/>
                          <a:cs typeface="+mn-cs"/>
                        </a:rPr>
                        <a:t>】</a:t>
                      </a:r>
                      <a:r>
                        <a:rPr lang="zh-CN" altLang="en-US" sz="900" b="1" i="0" u="none" strike="noStrike" kern="1200" dirty="0">
                          <a:solidFill>
                            <a:srgbClr val="000000"/>
                          </a:solidFill>
                          <a:effectLst/>
                          <a:latin typeface="+mn-ea"/>
                          <a:ea typeface="+mn-ea"/>
                          <a:cs typeface="+mn-cs"/>
                        </a:rPr>
                        <a:t>：</a:t>
                      </a:r>
                      <a:r>
                        <a:rPr lang="en-US" altLang="zh-CN" sz="900" b="0" i="0" u="none" strike="noStrike" dirty="0">
                          <a:solidFill>
                            <a:srgbClr val="000000"/>
                          </a:solidFill>
                          <a:effectLst/>
                          <a:latin typeface="+mn-ea"/>
                          <a:ea typeface="+mn-ea"/>
                        </a:rPr>
                        <a:t>1</a:t>
                      </a:r>
                      <a:r>
                        <a:rPr lang="zh-CN" altLang="en-US" sz="900" b="0" i="0" u="none" strike="noStrike" dirty="0">
                          <a:solidFill>
                            <a:srgbClr val="000000"/>
                          </a:solidFill>
                          <a:effectLst/>
                          <a:latin typeface="+mn-ea"/>
                          <a:ea typeface="+mn-ea"/>
                        </a:rPr>
                        <a:t>、门店端进行每周环车检查流程</a:t>
                      </a:r>
                      <a:r>
                        <a:rPr lang="en-US" altLang="zh-CN" sz="900" b="0" i="0" u="none" strike="noStrike" dirty="0">
                          <a:solidFill>
                            <a:srgbClr val="000000"/>
                          </a:solidFill>
                          <a:effectLst/>
                          <a:latin typeface="+mn-ea"/>
                          <a:ea typeface="+mn-ea"/>
                        </a:rPr>
                        <a:t>roleplay</a:t>
                      </a:r>
                      <a:r>
                        <a:rPr lang="zh-CN" altLang="en-US" sz="900" b="0" i="0" u="none" strike="noStrike" dirty="0">
                          <a:solidFill>
                            <a:srgbClr val="000000"/>
                          </a:solidFill>
                          <a:effectLst/>
                          <a:latin typeface="+mn-ea"/>
                          <a:ea typeface="+mn-ea"/>
                        </a:rPr>
                        <a:t>，复盘记录问题点，针对性训练；</a:t>
                      </a:r>
                      <a:r>
                        <a:rPr lang="en-US" altLang="zh-CN" sz="900" b="0" i="0" u="none" strike="noStrike" dirty="0">
                          <a:solidFill>
                            <a:srgbClr val="000000"/>
                          </a:solidFill>
                          <a:effectLst/>
                          <a:latin typeface="+mn-ea"/>
                          <a:ea typeface="+mn-ea"/>
                        </a:rPr>
                        <a:t>2</a:t>
                      </a:r>
                      <a:r>
                        <a:rPr lang="zh-CN" altLang="en-US" sz="900" b="0" i="0" u="none" strike="noStrike" dirty="0">
                          <a:solidFill>
                            <a:srgbClr val="000000"/>
                          </a:solidFill>
                          <a:effectLst/>
                          <a:latin typeface="+mn-ea"/>
                          <a:ea typeface="+mn-ea"/>
                        </a:rPr>
                        <a:t>、专业知识培训：门店组织基础知识培训考核，考核</a:t>
                      </a:r>
                      <a:r>
                        <a:rPr lang="zh-CN" altLang="en-US" sz="900" b="0" i="0" u="none" strike="noStrike">
                          <a:solidFill>
                            <a:srgbClr val="000000"/>
                          </a:solidFill>
                          <a:effectLst/>
                          <a:latin typeface="+mn-ea"/>
                          <a:ea typeface="+mn-ea"/>
                        </a:rPr>
                        <a:t>不通过</a:t>
                      </a:r>
                      <a:r>
                        <a:rPr lang="zh-CN" altLang="en-US" sz="900" b="0" kern="100">
                          <a:solidFill>
                            <a:schemeClr val="tx1"/>
                          </a:solidFill>
                          <a:effectLst/>
                          <a:latin typeface="+mn-ea"/>
                          <a:ea typeface="+mn-ea"/>
                        </a:rPr>
                        <a:t>暂停接待</a:t>
                      </a:r>
                      <a:r>
                        <a:rPr lang="zh-CN" altLang="en-US" sz="900" b="0" i="0" u="none" strike="noStrike">
                          <a:solidFill>
                            <a:srgbClr val="000000"/>
                          </a:solidFill>
                          <a:effectLst/>
                          <a:latin typeface="+mn-ea"/>
                          <a:ea typeface="+mn-ea"/>
                        </a:rPr>
                        <a:t>；</a:t>
                      </a:r>
                      <a:r>
                        <a:rPr lang="zh-CN" altLang="en-US" sz="900" b="0" i="0" u="none" strike="noStrike" dirty="0">
                          <a:solidFill>
                            <a:srgbClr val="000000"/>
                          </a:solidFill>
                          <a:effectLst/>
                          <a:latin typeface="+mn-ea"/>
                          <a:ea typeface="+mn-ea"/>
                        </a:rPr>
                        <a:t>区域内组织门店专业知识比拼；</a:t>
                      </a:r>
                      <a:r>
                        <a:rPr lang="en-US" altLang="zh-CN" sz="900" b="0" i="0" u="none" strike="noStrike" dirty="0">
                          <a:solidFill>
                            <a:srgbClr val="000000"/>
                          </a:solidFill>
                          <a:effectLst/>
                          <a:latin typeface="+mn-ea"/>
                          <a:ea typeface="+mn-ea"/>
                        </a:rPr>
                        <a:t>3</a:t>
                      </a:r>
                      <a:r>
                        <a:rPr lang="zh-CN" altLang="en-US" sz="900" b="0" i="0" u="none" strike="noStrike" dirty="0">
                          <a:solidFill>
                            <a:srgbClr val="000000"/>
                          </a:solidFill>
                          <a:effectLst/>
                          <a:latin typeface="+mn-ea"/>
                          <a:ea typeface="+mn-ea"/>
                        </a:rPr>
                        <a:t>、组织优秀员工经验分享。</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038027300"/>
                  </a:ext>
                </a:extLst>
              </a:tr>
            </a:tbl>
          </a:graphicData>
        </a:graphic>
      </p:graphicFrame>
      <p:sp>
        <p:nvSpPr>
          <p:cNvPr id="2" name="文本框 1">
            <a:extLst>
              <a:ext uri="{FF2B5EF4-FFF2-40B4-BE49-F238E27FC236}">
                <a16:creationId xmlns:a16="http://schemas.microsoft.com/office/drawing/2014/main" id="{8D49FA0B-3589-12C3-7FAB-732231E5D08C}"/>
              </a:ext>
            </a:extLst>
          </p:cNvPr>
          <p:cNvSpPr txBox="1"/>
          <p:nvPr/>
        </p:nvSpPr>
        <p:spPr>
          <a:xfrm>
            <a:off x="263526" y="1487454"/>
            <a:ext cx="11664950" cy="432000"/>
          </a:xfrm>
          <a:prstGeom prst="rect">
            <a:avLst/>
          </a:prstGeom>
          <a:solidFill>
            <a:srgbClr val="4B8D56"/>
          </a:solidFill>
        </p:spPr>
        <p:txBody>
          <a:bodyPr wrap="square" anchor="ctr" anchorCtr="0">
            <a:noAutofit/>
          </a:bodyPr>
          <a:lstStyle>
            <a:defPPr>
              <a:defRPr lang="zh-CN"/>
            </a:defPPr>
            <a:lvl1pPr algn="ctr">
              <a:defRPr b="1">
                <a:solidFill>
                  <a:schemeClr val="bg1"/>
                </a:solidFill>
                <a:latin typeface="+mn-ea"/>
              </a:defRPr>
            </a:lvl1pPr>
          </a:lstStyle>
          <a:p>
            <a:r>
              <a:rPr lang="zh-CN" altLang="en-US" dirty="0"/>
              <a:t>售后服务弱项</a:t>
            </a:r>
          </a:p>
        </p:txBody>
      </p:sp>
      <p:sp>
        <p:nvSpPr>
          <p:cNvPr id="9" name="文本占位符 7">
            <a:extLst>
              <a:ext uri="{FF2B5EF4-FFF2-40B4-BE49-F238E27FC236}">
                <a16:creationId xmlns:a16="http://schemas.microsoft.com/office/drawing/2014/main" id="{364D4D8F-6E61-8F52-8A7E-1C80A2F6D0B9}"/>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针对售后满意度调研中反映的弱项，总部应修订服务流程标准，并配合人员培训和流程检查确保终端执行</a:t>
            </a:r>
          </a:p>
        </p:txBody>
      </p:sp>
    </p:spTree>
    <p:extLst>
      <p:ext uri="{BB962C8B-B14F-4D97-AF65-F5344CB8AC3E}">
        <p14:creationId xmlns:p14="http://schemas.microsoft.com/office/powerpoint/2010/main" val="476961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3CD64C8-C8AD-6CB4-8F15-241B1CDDA8E9}"/>
              </a:ext>
            </a:extLst>
          </p:cNvPr>
          <p:cNvSpPr>
            <a:spLocks noGrp="1"/>
          </p:cNvSpPr>
          <p:nvPr>
            <p:ph type="body" sz="quarter" idx="21"/>
          </p:nvPr>
        </p:nvSpPr>
        <p:spPr/>
        <p:txBody>
          <a:bodyPr/>
          <a:lstStyle/>
          <a:p>
            <a:r>
              <a:rPr lang="en-US" altLang="zh-CN" dirty="0">
                <a:latin typeface="+mn-ea"/>
                <a:ea typeface="+mn-ea"/>
              </a:rPr>
              <a:t>1.5 </a:t>
            </a:r>
            <a:r>
              <a:rPr lang="zh-CN" altLang="en-US" dirty="0"/>
              <a:t>报告内容框架</a:t>
            </a:r>
          </a:p>
        </p:txBody>
      </p:sp>
      <p:sp>
        <p:nvSpPr>
          <p:cNvPr id="5" name="灯片编号占位符 4">
            <a:extLst>
              <a:ext uri="{FF2B5EF4-FFF2-40B4-BE49-F238E27FC236}">
                <a16:creationId xmlns:a16="http://schemas.microsoft.com/office/drawing/2014/main" id="{B4E9B733-5A07-12DB-7E1B-7712B18614AC}"/>
              </a:ext>
            </a:extLst>
          </p:cNvPr>
          <p:cNvSpPr>
            <a:spLocks noGrp="1"/>
          </p:cNvSpPr>
          <p:nvPr>
            <p:ph type="sldNum" sz="quarter" idx="4"/>
          </p:nvPr>
        </p:nvSpPr>
        <p:spPr/>
        <p:txBody>
          <a:bodyPr/>
          <a:lstStyle/>
          <a:p>
            <a:fld id="{04824671-56D2-5D44-834F-250C3DA554E9}" type="slidenum">
              <a:rPr lang="zh-CN" altLang="en-US" smtClean="0"/>
              <a:t>21</a:t>
            </a:fld>
            <a:endParaRPr lang="zh-CN" altLang="en-US" dirty="0"/>
          </a:p>
        </p:txBody>
      </p:sp>
      <p:graphicFrame>
        <p:nvGraphicFramePr>
          <p:cNvPr id="10" name="内容占位符 3">
            <a:extLst>
              <a:ext uri="{FF2B5EF4-FFF2-40B4-BE49-F238E27FC236}">
                <a16:creationId xmlns:a16="http://schemas.microsoft.com/office/drawing/2014/main" id="{B8533B7C-A504-09B1-D077-301D3AEB9E78}"/>
              </a:ext>
            </a:extLst>
          </p:cNvPr>
          <p:cNvGraphicFramePr>
            <a:graphicFrameLocks/>
          </p:cNvGraphicFramePr>
          <p:nvPr>
            <p:extLst>
              <p:ext uri="{D42A27DB-BD31-4B8C-83A1-F6EECF244321}">
                <p14:modId xmlns:p14="http://schemas.microsoft.com/office/powerpoint/2010/main" val="2214649878"/>
              </p:ext>
            </p:extLst>
          </p:nvPr>
        </p:nvGraphicFramePr>
        <p:xfrm>
          <a:off x="263525" y="1497046"/>
          <a:ext cx="11664951" cy="3977312"/>
        </p:xfrm>
        <a:graphic>
          <a:graphicData uri="http://schemas.openxmlformats.org/drawingml/2006/table">
            <a:tbl>
              <a:tblPr firstRow="1" bandRow="1"/>
              <a:tblGrid>
                <a:gridCol w="3888317">
                  <a:extLst>
                    <a:ext uri="{9D8B030D-6E8A-4147-A177-3AD203B41FA5}">
                      <a16:colId xmlns:a16="http://schemas.microsoft.com/office/drawing/2014/main" val="1427937662"/>
                    </a:ext>
                  </a:extLst>
                </a:gridCol>
                <a:gridCol w="3888317">
                  <a:extLst>
                    <a:ext uri="{9D8B030D-6E8A-4147-A177-3AD203B41FA5}">
                      <a16:colId xmlns:a16="http://schemas.microsoft.com/office/drawing/2014/main" val="3161403341"/>
                    </a:ext>
                  </a:extLst>
                </a:gridCol>
                <a:gridCol w="3888317">
                  <a:extLst>
                    <a:ext uri="{9D8B030D-6E8A-4147-A177-3AD203B41FA5}">
                      <a16:colId xmlns:a16="http://schemas.microsoft.com/office/drawing/2014/main" val="4258655095"/>
                    </a:ext>
                  </a:extLst>
                </a:gridCol>
              </a:tblGrid>
              <a:tr h="432000">
                <a:tc gridSpan="2">
                  <a:txBody>
                    <a:bodyPr/>
                    <a:lstStyle>
                      <a:lvl1pPr marL="0" algn="l" defTabSz="914400" rtl="0" eaLnBrk="1" latinLnBrk="0" hangingPunct="1">
                        <a:defRPr sz="1800" b="1" kern="1200">
                          <a:solidFill>
                            <a:schemeClr val="lt1"/>
                          </a:solidFill>
                          <a:latin typeface="Garamond" panose="02020404030301010803"/>
                        </a:defRPr>
                      </a:lvl1pPr>
                      <a:lvl2pPr marL="457200" algn="l" defTabSz="914400" rtl="0" eaLnBrk="1" latinLnBrk="0" hangingPunct="1">
                        <a:defRPr sz="1800" b="1" kern="1200">
                          <a:solidFill>
                            <a:schemeClr val="lt1"/>
                          </a:solidFill>
                          <a:latin typeface="Garamond" panose="02020404030301010803"/>
                        </a:defRPr>
                      </a:lvl2pPr>
                      <a:lvl3pPr marL="914400" algn="l" defTabSz="914400" rtl="0" eaLnBrk="1" latinLnBrk="0" hangingPunct="1">
                        <a:defRPr sz="1800" b="1" kern="1200">
                          <a:solidFill>
                            <a:schemeClr val="lt1"/>
                          </a:solidFill>
                          <a:latin typeface="Garamond" panose="02020404030301010803"/>
                        </a:defRPr>
                      </a:lvl3pPr>
                      <a:lvl4pPr marL="1371600" algn="l" defTabSz="914400" rtl="0" eaLnBrk="1" latinLnBrk="0" hangingPunct="1">
                        <a:defRPr sz="1800" b="1" kern="1200">
                          <a:solidFill>
                            <a:schemeClr val="lt1"/>
                          </a:solidFill>
                          <a:latin typeface="Garamond" panose="02020404030301010803"/>
                        </a:defRPr>
                      </a:lvl4pPr>
                      <a:lvl5pPr marL="1828800" algn="l" defTabSz="914400" rtl="0" eaLnBrk="1" latinLnBrk="0" hangingPunct="1">
                        <a:defRPr sz="1800" b="1" kern="1200">
                          <a:solidFill>
                            <a:schemeClr val="lt1"/>
                          </a:solidFill>
                          <a:latin typeface="Garamond" panose="02020404030301010803"/>
                        </a:defRPr>
                      </a:lvl5pPr>
                      <a:lvl6pPr marL="2286000" algn="l" defTabSz="914400" rtl="0" eaLnBrk="1" latinLnBrk="0" hangingPunct="1">
                        <a:defRPr sz="1800" b="1" kern="1200">
                          <a:solidFill>
                            <a:schemeClr val="lt1"/>
                          </a:solidFill>
                          <a:latin typeface="Garamond" panose="02020404030301010803"/>
                        </a:defRPr>
                      </a:lvl6pPr>
                      <a:lvl7pPr marL="2743200" algn="l" defTabSz="914400" rtl="0" eaLnBrk="1" latinLnBrk="0" hangingPunct="1">
                        <a:defRPr sz="1800" b="1" kern="1200">
                          <a:solidFill>
                            <a:schemeClr val="lt1"/>
                          </a:solidFill>
                          <a:latin typeface="Garamond" panose="02020404030301010803"/>
                        </a:defRPr>
                      </a:lvl7pPr>
                      <a:lvl8pPr marL="3200400" algn="l" defTabSz="914400" rtl="0" eaLnBrk="1" latinLnBrk="0" hangingPunct="1">
                        <a:defRPr sz="1800" b="1" kern="1200">
                          <a:solidFill>
                            <a:schemeClr val="lt1"/>
                          </a:solidFill>
                          <a:latin typeface="Garamond" panose="02020404030301010803"/>
                        </a:defRPr>
                      </a:lvl8pPr>
                      <a:lvl9pPr marL="3657600" algn="l" defTabSz="914400" rtl="0" eaLnBrk="1" latinLnBrk="0" hangingPunct="1">
                        <a:defRPr sz="1800" b="1" kern="1200">
                          <a:solidFill>
                            <a:schemeClr val="lt1"/>
                          </a:solidFill>
                          <a:latin typeface="Garamond" panose="02020404030301010803"/>
                        </a:defRPr>
                      </a:lvl9pPr>
                    </a:lstStyle>
                    <a:p>
                      <a:pPr algn="ctr"/>
                      <a:r>
                        <a:rPr lang="en-US" altLang="zh-CN" dirty="0">
                          <a:latin typeface="+mn-ea"/>
                          <a:ea typeface="+mn-ea"/>
                        </a:rPr>
                        <a:t>SSI</a:t>
                      </a:r>
                      <a:endParaRPr lang="zh-CN" altLang="en-US" dirty="0">
                        <a:latin typeface="+mn-ea"/>
                        <a:ea typeface="+mn-ea"/>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B8D56"/>
                    </a:solidFill>
                  </a:tcPr>
                </a:tc>
                <a:tc hMerge="1">
                  <a:txBody>
                    <a:bodyPr/>
                    <a:lstStyle>
                      <a:lvl1pPr marL="0" algn="l" defTabSz="914400" rtl="0" eaLnBrk="1" latinLnBrk="0" hangingPunct="1">
                        <a:defRPr sz="1800" b="1" kern="1200">
                          <a:solidFill>
                            <a:schemeClr val="lt1"/>
                          </a:solidFill>
                          <a:latin typeface="Garamond" panose="02020404030301010803"/>
                        </a:defRPr>
                      </a:lvl1pPr>
                      <a:lvl2pPr marL="457200" algn="l" defTabSz="914400" rtl="0" eaLnBrk="1" latinLnBrk="0" hangingPunct="1">
                        <a:defRPr sz="1800" b="1" kern="1200">
                          <a:solidFill>
                            <a:schemeClr val="lt1"/>
                          </a:solidFill>
                          <a:latin typeface="Garamond" panose="02020404030301010803"/>
                        </a:defRPr>
                      </a:lvl2pPr>
                      <a:lvl3pPr marL="914400" algn="l" defTabSz="914400" rtl="0" eaLnBrk="1" latinLnBrk="0" hangingPunct="1">
                        <a:defRPr sz="1800" b="1" kern="1200">
                          <a:solidFill>
                            <a:schemeClr val="lt1"/>
                          </a:solidFill>
                          <a:latin typeface="Garamond" panose="02020404030301010803"/>
                        </a:defRPr>
                      </a:lvl3pPr>
                      <a:lvl4pPr marL="1371600" algn="l" defTabSz="914400" rtl="0" eaLnBrk="1" latinLnBrk="0" hangingPunct="1">
                        <a:defRPr sz="1800" b="1" kern="1200">
                          <a:solidFill>
                            <a:schemeClr val="lt1"/>
                          </a:solidFill>
                          <a:latin typeface="Garamond" panose="02020404030301010803"/>
                        </a:defRPr>
                      </a:lvl4pPr>
                      <a:lvl5pPr marL="1828800" algn="l" defTabSz="914400" rtl="0" eaLnBrk="1" latinLnBrk="0" hangingPunct="1">
                        <a:defRPr sz="1800" b="1" kern="1200">
                          <a:solidFill>
                            <a:schemeClr val="lt1"/>
                          </a:solidFill>
                          <a:latin typeface="Garamond" panose="02020404030301010803"/>
                        </a:defRPr>
                      </a:lvl5pPr>
                      <a:lvl6pPr marL="2286000" algn="l" defTabSz="914400" rtl="0" eaLnBrk="1" latinLnBrk="0" hangingPunct="1">
                        <a:defRPr sz="1800" b="1" kern="1200">
                          <a:solidFill>
                            <a:schemeClr val="lt1"/>
                          </a:solidFill>
                          <a:latin typeface="Garamond" panose="02020404030301010803"/>
                        </a:defRPr>
                      </a:lvl6pPr>
                      <a:lvl7pPr marL="2743200" algn="l" defTabSz="914400" rtl="0" eaLnBrk="1" latinLnBrk="0" hangingPunct="1">
                        <a:defRPr sz="1800" b="1" kern="1200">
                          <a:solidFill>
                            <a:schemeClr val="lt1"/>
                          </a:solidFill>
                          <a:latin typeface="Garamond" panose="02020404030301010803"/>
                        </a:defRPr>
                      </a:lvl7pPr>
                      <a:lvl8pPr marL="3200400" algn="l" defTabSz="914400" rtl="0" eaLnBrk="1" latinLnBrk="0" hangingPunct="1">
                        <a:defRPr sz="1800" b="1" kern="1200">
                          <a:solidFill>
                            <a:schemeClr val="lt1"/>
                          </a:solidFill>
                          <a:latin typeface="Garamond" panose="02020404030301010803"/>
                        </a:defRPr>
                      </a:lvl8pPr>
                      <a:lvl9pPr marL="3657600" algn="l" defTabSz="914400" rtl="0" eaLnBrk="1" latinLnBrk="0" hangingPunct="1">
                        <a:defRPr sz="1800" b="1" kern="1200">
                          <a:solidFill>
                            <a:schemeClr val="lt1"/>
                          </a:solidFill>
                          <a:latin typeface="Garamond" panose="02020404030301010803"/>
                        </a:defRPr>
                      </a:lvl9pPr>
                    </a:lstStyle>
                    <a:p>
                      <a:endParaRPr lang="zh-CN"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C9770"/>
                    </a:solidFill>
                  </a:tcPr>
                </a:tc>
                <a:tc>
                  <a:txBody>
                    <a:bodyPr/>
                    <a:lstStyle>
                      <a:lvl1pPr marL="0" algn="l" defTabSz="914400" rtl="0" eaLnBrk="1" latinLnBrk="0" hangingPunct="1">
                        <a:defRPr sz="1800" b="1" kern="1200">
                          <a:solidFill>
                            <a:schemeClr val="lt1"/>
                          </a:solidFill>
                          <a:latin typeface="Garamond" panose="02020404030301010803"/>
                        </a:defRPr>
                      </a:lvl1pPr>
                      <a:lvl2pPr marL="457200" algn="l" defTabSz="914400" rtl="0" eaLnBrk="1" latinLnBrk="0" hangingPunct="1">
                        <a:defRPr sz="1800" b="1" kern="1200">
                          <a:solidFill>
                            <a:schemeClr val="lt1"/>
                          </a:solidFill>
                          <a:latin typeface="Garamond" panose="02020404030301010803"/>
                        </a:defRPr>
                      </a:lvl2pPr>
                      <a:lvl3pPr marL="914400" algn="l" defTabSz="914400" rtl="0" eaLnBrk="1" latinLnBrk="0" hangingPunct="1">
                        <a:defRPr sz="1800" b="1" kern="1200">
                          <a:solidFill>
                            <a:schemeClr val="lt1"/>
                          </a:solidFill>
                          <a:latin typeface="Garamond" panose="02020404030301010803"/>
                        </a:defRPr>
                      </a:lvl3pPr>
                      <a:lvl4pPr marL="1371600" algn="l" defTabSz="914400" rtl="0" eaLnBrk="1" latinLnBrk="0" hangingPunct="1">
                        <a:defRPr sz="1800" b="1" kern="1200">
                          <a:solidFill>
                            <a:schemeClr val="lt1"/>
                          </a:solidFill>
                          <a:latin typeface="Garamond" panose="02020404030301010803"/>
                        </a:defRPr>
                      </a:lvl4pPr>
                      <a:lvl5pPr marL="1828800" algn="l" defTabSz="914400" rtl="0" eaLnBrk="1" latinLnBrk="0" hangingPunct="1">
                        <a:defRPr sz="1800" b="1" kern="1200">
                          <a:solidFill>
                            <a:schemeClr val="lt1"/>
                          </a:solidFill>
                          <a:latin typeface="Garamond" panose="02020404030301010803"/>
                        </a:defRPr>
                      </a:lvl5pPr>
                      <a:lvl6pPr marL="2286000" algn="l" defTabSz="914400" rtl="0" eaLnBrk="1" latinLnBrk="0" hangingPunct="1">
                        <a:defRPr sz="1800" b="1" kern="1200">
                          <a:solidFill>
                            <a:schemeClr val="lt1"/>
                          </a:solidFill>
                          <a:latin typeface="Garamond" panose="02020404030301010803"/>
                        </a:defRPr>
                      </a:lvl6pPr>
                      <a:lvl7pPr marL="2743200" algn="l" defTabSz="914400" rtl="0" eaLnBrk="1" latinLnBrk="0" hangingPunct="1">
                        <a:defRPr sz="1800" b="1" kern="1200">
                          <a:solidFill>
                            <a:schemeClr val="lt1"/>
                          </a:solidFill>
                          <a:latin typeface="Garamond" panose="02020404030301010803"/>
                        </a:defRPr>
                      </a:lvl7pPr>
                      <a:lvl8pPr marL="3200400" algn="l" defTabSz="914400" rtl="0" eaLnBrk="1" latinLnBrk="0" hangingPunct="1">
                        <a:defRPr sz="1800" b="1" kern="1200">
                          <a:solidFill>
                            <a:schemeClr val="lt1"/>
                          </a:solidFill>
                          <a:latin typeface="Garamond" panose="02020404030301010803"/>
                        </a:defRPr>
                      </a:lvl8pPr>
                      <a:lvl9pPr marL="3657600" algn="l" defTabSz="914400" rtl="0" eaLnBrk="1" latinLnBrk="0" hangingPunct="1">
                        <a:defRPr sz="1800" b="1" kern="1200">
                          <a:solidFill>
                            <a:schemeClr val="lt1"/>
                          </a:solidFill>
                          <a:latin typeface="Garamond" panose="02020404030301010803"/>
                        </a:defRPr>
                      </a:lvl9pPr>
                    </a:lstStyle>
                    <a:p>
                      <a:pPr algn="ctr"/>
                      <a:r>
                        <a:rPr lang="en-US" altLang="zh-CN" dirty="0">
                          <a:latin typeface="+mn-ea"/>
                          <a:ea typeface="+mn-ea"/>
                        </a:rPr>
                        <a:t>CSI</a:t>
                      </a:r>
                      <a:endParaRPr lang="zh-CN" altLang="en-US" dirty="0">
                        <a:latin typeface="+mn-ea"/>
                        <a:ea typeface="+mn-ea"/>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B8D56"/>
                    </a:solidFill>
                  </a:tcPr>
                </a:tc>
                <a:extLst>
                  <a:ext uri="{0D108BD9-81ED-4DB2-BD59-A6C34878D82A}">
                    <a16:rowId xmlns:a16="http://schemas.microsoft.com/office/drawing/2014/main" val="1375435217"/>
                  </a:ext>
                </a:extLst>
              </a:tr>
              <a:tr h="419340">
                <a:tc>
                  <a:txBody>
                    <a:bodyPr/>
                    <a:lstStyle>
                      <a:lvl1pPr marL="0" algn="l" defTabSz="914400" rtl="0" eaLnBrk="1" latinLnBrk="0" hangingPunct="1">
                        <a:defRPr sz="1800" kern="1200">
                          <a:solidFill>
                            <a:schemeClr val="dk1"/>
                          </a:solidFill>
                          <a:latin typeface="Garamond" panose="02020404030301010803"/>
                        </a:defRPr>
                      </a:lvl1pPr>
                      <a:lvl2pPr marL="457200" algn="l" defTabSz="914400" rtl="0" eaLnBrk="1" latinLnBrk="0" hangingPunct="1">
                        <a:defRPr sz="1800" kern="1200">
                          <a:solidFill>
                            <a:schemeClr val="dk1"/>
                          </a:solidFill>
                          <a:latin typeface="Garamond" panose="02020404030301010803"/>
                        </a:defRPr>
                      </a:lvl2pPr>
                      <a:lvl3pPr marL="914400" algn="l" defTabSz="914400" rtl="0" eaLnBrk="1" latinLnBrk="0" hangingPunct="1">
                        <a:defRPr sz="1800" kern="1200">
                          <a:solidFill>
                            <a:schemeClr val="dk1"/>
                          </a:solidFill>
                          <a:latin typeface="Garamond" panose="02020404030301010803"/>
                        </a:defRPr>
                      </a:lvl3pPr>
                      <a:lvl4pPr marL="1371600" algn="l" defTabSz="914400" rtl="0" eaLnBrk="1" latinLnBrk="0" hangingPunct="1">
                        <a:defRPr sz="1800" kern="1200">
                          <a:solidFill>
                            <a:schemeClr val="dk1"/>
                          </a:solidFill>
                          <a:latin typeface="Garamond" panose="02020404030301010803"/>
                        </a:defRPr>
                      </a:lvl4pPr>
                      <a:lvl5pPr marL="1828800" algn="l" defTabSz="914400" rtl="0" eaLnBrk="1" latinLnBrk="0" hangingPunct="1">
                        <a:defRPr sz="1800" kern="1200">
                          <a:solidFill>
                            <a:schemeClr val="dk1"/>
                          </a:solidFill>
                          <a:latin typeface="Garamond" panose="02020404030301010803"/>
                        </a:defRPr>
                      </a:lvl5pPr>
                      <a:lvl6pPr marL="2286000" algn="l" defTabSz="914400" rtl="0" eaLnBrk="1" latinLnBrk="0" hangingPunct="1">
                        <a:defRPr sz="1800" kern="1200">
                          <a:solidFill>
                            <a:schemeClr val="dk1"/>
                          </a:solidFill>
                          <a:latin typeface="Garamond" panose="02020404030301010803"/>
                        </a:defRPr>
                      </a:lvl6pPr>
                      <a:lvl7pPr marL="2743200" algn="l" defTabSz="914400" rtl="0" eaLnBrk="1" latinLnBrk="0" hangingPunct="1">
                        <a:defRPr sz="1800" kern="1200">
                          <a:solidFill>
                            <a:schemeClr val="dk1"/>
                          </a:solidFill>
                          <a:latin typeface="Garamond" panose="02020404030301010803"/>
                        </a:defRPr>
                      </a:lvl7pPr>
                      <a:lvl8pPr marL="3200400" algn="l" defTabSz="914400" rtl="0" eaLnBrk="1" latinLnBrk="0" hangingPunct="1">
                        <a:defRPr sz="1800" kern="1200">
                          <a:solidFill>
                            <a:schemeClr val="dk1"/>
                          </a:solidFill>
                          <a:latin typeface="Garamond" panose="02020404030301010803"/>
                        </a:defRPr>
                      </a:lvl8pPr>
                      <a:lvl9pPr marL="3657600" algn="l" defTabSz="914400" rtl="0" eaLnBrk="1" latinLnBrk="0" hangingPunct="1">
                        <a:defRPr sz="1800" kern="1200">
                          <a:solidFill>
                            <a:schemeClr val="dk1"/>
                          </a:solidFill>
                          <a:latin typeface="Garamond" panose="02020404030301010803"/>
                        </a:defRPr>
                      </a:lvl9pPr>
                    </a:lstStyle>
                    <a:p>
                      <a:pPr algn="ctr"/>
                      <a:r>
                        <a:rPr lang="zh-CN" altLang="en-US" sz="1600" dirty="0">
                          <a:latin typeface="+mn-ea"/>
                          <a:ea typeface="+mn-ea"/>
                        </a:rPr>
                        <a:t>销售服务满意度分析</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Garamond" panose="02020404030301010803"/>
                        </a:defRPr>
                      </a:lvl1pPr>
                      <a:lvl2pPr marL="457200" algn="l" defTabSz="914400" rtl="0" eaLnBrk="1" latinLnBrk="0" hangingPunct="1">
                        <a:defRPr sz="1800" kern="1200">
                          <a:solidFill>
                            <a:schemeClr val="dk1"/>
                          </a:solidFill>
                          <a:latin typeface="Garamond" panose="02020404030301010803"/>
                        </a:defRPr>
                      </a:lvl2pPr>
                      <a:lvl3pPr marL="914400" algn="l" defTabSz="914400" rtl="0" eaLnBrk="1" latinLnBrk="0" hangingPunct="1">
                        <a:defRPr sz="1800" kern="1200">
                          <a:solidFill>
                            <a:schemeClr val="dk1"/>
                          </a:solidFill>
                          <a:latin typeface="Garamond" panose="02020404030301010803"/>
                        </a:defRPr>
                      </a:lvl3pPr>
                      <a:lvl4pPr marL="1371600" algn="l" defTabSz="914400" rtl="0" eaLnBrk="1" latinLnBrk="0" hangingPunct="1">
                        <a:defRPr sz="1800" kern="1200">
                          <a:solidFill>
                            <a:schemeClr val="dk1"/>
                          </a:solidFill>
                          <a:latin typeface="Garamond" panose="02020404030301010803"/>
                        </a:defRPr>
                      </a:lvl4pPr>
                      <a:lvl5pPr marL="1828800" algn="l" defTabSz="914400" rtl="0" eaLnBrk="1" latinLnBrk="0" hangingPunct="1">
                        <a:defRPr sz="1800" kern="1200">
                          <a:solidFill>
                            <a:schemeClr val="dk1"/>
                          </a:solidFill>
                          <a:latin typeface="Garamond" panose="02020404030301010803"/>
                        </a:defRPr>
                      </a:lvl5pPr>
                      <a:lvl6pPr marL="2286000" algn="l" defTabSz="914400" rtl="0" eaLnBrk="1" latinLnBrk="0" hangingPunct="1">
                        <a:defRPr sz="1800" kern="1200">
                          <a:solidFill>
                            <a:schemeClr val="dk1"/>
                          </a:solidFill>
                          <a:latin typeface="Garamond" panose="02020404030301010803"/>
                        </a:defRPr>
                      </a:lvl6pPr>
                      <a:lvl7pPr marL="2743200" algn="l" defTabSz="914400" rtl="0" eaLnBrk="1" latinLnBrk="0" hangingPunct="1">
                        <a:defRPr sz="1800" kern="1200">
                          <a:solidFill>
                            <a:schemeClr val="dk1"/>
                          </a:solidFill>
                          <a:latin typeface="Garamond" panose="02020404030301010803"/>
                        </a:defRPr>
                      </a:lvl7pPr>
                      <a:lvl8pPr marL="3200400" algn="l" defTabSz="914400" rtl="0" eaLnBrk="1" latinLnBrk="0" hangingPunct="1">
                        <a:defRPr sz="1800" kern="1200">
                          <a:solidFill>
                            <a:schemeClr val="dk1"/>
                          </a:solidFill>
                          <a:latin typeface="Garamond" panose="02020404030301010803"/>
                        </a:defRPr>
                      </a:lvl8pPr>
                      <a:lvl9pPr marL="3657600" algn="l" defTabSz="914400" rtl="0" eaLnBrk="1" latinLnBrk="0" hangingPunct="1">
                        <a:defRPr sz="1800" kern="1200">
                          <a:solidFill>
                            <a:schemeClr val="dk1"/>
                          </a:solidFill>
                          <a:latin typeface="Garamond" panose="02020404030301010803"/>
                        </a:defRPr>
                      </a:lvl9pPr>
                    </a:lstStyle>
                    <a:p>
                      <a:pPr algn="ctr"/>
                      <a:r>
                        <a:rPr lang="zh-CN" altLang="en-US" sz="1600" dirty="0">
                          <a:latin typeface="+mn-ea"/>
                          <a:ea typeface="+mn-ea"/>
                        </a:rPr>
                        <a:t>交付服务满意度分析</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Garamond" panose="02020404030301010803"/>
                        </a:defRPr>
                      </a:lvl1pPr>
                      <a:lvl2pPr marL="457200" algn="l" defTabSz="914400" rtl="0" eaLnBrk="1" latinLnBrk="0" hangingPunct="1">
                        <a:defRPr sz="1800" kern="1200">
                          <a:solidFill>
                            <a:schemeClr val="dk1"/>
                          </a:solidFill>
                          <a:latin typeface="Garamond" panose="02020404030301010803"/>
                        </a:defRPr>
                      </a:lvl2pPr>
                      <a:lvl3pPr marL="914400" algn="l" defTabSz="914400" rtl="0" eaLnBrk="1" latinLnBrk="0" hangingPunct="1">
                        <a:defRPr sz="1800" kern="1200">
                          <a:solidFill>
                            <a:schemeClr val="dk1"/>
                          </a:solidFill>
                          <a:latin typeface="Garamond" panose="02020404030301010803"/>
                        </a:defRPr>
                      </a:lvl3pPr>
                      <a:lvl4pPr marL="1371600" algn="l" defTabSz="914400" rtl="0" eaLnBrk="1" latinLnBrk="0" hangingPunct="1">
                        <a:defRPr sz="1800" kern="1200">
                          <a:solidFill>
                            <a:schemeClr val="dk1"/>
                          </a:solidFill>
                          <a:latin typeface="Garamond" panose="02020404030301010803"/>
                        </a:defRPr>
                      </a:lvl4pPr>
                      <a:lvl5pPr marL="1828800" algn="l" defTabSz="914400" rtl="0" eaLnBrk="1" latinLnBrk="0" hangingPunct="1">
                        <a:defRPr sz="1800" kern="1200">
                          <a:solidFill>
                            <a:schemeClr val="dk1"/>
                          </a:solidFill>
                          <a:latin typeface="Garamond" panose="02020404030301010803"/>
                        </a:defRPr>
                      </a:lvl5pPr>
                      <a:lvl6pPr marL="2286000" algn="l" defTabSz="914400" rtl="0" eaLnBrk="1" latinLnBrk="0" hangingPunct="1">
                        <a:defRPr sz="1800" kern="1200">
                          <a:solidFill>
                            <a:schemeClr val="dk1"/>
                          </a:solidFill>
                          <a:latin typeface="Garamond" panose="02020404030301010803"/>
                        </a:defRPr>
                      </a:lvl6pPr>
                      <a:lvl7pPr marL="2743200" algn="l" defTabSz="914400" rtl="0" eaLnBrk="1" latinLnBrk="0" hangingPunct="1">
                        <a:defRPr sz="1800" kern="1200">
                          <a:solidFill>
                            <a:schemeClr val="dk1"/>
                          </a:solidFill>
                          <a:latin typeface="Garamond" panose="02020404030301010803"/>
                        </a:defRPr>
                      </a:lvl7pPr>
                      <a:lvl8pPr marL="3200400" algn="l" defTabSz="914400" rtl="0" eaLnBrk="1" latinLnBrk="0" hangingPunct="1">
                        <a:defRPr sz="1800" kern="1200">
                          <a:solidFill>
                            <a:schemeClr val="dk1"/>
                          </a:solidFill>
                          <a:latin typeface="Garamond" panose="02020404030301010803"/>
                        </a:defRPr>
                      </a:lvl8pPr>
                      <a:lvl9pPr marL="3657600" algn="l" defTabSz="914400" rtl="0" eaLnBrk="1" latinLnBrk="0" hangingPunct="1">
                        <a:defRPr sz="1800" kern="1200">
                          <a:solidFill>
                            <a:schemeClr val="dk1"/>
                          </a:solidFill>
                          <a:latin typeface="Garamond" panose="02020404030301010803"/>
                        </a:defRPr>
                      </a:lvl9pPr>
                    </a:lstStyle>
                    <a:p>
                      <a:pPr algn="ctr"/>
                      <a:r>
                        <a:rPr lang="zh-CN" altLang="en-US" sz="1600" dirty="0">
                          <a:latin typeface="+mn-ea"/>
                          <a:ea typeface="+mn-ea"/>
                        </a:rPr>
                        <a:t>售后服务满意度分析</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203824916"/>
                  </a:ext>
                </a:extLst>
              </a:tr>
              <a:tr h="3125972">
                <a:tc>
                  <a:txBody>
                    <a:bodyPr/>
                    <a:lstStyle>
                      <a:lvl1pPr marL="0" algn="l" defTabSz="914400" rtl="0" eaLnBrk="1" latinLnBrk="0" hangingPunct="1">
                        <a:defRPr sz="1800" kern="1200">
                          <a:solidFill>
                            <a:schemeClr val="dk1"/>
                          </a:solidFill>
                          <a:latin typeface="Garamond" panose="02020404030301010803"/>
                        </a:defRPr>
                      </a:lvl1pPr>
                      <a:lvl2pPr marL="457200" algn="l" defTabSz="914400" rtl="0" eaLnBrk="1" latinLnBrk="0" hangingPunct="1">
                        <a:defRPr sz="1800" kern="1200">
                          <a:solidFill>
                            <a:schemeClr val="dk1"/>
                          </a:solidFill>
                          <a:latin typeface="Garamond" panose="02020404030301010803"/>
                        </a:defRPr>
                      </a:lvl2pPr>
                      <a:lvl3pPr marL="914400" algn="l" defTabSz="914400" rtl="0" eaLnBrk="1" latinLnBrk="0" hangingPunct="1">
                        <a:defRPr sz="1800" kern="1200">
                          <a:solidFill>
                            <a:schemeClr val="dk1"/>
                          </a:solidFill>
                          <a:latin typeface="Garamond" panose="02020404030301010803"/>
                        </a:defRPr>
                      </a:lvl3pPr>
                      <a:lvl4pPr marL="1371600" algn="l" defTabSz="914400" rtl="0" eaLnBrk="1" latinLnBrk="0" hangingPunct="1">
                        <a:defRPr sz="1800" kern="1200">
                          <a:solidFill>
                            <a:schemeClr val="dk1"/>
                          </a:solidFill>
                          <a:latin typeface="Garamond" panose="02020404030301010803"/>
                        </a:defRPr>
                      </a:lvl4pPr>
                      <a:lvl5pPr marL="1828800" algn="l" defTabSz="914400" rtl="0" eaLnBrk="1" latinLnBrk="0" hangingPunct="1">
                        <a:defRPr sz="1800" kern="1200">
                          <a:solidFill>
                            <a:schemeClr val="dk1"/>
                          </a:solidFill>
                          <a:latin typeface="Garamond" panose="02020404030301010803"/>
                        </a:defRPr>
                      </a:lvl5pPr>
                      <a:lvl6pPr marL="2286000" algn="l" defTabSz="914400" rtl="0" eaLnBrk="1" latinLnBrk="0" hangingPunct="1">
                        <a:defRPr sz="1800" kern="1200">
                          <a:solidFill>
                            <a:schemeClr val="dk1"/>
                          </a:solidFill>
                          <a:latin typeface="Garamond" panose="02020404030301010803"/>
                        </a:defRPr>
                      </a:lvl6pPr>
                      <a:lvl7pPr marL="2743200" algn="l" defTabSz="914400" rtl="0" eaLnBrk="1" latinLnBrk="0" hangingPunct="1">
                        <a:defRPr sz="1800" kern="1200">
                          <a:solidFill>
                            <a:schemeClr val="dk1"/>
                          </a:solidFill>
                          <a:latin typeface="Garamond" panose="02020404030301010803"/>
                        </a:defRPr>
                      </a:lvl7pPr>
                      <a:lvl8pPr marL="3200400" algn="l" defTabSz="914400" rtl="0" eaLnBrk="1" latinLnBrk="0" hangingPunct="1">
                        <a:defRPr sz="1800" kern="1200">
                          <a:solidFill>
                            <a:schemeClr val="dk1"/>
                          </a:solidFill>
                          <a:latin typeface="Garamond" panose="02020404030301010803"/>
                        </a:defRPr>
                      </a:lvl8pPr>
                      <a:lvl9pPr marL="3657600" algn="l" defTabSz="914400" rtl="0" eaLnBrk="1" latinLnBrk="0" hangingPunct="1">
                        <a:defRPr sz="1800" kern="1200">
                          <a:solidFill>
                            <a:schemeClr val="dk1"/>
                          </a:solidFill>
                          <a:latin typeface="Garamond" panose="02020404030301010803"/>
                        </a:defRPr>
                      </a:lvl9pPr>
                    </a:lstStyle>
                    <a:p>
                      <a:pPr>
                        <a:lnSpc>
                          <a:spcPct val="150000"/>
                        </a:lnSpc>
                      </a:pPr>
                      <a:endParaRPr lang="en-US" altLang="zh-CN" sz="1400" dirty="0">
                        <a:latin typeface="+mn-ea"/>
                        <a:ea typeface="+mn-ea"/>
                      </a:endParaRPr>
                    </a:p>
                    <a:p>
                      <a:pPr>
                        <a:lnSpc>
                          <a:spcPct val="150000"/>
                        </a:lnSpc>
                      </a:pPr>
                      <a:r>
                        <a:rPr lang="en-US" altLang="zh-CN" sz="1400" dirty="0">
                          <a:latin typeface="+mn-ea"/>
                          <a:ea typeface="+mn-ea"/>
                        </a:rPr>
                        <a:t>2.1</a:t>
                      </a:r>
                      <a:r>
                        <a:rPr lang="zh-CN" altLang="en-US" sz="1400" dirty="0">
                          <a:latin typeface="+mn-ea"/>
                          <a:ea typeface="+mn-ea"/>
                        </a:rPr>
                        <a:t>、</a:t>
                      </a:r>
                      <a:r>
                        <a:rPr lang="en-US" altLang="zh-CN" sz="1400" dirty="0">
                          <a:latin typeface="+mn-ea"/>
                          <a:ea typeface="+mn-ea"/>
                        </a:rPr>
                        <a:t>SSI</a:t>
                      </a:r>
                      <a:r>
                        <a:rPr lang="zh-CN" altLang="en-US" sz="1400" dirty="0">
                          <a:latin typeface="+mn-ea"/>
                          <a:ea typeface="+mn-ea"/>
                        </a:rPr>
                        <a:t>（销售和交付）总排名分析</a:t>
                      </a:r>
                      <a:endParaRPr lang="en-US" altLang="zh-CN" sz="1400" dirty="0">
                        <a:latin typeface="+mn-ea"/>
                        <a:ea typeface="+mn-ea"/>
                      </a:endParaRPr>
                    </a:p>
                    <a:p>
                      <a:pPr>
                        <a:lnSpc>
                          <a:spcPct val="150000"/>
                        </a:lnSpc>
                      </a:pPr>
                      <a:r>
                        <a:rPr lang="en-US" altLang="zh-CN" sz="1400" dirty="0">
                          <a:latin typeface="+mn-ea"/>
                          <a:ea typeface="+mn-ea"/>
                        </a:rPr>
                        <a:t>2.2</a:t>
                      </a:r>
                      <a:r>
                        <a:rPr lang="zh-CN" altLang="en-US" sz="1400" dirty="0">
                          <a:latin typeface="+mn-ea"/>
                          <a:ea typeface="+mn-ea"/>
                        </a:rPr>
                        <a:t>、销售服务满意度分析</a:t>
                      </a:r>
                    </a:p>
                    <a:p>
                      <a:pPr>
                        <a:lnSpc>
                          <a:spcPct val="150000"/>
                        </a:lnSpc>
                      </a:pPr>
                      <a:r>
                        <a:rPr lang="en-US" altLang="zh-CN" sz="1400" dirty="0">
                          <a:latin typeface="+mn-ea"/>
                          <a:ea typeface="+mn-ea"/>
                        </a:rPr>
                        <a:t>2.3</a:t>
                      </a:r>
                      <a:r>
                        <a:rPr lang="zh-CN" altLang="en-US" sz="1400" dirty="0">
                          <a:latin typeface="+mn-ea"/>
                          <a:ea typeface="+mn-ea"/>
                        </a:rPr>
                        <a:t>、销售战胜战败分析</a:t>
                      </a:r>
                      <a:endParaRPr lang="en-US" altLang="zh-CN" sz="1400" dirty="0">
                        <a:latin typeface="+mn-ea"/>
                        <a:ea typeface="+mn-ea"/>
                      </a:endParaRPr>
                    </a:p>
                    <a:p>
                      <a:pPr>
                        <a:lnSpc>
                          <a:spcPct val="150000"/>
                        </a:lnSpc>
                      </a:pPr>
                      <a:r>
                        <a:rPr lang="en-US" altLang="zh-CN" sz="1400" dirty="0">
                          <a:latin typeface="+mn-ea"/>
                          <a:ea typeface="+mn-ea"/>
                        </a:rPr>
                        <a:t>2.4</a:t>
                      </a:r>
                      <a:r>
                        <a:rPr lang="zh-CN" altLang="en-US" sz="1400" dirty="0">
                          <a:latin typeface="+mn-ea"/>
                          <a:ea typeface="+mn-ea"/>
                        </a:rPr>
                        <a:t>、犹豫用户分析</a:t>
                      </a:r>
                      <a:endParaRPr lang="en-US" altLang="zh-CN" sz="1400" dirty="0">
                        <a:latin typeface="+mn-ea"/>
                        <a:ea typeface="+mn-ea"/>
                      </a:endParaRPr>
                    </a:p>
                    <a:p>
                      <a:pPr>
                        <a:lnSpc>
                          <a:spcPct val="150000"/>
                        </a:lnSpc>
                      </a:pPr>
                      <a:r>
                        <a:rPr lang="en-US" altLang="zh-CN" sz="1400" dirty="0">
                          <a:latin typeface="+mn-ea"/>
                          <a:ea typeface="+mn-ea"/>
                        </a:rPr>
                        <a:t>2.5</a:t>
                      </a:r>
                      <a:r>
                        <a:rPr lang="zh-CN" altLang="en-US" sz="1400" dirty="0">
                          <a:latin typeface="+mn-ea"/>
                          <a:ea typeface="+mn-ea"/>
                        </a:rPr>
                        <a:t>、销售弱项分析</a:t>
                      </a:r>
                      <a:endParaRPr lang="en-US" altLang="zh-CN" sz="1400" dirty="0">
                        <a:latin typeface="+mn-ea"/>
                        <a:ea typeface="+mn-ea"/>
                      </a:endParaRPr>
                    </a:p>
                    <a:p>
                      <a:pPr>
                        <a:lnSpc>
                          <a:spcPct val="150000"/>
                        </a:lnSpc>
                      </a:pPr>
                      <a:r>
                        <a:rPr lang="en-US" altLang="zh-CN" sz="1400" dirty="0">
                          <a:latin typeface="+mn-ea"/>
                          <a:ea typeface="+mn-ea"/>
                        </a:rPr>
                        <a:t>2.6</a:t>
                      </a:r>
                      <a:r>
                        <a:rPr lang="zh-CN" altLang="en-US" sz="1400" dirty="0">
                          <a:latin typeface="+mn-ea"/>
                          <a:ea typeface="+mn-ea"/>
                        </a:rPr>
                        <a:t>、销售战区分析</a:t>
                      </a:r>
                      <a:endParaRPr lang="en-US" altLang="zh-CN" sz="1400"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Garamond" panose="02020404030301010803"/>
                        </a:defRPr>
                      </a:lvl1pPr>
                      <a:lvl2pPr marL="457200" algn="l" defTabSz="914400" rtl="0" eaLnBrk="1" latinLnBrk="0" hangingPunct="1">
                        <a:defRPr sz="1800" kern="1200">
                          <a:solidFill>
                            <a:schemeClr val="dk1"/>
                          </a:solidFill>
                          <a:latin typeface="Garamond" panose="02020404030301010803"/>
                        </a:defRPr>
                      </a:lvl2pPr>
                      <a:lvl3pPr marL="914400" algn="l" defTabSz="914400" rtl="0" eaLnBrk="1" latinLnBrk="0" hangingPunct="1">
                        <a:defRPr sz="1800" kern="1200">
                          <a:solidFill>
                            <a:schemeClr val="dk1"/>
                          </a:solidFill>
                          <a:latin typeface="Garamond" panose="02020404030301010803"/>
                        </a:defRPr>
                      </a:lvl3pPr>
                      <a:lvl4pPr marL="1371600" algn="l" defTabSz="914400" rtl="0" eaLnBrk="1" latinLnBrk="0" hangingPunct="1">
                        <a:defRPr sz="1800" kern="1200">
                          <a:solidFill>
                            <a:schemeClr val="dk1"/>
                          </a:solidFill>
                          <a:latin typeface="Garamond" panose="02020404030301010803"/>
                        </a:defRPr>
                      </a:lvl4pPr>
                      <a:lvl5pPr marL="1828800" algn="l" defTabSz="914400" rtl="0" eaLnBrk="1" latinLnBrk="0" hangingPunct="1">
                        <a:defRPr sz="1800" kern="1200">
                          <a:solidFill>
                            <a:schemeClr val="dk1"/>
                          </a:solidFill>
                          <a:latin typeface="Garamond" panose="02020404030301010803"/>
                        </a:defRPr>
                      </a:lvl5pPr>
                      <a:lvl6pPr marL="2286000" algn="l" defTabSz="914400" rtl="0" eaLnBrk="1" latinLnBrk="0" hangingPunct="1">
                        <a:defRPr sz="1800" kern="1200">
                          <a:solidFill>
                            <a:schemeClr val="dk1"/>
                          </a:solidFill>
                          <a:latin typeface="Garamond" panose="02020404030301010803"/>
                        </a:defRPr>
                      </a:lvl6pPr>
                      <a:lvl7pPr marL="2743200" algn="l" defTabSz="914400" rtl="0" eaLnBrk="1" latinLnBrk="0" hangingPunct="1">
                        <a:defRPr sz="1800" kern="1200">
                          <a:solidFill>
                            <a:schemeClr val="dk1"/>
                          </a:solidFill>
                          <a:latin typeface="Garamond" panose="02020404030301010803"/>
                        </a:defRPr>
                      </a:lvl7pPr>
                      <a:lvl8pPr marL="3200400" algn="l" defTabSz="914400" rtl="0" eaLnBrk="1" latinLnBrk="0" hangingPunct="1">
                        <a:defRPr sz="1800" kern="1200">
                          <a:solidFill>
                            <a:schemeClr val="dk1"/>
                          </a:solidFill>
                          <a:latin typeface="Garamond" panose="02020404030301010803"/>
                        </a:defRPr>
                      </a:lvl8pPr>
                      <a:lvl9pPr marL="3657600" algn="l" defTabSz="914400" rtl="0" eaLnBrk="1" latinLnBrk="0" hangingPunct="1">
                        <a:defRPr sz="1800" kern="1200">
                          <a:solidFill>
                            <a:schemeClr val="dk1"/>
                          </a:solidFill>
                          <a:latin typeface="Garamond" panose="02020404030301010803"/>
                        </a:defRPr>
                      </a:lvl9pPr>
                    </a:lstStyle>
                    <a:p>
                      <a:pPr>
                        <a:lnSpc>
                          <a:spcPct val="150000"/>
                        </a:lnSpc>
                      </a:pPr>
                      <a:endParaRPr lang="en-US" altLang="zh-CN" sz="1400" dirty="0">
                        <a:latin typeface="+mn-ea"/>
                        <a:ea typeface="+mn-ea"/>
                      </a:endParaRPr>
                    </a:p>
                    <a:p>
                      <a:pPr>
                        <a:lnSpc>
                          <a:spcPct val="150000"/>
                        </a:lnSpc>
                      </a:pPr>
                      <a:r>
                        <a:rPr lang="en-US" altLang="zh-CN" sz="1400" dirty="0">
                          <a:latin typeface="+mn-ea"/>
                          <a:ea typeface="+mn-ea"/>
                        </a:rPr>
                        <a:t>3.1</a:t>
                      </a:r>
                      <a:r>
                        <a:rPr lang="zh-CN" altLang="en-US" sz="1400" dirty="0">
                          <a:latin typeface="+mn-ea"/>
                          <a:ea typeface="+mn-ea"/>
                        </a:rPr>
                        <a:t>、交付服务满意度分析</a:t>
                      </a:r>
                      <a:endParaRPr lang="en-US" altLang="zh-CN" sz="1400" dirty="0">
                        <a:latin typeface="+mn-ea"/>
                        <a:ea typeface="+mn-ea"/>
                      </a:endParaRPr>
                    </a:p>
                    <a:p>
                      <a:pPr>
                        <a:lnSpc>
                          <a:spcPct val="150000"/>
                        </a:lnSpc>
                      </a:pPr>
                      <a:r>
                        <a:rPr lang="en-US" altLang="zh-CN" sz="1400" dirty="0">
                          <a:latin typeface="+mn-ea"/>
                          <a:ea typeface="+mn-ea"/>
                        </a:rPr>
                        <a:t>3.2</a:t>
                      </a:r>
                      <a:r>
                        <a:rPr lang="zh-CN" altLang="en-US" sz="1400" dirty="0">
                          <a:latin typeface="+mn-ea"/>
                          <a:ea typeface="+mn-ea"/>
                        </a:rPr>
                        <a:t>、交付弱项分析</a:t>
                      </a:r>
                    </a:p>
                    <a:p>
                      <a:pPr>
                        <a:lnSpc>
                          <a:spcPct val="150000"/>
                        </a:lnSpc>
                      </a:pPr>
                      <a:r>
                        <a:rPr lang="en-US" altLang="zh-CN" sz="1400" dirty="0">
                          <a:latin typeface="+mn-ea"/>
                          <a:ea typeface="+mn-ea"/>
                        </a:rPr>
                        <a:t>3.3</a:t>
                      </a:r>
                      <a:r>
                        <a:rPr lang="zh-CN" altLang="en-US" sz="1400" dirty="0">
                          <a:latin typeface="+mn-ea"/>
                          <a:ea typeface="+mn-ea"/>
                        </a:rPr>
                        <a:t>、交付战区分析</a:t>
                      </a:r>
                      <a:endParaRPr lang="en-US" altLang="zh-CN" sz="1400" dirty="0">
                        <a:latin typeface="+mn-ea"/>
                        <a:ea typeface="+mn-ea"/>
                      </a:endParaRPr>
                    </a:p>
                    <a:p>
                      <a:pPr algn="ctr">
                        <a:lnSpc>
                          <a:spcPct val="150000"/>
                        </a:lnSpc>
                      </a:pPr>
                      <a:endParaRPr lang="zh-CN" altLang="en-US" sz="1400"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Garamond" panose="02020404030301010803"/>
                        </a:defRPr>
                      </a:lvl1pPr>
                      <a:lvl2pPr marL="457200" algn="l" defTabSz="914400" rtl="0" eaLnBrk="1" latinLnBrk="0" hangingPunct="1">
                        <a:defRPr sz="1800" kern="1200">
                          <a:solidFill>
                            <a:schemeClr val="dk1"/>
                          </a:solidFill>
                          <a:latin typeface="Garamond" panose="02020404030301010803"/>
                        </a:defRPr>
                      </a:lvl2pPr>
                      <a:lvl3pPr marL="914400" algn="l" defTabSz="914400" rtl="0" eaLnBrk="1" latinLnBrk="0" hangingPunct="1">
                        <a:defRPr sz="1800" kern="1200">
                          <a:solidFill>
                            <a:schemeClr val="dk1"/>
                          </a:solidFill>
                          <a:latin typeface="Garamond" panose="02020404030301010803"/>
                        </a:defRPr>
                      </a:lvl3pPr>
                      <a:lvl4pPr marL="1371600" algn="l" defTabSz="914400" rtl="0" eaLnBrk="1" latinLnBrk="0" hangingPunct="1">
                        <a:defRPr sz="1800" kern="1200">
                          <a:solidFill>
                            <a:schemeClr val="dk1"/>
                          </a:solidFill>
                          <a:latin typeface="Garamond" panose="02020404030301010803"/>
                        </a:defRPr>
                      </a:lvl4pPr>
                      <a:lvl5pPr marL="1828800" algn="l" defTabSz="914400" rtl="0" eaLnBrk="1" latinLnBrk="0" hangingPunct="1">
                        <a:defRPr sz="1800" kern="1200">
                          <a:solidFill>
                            <a:schemeClr val="dk1"/>
                          </a:solidFill>
                          <a:latin typeface="Garamond" panose="02020404030301010803"/>
                        </a:defRPr>
                      </a:lvl5pPr>
                      <a:lvl6pPr marL="2286000" algn="l" defTabSz="914400" rtl="0" eaLnBrk="1" latinLnBrk="0" hangingPunct="1">
                        <a:defRPr sz="1800" kern="1200">
                          <a:solidFill>
                            <a:schemeClr val="dk1"/>
                          </a:solidFill>
                          <a:latin typeface="Garamond" panose="02020404030301010803"/>
                        </a:defRPr>
                      </a:lvl6pPr>
                      <a:lvl7pPr marL="2743200" algn="l" defTabSz="914400" rtl="0" eaLnBrk="1" latinLnBrk="0" hangingPunct="1">
                        <a:defRPr sz="1800" kern="1200">
                          <a:solidFill>
                            <a:schemeClr val="dk1"/>
                          </a:solidFill>
                          <a:latin typeface="Garamond" panose="02020404030301010803"/>
                        </a:defRPr>
                      </a:lvl7pPr>
                      <a:lvl8pPr marL="3200400" algn="l" defTabSz="914400" rtl="0" eaLnBrk="1" latinLnBrk="0" hangingPunct="1">
                        <a:defRPr sz="1800" kern="1200">
                          <a:solidFill>
                            <a:schemeClr val="dk1"/>
                          </a:solidFill>
                          <a:latin typeface="Garamond" panose="02020404030301010803"/>
                        </a:defRPr>
                      </a:lvl8pPr>
                      <a:lvl9pPr marL="3657600" algn="l" defTabSz="914400" rtl="0" eaLnBrk="1" latinLnBrk="0" hangingPunct="1">
                        <a:defRPr sz="1800" kern="1200">
                          <a:solidFill>
                            <a:schemeClr val="dk1"/>
                          </a:solidFill>
                          <a:latin typeface="Garamond" panose="02020404030301010803"/>
                        </a:defRPr>
                      </a:lvl9pPr>
                    </a:lstStyle>
                    <a:p>
                      <a:pPr>
                        <a:lnSpc>
                          <a:spcPct val="150000"/>
                        </a:lnSpc>
                      </a:pPr>
                      <a:endParaRPr lang="en-US" altLang="zh-CN" sz="1400" dirty="0">
                        <a:latin typeface="+mn-ea"/>
                        <a:ea typeface="+mn-ea"/>
                      </a:endParaRPr>
                    </a:p>
                    <a:p>
                      <a:pPr>
                        <a:lnSpc>
                          <a:spcPct val="150000"/>
                        </a:lnSpc>
                      </a:pPr>
                      <a:r>
                        <a:rPr lang="en-US" altLang="zh-CN" sz="1400" dirty="0">
                          <a:latin typeface="+mn-ea"/>
                          <a:ea typeface="+mn-ea"/>
                        </a:rPr>
                        <a:t>4.1</a:t>
                      </a:r>
                      <a:r>
                        <a:rPr lang="zh-CN" altLang="en-US" sz="1400" dirty="0">
                          <a:latin typeface="+mn-ea"/>
                          <a:ea typeface="+mn-ea"/>
                        </a:rPr>
                        <a:t>、售后服务满意度分析</a:t>
                      </a:r>
                      <a:endParaRPr lang="en-US" altLang="zh-CN" sz="1400" dirty="0">
                        <a:latin typeface="+mn-ea"/>
                        <a:ea typeface="+mn-ea"/>
                      </a:endParaRPr>
                    </a:p>
                    <a:p>
                      <a:pPr>
                        <a:lnSpc>
                          <a:spcPct val="150000"/>
                        </a:lnSpc>
                      </a:pPr>
                      <a:r>
                        <a:rPr lang="en-US" altLang="zh-CN" sz="1400" dirty="0">
                          <a:latin typeface="+mn-ea"/>
                          <a:ea typeface="+mn-ea"/>
                        </a:rPr>
                        <a:t>4.2</a:t>
                      </a:r>
                      <a:r>
                        <a:rPr lang="zh-CN" altLang="en-US" sz="1400" dirty="0">
                          <a:latin typeface="+mn-ea"/>
                          <a:ea typeface="+mn-ea"/>
                        </a:rPr>
                        <a:t>、售后弱项分析</a:t>
                      </a:r>
                    </a:p>
                    <a:p>
                      <a:pPr>
                        <a:lnSpc>
                          <a:spcPct val="150000"/>
                        </a:lnSpc>
                      </a:pPr>
                      <a:r>
                        <a:rPr lang="en-US" altLang="zh-CN" sz="1400" dirty="0">
                          <a:latin typeface="+mn-ea"/>
                          <a:ea typeface="+mn-ea"/>
                        </a:rPr>
                        <a:t>4.3</a:t>
                      </a:r>
                      <a:r>
                        <a:rPr lang="zh-CN" altLang="en-US" sz="1400" dirty="0">
                          <a:latin typeface="+mn-ea"/>
                          <a:ea typeface="+mn-ea"/>
                        </a:rPr>
                        <a:t>、售后战区分析</a:t>
                      </a:r>
                      <a:endParaRPr lang="en-US" altLang="zh-CN" sz="1400" dirty="0">
                        <a:latin typeface="+mn-ea"/>
                        <a:ea typeface="+mn-ea"/>
                      </a:endParaRPr>
                    </a:p>
                    <a:p>
                      <a:pPr algn="ctr">
                        <a:lnSpc>
                          <a:spcPct val="150000"/>
                        </a:lnSpc>
                      </a:pPr>
                      <a:endParaRPr lang="zh-CN" altLang="en-US" sz="1400"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919343314"/>
                  </a:ext>
                </a:extLst>
              </a:tr>
            </a:tbl>
          </a:graphicData>
        </a:graphic>
      </p:graphicFrame>
      <p:sp>
        <p:nvSpPr>
          <p:cNvPr id="4" name="文本占位符 7">
            <a:extLst>
              <a:ext uri="{FF2B5EF4-FFF2-40B4-BE49-F238E27FC236}">
                <a16:creationId xmlns:a16="http://schemas.microsoft.com/office/drawing/2014/main" id="{EACC6E5A-D6B9-88DA-29A8-DD1973A61A82}"/>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本报告包括三大版块，销售服务满意度分析，交付服务满意度分析，售后服务满意度分析</a:t>
            </a:r>
          </a:p>
        </p:txBody>
      </p:sp>
    </p:spTree>
    <p:extLst>
      <p:ext uri="{BB962C8B-B14F-4D97-AF65-F5344CB8AC3E}">
        <p14:creationId xmlns:p14="http://schemas.microsoft.com/office/powerpoint/2010/main" val="1793831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1892300" y="3931539"/>
            <a:ext cx="8881110" cy="1564486"/>
          </a:xfrm>
        </p:spPr>
        <p:txBody>
          <a:bodyPr anchor="t"/>
          <a:lstStyle/>
          <a:p>
            <a:r>
              <a:rPr lang="en-US" altLang="zh-CN" dirty="0"/>
              <a:t>2.1</a:t>
            </a:r>
            <a:r>
              <a:rPr lang="zh-CN" altLang="en-US" dirty="0"/>
              <a:t>、</a:t>
            </a:r>
            <a:r>
              <a:rPr lang="en-US" altLang="zh-CN" dirty="0"/>
              <a:t>SSI</a:t>
            </a:r>
            <a:r>
              <a:rPr lang="zh-CN" altLang="en-US" dirty="0"/>
              <a:t>（销售和交付）总排名分析</a:t>
            </a:r>
            <a:endParaRPr lang="en-US" altLang="zh-CN" dirty="0"/>
          </a:p>
          <a:p>
            <a:r>
              <a:rPr lang="en-US" altLang="zh-CN" dirty="0"/>
              <a:t>2.2</a:t>
            </a:r>
            <a:r>
              <a:rPr lang="zh-CN" altLang="en-US" dirty="0"/>
              <a:t>、销售服务满意度分析</a:t>
            </a:r>
          </a:p>
          <a:p>
            <a:r>
              <a:rPr lang="en-US" altLang="zh-CN" dirty="0"/>
              <a:t>2.3</a:t>
            </a:r>
            <a:r>
              <a:rPr lang="zh-CN" altLang="en-US" dirty="0"/>
              <a:t>、销售战胜战败分析</a:t>
            </a:r>
            <a:endParaRPr lang="en-US" altLang="zh-CN" dirty="0"/>
          </a:p>
          <a:p>
            <a:r>
              <a:rPr lang="en-US" altLang="zh-CN" dirty="0"/>
              <a:t>2.4</a:t>
            </a:r>
            <a:r>
              <a:rPr lang="zh-CN" altLang="en-US" dirty="0"/>
              <a:t>、犹豫用户分析</a:t>
            </a:r>
            <a:endParaRPr lang="en-US" altLang="zh-CN" dirty="0"/>
          </a:p>
          <a:p>
            <a:r>
              <a:rPr lang="en-US" altLang="zh-CN" dirty="0"/>
              <a:t>2.5</a:t>
            </a:r>
            <a:r>
              <a:rPr lang="zh-CN" altLang="en-US" dirty="0"/>
              <a:t>、战区分析</a:t>
            </a:r>
            <a:endParaRPr lang="en-US" altLang="zh-CN" dirty="0"/>
          </a:p>
          <a:p>
            <a:endParaRPr lang="zh-CN" altLang="en-US" dirty="0"/>
          </a:p>
        </p:txBody>
      </p:sp>
      <p:sp>
        <p:nvSpPr>
          <p:cNvPr id="9" name="文本占位符 8"/>
          <p:cNvSpPr>
            <a:spLocks noGrp="1"/>
          </p:cNvSpPr>
          <p:nvPr>
            <p:ph type="body" sz="quarter" idx="13"/>
          </p:nvPr>
        </p:nvSpPr>
        <p:spPr>
          <a:xfrm>
            <a:off x="1892934" y="2546350"/>
            <a:ext cx="9998301" cy="914400"/>
          </a:xfrm>
        </p:spPr>
        <p:txBody>
          <a:bodyPr/>
          <a:lstStyle/>
          <a:p>
            <a:r>
              <a:rPr lang="zh-CN" altLang="en-US" sz="5400" dirty="0"/>
              <a:t>销售服务的满意度评价及优先调整方向</a:t>
            </a:r>
          </a:p>
        </p:txBody>
      </p:sp>
      <p:sp>
        <p:nvSpPr>
          <p:cNvPr id="8" name="文本占位符 7"/>
          <p:cNvSpPr>
            <a:spLocks noGrp="1"/>
          </p:cNvSpPr>
          <p:nvPr>
            <p:ph type="body" sz="quarter" idx="12"/>
          </p:nvPr>
        </p:nvSpPr>
        <p:spPr/>
        <p:txBody>
          <a:bodyPr/>
          <a:lstStyle/>
          <a:p>
            <a:r>
              <a:rPr lang="en-US" altLang="zh-CN" dirty="0"/>
              <a:t>2</a:t>
            </a:r>
            <a:endParaRPr lang="zh-CN" altLang="en-US" dirty="0"/>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C33376-1D8B-E948-ACD6-AA21A3D30A8E}" type="slidenum">
              <a:rPr kumimoji="0" lang="zh-CN" altLang="en-US" sz="800" b="0" i="0" u="none" strike="noStrike" kern="1200" cap="none" spc="0" normalizeH="0" baseline="0" noProof="0" smtClean="0">
                <a:ln>
                  <a:noFill/>
                </a:ln>
                <a:solidFill>
                  <a:srgbClr val="FBFBFB"/>
                </a:solidFill>
                <a:effectLst/>
                <a:uLnTx/>
                <a:uFillTx/>
                <a:latin typeface="DIN Pro Regular" panose="02000503040000020003" pitchFamily="50" charset="0"/>
                <a:ea typeface="Alibaba PuHuiTi 2.0 55 Regular" pitchFamily="18" charset="-122"/>
                <a:cs typeface="Alibaba PuHuiTi 2.0 55 Regular" pitchFamily="18" charset="-122"/>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800" b="0" i="0" u="none" strike="noStrike" kern="1200" cap="none" spc="0" normalizeH="0" baseline="0" noProof="0" dirty="0">
              <a:ln>
                <a:noFill/>
              </a:ln>
              <a:solidFill>
                <a:srgbClr val="FBFBFB"/>
              </a:solidFill>
              <a:effectLst/>
              <a:uLnTx/>
              <a:uFillTx/>
              <a:latin typeface="DIN Pro Regular" panose="02000503040000020003" pitchFamily="50" charset="0"/>
              <a:ea typeface="Alibaba PuHuiTi 2.0 55 Regular" pitchFamily="18" charset="-122"/>
              <a:cs typeface="Alibaba PuHuiTi 2.0 55 Regular" pitchFamily="18" charset="-122"/>
            </a:endParaRPr>
          </a:p>
        </p:txBody>
      </p:sp>
    </p:spTree>
    <p:extLst>
      <p:ext uri="{BB962C8B-B14F-4D97-AF65-F5344CB8AC3E}">
        <p14:creationId xmlns:p14="http://schemas.microsoft.com/office/powerpoint/2010/main" val="21443101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662377" y="1970067"/>
            <a:ext cx="1100883" cy="3813804"/>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图表 6">
            <a:extLst>
              <a:ext uri="{FF2B5EF4-FFF2-40B4-BE49-F238E27FC236}">
                <a16:creationId xmlns:a16="http://schemas.microsoft.com/office/drawing/2014/main" id="{FA2D275D-95F8-111B-9268-590CDD8176CC}"/>
              </a:ext>
            </a:extLst>
          </p:cNvPr>
          <p:cNvGraphicFramePr/>
          <p:nvPr>
            <p:extLst>
              <p:ext uri="{D42A27DB-BD31-4B8C-83A1-F6EECF244321}">
                <p14:modId xmlns:p14="http://schemas.microsoft.com/office/powerpoint/2010/main" val="3057947545"/>
              </p:ext>
            </p:extLst>
          </p:nvPr>
        </p:nvGraphicFramePr>
        <p:xfrm>
          <a:off x="974896" y="2057400"/>
          <a:ext cx="10953579" cy="3302635"/>
        </p:xfrm>
        <a:graphic>
          <a:graphicData uri="http://schemas.openxmlformats.org/drawingml/2006/chart">
            <c:chart xmlns:c="http://schemas.openxmlformats.org/drawingml/2006/chart" xmlns:r="http://schemas.openxmlformats.org/officeDocument/2006/relationships" r:id="rId6"/>
          </a:graphicData>
        </a:graphic>
      </p:graphicFrame>
      <p:sp>
        <p:nvSpPr>
          <p:cNvPr id="2" name="内容占位符 2"/>
          <p:cNvSpPr>
            <a:spLocks noGrp="1"/>
          </p:cNvSpPr>
          <p:nvPr>
            <p:custDataLst>
              <p:tags r:id="rId1"/>
            </p:custDataLst>
          </p:nvPr>
        </p:nvSpPr>
        <p:spPr>
          <a:xfrm>
            <a:off x="415637" y="952630"/>
            <a:ext cx="11864912" cy="768264"/>
          </a:xfrm>
          <a:prstGeom prst="rect">
            <a:avLst/>
          </a:prstGeom>
        </p:spPr>
        <p:txBody>
          <a:bodyPr vert="horz" lIns="91440" tIns="45720" rIns="91440" bIns="45720"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endParaRPr lang="zh-CN" altLang="en-US" sz="1600" dirty="0">
              <a:latin typeface="+mj-ea"/>
              <a:ea typeface="+mj-ea"/>
            </a:endParaRPr>
          </a:p>
        </p:txBody>
      </p:sp>
      <p:sp>
        <p:nvSpPr>
          <p:cNvPr id="15" name="文本占位符 14"/>
          <p:cNvSpPr>
            <a:spLocks noGrp="1"/>
          </p:cNvSpPr>
          <p:nvPr>
            <p:ph type="body" sz="quarter" idx="21"/>
          </p:nvPr>
        </p:nvSpPr>
        <p:spPr/>
        <p:txBody>
          <a:bodyPr/>
          <a:lstStyle/>
          <a:p>
            <a:pPr>
              <a:lnSpc>
                <a:spcPct val="100000"/>
              </a:lnSpc>
              <a:spcBef>
                <a:spcPts val="0"/>
              </a:spcBef>
              <a:buSzPct val="60000"/>
            </a:pPr>
            <a:r>
              <a:rPr lang="en-US" altLang="zh-CN" dirty="0">
                <a:latin typeface="+mn-ea"/>
                <a:ea typeface="+mn-ea"/>
              </a:rPr>
              <a:t>2.1 SSI</a:t>
            </a:r>
            <a:r>
              <a:rPr lang="zh-CN" altLang="en-US" dirty="0">
                <a:latin typeface="+mn-ea"/>
                <a:ea typeface="+mn-ea"/>
              </a:rPr>
              <a:t>（销售</a:t>
            </a:r>
            <a:r>
              <a:rPr lang="en-US" altLang="zh-CN" dirty="0">
                <a:latin typeface="+mn-ea"/>
                <a:ea typeface="+mn-ea"/>
              </a:rPr>
              <a:t>+</a:t>
            </a:r>
            <a:r>
              <a:rPr lang="zh-CN" altLang="en-US" dirty="0">
                <a:latin typeface="+mn-ea"/>
                <a:ea typeface="+mn-ea"/>
              </a:rPr>
              <a:t>交付）上半年和下半年排名</a:t>
            </a:r>
          </a:p>
        </p:txBody>
      </p:sp>
      <p:sp>
        <p:nvSpPr>
          <p:cNvPr id="5" name="灯片编号占位符 4"/>
          <p:cNvSpPr>
            <a:spLocks noGrp="1"/>
          </p:cNvSpPr>
          <p:nvPr>
            <p:ph type="sldNum" sz="quarter" idx="4"/>
          </p:nvPr>
        </p:nvSpPr>
        <p:spPr/>
        <p:txBody>
          <a:bodyPr/>
          <a:lstStyle/>
          <a:p>
            <a:fld id="{5BC33376-1D8B-E948-ACD6-AA21A3D30A8E}" type="slidenum">
              <a:rPr lang="zh-CN" altLang="en-US" smtClean="0"/>
              <a:t>23</a:t>
            </a:fld>
            <a:endParaRPr lang="zh-CN" altLang="en-US" dirty="0"/>
          </a:p>
        </p:txBody>
      </p:sp>
      <p:sp>
        <p:nvSpPr>
          <p:cNvPr id="12" name="文本框 11"/>
          <p:cNvSpPr txBox="1"/>
          <p:nvPr/>
        </p:nvSpPr>
        <p:spPr>
          <a:xfrm>
            <a:off x="263525" y="1497479"/>
            <a:ext cx="11664950" cy="432000"/>
          </a:xfrm>
          <a:prstGeom prst="rect">
            <a:avLst/>
          </a:prstGeom>
          <a:solidFill>
            <a:srgbClr val="4B8D56"/>
          </a:solidFill>
        </p:spPr>
        <p:txBody>
          <a:bodyPr wrap="square" anchor="ctr" anchorCtr="0">
            <a:noAutofit/>
          </a:bodyPr>
          <a:lstStyle/>
          <a:p>
            <a:pPr algn="ctr"/>
            <a:r>
              <a:rPr lang="zh-CN" altLang="en-US" b="1" dirty="0">
                <a:solidFill>
                  <a:schemeClr val="bg1"/>
                </a:solidFill>
              </a:rPr>
              <a:t>某品牌</a:t>
            </a:r>
            <a:r>
              <a:rPr lang="en-US" altLang="zh-CN" b="1" dirty="0">
                <a:solidFill>
                  <a:schemeClr val="bg1"/>
                </a:solidFill>
              </a:rPr>
              <a:t>2023</a:t>
            </a:r>
            <a:r>
              <a:rPr lang="zh-CN" altLang="en-US" b="1" dirty="0">
                <a:solidFill>
                  <a:schemeClr val="bg1"/>
                </a:solidFill>
              </a:rPr>
              <a:t>年</a:t>
            </a:r>
            <a:r>
              <a:rPr lang="en-US" altLang="zh-CN" b="1" dirty="0">
                <a:solidFill>
                  <a:schemeClr val="bg1"/>
                </a:solidFill>
              </a:rPr>
              <a:t>H1</a:t>
            </a:r>
            <a:r>
              <a:rPr lang="zh-CN" altLang="en-US" b="1" dirty="0">
                <a:solidFill>
                  <a:schemeClr val="bg1"/>
                </a:solidFill>
              </a:rPr>
              <a:t>和</a:t>
            </a:r>
            <a:r>
              <a:rPr lang="en-US" altLang="zh-CN" b="1" dirty="0">
                <a:solidFill>
                  <a:schemeClr val="bg1"/>
                </a:solidFill>
              </a:rPr>
              <a:t>H2 SSI</a:t>
            </a:r>
            <a:r>
              <a:rPr lang="zh-CN" altLang="en-US" b="1" dirty="0">
                <a:solidFill>
                  <a:schemeClr val="bg1"/>
                </a:solidFill>
              </a:rPr>
              <a:t>得分及排名情况</a:t>
            </a:r>
          </a:p>
        </p:txBody>
      </p:sp>
      <p:graphicFrame>
        <p:nvGraphicFramePr>
          <p:cNvPr id="3" name="表格 2"/>
          <p:cNvGraphicFramePr/>
          <p:nvPr>
            <p:custDataLst>
              <p:tags r:id="rId2"/>
            </p:custDataLst>
            <p:extLst>
              <p:ext uri="{D42A27DB-BD31-4B8C-83A1-F6EECF244321}">
                <p14:modId xmlns:p14="http://schemas.microsoft.com/office/powerpoint/2010/main" val="180251686"/>
              </p:ext>
            </p:extLst>
          </p:nvPr>
        </p:nvGraphicFramePr>
        <p:xfrm>
          <a:off x="1187656" y="5235231"/>
          <a:ext cx="10620003" cy="548640"/>
        </p:xfrm>
        <a:graphic>
          <a:graphicData uri="http://schemas.openxmlformats.org/drawingml/2006/table">
            <a:tbl>
              <a:tblPr firstRow="1" bandRow="1">
                <a:tableStyleId>{5C22544A-7EE6-4342-B048-85BDC9FD1C3A}</a:tableStyleId>
              </a:tblPr>
              <a:tblGrid>
                <a:gridCol w="1021131">
                  <a:extLst>
                    <a:ext uri="{9D8B030D-6E8A-4147-A177-3AD203B41FA5}">
                      <a16:colId xmlns:a16="http://schemas.microsoft.com/office/drawing/2014/main" val="20000"/>
                    </a:ext>
                  </a:extLst>
                </a:gridCol>
                <a:gridCol w="1199859">
                  <a:extLst>
                    <a:ext uri="{9D8B030D-6E8A-4147-A177-3AD203B41FA5}">
                      <a16:colId xmlns:a16="http://schemas.microsoft.com/office/drawing/2014/main" val="20001"/>
                    </a:ext>
                  </a:extLst>
                </a:gridCol>
                <a:gridCol w="1199859">
                  <a:extLst>
                    <a:ext uri="{9D8B030D-6E8A-4147-A177-3AD203B41FA5}">
                      <a16:colId xmlns:a16="http://schemas.microsoft.com/office/drawing/2014/main" val="20002"/>
                    </a:ext>
                  </a:extLst>
                </a:gridCol>
                <a:gridCol w="1199859">
                  <a:extLst>
                    <a:ext uri="{9D8B030D-6E8A-4147-A177-3AD203B41FA5}">
                      <a16:colId xmlns:a16="http://schemas.microsoft.com/office/drawing/2014/main" val="20003"/>
                    </a:ext>
                  </a:extLst>
                </a:gridCol>
                <a:gridCol w="1199859">
                  <a:extLst>
                    <a:ext uri="{9D8B030D-6E8A-4147-A177-3AD203B41FA5}">
                      <a16:colId xmlns:a16="http://schemas.microsoft.com/office/drawing/2014/main" val="20004"/>
                    </a:ext>
                  </a:extLst>
                </a:gridCol>
                <a:gridCol w="1199859">
                  <a:extLst>
                    <a:ext uri="{9D8B030D-6E8A-4147-A177-3AD203B41FA5}">
                      <a16:colId xmlns:a16="http://schemas.microsoft.com/office/drawing/2014/main" val="20005"/>
                    </a:ext>
                  </a:extLst>
                </a:gridCol>
                <a:gridCol w="1199859">
                  <a:extLst>
                    <a:ext uri="{9D8B030D-6E8A-4147-A177-3AD203B41FA5}">
                      <a16:colId xmlns:a16="http://schemas.microsoft.com/office/drawing/2014/main" val="20006"/>
                    </a:ext>
                  </a:extLst>
                </a:gridCol>
                <a:gridCol w="1199859">
                  <a:extLst>
                    <a:ext uri="{9D8B030D-6E8A-4147-A177-3AD203B41FA5}">
                      <a16:colId xmlns:a16="http://schemas.microsoft.com/office/drawing/2014/main" val="20007"/>
                    </a:ext>
                  </a:extLst>
                </a:gridCol>
                <a:gridCol w="1199859">
                  <a:extLst>
                    <a:ext uri="{9D8B030D-6E8A-4147-A177-3AD203B41FA5}">
                      <a16:colId xmlns:a16="http://schemas.microsoft.com/office/drawing/2014/main" val="20008"/>
                    </a:ext>
                  </a:extLst>
                </a:gridCol>
              </a:tblGrid>
              <a:tr h="274320">
                <a:tc>
                  <a:txBody>
                    <a:bodyPr/>
                    <a:lstStyle/>
                    <a:p>
                      <a:pPr algn="ctr" fontAlgn="ctr"/>
                      <a:r>
                        <a:rPr lang="zh-CN" altLang="en-US" sz="1200" b="0" i="0" u="none" strike="noStrike" dirty="0">
                          <a:solidFill>
                            <a:srgbClr val="000000"/>
                          </a:solidFill>
                          <a:effectLst/>
                          <a:latin typeface="+mn-ea"/>
                        </a:rPr>
                        <a:t>总体</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200" b="0" i="0" u="none" strike="noStrike" dirty="0">
                          <a:solidFill>
                            <a:srgbClr val="000000"/>
                          </a:solidFill>
                          <a:effectLst/>
                          <a:latin typeface="+mn-ea"/>
                        </a:rPr>
                        <a:t>蔚来</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200" b="0" i="0" u="none" strike="noStrike" dirty="0">
                          <a:solidFill>
                            <a:srgbClr val="000000"/>
                          </a:solidFill>
                          <a:effectLst/>
                          <a:latin typeface="+mn-ea"/>
                        </a:rPr>
                        <a:t>极氪</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200" b="0" i="0" u="none" strike="noStrike" dirty="0">
                          <a:solidFill>
                            <a:srgbClr val="000000"/>
                          </a:solidFill>
                          <a:effectLst/>
                          <a:latin typeface="+mn-ea"/>
                        </a:rPr>
                        <a:t>问界</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200" b="1" i="0" u="none" strike="noStrike" dirty="0">
                          <a:solidFill>
                            <a:srgbClr val="4B8D56"/>
                          </a:solidFill>
                          <a:effectLst/>
                          <a:latin typeface="+mn-ea"/>
                        </a:rPr>
                        <a:t>某品牌</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200" b="0" i="0" u="none" strike="noStrike" dirty="0">
                          <a:solidFill>
                            <a:srgbClr val="000000"/>
                          </a:solidFill>
                          <a:effectLst/>
                          <a:latin typeface="+mn-ea"/>
                        </a:rPr>
                        <a:t>理想</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200" b="0" i="0" u="none" strike="noStrike" dirty="0">
                          <a:solidFill>
                            <a:srgbClr val="000000"/>
                          </a:solidFill>
                          <a:effectLst/>
                          <a:latin typeface="+mn-ea"/>
                        </a:rPr>
                        <a:t>小鹏</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200" b="0" i="0" u="none" strike="noStrike" dirty="0">
                          <a:solidFill>
                            <a:srgbClr val="000000"/>
                          </a:solidFill>
                          <a:effectLst/>
                          <a:latin typeface="+mn-ea"/>
                        </a:rPr>
                        <a:t>特斯拉</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200" b="0" i="0" u="none" strike="noStrike" kern="1200" dirty="0">
                          <a:solidFill>
                            <a:srgbClr val="000000"/>
                          </a:solidFill>
                          <a:effectLst/>
                          <a:latin typeface="+mn-ea"/>
                          <a:cs typeface="+mn-cs"/>
                        </a:rPr>
                        <a:t>智己</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0">
                <a:tc>
                  <a:txBody>
                    <a:bodyPr/>
                    <a:lstStyle/>
                    <a:p>
                      <a:pPr marL="0" algn="ctr" defTabSz="914400" rtl="0" eaLnBrk="1" fontAlgn="ctr" latinLnBrk="0" hangingPunct="1">
                        <a:buNone/>
                      </a:pPr>
                      <a:r>
                        <a:rPr lang="en-US" altLang="zh-CN" sz="1200" b="0" i="0" u="none" strike="noStrike" kern="1200" dirty="0">
                          <a:solidFill>
                            <a:srgbClr val="000000"/>
                          </a:solidFill>
                          <a:effectLst/>
                          <a:latin typeface="+mn-ea"/>
                          <a:cs typeface="+mn-cs"/>
                        </a:rPr>
                        <a:t>N=496</a:t>
                      </a:r>
                    </a:p>
                  </a:txBody>
                  <a:tcPr marL="36000" marR="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mn-ea"/>
                          <a:cs typeface="+mn-cs"/>
                        </a:rPr>
                        <a:t>34</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mn-ea"/>
                          <a:cs typeface="+mn-cs"/>
                        </a:rPr>
                        <a:t>34</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mn-ea"/>
                          <a:cs typeface="+mn-cs"/>
                        </a:rPr>
                        <a:t>35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1" i="0" u="none" strike="noStrike" kern="1200" dirty="0">
                          <a:solidFill>
                            <a:srgbClr val="4B8D56"/>
                          </a:solidFill>
                          <a:effectLst/>
                          <a:latin typeface="+mn-ea"/>
                          <a:cs typeface="+mn-cs"/>
                        </a:rPr>
                        <a:t>271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mn-ea"/>
                          <a:cs typeface="+mn-cs"/>
                        </a:rPr>
                        <a:t>34</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mn-ea"/>
                          <a:cs typeface="+mn-cs"/>
                        </a:rPr>
                        <a:t>35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mn-ea"/>
                          <a:cs typeface="+mn-cs"/>
                        </a:rPr>
                        <a:t>35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mn-ea"/>
                          <a:cs typeface="+mn-cs"/>
                        </a:rPr>
                        <a:t>18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 name="文本框 5"/>
          <p:cNvSpPr txBox="1"/>
          <p:nvPr>
            <p:custDataLst>
              <p:tags r:id="rId3"/>
            </p:custDataLst>
          </p:nvPr>
        </p:nvSpPr>
        <p:spPr>
          <a:xfrm>
            <a:off x="1153126" y="5805945"/>
            <a:ext cx="9966325" cy="46935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300"/>
              </a:spcBef>
              <a:buClrTx/>
              <a:buSzTx/>
              <a:buFont typeface="Arial" panose="020B0604020202020204" pitchFamily="34" charset="0"/>
              <a:buChar char="•"/>
            </a:pPr>
            <a:r>
              <a:rPr lang="zh-CN" altLang="en-US" sz="1100" dirty="0">
                <a:latin typeface="DIN Pro"/>
                <a:ea typeface="Alibaba PuHuiTi 2.0 55 Regular"/>
              </a:rPr>
              <a:t>在</a:t>
            </a:r>
            <a:r>
              <a:rPr lang="en-US" altLang="zh-CN" sz="1100" dirty="0">
                <a:latin typeface="DIN Pro"/>
                <a:ea typeface="Alibaba PuHuiTi 2.0 55 Regular"/>
              </a:rPr>
              <a:t>95%</a:t>
            </a:r>
            <a:r>
              <a:rPr lang="zh-CN" altLang="en-US" sz="1100" dirty="0">
                <a:latin typeface="DIN Pro"/>
                <a:ea typeface="Alibaba PuHuiTi 2.0 55 Regular"/>
              </a:rPr>
              <a:t>置信度水平下</a:t>
            </a:r>
            <a:r>
              <a:rPr lang="zh-CN" altLang="en-US" sz="1100" dirty="0">
                <a:latin typeface="微软雅黑" panose="020B0503020204020204" pitchFamily="34" charset="-122"/>
                <a:ea typeface="Alibaba PuHuiTi 2.0 55 Regular"/>
              </a:rPr>
              <a:t>，各品牌间得分不存在显著性差异；</a:t>
            </a:r>
            <a:endParaRPr kumimoji="0" lang="en-US" altLang="zh-CN" sz="1100" i="0" u="none" strike="noStrike" kern="1200" cap="none" spc="0" normalizeH="0" baseline="0" dirty="0">
              <a:solidFill>
                <a:schemeClr val="tx1"/>
              </a:solidFill>
              <a:latin typeface="微软雅黑" panose="020B0503020204020204" pitchFamily="34" charset="-122"/>
              <a:ea typeface="Alibaba PuHuiTi 2.0 55 Regular"/>
            </a:endParaRPr>
          </a:p>
          <a:p>
            <a:pPr marL="285750" marR="0" lvl="0" indent="-285750" algn="l" defTabSz="914400" rtl="0" eaLnBrk="1" fontAlgn="auto" latinLnBrk="0" hangingPunct="1">
              <a:lnSpc>
                <a:spcPct val="100000"/>
              </a:lnSpc>
              <a:spcBef>
                <a:spcPts val="300"/>
              </a:spcBef>
              <a:buClrTx/>
              <a:buSzTx/>
              <a:buFont typeface="Arial" panose="020B0604020202020204" pitchFamily="34" charset="0"/>
              <a:buChar char="•"/>
            </a:pPr>
            <a:r>
              <a:rPr kumimoji="0" lang="en-US" altLang="zh-CN" sz="1100" i="0" u="none" strike="noStrike" kern="1200" cap="none" spc="0" normalizeH="0" baseline="0" dirty="0" err="1">
                <a:solidFill>
                  <a:schemeClr val="tx1"/>
                </a:solidFill>
                <a:latin typeface="微软雅黑" panose="020B0503020204020204" pitchFamily="34" charset="-122"/>
                <a:ea typeface="Alibaba PuHuiTi 2.0 55 Regular"/>
              </a:rPr>
              <a:t>智己样本量过少不具参考性，图中仅展示得分表现，不纳入排名与平均值统计</a:t>
            </a:r>
            <a:r>
              <a:rPr kumimoji="0" lang="en-US" altLang="zh-CN" sz="1100" i="0" u="none" strike="noStrike" kern="1200" cap="none" spc="0" normalizeH="0" baseline="0" dirty="0">
                <a:solidFill>
                  <a:schemeClr val="tx1"/>
                </a:solidFill>
                <a:latin typeface="微软雅黑" panose="020B0503020204020204" pitchFamily="34" charset="-122"/>
                <a:ea typeface="Alibaba PuHuiTi 2.0 55 Regular"/>
              </a:rPr>
              <a:t>；</a:t>
            </a:r>
          </a:p>
        </p:txBody>
      </p:sp>
      <p:graphicFrame>
        <p:nvGraphicFramePr>
          <p:cNvPr id="16" name="表格 15">
            <a:extLst>
              <a:ext uri="{FF2B5EF4-FFF2-40B4-BE49-F238E27FC236}">
                <a16:creationId xmlns:a16="http://schemas.microsoft.com/office/drawing/2014/main" id="{2306E0C5-3B0C-EF28-8B88-C4FDF91BAAA9}"/>
              </a:ext>
            </a:extLst>
          </p:cNvPr>
          <p:cNvGraphicFramePr>
            <a:graphicFrameLocks noGrp="1"/>
          </p:cNvGraphicFramePr>
          <p:nvPr>
            <p:extLst>
              <p:ext uri="{D42A27DB-BD31-4B8C-83A1-F6EECF244321}">
                <p14:modId xmlns:p14="http://schemas.microsoft.com/office/powerpoint/2010/main" val="399528129"/>
              </p:ext>
            </p:extLst>
          </p:nvPr>
        </p:nvGraphicFramePr>
        <p:xfrm>
          <a:off x="274502" y="2300224"/>
          <a:ext cx="11391094" cy="396240"/>
        </p:xfrm>
        <a:graphic>
          <a:graphicData uri="http://schemas.openxmlformats.org/drawingml/2006/table">
            <a:tbl>
              <a:tblPr firstRow="1" bandRow="1">
                <a:tableStyleId>{5C22544A-7EE6-4342-B048-85BDC9FD1C3A}</a:tableStyleId>
              </a:tblPr>
              <a:tblGrid>
                <a:gridCol w="637156">
                  <a:extLst>
                    <a:ext uri="{9D8B030D-6E8A-4147-A177-3AD203B41FA5}">
                      <a16:colId xmlns:a16="http://schemas.microsoft.com/office/drawing/2014/main" val="3056884151"/>
                    </a:ext>
                  </a:extLst>
                </a:gridCol>
                <a:gridCol w="1194882">
                  <a:extLst>
                    <a:ext uri="{9D8B030D-6E8A-4147-A177-3AD203B41FA5}">
                      <a16:colId xmlns:a16="http://schemas.microsoft.com/office/drawing/2014/main" val="2583923426"/>
                    </a:ext>
                  </a:extLst>
                </a:gridCol>
                <a:gridCol w="1194882">
                  <a:extLst>
                    <a:ext uri="{9D8B030D-6E8A-4147-A177-3AD203B41FA5}">
                      <a16:colId xmlns:a16="http://schemas.microsoft.com/office/drawing/2014/main" val="4039448701"/>
                    </a:ext>
                  </a:extLst>
                </a:gridCol>
                <a:gridCol w="1194882">
                  <a:extLst>
                    <a:ext uri="{9D8B030D-6E8A-4147-A177-3AD203B41FA5}">
                      <a16:colId xmlns:a16="http://schemas.microsoft.com/office/drawing/2014/main" val="2621115954"/>
                    </a:ext>
                  </a:extLst>
                </a:gridCol>
                <a:gridCol w="1194882">
                  <a:extLst>
                    <a:ext uri="{9D8B030D-6E8A-4147-A177-3AD203B41FA5}">
                      <a16:colId xmlns:a16="http://schemas.microsoft.com/office/drawing/2014/main" val="3787462984"/>
                    </a:ext>
                  </a:extLst>
                </a:gridCol>
                <a:gridCol w="1194882">
                  <a:extLst>
                    <a:ext uri="{9D8B030D-6E8A-4147-A177-3AD203B41FA5}">
                      <a16:colId xmlns:a16="http://schemas.microsoft.com/office/drawing/2014/main" val="1068206417"/>
                    </a:ext>
                  </a:extLst>
                </a:gridCol>
                <a:gridCol w="1194882">
                  <a:extLst>
                    <a:ext uri="{9D8B030D-6E8A-4147-A177-3AD203B41FA5}">
                      <a16:colId xmlns:a16="http://schemas.microsoft.com/office/drawing/2014/main" val="1924118804"/>
                    </a:ext>
                  </a:extLst>
                </a:gridCol>
                <a:gridCol w="1194882">
                  <a:extLst>
                    <a:ext uri="{9D8B030D-6E8A-4147-A177-3AD203B41FA5}">
                      <a16:colId xmlns:a16="http://schemas.microsoft.com/office/drawing/2014/main" val="2559174689"/>
                    </a:ext>
                  </a:extLst>
                </a:gridCol>
                <a:gridCol w="1194882">
                  <a:extLst>
                    <a:ext uri="{9D8B030D-6E8A-4147-A177-3AD203B41FA5}">
                      <a16:colId xmlns:a16="http://schemas.microsoft.com/office/drawing/2014/main" val="366993350"/>
                    </a:ext>
                  </a:extLst>
                </a:gridCol>
                <a:gridCol w="1194882">
                  <a:extLst>
                    <a:ext uri="{9D8B030D-6E8A-4147-A177-3AD203B41FA5}">
                      <a16:colId xmlns:a16="http://schemas.microsoft.com/office/drawing/2014/main" val="3831128915"/>
                    </a:ext>
                  </a:extLst>
                </a:gridCol>
              </a:tblGrid>
              <a:tr h="21475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000" dirty="0">
                          <a:solidFill>
                            <a:schemeClr val="tx1"/>
                          </a:solidFill>
                          <a:latin typeface="+mn-ea"/>
                          <a:ea typeface="+mn-ea"/>
                        </a:rPr>
                        <a:t>较上期增长</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000" b="1" i="0" u="none" strike="noStrike" dirty="0">
                          <a:solidFill>
                            <a:schemeClr val="tx1"/>
                          </a:solidFill>
                          <a:effectLst/>
                          <a:latin typeface="+mn-ea"/>
                          <a:ea typeface="+mn-ea"/>
                        </a:rPr>
                        <a:t>+</a:t>
                      </a:r>
                      <a:r>
                        <a:rPr lang="en-US" altLang="zh-CN" sz="1000" dirty="0">
                          <a:solidFill>
                            <a:schemeClr val="tx1"/>
                          </a:solidFill>
                          <a:latin typeface="+mn-ea"/>
                          <a:ea typeface="+mn-ea"/>
                        </a:rPr>
                        <a:t>67.1</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000" b="1" i="0" u="none" strike="noStrike" dirty="0">
                          <a:solidFill>
                            <a:srgbClr val="006100"/>
                          </a:solidFill>
                          <a:effectLst/>
                          <a:latin typeface="+mn-ea"/>
                          <a:ea typeface="+mn-ea"/>
                        </a:rPr>
                        <a:t>+76.7 </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000" b="0" i="0" u="none" strike="noStrike" dirty="0">
                          <a:solidFill>
                            <a:srgbClr val="006100"/>
                          </a:solidFill>
                          <a:effectLst/>
                          <a:latin typeface="+mn-ea"/>
                          <a:ea typeface="+mn-ea"/>
                        </a:rPr>
                        <a:t>+70.7 </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000" b="1" i="0" u="none" strike="noStrike" dirty="0">
                          <a:solidFill>
                            <a:srgbClr val="006100"/>
                          </a:solidFill>
                          <a:effectLst/>
                          <a:latin typeface="+mn-ea"/>
                          <a:ea typeface="+mn-ea"/>
                        </a:rPr>
                        <a:t>+76.1 </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000" b="0" i="0" u="none" strike="noStrike" dirty="0">
                          <a:solidFill>
                            <a:srgbClr val="006100"/>
                          </a:solidFill>
                          <a:effectLst/>
                          <a:latin typeface="+mn-ea"/>
                          <a:ea typeface="+mn-ea"/>
                        </a:rPr>
                        <a:t>+65.0 </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000" b="1" i="0" u="none" strike="noStrike" dirty="0">
                          <a:solidFill>
                            <a:srgbClr val="006100"/>
                          </a:solidFill>
                          <a:effectLst/>
                          <a:latin typeface="+mn-ea"/>
                          <a:ea typeface="+mn-ea"/>
                        </a:rPr>
                        <a:t>+96.6 </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000" b="0" i="0" u="none" strike="noStrike" dirty="0">
                          <a:solidFill>
                            <a:srgbClr val="006100"/>
                          </a:solidFill>
                          <a:effectLst/>
                          <a:latin typeface="+mn-ea"/>
                          <a:ea typeface="+mn-ea"/>
                        </a:rPr>
                        <a:t>+68.7 </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000" b="0" i="0" u="none" strike="noStrike" dirty="0">
                          <a:solidFill>
                            <a:srgbClr val="006100"/>
                          </a:solidFill>
                          <a:effectLst/>
                          <a:latin typeface="+mn-ea"/>
                          <a:ea typeface="+mn-ea"/>
                        </a:rPr>
                        <a:t>+54.9 </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000" b="0" i="0" u="none" strike="noStrike" dirty="0">
                          <a:solidFill>
                            <a:srgbClr val="006100"/>
                          </a:solidFill>
                          <a:effectLst/>
                          <a:latin typeface="+mn-ea"/>
                          <a:ea typeface="+mn-ea"/>
                        </a:rPr>
                        <a:t>+5.7 </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6883272"/>
                  </a:ext>
                </a:extLst>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1508140613"/>
              </p:ext>
            </p:extLst>
          </p:nvPr>
        </p:nvGraphicFramePr>
        <p:xfrm>
          <a:off x="998645" y="1953549"/>
          <a:ext cx="10832760" cy="370840"/>
        </p:xfrm>
        <a:graphic>
          <a:graphicData uri="http://schemas.openxmlformats.org/drawingml/2006/table">
            <a:tbl>
              <a:tblPr firstRow="1" bandRow="1">
                <a:tableStyleId>{5C22544A-7EE6-4342-B048-85BDC9FD1C3A}</a:tableStyleId>
              </a:tblPr>
              <a:tblGrid>
                <a:gridCol w="1203640">
                  <a:extLst>
                    <a:ext uri="{9D8B030D-6E8A-4147-A177-3AD203B41FA5}">
                      <a16:colId xmlns:a16="http://schemas.microsoft.com/office/drawing/2014/main" val="20000"/>
                    </a:ext>
                  </a:extLst>
                </a:gridCol>
                <a:gridCol w="1203640">
                  <a:extLst>
                    <a:ext uri="{9D8B030D-6E8A-4147-A177-3AD203B41FA5}">
                      <a16:colId xmlns:a16="http://schemas.microsoft.com/office/drawing/2014/main" val="20001"/>
                    </a:ext>
                  </a:extLst>
                </a:gridCol>
                <a:gridCol w="1203640">
                  <a:extLst>
                    <a:ext uri="{9D8B030D-6E8A-4147-A177-3AD203B41FA5}">
                      <a16:colId xmlns:a16="http://schemas.microsoft.com/office/drawing/2014/main" val="20002"/>
                    </a:ext>
                  </a:extLst>
                </a:gridCol>
                <a:gridCol w="1203640">
                  <a:extLst>
                    <a:ext uri="{9D8B030D-6E8A-4147-A177-3AD203B41FA5}">
                      <a16:colId xmlns:a16="http://schemas.microsoft.com/office/drawing/2014/main" val="20003"/>
                    </a:ext>
                  </a:extLst>
                </a:gridCol>
                <a:gridCol w="1203640">
                  <a:extLst>
                    <a:ext uri="{9D8B030D-6E8A-4147-A177-3AD203B41FA5}">
                      <a16:colId xmlns:a16="http://schemas.microsoft.com/office/drawing/2014/main" val="20004"/>
                    </a:ext>
                  </a:extLst>
                </a:gridCol>
                <a:gridCol w="1203640">
                  <a:extLst>
                    <a:ext uri="{9D8B030D-6E8A-4147-A177-3AD203B41FA5}">
                      <a16:colId xmlns:a16="http://schemas.microsoft.com/office/drawing/2014/main" val="20005"/>
                    </a:ext>
                  </a:extLst>
                </a:gridCol>
                <a:gridCol w="1203640">
                  <a:extLst>
                    <a:ext uri="{9D8B030D-6E8A-4147-A177-3AD203B41FA5}">
                      <a16:colId xmlns:a16="http://schemas.microsoft.com/office/drawing/2014/main" val="20006"/>
                    </a:ext>
                  </a:extLst>
                </a:gridCol>
                <a:gridCol w="1203640">
                  <a:extLst>
                    <a:ext uri="{9D8B030D-6E8A-4147-A177-3AD203B41FA5}">
                      <a16:colId xmlns:a16="http://schemas.microsoft.com/office/drawing/2014/main" val="20007"/>
                    </a:ext>
                  </a:extLst>
                </a:gridCol>
                <a:gridCol w="1203640">
                  <a:extLst>
                    <a:ext uri="{9D8B030D-6E8A-4147-A177-3AD203B41FA5}">
                      <a16:colId xmlns:a16="http://schemas.microsoft.com/office/drawing/2014/main" val="20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排名</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微软雅黑" panose="020B0503020204020204" pitchFamily="34" charset="-122"/>
                          <a:ea typeface="Alibaba PuHuiTi 2.0 55 Regular"/>
                        </a:rPr>
                        <a:t>1</a:t>
                      </a:r>
                      <a:endParaRPr lang="zh-CN" altLang="en-US" sz="1400" dirty="0">
                        <a:solidFill>
                          <a:schemeClr val="tx1"/>
                        </a:solidFill>
                        <a:latin typeface="微软雅黑" panose="020B0503020204020204" pitchFamily="34" charset="-122"/>
                        <a:ea typeface="Alibaba PuHuiTi 2.0 55 Regular"/>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微软雅黑" panose="020B0503020204020204" pitchFamily="34" charset="-122"/>
                          <a:ea typeface="Alibaba PuHuiTi 2.0 55 Regular"/>
                        </a:rPr>
                        <a:t>2</a:t>
                      </a:r>
                      <a:endParaRPr lang="zh-CN" altLang="en-US" sz="1400" dirty="0">
                        <a:solidFill>
                          <a:schemeClr val="tx1"/>
                        </a:solidFill>
                        <a:latin typeface="微软雅黑" panose="020B0503020204020204" pitchFamily="34" charset="-122"/>
                        <a:ea typeface="Alibaba PuHuiTi 2.0 55 Regular"/>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微软雅黑" panose="020B0503020204020204" pitchFamily="34" charset="-122"/>
                          <a:ea typeface="Alibaba PuHuiTi 2.0 55 Regular"/>
                        </a:rPr>
                        <a:t>3</a:t>
                      </a:r>
                      <a:endParaRPr lang="zh-CN" altLang="en-US" sz="1400" dirty="0">
                        <a:solidFill>
                          <a:schemeClr val="tx1"/>
                        </a:solidFill>
                        <a:latin typeface="微软雅黑" panose="020B0503020204020204" pitchFamily="34" charset="-122"/>
                        <a:ea typeface="Alibaba PuHuiTi 2.0 55 Regular"/>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rgbClr val="4B8D56"/>
                          </a:solidFill>
                          <a:latin typeface="微软雅黑" panose="020B0503020204020204" pitchFamily="34" charset="-122"/>
                          <a:ea typeface="Alibaba PuHuiTi 2.0 55 Regular"/>
                        </a:rPr>
                        <a:t>4</a:t>
                      </a:r>
                      <a:endParaRPr lang="zh-CN" altLang="en-US" sz="1400" dirty="0">
                        <a:solidFill>
                          <a:srgbClr val="4B8D56"/>
                        </a:solidFill>
                        <a:latin typeface="微软雅黑" panose="020B0503020204020204" pitchFamily="34" charset="-122"/>
                        <a:ea typeface="Alibaba PuHuiTi 2.0 55 Regular"/>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微软雅黑" panose="020B0503020204020204" pitchFamily="34" charset="-122"/>
                          <a:ea typeface="Alibaba PuHuiTi 2.0 55 Regular"/>
                        </a:rPr>
                        <a:t>5</a:t>
                      </a:r>
                      <a:endParaRPr lang="zh-CN" altLang="en-US" sz="1400" dirty="0">
                        <a:solidFill>
                          <a:schemeClr val="tx1"/>
                        </a:solidFill>
                        <a:latin typeface="微软雅黑" panose="020B0503020204020204" pitchFamily="34" charset="-122"/>
                        <a:ea typeface="Alibaba PuHuiTi 2.0 55 Regular"/>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微软雅黑" panose="020B0503020204020204" pitchFamily="34" charset="-122"/>
                          <a:ea typeface="Alibaba PuHuiTi 2.0 55 Regular"/>
                        </a:rPr>
                        <a:t>6</a:t>
                      </a:r>
                      <a:endParaRPr lang="zh-CN" altLang="en-US" sz="1400" dirty="0">
                        <a:solidFill>
                          <a:schemeClr val="tx1"/>
                        </a:solidFill>
                        <a:latin typeface="微软雅黑" panose="020B0503020204020204" pitchFamily="34" charset="-122"/>
                        <a:ea typeface="Alibaba PuHuiTi 2.0 55 Regular"/>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微软雅黑" panose="020B0503020204020204" pitchFamily="34" charset="-122"/>
                          <a:ea typeface="Alibaba PuHuiTi 2.0 55 Regular"/>
                        </a:rPr>
                        <a:t>7</a:t>
                      </a:r>
                      <a:endParaRPr lang="zh-CN" altLang="en-US" sz="1400" dirty="0">
                        <a:solidFill>
                          <a:schemeClr val="tx1"/>
                        </a:solidFill>
                        <a:latin typeface="微软雅黑" panose="020B0503020204020204" pitchFamily="34" charset="-122"/>
                        <a:ea typeface="Alibaba PuHuiTi 2.0 55 Regular"/>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latin typeface="微软雅黑" panose="020B0503020204020204" pitchFamily="34" charset="-122"/>
                        <a:ea typeface="Alibaba PuHuiTi 2.0 55 Regular"/>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7" name="文本占位符 7">
            <a:extLst>
              <a:ext uri="{FF2B5EF4-FFF2-40B4-BE49-F238E27FC236}">
                <a16:creationId xmlns:a16="http://schemas.microsoft.com/office/drawing/2014/main" id="{71C3A435-17DE-0975-391C-110DB8FC8DB2}"/>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基于车主自评，某品牌总体</a:t>
            </a:r>
            <a:r>
              <a:rPr lang="en-US" altLang="zh-CN" dirty="0"/>
              <a:t>SSI</a:t>
            </a:r>
            <a:r>
              <a:rPr lang="zh-CN" altLang="en-US" dirty="0"/>
              <a:t>服务满意度排名第四，位于行业中等</a:t>
            </a:r>
            <a:r>
              <a:rPr lang="en-US" altLang="zh-CN" dirty="0"/>
              <a:t>;</a:t>
            </a:r>
            <a:r>
              <a:rPr lang="zh-CN" altLang="en-US" dirty="0"/>
              <a:t>下半年各品牌总体平均得分提升了</a:t>
            </a:r>
            <a:r>
              <a:rPr lang="en-US" altLang="zh-CN" dirty="0"/>
              <a:t>67</a:t>
            </a:r>
            <a:r>
              <a:rPr lang="zh-CN" altLang="en-US" dirty="0"/>
              <a:t>分，某品牌满意度得分提升了</a:t>
            </a:r>
            <a:r>
              <a:rPr lang="en-US" altLang="zh-CN" dirty="0"/>
              <a:t>65</a:t>
            </a:r>
            <a:r>
              <a:rPr lang="zh-CN" altLang="en-US" dirty="0"/>
              <a:t>分，上升幅度略低于平均水平</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21"/>
          </p:nvPr>
        </p:nvSpPr>
        <p:spPr/>
        <p:txBody>
          <a:bodyPr lIns="0" tIns="0" rIns="0" bIns="0" anchor="ctr" anchorCtr="0"/>
          <a:lstStyle/>
          <a:p>
            <a:pPr>
              <a:lnSpc>
                <a:spcPct val="100000"/>
              </a:lnSpc>
              <a:spcBef>
                <a:spcPts val="0"/>
              </a:spcBef>
              <a:buSzPct val="60000"/>
            </a:pPr>
            <a:r>
              <a:rPr lang="en-US" altLang="zh-CN" dirty="0">
                <a:latin typeface="+mn-ea"/>
                <a:ea typeface="+mn-ea"/>
              </a:rPr>
              <a:t>2.1 SSI</a:t>
            </a:r>
            <a:r>
              <a:rPr lang="zh-CN" altLang="en-US" dirty="0">
                <a:latin typeface="+mn-ea"/>
                <a:ea typeface="+mn-ea"/>
              </a:rPr>
              <a:t>（销售</a:t>
            </a:r>
            <a:r>
              <a:rPr lang="en-US" altLang="zh-CN" dirty="0">
                <a:latin typeface="+mn-ea"/>
                <a:ea typeface="+mn-ea"/>
              </a:rPr>
              <a:t>+</a:t>
            </a:r>
            <a:r>
              <a:rPr lang="zh-CN" altLang="en-US" dirty="0">
                <a:latin typeface="+mn-ea"/>
                <a:ea typeface="+mn-ea"/>
              </a:rPr>
              <a:t>交付）上半年和下半年排名（分区域）</a:t>
            </a:r>
          </a:p>
        </p:txBody>
      </p:sp>
      <p:sp>
        <p:nvSpPr>
          <p:cNvPr id="5" name="灯片编号占位符 4"/>
          <p:cNvSpPr>
            <a:spLocks noGrp="1"/>
          </p:cNvSpPr>
          <p:nvPr>
            <p:ph type="sldNum" sz="quarter" idx="4"/>
          </p:nvPr>
        </p:nvSpPr>
        <p:spPr/>
        <p:txBody>
          <a:bodyPr/>
          <a:lstStyle/>
          <a:p>
            <a:fld id="{5BC33376-1D8B-E948-ACD6-AA21A3D30A8E}" type="slidenum">
              <a:rPr lang="zh-CN" altLang="en-US" smtClean="0"/>
              <a:t>24</a:t>
            </a:fld>
            <a:endParaRPr lang="zh-CN" altLang="en-US" dirty="0"/>
          </a:p>
        </p:txBody>
      </p:sp>
      <p:sp>
        <p:nvSpPr>
          <p:cNvPr id="10" name="文本框 9"/>
          <p:cNvSpPr txBox="1"/>
          <p:nvPr>
            <p:custDataLst>
              <p:tags r:id="rId1"/>
            </p:custDataLst>
          </p:nvPr>
        </p:nvSpPr>
        <p:spPr>
          <a:xfrm>
            <a:off x="263525" y="1497479"/>
            <a:ext cx="11664950" cy="432000"/>
          </a:xfrm>
          <a:prstGeom prst="rect">
            <a:avLst/>
          </a:prstGeom>
          <a:solidFill>
            <a:srgbClr val="4B8D56"/>
          </a:solidFill>
        </p:spPr>
        <p:txBody>
          <a:bodyPr wrap="square" anchor="ctr" anchorCtr="0">
            <a:noAutofit/>
          </a:bodyPr>
          <a:lstStyle/>
          <a:p>
            <a:pPr algn="ctr"/>
            <a:r>
              <a:rPr lang="zh-CN" altLang="en-US" b="1" dirty="0">
                <a:solidFill>
                  <a:schemeClr val="bg1"/>
                </a:solidFill>
                <a:sym typeface="+mn-ea"/>
              </a:rPr>
              <a:t>某品牌</a:t>
            </a:r>
            <a:r>
              <a:rPr lang="en-US" altLang="zh-CN" b="1" dirty="0">
                <a:solidFill>
                  <a:schemeClr val="bg1"/>
                </a:solidFill>
                <a:sym typeface="+mn-ea"/>
              </a:rPr>
              <a:t>2023</a:t>
            </a:r>
            <a:r>
              <a:rPr lang="zh-CN" altLang="en-US" b="1" dirty="0">
                <a:solidFill>
                  <a:schemeClr val="bg1"/>
                </a:solidFill>
                <a:sym typeface="+mn-ea"/>
              </a:rPr>
              <a:t>年</a:t>
            </a:r>
            <a:r>
              <a:rPr lang="en-US" altLang="zh-CN" b="1" dirty="0">
                <a:solidFill>
                  <a:schemeClr val="bg1"/>
                </a:solidFill>
                <a:sym typeface="+mn-ea"/>
              </a:rPr>
              <a:t>H1</a:t>
            </a:r>
            <a:r>
              <a:rPr lang="zh-CN" altLang="en-US" b="1" dirty="0">
                <a:solidFill>
                  <a:schemeClr val="bg1"/>
                </a:solidFill>
                <a:sym typeface="+mn-ea"/>
              </a:rPr>
              <a:t>和</a:t>
            </a:r>
            <a:r>
              <a:rPr lang="en-US" altLang="zh-CN" b="1" dirty="0">
                <a:solidFill>
                  <a:schemeClr val="bg1"/>
                </a:solidFill>
                <a:sym typeface="+mn-ea"/>
              </a:rPr>
              <a:t>H2 SSI</a:t>
            </a:r>
            <a:r>
              <a:rPr lang="zh-CN" altLang="en-US" b="1" dirty="0">
                <a:solidFill>
                  <a:schemeClr val="bg1"/>
                </a:solidFill>
                <a:sym typeface="+mn-ea"/>
              </a:rPr>
              <a:t>得分及排名情况</a:t>
            </a:r>
            <a:r>
              <a:rPr lang="en-US" altLang="zh-CN" b="1" dirty="0">
                <a:solidFill>
                  <a:schemeClr val="bg1"/>
                </a:solidFill>
              </a:rPr>
              <a:t> </a:t>
            </a:r>
            <a:r>
              <a:rPr lang="zh-CN" altLang="en-US" b="1" dirty="0">
                <a:solidFill>
                  <a:schemeClr val="bg1"/>
                </a:solidFill>
              </a:rPr>
              <a:t>（</a:t>
            </a:r>
            <a:r>
              <a:rPr lang="zh-CN" b="1" dirty="0">
                <a:solidFill>
                  <a:schemeClr val="bg1"/>
                </a:solidFill>
              </a:rPr>
              <a:t>分大区）</a:t>
            </a:r>
          </a:p>
        </p:txBody>
      </p:sp>
      <p:sp>
        <p:nvSpPr>
          <p:cNvPr id="16" name="文本框 15"/>
          <p:cNvSpPr txBox="1"/>
          <p:nvPr>
            <p:custDataLst>
              <p:tags r:id="rId2"/>
            </p:custDataLst>
          </p:nvPr>
        </p:nvSpPr>
        <p:spPr>
          <a:xfrm>
            <a:off x="263525" y="6058810"/>
            <a:ext cx="10629900" cy="276999"/>
          </a:xfrm>
          <a:prstGeom prst="rect">
            <a:avLst/>
          </a:prstGeom>
          <a:noFill/>
        </p:spPr>
        <p:txBody>
          <a:bodyPr wrap="square" rtlCol="0">
            <a:spAutoFit/>
          </a:bodyPr>
          <a:lstStyle/>
          <a:p>
            <a:r>
              <a:rPr lang="zh-CN" altLang="en-US" sz="1200" b="1" dirty="0">
                <a:latin typeface="微软雅黑" panose="020B0503020204020204" pitchFamily="34" charset="-122"/>
                <a:ea typeface="Alibaba PuHuiTi 2.0 55 Regular"/>
              </a:rPr>
              <a:t>注：经过显著性检验，北一区与东一区、西二区、南一区有显著性差异；东二区与南一区有显著性差异；其余区域之间无显著性差异</a:t>
            </a:r>
          </a:p>
        </p:txBody>
      </p:sp>
      <p:graphicFrame>
        <p:nvGraphicFramePr>
          <p:cNvPr id="17" name="表格 16"/>
          <p:cNvGraphicFramePr>
            <a:graphicFrameLocks noGrp="1"/>
          </p:cNvGraphicFramePr>
          <p:nvPr>
            <p:custDataLst>
              <p:tags r:id="rId3"/>
            </p:custDataLst>
            <p:extLst>
              <p:ext uri="{D42A27DB-BD31-4B8C-83A1-F6EECF244321}">
                <p14:modId xmlns:p14="http://schemas.microsoft.com/office/powerpoint/2010/main" val="2255411717"/>
              </p:ext>
            </p:extLst>
          </p:nvPr>
        </p:nvGraphicFramePr>
        <p:xfrm>
          <a:off x="302944" y="1981456"/>
          <a:ext cx="11454273" cy="370840"/>
        </p:xfrm>
        <a:graphic>
          <a:graphicData uri="http://schemas.openxmlformats.org/drawingml/2006/table">
            <a:tbl>
              <a:tblPr firstRow="1" bandRow="1">
                <a:tableStyleId>{5C22544A-7EE6-4342-B048-85BDC9FD1C3A}</a:tableStyleId>
              </a:tblPr>
              <a:tblGrid>
                <a:gridCol w="1272697">
                  <a:extLst>
                    <a:ext uri="{9D8B030D-6E8A-4147-A177-3AD203B41FA5}">
                      <a16:colId xmlns:a16="http://schemas.microsoft.com/office/drawing/2014/main" val="20000"/>
                    </a:ext>
                  </a:extLst>
                </a:gridCol>
                <a:gridCol w="1272697">
                  <a:extLst>
                    <a:ext uri="{9D8B030D-6E8A-4147-A177-3AD203B41FA5}">
                      <a16:colId xmlns:a16="http://schemas.microsoft.com/office/drawing/2014/main" val="20001"/>
                    </a:ext>
                  </a:extLst>
                </a:gridCol>
                <a:gridCol w="1272697">
                  <a:extLst>
                    <a:ext uri="{9D8B030D-6E8A-4147-A177-3AD203B41FA5}">
                      <a16:colId xmlns:a16="http://schemas.microsoft.com/office/drawing/2014/main" val="20002"/>
                    </a:ext>
                  </a:extLst>
                </a:gridCol>
                <a:gridCol w="1272697">
                  <a:extLst>
                    <a:ext uri="{9D8B030D-6E8A-4147-A177-3AD203B41FA5}">
                      <a16:colId xmlns:a16="http://schemas.microsoft.com/office/drawing/2014/main" val="20003"/>
                    </a:ext>
                  </a:extLst>
                </a:gridCol>
                <a:gridCol w="1272697">
                  <a:extLst>
                    <a:ext uri="{9D8B030D-6E8A-4147-A177-3AD203B41FA5}">
                      <a16:colId xmlns:a16="http://schemas.microsoft.com/office/drawing/2014/main" val="20004"/>
                    </a:ext>
                  </a:extLst>
                </a:gridCol>
                <a:gridCol w="1272697">
                  <a:extLst>
                    <a:ext uri="{9D8B030D-6E8A-4147-A177-3AD203B41FA5}">
                      <a16:colId xmlns:a16="http://schemas.microsoft.com/office/drawing/2014/main" val="20005"/>
                    </a:ext>
                  </a:extLst>
                </a:gridCol>
                <a:gridCol w="1272697">
                  <a:extLst>
                    <a:ext uri="{9D8B030D-6E8A-4147-A177-3AD203B41FA5}">
                      <a16:colId xmlns:a16="http://schemas.microsoft.com/office/drawing/2014/main" val="20006"/>
                    </a:ext>
                  </a:extLst>
                </a:gridCol>
                <a:gridCol w="1272697">
                  <a:extLst>
                    <a:ext uri="{9D8B030D-6E8A-4147-A177-3AD203B41FA5}">
                      <a16:colId xmlns:a16="http://schemas.microsoft.com/office/drawing/2014/main" val="20007"/>
                    </a:ext>
                  </a:extLst>
                </a:gridCol>
                <a:gridCol w="1272697">
                  <a:extLst>
                    <a:ext uri="{9D8B030D-6E8A-4147-A177-3AD203B41FA5}">
                      <a16:colId xmlns:a16="http://schemas.microsoft.com/office/drawing/2014/main" val="20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排名</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微软雅黑" panose="020B0503020204020204" pitchFamily="34" charset="-122"/>
                          <a:ea typeface="Alibaba PuHuiTi 2.0 55 Regular"/>
                        </a:rPr>
                        <a:t>1</a:t>
                      </a:r>
                      <a:endParaRPr lang="zh-CN" altLang="en-US" sz="1400" dirty="0">
                        <a:solidFill>
                          <a:schemeClr val="tx1"/>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微软雅黑" panose="020B0503020204020204" pitchFamily="34" charset="-122"/>
                          <a:ea typeface="Alibaba PuHuiTi 2.0 55 Regular"/>
                        </a:rPr>
                        <a:t>2</a:t>
                      </a:r>
                      <a:endParaRPr lang="zh-CN" altLang="en-US" sz="1400" dirty="0">
                        <a:solidFill>
                          <a:schemeClr val="tx1"/>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微软雅黑" panose="020B0503020204020204" pitchFamily="34" charset="-122"/>
                          <a:ea typeface="Alibaba PuHuiTi 2.0 55 Regular"/>
                        </a:rPr>
                        <a:t>3</a:t>
                      </a:r>
                      <a:endParaRPr lang="zh-CN" altLang="en-US" sz="1400" dirty="0">
                        <a:solidFill>
                          <a:schemeClr val="tx1"/>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微软雅黑" panose="020B0503020204020204" pitchFamily="34" charset="-122"/>
                          <a:ea typeface="Alibaba PuHuiTi 2.0 55 Regular"/>
                        </a:rPr>
                        <a:t>4</a:t>
                      </a:r>
                      <a:endParaRPr lang="zh-CN" altLang="en-US" sz="1400" dirty="0">
                        <a:solidFill>
                          <a:schemeClr val="tx1"/>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微软雅黑" panose="020B0503020204020204" pitchFamily="34" charset="-122"/>
                          <a:ea typeface="Alibaba PuHuiTi 2.0 55 Regular"/>
                        </a:rPr>
                        <a:t>5</a:t>
                      </a:r>
                      <a:endParaRPr lang="zh-CN" altLang="en-US" sz="1400" dirty="0">
                        <a:solidFill>
                          <a:schemeClr val="tx1"/>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微软雅黑" panose="020B0503020204020204" pitchFamily="34" charset="-122"/>
                          <a:ea typeface="Alibaba PuHuiTi 2.0 55 Regular"/>
                        </a:rPr>
                        <a:t>6</a:t>
                      </a:r>
                      <a:endParaRPr lang="zh-CN" altLang="en-US" sz="1400" dirty="0">
                        <a:solidFill>
                          <a:schemeClr val="tx1"/>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微软雅黑" panose="020B0503020204020204" pitchFamily="34" charset="-122"/>
                          <a:ea typeface="Alibaba PuHuiTi 2.0 55 Regular"/>
                        </a:rPr>
                        <a:t>7</a:t>
                      </a:r>
                      <a:endParaRPr lang="zh-CN" altLang="en-US" sz="1400" dirty="0">
                        <a:solidFill>
                          <a:schemeClr val="tx1"/>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latin typeface="微软雅黑" panose="020B0503020204020204" pitchFamily="34" charset="-122"/>
                          <a:ea typeface="Alibaba PuHuiTi 2.0 55 Regular"/>
                        </a:rPr>
                        <a:t>8</a:t>
                      </a:r>
                      <a:endParaRPr lang="zh-CN" altLang="en-US" sz="1400" dirty="0">
                        <a:solidFill>
                          <a:schemeClr val="tx1"/>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8" name="表格 17"/>
          <p:cNvGraphicFramePr/>
          <p:nvPr>
            <p:custDataLst>
              <p:tags r:id="rId4"/>
            </p:custDataLst>
            <p:extLst>
              <p:ext uri="{D42A27DB-BD31-4B8C-83A1-F6EECF244321}">
                <p14:modId xmlns:p14="http://schemas.microsoft.com/office/powerpoint/2010/main" val="1828331869"/>
              </p:ext>
            </p:extLst>
          </p:nvPr>
        </p:nvGraphicFramePr>
        <p:xfrm>
          <a:off x="500714" y="5079388"/>
          <a:ext cx="11304002" cy="905309"/>
        </p:xfrm>
        <a:graphic>
          <a:graphicData uri="http://schemas.openxmlformats.org/drawingml/2006/table">
            <a:tbl>
              <a:tblPr firstRow="1" bandRow="1">
                <a:tableStyleId>{5C22544A-7EE6-4342-B048-85BDC9FD1C3A}</a:tableStyleId>
              </a:tblPr>
              <a:tblGrid>
                <a:gridCol w="1105501">
                  <a:extLst>
                    <a:ext uri="{9D8B030D-6E8A-4147-A177-3AD203B41FA5}">
                      <a16:colId xmlns:a16="http://schemas.microsoft.com/office/drawing/2014/main" val="20000"/>
                    </a:ext>
                  </a:extLst>
                </a:gridCol>
                <a:gridCol w="1105501">
                  <a:extLst>
                    <a:ext uri="{9D8B030D-6E8A-4147-A177-3AD203B41FA5}">
                      <a16:colId xmlns:a16="http://schemas.microsoft.com/office/drawing/2014/main" val="20001"/>
                    </a:ext>
                  </a:extLst>
                </a:gridCol>
                <a:gridCol w="1299000">
                  <a:extLst>
                    <a:ext uri="{9D8B030D-6E8A-4147-A177-3AD203B41FA5}">
                      <a16:colId xmlns:a16="http://schemas.microsoft.com/office/drawing/2014/main" val="20002"/>
                    </a:ext>
                  </a:extLst>
                </a:gridCol>
                <a:gridCol w="1299000">
                  <a:extLst>
                    <a:ext uri="{9D8B030D-6E8A-4147-A177-3AD203B41FA5}">
                      <a16:colId xmlns:a16="http://schemas.microsoft.com/office/drawing/2014/main" val="20003"/>
                    </a:ext>
                  </a:extLst>
                </a:gridCol>
                <a:gridCol w="1299000">
                  <a:extLst>
                    <a:ext uri="{9D8B030D-6E8A-4147-A177-3AD203B41FA5}">
                      <a16:colId xmlns:a16="http://schemas.microsoft.com/office/drawing/2014/main" val="20004"/>
                    </a:ext>
                  </a:extLst>
                </a:gridCol>
                <a:gridCol w="1299000">
                  <a:extLst>
                    <a:ext uri="{9D8B030D-6E8A-4147-A177-3AD203B41FA5}">
                      <a16:colId xmlns:a16="http://schemas.microsoft.com/office/drawing/2014/main" val="20005"/>
                    </a:ext>
                  </a:extLst>
                </a:gridCol>
                <a:gridCol w="1299000">
                  <a:extLst>
                    <a:ext uri="{9D8B030D-6E8A-4147-A177-3AD203B41FA5}">
                      <a16:colId xmlns:a16="http://schemas.microsoft.com/office/drawing/2014/main" val="20006"/>
                    </a:ext>
                  </a:extLst>
                </a:gridCol>
                <a:gridCol w="1299000">
                  <a:extLst>
                    <a:ext uri="{9D8B030D-6E8A-4147-A177-3AD203B41FA5}">
                      <a16:colId xmlns:a16="http://schemas.microsoft.com/office/drawing/2014/main" val="20007"/>
                    </a:ext>
                  </a:extLst>
                </a:gridCol>
                <a:gridCol w="1299000">
                  <a:extLst>
                    <a:ext uri="{9D8B030D-6E8A-4147-A177-3AD203B41FA5}">
                      <a16:colId xmlns:a16="http://schemas.microsoft.com/office/drawing/2014/main" val="20008"/>
                    </a:ext>
                  </a:extLst>
                </a:gridCol>
              </a:tblGrid>
              <a:tr h="276576">
                <a:tc>
                  <a:txBody>
                    <a:bodyPr/>
                    <a:lstStyle/>
                    <a:p>
                      <a:pPr algn="ctr" fontAlgn="ctr"/>
                      <a:r>
                        <a:rPr lang="zh-CN" altLang="en-US" sz="1200" b="0" i="0" u="none" strike="noStrike" dirty="0">
                          <a:solidFill>
                            <a:srgbClr val="000000"/>
                          </a:solidFill>
                          <a:effectLst/>
                          <a:latin typeface="微软雅黑" panose="020B0503020204020204" pitchFamily="34" charset="-122"/>
                          <a:ea typeface="Alibaba PuHuiTi 2.0 55 Regular"/>
                        </a:rPr>
                        <a:t>总体</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200" b="0" i="0" u="none" strike="noStrike" kern="1200" dirty="0">
                          <a:solidFill>
                            <a:srgbClr val="000000"/>
                          </a:solidFill>
                          <a:effectLst/>
                          <a:latin typeface="微软雅黑" panose="020B0503020204020204" pitchFamily="34" charset="-122"/>
                          <a:ea typeface="Alibaba PuHuiTi 2.0 55 Regular"/>
                          <a:cs typeface="+mn-cs"/>
                        </a:rPr>
                        <a:t>北一区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200" b="0" i="0" u="none" strike="noStrike" kern="1200" dirty="0">
                          <a:solidFill>
                            <a:srgbClr val="000000"/>
                          </a:solidFill>
                          <a:effectLst/>
                          <a:latin typeface="微软雅黑" panose="020B0503020204020204" pitchFamily="34" charset="-122"/>
                          <a:ea typeface="Alibaba PuHuiTi 2.0 55 Regular"/>
                          <a:cs typeface="+mn-cs"/>
                        </a:rPr>
                        <a:t>东二区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200" b="0" i="0" u="none" strike="noStrike" kern="1200" dirty="0">
                          <a:solidFill>
                            <a:srgbClr val="000000"/>
                          </a:solidFill>
                          <a:effectLst/>
                          <a:latin typeface="微软雅黑" panose="020B0503020204020204" pitchFamily="34" charset="-122"/>
                          <a:ea typeface="Alibaba PuHuiTi 2.0 55 Regular"/>
                          <a:cs typeface="+mn-cs"/>
                        </a:rPr>
                        <a:t>西一区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200" b="0" i="0" u="none" strike="noStrike" kern="1200" dirty="0">
                          <a:solidFill>
                            <a:srgbClr val="000000"/>
                          </a:solidFill>
                          <a:effectLst/>
                          <a:latin typeface="微软雅黑" panose="020B0503020204020204" pitchFamily="34" charset="-122"/>
                          <a:ea typeface="Alibaba PuHuiTi 2.0 55 Regular"/>
                          <a:cs typeface="+mn-cs"/>
                        </a:rPr>
                        <a:t>南二区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200" b="0" i="0" u="none" strike="noStrike" kern="1200" dirty="0">
                          <a:solidFill>
                            <a:srgbClr val="000000"/>
                          </a:solidFill>
                          <a:effectLst/>
                          <a:latin typeface="微软雅黑" panose="020B0503020204020204" pitchFamily="34" charset="-122"/>
                          <a:ea typeface="Alibaba PuHuiTi 2.0 55 Regular"/>
                          <a:cs typeface="+mn-cs"/>
                        </a:rPr>
                        <a:t>东三区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200" b="0" i="0" u="none" strike="noStrike" kern="1200" dirty="0">
                          <a:solidFill>
                            <a:srgbClr val="000000"/>
                          </a:solidFill>
                          <a:effectLst/>
                          <a:latin typeface="微软雅黑" panose="020B0503020204020204" pitchFamily="34" charset="-122"/>
                          <a:ea typeface="Alibaba PuHuiTi 2.0 55 Regular"/>
                          <a:cs typeface="+mn-cs"/>
                        </a:rPr>
                        <a:t>东一区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200" b="0" i="0" u="none" strike="noStrike" kern="1200" dirty="0">
                          <a:solidFill>
                            <a:srgbClr val="000000"/>
                          </a:solidFill>
                          <a:effectLst/>
                          <a:latin typeface="微软雅黑" panose="020B0503020204020204" pitchFamily="34" charset="-122"/>
                          <a:ea typeface="Alibaba PuHuiTi 2.0 55 Regular"/>
                          <a:cs typeface="+mn-cs"/>
                        </a:rPr>
                        <a:t>西二区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200" b="0" i="0" u="none" strike="noStrike" kern="1200" dirty="0">
                          <a:solidFill>
                            <a:srgbClr val="000000"/>
                          </a:solidFill>
                          <a:effectLst/>
                          <a:latin typeface="微软雅黑" panose="020B0503020204020204" pitchFamily="34" charset="-122"/>
                          <a:ea typeface="Alibaba PuHuiTi 2.0 55 Regular"/>
                          <a:cs typeface="+mn-cs"/>
                        </a:rPr>
                        <a:t>南一区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1073">
                <a:tc>
                  <a:txBody>
                    <a:bodyPr/>
                    <a:lstStyle/>
                    <a:p>
                      <a:pPr marL="0" algn="ctr" defTabSz="914400" rtl="0" eaLnBrk="1" fontAlgn="ctr" latinLnBrk="0" hangingPunct="1">
                        <a:buNone/>
                      </a:pPr>
                      <a:endParaRPr lang="en-US" altLang="zh-CN" sz="1050" b="0" i="0" u="none" strike="noStrike" kern="1200" dirty="0">
                        <a:solidFill>
                          <a:srgbClr val="000000"/>
                        </a:solidFill>
                        <a:effectLst/>
                        <a:latin typeface="微软雅黑" panose="020B0503020204020204" pitchFamily="34" charset="-122"/>
                        <a:ea typeface="Alibaba PuHuiTi 2.0 55 Regular"/>
                        <a:cs typeface="+mn-cs"/>
                      </a:endParaRPr>
                    </a:p>
                  </a:txBody>
                  <a:tcPr marL="36000" marR="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050" b="0" i="0" u="none" strike="noStrike" kern="1200" dirty="0">
                          <a:solidFill>
                            <a:srgbClr val="000000"/>
                          </a:solidFill>
                          <a:effectLst/>
                          <a:latin typeface="微软雅黑" panose="020B0503020204020204" pitchFamily="34" charset="-122"/>
                          <a:ea typeface="Alibaba PuHuiTi 2.0 55 Regular"/>
                          <a:cs typeface="+mn-cs"/>
                        </a:rPr>
                        <a:t>北京、郑州、青岛</a:t>
                      </a:r>
                      <a:endParaRPr lang="en-US" altLang="zh-CN" sz="1050" b="0" i="0" u="none" strike="noStrike" kern="1200" dirty="0">
                        <a:solidFill>
                          <a:srgbClr val="000000"/>
                        </a:solidFill>
                        <a:effectLst/>
                        <a:latin typeface="微软雅黑" panose="020B0503020204020204" pitchFamily="34" charset="-122"/>
                        <a:ea typeface="Alibaba PuHuiTi 2.0 55 Regular"/>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050" b="0" i="0" u="none" strike="noStrike" kern="1200" dirty="0">
                          <a:solidFill>
                            <a:srgbClr val="000000"/>
                          </a:solidFill>
                          <a:effectLst/>
                          <a:latin typeface="微软雅黑" panose="020B0503020204020204" pitchFamily="34" charset="-122"/>
                          <a:ea typeface="Alibaba PuHuiTi 2.0 55 Regular"/>
                          <a:cs typeface="+mn-cs"/>
                        </a:rPr>
                        <a:t>无锡、合肥、南京、苏州</a:t>
                      </a:r>
                      <a:endParaRPr lang="en-US" altLang="zh-CN" sz="1050" b="0" i="0" u="none" strike="noStrike" kern="1200" dirty="0">
                        <a:solidFill>
                          <a:srgbClr val="000000"/>
                        </a:solidFill>
                        <a:effectLst/>
                        <a:latin typeface="微软雅黑" panose="020B0503020204020204" pitchFamily="34" charset="-122"/>
                        <a:ea typeface="Alibaba PuHuiTi 2.0 55 Regular"/>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050" b="0" i="0" u="none" strike="noStrike" kern="1200" dirty="0">
                          <a:solidFill>
                            <a:srgbClr val="000000"/>
                          </a:solidFill>
                          <a:effectLst/>
                          <a:latin typeface="微软雅黑" panose="020B0503020204020204" pitchFamily="34" charset="-122"/>
                          <a:ea typeface="Alibaba PuHuiTi 2.0 55 Regular"/>
                          <a:cs typeface="+mn-cs"/>
                        </a:rPr>
                        <a:t>武汉、成都、昆明</a:t>
                      </a:r>
                      <a:endParaRPr lang="en-US" altLang="zh-CN" sz="1050" b="0" i="0" u="none" strike="noStrike" kern="1200" dirty="0">
                        <a:solidFill>
                          <a:srgbClr val="000000"/>
                        </a:solidFill>
                        <a:effectLst/>
                        <a:latin typeface="微软雅黑" panose="020B0503020204020204" pitchFamily="34" charset="-122"/>
                        <a:ea typeface="Alibaba PuHuiTi 2.0 55 Regular"/>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050" b="0" i="0" u="none" strike="noStrike" kern="1200" dirty="0">
                          <a:solidFill>
                            <a:srgbClr val="000000"/>
                          </a:solidFill>
                          <a:effectLst/>
                          <a:latin typeface="微软雅黑" panose="020B0503020204020204" pitchFamily="34" charset="-122"/>
                          <a:ea typeface="Alibaba PuHuiTi 2.0 55 Regular"/>
                          <a:cs typeface="+mn-cs"/>
                        </a:rPr>
                        <a:t>广州</a:t>
                      </a:r>
                      <a:endParaRPr lang="en-US" altLang="zh-CN" sz="1050" b="0" i="0" u="none" strike="noStrike" kern="1200" dirty="0">
                        <a:solidFill>
                          <a:srgbClr val="000000"/>
                        </a:solidFill>
                        <a:effectLst/>
                        <a:latin typeface="微软雅黑" panose="020B0503020204020204" pitchFamily="34" charset="-122"/>
                        <a:ea typeface="Alibaba PuHuiTi 2.0 55 Regular"/>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050" b="0" i="0" u="none" strike="noStrike" kern="1200" dirty="0">
                          <a:solidFill>
                            <a:srgbClr val="000000"/>
                          </a:solidFill>
                          <a:effectLst/>
                          <a:latin typeface="微软雅黑" panose="020B0503020204020204" pitchFamily="34" charset="-122"/>
                          <a:ea typeface="Alibaba PuHuiTi 2.0 55 Regular"/>
                          <a:cs typeface="+mn-cs"/>
                        </a:rPr>
                        <a:t>上海</a:t>
                      </a:r>
                      <a:endParaRPr lang="en-US" altLang="zh-CN" sz="1050" b="0" i="0" u="none" strike="noStrike" kern="1200" dirty="0">
                        <a:solidFill>
                          <a:srgbClr val="000000"/>
                        </a:solidFill>
                        <a:effectLst/>
                        <a:latin typeface="微软雅黑" panose="020B0503020204020204" pitchFamily="34" charset="-122"/>
                        <a:ea typeface="Alibaba PuHuiTi 2.0 55 Regular"/>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050" b="0" i="0" u="none" strike="noStrike" kern="1200" dirty="0">
                          <a:solidFill>
                            <a:srgbClr val="000000"/>
                          </a:solidFill>
                          <a:effectLst/>
                          <a:latin typeface="微软雅黑" panose="020B0503020204020204" pitchFamily="34" charset="-122"/>
                          <a:ea typeface="Alibaba PuHuiTi 2.0 55 Regular"/>
                          <a:cs typeface="+mn-cs"/>
                        </a:rPr>
                        <a:t>宁波、义乌、金华、温州、杭州</a:t>
                      </a:r>
                      <a:endParaRPr lang="en-US" altLang="zh-CN" sz="1050" b="0" i="0" u="none" strike="noStrike" kern="1200" dirty="0">
                        <a:solidFill>
                          <a:srgbClr val="000000"/>
                        </a:solidFill>
                        <a:effectLst/>
                        <a:latin typeface="微软雅黑" panose="020B0503020204020204" pitchFamily="34" charset="-122"/>
                        <a:ea typeface="Alibaba PuHuiTi 2.0 55 Regular"/>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050" b="0" i="0" u="none" strike="noStrike" kern="1200" dirty="0">
                          <a:solidFill>
                            <a:srgbClr val="000000"/>
                          </a:solidFill>
                          <a:effectLst/>
                          <a:latin typeface="微软雅黑" panose="020B0503020204020204" pitchFamily="34" charset="-122"/>
                          <a:ea typeface="Alibaba PuHuiTi 2.0 55 Regular"/>
                          <a:cs typeface="+mn-cs"/>
                        </a:rPr>
                        <a:t>重庆</a:t>
                      </a:r>
                      <a:endParaRPr lang="en-US" altLang="zh-CN" sz="1050" b="0" i="0" u="none" strike="noStrike" kern="1200" dirty="0">
                        <a:solidFill>
                          <a:srgbClr val="000000"/>
                        </a:solidFill>
                        <a:effectLst/>
                        <a:latin typeface="微软雅黑" panose="020B0503020204020204" pitchFamily="34" charset="-122"/>
                        <a:ea typeface="Alibaba PuHuiTi 2.0 55 Regular"/>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zh-CN" altLang="en-US" sz="1050" b="0" i="0" u="none" strike="noStrike" kern="1200" dirty="0">
                          <a:solidFill>
                            <a:srgbClr val="000000"/>
                          </a:solidFill>
                          <a:effectLst/>
                          <a:latin typeface="微软雅黑" panose="020B0503020204020204" pitchFamily="34" charset="-122"/>
                          <a:ea typeface="Alibaba PuHuiTi 2.0 55 Regular"/>
                          <a:cs typeface="+mn-cs"/>
                        </a:rPr>
                        <a:t>深圳</a:t>
                      </a:r>
                      <a:endParaRPr lang="en-US" altLang="zh-CN" sz="1050" b="0" i="0" u="none" strike="noStrike" kern="1200" dirty="0">
                        <a:solidFill>
                          <a:srgbClr val="000000"/>
                        </a:solidFill>
                        <a:effectLst/>
                        <a:latin typeface="微软雅黑" panose="020B0503020204020204" pitchFamily="34" charset="-122"/>
                        <a:ea typeface="Alibaba PuHuiTi 2.0 55 Regular"/>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01073">
                <a:tc>
                  <a:txBody>
                    <a:bodyPr/>
                    <a:lstStyle/>
                    <a:p>
                      <a:pPr marL="0" algn="ctr" defTabSz="914400" rtl="0" eaLnBrk="1" fontAlgn="ctr" latinLnBrk="0" hangingPunct="1">
                        <a:buNone/>
                      </a:pPr>
                      <a:r>
                        <a:rPr lang="en-US" altLang="zh-CN" sz="1200" b="0" i="0" u="none" strike="noStrike" kern="1200" dirty="0">
                          <a:solidFill>
                            <a:srgbClr val="000000"/>
                          </a:solidFill>
                          <a:effectLst/>
                          <a:latin typeface="微软雅黑" panose="020B0503020204020204" pitchFamily="34" charset="-122"/>
                          <a:ea typeface="Alibaba PuHuiTi 2.0 55 Regular"/>
                          <a:cs typeface="+mn-cs"/>
                        </a:rPr>
                        <a:t>N=496</a:t>
                      </a:r>
                    </a:p>
                  </a:txBody>
                  <a:tcPr marL="36000" marR="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微软雅黑" panose="020B0503020204020204" pitchFamily="34" charset="-122"/>
                          <a:ea typeface="Alibaba PuHuiTi 2.0 55 Regular"/>
                          <a:cs typeface="+mn-cs"/>
                        </a:rPr>
                        <a:t>31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微软雅黑" panose="020B0503020204020204" pitchFamily="34" charset="-122"/>
                          <a:ea typeface="Alibaba PuHuiTi 2.0 55 Regular"/>
                          <a:cs typeface="+mn-cs"/>
                        </a:rPr>
                        <a:t>35</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微软雅黑" panose="020B0503020204020204" pitchFamily="34" charset="-122"/>
                          <a:ea typeface="Alibaba PuHuiTi 2.0 55 Regular"/>
                          <a:cs typeface="+mn-cs"/>
                        </a:rPr>
                        <a:t>34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微软雅黑" panose="020B0503020204020204" pitchFamily="34" charset="-122"/>
                          <a:ea typeface="Alibaba PuHuiTi 2.0 55 Regular"/>
                          <a:cs typeface="+mn-cs"/>
                        </a:rPr>
                        <a:t>34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微软雅黑" panose="020B0503020204020204" pitchFamily="34" charset="-122"/>
                          <a:ea typeface="Alibaba PuHuiTi 2.0 55 Regular"/>
                          <a:cs typeface="+mn-cs"/>
                        </a:rPr>
                        <a:t>34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微软雅黑" panose="020B0503020204020204" pitchFamily="34" charset="-122"/>
                          <a:ea typeface="Alibaba PuHuiTi 2.0 55 Regular"/>
                          <a:cs typeface="+mn-cs"/>
                        </a:rPr>
                        <a:t>34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微软雅黑" panose="020B0503020204020204" pitchFamily="34" charset="-122"/>
                          <a:ea typeface="Alibaba PuHuiTi 2.0 55 Regular"/>
                          <a:cs typeface="+mn-cs"/>
                        </a:rPr>
                        <a:t>34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altLang="zh-CN" sz="1200" b="0" i="0" u="none" strike="noStrike" kern="1200" dirty="0">
                          <a:solidFill>
                            <a:srgbClr val="000000"/>
                          </a:solidFill>
                          <a:effectLst/>
                          <a:latin typeface="微软雅黑" panose="020B0503020204020204" pitchFamily="34" charset="-122"/>
                          <a:ea typeface="Alibaba PuHuiTi 2.0 55 Regular"/>
                          <a:cs typeface="+mn-cs"/>
                        </a:rPr>
                        <a:t>35</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4412245"/>
                  </a:ext>
                </a:extLst>
              </a:tr>
            </a:tbl>
          </a:graphicData>
        </a:graphic>
      </p:graphicFrame>
      <p:grpSp>
        <p:nvGrpSpPr>
          <p:cNvPr id="4" name="组合 3">
            <a:extLst>
              <a:ext uri="{FF2B5EF4-FFF2-40B4-BE49-F238E27FC236}">
                <a16:creationId xmlns:a16="http://schemas.microsoft.com/office/drawing/2014/main" id="{CB601409-6158-157F-8DDF-BBFA477DF833}"/>
              </a:ext>
            </a:extLst>
          </p:cNvPr>
          <p:cNvGrpSpPr/>
          <p:nvPr/>
        </p:nvGrpSpPr>
        <p:grpSpPr>
          <a:xfrm>
            <a:off x="263525" y="1970066"/>
            <a:ext cx="11664950" cy="3156987"/>
            <a:chOff x="263525" y="1970066"/>
            <a:chExt cx="11664950" cy="3656743"/>
          </a:xfrm>
        </p:grpSpPr>
        <p:graphicFrame>
          <p:nvGraphicFramePr>
            <p:cNvPr id="13" name="图表 12"/>
            <p:cNvGraphicFramePr/>
            <p:nvPr>
              <p:custDataLst>
                <p:tags r:id="rId5"/>
              </p:custDataLst>
              <p:extLst>
                <p:ext uri="{D42A27DB-BD31-4B8C-83A1-F6EECF244321}">
                  <p14:modId xmlns:p14="http://schemas.microsoft.com/office/powerpoint/2010/main" val="1852178439"/>
                </p:ext>
              </p:extLst>
            </p:nvPr>
          </p:nvGraphicFramePr>
          <p:xfrm>
            <a:off x="263525" y="1970066"/>
            <a:ext cx="11664950" cy="3656743"/>
          </p:xfrm>
          <a:graphic>
            <a:graphicData uri="http://schemas.openxmlformats.org/drawingml/2006/chart">
              <c:chart xmlns:c="http://schemas.openxmlformats.org/drawingml/2006/chart" xmlns:r="http://schemas.openxmlformats.org/officeDocument/2006/relationships" r:id="rId8"/>
            </a:graphicData>
          </a:graphic>
        </p:graphicFrame>
        <p:sp>
          <p:nvSpPr>
            <p:cNvPr id="2" name="文本框 1"/>
            <p:cNvSpPr txBox="1"/>
            <p:nvPr/>
          </p:nvSpPr>
          <p:spPr>
            <a:xfrm>
              <a:off x="3484806" y="5141866"/>
              <a:ext cx="661035" cy="368300"/>
            </a:xfrm>
            <a:prstGeom prst="rect">
              <a:avLst/>
            </a:prstGeom>
            <a:noFill/>
          </p:spPr>
          <p:txBody>
            <a:bodyPr wrap="square" rtlCol="0">
              <a:spAutoFit/>
            </a:bodyPr>
            <a:lstStyle/>
            <a:p>
              <a:pPr algn="ctr"/>
              <a:r>
                <a:rPr lang="zh-CN" altLang="en-US" sz="900" dirty="0">
                  <a:solidFill>
                    <a:schemeClr val="bg1">
                      <a:lumMod val="50000"/>
                    </a:schemeClr>
                  </a:solidFill>
                </a:rPr>
                <a:t>上半年</a:t>
              </a:r>
              <a:r>
                <a:rPr lang="en-US" altLang="zh-CN" sz="900" dirty="0">
                  <a:solidFill>
                    <a:schemeClr val="bg1">
                      <a:lumMod val="50000"/>
                    </a:schemeClr>
                  </a:solidFill>
                </a:rPr>
                <a:t>N/A</a:t>
              </a:r>
            </a:p>
          </p:txBody>
        </p:sp>
        <p:sp>
          <p:nvSpPr>
            <p:cNvPr id="3" name="文本框 2"/>
            <p:cNvSpPr txBox="1"/>
            <p:nvPr>
              <p:custDataLst>
                <p:tags r:id="rId6"/>
              </p:custDataLst>
            </p:nvPr>
          </p:nvSpPr>
          <p:spPr>
            <a:xfrm>
              <a:off x="4677905" y="5141866"/>
              <a:ext cx="661035" cy="368300"/>
            </a:xfrm>
            <a:prstGeom prst="rect">
              <a:avLst/>
            </a:prstGeom>
            <a:noFill/>
          </p:spPr>
          <p:txBody>
            <a:bodyPr wrap="square" rtlCol="0">
              <a:spAutoFit/>
            </a:bodyPr>
            <a:lstStyle/>
            <a:p>
              <a:pPr algn="ctr"/>
              <a:r>
                <a:rPr lang="zh-CN" altLang="en-US" sz="900" dirty="0">
                  <a:solidFill>
                    <a:schemeClr val="bg1">
                      <a:lumMod val="50000"/>
                    </a:schemeClr>
                  </a:solidFill>
                </a:rPr>
                <a:t>上半年</a:t>
              </a:r>
              <a:r>
                <a:rPr lang="en-US" altLang="zh-CN" sz="900" dirty="0">
                  <a:solidFill>
                    <a:schemeClr val="bg1">
                      <a:lumMod val="50000"/>
                    </a:schemeClr>
                  </a:solidFill>
                </a:rPr>
                <a:t>N/A</a:t>
              </a:r>
            </a:p>
          </p:txBody>
        </p:sp>
      </p:grpSp>
      <p:sp>
        <p:nvSpPr>
          <p:cNvPr id="8" name="文本占位符 7">
            <a:extLst>
              <a:ext uri="{FF2B5EF4-FFF2-40B4-BE49-F238E27FC236}">
                <a16:creationId xmlns:a16="http://schemas.microsoft.com/office/drawing/2014/main" id="{0A23F715-0934-5F9A-D1D0-358243C03C0E}"/>
              </a:ext>
            </a:extLst>
          </p:cNvPr>
          <p:cNvSpPr txBox="1">
            <a:spLocks/>
          </p:cNvSpPr>
          <p:nvPr/>
        </p:nvSpPr>
        <p:spPr>
          <a:xfrm>
            <a:off x="263525" y="918764"/>
            <a:ext cx="11664950" cy="565549"/>
          </a:xfrm>
          <a:prstGeom prst="rect">
            <a:avLst/>
          </a:prstGeom>
          <a:noFill/>
        </p:spPr>
        <p:txBody>
          <a:bodyPr lIns="0" tIns="0" rIns="0" bIns="0" anchor="t" anchorCtr="0"/>
          <a:lstStyle>
            <a:defPPr>
              <a:defRPr lang="zh-CN"/>
            </a:defPPr>
            <a:lvl1pPr indent="0">
              <a:lnSpc>
                <a:spcPct val="90000"/>
              </a:lnSpc>
              <a:spcBef>
                <a:spcPts val="1000"/>
              </a:spcBef>
              <a:buFont typeface="Arial" panose="020B0604020202020204" pitchFamily="34" charset="0"/>
              <a:buNone/>
              <a:defRPr kumimoji="0" sz="1600" b="1" i="0" u="none" strike="noStrike" kern="0" cap="none" spc="0" normalizeH="0" baseline="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ym typeface="+mn-ea"/>
              </a:rPr>
              <a:t>下半年，北一区的车主满意度相对较高，南一区的车主满意度相对较低；</a:t>
            </a:r>
            <a:endParaRPr lang="en-US" altLang="zh-CN" dirty="0"/>
          </a:p>
          <a:p>
            <a:pPr>
              <a:spcBef>
                <a:spcPts val="0"/>
              </a:spcBef>
            </a:pPr>
            <a:r>
              <a:rPr lang="zh-CN" altLang="en-US" dirty="0">
                <a:sym typeface="+mn-ea"/>
              </a:rPr>
              <a:t>北一区、南二区、西二区较上半年提升幅度较大，提升幅度均在</a:t>
            </a:r>
            <a:r>
              <a:rPr lang="en-US" altLang="zh-CN" dirty="0">
                <a:sym typeface="+mn-ea"/>
              </a:rPr>
              <a:t>90</a:t>
            </a:r>
            <a:r>
              <a:rPr lang="zh-CN" altLang="en-US" dirty="0">
                <a:sym typeface="+mn-ea"/>
              </a:rPr>
              <a:t>分左右</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 name="表格 30"/>
          <p:cNvGraphicFramePr>
            <a:graphicFrameLocks noGrp="1"/>
          </p:cNvGraphicFramePr>
          <p:nvPr>
            <p:extLst>
              <p:ext uri="{D42A27DB-BD31-4B8C-83A1-F6EECF244321}">
                <p14:modId xmlns:p14="http://schemas.microsoft.com/office/powerpoint/2010/main" val="487650521"/>
              </p:ext>
            </p:extLst>
          </p:nvPr>
        </p:nvGraphicFramePr>
        <p:xfrm>
          <a:off x="263525" y="1953550"/>
          <a:ext cx="11583580" cy="396245"/>
        </p:xfrm>
        <a:graphic>
          <a:graphicData uri="http://schemas.openxmlformats.org/drawingml/2006/table">
            <a:tbl>
              <a:tblPr firstRow="1" bandRow="1">
                <a:tableStyleId>{5C22544A-7EE6-4342-B048-85BDC9FD1C3A}</a:tableStyleId>
              </a:tblPr>
              <a:tblGrid>
                <a:gridCol w="1158358">
                  <a:extLst>
                    <a:ext uri="{9D8B030D-6E8A-4147-A177-3AD203B41FA5}">
                      <a16:colId xmlns:a16="http://schemas.microsoft.com/office/drawing/2014/main" val="20000"/>
                    </a:ext>
                  </a:extLst>
                </a:gridCol>
                <a:gridCol w="1158358">
                  <a:extLst>
                    <a:ext uri="{9D8B030D-6E8A-4147-A177-3AD203B41FA5}">
                      <a16:colId xmlns:a16="http://schemas.microsoft.com/office/drawing/2014/main" val="20001"/>
                    </a:ext>
                  </a:extLst>
                </a:gridCol>
                <a:gridCol w="1158358">
                  <a:extLst>
                    <a:ext uri="{9D8B030D-6E8A-4147-A177-3AD203B41FA5}">
                      <a16:colId xmlns:a16="http://schemas.microsoft.com/office/drawing/2014/main" val="20002"/>
                    </a:ext>
                  </a:extLst>
                </a:gridCol>
                <a:gridCol w="1158358">
                  <a:extLst>
                    <a:ext uri="{9D8B030D-6E8A-4147-A177-3AD203B41FA5}">
                      <a16:colId xmlns:a16="http://schemas.microsoft.com/office/drawing/2014/main" val="20003"/>
                    </a:ext>
                  </a:extLst>
                </a:gridCol>
                <a:gridCol w="1158358">
                  <a:extLst>
                    <a:ext uri="{9D8B030D-6E8A-4147-A177-3AD203B41FA5}">
                      <a16:colId xmlns:a16="http://schemas.microsoft.com/office/drawing/2014/main" val="20004"/>
                    </a:ext>
                  </a:extLst>
                </a:gridCol>
                <a:gridCol w="1158358">
                  <a:extLst>
                    <a:ext uri="{9D8B030D-6E8A-4147-A177-3AD203B41FA5}">
                      <a16:colId xmlns:a16="http://schemas.microsoft.com/office/drawing/2014/main" val="20005"/>
                    </a:ext>
                  </a:extLst>
                </a:gridCol>
                <a:gridCol w="1158358">
                  <a:extLst>
                    <a:ext uri="{9D8B030D-6E8A-4147-A177-3AD203B41FA5}">
                      <a16:colId xmlns:a16="http://schemas.microsoft.com/office/drawing/2014/main" val="20006"/>
                    </a:ext>
                  </a:extLst>
                </a:gridCol>
                <a:gridCol w="1158358">
                  <a:extLst>
                    <a:ext uri="{9D8B030D-6E8A-4147-A177-3AD203B41FA5}">
                      <a16:colId xmlns:a16="http://schemas.microsoft.com/office/drawing/2014/main" val="20007"/>
                    </a:ext>
                  </a:extLst>
                </a:gridCol>
                <a:gridCol w="1158358">
                  <a:extLst>
                    <a:ext uri="{9D8B030D-6E8A-4147-A177-3AD203B41FA5}">
                      <a16:colId xmlns:a16="http://schemas.microsoft.com/office/drawing/2014/main" val="20008"/>
                    </a:ext>
                  </a:extLst>
                </a:gridCol>
                <a:gridCol w="1158358">
                  <a:extLst>
                    <a:ext uri="{9D8B030D-6E8A-4147-A177-3AD203B41FA5}">
                      <a16:colId xmlns:a16="http://schemas.microsoft.com/office/drawing/2014/main" val="20009"/>
                    </a:ext>
                  </a:extLst>
                </a:gridCol>
              </a:tblGrid>
              <a:tr h="39624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Alibaba PuHuiTi 2.0 55 Regular"/>
                          <a:cs typeface="+mn-cs"/>
                        </a:rPr>
                        <a:t>排名</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6</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4</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2</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7</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3</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dirty="0">
                          <a:ln>
                            <a:noFill/>
                          </a:ln>
                          <a:solidFill>
                            <a:schemeClr val="tx1"/>
                          </a:solidFill>
                          <a:effectLst/>
                          <a:uLnTx/>
                          <a:uFillTx/>
                          <a:latin typeface="微软雅黑" panose="020B0503020204020204" pitchFamily="34" charset="-122"/>
                          <a:ea typeface="Alibaba PuHuiTi 2.0 55 Regular"/>
                          <a:cs typeface="+mn-cs"/>
                        </a:rPr>
                        <a:t>9</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7" name="文本占位符 6"/>
          <p:cNvSpPr>
            <a:spLocks noGrp="1"/>
          </p:cNvSpPr>
          <p:nvPr>
            <p:ph type="body" sz="quarter" idx="21"/>
          </p:nvPr>
        </p:nvSpPr>
        <p:spPr/>
        <p:txBody>
          <a:bodyPr lIns="0" tIns="0" rIns="0" bIns="0" anchor="ctr" anchorCtr="0"/>
          <a:lstStyle/>
          <a:p>
            <a:pPr>
              <a:lnSpc>
                <a:spcPct val="100000"/>
              </a:lnSpc>
              <a:spcBef>
                <a:spcPts val="0"/>
              </a:spcBef>
              <a:buSzPct val="60000"/>
            </a:pPr>
            <a:r>
              <a:rPr lang="en-US" altLang="zh-CN" dirty="0">
                <a:latin typeface="+mn-ea"/>
                <a:ea typeface="+mn-ea"/>
              </a:rPr>
              <a:t>2.1 SSI</a:t>
            </a:r>
            <a:r>
              <a:rPr lang="zh-CN" altLang="en-US" dirty="0">
                <a:latin typeface="+mn-ea"/>
                <a:ea typeface="+mn-ea"/>
              </a:rPr>
              <a:t>（销售</a:t>
            </a:r>
            <a:r>
              <a:rPr lang="en-US" altLang="zh-CN" dirty="0">
                <a:latin typeface="+mn-ea"/>
                <a:ea typeface="+mn-ea"/>
              </a:rPr>
              <a:t>+</a:t>
            </a:r>
            <a:r>
              <a:rPr lang="zh-CN" altLang="en-US" dirty="0">
                <a:latin typeface="+mn-ea"/>
                <a:ea typeface="+mn-ea"/>
              </a:rPr>
              <a:t>交付）因子得分（</a:t>
            </a:r>
            <a:r>
              <a:rPr lang="en-US" altLang="zh-CN" dirty="0">
                <a:latin typeface="+mn-ea"/>
                <a:ea typeface="+mn-ea"/>
              </a:rPr>
              <a:t>H2 vs H1 </a:t>
            </a:r>
            <a:r>
              <a:rPr lang="zh-CN" altLang="en-US" dirty="0">
                <a:latin typeface="+mn-ea"/>
                <a:ea typeface="+mn-ea"/>
              </a:rPr>
              <a:t>）</a:t>
            </a:r>
          </a:p>
        </p:txBody>
      </p:sp>
      <p:sp>
        <p:nvSpPr>
          <p:cNvPr id="5" name="灯片编号占位符 4"/>
          <p:cNvSpPr>
            <a:spLocks noGrp="1"/>
          </p:cNvSpPr>
          <p:nvPr>
            <p:ph type="sldNum" sz="quarter" idx="4"/>
            <p:custDataLst>
              <p:tags r:id="rId1"/>
            </p:custDataLst>
          </p:nvPr>
        </p:nvSpPr>
        <p:spPr/>
        <p:txBody>
          <a:bodyPr/>
          <a:lstStyle/>
          <a:p>
            <a:fld id="{5BC33376-1D8B-E948-ACD6-AA21A3D30A8E}" type="slidenum">
              <a:rPr lang="zh-CN" altLang="en-US" smtClean="0"/>
              <a:t>25</a:t>
            </a:fld>
            <a:endParaRPr lang="zh-CN" altLang="en-US" dirty="0"/>
          </a:p>
        </p:txBody>
      </p:sp>
      <p:sp>
        <p:nvSpPr>
          <p:cNvPr id="11" name="文本框 10"/>
          <p:cNvSpPr txBox="1"/>
          <p:nvPr/>
        </p:nvSpPr>
        <p:spPr>
          <a:xfrm>
            <a:off x="263525" y="1495203"/>
            <a:ext cx="11664950" cy="432000"/>
          </a:xfrm>
          <a:prstGeom prst="rect">
            <a:avLst/>
          </a:prstGeom>
          <a:solidFill>
            <a:srgbClr val="4B8D56"/>
          </a:solidFill>
        </p:spPr>
        <p:txBody>
          <a:bodyPr wrap="square" anchor="ctr" anchorCtr="0">
            <a:noAutofit/>
          </a:bodyPr>
          <a:lstStyle/>
          <a:p>
            <a:pPr algn="ctr"/>
            <a:r>
              <a:rPr lang="zh-CN" altLang="en-US" b="1" dirty="0">
                <a:solidFill>
                  <a:schemeClr val="bg1"/>
                </a:solidFill>
              </a:rPr>
              <a:t>某品牌</a:t>
            </a:r>
            <a:r>
              <a:rPr lang="zh-CN" altLang="en-US" sz="1800" b="1" dirty="0">
                <a:solidFill>
                  <a:srgbClr val="FFFFFF"/>
                </a:solidFill>
                <a:effectLst/>
                <a:latin typeface="MicrosoftYaHei-Bold"/>
              </a:rPr>
              <a:t>因子得分对比 </a:t>
            </a:r>
            <a:endParaRPr lang="zh-CN" altLang="en-US" b="1" dirty="0">
              <a:solidFill>
                <a:schemeClr val="bg1"/>
              </a:solidFill>
            </a:endParaRPr>
          </a:p>
        </p:txBody>
      </p:sp>
      <p:graphicFrame>
        <p:nvGraphicFramePr>
          <p:cNvPr id="28" name="图表 27"/>
          <p:cNvGraphicFramePr/>
          <p:nvPr>
            <p:extLst>
              <p:ext uri="{D42A27DB-BD31-4B8C-83A1-F6EECF244321}">
                <p14:modId xmlns:p14="http://schemas.microsoft.com/office/powerpoint/2010/main" val="3141047989"/>
              </p:ext>
            </p:extLst>
          </p:nvPr>
        </p:nvGraphicFramePr>
        <p:xfrm>
          <a:off x="263525" y="2317750"/>
          <a:ext cx="11664949" cy="3956050"/>
        </p:xfrm>
        <a:graphic>
          <a:graphicData uri="http://schemas.openxmlformats.org/drawingml/2006/chart">
            <c:chart xmlns:c="http://schemas.openxmlformats.org/drawingml/2006/chart" xmlns:r="http://schemas.openxmlformats.org/officeDocument/2006/relationships" r:id="rId3"/>
          </a:graphicData>
        </a:graphic>
      </p:graphicFrame>
      <p:cxnSp>
        <p:nvCxnSpPr>
          <p:cNvPr id="34" name="直接连接符 33"/>
          <p:cNvCxnSpPr/>
          <p:nvPr/>
        </p:nvCxnSpPr>
        <p:spPr>
          <a:xfrm>
            <a:off x="589622" y="3322674"/>
            <a:ext cx="11088000"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729595" y="2393950"/>
            <a:ext cx="748665" cy="368300"/>
          </a:xfrm>
          <a:prstGeom prst="rect">
            <a:avLst/>
          </a:prstGeom>
          <a:noFill/>
        </p:spPr>
        <p:txBody>
          <a:bodyPr wrap="square" rtlCol="0">
            <a:spAutoFit/>
          </a:bodyPr>
          <a:lstStyle/>
          <a:p>
            <a:pPr algn="r"/>
            <a:r>
              <a:rPr lang="en-US" altLang="zh-CN" sz="900" i="1" dirty="0">
                <a:solidFill>
                  <a:schemeClr val="tx1"/>
                </a:solidFill>
                <a:effectLst/>
                <a:latin typeface="微软雅黑" panose="020B0503020204020204" pitchFamily="34" charset="-122"/>
                <a:ea typeface="Alibaba PuHuiTi 2.0 55 Regular"/>
                <a:sym typeface="+mn-ea"/>
              </a:rPr>
              <a:t>n=271</a:t>
            </a:r>
            <a:endParaRPr lang="en-US" altLang="zh-CN" sz="900" i="1" u="none" strike="noStrike" kern="1200" dirty="0">
              <a:solidFill>
                <a:schemeClr val="tx1"/>
              </a:solidFill>
              <a:effectLst/>
              <a:latin typeface="微软雅黑" panose="020B0503020204020204" pitchFamily="34" charset="-122"/>
              <a:ea typeface="Alibaba PuHuiTi 2.0 55 Regular"/>
              <a:cs typeface="+mn-cs"/>
            </a:endParaRPr>
          </a:p>
          <a:p>
            <a:pPr algn="r"/>
            <a:endParaRPr lang="en-US" altLang="zh-CN" sz="900" i="1" u="none" strike="noStrike" kern="1200" dirty="0">
              <a:solidFill>
                <a:schemeClr val="tx1"/>
              </a:solidFill>
              <a:effectLst/>
              <a:latin typeface="微软雅黑" panose="020B0503020204020204" pitchFamily="34" charset="-122"/>
              <a:ea typeface="Alibaba PuHuiTi 2.0 55 Regular"/>
              <a:cs typeface="+mn-cs"/>
            </a:endParaRPr>
          </a:p>
        </p:txBody>
      </p:sp>
      <p:sp>
        <p:nvSpPr>
          <p:cNvPr id="8" name="文本占位符 7">
            <a:extLst>
              <a:ext uri="{FF2B5EF4-FFF2-40B4-BE49-F238E27FC236}">
                <a16:creationId xmlns:a16="http://schemas.microsoft.com/office/drawing/2014/main" id="{FD2A92F4-2331-8BC3-B34F-550BFF0E5C45}"/>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通过某品牌服务因子之间对比，在到店接待、试乘试驾环节得分相对最高，用户维系、交付等待相对得分最低；</a:t>
            </a:r>
          </a:p>
          <a:p>
            <a:pPr>
              <a:lnSpc>
                <a:spcPct val="100000"/>
              </a:lnSpc>
              <a:spcBef>
                <a:spcPts val="0"/>
              </a:spcBef>
            </a:pPr>
            <a:r>
              <a:rPr lang="zh-CN" altLang="en-US" dirty="0"/>
              <a:t>各环节得分均有不同幅度提升，其中到店接待、洽谈下定、交车环节提升幅度最大。</a:t>
            </a:r>
          </a:p>
        </p:txBody>
      </p:sp>
    </p:spTree>
    <p:extLst>
      <p:ext uri="{BB962C8B-B14F-4D97-AF65-F5344CB8AC3E}">
        <p14:creationId xmlns:p14="http://schemas.microsoft.com/office/powerpoint/2010/main" val="2580789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占位符 26"/>
          <p:cNvSpPr>
            <a:spLocks noGrp="1"/>
          </p:cNvSpPr>
          <p:nvPr>
            <p:ph type="body" sz="quarter" idx="21"/>
          </p:nvPr>
        </p:nvSpPr>
        <p:spPr/>
        <p:txBody>
          <a:bodyPr lIns="0" tIns="0" rIns="0" bIns="0" anchor="ctr" anchorCtr="0"/>
          <a:lstStyle/>
          <a:p>
            <a:pPr>
              <a:lnSpc>
                <a:spcPct val="100000"/>
              </a:lnSpc>
              <a:spcBef>
                <a:spcPts val="0"/>
              </a:spcBef>
              <a:buSzPct val="60000"/>
            </a:pPr>
            <a:r>
              <a:rPr lang="en-US" altLang="zh-CN" dirty="0">
                <a:latin typeface="+mn-ea"/>
                <a:ea typeface="+mn-ea"/>
              </a:rPr>
              <a:t>2.1 SSI</a:t>
            </a:r>
            <a:r>
              <a:rPr lang="zh-CN" altLang="en-US" dirty="0">
                <a:latin typeface="+mn-ea"/>
                <a:ea typeface="+mn-ea"/>
              </a:rPr>
              <a:t>（销售</a:t>
            </a:r>
            <a:r>
              <a:rPr lang="en-US" altLang="zh-CN" dirty="0">
                <a:latin typeface="+mn-ea"/>
                <a:ea typeface="+mn-ea"/>
              </a:rPr>
              <a:t>+</a:t>
            </a:r>
            <a:r>
              <a:rPr lang="zh-CN" altLang="en-US" dirty="0">
                <a:latin typeface="+mn-ea"/>
                <a:ea typeface="+mn-ea"/>
              </a:rPr>
              <a:t>交付）服务因子对比（分品牌对比</a:t>
            </a:r>
            <a:r>
              <a:rPr lang="en-US" altLang="zh-CN" dirty="0">
                <a:latin typeface="+mn-ea"/>
                <a:ea typeface="+mn-ea"/>
              </a:rPr>
              <a:t>1/2</a:t>
            </a:r>
            <a:r>
              <a:rPr lang="zh-CN" altLang="en-US" dirty="0">
                <a:latin typeface="+mn-ea"/>
                <a:ea typeface="+mn-ea"/>
              </a:rPr>
              <a:t>）</a:t>
            </a:r>
          </a:p>
        </p:txBody>
      </p:sp>
      <p:sp>
        <p:nvSpPr>
          <p:cNvPr id="5" name="灯片编号占位符 4"/>
          <p:cNvSpPr>
            <a:spLocks noGrp="1"/>
          </p:cNvSpPr>
          <p:nvPr>
            <p:ph type="sldNum" sz="quarter" idx="4"/>
          </p:nvPr>
        </p:nvSpPr>
        <p:spPr/>
        <p:txBody>
          <a:bodyPr/>
          <a:lstStyle/>
          <a:p>
            <a:fld id="{5BC33376-1D8B-E948-ACD6-AA21A3D30A8E}" type="slidenum">
              <a:rPr lang="zh-CN" altLang="en-US" smtClean="0"/>
              <a:t>26</a:t>
            </a:fld>
            <a:endParaRPr lang="zh-CN" altLang="en-US" dirty="0"/>
          </a:p>
        </p:txBody>
      </p:sp>
      <p:sp>
        <p:nvSpPr>
          <p:cNvPr id="11" name="文本框 10"/>
          <p:cNvSpPr txBox="1"/>
          <p:nvPr/>
        </p:nvSpPr>
        <p:spPr>
          <a:xfrm>
            <a:off x="263525" y="1495203"/>
            <a:ext cx="11664950" cy="432000"/>
          </a:xfrm>
          <a:prstGeom prst="rect">
            <a:avLst/>
          </a:prstGeom>
          <a:solidFill>
            <a:srgbClr val="4B8D56"/>
          </a:solidFill>
        </p:spPr>
        <p:txBody>
          <a:bodyPr wrap="square" anchor="ctr" anchorCtr="0">
            <a:noAutofit/>
          </a:bodyPr>
          <a:lstStyle/>
          <a:p>
            <a:pPr algn="ctr"/>
            <a:r>
              <a:rPr lang="zh-CN" altLang="en-US" b="1" dirty="0">
                <a:solidFill>
                  <a:schemeClr val="bg1"/>
                </a:solidFill>
              </a:rPr>
              <a:t>某品牌</a:t>
            </a:r>
            <a:r>
              <a:rPr lang="zh-CN" altLang="en-US" sz="1800" b="1" dirty="0">
                <a:solidFill>
                  <a:srgbClr val="FFFFFF"/>
                </a:solidFill>
                <a:effectLst/>
                <a:latin typeface="MicrosoftYaHei-Bold"/>
              </a:rPr>
              <a:t>因子得分</a:t>
            </a:r>
            <a:r>
              <a:rPr lang="en-US" altLang="zh-CN" sz="1800" b="1" dirty="0">
                <a:solidFill>
                  <a:srgbClr val="FFFFFF"/>
                </a:solidFill>
                <a:effectLst/>
                <a:latin typeface="MicrosoftYaHei-Bold"/>
              </a:rPr>
              <a:t>-</a:t>
            </a:r>
            <a:r>
              <a:rPr lang="zh-CN" altLang="en-US" b="1" dirty="0">
                <a:solidFill>
                  <a:srgbClr val="FFFFFF"/>
                </a:solidFill>
                <a:latin typeface="MicrosoftYaHei-Bold"/>
              </a:rPr>
              <a:t>分品牌</a:t>
            </a:r>
            <a:r>
              <a:rPr lang="zh-CN" altLang="en-US" sz="1800" b="1" dirty="0">
                <a:solidFill>
                  <a:srgbClr val="FFFFFF"/>
                </a:solidFill>
                <a:effectLst/>
                <a:latin typeface="MicrosoftYaHei-Bold"/>
              </a:rPr>
              <a:t>对比 </a:t>
            </a:r>
            <a:endParaRPr lang="zh-CN" altLang="en-US" b="1" dirty="0">
              <a:solidFill>
                <a:schemeClr val="bg1"/>
              </a:solidFill>
            </a:endParaRPr>
          </a:p>
        </p:txBody>
      </p:sp>
      <p:graphicFrame>
        <p:nvGraphicFramePr>
          <p:cNvPr id="6" name="表格 3"/>
          <p:cNvGraphicFramePr>
            <a:graphicFrameLocks noGrp="1"/>
          </p:cNvGraphicFramePr>
          <p:nvPr>
            <p:extLst>
              <p:ext uri="{D42A27DB-BD31-4B8C-83A1-F6EECF244321}">
                <p14:modId xmlns:p14="http://schemas.microsoft.com/office/powerpoint/2010/main" val="2528663568"/>
              </p:ext>
            </p:extLst>
          </p:nvPr>
        </p:nvGraphicFramePr>
        <p:xfrm>
          <a:off x="263525" y="1892107"/>
          <a:ext cx="11664948" cy="4370238"/>
        </p:xfrm>
        <a:graphic>
          <a:graphicData uri="http://schemas.openxmlformats.org/drawingml/2006/table">
            <a:tbl>
              <a:tblPr firstRow="1" bandRow="1">
                <a:tableStyleId>{5C22544A-7EE6-4342-B048-85BDC9FD1C3A}</a:tableStyleId>
              </a:tblPr>
              <a:tblGrid>
                <a:gridCol w="527283">
                  <a:extLst>
                    <a:ext uri="{9D8B030D-6E8A-4147-A177-3AD203B41FA5}">
                      <a16:colId xmlns:a16="http://schemas.microsoft.com/office/drawing/2014/main" val="20000"/>
                    </a:ext>
                  </a:extLst>
                </a:gridCol>
                <a:gridCol w="615340">
                  <a:extLst>
                    <a:ext uri="{9D8B030D-6E8A-4147-A177-3AD203B41FA5}">
                      <a16:colId xmlns:a16="http://schemas.microsoft.com/office/drawing/2014/main" val="20001"/>
                    </a:ext>
                  </a:extLst>
                </a:gridCol>
                <a:gridCol w="819990">
                  <a:extLst>
                    <a:ext uri="{9D8B030D-6E8A-4147-A177-3AD203B41FA5}">
                      <a16:colId xmlns:a16="http://schemas.microsoft.com/office/drawing/2014/main" val="20002"/>
                    </a:ext>
                  </a:extLst>
                </a:gridCol>
                <a:gridCol w="1594620">
                  <a:extLst>
                    <a:ext uri="{9D8B030D-6E8A-4147-A177-3AD203B41FA5}">
                      <a16:colId xmlns:a16="http://schemas.microsoft.com/office/drawing/2014/main" val="20003"/>
                    </a:ext>
                  </a:extLst>
                </a:gridCol>
                <a:gridCol w="1158245">
                  <a:extLst>
                    <a:ext uri="{9D8B030D-6E8A-4147-A177-3AD203B41FA5}">
                      <a16:colId xmlns:a16="http://schemas.microsoft.com/office/drawing/2014/main" val="20004"/>
                    </a:ext>
                  </a:extLst>
                </a:gridCol>
                <a:gridCol w="1158245">
                  <a:extLst>
                    <a:ext uri="{9D8B030D-6E8A-4147-A177-3AD203B41FA5}">
                      <a16:colId xmlns:a16="http://schemas.microsoft.com/office/drawing/2014/main" val="20005"/>
                    </a:ext>
                  </a:extLst>
                </a:gridCol>
                <a:gridCol w="1158245">
                  <a:extLst>
                    <a:ext uri="{9D8B030D-6E8A-4147-A177-3AD203B41FA5}">
                      <a16:colId xmlns:a16="http://schemas.microsoft.com/office/drawing/2014/main" val="20006"/>
                    </a:ext>
                  </a:extLst>
                </a:gridCol>
                <a:gridCol w="1158245">
                  <a:extLst>
                    <a:ext uri="{9D8B030D-6E8A-4147-A177-3AD203B41FA5}">
                      <a16:colId xmlns:a16="http://schemas.microsoft.com/office/drawing/2014/main" val="20007"/>
                    </a:ext>
                  </a:extLst>
                </a:gridCol>
                <a:gridCol w="1158245">
                  <a:extLst>
                    <a:ext uri="{9D8B030D-6E8A-4147-A177-3AD203B41FA5}">
                      <a16:colId xmlns:a16="http://schemas.microsoft.com/office/drawing/2014/main" val="20008"/>
                    </a:ext>
                  </a:extLst>
                </a:gridCol>
                <a:gridCol w="1158245">
                  <a:extLst>
                    <a:ext uri="{9D8B030D-6E8A-4147-A177-3AD203B41FA5}">
                      <a16:colId xmlns:a16="http://schemas.microsoft.com/office/drawing/2014/main" val="20009"/>
                    </a:ext>
                  </a:extLst>
                </a:gridCol>
                <a:gridCol w="1158245">
                  <a:extLst>
                    <a:ext uri="{9D8B030D-6E8A-4147-A177-3AD203B41FA5}">
                      <a16:colId xmlns:a16="http://schemas.microsoft.com/office/drawing/2014/main" val="20010"/>
                    </a:ext>
                  </a:extLst>
                </a:gridCol>
              </a:tblGrid>
              <a:tr h="428400">
                <a:tc>
                  <a:txBody>
                    <a:bodyPr/>
                    <a:lstStyle/>
                    <a:p>
                      <a:pPr algn="ctr"/>
                      <a:r>
                        <a:rPr lang="zh-CN" altLang="en-US" sz="1200" dirty="0">
                          <a:solidFill>
                            <a:schemeClr val="tx1">
                              <a:lumMod val="75000"/>
                              <a:lumOff val="25000"/>
                            </a:schemeClr>
                          </a:solidFill>
                          <a:latin typeface="微软雅黑" panose="020B0503020204020204" pitchFamily="34" charset="-122"/>
                          <a:ea typeface="Alibaba PuHuiTi 2.0 55 Regular"/>
                        </a:rPr>
                        <a:t>排名</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dirty="0">
                          <a:solidFill>
                            <a:schemeClr val="tx1">
                              <a:lumMod val="75000"/>
                              <a:lumOff val="25000"/>
                            </a:schemeClr>
                          </a:solidFill>
                          <a:latin typeface="微软雅黑" panose="020B0503020204020204" pitchFamily="34" charset="-122"/>
                          <a:ea typeface="Alibaba PuHuiTi 2.0 55 Regular"/>
                        </a:rPr>
                        <a:t>权重</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dirty="0">
                          <a:solidFill>
                            <a:schemeClr val="tx1">
                              <a:lumMod val="75000"/>
                              <a:lumOff val="25000"/>
                            </a:schemeClr>
                          </a:solidFill>
                          <a:latin typeface="微软雅黑" panose="020B0503020204020204" pitchFamily="34" charset="-122"/>
                          <a:ea typeface="Alibaba PuHuiTi 2.0 55 Regular"/>
                        </a:rPr>
                        <a:t>SSI</a:t>
                      </a:r>
                      <a:r>
                        <a:rPr lang="zh-CN" altLang="en-US" sz="1200" dirty="0">
                          <a:solidFill>
                            <a:schemeClr val="tx1">
                              <a:lumMod val="75000"/>
                              <a:lumOff val="25000"/>
                            </a:schemeClr>
                          </a:solidFill>
                          <a:latin typeface="微软雅黑" panose="020B0503020204020204" pitchFamily="34" charset="-122"/>
                          <a:ea typeface="Alibaba PuHuiTi 2.0 55 Regular"/>
                        </a:rPr>
                        <a:t>因子</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dirty="0">
                          <a:solidFill>
                            <a:schemeClr val="tx1">
                              <a:lumMod val="75000"/>
                              <a:lumOff val="25000"/>
                            </a:schemeClr>
                          </a:solidFill>
                          <a:latin typeface="微软雅黑" panose="020B0503020204020204" pitchFamily="34" charset="-122"/>
                          <a:ea typeface="Alibaba PuHuiTi 2.0 55 Regular"/>
                        </a:rPr>
                        <a:t>某品牌</a:t>
                      </a:r>
                      <a:endParaRPr lang="en-US" altLang="zh-CN" sz="1200" dirty="0">
                        <a:solidFill>
                          <a:schemeClr val="tx1">
                            <a:lumMod val="75000"/>
                            <a:lumOff val="25000"/>
                          </a:schemeClr>
                        </a:solidFill>
                        <a:latin typeface="微软雅黑" panose="020B0503020204020204" pitchFamily="34" charset="-122"/>
                        <a:ea typeface="Alibaba PuHuiTi 2.0 55 Regular"/>
                      </a:endParaRPr>
                    </a:p>
                    <a:p>
                      <a:pPr algn="ctr"/>
                      <a:r>
                        <a:rPr lang="zh-CN" altLang="en-US" sz="1000" dirty="0">
                          <a:solidFill>
                            <a:schemeClr val="tx1">
                              <a:lumMod val="75000"/>
                              <a:lumOff val="25000"/>
                            </a:schemeClr>
                          </a:solidFill>
                          <a:latin typeface="微软雅黑" panose="020B0503020204020204" pitchFamily="34" charset="-122"/>
                          <a:ea typeface="Alibaba PuHuiTi 2.0 55 Regular"/>
                        </a:rPr>
                        <a:t>（</a:t>
                      </a:r>
                      <a:r>
                        <a:rPr lang="en-US" altLang="zh-CN" sz="1000" dirty="0">
                          <a:solidFill>
                            <a:schemeClr val="tx1">
                              <a:lumMod val="75000"/>
                              <a:lumOff val="25000"/>
                            </a:schemeClr>
                          </a:solidFill>
                          <a:latin typeface="微软雅黑" panose="020B0503020204020204" pitchFamily="34" charset="-122"/>
                          <a:ea typeface="Alibaba PuHuiTi 2.0 55 Regular"/>
                        </a:rPr>
                        <a:t>N=271</a:t>
                      </a:r>
                      <a:r>
                        <a:rPr lang="zh-CN" altLang="en-US" sz="1000" dirty="0">
                          <a:solidFill>
                            <a:schemeClr val="tx1">
                              <a:lumMod val="75000"/>
                              <a:lumOff val="25000"/>
                            </a:schemeClr>
                          </a:solidFill>
                          <a:latin typeface="微软雅黑" panose="020B0503020204020204" pitchFamily="34" charset="-122"/>
                          <a:ea typeface="Alibaba PuHuiTi 2.0 55 Regular"/>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1000" b="1" kern="1200" dirty="0">
                          <a:solidFill>
                            <a:schemeClr val="tx1">
                              <a:lumMod val="75000"/>
                              <a:lumOff val="25000"/>
                            </a:schemeClr>
                          </a:solidFill>
                          <a:latin typeface="微软雅黑" panose="020B0503020204020204" pitchFamily="34" charset="-122"/>
                          <a:ea typeface="Alibaba PuHuiTi 2.0 55 Regular"/>
                          <a:cs typeface="+mn-cs"/>
                        </a:rPr>
                        <a:t>蔚来</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1000" b="1" kern="1200" dirty="0">
                          <a:solidFill>
                            <a:schemeClr val="tx1">
                              <a:lumMod val="75000"/>
                              <a:lumOff val="25000"/>
                            </a:schemeClr>
                          </a:solidFill>
                          <a:latin typeface="微软雅黑" panose="020B0503020204020204" pitchFamily="34" charset="-122"/>
                          <a:ea typeface="Alibaba PuHuiTi 2.0 55 Regular"/>
                          <a:cs typeface="+mn-cs"/>
                        </a:rPr>
                        <a:t>极氪</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1000" b="1" kern="1200" dirty="0">
                          <a:solidFill>
                            <a:schemeClr val="tx1">
                              <a:lumMod val="75000"/>
                              <a:lumOff val="25000"/>
                            </a:schemeClr>
                          </a:solidFill>
                          <a:latin typeface="微软雅黑" panose="020B0503020204020204" pitchFamily="34" charset="-122"/>
                          <a:ea typeface="Alibaba PuHuiTi 2.0 55 Regular"/>
                          <a:cs typeface="+mn-cs"/>
                        </a:rPr>
                        <a:t>问界</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1000" b="1" kern="1200" dirty="0">
                          <a:solidFill>
                            <a:schemeClr val="tx1">
                              <a:lumMod val="75000"/>
                              <a:lumOff val="25000"/>
                            </a:schemeClr>
                          </a:solidFill>
                          <a:latin typeface="微软雅黑" panose="020B0503020204020204" pitchFamily="34" charset="-122"/>
                          <a:ea typeface="Alibaba PuHuiTi 2.0 55 Regular"/>
                          <a:cs typeface="+mn-cs"/>
                        </a:rPr>
                        <a:t>理想</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1000" b="1" kern="1200" dirty="0">
                          <a:solidFill>
                            <a:schemeClr val="tx1">
                              <a:lumMod val="75000"/>
                              <a:lumOff val="25000"/>
                            </a:schemeClr>
                          </a:solidFill>
                          <a:latin typeface="微软雅黑" panose="020B0503020204020204" pitchFamily="34" charset="-122"/>
                          <a:ea typeface="Alibaba PuHuiTi 2.0 55 Regular"/>
                          <a:cs typeface="+mn-cs"/>
                        </a:rPr>
                        <a:t>小鹏</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1000" b="1" kern="1200" dirty="0">
                          <a:solidFill>
                            <a:schemeClr val="tx1">
                              <a:lumMod val="75000"/>
                              <a:lumOff val="25000"/>
                            </a:schemeClr>
                          </a:solidFill>
                          <a:latin typeface="微软雅黑" panose="020B0503020204020204" pitchFamily="34" charset="-122"/>
                          <a:ea typeface="Alibaba PuHuiTi 2.0 55 Regular"/>
                          <a:cs typeface="+mn-cs"/>
                        </a:rPr>
                        <a:t>特斯拉</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1000" b="1" kern="1200" dirty="0">
                          <a:solidFill>
                            <a:schemeClr val="tx1">
                              <a:lumMod val="75000"/>
                              <a:lumOff val="25000"/>
                            </a:schemeClr>
                          </a:solidFill>
                          <a:latin typeface="微软雅黑" panose="020B0503020204020204" pitchFamily="34" charset="-122"/>
                          <a:ea typeface="Alibaba PuHuiTi 2.0 55 Regular"/>
                          <a:cs typeface="+mn-cs"/>
                        </a:rPr>
                        <a:t>智己</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37982">
                <a:tc>
                  <a:txBody>
                    <a:bodyPr/>
                    <a:lstStyle/>
                    <a:p>
                      <a:pPr algn="ctr" fontAlgn="ctr"/>
                      <a:r>
                        <a:rPr lang="en-US" altLang="zh-CN" sz="1100" b="0" i="0" u="none" strike="noStrike" dirty="0">
                          <a:solidFill>
                            <a:srgbClr val="000000"/>
                          </a:solidFill>
                          <a:effectLst/>
                          <a:latin typeface="微软雅黑" panose="020B0503020204020204" pitchFamily="34" charset="-122"/>
                          <a:ea typeface="Alibaba PuHuiTi 2.0 55 Regular"/>
                        </a:rPr>
                        <a:t>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Alibaba PuHuiTi 2.0 55 Regular"/>
                        </a:rPr>
                        <a:t>5.1%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微软雅黑" panose="020B0503020204020204" pitchFamily="34" charset="-122"/>
                          <a:ea typeface="Alibaba PuHuiTi 2.0 55 Regular"/>
                        </a:rPr>
                        <a:t> 入店前沟通</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37982">
                <a:tc>
                  <a:txBody>
                    <a:bodyPr/>
                    <a:lstStyle/>
                    <a:p>
                      <a:pPr algn="ctr" fontAlgn="ctr"/>
                      <a:r>
                        <a:rPr lang="en-US" altLang="zh-CN" sz="1100" b="0" i="0" u="none" strike="noStrike" dirty="0">
                          <a:solidFill>
                            <a:srgbClr val="000000"/>
                          </a:solidFill>
                          <a:effectLst/>
                          <a:latin typeface="微软雅黑" panose="020B0503020204020204" pitchFamily="34" charset="-122"/>
                          <a:ea typeface="Alibaba PuHuiTi 2.0 55 Regular"/>
                        </a:rPr>
                        <a:t>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Alibaba PuHuiTi 2.0 55 Regular"/>
                        </a:rPr>
                        <a:t>1.7%</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微软雅黑" panose="020B0503020204020204" pitchFamily="34" charset="-122"/>
                          <a:ea typeface="Alibaba PuHuiTi 2.0 55 Regular"/>
                        </a:rPr>
                        <a:t> 到店接待</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37982">
                <a:tc>
                  <a:txBody>
                    <a:bodyPr/>
                    <a:lstStyle/>
                    <a:p>
                      <a:pPr algn="ctr" fontAlgn="ctr"/>
                      <a:r>
                        <a:rPr lang="en-US" altLang="zh-CN" sz="1100" b="0" i="0" u="none" strike="noStrike" dirty="0">
                          <a:solidFill>
                            <a:srgbClr val="000000"/>
                          </a:solidFill>
                          <a:effectLst/>
                          <a:latin typeface="微软雅黑" panose="020B0503020204020204" pitchFamily="34" charset="-122"/>
                          <a:ea typeface="Alibaba PuHuiTi 2.0 55 Regular"/>
                        </a:rPr>
                        <a:t>3</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Alibaba PuHuiTi 2.0 55 Regular"/>
                        </a:rPr>
                        <a:t>21.2%</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微软雅黑" panose="020B0503020204020204" pitchFamily="34" charset="-122"/>
                          <a:ea typeface="Alibaba PuHuiTi 2.0 55 Regular"/>
                        </a:rPr>
                        <a:t> 店内看车</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37982">
                <a:tc>
                  <a:txBody>
                    <a:bodyPr/>
                    <a:lstStyle/>
                    <a:p>
                      <a:pPr algn="ctr" fontAlgn="ctr"/>
                      <a:r>
                        <a:rPr lang="en-US" altLang="zh-CN" sz="1100" b="0" i="0" u="none" strike="noStrike" dirty="0">
                          <a:solidFill>
                            <a:srgbClr val="000000"/>
                          </a:solidFill>
                          <a:effectLst/>
                          <a:latin typeface="微软雅黑" panose="020B0503020204020204" pitchFamily="34" charset="-122"/>
                          <a:ea typeface="Alibaba PuHuiTi 2.0 55 Regular"/>
                        </a:rPr>
                        <a:t>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Alibaba PuHuiTi 2.0 55 Regular"/>
                        </a:rPr>
                        <a:t>13.3%</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微软雅黑" panose="020B0503020204020204" pitchFamily="34" charset="-122"/>
                          <a:ea typeface="Alibaba PuHuiTi 2.0 55 Regular"/>
                        </a:rPr>
                        <a:t> 试乘试驾</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37982">
                <a:tc>
                  <a:txBody>
                    <a:bodyPr/>
                    <a:lstStyle/>
                    <a:p>
                      <a:pPr algn="ctr" fontAlgn="ctr"/>
                      <a:r>
                        <a:rPr lang="en-US" altLang="zh-CN" sz="1100" b="0" i="0" u="none" strike="noStrike" dirty="0">
                          <a:solidFill>
                            <a:srgbClr val="000000"/>
                          </a:solidFill>
                          <a:effectLst/>
                          <a:latin typeface="微软雅黑" panose="020B0503020204020204" pitchFamily="34" charset="-122"/>
                          <a:ea typeface="Alibaba PuHuiTi 2.0 55 Regular"/>
                        </a:rPr>
                        <a:t>3</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Alibaba PuHuiTi 2.0 55 Regular"/>
                        </a:rPr>
                        <a:t>11.6%</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微软雅黑" panose="020B0503020204020204" pitchFamily="34" charset="-122"/>
                          <a:ea typeface="Alibaba PuHuiTi 2.0 55 Regular"/>
                        </a:rPr>
                        <a:t> 洽谈下定</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37982">
                <a:tc>
                  <a:txBody>
                    <a:bodyPr/>
                    <a:lstStyle/>
                    <a:p>
                      <a:pPr algn="ctr" fontAlgn="ctr"/>
                      <a:r>
                        <a:rPr lang="en-US" altLang="zh-CN" sz="1100" b="0" i="0" u="none" strike="noStrike" dirty="0">
                          <a:solidFill>
                            <a:srgbClr val="000000"/>
                          </a:solidFill>
                          <a:effectLst/>
                          <a:latin typeface="微软雅黑" panose="020B0503020204020204" pitchFamily="34" charset="-122"/>
                          <a:ea typeface="Alibaba PuHuiTi 2.0 55 Regular"/>
                        </a:rPr>
                        <a:t>6</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Alibaba PuHuiTi 2.0 55 Regular"/>
                        </a:rPr>
                        <a:t>4.7%</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微软雅黑" panose="020B0503020204020204" pitchFamily="34" charset="-122"/>
                          <a:ea typeface="Alibaba PuHuiTi 2.0 55 Regular"/>
                        </a:rPr>
                        <a:t> 送别与回访</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37982">
                <a:tc>
                  <a:txBody>
                    <a:bodyPr/>
                    <a:lstStyle/>
                    <a:p>
                      <a:pPr algn="ctr" fontAlgn="ctr"/>
                      <a:r>
                        <a:rPr lang="en-US" altLang="zh-CN" sz="1100" b="0" i="0" u="none" strike="noStrike" dirty="0">
                          <a:solidFill>
                            <a:srgbClr val="000000"/>
                          </a:solidFill>
                          <a:effectLst/>
                          <a:latin typeface="微软雅黑" panose="020B0503020204020204" pitchFamily="34" charset="-122"/>
                          <a:ea typeface="Alibaba PuHuiTi 2.0 55 Regular"/>
                        </a:rPr>
                        <a:t>6</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Alibaba PuHuiTi 2.0 55 Regular"/>
                        </a:rPr>
                        <a:t>8.6%</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微软雅黑" panose="020B0503020204020204" pitchFamily="34" charset="-122"/>
                          <a:ea typeface="Alibaba PuHuiTi 2.0 55 Regular"/>
                        </a:rPr>
                        <a:t> 交付等待</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37982">
                <a:tc>
                  <a:txBody>
                    <a:bodyPr/>
                    <a:lstStyle/>
                    <a:p>
                      <a:pPr algn="ctr" fontAlgn="ctr"/>
                      <a:r>
                        <a:rPr lang="en-US" altLang="zh-CN" sz="1100" b="0" i="0" u="none" strike="noStrike" dirty="0">
                          <a:solidFill>
                            <a:srgbClr val="000000"/>
                          </a:solidFill>
                          <a:effectLst/>
                          <a:latin typeface="微软雅黑" panose="020B0503020204020204" pitchFamily="34" charset="-122"/>
                          <a:ea typeface="Alibaba PuHuiTi 2.0 55 Regular"/>
                        </a:rPr>
                        <a:t>6</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Alibaba PuHuiTi 2.0 55 Regular"/>
                        </a:rPr>
                        <a:t>26.4%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微软雅黑" panose="020B0503020204020204" pitchFamily="34" charset="-122"/>
                          <a:ea typeface="Alibaba PuHuiTi 2.0 55 Regular"/>
                        </a:rPr>
                        <a:t> 交车环节</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37982">
                <a:tc>
                  <a:txBody>
                    <a:bodyPr/>
                    <a:lstStyle/>
                    <a:p>
                      <a:pPr algn="ctr" fontAlgn="ctr"/>
                      <a:r>
                        <a:rPr lang="en-US" altLang="zh-CN" sz="1100" b="0" i="0" u="none" strike="noStrike" dirty="0">
                          <a:solidFill>
                            <a:srgbClr val="000000"/>
                          </a:solidFill>
                          <a:effectLst/>
                          <a:latin typeface="微软雅黑" panose="020B0503020204020204" pitchFamily="34" charset="-122"/>
                          <a:ea typeface="Alibaba PuHuiTi 2.0 55 Regular"/>
                        </a:rPr>
                        <a:t>6</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Alibaba PuHuiTi 2.0 55 Regular"/>
                        </a:rPr>
                        <a:t>7.5%</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CN" altLang="en-US" sz="1100" b="0" i="0" u="none" strike="noStrike" dirty="0">
                          <a:solidFill>
                            <a:srgbClr val="000000"/>
                          </a:solidFill>
                          <a:effectLst/>
                          <a:latin typeface="微软雅黑" panose="020B0503020204020204" pitchFamily="34" charset="-122"/>
                          <a:ea typeface="Alibaba PuHuiTi 2.0 55 Regular"/>
                        </a:rPr>
                        <a:t> 用户维系</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200" dirty="0">
                        <a:solidFill>
                          <a:schemeClr val="tx1">
                            <a:lumMod val="85000"/>
                            <a:lumOff val="15000"/>
                          </a:schemeClr>
                        </a:solidFill>
                        <a:latin typeface="微软雅黑" panose="020B0503020204020204" pitchFamily="34" charset="-122"/>
                        <a:ea typeface="Alibaba PuHuiTi 2.0 55 Regular"/>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graphicFrame>
        <p:nvGraphicFramePr>
          <p:cNvPr id="9" name="图表 8"/>
          <p:cNvGraphicFramePr/>
          <p:nvPr>
            <p:extLst>
              <p:ext uri="{D42A27DB-BD31-4B8C-83A1-F6EECF244321}">
                <p14:modId xmlns:p14="http://schemas.microsoft.com/office/powerpoint/2010/main" val="2638205314"/>
              </p:ext>
            </p:extLst>
          </p:nvPr>
        </p:nvGraphicFramePr>
        <p:xfrm>
          <a:off x="2172068" y="2222513"/>
          <a:ext cx="1865945" cy="4156768"/>
        </p:xfrm>
        <a:graphic>
          <a:graphicData uri="http://schemas.openxmlformats.org/drawingml/2006/chart">
            <c:chart xmlns:c="http://schemas.openxmlformats.org/drawingml/2006/chart" xmlns:r="http://schemas.openxmlformats.org/officeDocument/2006/relationships" r:id="rId2"/>
          </a:graphicData>
        </a:graphic>
      </p:graphicFrame>
      <p:grpSp>
        <p:nvGrpSpPr>
          <p:cNvPr id="29" name="组合 28"/>
          <p:cNvGrpSpPr/>
          <p:nvPr/>
        </p:nvGrpSpPr>
        <p:grpSpPr>
          <a:xfrm>
            <a:off x="8744547" y="6449973"/>
            <a:ext cx="2962618" cy="230832"/>
            <a:chOff x="9279558" y="5906533"/>
            <a:chExt cx="2519589" cy="230832"/>
          </a:xfrm>
        </p:grpSpPr>
        <p:sp>
          <p:nvSpPr>
            <p:cNvPr id="30" name="矩形 29"/>
            <p:cNvSpPr/>
            <p:nvPr/>
          </p:nvSpPr>
          <p:spPr>
            <a:xfrm>
              <a:off x="9590349" y="5949936"/>
              <a:ext cx="225312" cy="144026"/>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31" name="矩形 30"/>
            <p:cNvSpPr/>
            <p:nvPr/>
          </p:nvSpPr>
          <p:spPr>
            <a:xfrm>
              <a:off x="10687628" y="5949659"/>
              <a:ext cx="226430" cy="144581"/>
            </a:xfrm>
            <a:prstGeom prst="rect">
              <a:avLst/>
            </a:prstGeom>
            <a:solidFill>
              <a:srgbClr val="4B8D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lumMod val="75000"/>
                    <a:lumOff val="25000"/>
                  </a:schemeClr>
                </a:solidFill>
              </a:endParaRPr>
            </a:p>
          </p:txBody>
        </p:sp>
        <p:sp>
          <p:nvSpPr>
            <p:cNvPr id="32" name="文本框 31"/>
            <p:cNvSpPr txBox="1"/>
            <p:nvPr/>
          </p:nvSpPr>
          <p:spPr>
            <a:xfrm>
              <a:off x="9806184" y="5906533"/>
              <a:ext cx="895683" cy="230832"/>
            </a:xfrm>
            <a:prstGeom prst="rect">
              <a:avLst/>
            </a:prstGeom>
            <a:noFill/>
          </p:spPr>
          <p:txBody>
            <a:bodyPr wrap="square" rtlCol="0">
              <a:spAutoFit/>
            </a:bodyPr>
            <a:lstStyle/>
            <a:p>
              <a:r>
                <a:rPr lang="zh-CN" altLang="en-US" sz="900" dirty="0">
                  <a:solidFill>
                    <a:schemeClr val="tx1">
                      <a:lumMod val="75000"/>
                      <a:lumOff val="25000"/>
                    </a:schemeClr>
                  </a:solidFill>
                  <a:latin typeface="微软雅黑" panose="020B0503020204020204" pitchFamily="34" charset="-122"/>
                  <a:ea typeface="Alibaba PuHuiTi 2.0 55 Regular"/>
                </a:rPr>
                <a:t>某品牌落后竞品</a:t>
              </a:r>
            </a:p>
          </p:txBody>
        </p:sp>
        <p:sp>
          <p:nvSpPr>
            <p:cNvPr id="33" name="文本框 32"/>
            <p:cNvSpPr txBox="1"/>
            <p:nvPr/>
          </p:nvSpPr>
          <p:spPr>
            <a:xfrm>
              <a:off x="10903464" y="5906533"/>
              <a:ext cx="895683" cy="230832"/>
            </a:xfrm>
            <a:prstGeom prst="rect">
              <a:avLst/>
            </a:prstGeom>
            <a:noFill/>
          </p:spPr>
          <p:txBody>
            <a:bodyPr wrap="square" rtlCol="0">
              <a:spAutoFit/>
            </a:bodyPr>
            <a:lstStyle/>
            <a:p>
              <a:r>
                <a:rPr lang="zh-CN" altLang="en-US" sz="900" dirty="0">
                  <a:solidFill>
                    <a:schemeClr val="tx1">
                      <a:lumMod val="75000"/>
                      <a:lumOff val="25000"/>
                    </a:schemeClr>
                  </a:solidFill>
                  <a:latin typeface="微软雅黑" panose="020B0503020204020204" pitchFamily="34" charset="-122"/>
                  <a:ea typeface="Alibaba PuHuiTi 2.0 55 Regular"/>
                </a:rPr>
                <a:t>某品牌领先竞品</a:t>
              </a:r>
            </a:p>
          </p:txBody>
        </p:sp>
        <p:sp>
          <p:nvSpPr>
            <p:cNvPr id="34" name="文本框 33"/>
            <p:cNvSpPr txBox="1"/>
            <p:nvPr/>
          </p:nvSpPr>
          <p:spPr>
            <a:xfrm>
              <a:off x="9279558" y="5906533"/>
              <a:ext cx="353365" cy="230832"/>
            </a:xfrm>
            <a:prstGeom prst="rect">
              <a:avLst/>
            </a:prstGeom>
            <a:noFill/>
          </p:spPr>
          <p:txBody>
            <a:bodyPr wrap="none" rtlCol="0">
              <a:spAutoFit/>
            </a:bodyPr>
            <a:lstStyle/>
            <a:p>
              <a:r>
                <a:rPr lang="zh-CN" altLang="en-US" sz="900" dirty="0">
                  <a:solidFill>
                    <a:schemeClr val="tx1">
                      <a:lumMod val="75000"/>
                      <a:lumOff val="25000"/>
                    </a:schemeClr>
                  </a:solidFill>
                  <a:latin typeface="微软雅黑" panose="020B0503020204020204" pitchFamily="34" charset="-122"/>
                  <a:ea typeface="Alibaba PuHuiTi 2.0 55 Regular"/>
                </a:rPr>
                <a:t>注：</a:t>
              </a:r>
            </a:p>
          </p:txBody>
        </p:sp>
      </p:grpSp>
      <p:graphicFrame>
        <p:nvGraphicFramePr>
          <p:cNvPr id="10" name="图表 9">
            <a:extLst>
              <a:ext uri="{FF2B5EF4-FFF2-40B4-BE49-F238E27FC236}">
                <a16:creationId xmlns:a16="http://schemas.microsoft.com/office/drawing/2014/main" id="{39382FD3-17C7-1624-1F72-03163573FD62}"/>
              </a:ext>
            </a:extLst>
          </p:cNvPr>
          <p:cNvGraphicFramePr/>
          <p:nvPr>
            <p:extLst>
              <p:ext uri="{D42A27DB-BD31-4B8C-83A1-F6EECF244321}">
                <p14:modId xmlns:p14="http://schemas.microsoft.com/office/powerpoint/2010/main" val="4070236441"/>
              </p:ext>
            </p:extLst>
          </p:nvPr>
        </p:nvGraphicFramePr>
        <p:xfrm>
          <a:off x="3824633" y="2201854"/>
          <a:ext cx="1169956" cy="420995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图表 6">
            <a:extLst>
              <a:ext uri="{FF2B5EF4-FFF2-40B4-BE49-F238E27FC236}">
                <a16:creationId xmlns:a16="http://schemas.microsoft.com/office/drawing/2014/main" id="{BA6A0E2D-1B33-E6CF-6FBC-38ECEEF14EB0}"/>
              </a:ext>
            </a:extLst>
          </p:cNvPr>
          <p:cNvGraphicFramePr/>
          <p:nvPr>
            <p:extLst>
              <p:ext uri="{D42A27DB-BD31-4B8C-83A1-F6EECF244321}">
                <p14:modId xmlns:p14="http://schemas.microsoft.com/office/powerpoint/2010/main" val="2391990806"/>
              </p:ext>
            </p:extLst>
          </p:nvPr>
        </p:nvGraphicFramePr>
        <p:xfrm>
          <a:off x="4973580" y="2201854"/>
          <a:ext cx="1169956" cy="420995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图表 7">
            <a:extLst>
              <a:ext uri="{FF2B5EF4-FFF2-40B4-BE49-F238E27FC236}">
                <a16:creationId xmlns:a16="http://schemas.microsoft.com/office/drawing/2014/main" id="{B97EAA95-8FB2-5667-72D9-07A6611B8101}"/>
              </a:ext>
            </a:extLst>
          </p:cNvPr>
          <p:cNvGraphicFramePr/>
          <p:nvPr>
            <p:extLst>
              <p:ext uri="{D42A27DB-BD31-4B8C-83A1-F6EECF244321}">
                <p14:modId xmlns:p14="http://schemas.microsoft.com/office/powerpoint/2010/main" val="2201784184"/>
              </p:ext>
            </p:extLst>
          </p:nvPr>
        </p:nvGraphicFramePr>
        <p:xfrm>
          <a:off x="6134402" y="2201854"/>
          <a:ext cx="1169956" cy="420995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图表 12">
            <a:extLst>
              <a:ext uri="{FF2B5EF4-FFF2-40B4-BE49-F238E27FC236}">
                <a16:creationId xmlns:a16="http://schemas.microsoft.com/office/drawing/2014/main" id="{4B7159E1-AC61-E335-58D9-F1C4EBB4181E}"/>
              </a:ext>
            </a:extLst>
          </p:cNvPr>
          <p:cNvGraphicFramePr/>
          <p:nvPr>
            <p:extLst>
              <p:ext uri="{D42A27DB-BD31-4B8C-83A1-F6EECF244321}">
                <p14:modId xmlns:p14="http://schemas.microsoft.com/office/powerpoint/2010/main" val="3775530452"/>
              </p:ext>
            </p:extLst>
          </p:nvPr>
        </p:nvGraphicFramePr>
        <p:xfrm>
          <a:off x="8444171" y="2201854"/>
          <a:ext cx="1169956" cy="4209951"/>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4" name="图表 13">
            <a:extLst>
              <a:ext uri="{FF2B5EF4-FFF2-40B4-BE49-F238E27FC236}">
                <a16:creationId xmlns:a16="http://schemas.microsoft.com/office/drawing/2014/main" id="{EDEB5C95-6783-AB3A-CFAF-C59EE21B766D}"/>
              </a:ext>
            </a:extLst>
          </p:cNvPr>
          <p:cNvGraphicFramePr/>
          <p:nvPr>
            <p:extLst>
              <p:ext uri="{D42A27DB-BD31-4B8C-83A1-F6EECF244321}">
                <p14:modId xmlns:p14="http://schemas.microsoft.com/office/powerpoint/2010/main" val="2987951515"/>
              </p:ext>
            </p:extLst>
          </p:nvPr>
        </p:nvGraphicFramePr>
        <p:xfrm>
          <a:off x="9854368" y="2201854"/>
          <a:ext cx="1169956" cy="4209951"/>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5" name="图表 14">
            <a:extLst>
              <a:ext uri="{FF2B5EF4-FFF2-40B4-BE49-F238E27FC236}">
                <a16:creationId xmlns:a16="http://schemas.microsoft.com/office/drawing/2014/main" id="{CF949264-42FE-7931-0822-2E74249C9D94}"/>
              </a:ext>
            </a:extLst>
          </p:cNvPr>
          <p:cNvGraphicFramePr/>
          <p:nvPr>
            <p:extLst>
              <p:ext uri="{D42A27DB-BD31-4B8C-83A1-F6EECF244321}">
                <p14:modId xmlns:p14="http://schemas.microsoft.com/office/powerpoint/2010/main" val="2487370859"/>
              </p:ext>
            </p:extLst>
          </p:nvPr>
        </p:nvGraphicFramePr>
        <p:xfrm>
          <a:off x="10777687" y="2201854"/>
          <a:ext cx="1169956" cy="4209951"/>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6" name="图表 15">
            <a:extLst>
              <a:ext uri="{FF2B5EF4-FFF2-40B4-BE49-F238E27FC236}">
                <a16:creationId xmlns:a16="http://schemas.microsoft.com/office/drawing/2014/main" id="{EE7BF9A7-6279-47D1-6113-CB45B8B81080}"/>
              </a:ext>
            </a:extLst>
          </p:cNvPr>
          <p:cNvGraphicFramePr/>
          <p:nvPr>
            <p:extLst>
              <p:ext uri="{D42A27DB-BD31-4B8C-83A1-F6EECF244321}">
                <p14:modId xmlns:p14="http://schemas.microsoft.com/office/powerpoint/2010/main" val="3999126824"/>
              </p:ext>
            </p:extLst>
          </p:nvPr>
        </p:nvGraphicFramePr>
        <p:xfrm>
          <a:off x="7295224" y="2201854"/>
          <a:ext cx="1169956" cy="4209951"/>
        </p:xfrm>
        <a:graphic>
          <a:graphicData uri="http://schemas.openxmlformats.org/drawingml/2006/chart">
            <c:chart xmlns:c="http://schemas.openxmlformats.org/drawingml/2006/chart" xmlns:r="http://schemas.openxmlformats.org/officeDocument/2006/relationships" r:id="rId9"/>
          </a:graphicData>
        </a:graphic>
      </p:graphicFrame>
      <p:sp>
        <p:nvSpPr>
          <p:cNvPr id="4" name="文本占位符 7">
            <a:extLst>
              <a:ext uri="{FF2B5EF4-FFF2-40B4-BE49-F238E27FC236}">
                <a16:creationId xmlns:a16="http://schemas.microsoft.com/office/drawing/2014/main" id="{2DCCDD62-C45C-7687-A9CD-55FB1CFD69DA}"/>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ea typeface="+mn-ea"/>
              </a:rPr>
              <a:t>某品牌在到店接待、试乘试驾得分第一，领先其他品牌；</a:t>
            </a:r>
            <a:endParaRPr lang="en-US" altLang="zh-CN" b="1" dirty="0">
              <a:ea typeface="+mn-ea"/>
            </a:endParaRPr>
          </a:p>
          <a:p>
            <a:pPr>
              <a:spcBef>
                <a:spcPts val="0"/>
              </a:spcBef>
            </a:pPr>
            <a:r>
              <a:rPr lang="zh-CN" altLang="en-US" b="1" dirty="0">
                <a:ea typeface="+mn-ea"/>
              </a:rPr>
              <a:t>送别与回访、交付等待、交车环节、用户维系均排名第六，相对靠后。</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5145AAD5-9035-4E8F-A11F-6415CEA66FD4}"/>
              </a:ext>
            </a:extLst>
          </p:cNvPr>
          <p:cNvSpPr/>
          <p:nvPr/>
        </p:nvSpPr>
        <p:spPr>
          <a:xfrm>
            <a:off x="10657980" y="1927006"/>
            <a:ext cx="1100883" cy="3813804"/>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3E670D66-F74B-DCE1-3F1D-044C97DEE3C4}"/>
              </a:ext>
            </a:extLst>
          </p:cNvPr>
          <p:cNvGrpSpPr/>
          <p:nvPr/>
        </p:nvGrpSpPr>
        <p:grpSpPr>
          <a:xfrm>
            <a:off x="263526" y="1490397"/>
            <a:ext cx="11701460" cy="4321244"/>
            <a:chOff x="226899" y="1336441"/>
            <a:chExt cx="11738202" cy="4321244"/>
          </a:xfrm>
        </p:grpSpPr>
        <p:sp>
          <p:nvSpPr>
            <p:cNvPr id="11" name="文本框 10"/>
            <p:cNvSpPr txBox="1"/>
            <p:nvPr>
              <p:custDataLst>
                <p:tags r:id="rId3"/>
              </p:custDataLst>
            </p:nvPr>
          </p:nvSpPr>
          <p:spPr>
            <a:xfrm>
              <a:off x="226899" y="1336441"/>
              <a:ext cx="11701577" cy="4320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BFBFB"/>
                  </a:solidFill>
                  <a:effectLst/>
                  <a:uLnTx/>
                  <a:uFillTx/>
                  <a:latin typeface="Alibaba PuHuiTi 2.0 55 Regular"/>
                  <a:ea typeface="Alibaba PuHuiTi 2.0 55 Regular"/>
                  <a:cs typeface="Alibaba PuHuiTi 2.0 55 Regular"/>
                </a:rPr>
                <a:t>各品牌车主对各自销售服务的满意度打分（车主自评）</a:t>
              </a:r>
              <a:endParaRPr kumimoji="0" lang="en-US" altLang="zh-CN" sz="1800" b="1" i="0" u="none" strike="noStrike" kern="1200" cap="none" spc="0" normalizeH="0" baseline="0" noProof="0" dirty="0">
                <a:ln>
                  <a:noFill/>
                </a:ln>
                <a:solidFill>
                  <a:srgbClr val="FBFBFB"/>
                </a:solidFill>
                <a:effectLst/>
                <a:uLnTx/>
                <a:uFillTx/>
                <a:latin typeface="Alibaba PuHuiTi 2.0 55 Regular"/>
                <a:ea typeface="Alibaba PuHuiTi 2.0 55 Regular"/>
                <a:cs typeface="Alibaba PuHuiTi 2.0 55 Regular"/>
              </a:endParaRPr>
            </a:p>
          </p:txBody>
        </p:sp>
        <p:grpSp>
          <p:nvGrpSpPr>
            <p:cNvPr id="2" name="组合 1">
              <a:extLst>
                <a:ext uri="{FF2B5EF4-FFF2-40B4-BE49-F238E27FC236}">
                  <a16:creationId xmlns:a16="http://schemas.microsoft.com/office/drawing/2014/main" id="{6A087801-DB36-EBCE-3921-C177F4709BF2}"/>
                </a:ext>
              </a:extLst>
            </p:cNvPr>
            <p:cNvGrpSpPr/>
            <p:nvPr/>
          </p:nvGrpSpPr>
          <p:grpSpPr>
            <a:xfrm>
              <a:off x="263526" y="1787996"/>
              <a:ext cx="11701575" cy="3869689"/>
              <a:chOff x="361218" y="1787996"/>
              <a:chExt cx="10827465" cy="3869689"/>
            </a:xfrm>
          </p:grpSpPr>
          <p:graphicFrame>
            <p:nvGraphicFramePr>
              <p:cNvPr id="8" name="图表 7"/>
              <p:cNvGraphicFramePr/>
              <p:nvPr>
                <p:custDataLst>
                  <p:tags r:id="rId4"/>
                </p:custDataLst>
                <p:extLst>
                  <p:ext uri="{D42A27DB-BD31-4B8C-83A1-F6EECF244321}">
                    <p14:modId xmlns:p14="http://schemas.microsoft.com/office/powerpoint/2010/main" val="1806756000"/>
                  </p:ext>
                </p:extLst>
              </p:nvPr>
            </p:nvGraphicFramePr>
            <p:xfrm>
              <a:off x="518159" y="1787996"/>
              <a:ext cx="10602177" cy="3440802"/>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38" name="表格 37"/>
              <p:cNvGraphicFramePr/>
              <p:nvPr>
                <p:custDataLst>
                  <p:tags r:id="rId5"/>
                </p:custDataLst>
                <p:extLst>
                  <p:ext uri="{D42A27DB-BD31-4B8C-83A1-F6EECF244321}">
                    <p14:modId xmlns:p14="http://schemas.microsoft.com/office/powerpoint/2010/main" val="225418832"/>
                  </p:ext>
                </p:extLst>
              </p:nvPr>
            </p:nvGraphicFramePr>
            <p:xfrm>
              <a:off x="361218" y="5023365"/>
              <a:ext cx="10827465" cy="634320"/>
            </p:xfrm>
            <a:graphic>
              <a:graphicData uri="http://schemas.openxmlformats.org/drawingml/2006/table">
                <a:tbl>
                  <a:tblPr firstRow="1" bandRow="1">
                    <a:tableStyleId>{5C22544A-7EE6-4342-B048-85BDC9FD1C3A}</a:tableStyleId>
                  </a:tblPr>
                  <a:tblGrid>
                    <a:gridCol w="688745">
                      <a:extLst>
                        <a:ext uri="{9D8B030D-6E8A-4147-A177-3AD203B41FA5}">
                          <a16:colId xmlns:a16="http://schemas.microsoft.com/office/drawing/2014/main" val="20000"/>
                        </a:ext>
                      </a:extLst>
                    </a:gridCol>
                    <a:gridCol w="1289274">
                      <a:extLst>
                        <a:ext uri="{9D8B030D-6E8A-4147-A177-3AD203B41FA5}">
                          <a16:colId xmlns:a16="http://schemas.microsoft.com/office/drawing/2014/main" val="20001"/>
                        </a:ext>
                      </a:extLst>
                    </a:gridCol>
                    <a:gridCol w="1383847">
                      <a:extLst>
                        <a:ext uri="{9D8B030D-6E8A-4147-A177-3AD203B41FA5}">
                          <a16:colId xmlns:a16="http://schemas.microsoft.com/office/drawing/2014/main" val="20002"/>
                        </a:ext>
                      </a:extLst>
                    </a:gridCol>
                    <a:gridCol w="1383847">
                      <a:extLst>
                        <a:ext uri="{9D8B030D-6E8A-4147-A177-3AD203B41FA5}">
                          <a16:colId xmlns:a16="http://schemas.microsoft.com/office/drawing/2014/main" val="20003"/>
                        </a:ext>
                      </a:extLst>
                    </a:gridCol>
                    <a:gridCol w="1383847">
                      <a:extLst>
                        <a:ext uri="{9D8B030D-6E8A-4147-A177-3AD203B41FA5}">
                          <a16:colId xmlns:a16="http://schemas.microsoft.com/office/drawing/2014/main" val="20004"/>
                        </a:ext>
                      </a:extLst>
                    </a:gridCol>
                    <a:gridCol w="1383847">
                      <a:extLst>
                        <a:ext uri="{9D8B030D-6E8A-4147-A177-3AD203B41FA5}">
                          <a16:colId xmlns:a16="http://schemas.microsoft.com/office/drawing/2014/main" val="20005"/>
                        </a:ext>
                      </a:extLst>
                    </a:gridCol>
                    <a:gridCol w="1383847">
                      <a:extLst>
                        <a:ext uri="{9D8B030D-6E8A-4147-A177-3AD203B41FA5}">
                          <a16:colId xmlns:a16="http://schemas.microsoft.com/office/drawing/2014/main" val="20006"/>
                        </a:ext>
                      </a:extLst>
                    </a:gridCol>
                    <a:gridCol w="1383847">
                      <a:extLst>
                        <a:ext uri="{9D8B030D-6E8A-4147-A177-3AD203B41FA5}">
                          <a16:colId xmlns:a16="http://schemas.microsoft.com/office/drawing/2014/main" val="20007"/>
                        </a:ext>
                      </a:extLst>
                    </a:gridCol>
                    <a:gridCol w="1383847">
                      <a:extLst>
                        <a:ext uri="{9D8B030D-6E8A-4147-A177-3AD203B41FA5}">
                          <a16:colId xmlns:a16="http://schemas.microsoft.com/office/drawing/2014/main" val="20008"/>
                        </a:ext>
                      </a:extLst>
                    </a:gridCol>
                  </a:tblGrid>
                  <a:tr h="360000">
                    <a:tc>
                      <a:txBody>
                        <a:bodyPr/>
                        <a:lstStyle/>
                        <a:p>
                          <a:pPr algn="ctr">
                            <a:buNone/>
                          </a:pPr>
                          <a:r>
                            <a:rPr lang="zh-CN" altLang="en-US" sz="1200" b="1" dirty="0">
                              <a:solidFill>
                                <a:sysClr val="windowText" lastClr="000000"/>
                              </a:solidFill>
                            </a:rPr>
                            <a:t>品牌</a:t>
                          </a:r>
                        </a:p>
                      </a:txBody>
                      <a:tcPr marL="36000" marR="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zh-CN" altLang="en-US" sz="1200" b="1" i="0" u="none" strike="noStrike" dirty="0">
                              <a:solidFill>
                                <a:srgbClr val="000000"/>
                              </a:solidFill>
                              <a:effectLst/>
                              <a:latin typeface="+mn-ea"/>
                              <a:ea typeface="+mn-ea"/>
                            </a:rPr>
                            <a:t>蔚来</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zh-CN" altLang="en-US" sz="1200" b="1" i="0" u="none" strike="noStrike" dirty="0">
                              <a:solidFill>
                                <a:srgbClr val="181818"/>
                              </a:solidFill>
                              <a:effectLst/>
                              <a:latin typeface="+mn-ea"/>
                              <a:ea typeface="+mn-ea"/>
                            </a:rPr>
                            <a:t>某品牌</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zh-CN" altLang="en-US" sz="1200" b="1" i="0" u="none" strike="noStrike">
                              <a:solidFill>
                                <a:srgbClr val="000000"/>
                              </a:solidFill>
                              <a:effectLst/>
                              <a:latin typeface="+mn-ea"/>
                              <a:ea typeface="+mn-ea"/>
                            </a:rPr>
                            <a:t>极氪</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zh-CN" altLang="en-US" sz="1200" b="1" i="0" u="none" strike="noStrike">
                              <a:solidFill>
                                <a:srgbClr val="000000"/>
                              </a:solidFill>
                              <a:effectLst/>
                              <a:latin typeface="+mn-ea"/>
                              <a:ea typeface="+mn-ea"/>
                            </a:rPr>
                            <a:t>问界</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zh-CN" altLang="en-US" sz="1200" b="1" i="0" u="none" strike="noStrike">
                              <a:solidFill>
                                <a:srgbClr val="000000"/>
                              </a:solidFill>
                              <a:effectLst/>
                              <a:latin typeface="+mn-ea"/>
                              <a:ea typeface="+mn-ea"/>
                            </a:rPr>
                            <a:t>理想</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zh-CN" altLang="en-US" sz="1200" b="1" i="0" u="none" strike="noStrike">
                              <a:solidFill>
                                <a:srgbClr val="000000"/>
                              </a:solidFill>
                              <a:effectLst/>
                              <a:latin typeface="+mn-ea"/>
                              <a:ea typeface="+mn-ea"/>
                            </a:rPr>
                            <a:t>小鹏</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zh-CN" altLang="en-US" sz="1200" b="1" i="0" u="none" strike="noStrike" dirty="0">
                              <a:solidFill>
                                <a:srgbClr val="000000"/>
                              </a:solidFill>
                              <a:effectLst/>
                              <a:latin typeface="+mn-ea"/>
                              <a:ea typeface="+mn-ea"/>
                            </a:rPr>
                            <a:t>特斯拉</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zh-CN" altLang="en-US" sz="1200" b="1" i="0" u="none" strike="noStrike">
                              <a:solidFill>
                                <a:srgbClr val="000000"/>
                              </a:solidFill>
                              <a:effectLst/>
                              <a:latin typeface="+mn-ea"/>
                              <a:ea typeface="+mn-ea"/>
                            </a:rPr>
                            <a:t>智己</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2000">
                    <a:tc>
                      <a:txBody>
                        <a:bodyPr/>
                        <a:lstStyle/>
                        <a:p>
                          <a:pPr algn="ctr">
                            <a:buNone/>
                          </a:pPr>
                          <a:r>
                            <a:rPr lang="zh-CN" altLang="en-US" sz="1200" b="1" dirty="0">
                              <a:solidFill>
                                <a:sysClr val="windowText" lastClr="000000"/>
                              </a:solidFill>
                            </a:rPr>
                            <a:t>样本量</a:t>
                          </a:r>
                        </a:p>
                      </a:txBody>
                      <a:tcPr marL="36000" marR="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altLang="zh-CN" sz="1200" b="0" i="0" u="none" strike="noStrike" dirty="0">
                              <a:solidFill>
                                <a:srgbClr val="000000"/>
                              </a:solidFill>
                              <a:effectLst/>
                              <a:latin typeface="+mn-ea"/>
                              <a:ea typeface="+mn-ea"/>
                            </a:rPr>
                            <a:t>34</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altLang="zh-CN" sz="1200" b="0" i="0" u="none" strike="noStrike" dirty="0">
                              <a:solidFill>
                                <a:srgbClr val="000000"/>
                              </a:solidFill>
                              <a:effectLst/>
                              <a:latin typeface="+mn-ea"/>
                              <a:ea typeface="+mn-ea"/>
                            </a:rPr>
                            <a:t>271</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altLang="zh-CN" sz="1200" b="0" i="0" u="none" strike="noStrike" dirty="0">
                              <a:solidFill>
                                <a:srgbClr val="000000"/>
                              </a:solidFill>
                              <a:effectLst/>
                              <a:latin typeface="+mn-ea"/>
                              <a:ea typeface="+mn-ea"/>
                            </a:rPr>
                            <a:t>34</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altLang="zh-CN" sz="1200" b="0" i="0" u="none" strike="noStrike" dirty="0">
                              <a:solidFill>
                                <a:srgbClr val="000000"/>
                              </a:solidFill>
                              <a:effectLst/>
                              <a:latin typeface="+mn-ea"/>
                              <a:ea typeface="+mn-ea"/>
                            </a:rPr>
                            <a:t>35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altLang="zh-CN" sz="1200" b="0" i="0" u="none" strike="noStrike" dirty="0">
                              <a:solidFill>
                                <a:srgbClr val="000000"/>
                              </a:solidFill>
                              <a:effectLst/>
                              <a:latin typeface="+mn-ea"/>
                              <a:ea typeface="+mn-ea"/>
                            </a:rPr>
                            <a:t>34</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altLang="zh-CN" sz="1200" b="0" i="0" u="none" strike="noStrike" dirty="0">
                              <a:solidFill>
                                <a:srgbClr val="000000"/>
                              </a:solidFill>
                              <a:effectLst/>
                              <a:latin typeface="+mn-ea"/>
                              <a:ea typeface="+mn-ea"/>
                            </a:rPr>
                            <a:t>35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altLang="zh-CN" sz="1200" b="0" i="0" u="none" strike="noStrike" dirty="0">
                              <a:solidFill>
                                <a:srgbClr val="000000"/>
                              </a:solidFill>
                              <a:effectLst/>
                              <a:latin typeface="+mn-ea"/>
                              <a:ea typeface="+mn-ea"/>
                            </a:rPr>
                            <a:t>35</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altLang="zh-CN" sz="1200" b="0" i="0" u="none" strike="noStrike" dirty="0">
                              <a:solidFill>
                                <a:srgbClr val="000000"/>
                              </a:solidFill>
                              <a:effectLst/>
                              <a:latin typeface="+mn-ea"/>
                              <a:ea typeface="+mn-ea"/>
                            </a:rPr>
                            <a:t>18</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cxnSp>
            <p:nvCxnSpPr>
              <p:cNvPr id="7" name="直接连接符 6"/>
              <p:cNvCxnSpPr>
                <a:cxnSpLocks/>
              </p:cNvCxnSpPr>
              <p:nvPr/>
            </p:nvCxnSpPr>
            <p:spPr>
              <a:xfrm>
                <a:off x="1009556" y="2513163"/>
                <a:ext cx="10062657" cy="0"/>
              </a:xfrm>
              <a:prstGeom prst="line">
                <a:avLst/>
              </a:prstGeom>
              <a:ln w="9525" cap="flat" cmpd="sng" algn="ctr">
                <a:solidFill>
                  <a:schemeClr val="accent5">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2" name="文本框 21"/>
              <p:cNvSpPr txBox="1"/>
              <p:nvPr/>
            </p:nvSpPr>
            <p:spPr>
              <a:xfrm>
                <a:off x="397691" y="2304765"/>
                <a:ext cx="611866"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4B8D56"/>
                    </a:solidFill>
                    <a:effectLst/>
                    <a:uLnTx/>
                    <a:uFillTx/>
                    <a:latin typeface="DIN Pro"/>
                    <a:ea typeface="Alibaba PuHuiTi 2.0 55 Regular"/>
                    <a:cs typeface="+mn-cs"/>
                  </a:rPr>
                  <a:t>平均值</a:t>
                </a:r>
                <a:r>
                  <a:rPr lang="en-US" altLang="zh-CN" sz="1100" b="1" dirty="0">
                    <a:solidFill>
                      <a:srgbClr val="4B8D56"/>
                    </a:solidFill>
                    <a:latin typeface="DIN Pro"/>
                    <a:ea typeface="Alibaba PuHuiTi 2.0 55 Regular"/>
                  </a:rPr>
                  <a:t>862</a:t>
                </a:r>
                <a:endParaRPr kumimoji="0" lang="zh-CN" altLang="en-US" sz="1100" b="1" i="0" u="none" strike="noStrike" kern="1200" cap="none" spc="0" normalizeH="0" baseline="0" noProof="0" dirty="0">
                  <a:ln>
                    <a:noFill/>
                  </a:ln>
                  <a:solidFill>
                    <a:srgbClr val="4B8D56"/>
                  </a:solidFill>
                  <a:effectLst/>
                  <a:uLnTx/>
                  <a:uFillTx/>
                  <a:latin typeface="DIN Pro"/>
                  <a:ea typeface="Alibaba PuHuiTi 2.0 55 Regular"/>
                  <a:cs typeface="+mn-cs"/>
                </a:endParaRPr>
              </a:p>
            </p:txBody>
          </p:sp>
        </p:grpSp>
      </p:grpSp>
      <p:sp>
        <p:nvSpPr>
          <p:cNvPr id="4" name="文本占位符 3">
            <a:extLst>
              <a:ext uri="{FF2B5EF4-FFF2-40B4-BE49-F238E27FC236}">
                <a16:creationId xmlns:a16="http://schemas.microsoft.com/office/drawing/2014/main" id="{FC426D13-6435-339C-605E-B6F755058CC1}"/>
              </a:ext>
            </a:extLst>
          </p:cNvPr>
          <p:cNvSpPr>
            <a:spLocks noGrp="1"/>
          </p:cNvSpPr>
          <p:nvPr>
            <p:ph type="body" sz="quarter" idx="21"/>
          </p:nvPr>
        </p:nvSpPr>
        <p:spPr/>
        <p:txBody>
          <a:bodyPr/>
          <a:lstStyle/>
          <a:p>
            <a:r>
              <a:rPr lang="en-US" altLang="zh-CN" dirty="0">
                <a:latin typeface="+mn-ea"/>
                <a:ea typeface="+mn-ea"/>
              </a:rPr>
              <a:t>2.2 </a:t>
            </a:r>
            <a:r>
              <a:rPr kumimoji="1" lang="en-US" altLang="zh-CN" dirty="0">
                <a:latin typeface="+mn-ea"/>
                <a:ea typeface="+mn-ea"/>
                <a:sym typeface="+mn-ea"/>
              </a:rPr>
              <a:t>SSI</a:t>
            </a:r>
            <a:r>
              <a:rPr kumimoji="1" lang="zh-CN" altLang="en-US" dirty="0">
                <a:latin typeface="+mn-ea"/>
                <a:ea typeface="+mn-ea"/>
                <a:sym typeface="+mn-ea"/>
              </a:rPr>
              <a:t>（销售部分）</a:t>
            </a:r>
            <a:r>
              <a:rPr kumimoji="1" lang="en-US" altLang="zh-CN" dirty="0">
                <a:latin typeface="+mn-ea"/>
                <a:ea typeface="+mn-ea"/>
                <a:sym typeface="+mn-ea"/>
              </a:rPr>
              <a:t>- </a:t>
            </a:r>
            <a:r>
              <a:rPr lang="zh-CN" altLang="en-US" dirty="0">
                <a:latin typeface="+mn-ea"/>
                <a:ea typeface="+mn-ea"/>
              </a:rPr>
              <a:t>车主自评得分（</a:t>
            </a:r>
            <a:r>
              <a:rPr lang="en-US" altLang="zh-CN" dirty="0">
                <a:latin typeface="+mn-ea"/>
                <a:ea typeface="+mn-ea"/>
              </a:rPr>
              <a:t>H1vs H2</a:t>
            </a:r>
            <a:r>
              <a:rPr lang="zh-CN" altLang="en-US" dirty="0">
                <a:latin typeface="+mn-ea"/>
                <a:ea typeface="+mn-ea"/>
              </a:rPr>
              <a:t>）</a:t>
            </a:r>
          </a:p>
        </p:txBody>
      </p:sp>
      <p:sp>
        <p:nvSpPr>
          <p:cNvPr id="63" name="灯片编号占位符 62"/>
          <p:cNvSpPr>
            <a:spLocks noGrp="1"/>
          </p:cNvSpPr>
          <p:nvPr>
            <p:ph type="sldNum" sz="quarter" idx="4"/>
            <p:custDataLst>
              <p:tags r:id="rId1"/>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00B666-AD48-5640-8D08-2A4A6036569F}" type="slidenum">
              <a:rPr kumimoji="0" lang="zh-CN" altLang="en-US" sz="800" b="0" i="0" u="none" strike="noStrike" kern="1200" cap="none" spc="0" normalizeH="0" baseline="0" noProof="0" smtClean="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800" b="0" i="0" u="none" strike="noStrike" kern="1200" cap="none" spc="0" normalizeH="0" baseline="0" noProof="0" dirty="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endParaRPr>
          </a:p>
        </p:txBody>
      </p:sp>
      <p:sp>
        <p:nvSpPr>
          <p:cNvPr id="62" name="文本框 61"/>
          <p:cNvSpPr txBox="1"/>
          <p:nvPr>
            <p:custDataLst>
              <p:tags r:id="rId2"/>
            </p:custDataLst>
          </p:nvPr>
        </p:nvSpPr>
        <p:spPr>
          <a:xfrm>
            <a:off x="263525" y="5787891"/>
            <a:ext cx="10136511" cy="500137"/>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zh-CN" altLang="en-US" sz="1200" dirty="0">
                <a:latin typeface="+mn-ea"/>
              </a:rPr>
              <a:t>在</a:t>
            </a:r>
            <a:r>
              <a:rPr lang="en-US" altLang="zh-CN" sz="1200" dirty="0">
                <a:latin typeface="+mn-ea"/>
              </a:rPr>
              <a:t>95%</a:t>
            </a:r>
            <a:r>
              <a:rPr lang="zh-CN" altLang="en-US" sz="1200" dirty="0">
                <a:latin typeface="+mn-ea"/>
              </a:rPr>
              <a:t>置信度水平下，某品牌分数显著高于特斯拉，与其他品牌无显著差异</a:t>
            </a:r>
            <a:endParaRPr lang="en-US" altLang="zh-CN" sz="1200" dirty="0">
              <a:latin typeface="+mn-ea"/>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altLang="zh-CN" sz="1200" i="0" u="none" strike="noStrike" kern="1200" cap="none" spc="0" normalizeH="0" baseline="0" noProof="0" dirty="0" err="1">
                <a:ln>
                  <a:noFill/>
                </a:ln>
                <a:effectLst/>
                <a:uLnTx/>
                <a:uFillTx/>
                <a:latin typeface="+mn-ea"/>
                <a:cs typeface="+mn-cs"/>
              </a:rPr>
              <a:t>智己样本量过少不具参考性，图中仅展示得分表现，不纳入排名与平均值统计</a:t>
            </a:r>
            <a:r>
              <a:rPr kumimoji="0" lang="en-US" altLang="zh-CN" sz="1200" i="0" u="none" strike="noStrike" kern="1200" cap="none" spc="0" normalizeH="0" baseline="0" noProof="0" dirty="0">
                <a:ln>
                  <a:noFill/>
                </a:ln>
                <a:effectLst/>
                <a:uLnTx/>
                <a:uFillTx/>
                <a:latin typeface="+mn-ea"/>
                <a:cs typeface="+mn-cs"/>
              </a:rPr>
              <a:t>；</a:t>
            </a:r>
          </a:p>
        </p:txBody>
      </p:sp>
      <p:sp>
        <p:nvSpPr>
          <p:cNvPr id="9" name="文本占位符 7">
            <a:extLst>
              <a:ext uri="{FF2B5EF4-FFF2-40B4-BE49-F238E27FC236}">
                <a16:creationId xmlns:a16="http://schemas.microsoft.com/office/drawing/2014/main" id="{F37DEC5B-12C7-0639-91BA-F7F0D2FF56CF}"/>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1600" b="1" i="0" u="none" strike="noStrike" kern="0" cap="none" spc="0" normalizeH="0" baseline="0" noProof="0" dirty="0">
                <a:ln>
                  <a:noFill/>
                </a:ln>
                <a:solidFill>
                  <a:srgbClr val="595757"/>
                </a:solidFill>
                <a:effectLst/>
                <a:uLnTx/>
                <a:uFillTx/>
                <a:latin typeface="+mn-ea"/>
                <a:ea typeface="+mn-ea"/>
                <a:cs typeface="Alibaba PuHuiTi 2.0 55 Regular" pitchFamily="18" charset="-122"/>
              </a:rPr>
              <a:t>某品牌销售服务满意度排名第二，高于行业平均，</a:t>
            </a:r>
            <a:r>
              <a:rPr lang="zh-CN" altLang="en-US" b="1" dirty="0">
                <a:latin typeface="+mn-ea"/>
                <a:ea typeface="+mn-ea"/>
              </a:rPr>
              <a:t>较上期得分增加了</a:t>
            </a:r>
            <a:r>
              <a:rPr lang="en-US" altLang="zh-CN" b="1" dirty="0">
                <a:latin typeface="+mn-ea"/>
                <a:ea typeface="+mn-ea"/>
              </a:rPr>
              <a:t>72.4</a:t>
            </a:r>
            <a:endParaRPr kumimoji="0" lang="zh-CN" altLang="en-US" sz="1600" b="1" i="0" u="none" strike="noStrike" kern="0" cap="none" spc="0" normalizeH="0" baseline="0" noProof="0" dirty="0">
              <a:ln>
                <a:noFill/>
              </a:ln>
              <a:solidFill>
                <a:srgbClr val="595757"/>
              </a:solidFill>
              <a:effectLst/>
              <a:uLnTx/>
              <a:uFillTx/>
              <a:latin typeface="+mn-ea"/>
              <a:ea typeface="+mn-ea"/>
              <a:cs typeface="Alibaba PuHuiTi 2.0 55 Regular" pitchFamily="18" charset="-122"/>
            </a:endParaRPr>
          </a:p>
        </p:txBody>
      </p:sp>
      <p:sp>
        <p:nvSpPr>
          <p:cNvPr id="3" name="文本框 2">
            <a:extLst>
              <a:ext uri="{FF2B5EF4-FFF2-40B4-BE49-F238E27FC236}">
                <a16:creationId xmlns:a16="http://schemas.microsoft.com/office/drawing/2014/main" id="{B1B961E8-3904-9811-8C8C-C1BE050BBFA9}"/>
              </a:ext>
            </a:extLst>
          </p:cNvPr>
          <p:cNvSpPr txBox="1"/>
          <p:nvPr/>
        </p:nvSpPr>
        <p:spPr>
          <a:xfrm>
            <a:off x="2344557" y="2118193"/>
            <a:ext cx="971107" cy="262012"/>
          </a:xfrm>
          <a:prstGeom prst="rect">
            <a:avLst/>
          </a:prstGeom>
          <a:noFill/>
        </p:spPr>
        <p:txBody>
          <a:bodyPr wrap="square" lIns="36000" rIns="36000" rtlCol="0" anchor="ctr">
            <a:no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400" b="1" i="1" u="sng" strike="noStrike" kern="1200" cap="none" spc="0" normalizeH="0" baseline="0" noProof="0" dirty="0">
                <a:ln>
                  <a:noFill/>
                </a:ln>
                <a:solidFill>
                  <a:srgbClr val="FF0000"/>
                </a:solidFill>
                <a:effectLst/>
                <a:uLnTx/>
                <a:uFillTx/>
                <a:latin typeface="Arial"/>
                <a:ea typeface="微软雅黑" panose="020B0503020204020204" pitchFamily="34" charset="-122"/>
                <a:cs typeface="+mn-cs"/>
              </a:rPr>
              <a:t>No 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96">
            <a:extLst>
              <a:ext uri="{FF2B5EF4-FFF2-40B4-BE49-F238E27FC236}">
                <a16:creationId xmlns:a16="http://schemas.microsoft.com/office/drawing/2014/main" id="{67A28922-3293-90F6-FE48-7095DB38A50A}"/>
              </a:ext>
            </a:extLst>
          </p:cNvPr>
          <p:cNvSpPr/>
          <p:nvPr>
            <p:custDataLst>
              <p:tags r:id="rId1"/>
            </p:custDataLst>
          </p:nvPr>
        </p:nvSpPr>
        <p:spPr>
          <a:xfrm>
            <a:off x="6142424" y="1928938"/>
            <a:ext cx="2842706" cy="1818558"/>
          </a:xfrm>
          <a:prstGeom prst="rect">
            <a:avLst/>
          </a:prstGeom>
          <a:solidFill>
            <a:schemeClr val="accent6">
              <a:lumMod val="20000"/>
              <a:lumOff val="80000"/>
            </a:schemeClr>
          </a:solidFill>
          <a:ln w="9525" cap="flat" cmpd="sng" algn="ctr">
            <a:noFill/>
            <a:prstDash val="dash"/>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sp>
        <p:nvSpPr>
          <p:cNvPr id="10" name="矩形: 圆角 96">
            <a:extLst>
              <a:ext uri="{FF2B5EF4-FFF2-40B4-BE49-F238E27FC236}">
                <a16:creationId xmlns:a16="http://schemas.microsoft.com/office/drawing/2014/main" id="{EF01F1DE-C46F-D6AD-B685-D91AAC3A39EC}"/>
              </a:ext>
            </a:extLst>
          </p:cNvPr>
          <p:cNvSpPr/>
          <p:nvPr>
            <p:custDataLst>
              <p:tags r:id="rId2"/>
            </p:custDataLst>
          </p:nvPr>
        </p:nvSpPr>
        <p:spPr>
          <a:xfrm>
            <a:off x="9073894" y="1928938"/>
            <a:ext cx="2842706" cy="1818558"/>
          </a:xfrm>
          <a:prstGeom prst="rect">
            <a:avLst/>
          </a:prstGeom>
          <a:solidFill>
            <a:schemeClr val="accent6">
              <a:lumMod val="20000"/>
              <a:lumOff val="80000"/>
            </a:schemeClr>
          </a:solidFill>
          <a:ln w="9525" cap="flat" cmpd="sng" algn="ctr">
            <a:noFill/>
            <a:prstDash val="dash"/>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sp>
        <p:nvSpPr>
          <p:cNvPr id="11" name="矩形: 圆角 96">
            <a:extLst>
              <a:ext uri="{FF2B5EF4-FFF2-40B4-BE49-F238E27FC236}">
                <a16:creationId xmlns:a16="http://schemas.microsoft.com/office/drawing/2014/main" id="{1EBF2074-C1A3-CDD2-B3AC-A2925CEBD4B2}"/>
              </a:ext>
            </a:extLst>
          </p:cNvPr>
          <p:cNvSpPr/>
          <p:nvPr>
            <p:custDataLst>
              <p:tags r:id="rId3"/>
            </p:custDataLst>
          </p:nvPr>
        </p:nvSpPr>
        <p:spPr>
          <a:xfrm>
            <a:off x="272067" y="4232638"/>
            <a:ext cx="2842706" cy="2033866"/>
          </a:xfrm>
          <a:prstGeom prst="rect">
            <a:avLst/>
          </a:prstGeom>
          <a:solidFill>
            <a:schemeClr val="accent6">
              <a:lumMod val="20000"/>
              <a:lumOff val="80000"/>
            </a:schemeClr>
          </a:solidFill>
          <a:ln w="9525" cap="flat" cmpd="sng" algn="ctr">
            <a:noFill/>
            <a:prstDash val="dash"/>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sp>
        <p:nvSpPr>
          <p:cNvPr id="12" name="矩形: 圆角 96">
            <a:extLst>
              <a:ext uri="{FF2B5EF4-FFF2-40B4-BE49-F238E27FC236}">
                <a16:creationId xmlns:a16="http://schemas.microsoft.com/office/drawing/2014/main" id="{EB81A1E9-32D6-6AE5-9D87-915C8E22F1AC}"/>
              </a:ext>
            </a:extLst>
          </p:cNvPr>
          <p:cNvSpPr/>
          <p:nvPr>
            <p:custDataLst>
              <p:tags r:id="rId4"/>
            </p:custDataLst>
          </p:nvPr>
        </p:nvSpPr>
        <p:spPr>
          <a:xfrm>
            <a:off x="3204278" y="4232638"/>
            <a:ext cx="2842706" cy="2033866"/>
          </a:xfrm>
          <a:prstGeom prst="rect">
            <a:avLst/>
          </a:prstGeom>
          <a:solidFill>
            <a:schemeClr val="accent6">
              <a:lumMod val="20000"/>
              <a:lumOff val="80000"/>
            </a:schemeClr>
          </a:solidFill>
          <a:ln w="9525" cap="flat" cmpd="sng" algn="ctr">
            <a:noFill/>
            <a:prstDash val="dash"/>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sp>
        <p:nvSpPr>
          <p:cNvPr id="13" name="矩形: 圆角 96">
            <a:extLst>
              <a:ext uri="{FF2B5EF4-FFF2-40B4-BE49-F238E27FC236}">
                <a16:creationId xmlns:a16="http://schemas.microsoft.com/office/drawing/2014/main" id="{12F7958F-5710-BE05-47FF-355175AFF38E}"/>
              </a:ext>
            </a:extLst>
          </p:cNvPr>
          <p:cNvSpPr/>
          <p:nvPr>
            <p:custDataLst>
              <p:tags r:id="rId5"/>
            </p:custDataLst>
          </p:nvPr>
        </p:nvSpPr>
        <p:spPr>
          <a:xfrm>
            <a:off x="6145018" y="4232638"/>
            <a:ext cx="2842706" cy="2033866"/>
          </a:xfrm>
          <a:prstGeom prst="rect">
            <a:avLst/>
          </a:prstGeom>
          <a:solidFill>
            <a:schemeClr val="accent6">
              <a:lumMod val="20000"/>
              <a:lumOff val="80000"/>
            </a:schemeClr>
          </a:solidFill>
          <a:ln w="9525" cap="flat" cmpd="sng" algn="ctr">
            <a:noFill/>
            <a:prstDash val="dash"/>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sp>
        <p:nvSpPr>
          <p:cNvPr id="14" name="矩形: 圆角 96">
            <a:extLst>
              <a:ext uri="{FF2B5EF4-FFF2-40B4-BE49-F238E27FC236}">
                <a16:creationId xmlns:a16="http://schemas.microsoft.com/office/drawing/2014/main" id="{4DFAEA22-6308-BCCE-CD1E-870F95B976D6}"/>
              </a:ext>
            </a:extLst>
          </p:cNvPr>
          <p:cNvSpPr/>
          <p:nvPr>
            <p:custDataLst>
              <p:tags r:id="rId6"/>
            </p:custDataLst>
          </p:nvPr>
        </p:nvSpPr>
        <p:spPr>
          <a:xfrm>
            <a:off x="9076441" y="4232638"/>
            <a:ext cx="2842706" cy="2033866"/>
          </a:xfrm>
          <a:prstGeom prst="rect">
            <a:avLst/>
          </a:prstGeom>
          <a:solidFill>
            <a:schemeClr val="accent6">
              <a:lumMod val="20000"/>
              <a:lumOff val="80000"/>
            </a:schemeClr>
          </a:solidFill>
          <a:ln w="9525" cap="flat" cmpd="sng" algn="ctr">
            <a:noFill/>
            <a:prstDash val="dash"/>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sp>
        <p:nvSpPr>
          <p:cNvPr id="6" name="矩形: 圆角 96">
            <a:extLst>
              <a:ext uri="{FF2B5EF4-FFF2-40B4-BE49-F238E27FC236}">
                <a16:creationId xmlns:a16="http://schemas.microsoft.com/office/drawing/2014/main" id="{3AEB208C-C09A-318C-213D-DD405549163F}"/>
              </a:ext>
            </a:extLst>
          </p:cNvPr>
          <p:cNvSpPr/>
          <p:nvPr>
            <p:custDataLst>
              <p:tags r:id="rId7"/>
            </p:custDataLst>
          </p:nvPr>
        </p:nvSpPr>
        <p:spPr>
          <a:xfrm>
            <a:off x="3206922" y="1928938"/>
            <a:ext cx="2842706" cy="1818558"/>
          </a:xfrm>
          <a:prstGeom prst="rect">
            <a:avLst/>
          </a:prstGeom>
          <a:solidFill>
            <a:schemeClr val="accent6">
              <a:lumMod val="20000"/>
              <a:lumOff val="80000"/>
            </a:schemeClr>
          </a:solidFill>
          <a:ln w="9525" cap="flat" cmpd="sng" algn="ctr">
            <a:noFill/>
            <a:prstDash val="dash"/>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sp>
        <p:nvSpPr>
          <p:cNvPr id="2" name="矩形: 圆角 96">
            <a:extLst>
              <a:ext uri="{FF2B5EF4-FFF2-40B4-BE49-F238E27FC236}">
                <a16:creationId xmlns:a16="http://schemas.microsoft.com/office/drawing/2014/main" id="{E60D22B5-F000-86FC-79C9-B1C7FED5F4C2}"/>
              </a:ext>
            </a:extLst>
          </p:cNvPr>
          <p:cNvSpPr/>
          <p:nvPr>
            <p:custDataLst>
              <p:tags r:id="rId8"/>
            </p:custDataLst>
          </p:nvPr>
        </p:nvSpPr>
        <p:spPr>
          <a:xfrm>
            <a:off x="275833" y="1929468"/>
            <a:ext cx="2842706" cy="1818558"/>
          </a:xfrm>
          <a:prstGeom prst="rect">
            <a:avLst/>
          </a:prstGeom>
          <a:solidFill>
            <a:schemeClr val="accent6">
              <a:lumMod val="20000"/>
              <a:lumOff val="80000"/>
            </a:schemeClr>
          </a:solidFill>
          <a:ln w="9525" cap="flat" cmpd="sng" algn="ctr">
            <a:noFill/>
            <a:prstDash val="dash"/>
          </a:ln>
          <a:effectLst/>
        </p:spPr>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1" i="0" u="none" strike="noStrike" kern="0" cap="none" spc="0" normalizeH="0" baseline="0" noProof="0" dirty="0">
              <a:ln>
                <a:noFill/>
              </a:ln>
              <a:solidFill>
                <a:srgbClr val="000000"/>
              </a:solidFill>
              <a:effectLst/>
              <a:uLnTx/>
              <a:uFillTx/>
              <a:latin typeface="Arial"/>
              <a:ea typeface="Alibaba PuHuiTi 2.0 55 Regular"/>
              <a:cs typeface="Alibaba PuHuiTi 2.0 55 Regular"/>
              <a:sym typeface="+mn-lt"/>
            </a:endParaRPr>
          </a:p>
        </p:txBody>
      </p:sp>
      <p:sp>
        <p:nvSpPr>
          <p:cNvPr id="3" name="文本占位符 2">
            <a:extLst>
              <a:ext uri="{FF2B5EF4-FFF2-40B4-BE49-F238E27FC236}">
                <a16:creationId xmlns:a16="http://schemas.microsoft.com/office/drawing/2014/main" id="{D5CBABBC-6D70-B7E5-DE83-7306E4604559}"/>
              </a:ext>
            </a:extLst>
          </p:cNvPr>
          <p:cNvSpPr>
            <a:spLocks noGrp="1"/>
          </p:cNvSpPr>
          <p:nvPr>
            <p:ph type="body" sz="quarter" idx="21"/>
          </p:nvPr>
        </p:nvSpPr>
        <p:spPr/>
        <p:txBody>
          <a:bodyPr/>
          <a:lstStyle/>
          <a:p>
            <a:r>
              <a:rPr lang="en-US" altLang="zh-CN" dirty="0">
                <a:latin typeface="+mn-ea"/>
                <a:ea typeface="+mn-ea"/>
              </a:rPr>
              <a:t>2.2 </a:t>
            </a:r>
            <a:r>
              <a:rPr kumimoji="1" lang="en-US" altLang="zh-CN" dirty="0">
                <a:latin typeface="+mn-ea"/>
                <a:ea typeface="+mn-ea"/>
                <a:sym typeface="+mn-ea"/>
              </a:rPr>
              <a:t>SSI</a:t>
            </a:r>
            <a:r>
              <a:rPr kumimoji="1" lang="zh-CN" altLang="en-US" dirty="0">
                <a:latin typeface="+mn-ea"/>
                <a:ea typeface="+mn-ea"/>
                <a:sym typeface="+mn-ea"/>
              </a:rPr>
              <a:t>（销售部分）</a:t>
            </a:r>
            <a:r>
              <a:rPr kumimoji="1" lang="en-US" altLang="zh-CN" dirty="0">
                <a:latin typeface="+mn-ea"/>
                <a:ea typeface="+mn-ea"/>
                <a:sym typeface="+mn-ea"/>
              </a:rPr>
              <a:t>- </a:t>
            </a:r>
            <a:r>
              <a:rPr lang="zh-CN" altLang="en-US" dirty="0"/>
              <a:t>因子得分汇总分析</a:t>
            </a:r>
          </a:p>
        </p:txBody>
      </p:sp>
      <p:sp>
        <p:nvSpPr>
          <p:cNvPr id="5" name="灯片编号占位符 4">
            <a:extLst>
              <a:ext uri="{FF2B5EF4-FFF2-40B4-BE49-F238E27FC236}">
                <a16:creationId xmlns:a16="http://schemas.microsoft.com/office/drawing/2014/main" id="{1E0B3BBA-0467-3811-6165-973586261AB9}"/>
              </a:ext>
            </a:extLst>
          </p:cNvPr>
          <p:cNvSpPr>
            <a:spLocks noGrp="1"/>
          </p:cNvSpPr>
          <p:nvPr>
            <p:ph type="sldNum" sz="quarter" idx="4"/>
          </p:nvPr>
        </p:nvSpPr>
        <p:spPr/>
        <p:txBody>
          <a:bodyPr/>
          <a:lstStyle/>
          <a:p>
            <a:fld id="{BE00B666-AD48-5640-8D08-2A4A6036569F}" type="slidenum">
              <a:rPr lang="zh-CN" altLang="en-US" smtClean="0"/>
              <a:t>28</a:t>
            </a:fld>
            <a:endParaRPr lang="zh-CN" altLang="en-US" dirty="0"/>
          </a:p>
        </p:txBody>
      </p:sp>
      <p:sp>
        <p:nvSpPr>
          <p:cNvPr id="8" name="文本框 7">
            <a:extLst>
              <a:ext uri="{FF2B5EF4-FFF2-40B4-BE49-F238E27FC236}">
                <a16:creationId xmlns:a16="http://schemas.microsoft.com/office/drawing/2014/main" id="{4BE5DD45-C8FE-90BC-8F46-FE352FD32133}"/>
              </a:ext>
            </a:extLst>
          </p:cNvPr>
          <p:cNvSpPr txBox="1"/>
          <p:nvPr/>
        </p:nvSpPr>
        <p:spPr>
          <a:xfrm>
            <a:off x="6141777" y="1490145"/>
            <a:ext cx="2844000" cy="432000"/>
          </a:xfrm>
          <a:prstGeom prst="rect">
            <a:avLst/>
          </a:prstGeom>
          <a:solidFill>
            <a:srgbClr val="4B8D56"/>
          </a:solidFill>
        </p:spPr>
        <p:txBody>
          <a:bodyPr wrap="square" rtlCol="0" anchor="ctr" anchorCtr="0">
            <a:noAutofit/>
          </a:bodyPr>
          <a:lstStyle/>
          <a:p>
            <a:pPr algn="ctr"/>
            <a:r>
              <a:rPr lang="zh-CN" altLang="en-US" sz="1400" b="1" dirty="0">
                <a:solidFill>
                  <a:schemeClr val="bg1"/>
                </a:solidFill>
                <a:latin typeface="微软雅黑" panose="020B0503020204020204" pitchFamily="34" charset="-122"/>
                <a:ea typeface="Alibaba PuHuiTi 2.0 55 Regular"/>
              </a:rPr>
              <a:t>某品牌</a:t>
            </a:r>
            <a:r>
              <a:rPr lang="en-US" altLang="zh-CN" sz="1400" b="1" dirty="0">
                <a:solidFill>
                  <a:schemeClr val="bg1"/>
                </a:solidFill>
                <a:latin typeface="微软雅黑" panose="020B0503020204020204" pitchFamily="34" charset="-122"/>
                <a:ea typeface="Alibaba PuHuiTi 2.0 55 Regular"/>
              </a:rPr>
              <a:t>vs</a:t>
            </a:r>
            <a:r>
              <a:rPr lang="zh-CN" altLang="en-US" sz="1400" b="1" dirty="0">
                <a:solidFill>
                  <a:schemeClr val="bg1"/>
                </a:solidFill>
                <a:latin typeface="微软雅黑" panose="020B0503020204020204" pitchFamily="34" charset="-122"/>
                <a:ea typeface="Alibaba PuHuiTi 2.0 55 Regular"/>
              </a:rPr>
              <a:t>极氪因子得分</a:t>
            </a:r>
          </a:p>
        </p:txBody>
      </p:sp>
      <p:sp>
        <p:nvSpPr>
          <p:cNvPr id="9" name="文本框 8">
            <a:extLst>
              <a:ext uri="{FF2B5EF4-FFF2-40B4-BE49-F238E27FC236}">
                <a16:creationId xmlns:a16="http://schemas.microsoft.com/office/drawing/2014/main" id="{A350FA08-12CF-3523-4F72-F1817DEA140C}"/>
              </a:ext>
            </a:extLst>
          </p:cNvPr>
          <p:cNvSpPr txBox="1"/>
          <p:nvPr/>
        </p:nvSpPr>
        <p:spPr>
          <a:xfrm>
            <a:off x="9076392" y="1490145"/>
            <a:ext cx="2844000" cy="432000"/>
          </a:xfrm>
          <a:prstGeom prst="rect">
            <a:avLst/>
          </a:prstGeom>
          <a:solidFill>
            <a:srgbClr val="4B8D56"/>
          </a:solidFill>
        </p:spPr>
        <p:txBody>
          <a:bodyPr wrap="square" rtlCol="0" anchor="ctr" anchorCtr="0">
            <a:noAutofit/>
          </a:bodyPr>
          <a:lstStyle/>
          <a:p>
            <a:pPr algn="ctr"/>
            <a:r>
              <a:rPr lang="zh-CN" altLang="en-US" sz="1400" b="1" dirty="0">
                <a:solidFill>
                  <a:schemeClr val="bg1"/>
                </a:solidFill>
                <a:latin typeface="微软雅黑" panose="020B0503020204020204" pitchFamily="34" charset="-122"/>
                <a:ea typeface="Alibaba PuHuiTi 2.0 55 Regular"/>
              </a:rPr>
              <a:t>某品牌</a:t>
            </a:r>
            <a:r>
              <a:rPr lang="en-US" altLang="zh-CN" sz="1400" b="1" dirty="0">
                <a:solidFill>
                  <a:schemeClr val="bg1"/>
                </a:solidFill>
                <a:latin typeface="微软雅黑" panose="020B0503020204020204" pitchFamily="34" charset="-122"/>
                <a:ea typeface="Alibaba PuHuiTi 2.0 55 Regular"/>
              </a:rPr>
              <a:t>vs</a:t>
            </a:r>
            <a:r>
              <a:rPr lang="zh-CN" altLang="en-US" sz="1400" b="1" dirty="0">
                <a:solidFill>
                  <a:schemeClr val="bg1"/>
                </a:solidFill>
                <a:latin typeface="微软雅黑" panose="020B0503020204020204" pitchFamily="34" charset="-122"/>
                <a:ea typeface="Alibaba PuHuiTi 2.0 55 Regular"/>
              </a:rPr>
              <a:t>问界因子得分</a:t>
            </a:r>
          </a:p>
        </p:txBody>
      </p:sp>
      <p:sp>
        <p:nvSpPr>
          <p:cNvPr id="15" name="文本框 14">
            <a:extLst>
              <a:ext uri="{FF2B5EF4-FFF2-40B4-BE49-F238E27FC236}">
                <a16:creationId xmlns:a16="http://schemas.microsoft.com/office/drawing/2014/main" id="{5FB812AC-4392-37CC-6901-0549406A55ED}"/>
              </a:ext>
            </a:extLst>
          </p:cNvPr>
          <p:cNvSpPr txBox="1"/>
          <p:nvPr/>
        </p:nvSpPr>
        <p:spPr>
          <a:xfrm>
            <a:off x="3206275" y="1490145"/>
            <a:ext cx="2844000" cy="432000"/>
          </a:xfrm>
          <a:prstGeom prst="rect">
            <a:avLst/>
          </a:prstGeom>
          <a:solidFill>
            <a:srgbClr val="4B8D56"/>
          </a:solidFill>
        </p:spPr>
        <p:txBody>
          <a:bodyPr wrap="square" rtlCol="0" anchor="ctr" anchorCtr="0">
            <a:noAutofit/>
          </a:bodyPr>
          <a:lstStyle/>
          <a:p>
            <a:pPr algn="ctr"/>
            <a:r>
              <a:rPr lang="zh-CN" altLang="en-US" sz="1400" b="1" dirty="0">
                <a:solidFill>
                  <a:schemeClr val="bg1"/>
                </a:solidFill>
                <a:latin typeface="微软雅黑" panose="020B0503020204020204" pitchFamily="34" charset="-122"/>
                <a:ea typeface="Alibaba PuHuiTi 2.0 55 Regular"/>
              </a:rPr>
              <a:t>某品牌</a:t>
            </a:r>
            <a:r>
              <a:rPr lang="en-US" altLang="zh-CN" sz="1400" b="1" dirty="0">
                <a:solidFill>
                  <a:schemeClr val="bg1"/>
                </a:solidFill>
                <a:latin typeface="微软雅黑" panose="020B0503020204020204" pitchFamily="34" charset="-122"/>
                <a:ea typeface="Alibaba PuHuiTi 2.0 55 Regular"/>
              </a:rPr>
              <a:t>vs</a:t>
            </a:r>
            <a:r>
              <a:rPr lang="zh-CN" altLang="en-US" sz="1400" b="1" dirty="0">
                <a:solidFill>
                  <a:schemeClr val="bg1"/>
                </a:solidFill>
                <a:latin typeface="微软雅黑" panose="020B0503020204020204" pitchFamily="34" charset="-122"/>
                <a:ea typeface="Alibaba PuHuiTi 2.0 55 Regular"/>
              </a:rPr>
              <a:t>蔚来因子得分</a:t>
            </a:r>
          </a:p>
        </p:txBody>
      </p:sp>
      <p:graphicFrame>
        <p:nvGraphicFramePr>
          <p:cNvPr id="17" name="图表 16">
            <a:extLst>
              <a:ext uri="{FF2B5EF4-FFF2-40B4-BE49-F238E27FC236}">
                <a16:creationId xmlns:a16="http://schemas.microsoft.com/office/drawing/2014/main" id="{FD3CDE08-03E8-B535-F144-0BC62E60B599}"/>
              </a:ext>
            </a:extLst>
          </p:cNvPr>
          <p:cNvGraphicFramePr/>
          <p:nvPr>
            <p:extLst>
              <p:ext uri="{D42A27DB-BD31-4B8C-83A1-F6EECF244321}">
                <p14:modId xmlns:p14="http://schemas.microsoft.com/office/powerpoint/2010/main" val="2451508419"/>
              </p:ext>
            </p:extLst>
          </p:nvPr>
        </p:nvGraphicFramePr>
        <p:xfrm>
          <a:off x="3216153" y="1856291"/>
          <a:ext cx="2849382" cy="1962986"/>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8" name="图表 17">
            <a:extLst>
              <a:ext uri="{FF2B5EF4-FFF2-40B4-BE49-F238E27FC236}">
                <a16:creationId xmlns:a16="http://schemas.microsoft.com/office/drawing/2014/main" id="{E8C8F301-08F0-DE5F-0A61-04083268E7B4}"/>
              </a:ext>
            </a:extLst>
          </p:cNvPr>
          <p:cNvGraphicFramePr/>
          <p:nvPr>
            <p:extLst>
              <p:ext uri="{D42A27DB-BD31-4B8C-83A1-F6EECF244321}">
                <p14:modId xmlns:p14="http://schemas.microsoft.com/office/powerpoint/2010/main" val="181134601"/>
              </p:ext>
            </p:extLst>
          </p:nvPr>
        </p:nvGraphicFramePr>
        <p:xfrm>
          <a:off x="6145056" y="1857159"/>
          <a:ext cx="2849383" cy="1962117"/>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19" name="图表 18">
            <a:extLst>
              <a:ext uri="{FF2B5EF4-FFF2-40B4-BE49-F238E27FC236}">
                <a16:creationId xmlns:a16="http://schemas.microsoft.com/office/drawing/2014/main" id="{B30ABBC4-4BF4-9FD8-56DA-73485B4FA2ED}"/>
              </a:ext>
            </a:extLst>
          </p:cNvPr>
          <p:cNvGraphicFramePr/>
          <p:nvPr>
            <p:extLst>
              <p:ext uri="{D42A27DB-BD31-4B8C-83A1-F6EECF244321}">
                <p14:modId xmlns:p14="http://schemas.microsoft.com/office/powerpoint/2010/main" val="2025905584"/>
              </p:ext>
            </p:extLst>
          </p:nvPr>
        </p:nvGraphicFramePr>
        <p:xfrm>
          <a:off x="9063142" y="1857159"/>
          <a:ext cx="2849383" cy="1962117"/>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20" name="图表 19">
            <a:extLst>
              <a:ext uri="{FF2B5EF4-FFF2-40B4-BE49-F238E27FC236}">
                <a16:creationId xmlns:a16="http://schemas.microsoft.com/office/drawing/2014/main" id="{D524E29C-A66A-204C-F1DC-15166DC07B43}"/>
              </a:ext>
            </a:extLst>
          </p:cNvPr>
          <p:cNvGraphicFramePr/>
          <p:nvPr>
            <p:extLst>
              <p:ext uri="{D42A27DB-BD31-4B8C-83A1-F6EECF244321}">
                <p14:modId xmlns:p14="http://schemas.microsoft.com/office/powerpoint/2010/main" val="2994528282"/>
              </p:ext>
            </p:extLst>
          </p:nvPr>
        </p:nvGraphicFramePr>
        <p:xfrm>
          <a:off x="263525" y="4208680"/>
          <a:ext cx="2849251" cy="2033867"/>
        </p:xfrm>
        <a:graphic>
          <a:graphicData uri="http://schemas.openxmlformats.org/drawingml/2006/chart">
            <c:chart xmlns:c="http://schemas.openxmlformats.org/drawingml/2006/chart" xmlns:r="http://schemas.openxmlformats.org/officeDocument/2006/relationships" r:id="rId13"/>
          </a:graphicData>
        </a:graphic>
      </p:graphicFrame>
      <p:sp>
        <p:nvSpPr>
          <p:cNvPr id="21" name="文本框 20">
            <a:extLst>
              <a:ext uri="{FF2B5EF4-FFF2-40B4-BE49-F238E27FC236}">
                <a16:creationId xmlns:a16="http://schemas.microsoft.com/office/drawing/2014/main" id="{53A2D076-3784-4E2F-0C24-909EFCCD395D}"/>
              </a:ext>
            </a:extLst>
          </p:cNvPr>
          <p:cNvSpPr txBox="1"/>
          <p:nvPr/>
        </p:nvSpPr>
        <p:spPr>
          <a:xfrm>
            <a:off x="3206275" y="3800672"/>
            <a:ext cx="2844000" cy="432000"/>
          </a:xfrm>
          <a:prstGeom prst="rect">
            <a:avLst/>
          </a:prstGeom>
          <a:solidFill>
            <a:srgbClr val="4B8D56"/>
          </a:solidFill>
        </p:spPr>
        <p:txBody>
          <a:bodyPr wrap="square" rtlCol="0" anchor="ctr" anchorCtr="0">
            <a:noAutofit/>
          </a:bodyPr>
          <a:lstStyle/>
          <a:p>
            <a:pPr algn="ctr"/>
            <a:r>
              <a:rPr lang="zh-CN" altLang="en-US" sz="1400" b="1" dirty="0">
                <a:solidFill>
                  <a:schemeClr val="bg1"/>
                </a:solidFill>
                <a:latin typeface="微软雅黑" panose="020B0503020204020204" pitchFamily="34" charset="-122"/>
                <a:ea typeface="Alibaba PuHuiTi 2.0 55 Regular"/>
              </a:rPr>
              <a:t>某品牌</a:t>
            </a:r>
            <a:r>
              <a:rPr lang="en-US" altLang="zh-CN" sz="1400" b="1" dirty="0">
                <a:solidFill>
                  <a:schemeClr val="bg1"/>
                </a:solidFill>
                <a:latin typeface="微软雅黑" panose="020B0503020204020204" pitchFamily="34" charset="-122"/>
                <a:ea typeface="Alibaba PuHuiTi 2.0 55 Regular"/>
              </a:rPr>
              <a:t>vs</a:t>
            </a:r>
            <a:r>
              <a:rPr lang="zh-CN" altLang="en-US" sz="1400" b="1" dirty="0">
                <a:solidFill>
                  <a:schemeClr val="bg1"/>
                </a:solidFill>
                <a:latin typeface="微软雅黑" panose="020B0503020204020204" pitchFamily="34" charset="-122"/>
                <a:ea typeface="Alibaba PuHuiTi 2.0 55 Regular"/>
              </a:rPr>
              <a:t>小鹏因子得分</a:t>
            </a:r>
          </a:p>
        </p:txBody>
      </p:sp>
      <p:sp>
        <p:nvSpPr>
          <p:cNvPr id="22" name="文本框 21">
            <a:extLst>
              <a:ext uri="{FF2B5EF4-FFF2-40B4-BE49-F238E27FC236}">
                <a16:creationId xmlns:a16="http://schemas.microsoft.com/office/drawing/2014/main" id="{E0E0285D-4333-D565-73AC-D7DA3C44CA8D}"/>
              </a:ext>
            </a:extLst>
          </p:cNvPr>
          <p:cNvSpPr txBox="1"/>
          <p:nvPr/>
        </p:nvSpPr>
        <p:spPr>
          <a:xfrm>
            <a:off x="6141777" y="3800672"/>
            <a:ext cx="2844000" cy="432000"/>
          </a:xfrm>
          <a:prstGeom prst="rect">
            <a:avLst/>
          </a:prstGeom>
          <a:solidFill>
            <a:srgbClr val="4B8D56"/>
          </a:solidFill>
        </p:spPr>
        <p:txBody>
          <a:bodyPr wrap="square" rtlCol="0" anchor="ctr" anchorCtr="0">
            <a:noAutofit/>
          </a:bodyPr>
          <a:lstStyle/>
          <a:p>
            <a:pPr algn="ctr"/>
            <a:r>
              <a:rPr lang="zh-CN" altLang="en-US" sz="1400" b="1" dirty="0">
                <a:solidFill>
                  <a:schemeClr val="bg1"/>
                </a:solidFill>
                <a:latin typeface="微软雅黑" panose="020B0503020204020204" pitchFamily="34" charset="-122"/>
                <a:ea typeface="Alibaba PuHuiTi 2.0 55 Regular"/>
              </a:rPr>
              <a:t>某品牌</a:t>
            </a:r>
            <a:r>
              <a:rPr lang="en-US" altLang="zh-CN" sz="1400" b="1" dirty="0">
                <a:solidFill>
                  <a:schemeClr val="bg1"/>
                </a:solidFill>
                <a:latin typeface="微软雅黑" panose="020B0503020204020204" pitchFamily="34" charset="-122"/>
                <a:ea typeface="Alibaba PuHuiTi 2.0 55 Regular"/>
              </a:rPr>
              <a:t>vs</a:t>
            </a:r>
            <a:r>
              <a:rPr lang="zh-CN" altLang="en-US" sz="1400" b="1" dirty="0">
                <a:solidFill>
                  <a:schemeClr val="bg1"/>
                </a:solidFill>
                <a:latin typeface="微软雅黑" panose="020B0503020204020204" pitchFamily="34" charset="-122"/>
                <a:ea typeface="Alibaba PuHuiTi 2.0 55 Regular"/>
              </a:rPr>
              <a:t>特斯拉因子得分</a:t>
            </a:r>
          </a:p>
        </p:txBody>
      </p:sp>
      <p:sp>
        <p:nvSpPr>
          <p:cNvPr id="23" name="文本框 22">
            <a:extLst>
              <a:ext uri="{FF2B5EF4-FFF2-40B4-BE49-F238E27FC236}">
                <a16:creationId xmlns:a16="http://schemas.microsoft.com/office/drawing/2014/main" id="{60482B8F-DEB8-48EE-E984-1D49F6E49C33}"/>
              </a:ext>
            </a:extLst>
          </p:cNvPr>
          <p:cNvSpPr txBox="1"/>
          <p:nvPr/>
        </p:nvSpPr>
        <p:spPr>
          <a:xfrm>
            <a:off x="275400" y="3800672"/>
            <a:ext cx="2844000" cy="432000"/>
          </a:xfrm>
          <a:prstGeom prst="rect">
            <a:avLst/>
          </a:prstGeom>
          <a:solidFill>
            <a:srgbClr val="4B8D56"/>
          </a:solidFill>
        </p:spPr>
        <p:txBody>
          <a:bodyPr wrap="square" rtlCol="0" anchor="ctr" anchorCtr="0">
            <a:noAutofit/>
          </a:bodyPr>
          <a:lstStyle/>
          <a:p>
            <a:pPr algn="ctr"/>
            <a:r>
              <a:rPr lang="zh-CN" altLang="en-US" sz="1400" b="1" dirty="0">
                <a:solidFill>
                  <a:schemeClr val="bg1"/>
                </a:solidFill>
                <a:latin typeface="微软雅黑" panose="020B0503020204020204" pitchFamily="34" charset="-122"/>
                <a:ea typeface="Alibaba PuHuiTi 2.0 55 Regular"/>
              </a:rPr>
              <a:t>某品牌</a:t>
            </a:r>
            <a:r>
              <a:rPr lang="en-US" altLang="zh-CN" sz="1400" b="1" dirty="0">
                <a:solidFill>
                  <a:schemeClr val="bg1"/>
                </a:solidFill>
                <a:latin typeface="微软雅黑" panose="020B0503020204020204" pitchFamily="34" charset="-122"/>
                <a:ea typeface="Alibaba PuHuiTi 2.0 55 Regular"/>
              </a:rPr>
              <a:t>vs</a:t>
            </a:r>
            <a:r>
              <a:rPr lang="zh-CN" altLang="en-US" sz="1400" b="1" dirty="0">
                <a:solidFill>
                  <a:schemeClr val="bg1"/>
                </a:solidFill>
                <a:latin typeface="微软雅黑" panose="020B0503020204020204" pitchFamily="34" charset="-122"/>
                <a:ea typeface="Alibaba PuHuiTi 2.0 55 Regular"/>
              </a:rPr>
              <a:t>理想因子得分</a:t>
            </a:r>
          </a:p>
        </p:txBody>
      </p:sp>
      <p:sp>
        <p:nvSpPr>
          <p:cNvPr id="24" name="文本框 23">
            <a:extLst>
              <a:ext uri="{FF2B5EF4-FFF2-40B4-BE49-F238E27FC236}">
                <a16:creationId xmlns:a16="http://schemas.microsoft.com/office/drawing/2014/main" id="{18A96769-42CD-0C20-3C0D-D6CB4777ECCC}"/>
              </a:ext>
            </a:extLst>
          </p:cNvPr>
          <p:cNvSpPr txBox="1"/>
          <p:nvPr/>
        </p:nvSpPr>
        <p:spPr>
          <a:xfrm>
            <a:off x="9076392" y="3800672"/>
            <a:ext cx="2844000" cy="432000"/>
          </a:xfrm>
          <a:prstGeom prst="rect">
            <a:avLst/>
          </a:prstGeom>
          <a:solidFill>
            <a:srgbClr val="4B8D56"/>
          </a:solidFill>
        </p:spPr>
        <p:txBody>
          <a:bodyPr wrap="square" rtlCol="0" anchor="ctr" anchorCtr="0">
            <a:noAutofit/>
          </a:bodyPr>
          <a:lstStyle/>
          <a:p>
            <a:pPr algn="ctr"/>
            <a:r>
              <a:rPr lang="zh-CN" altLang="en-US" sz="1400" b="1" dirty="0">
                <a:solidFill>
                  <a:schemeClr val="bg1"/>
                </a:solidFill>
                <a:latin typeface="微软雅黑" panose="020B0503020204020204" pitchFamily="34" charset="-122"/>
                <a:ea typeface="Alibaba PuHuiTi 2.0 55 Regular"/>
              </a:rPr>
              <a:t>某品牌</a:t>
            </a:r>
            <a:r>
              <a:rPr lang="en-US" altLang="zh-CN" sz="1400" b="1" dirty="0">
                <a:solidFill>
                  <a:schemeClr val="bg1"/>
                </a:solidFill>
                <a:latin typeface="微软雅黑" panose="020B0503020204020204" pitchFamily="34" charset="-122"/>
                <a:ea typeface="Alibaba PuHuiTi 2.0 55 Regular"/>
              </a:rPr>
              <a:t>vs</a:t>
            </a:r>
            <a:r>
              <a:rPr lang="zh-CN" altLang="en-US" sz="1400" b="1" dirty="0">
                <a:solidFill>
                  <a:schemeClr val="bg1"/>
                </a:solidFill>
                <a:latin typeface="微软雅黑" panose="020B0503020204020204" pitchFamily="34" charset="-122"/>
                <a:ea typeface="Alibaba PuHuiTi 2.0 55 Regular"/>
              </a:rPr>
              <a:t>智己因子得分</a:t>
            </a:r>
          </a:p>
        </p:txBody>
      </p:sp>
      <p:graphicFrame>
        <p:nvGraphicFramePr>
          <p:cNvPr id="25" name="图表 24">
            <a:extLst>
              <a:ext uri="{FF2B5EF4-FFF2-40B4-BE49-F238E27FC236}">
                <a16:creationId xmlns:a16="http://schemas.microsoft.com/office/drawing/2014/main" id="{58E610B4-8EE5-4810-E8D4-BE11D9BBF23B}"/>
              </a:ext>
            </a:extLst>
          </p:cNvPr>
          <p:cNvGraphicFramePr/>
          <p:nvPr>
            <p:extLst>
              <p:ext uri="{D42A27DB-BD31-4B8C-83A1-F6EECF244321}">
                <p14:modId xmlns:p14="http://schemas.microsoft.com/office/powerpoint/2010/main" val="4012524845"/>
              </p:ext>
            </p:extLst>
          </p:nvPr>
        </p:nvGraphicFramePr>
        <p:xfrm>
          <a:off x="3254520" y="4268555"/>
          <a:ext cx="2848651" cy="1962117"/>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26" name="图表 25">
            <a:extLst>
              <a:ext uri="{FF2B5EF4-FFF2-40B4-BE49-F238E27FC236}">
                <a16:creationId xmlns:a16="http://schemas.microsoft.com/office/drawing/2014/main" id="{6A084C30-83DC-54EE-D78C-97C285B22277}"/>
              </a:ext>
            </a:extLst>
          </p:cNvPr>
          <p:cNvGraphicFramePr/>
          <p:nvPr>
            <p:extLst>
              <p:ext uri="{D42A27DB-BD31-4B8C-83A1-F6EECF244321}">
                <p14:modId xmlns:p14="http://schemas.microsoft.com/office/powerpoint/2010/main" val="1666355019"/>
              </p:ext>
            </p:extLst>
          </p:nvPr>
        </p:nvGraphicFramePr>
        <p:xfrm>
          <a:off x="6156263" y="4184930"/>
          <a:ext cx="2780297" cy="2033867"/>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27" name="图表 26">
            <a:extLst>
              <a:ext uri="{FF2B5EF4-FFF2-40B4-BE49-F238E27FC236}">
                <a16:creationId xmlns:a16="http://schemas.microsoft.com/office/drawing/2014/main" id="{239F6BF0-14ED-81E9-27B0-740AE4187374}"/>
              </a:ext>
            </a:extLst>
          </p:cNvPr>
          <p:cNvGraphicFramePr/>
          <p:nvPr>
            <p:extLst>
              <p:ext uri="{D42A27DB-BD31-4B8C-83A1-F6EECF244321}">
                <p14:modId xmlns:p14="http://schemas.microsoft.com/office/powerpoint/2010/main" val="355665398"/>
              </p:ext>
            </p:extLst>
          </p:nvPr>
        </p:nvGraphicFramePr>
        <p:xfrm>
          <a:off x="9085956" y="4173555"/>
          <a:ext cx="2812183" cy="2081073"/>
        </p:xfrm>
        <a:graphic>
          <a:graphicData uri="http://schemas.openxmlformats.org/drawingml/2006/chart">
            <c:chart xmlns:c="http://schemas.openxmlformats.org/drawingml/2006/chart" xmlns:r="http://schemas.openxmlformats.org/officeDocument/2006/relationships" r:id="rId16"/>
          </a:graphicData>
        </a:graphic>
      </p:graphicFrame>
      <p:sp>
        <p:nvSpPr>
          <p:cNvPr id="30" name="文本框 29">
            <a:extLst>
              <a:ext uri="{FF2B5EF4-FFF2-40B4-BE49-F238E27FC236}">
                <a16:creationId xmlns:a16="http://schemas.microsoft.com/office/drawing/2014/main" id="{F2B512BA-5E29-2A97-3DB8-E7A574DD81BB}"/>
              </a:ext>
            </a:extLst>
          </p:cNvPr>
          <p:cNvSpPr txBox="1"/>
          <p:nvPr/>
        </p:nvSpPr>
        <p:spPr>
          <a:xfrm>
            <a:off x="275400" y="1490145"/>
            <a:ext cx="2844000" cy="432000"/>
          </a:xfrm>
          <a:prstGeom prst="rect">
            <a:avLst/>
          </a:prstGeom>
          <a:solidFill>
            <a:srgbClr val="4B8D56"/>
          </a:solidFill>
        </p:spPr>
        <p:txBody>
          <a:bodyPr wrap="square" rtlCol="0" anchor="ctr" anchorCtr="0">
            <a:noAutofit/>
          </a:bodyPr>
          <a:lstStyle/>
          <a:p>
            <a:pPr algn="ctr"/>
            <a:r>
              <a:rPr lang="zh-CN" altLang="en-US" sz="1400" b="1" dirty="0">
                <a:solidFill>
                  <a:schemeClr val="bg1"/>
                </a:solidFill>
                <a:latin typeface="微软雅黑" panose="020B0503020204020204" pitchFamily="34" charset="-122"/>
                <a:ea typeface="Alibaba PuHuiTi 2.0 55 Regular"/>
              </a:rPr>
              <a:t>某品牌</a:t>
            </a:r>
            <a:r>
              <a:rPr lang="en-US" altLang="zh-CN" sz="1400" b="1" dirty="0">
                <a:solidFill>
                  <a:schemeClr val="bg1"/>
                </a:solidFill>
                <a:latin typeface="微软雅黑" panose="020B0503020204020204" pitchFamily="34" charset="-122"/>
                <a:ea typeface="Alibaba PuHuiTi 2.0 55 Regular"/>
              </a:rPr>
              <a:t>H1vsH2</a:t>
            </a:r>
            <a:r>
              <a:rPr lang="zh-CN" altLang="en-US" sz="1400" b="1" dirty="0">
                <a:solidFill>
                  <a:schemeClr val="bg1"/>
                </a:solidFill>
                <a:latin typeface="微软雅黑" panose="020B0503020204020204" pitchFamily="34" charset="-122"/>
                <a:ea typeface="Alibaba PuHuiTi 2.0 55 Regular"/>
              </a:rPr>
              <a:t>因子得分</a:t>
            </a:r>
          </a:p>
        </p:txBody>
      </p:sp>
      <p:graphicFrame>
        <p:nvGraphicFramePr>
          <p:cNvPr id="31" name="图表 30">
            <a:extLst>
              <a:ext uri="{FF2B5EF4-FFF2-40B4-BE49-F238E27FC236}">
                <a16:creationId xmlns:a16="http://schemas.microsoft.com/office/drawing/2014/main" id="{FEA1C7F4-3EE8-6FFC-B0B4-D424374BF560}"/>
              </a:ext>
            </a:extLst>
          </p:cNvPr>
          <p:cNvGraphicFramePr/>
          <p:nvPr>
            <p:extLst>
              <p:ext uri="{D42A27DB-BD31-4B8C-83A1-F6EECF244321}">
                <p14:modId xmlns:p14="http://schemas.microsoft.com/office/powerpoint/2010/main" val="2467767387"/>
              </p:ext>
            </p:extLst>
          </p:nvPr>
        </p:nvGraphicFramePr>
        <p:xfrm>
          <a:off x="270071" y="1857159"/>
          <a:ext cx="2842706" cy="1962117"/>
        </p:xfrm>
        <a:graphic>
          <a:graphicData uri="http://schemas.openxmlformats.org/drawingml/2006/chart">
            <c:chart xmlns:c="http://schemas.openxmlformats.org/drawingml/2006/chart" xmlns:r="http://schemas.openxmlformats.org/officeDocument/2006/relationships" r:id="rId17"/>
          </a:graphicData>
        </a:graphic>
      </p:graphicFrame>
      <p:sp>
        <p:nvSpPr>
          <p:cNvPr id="16" name="文本占位符 7">
            <a:extLst>
              <a:ext uri="{FF2B5EF4-FFF2-40B4-BE49-F238E27FC236}">
                <a16:creationId xmlns:a16="http://schemas.microsoft.com/office/drawing/2014/main" id="{24496ABE-5D6B-09DD-93D8-A4F64A65F886}"/>
              </a:ext>
            </a:extLst>
          </p:cNvPr>
          <p:cNvSpPr txBox="1">
            <a:spLocks/>
          </p:cNvSpPr>
          <p:nvPr/>
        </p:nvSpPr>
        <p:spPr>
          <a:xfrm>
            <a:off x="263525" y="918764"/>
            <a:ext cx="11664950" cy="565549"/>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某品牌较上半年在到店接待，洽谈下定环节提升幅度最大；到店接待、试乘试驾得分高于所有竞品，送别与回访得分低于除特斯拉外的所有竞品</a:t>
            </a:r>
          </a:p>
        </p:txBody>
      </p:sp>
    </p:spTree>
    <p:extLst>
      <p:ext uri="{BB962C8B-B14F-4D97-AF65-F5344CB8AC3E}">
        <p14:creationId xmlns:p14="http://schemas.microsoft.com/office/powerpoint/2010/main" val="3898714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3948C971-A4FC-591A-9DFE-A0E119771D8C}"/>
              </a:ext>
            </a:extLst>
          </p:cNvPr>
          <p:cNvSpPr/>
          <p:nvPr/>
        </p:nvSpPr>
        <p:spPr>
          <a:xfrm>
            <a:off x="282678" y="1933609"/>
            <a:ext cx="11645797" cy="41732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aphicFrame>
        <p:nvGraphicFramePr>
          <p:cNvPr id="50" name="图表 49">
            <a:extLst>
              <a:ext uri="{FF2B5EF4-FFF2-40B4-BE49-F238E27FC236}">
                <a16:creationId xmlns:a16="http://schemas.microsoft.com/office/drawing/2014/main" id="{B490B18A-11EE-9811-17B0-1A7AE4E5FBAA}"/>
              </a:ext>
            </a:extLst>
          </p:cNvPr>
          <p:cNvGraphicFramePr>
            <a:graphicFrameLocks noChangeAspect="1"/>
          </p:cNvGraphicFramePr>
          <p:nvPr>
            <p:extLst>
              <p:ext uri="{D42A27DB-BD31-4B8C-83A1-F6EECF244321}">
                <p14:modId xmlns:p14="http://schemas.microsoft.com/office/powerpoint/2010/main" val="2343916188"/>
              </p:ext>
            </p:extLst>
          </p:nvPr>
        </p:nvGraphicFramePr>
        <p:xfrm>
          <a:off x="291519" y="2199433"/>
          <a:ext cx="11636956" cy="4190289"/>
        </p:xfrm>
        <a:graphic>
          <a:graphicData uri="http://schemas.openxmlformats.org/drawingml/2006/chart">
            <c:chart xmlns:c="http://schemas.openxmlformats.org/drawingml/2006/chart" xmlns:r="http://schemas.openxmlformats.org/officeDocument/2006/relationships" r:id="rId2"/>
          </a:graphicData>
        </a:graphic>
      </p:graphicFrame>
      <p:sp>
        <p:nvSpPr>
          <p:cNvPr id="2" name="文本占位符 1">
            <a:extLst>
              <a:ext uri="{FF2B5EF4-FFF2-40B4-BE49-F238E27FC236}">
                <a16:creationId xmlns:a16="http://schemas.microsoft.com/office/drawing/2014/main" id="{9F10B788-B8C3-1418-A03F-B548D74FBAED}"/>
              </a:ext>
            </a:extLst>
          </p:cNvPr>
          <p:cNvSpPr>
            <a:spLocks noGrp="1"/>
          </p:cNvSpPr>
          <p:nvPr>
            <p:ph type="body" sz="quarter" idx="21"/>
          </p:nvPr>
        </p:nvSpPr>
        <p:spPr/>
        <p:txBody>
          <a:bodyPr/>
          <a:lstStyle/>
          <a:p>
            <a:r>
              <a:rPr kumimoji="1" lang="en-US" altLang="zh-CN" dirty="0">
                <a:latin typeface="+mn-ea"/>
                <a:ea typeface="+mn-ea"/>
              </a:rPr>
              <a:t>2.2 SSI</a:t>
            </a:r>
            <a:r>
              <a:rPr kumimoji="1" lang="zh-CN" altLang="en-US" dirty="0">
                <a:latin typeface="+mn-ea"/>
                <a:ea typeface="+mn-ea"/>
              </a:rPr>
              <a:t>（销售部分）</a:t>
            </a:r>
            <a:r>
              <a:rPr kumimoji="1" lang="en-US" altLang="zh-CN" dirty="0">
                <a:latin typeface="+mn-ea"/>
                <a:ea typeface="+mn-ea"/>
              </a:rPr>
              <a:t>– </a:t>
            </a:r>
            <a:r>
              <a:rPr lang="zh-CN" altLang="en-US" dirty="0"/>
              <a:t>要素得分</a:t>
            </a:r>
          </a:p>
        </p:txBody>
      </p:sp>
      <p:sp>
        <p:nvSpPr>
          <p:cNvPr id="8" name="文本占位符 7">
            <a:extLst>
              <a:ext uri="{FF2B5EF4-FFF2-40B4-BE49-F238E27FC236}">
                <a16:creationId xmlns:a16="http://schemas.microsoft.com/office/drawing/2014/main" id="{0792E2E5-D3CF-1DDF-0F12-D2E9538B0779}"/>
              </a:ext>
            </a:extLst>
          </p:cNvPr>
          <p:cNvSpPr>
            <a:spLocks noGrp="1"/>
          </p:cNvSpPr>
          <p:nvPr>
            <p:ph type="body" sz="quarter" idx="22"/>
          </p:nvPr>
        </p:nvSpPr>
        <p:spPr>
          <a:xfrm>
            <a:off x="311065" y="906889"/>
            <a:ext cx="11547560" cy="558686"/>
          </a:xfrm>
        </p:spPr>
        <p:txBody>
          <a:bodyPr/>
          <a:lstStyle/>
          <a:p>
            <a:pPr>
              <a:lnSpc>
                <a:spcPct val="100000"/>
              </a:lnSpc>
              <a:spcBef>
                <a:spcPts val="0"/>
              </a:spcBef>
            </a:pPr>
            <a:r>
              <a:rPr lang="zh-CN" altLang="en-US" dirty="0">
                <a:latin typeface="+mn-ea"/>
                <a:ea typeface="+mn-ea"/>
              </a:rPr>
              <a:t>与各竞品对比中，某品牌在人员接待，静态体验，销售顾问服务态度，试乘试驾邀约准备和车辆状况，金融和保险服务，付款体验方面的满意度排名第一，在提供的饮料服务，离店后回访排名最后</a:t>
            </a:r>
          </a:p>
        </p:txBody>
      </p:sp>
      <p:sp>
        <p:nvSpPr>
          <p:cNvPr id="5" name="灯片编号占位符 4">
            <a:extLst>
              <a:ext uri="{FF2B5EF4-FFF2-40B4-BE49-F238E27FC236}">
                <a16:creationId xmlns:a16="http://schemas.microsoft.com/office/drawing/2014/main" id="{55D015F0-0EF6-45D2-D0D0-C8EE67B94881}"/>
              </a:ext>
            </a:extLst>
          </p:cNvPr>
          <p:cNvSpPr>
            <a:spLocks noGrp="1"/>
          </p:cNvSpPr>
          <p:nvPr>
            <p:ph type="sldNum" sz="quarter" idx="4"/>
          </p:nvPr>
        </p:nvSpPr>
        <p:spPr/>
        <p:txBody>
          <a:bodyPr/>
          <a:lstStyle/>
          <a:p>
            <a:fld id="{04824671-56D2-5D44-834F-250C3DA554E9}" type="slidenum">
              <a:rPr lang="zh-CN" altLang="en-US" smtClean="0"/>
              <a:t>29</a:t>
            </a:fld>
            <a:endParaRPr lang="zh-CN" altLang="en-US" dirty="0"/>
          </a:p>
        </p:txBody>
      </p:sp>
      <p:sp>
        <p:nvSpPr>
          <p:cNvPr id="11" name="文本框 10">
            <a:extLst>
              <a:ext uri="{FF2B5EF4-FFF2-40B4-BE49-F238E27FC236}">
                <a16:creationId xmlns:a16="http://schemas.microsoft.com/office/drawing/2014/main" id="{C14AC93C-D6FA-AEF3-90BA-7D5F971B88EF}"/>
              </a:ext>
            </a:extLst>
          </p:cNvPr>
          <p:cNvSpPr txBox="1"/>
          <p:nvPr/>
        </p:nvSpPr>
        <p:spPr>
          <a:xfrm>
            <a:off x="274158" y="1512689"/>
            <a:ext cx="11657464" cy="400110"/>
          </a:xfrm>
          <a:prstGeom prst="rect">
            <a:avLst/>
          </a:prstGeom>
          <a:solidFill>
            <a:srgbClr val="4B8D56"/>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prstClr val="white"/>
                </a:solidFill>
                <a:latin typeface="微软雅黑" panose="020B0503020204020204" pitchFamily="34" charset="-122"/>
                <a:ea typeface="微软雅黑" panose="020B0503020204020204" pitchFamily="34" charset="-122"/>
              </a:rPr>
              <a:t>某品牌销售服务</a:t>
            </a: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满意度</a:t>
            </a: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2023</a:t>
            </a: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年下半年要素得分情况</a:t>
            </a:r>
          </a:p>
        </p:txBody>
      </p:sp>
      <p:sp>
        <p:nvSpPr>
          <p:cNvPr id="12" name="矩形: 圆角 11">
            <a:extLst>
              <a:ext uri="{FF2B5EF4-FFF2-40B4-BE49-F238E27FC236}">
                <a16:creationId xmlns:a16="http://schemas.microsoft.com/office/drawing/2014/main" id="{D3897C2E-B239-FCEF-65BA-DAAE6453A4B0}"/>
              </a:ext>
            </a:extLst>
          </p:cNvPr>
          <p:cNvSpPr/>
          <p:nvPr/>
        </p:nvSpPr>
        <p:spPr>
          <a:xfrm>
            <a:off x="6927899" y="3084884"/>
            <a:ext cx="1147814" cy="207433"/>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rgbClr val="C00000"/>
                </a:solidFill>
              </a:rPr>
              <a:t>均分：</a:t>
            </a:r>
            <a:r>
              <a:rPr lang="en-US" altLang="zh-CN" sz="1000" dirty="0">
                <a:solidFill>
                  <a:srgbClr val="C00000"/>
                </a:solidFill>
              </a:rPr>
              <a:t>8.69</a:t>
            </a:r>
            <a:endParaRPr lang="zh-CN" altLang="en-US" sz="1000" dirty="0">
              <a:solidFill>
                <a:srgbClr val="C00000"/>
              </a:solidFill>
            </a:endParaRPr>
          </a:p>
        </p:txBody>
      </p:sp>
      <p:graphicFrame>
        <p:nvGraphicFramePr>
          <p:cNvPr id="13" name="表格 23">
            <a:extLst>
              <a:ext uri="{FF2B5EF4-FFF2-40B4-BE49-F238E27FC236}">
                <a16:creationId xmlns:a16="http://schemas.microsoft.com/office/drawing/2014/main" id="{05F4127C-2E46-4895-30A1-FD8F4124A87A}"/>
              </a:ext>
            </a:extLst>
          </p:cNvPr>
          <p:cNvGraphicFramePr>
            <a:graphicFrameLocks noGrp="1"/>
          </p:cNvGraphicFramePr>
          <p:nvPr>
            <p:extLst>
              <p:ext uri="{D42A27DB-BD31-4B8C-83A1-F6EECF244321}">
                <p14:modId xmlns:p14="http://schemas.microsoft.com/office/powerpoint/2010/main" val="3657076339"/>
              </p:ext>
            </p:extLst>
          </p:nvPr>
        </p:nvGraphicFramePr>
        <p:xfrm>
          <a:off x="405346" y="3955149"/>
          <a:ext cx="11468716" cy="2132934"/>
        </p:xfrm>
        <a:graphic>
          <a:graphicData uri="http://schemas.openxmlformats.org/drawingml/2006/table">
            <a:tbl>
              <a:tblPr firstRow="1" bandRow="1">
                <a:tableStyleId>{5C22544A-7EE6-4342-B048-85BDC9FD1C3A}</a:tableStyleId>
              </a:tblPr>
              <a:tblGrid>
                <a:gridCol w="409597">
                  <a:extLst>
                    <a:ext uri="{9D8B030D-6E8A-4147-A177-3AD203B41FA5}">
                      <a16:colId xmlns:a16="http://schemas.microsoft.com/office/drawing/2014/main" val="1227781518"/>
                    </a:ext>
                  </a:extLst>
                </a:gridCol>
                <a:gridCol w="409597">
                  <a:extLst>
                    <a:ext uri="{9D8B030D-6E8A-4147-A177-3AD203B41FA5}">
                      <a16:colId xmlns:a16="http://schemas.microsoft.com/office/drawing/2014/main" val="3194243442"/>
                    </a:ext>
                  </a:extLst>
                </a:gridCol>
                <a:gridCol w="409597">
                  <a:extLst>
                    <a:ext uri="{9D8B030D-6E8A-4147-A177-3AD203B41FA5}">
                      <a16:colId xmlns:a16="http://schemas.microsoft.com/office/drawing/2014/main" val="3529991598"/>
                    </a:ext>
                  </a:extLst>
                </a:gridCol>
                <a:gridCol w="409597">
                  <a:extLst>
                    <a:ext uri="{9D8B030D-6E8A-4147-A177-3AD203B41FA5}">
                      <a16:colId xmlns:a16="http://schemas.microsoft.com/office/drawing/2014/main" val="1841644659"/>
                    </a:ext>
                  </a:extLst>
                </a:gridCol>
                <a:gridCol w="409597">
                  <a:extLst>
                    <a:ext uri="{9D8B030D-6E8A-4147-A177-3AD203B41FA5}">
                      <a16:colId xmlns:a16="http://schemas.microsoft.com/office/drawing/2014/main" val="3662330468"/>
                    </a:ext>
                  </a:extLst>
                </a:gridCol>
                <a:gridCol w="409597">
                  <a:extLst>
                    <a:ext uri="{9D8B030D-6E8A-4147-A177-3AD203B41FA5}">
                      <a16:colId xmlns:a16="http://schemas.microsoft.com/office/drawing/2014/main" val="2595943707"/>
                    </a:ext>
                  </a:extLst>
                </a:gridCol>
                <a:gridCol w="409597">
                  <a:extLst>
                    <a:ext uri="{9D8B030D-6E8A-4147-A177-3AD203B41FA5}">
                      <a16:colId xmlns:a16="http://schemas.microsoft.com/office/drawing/2014/main" val="149973627"/>
                    </a:ext>
                  </a:extLst>
                </a:gridCol>
                <a:gridCol w="409597">
                  <a:extLst>
                    <a:ext uri="{9D8B030D-6E8A-4147-A177-3AD203B41FA5}">
                      <a16:colId xmlns:a16="http://schemas.microsoft.com/office/drawing/2014/main" val="664116988"/>
                    </a:ext>
                  </a:extLst>
                </a:gridCol>
                <a:gridCol w="409597">
                  <a:extLst>
                    <a:ext uri="{9D8B030D-6E8A-4147-A177-3AD203B41FA5}">
                      <a16:colId xmlns:a16="http://schemas.microsoft.com/office/drawing/2014/main" val="2715076097"/>
                    </a:ext>
                  </a:extLst>
                </a:gridCol>
                <a:gridCol w="409597">
                  <a:extLst>
                    <a:ext uri="{9D8B030D-6E8A-4147-A177-3AD203B41FA5}">
                      <a16:colId xmlns:a16="http://schemas.microsoft.com/office/drawing/2014/main" val="3972825887"/>
                    </a:ext>
                  </a:extLst>
                </a:gridCol>
                <a:gridCol w="409597">
                  <a:extLst>
                    <a:ext uri="{9D8B030D-6E8A-4147-A177-3AD203B41FA5}">
                      <a16:colId xmlns:a16="http://schemas.microsoft.com/office/drawing/2014/main" val="905361950"/>
                    </a:ext>
                  </a:extLst>
                </a:gridCol>
                <a:gridCol w="409597">
                  <a:extLst>
                    <a:ext uri="{9D8B030D-6E8A-4147-A177-3AD203B41FA5}">
                      <a16:colId xmlns:a16="http://schemas.microsoft.com/office/drawing/2014/main" val="165801914"/>
                    </a:ext>
                  </a:extLst>
                </a:gridCol>
                <a:gridCol w="409597">
                  <a:extLst>
                    <a:ext uri="{9D8B030D-6E8A-4147-A177-3AD203B41FA5}">
                      <a16:colId xmlns:a16="http://schemas.microsoft.com/office/drawing/2014/main" val="1821130080"/>
                    </a:ext>
                  </a:extLst>
                </a:gridCol>
                <a:gridCol w="409597">
                  <a:extLst>
                    <a:ext uri="{9D8B030D-6E8A-4147-A177-3AD203B41FA5}">
                      <a16:colId xmlns:a16="http://schemas.microsoft.com/office/drawing/2014/main" val="3747378641"/>
                    </a:ext>
                  </a:extLst>
                </a:gridCol>
                <a:gridCol w="409597">
                  <a:extLst>
                    <a:ext uri="{9D8B030D-6E8A-4147-A177-3AD203B41FA5}">
                      <a16:colId xmlns:a16="http://schemas.microsoft.com/office/drawing/2014/main" val="1082922661"/>
                    </a:ext>
                  </a:extLst>
                </a:gridCol>
                <a:gridCol w="409597">
                  <a:extLst>
                    <a:ext uri="{9D8B030D-6E8A-4147-A177-3AD203B41FA5}">
                      <a16:colId xmlns:a16="http://schemas.microsoft.com/office/drawing/2014/main" val="3826858582"/>
                    </a:ext>
                  </a:extLst>
                </a:gridCol>
                <a:gridCol w="409597">
                  <a:extLst>
                    <a:ext uri="{9D8B030D-6E8A-4147-A177-3AD203B41FA5}">
                      <a16:colId xmlns:a16="http://schemas.microsoft.com/office/drawing/2014/main" val="3033029709"/>
                    </a:ext>
                  </a:extLst>
                </a:gridCol>
                <a:gridCol w="409597">
                  <a:extLst>
                    <a:ext uri="{9D8B030D-6E8A-4147-A177-3AD203B41FA5}">
                      <a16:colId xmlns:a16="http://schemas.microsoft.com/office/drawing/2014/main" val="1704508738"/>
                    </a:ext>
                  </a:extLst>
                </a:gridCol>
                <a:gridCol w="409597">
                  <a:extLst>
                    <a:ext uri="{9D8B030D-6E8A-4147-A177-3AD203B41FA5}">
                      <a16:colId xmlns:a16="http://schemas.microsoft.com/office/drawing/2014/main" val="1446505954"/>
                    </a:ext>
                  </a:extLst>
                </a:gridCol>
                <a:gridCol w="409597">
                  <a:extLst>
                    <a:ext uri="{9D8B030D-6E8A-4147-A177-3AD203B41FA5}">
                      <a16:colId xmlns:a16="http://schemas.microsoft.com/office/drawing/2014/main" val="3172932361"/>
                    </a:ext>
                  </a:extLst>
                </a:gridCol>
                <a:gridCol w="409597">
                  <a:extLst>
                    <a:ext uri="{9D8B030D-6E8A-4147-A177-3AD203B41FA5}">
                      <a16:colId xmlns:a16="http://schemas.microsoft.com/office/drawing/2014/main" val="3099562031"/>
                    </a:ext>
                  </a:extLst>
                </a:gridCol>
                <a:gridCol w="409597">
                  <a:extLst>
                    <a:ext uri="{9D8B030D-6E8A-4147-A177-3AD203B41FA5}">
                      <a16:colId xmlns:a16="http://schemas.microsoft.com/office/drawing/2014/main" val="1860452772"/>
                    </a:ext>
                  </a:extLst>
                </a:gridCol>
                <a:gridCol w="409597">
                  <a:extLst>
                    <a:ext uri="{9D8B030D-6E8A-4147-A177-3AD203B41FA5}">
                      <a16:colId xmlns:a16="http://schemas.microsoft.com/office/drawing/2014/main" val="3113495753"/>
                    </a:ext>
                  </a:extLst>
                </a:gridCol>
                <a:gridCol w="409597">
                  <a:extLst>
                    <a:ext uri="{9D8B030D-6E8A-4147-A177-3AD203B41FA5}">
                      <a16:colId xmlns:a16="http://schemas.microsoft.com/office/drawing/2014/main" val="1556808831"/>
                    </a:ext>
                  </a:extLst>
                </a:gridCol>
                <a:gridCol w="409597">
                  <a:extLst>
                    <a:ext uri="{9D8B030D-6E8A-4147-A177-3AD203B41FA5}">
                      <a16:colId xmlns:a16="http://schemas.microsoft.com/office/drawing/2014/main" val="2835416030"/>
                    </a:ext>
                  </a:extLst>
                </a:gridCol>
                <a:gridCol w="409597">
                  <a:extLst>
                    <a:ext uri="{9D8B030D-6E8A-4147-A177-3AD203B41FA5}">
                      <a16:colId xmlns:a16="http://schemas.microsoft.com/office/drawing/2014/main" val="2312528910"/>
                    </a:ext>
                  </a:extLst>
                </a:gridCol>
                <a:gridCol w="409597">
                  <a:extLst>
                    <a:ext uri="{9D8B030D-6E8A-4147-A177-3AD203B41FA5}">
                      <a16:colId xmlns:a16="http://schemas.microsoft.com/office/drawing/2014/main" val="3723312442"/>
                    </a:ext>
                  </a:extLst>
                </a:gridCol>
                <a:gridCol w="409597">
                  <a:extLst>
                    <a:ext uri="{9D8B030D-6E8A-4147-A177-3AD203B41FA5}">
                      <a16:colId xmlns:a16="http://schemas.microsoft.com/office/drawing/2014/main" val="356526695"/>
                    </a:ext>
                  </a:extLst>
                </a:gridCol>
              </a:tblGrid>
              <a:tr h="2132934">
                <a:tc>
                  <a:txBody>
                    <a:bodyPr/>
                    <a:lstStyle/>
                    <a:p>
                      <a:pPr algn="l" fontAlgn="b"/>
                      <a:r>
                        <a:rPr lang="zh-CN" altLang="en-US" sz="900" b="0" u="none" strike="noStrike" kern="1200" dirty="0">
                          <a:solidFill>
                            <a:schemeClr val="tx1"/>
                          </a:solidFill>
                          <a:effectLst/>
                          <a:latin typeface="+mn-lt"/>
                          <a:ea typeface="微软雅黑" panose="020B0503020204020204" pitchFamily="34" charset="-122"/>
                          <a:cs typeface="+mn-cs"/>
                        </a:rPr>
                        <a:t>咨询过程的专业度</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0" i="0" u="none" strike="noStrike">
                          <a:solidFill>
                            <a:schemeClr val="tx1"/>
                          </a:solidFill>
                          <a:effectLst/>
                          <a:latin typeface="微软雅黑" panose="020B0503020204020204" pitchFamily="34" charset="-122"/>
                          <a:ea typeface="微软雅黑" panose="020B0503020204020204" pitchFamily="34" charset="-122"/>
                        </a:rPr>
                        <a:t>预约便利性</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1" i="0" u="none" strike="noStrike" dirty="0">
                          <a:solidFill>
                            <a:srgbClr val="4B8D56"/>
                          </a:solidFill>
                          <a:effectLst/>
                          <a:latin typeface="微软雅黑" panose="020B0503020204020204" pitchFamily="34" charset="-122"/>
                          <a:ea typeface="微软雅黑" panose="020B0503020204020204" pitchFamily="34" charset="-122"/>
                        </a:rPr>
                        <a:t>人员接待及时性与主动性</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0" i="0" u="none" strike="noStrike">
                          <a:solidFill>
                            <a:schemeClr val="tx1"/>
                          </a:solidFill>
                          <a:effectLst/>
                          <a:latin typeface="微软雅黑" panose="020B0503020204020204" pitchFamily="34" charset="-122"/>
                          <a:ea typeface="微软雅黑" panose="020B0503020204020204" pitchFamily="34" charset="-122"/>
                        </a:rPr>
                        <a:t>销售顾问对车型介绍专业性</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0" i="0" u="none" strike="noStrike" dirty="0">
                          <a:solidFill>
                            <a:schemeClr val="tx1"/>
                          </a:solidFill>
                          <a:effectLst/>
                          <a:latin typeface="微软雅黑" panose="020B0503020204020204" pitchFamily="34" charset="-122"/>
                          <a:ea typeface="微软雅黑" panose="020B0503020204020204" pitchFamily="34" charset="-122"/>
                        </a:rPr>
                        <a:t>销售顾问理解购车需求及推荐</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1" i="0" u="none" strike="noStrike" dirty="0">
                          <a:solidFill>
                            <a:srgbClr val="4B8D56"/>
                          </a:solidFill>
                          <a:effectLst/>
                          <a:latin typeface="微软雅黑" panose="020B0503020204020204" pitchFamily="34" charset="-122"/>
                          <a:ea typeface="微软雅黑" panose="020B0503020204020204" pitchFamily="34" charset="-122"/>
                        </a:rPr>
                        <a:t>门店静态演示和体验表现</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1" u="none" strike="noStrike" kern="1200" dirty="0">
                          <a:solidFill>
                            <a:srgbClr val="4B8D56"/>
                          </a:solidFill>
                          <a:effectLst/>
                          <a:latin typeface="+mn-lt"/>
                          <a:ea typeface="微软雅黑" panose="020B0503020204020204" pitchFamily="34" charset="-122"/>
                          <a:cs typeface="+mn-cs"/>
                        </a:rPr>
                        <a:t>销售顾问的服务态度</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0" i="0" u="none" strike="noStrike" dirty="0">
                          <a:solidFill>
                            <a:schemeClr val="tx1"/>
                          </a:solidFill>
                          <a:effectLst/>
                          <a:latin typeface="微软雅黑" panose="020B0503020204020204" pitchFamily="34" charset="-122"/>
                          <a:ea typeface="微软雅黑" panose="020B0503020204020204" pitchFamily="34" charset="-122"/>
                        </a:rPr>
                        <a:t>销售顾问诚信度</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0" i="0" u="none" strike="noStrike">
                          <a:solidFill>
                            <a:schemeClr val="tx1"/>
                          </a:solidFill>
                          <a:effectLst/>
                          <a:latin typeface="微软雅黑" panose="020B0503020204020204" pitchFamily="34" charset="-122"/>
                          <a:ea typeface="微软雅黑" panose="020B0503020204020204" pitchFamily="34" charset="-122"/>
                        </a:rPr>
                        <a:t>销售顾问的形象</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0" i="0" u="none" strike="noStrike" dirty="0">
                          <a:solidFill>
                            <a:schemeClr val="tx1"/>
                          </a:solidFill>
                          <a:effectLst/>
                          <a:latin typeface="微软雅黑" panose="020B0503020204020204" pitchFamily="34" charset="-122"/>
                          <a:ea typeface="微软雅黑" panose="020B0503020204020204" pitchFamily="34" charset="-122"/>
                        </a:rPr>
                        <a:t>展车情况</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0" i="0" u="none" strike="noStrike">
                          <a:solidFill>
                            <a:schemeClr val="tx1"/>
                          </a:solidFill>
                          <a:effectLst/>
                          <a:latin typeface="微软雅黑" panose="020B0503020204020204" pitchFamily="34" charset="-122"/>
                          <a:ea typeface="微软雅黑" panose="020B0503020204020204" pitchFamily="34" charset="-122"/>
                        </a:rPr>
                        <a:t>店内硬件设施</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algn="l" defTabSz="914400" rtl="0" eaLnBrk="1" fontAlgn="b" latinLnBrk="0" hangingPunct="1"/>
                      <a:r>
                        <a:rPr lang="zh-CN" altLang="en-US" sz="900" b="1" u="none" strike="noStrike" kern="1200" dirty="0">
                          <a:solidFill>
                            <a:srgbClr val="C00000"/>
                          </a:solidFill>
                          <a:effectLst/>
                          <a:latin typeface="+mn-lt"/>
                          <a:ea typeface="微软雅黑" panose="020B0503020204020204" pitchFamily="34" charset="-122"/>
                          <a:cs typeface="+mn-cs"/>
                        </a:rPr>
                        <a:t>提供的饮料服务</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0" u="none" strike="noStrike" kern="1200" dirty="0">
                          <a:solidFill>
                            <a:schemeClr val="tx1"/>
                          </a:solidFill>
                          <a:effectLst/>
                          <a:latin typeface="+mn-lt"/>
                          <a:ea typeface="微软雅黑" panose="020B0503020204020204" pitchFamily="34" charset="-122"/>
                          <a:cs typeface="+mn-cs"/>
                        </a:rPr>
                        <a:t>店内设计风格</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1" i="0" u="none" strike="noStrike" dirty="0">
                          <a:solidFill>
                            <a:srgbClr val="4B8D56"/>
                          </a:solidFill>
                          <a:effectLst/>
                          <a:latin typeface="微软雅黑" panose="020B0503020204020204" pitchFamily="34" charset="-122"/>
                          <a:ea typeface="微软雅黑" panose="020B0503020204020204" pitchFamily="34" charset="-122"/>
                        </a:rPr>
                        <a:t>门店试驾邀约满意度</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1" u="none" strike="noStrike" kern="1200" dirty="0">
                          <a:solidFill>
                            <a:srgbClr val="4B8D56"/>
                          </a:solidFill>
                          <a:effectLst/>
                          <a:latin typeface="+mn-lt"/>
                          <a:ea typeface="微软雅黑" panose="020B0503020204020204" pitchFamily="34" charset="-122"/>
                          <a:cs typeface="+mn-cs"/>
                        </a:rPr>
                        <a:t>试驾申请流程便捷程度</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1" u="none" strike="noStrike" kern="1200" dirty="0">
                          <a:solidFill>
                            <a:srgbClr val="4B8D56"/>
                          </a:solidFill>
                          <a:effectLst/>
                          <a:latin typeface="+mn-lt"/>
                          <a:ea typeface="微软雅黑" panose="020B0503020204020204" pitchFamily="34" charset="-122"/>
                          <a:cs typeface="+mn-cs"/>
                        </a:rPr>
                        <a:t>对试驾等待时间的满意度</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1" i="0" u="none" strike="noStrike" dirty="0">
                          <a:solidFill>
                            <a:srgbClr val="4B8D56"/>
                          </a:solidFill>
                          <a:effectLst/>
                          <a:latin typeface="微软雅黑" panose="020B0503020204020204" pitchFamily="34" charset="-122"/>
                          <a:ea typeface="微软雅黑" panose="020B0503020204020204" pitchFamily="34" charset="-122"/>
                        </a:rPr>
                        <a:t>试驾前的准备工作满意度</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1" u="none" strike="noStrike" kern="1200" dirty="0">
                          <a:solidFill>
                            <a:srgbClr val="4B8D56"/>
                          </a:solidFill>
                          <a:effectLst/>
                          <a:latin typeface="+mn-lt"/>
                          <a:ea typeface="微软雅黑" panose="020B0503020204020204" pitchFamily="34" charset="-122"/>
                          <a:cs typeface="+mn-cs"/>
                        </a:rPr>
                        <a:t>试乘试驾车辆状况</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0" i="0" u="none" strike="noStrike">
                          <a:solidFill>
                            <a:schemeClr val="tx1"/>
                          </a:solidFill>
                          <a:effectLst/>
                          <a:latin typeface="微软雅黑" panose="020B0503020204020204" pitchFamily="34" charset="-122"/>
                          <a:ea typeface="微软雅黑" panose="020B0503020204020204" pitchFamily="34" charset="-122"/>
                        </a:rPr>
                        <a:t>试驾时长与试驾路线安排</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0" i="0" u="none" strike="noStrike" dirty="0">
                          <a:solidFill>
                            <a:schemeClr val="tx1"/>
                          </a:solidFill>
                          <a:effectLst/>
                          <a:latin typeface="微软雅黑" panose="020B0503020204020204" pitchFamily="34" charset="-122"/>
                          <a:ea typeface="微软雅黑" panose="020B0503020204020204" pitchFamily="34" charset="-122"/>
                        </a:rPr>
                        <a:t>试驾时的的讲解专业性</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0" i="0" u="none" strike="noStrike">
                          <a:solidFill>
                            <a:schemeClr val="tx1"/>
                          </a:solidFill>
                          <a:effectLst/>
                          <a:latin typeface="微软雅黑" panose="020B0503020204020204" pitchFamily="34" charset="-122"/>
                          <a:ea typeface="微软雅黑" panose="020B0503020204020204" pitchFamily="34" charset="-122"/>
                        </a:rPr>
                        <a:t>试驾结束后的持续服务</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0" i="0" u="none" strike="noStrike">
                          <a:solidFill>
                            <a:schemeClr val="tx1"/>
                          </a:solidFill>
                          <a:effectLst/>
                          <a:latin typeface="微软雅黑" panose="020B0503020204020204" pitchFamily="34" charset="-122"/>
                          <a:ea typeface="微软雅黑" panose="020B0503020204020204" pitchFamily="34" charset="-122"/>
                        </a:rPr>
                        <a:t>产品报价和下定政策介绍清晰程度</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0" u="none" strike="noStrike" kern="1200" dirty="0">
                          <a:solidFill>
                            <a:schemeClr val="tx1"/>
                          </a:solidFill>
                          <a:effectLst/>
                          <a:latin typeface="+mn-lt"/>
                          <a:ea typeface="微软雅黑" panose="020B0503020204020204" pitchFamily="34" charset="-122"/>
                          <a:cs typeface="+mn-cs"/>
                        </a:rPr>
                        <a:t>车主权益和服务的介绍清晰程度</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1" i="0" u="none" strike="noStrike" dirty="0">
                          <a:solidFill>
                            <a:srgbClr val="4B8D56"/>
                          </a:solidFill>
                          <a:effectLst/>
                          <a:latin typeface="微软雅黑" panose="020B0503020204020204" pitchFamily="34" charset="-122"/>
                          <a:ea typeface="微软雅黑" panose="020B0503020204020204" pitchFamily="34" charset="-122"/>
                        </a:rPr>
                        <a:t>金融服务体验满意度</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1" i="0" u="none" strike="noStrike" dirty="0">
                          <a:solidFill>
                            <a:srgbClr val="4B8D56"/>
                          </a:solidFill>
                          <a:effectLst/>
                          <a:latin typeface="微软雅黑" panose="020B0503020204020204" pitchFamily="34" charset="-122"/>
                          <a:ea typeface="微软雅黑" panose="020B0503020204020204" pitchFamily="34" charset="-122"/>
                        </a:rPr>
                        <a:t>保险服务的介绍及协助办理的满意度</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1" u="none" strike="noStrike" kern="1200" dirty="0">
                          <a:solidFill>
                            <a:srgbClr val="4B8D56"/>
                          </a:solidFill>
                          <a:effectLst/>
                          <a:latin typeface="+mn-lt"/>
                          <a:ea typeface="微软雅黑" panose="020B0503020204020204" pitchFamily="34" charset="-122"/>
                          <a:cs typeface="+mn-cs"/>
                        </a:rPr>
                        <a:t>付款过程体验</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0" i="0" u="none" strike="noStrike" dirty="0">
                          <a:solidFill>
                            <a:schemeClr val="tx1"/>
                          </a:solidFill>
                          <a:effectLst/>
                          <a:latin typeface="微软雅黑" panose="020B0503020204020204" pitchFamily="34" charset="-122"/>
                          <a:ea typeface="微软雅黑" panose="020B0503020204020204" pitchFamily="34" charset="-122"/>
                        </a:rPr>
                        <a:t>离店送别服务表现</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fontAlgn="b"/>
                      <a:r>
                        <a:rPr lang="zh-CN" altLang="en-US" sz="900" b="1" u="none" strike="noStrike" kern="1200" dirty="0">
                          <a:solidFill>
                            <a:srgbClr val="C00000"/>
                          </a:solidFill>
                          <a:effectLst/>
                          <a:latin typeface="+mn-lt"/>
                          <a:ea typeface="微软雅黑" panose="020B0503020204020204" pitchFamily="34" charset="-122"/>
                          <a:cs typeface="+mn-cs"/>
                        </a:rPr>
                        <a:t>离店后的回访表现</a:t>
                      </a:r>
                    </a:p>
                  </a:txBody>
                  <a:tcPr marL="6350" marR="6350" marT="6350" marB="0" vert="eaVert"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2595294"/>
                  </a:ext>
                </a:extLst>
              </a:tr>
            </a:tbl>
          </a:graphicData>
        </a:graphic>
      </p:graphicFrame>
      <p:cxnSp>
        <p:nvCxnSpPr>
          <p:cNvPr id="14" name="直接连接符 13">
            <a:extLst>
              <a:ext uri="{FF2B5EF4-FFF2-40B4-BE49-F238E27FC236}">
                <a16:creationId xmlns:a16="http://schemas.microsoft.com/office/drawing/2014/main" id="{C6874A9F-74E9-10DE-87A2-A6E0117252AF}"/>
              </a:ext>
            </a:extLst>
          </p:cNvPr>
          <p:cNvCxnSpPr>
            <a:cxnSpLocks/>
          </p:cNvCxnSpPr>
          <p:nvPr/>
        </p:nvCxnSpPr>
        <p:spPr>
          <a:xfrm>
            <a:off x="511318" y="2006306"/>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B25C8A42-F5FE-CB14-ACAE-925DF2827E3B}"/>
              </a:ext>
            </a:extLst>
          </p:cNvPr>
          <p:cNvCxnSpPr>
            <a:cxnSpLocks/>
          </p:cNvCxnSpPr>
          <p:nvPr/>
        </p:nvCxnSpPr>
        <p:spPr>
          <a:xfrm>
            <a:off x="1232879" y="2006306"/>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0BEBDA8B-C4B1-B07A-4831-FCACFCB2E39F}"/>
              </a:ext>
            </a:extLst>
          </p:cNvPr>
          <p:cNvCxnSpPr>
            <a:cxnSpLocks/>
          </p:cNvCxnSpPr>
          <p:nvPr/>
        </p:nvCxnSpPr>
        <p:spPr>
          <a:xfrm>
            <a:off x="1632155" y="2006306"/>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86EEAEAD-855D-029B-38BF-58FC051A7890}"/>
              </a:ext>
            </a:extLst>
          </p:cNvPr>
          <p:cNvCxnSpPr>
            <a:cxnSpLocks/>
          </p:cNvCxnSpPr>
          <p:nvPr/>
        </p:nvCxnSpPr>
        <p:spPr>
          <a:xfrm>
            <a:off x="5731854" y="2006306"/>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9005B218-99E7-53E5-A080-7B749CB3F459}"/>
              </a:ext>
            </a:extLst>
          </p:cNvPr>
          <p:cNvCxnSpPr>
            <a:cxnSpLocks/>
          </p:cNvCxnSpPr>
          <p:nvPr/>
        </p:nvCxnSpPr>
        <p:spPr>
          <a:xfrm>
            <a:off x="6086058" y="2006306"/>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B3B2146C-9E65-E514-AC00-07811AF45557}"/>
              </a:ext>
            </a:extLst>
          </p:cNvPr>
          <p:cNvCxnSpPr>
            <a:cxnSpLocks/>
          </p:cNvCxnSpPr>
          <p:nvPr/>
        </p:nvCxnSpPr>
        <p:spPr>
          <a:xfrm>
            <a:off x="11863935" y="2006306"/>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F923C885-FC11-A00E-5E54-F8F86F68CE68}"/>
              </a:ext>
            </a:extLst>
          </p:cNvPr>
          <p:cNvSpPr txBox="1"/>
          <p:nvPr/>
        </p:nvSpPr>
        <p:spPr>
          <a:xfrm>
            <a:off x="345077" y="2064334"/>
            <a:ext cx="950370" cy="246221"/>
          </a:xfrm>
          <a:prstGeom prst="rect">
            <a:avLst/>
          </a:prstGeom>
          <a:noFill/>
        </p:spPr>
        <p:txBody>
          <a:bodyPr wrap="square">
            <a:spAutoFit/>
          </a:bodyPr>
          <a:lstStyle/>
          <a:p>
            <a:pPr algn="ctr"/>
            <a:r>
              <a:rPr lang="zh-CN" altLang="en-US" sz="1000" dirty="0">
                <a:solidFill>
                  <a:schemeClr val="accent6"/>
                </a:solidFill>
              </a:rPr>
              <a:t>入店前 沟通</a:t>
            </a:r>
          </a:p>
        </p:txBody>
      </p:sp>
      <p:sp>
        <p:nvSpPr>
          <p:cNvPr id="27" name="文本框 26">
            <a:extLst>
              <a:ext uri="{FF2B5EF4-FFF2-40B4-BE49-F238E27FC236}">
                <a16:creationId xmlns:a16="http://schemas.microsoft.com/office/drawing/2014/main" id="{D0A09DC2-0E3B-D088-FAC4-67E22532577A}"/>
              </a:ext>
            </a:extLst>
          </p:cNvPr>
          <p:cNvSpPr txBox="1"/>
          <p:nvPr/>
        </p:nvSpPr>
        <p:spPr>
          <a:xfrm>
            <a:off x="1094095" y="2064334"/>
            <a:ext cx="699023" cy="400110"/>
          </a:xfrm>
          <a:prstGeom prst="rect">
            <a:avLst/>
          </a:prstGeom>
          <a:noFill/>
        </p:spPr>
        <p:txBody>
          <a:bodyPr wrap="square">
            <a:spAutoFit/>
          </a:bodyPr>
          <a:lstStyle/>
          <a:p>
            <a:pPr algn="ctr"/>
            <a:r>
              <a:rPr kumimoji="0" lang="zh-CN" altLang="en-US" sz="1000" i="0" u="none" strike="noStrike" kern="1200" cap="none" spc="0" normalizeH="0" baseline="0" dirty="0">
                <a:solidFill>
                  <a:schemeClr val="accent6"/>
                </a:solidFill>
                <a:cs typeface="+mn-cs"/>
              </a:rPr>
              <a:t>到店</a:t>
            </a:r>
            <a:endParaRPr kumimoji="0" lang="en-US" altLang="zh-CN" sz="1000" i="0" u="none" strike="noStrike" kern="1200" cap="none" spc="0" normalizeH="0" baseline="0" dirty="0">
              <a:solidFill>
                <a:schemeClr val="accent6"/>
              </a:solidFill>
              <a:cs typeface="+mn-cs"/>
            </a:endParaRPr>
          </a:p>
          <a:p>
            <a:pPr algn="ctr"/>
            <a:r>
              <a:rPr kumimoji="0" lang="zh-CN" altLang="en-US" sz="1000" i="0" u="none" strike="noStrike" kern="1200" cap="none" spc="0" normalizeH="0" baseline="0" dirty="0">
                <a:solidFill>
                  <a:schemeClr val="accent6"/>
                </a:solidFill>
                <a:cs typeface="+mn-cs"/>
              </a:rPr>
              <a:t>接待</a:t>
            </a:r>
            <a:endParaRPr lang="zh-CN" altLang="en-US" sz="1000" dirty="0">
              <a:solidFill>
                <a:schemeClr val="accent6"/>
              </a:solidFill>
            </a:endParaRPr>
          </a:p>
        </p:txBody>
      </p:sp>
      <p:sp>
        <p:nvSpPr>
          <p:cNvPr id="28" name="文本框 27">
            <a:extLst>
              <a:ext uri="{FF2B5EF4-FFF2-40B4-BE49-F238E27FC236}">
                <a16:creationId xmlns:a16="http://schemas.microsoft.com/office/drawing/2014/main" id="{1D226758-3000-EE0E-EB9C-6EA2F29612BA}"/>
              </a:ext>
            </a:extLst>
          </p:cNvPr>
          <p:cNvSpPr txBox="1"/>
          <p:nvPr/>
        </p:nvSpPr>
        <p:spPr>
          <a:xfrm>
            <a:off x="3212620" y="2064334"/>
            <a:ext cx="950370" cy="246221"/>
          </a:xfrm>
          <a:prstGeom prst="rect">
            <a:avLst/>
          </a:prstGeom>
          <a:noFill/>
        </p:spPr>
        <p:txBody>
          <a:bodyPr wrap="square">
            <a:spAutoFit/>
          </a:bodyPr>
          <a:lstStyle/>
          <a:p>
            <a:pPr algn="ctr"/>
            <a:r>
              <a:rPr kumimoji="0" lang="zh-CN" altLang="en-US" sz="1000" i="0" u="none" strike="noStrike" kern="1200" cap="none" spc="0" normalizeH="0" baseline="0" dirty="0">
                <a:solidFill>
                  <a:schemeClr val="accent6"/>
                </a:solidFill>
                <a:cs typeface="+mn-cs"/>
              </a:rPr>
              <a:t>店内看车</a:t>
            </a:r>
            <a:endParaRPr lang="zh-CN" altLang="en-US" sz="1000" dirty="0">
              <a:solidFill>
                <a:schemeClr val="accent6"/>
              </a:solidFill>
            </a:endParaRPr>
          </a:p>
        </p:txBody>
      </p:sp>
      <p:sp>
        <p:nvSpPr>
          <p:cNvPr id="33" name="文本框 32">
            <a:extLst>
              <a:ext uri="{FF2B5EF4-FFF2-40B4-BE49-F238E27FC236}">
                <a16:creationId xmlns:a16="http://schemas.microsoft.com/office/drawing/2014/main" id="{7B4DE7A7-7AD2-C30B-BDE3-22861885F7F3}"/>
              </a:ext>
            </a:extLst>
          </p:cNvPr>
          <p:cNvSpPr txBox="1"/>
          <p:nvPr/>
        </p:nvSpPr>
        <p:spPr>
          <a:xfrm>
            <a:off x="6899779" y="2064334"/>
            <a:ext cx="950370" cy="246221"/>
          </a:xfrm>
          <a:prstGeom prst="rect">
            <a:avLst/>
          </a:prstGeom>
          <a:noFill/>
        </p:spPr>
        <p:txBody>
          <a:bodyPr wrap="square">
            <a:spAutoFit/>
          </a:bodyPr>
          <a:lstStyle/>
          <a:p>
            <a:pPr algn="ctr"/>
            <a:r>
              <a:rPr kumimoji="0" lang="zh-CN" altLang="en-US" sz="1000" i="0" u="none" strike="noStrike" kern="1200" cap="none" spc="0" normalizeH="0" baseline="0" dirty="0">
                <a:solidFill>
                  <a:schemeClr val="accent6"/>
                </a:solidFill>
                <a:cs typeface="+mn-cs"/>
              </a:rPr>
              <a:t>试乘试驾</a:t>
            </a:r>
            <a:endParaRPr lang="zh-CN" altLang="en-US" sz="1000" dirty="0">
              <a:solidFill>
                <a:schemeClr val="accent6"/>
              </a:solidFill>
            </a:endParaRPr>
          </a:p>
        </p:txBody>
      </p:sp>
      <p:cxnSp>
        <p:nvCxnSpPr>
          <p:cNvPr id="34" name="直接连接符 33">
            <a:extLst>
              <a:ext uri="{FF2B5EF4-FFF2-40B4-BE49-F238E27FC236}">
                <a16:creationId xmlns:a16="http://schemas.microsoft.com/office/drawing/2014/main" id="{93325296-7FF7-3444-7BD8-258A16364002}"/>
              </a:ext>
            </a:extLst>
          </p:cNvPr>
          <p:cNvCxnSpPr>
            <a:cxnSpLocks/>
          </p:cNvCxnSpPr>
          <p:nvPr/>
        </p:nvCxnSpPr>
        <p:spPr>
          <a:xfrm>
            <a:off x="11034306" y="2019552"/>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90CDCC22-D8B7-238F-D431-7ED3267856CB}"/>
              </a:ext>
            </a:extLst>
          </p:cNvPr>
          <p:cNvSpPr txBox="1"/>
          <p:nvPr/>
        </p:nvSpPr>
        <p:spPr>
          <a:xfrm>
            <a:off x="9515102" y="2064334"/>
            <a:ext cx="950370" cy="246221"/>
          </a:xfrm>
          <a:prstGeom prst="rect">
            <a:avLst/>
          </a:prstGeom>
          <a:noFill/>
        </p:spPr>
        <p:txBody>
          <a:bodyPr wrap="square">
            <a:spAutoFit/>
          </a:bodyPr>
          <a:lstStyle/>
          <a:p>
            <a:pPr algn="ctr"/>
            <a:r>
              <a:rPr kumimoji="0" lang="zh-CN" altLang="en-US" sz="1000" i="0" u="none" strike="noStrike" kern="1200" cap="none" spc="0" normalizeH="0" baseline="0" dirty="0">
                <a:solidFill>
                  <a:schemeClr val="accent6"/>
                </a:solidFill>
                <a:cs typeface="+mn-cs"/>
              </a:rPr>
              <a:t>洽谈下定</a:t>
            </a:r>
            <a:endParaRPr lang="zh-CN" altLang="en-US" sz="1000" dirty="0">
              <a:solidFill>
                <a:schemeClr val="accent6"/>
              </a:solidFill>
            </a:endParaRPr>
          </a:p>
        </p:txBody>
      </p:sp>
      <p:sp>
        <p:nvSpPr>
          <p:cNvPr id="36" name="文本框 35">
            <a:extLst>
              <a:ext uri="{FF2B5EF4-FFF2-40B4-BE49-F238E27FC236}">
                <a16:creationId xmlns:a16="http://schemas.microsoft.com/office/drawing/2014/main" id="{438BDA5C-2F29-5201-6FCF-2C5CFAFB4687}"/>
              </a:ext>
            </a:extLst>
          </p:cNvPr>
          <p:cNvSpPr txBox="1"/>
          <p:nvPr/>
        </p:nvSpPr>
        <p:spPr>
          <a:xfrm>
            <a:off x="10970887" y="2059722"/>
            <a:ext cx="936715" cy="246221"/>
          </a:xfrm>
          <a:prstGeom prst="rect">
            <a:avLst/>
          </a:prstGeom>
          <a:noFill/>
        </p:spPr>
        <p:txBody>
          <a:bodyPr wrap="square">
            <a:spAutoFit/>
          </a:bodyPr>
          <a:lstStyle/>
          <a:p>
            <a:pPr algn="ctr"/>
            <a:r>
              <a:rPr lang="zh-CN" altLang="en-US" sz="1000" dirty="0">
                <a:solidFill>
                  <a:schemeClr val="accent6"/>
                </a:solidFill>
              </a:rPr>
              <a:t>送别与回访</a:t>
            </a:r>
          </a:p>
        </p:txBody>
      </p:sp>
      <p:cxnSp>
        <p:nvCxnSpPr>
          <p:cNvPr id="41" name="直接连接符 40">
            <a:extLst>
              <a:ext uri="{FF2B5EF4-FFF2-40B4-BE49-F238E27FC236}">
                <a16:creationId xmlns:a16="http://schemas.microsoft.com/office/drawing/2014/main" id="{D7407DEE-91A5-50FE-38E5-5F17A224B888}"/>
              </a:ext>
            </a:extLst>
          </p:cNvPr>
          <p:cNvCxnSpPr>
            <a:cxnSpLocks/>
          </p:cNvCxnSpPr>
          <p:nvPr/>
        </p:nvCxnSpPr>
        <p:spPr>
          <a:xfrm>
            <a:off x="9004078" y="2006852"/>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3330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 name="表格 47"/>
          <p:cNvGraphicFramePr>
            <a:graphicFrameLocks noGrp="1"/>
          </p:cNvGraphicFramePr>
          <p:nvPr/>
        </p:nvGraphicFramePr>
        <p:xfrm>
          <a:off x="392051" y="1968131"/>
          <a:ext cx="8953970" cy="4414660"/>
        </p:xfrm>
        <a:graphic>
          <a:graphicData uri="http://schemas.openxmlformats.org/drawingml/2006/table">
            <a:tbl>
              <a:tblPr>
                <a:tableStyleId>{5C22544A-7EE6-4342-B048-85BDC9FD1C3A}</a:tableStyleId>
              </a:tblPr>
              <a:tblGrid>
                <a:gridCol w="400666">
                  <a:extLst>
                    <a:ext uri="{9D8B030D-6E8A-4147-A177-3AD203B41FA5}">
                      <a16:colId xmlns:a16="http://schemas.microsoft.com/office/drawing/2014/main" val="20000"/>
                    </a:ext>
                  </a:extLst>
                </a:gridCol>
                <a:gridCol w="981219">
                  <a:extLst>
                    <a:ext uri="{9D8B030D-6E8A-4147-A177-3AD203B41FA5}">
                      <a16:colId xmlns:a16="http://schemas.microsoft.com/office/drawing/2014/main" val="20001"/>
                    </a:ext>
                  </a:extLst>
                </a:gridCol>
                <a:gridCol w="3276710">
                  <a:extLst>
                    <a:ext uri="{9D8B030D-6E8A-4147-A177-3AD203B41FA5}">
                      <a16:colId xmlns:a16="http://schemas.microsoft.com/office/drawing/2014/main" val="20002"/>
                    </a:ext>
                  </a:extLst>
                </a:gridCol>
                <a:gridCol w="859075">
                  <a:extLst>
                    <a:ext uri="{9D8B030D-6E8A-4147-A177-3AD203B41FA5}">
                      <a16:colId xmlns:a16="http://schemas.microsoft.com/office/drawing/2014/main" val="20003"/>
                    </a:ext>
                  </a:extLst>
                </a:gridCol>
                <a:gridCol w="859075">
                  <a:extLst>
                    <a:ext uri="{9D8B030D-6E8A-4147-A177-3AD203B41FA5}">
                      <a16:colId xmlns:a16="http://schemas.microsoft.com/office/drawing/2014/main" val="20004"/>
                    </a:ext>
                  </a:extLst>
                </a:gridCol>
                <a:gridCol w="859075">
                  <a:extLst>
                    <a:ext uri="{9D8B030D-6E8A-4147-A177-3AD203B41FA5}">
                      <a16:colId xmlns:a16="http://schemas.microsoft.com/office/drawing/2014/main" val="20005"/>
                    </a:ext>
                  </a:extLst>
                </a:gridCol>
                <a:gridCol w="859075">
                  <a:extLst>
                    <a:ext uri="{9D8B030D-6E8A-4147-A177-3AD203B41FA5}">
                      <a16:colId xmlns:a16="http://schemas.microsoft.com/office/drawing/2014/main" val="20006"/>
                    </a:ext>
                  </a:extLst>
                </a:gridCol>
                <a:gridCol w="859075">
                  <a:extLst>
                    <a:ext uri="{9D8B030D-6E8A-4147-A177-3AD203B41FA5}">
                      <a16:colId xmlns:a16="http://schemas.microsoft.com/office/drawing/2014/main" val="20007"/>
                    </a:ext>
                  </a:extLst>
                </a:gridCol>
              </a:tblGrid>
              <a:tr h="360000">
                <a:tc gridSpan="3">
                  <a:txBody>
                    <a:bodyPr/>
                    <a:lstStyle/>
                    <a:p>
                      <a:pPr algn="ctr" fontAlgn="ctr"/>
                      <a:r>
                        <a:rPr lang="zh-CN" altLang="en-US" sz="1000" b="1" u="none" strike="noStrike" dirty="0">
                          <a:solidFill>
                            <a:schemeClr val="bg1"/>
                          </a:solidFill>
                          <a:effectLst/>
                          <a:latin typeface="微软雅黑" panose="020B0503020204020204" pitchFamily="34" charset="-122"/>
                          <a:ea typeface="Alibaba PuHuiTi 2.0 55 Regular"/>
                        </a:rPr>
                        <a:t>要素</a:t>
                      </a:r>
                      <a:endParaRPr lang="zh-CN" altLang="en-US" sz="1000" b="1" i="0" u="none" strike="noStrike" dirty="0">
                        <a:solidFill>
                          <a:schemeClr val="bg1"/>
                        </a:solidFill>
                        <a:effectLst/>
                        <a:latin typeface="微软雅黑" panose="020B0503020204020204" pitchFamily="34" charset="-122"/>
                        <a:ea typeface="Alibaba PuHuiTi 2.0 55 Regular"/>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endParaRPr lang="zh-CN"/>
                    </a:p>
                  </a:txBody>
                  <a:tcPr>
                    <a:lnL w="12700" cmpd="sng">
                      <a:noFill/>
                    </a:lnL>
                  </a:tcPr>
                </a:tc>
                <a:tc hMerge="1">
                  <a:txBody>
                    <a:bodyPr/>
                    <a:lstStyle/>
                    <a:p>
                      <a:endParaRPr lang="zh-CN"/>
                    </a:p>
                  </a:txBody>
                  <a:tcPr marL="3700" marR="3700" marT="3700" marB="0" anchor="ctr">
                    <a:lnL w="12700" cmpd="sng">
                      <a:noFill/>
                    </a:lnL>
                  </a:tcPr>
                </a:tc>
                <a:tc>
                  <a:txBody>
                    <a:bodyPr/>
                    <a:lstStyle/>
                    <a:p>
                      <a:pPr algn="ctr" fontAlgn="ctr"/>
                      <a:r>
                        <a:rPr lang="zh-CN" altLang="en-US" sz="1000" b="1" u="none" strike="noStrike" dirty="0">
                          <a:solidFill>
                            <a:schemeClr val="bg1"/>
                          </a:solidFill>
                          <a:effectLst/>
                          <a:latin typeface="微软雅黑" panose="020B0503020204020204" pitchFamily="34" charset="-122"/>
                          <a:ea typeface="Alibaba PuHuiTi 2.0 55 Regular"/>
                        </a:rPr>
                        <a:t>与本品总体得差值分</a:t>
                      </a:r>
                      <a:endParaRPr lang="zh-CN" altLang="en-US" sz="1000" b="1" i="0" u="none" strike="noStrike" dirty="0">
                        <a:solidFill>
                          <a:schemeClr val="bg1"/>
                        </a:solidFill>
                        <a:effectLst/>
                        <a:latin typeface="微软雅黑" panose="020B0503020204020204" pitchFamily="34" charset="-122"/>
                        <a:ea typeface="Alibaba PuHuiTi 2.0 55 Regular"/>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ctr"/>
                      <a:r>
                        <a:rPr lang="zh-CN" altLang="en-US" sz="1000" b="1" u="none" strike="noStrike" kern="1200" dirty="0">
                          <a:solidFill>
                            <a:schemeClr val="bg1"/>
                          </a:solidFill>
                          <a:effectLst/>
                          <a:latin typeface="微软雅黑" panose="020B0503020204020204" pitchFamily="34" charset="-122"/>
                          <a:ea typeface="Alibaba PuHuiTi 2.0 55 Regular"/>
                          <a:cs typeface="+mn-cs"/>
                        </a:rPr>
                        <a:t>与蔚来差值</a:t>
                      </a: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ctr"/>
                      <a:r>
                        <a:rPr lang="zh-CN" altLang="en-US" sz="1000" b="1" u="none" strike="noStrike" kern="1200" dirty="0">
                          <a:solidFill>
                            <a:schemeClr val="bg1"/>
                          </a:solidFill>
                          <a:effectLst/>
                          <a:latin typeface="微软雅黑" panose="020B0503020204020204" pitchFamily="34" charset="-122"/>
                          <a:ea typeface="Alibaba PuHuiTi 2.0 55 Regular"/>
                          <a:cs typeface="+mn-cs"/>
                        </a:rPr>
                        <a:t>权重</a:t>
                      </a: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l" fontAlgn="ctr"/>
                      <a:r>
                        <a:rPr lang="zh-CN" altLang="en-US" sz="1000" b="1" u="none" strike="noStrike" kern="1200" dirty="0">
                          <a:solidFill>
                            <a:schemeClr val="bg1"/>
                          </a:solidFill>
                          <a:effectLst/>
                          <a:latin typeface="微软雅黑" panose="020B0503020204020204" pitchFamily="34" charset="-122"/>
                          <a:ea typeface="Alibaba PuHuiTi 2.0 55 Regular"/>
                          <a:cs typeface="+mn-cs"/>
                        </a:rPr>
                        <a:t>      分值追赶</a:t>
                      </a: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fontAlgn="ctr"/>
                      <a:r>
                        <a:rPr lang="zh-CN" altLang="en-US" sz="1000" b="1" u="none" strike="noStrike" kern="1200" dirty="0">
                          <a:solidFill>
                            <a:schemeClr val="bg1"/>
                          </a:solidFill>
                          <a:effectLst/>
                          <a:latin typeface="微软雅黑" panose="020B0503020204020204" pitchFamily="34" charset="-122"/>
                          <a:ea typeface="Alibaba PuHuiTi 2.0 55 Regular"/>
                          <a:cs typeface="+mn-cs"/>
                        </a:rPr>
                        <a:t>弱项定位结果</a:t>
                      </a: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0"/>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C9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店内看车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提供的饮料服务</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0.72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0.62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2.31%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1.65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01"/>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H1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交付等待</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交付等待流程体验</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0.49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3.21%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1.57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02"/>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J1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用户维系</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跟进与关怀环节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0.48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0.62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2.49%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1.53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03"/>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I3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交车环节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验车体验满意度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0.44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3.03%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1.33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04"/>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J2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交车环节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门店迎接环节体验（包含门店接待效率和态度）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0.41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2.92%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1.20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05"/>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I1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交车环节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交车仪式环节体验满意度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0.46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2.59%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1.20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06"/>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I5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入店前沟通</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咨询过程的专业度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0.34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0.41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2.57%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1.05</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07"/>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A1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用户维系</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车辆问题</a:t>
                      </a:r>
                      <a:r>
                        <a:rPr lang="en-US" altLang="zh-CN" sz="1000" b="0" i="0" u="none" strike="noStrike" dirty="0">
                          <a:solidFill>
                            <a:srgbClr val="000000"/>
                          </a:solidFill>
                          <a:effectLst/>
                          <a:latin typeface="微软雅黑" panose="020B0503020204020204" pitchFamily="34" charset="-122"/>
                          <a:ea typeface="Alibaba PuHuiTi 2.0 55 Regular"/>
                        </a:rPr>
                        <a:t>/</a:t>
                      </a:r>
                      <a:r>
                        <a:rPr lang="zh-CN" altLang="en-US" sz="1000" b="0" i="0" u="none" strike="noStrike" dirty="0">
                          <a:solidFill>
                            <a:srgbClr val="000000"/>
                          </a:solidFill>
                          <a:effectLst/>
                          <a:latin typeface="微软雅黑" panose="020B0503020204020204" pitchFamily="34" charset="-122"/>
                          <a:ea typeface="Alibaba PuHuiTi 2.0 55 Regular"/>
                        </a:rPr>
                        <a:t>疑问解决</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0.44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2.36%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1.03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08"/>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J3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交车环节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交付后沟通体验</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0.38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2.51%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0.94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09"/>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I7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洽谈下定</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销售顾问对车主权益和服务的介绍清晰程度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0.15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0.32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2.80%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0.90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10"/>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E2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送别与回访</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离店后的回访表现</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0.28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2.49%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0.70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11"/>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F2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交车环节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新车车况满意度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FF0000"/>
                          </a:solidFill>
                          <a:effectLst/>
                          <a:latin typeface="微软雅黑" panose="020B0503020204020204" pitchFamily="34" charset="-122"/>
                          <a:ea typeface="Alibaba PuHuiTi 2.0 55 Regular"/>
                        </a:rPr>
                        <a:t>-0.18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0.25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2.37%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0.59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b"/>
                      <a:r>
                        <a:rPr lang="zh-CN" altLang="en-US" sz="1000" b="0" i="0" u="none" strike="noStrike" dirty="0">
                          <a:solidFill>
                            <a:srgbClr val="000000"/>
                          </a:solidFill>
                          <a:effectLst/>
                          <a:latin typeface="微软雅黑" panose="020B0503020204020204" pitchFamily="34" charset="-122"/>
                          <a:ea typeface="Alibaba PuHuiTi 2.0 55 Regular"/>
                        </a:rPr>
                        <a:t>弱项</a:t>
                      </a:r>
                    </a:p>
                  </a:txBody>
                  <a:tcPr marL="6350" marR="6350" marT="635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12"/>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I2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送别与回访</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离店送别服务表现</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FF0000"/>
                          </a:solidFill>
                          <a:effectLst/>
                          <a:latin typeface="微软雅黑" panose="020B0503020204020204" pitchFamily="34" charset="-122"/>
                          <a:ea typeface="Alibaba PuHuiTi 2.0 55 Regular"/>
                        </a:rPr>
                        <a:t>-0.06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2.16%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0.56</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13"/>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F1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店内看车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店内设计风格</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0.13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1.94%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0.53</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14"/>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C10</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交车环节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手续办理环节体验满意度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FF0000"/>
                          </a:solidFill>
                          <a:effectLst/>
                          <a:latin typeface="微软雅黑" panose="020B0503020204020204" pitchFamily="34" charset="-122"/>
                          <a:ea typeface="Alibaba PuHuiTi 2.0 55 Regular"/>
                        </a:rPr>
                        <a:t>-0.14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0.20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2.54%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0.52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15"/>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I4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交付等待</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交付服务人员沟通的体验</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0.13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2.94%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0.48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16"/>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H2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洽谈下定</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产品报价和下定政策介绍清晰程度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0.07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0.15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2.77%</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0.42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17"/>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E1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店内看车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店内硬件设施</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0.04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0.21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1.98%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0.42</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18"/>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C8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店内看车</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销售顾问对车型介绍专业性</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FF0000"/>
                          </a:solidFill>
                          <a:effectLst/>
                          <a:latin typeface="微软雅黑" panose="020B0503020204020204" pitchFamily="34" charset="-122"/>
                          <a:ea typeface="Alibaba PuHuiTi 2.0 55 Regular"/>
                        </a:rPr>
                        <a:t>-0.01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0.16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2.08%</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0.34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19"/>
                  </a:ext>
                </a:extLst>
              </a:tr>
              <a:tr h="201893">
                <a:tc>
                  <a:txBody>
                    <a:bodyPr/>
                    <a:lstStyle/>
                    <a:p>
                      <a:pPr algn="ctr" fontAlgn="ctr"/>
                      <a:r>
                        <a:rPr lang="en-US" sz="1000" b="0" i="0" u="none" strike="noStrike" dirty="0">
                          <a:solidFill>
                            <a:srgbClr val="000000"/>
                          </a:solidFill>
                          <a:effectLst/>
                          <a:latin typeface="微软雅黑" panose="020B0503020204020204" pitchFamily="34" charset="-122"/>
                          <a:ea typeface="Alibaba PuHuiTi 2.0 55 Regular"/>
                        </a:rPr>
                        <a:t>C1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zh-CN" altLang="en-US" sz="1000" b="0" i="0" u="none" strike="noStrike" kern="1200" dirty="0">
                          <a:solidFill>
                            <a:srgbClr val="000000"/>
                          </a:solidFill>
                          <a:effectLst/>
                          <a:latin typeface="微软雅黑" panose="020B0503020204020204" pitchFamily="34" charset="-122"/>
                          <a:ea typeface="Alibaba PuHuiTi 2.0 55 Regular"/>
                          <a:cs typeface="+mn-cs"/>
                        </a:rPr>
                        <a:t>交车环节</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r" fontAlgn="ctr"/>
                      <a:r>
                        <a:rPr lang="zh-CN" altLang="en-US" sz="1000" b="0" i="0" u="none" strike="noStrike" dirty="0">
                          <a:solidFill>
                            <a:srgbClr val="000000"/>
                          </a:solidFill>
                          <a:effectLst/>
                          <a:latin typeface="微软雅黑" panose="020B0503020204020204" pitchFamily="34" charset="-122"/>
                          <a:ea typeface="Alibaba PuHuiTi 2.0 55 Regular"/>
                        </a:rPr>
                        <a:t>新车账户激活和功能讲解环节体验</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FF0000"/>
                          </a:solidFill>
                          <a:effectLst/>
                          <a:latin typeface="微软雅黑" panose="020B0503020204020204" pitchFamily="34" charset="-122"/>
                          <a:ea typeface="Alibaba PuHuiTi 2.0 55 Regular"/>
                        </a:rPr>
                        <a:t>-0.02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0.12 </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r>
                        <a:rPr lang="en-US" altLang="zh-CN" sz="1000" b="0" i="0" u="none" strike="noStrike" dirty="0">
                          <a:solidFill>
                            <a:srgbClr val="000000"/>
                          </a:solidFill>
                          <a:effectLst/>
                          <a:latin typeface="微软雅黑" panose="020B0503020204020204" pitchFamily="34" charset="-122"/>
                          <a:ea typeface="Alibaba PuHuiTi 2.0 55 Regular"/>
                        </a:rPr>
                        <a:t>1.89%</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微软雅黑" panose="020B0503020204020204" pitchFamily="34" charset="-122"/>
                          <a:ea typeface="Alibaba PuHuiTi 2.0 55 Regular"/>
                          <a:cs typeface="+mn-cs"/>
                        </a:rPr>
                        <a:t>0.24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tc>
                  <a:txBody>
                    <a:bodyPr/>
                    <a:lstStyle/>
                    <a:p>
                      <a:pPr algn="ctr" fontAlgn="ctr"/>
                      <a:endParaRPr lang="en-US" altLang="zh-CN" sz="1000" b="0" i="0" u="none" strike="noStrike" dirty="0">
                        <a:solidFill>
                          <a:srgbClr val="000000"/>
                        </a:solidFill>
                        <a:effectLst/>
                        <a:latin typeface="微软雅黑" panose="020B0503020204020204" pitchFamily="34" charset="-122"/>
                        <a:ea typeface="Alibaba PuHuiTi 2.0 55 Regular"/>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0000"/>
                      </a:schemeClr>
                    </a:solidFill>
                  </a:tcPr>
                </a:tc>
                <a:extLst>
                  <a:ext uri="{0D108BD9-81ED-4DB2-BD59-A6C34878D82A}">
                    <a16:rowId xmlns:a16="http://schemas.microsoft.com/office/drawing/2014/main" val="10020"/>
                  </a:ext>
                </a:extLst>
              </a:tr>
            </a:tbl>
          </a:graphicData>
        </a:graphic>
      </p:graphicFrame>
      <p:sp>
        <p:nvSpPr>
          <p:cNvPr id="7" name="文本占位符 6"/>
          <p:cNvSpPr>
            <a:spLocks noGrp="1"/>
          </p:cNvSpPr>
          <p:nvPr>
            <p:ph type="body" sz="quarter" idx="21"/>
          </p:nvPr>
        </p:nvSpPr>
        <p:spPr/>
        <p:txBody>
          <a:bodyPr/>
          <a:lstStyle/>
          <a:p>
            <a:r>
              <a:rPr kumimoji="1" lang="en-US" altLang="zh-CN" dirty="0">
                <a:latin typeface="+mn-ea"/>
                <a:ea typeface="+mn-ea"/>
                <a:sym typeface="+mn-ea"/>
              </a:rPr>
              <a:t>2.2 SSI</a:t>
            </a:r>
            <a:r>
              <a:rPr kumimoji="1" lang="zh-CN" altLang="en-US" dirty="0">
                <a:latin typeface="+mn-ea"/>
                <a:ea typeface="+mn-ea"/>
                <a:sym typeface="+mn-ea"/>
              </a:rPr>
              <a:t>（销售</a:t>
            </a:r>
            <a:r>
              <a:rPr kumimoji="1" lang="en-US" altLang="zh-CN" dirty="0">
                <a:latin typeface="+mn-ea"/>
                <a:ea typeface="+mn-ea"/>
                <a:sym typeface="+mn-ea"/>
              </a:rPr>
              <a:t>+</a:t>
            </a:r>
            <a:r>
              <a:rPr kumimoji="1" lang="zh-CN" altLang="en-US" dirty="0">
                <a:latin typeface="+mn-ea"/>
                <a:ea typeface="+mn-ea"/>
                <a:sym typeface="+mn-ea"/>
              </a:rPr>
              <a:t>交付）</a:t>
            </a:r>
            <a:r>
              <a:rPr kumimoji="1" lang="en-US" altLang="zh-CN" dirty="0">
                <a:latin typeface="+mn-ea"/>
                <a:ea typeface="+mn-ea"/>
                <a:sym typeface="+mn-ea"/>
              </a:rPr>
              <a:t>- </a:t>
            </a:r>
            <a:r>
              <a:rPr lang="zh-CN" altLang="en-US" dirty="0">
                <a:latin typeface="DIN Pro" panose="02000503040000020003" charset="0"/>
                <a:sym typeface="+mn-ea"/>
              </a:rPr>
              <a:t>弱项汇总</a:t>
            </a:r>
            <a:endParaRPr lang="zh-CN" altLang="en-US" dirty="0"/>
          </a:p>
        </p:txBody>
      </p:sp>
      <p:sp>
        <p:nvSpPr>
          <p:cNvPr id="4" name="文本占位符 3">
            <a:extLst>
              <a:ext uri="{FF2B5EF4-FFF2-40B4-BE49-F238E27FC236}">
                <a16:creationId xmlns:a16="http://schemas.microsoft.com/office/drawing/2014/main" id="{614A4B17-C049-245F-04F3-077FCB64950D}"/>
              </a:ext>
            </a:extLst>
          </p:cNvPr>
          <p:cNvSpPr>
            <a:spLocks noGrp="1"/>
          </p:cNvSpPr>
          <p:nvPr>
            <p:ph type="body" sz="quarter" idx="22"/>
          </p:nvPr>
        </p:nvSpPr>
        <p:spPr/>
        <p:txBody>
          <a:bodyPr/>
          <a:lstStyle/>
          <a:p>
            <a:r>
              <a:rPr lang="en-US" altLang="zh-CN" dirty="0"/>
              <a:t>SSI</a:t>
            </a:r>
            <a:r>
              <a:rPr lang="zh-CN" altLang="en-US" dirty="0"/>
              <a:t>根据本品及第一名</a:t>
            </a:r>
            <a:r>
              <a:rPr lang="en-US" altLang="zh-CN" dirty="0"/>
              <a:t>/</a:t>
            </a:r>
            <a:r>
              <a:rPr lang="zh-CN" altLang="en-US" dirty="0"/>
              <a:t>竞品各服务要素的满意度得分，得到</a:t>
            </a:r>
            <a:r>
              <a:rPr lang="en-US" altLang="zh-CN" dirty="0"/>
              <a:t>12</a:t>
            </a:r>
            <a:r>
              <a:rPr lang="zh-CN" altLang="en-US" dirty="0"/>
              <a:t>个弱项；其中，销售有</a:t>
            </a:r>
            <a:r>
              <a:rPr lang="en-US" altLang="zh-CN" dirty="0"/>
              <a:t>4</a:t>
            </a:r>
            <a:r>
              <a:rPr lang="zh-CN" altLang="en-US" dirty="0"/>
              <a:t>个弱项，交付有</a:t>
            </a:r>
            <a:r>
              <a:rPr lang="en-US" altLang="zh-CN" dirty="0"/>
              <a:t>8</a:t>
            </a:r>
            <a:r>
              <a:rPr lang="zh-CN" altLang="en-US" dirty="0"/>
              <a:t>个弱项</a:t>
            </a:r>
          </a:p>
          <a:p>
            <a:endParaRPr lang="zh-CN" altLang="en-US" dirty="0"/>
          </a:p>
        </p:txBody>
      </p:sp>
      <p:sp>
        <p:nvSpPr>
          <p:cNvPr id="5" name="灯片编号占位符 4"/>
          <p:cNvSpPr>
            <a:spLocks noGrp="1"/>
          </p:cNvSpPr>
          <p:nvPr>
            <p:ph type="sldNum" sz="quarter" idx="4"/>
          </p:nvPr>
        </p:nvSpPr>
        <p:spPr/>
        <p:txBody>
          <a:bodyPr/>
          <a:lstStyle/>
          <a:p>
            <a:fld id="{5BC33376-1D8B-E948-ACD6-AA21A3D30A8E}" type="slidenum">
              <a:rPr lang="zh-CN" altLang="en-US" smtClean="0"/>
              <a:t>30</a:t>
            </a:fld>
            <a:endParaRPr lang="zh-CN" altLang="en-US" dirty="0"/>
          </a:p>
        </p:txBody>
      </p:sp>
      <p:sp>
        <p:nvSpPr>
          <p:cNvPr id="28" name="文本框 27"/>
          <p:cNvSpPr txBox="1"/>
          <p:nvPr/>
        </p:nvSpPr>
        <p:spPr>
          <a:xfrm>
            <a:off x="415637" y="1497479"/>
            <a:ext cx="11023146" cy="369332"/>
          </a:xfrm>
          <a:prstGeom prst="rect">
            <a:avLst/>
          </a:prstGeom>
          <a:solidFill>
            <a:srgbClr val="4B8D56"/>
          </a:solidFill>
        </p:spPr>
        <p:txBody>
          <a:bodyPr wrap="square">
            <a:spAutoFit/>
          </a:bodyPr>
          <a:lstStyle/>
          <a:p>
            <a:pPr algn="ctr"/>
            <a:r>
              <a:rPr lang="zh-CN" altLang="en-US" b="1" dirty="0">
                <a:solidFill>
                  <a:schemeClr val="bg1"/>
                </a:solidFill>
              </a:rPr>
              <a:t>某品牌</a:t>
            </a:r>
            <a:r>
              <a:rPr lang="en-US" altLang="zh-CN" b="1" dirty="0">
                <a:solidFill>
                  <a:schemeClr val="bg1"/>
                </a:solidFill>
              </a:rPr>
              <a:t>2023</a:t>
            </a:r>
            <a:r>
              <a:rPr lang="zh-CN" altLang="en-US" b="1" dirty="0">
                <a:solidFill>
                  <a:schemeClr val="bg1"/>
                </a:solidFill>
              </a:rPr>
              <a:t>年</a:t>
            </a:r>
            <a:r>
              <a:rPr lang="en-US" altLang="zh-CN" b="1" dirty="0">
                <a:solidFill>
                  <a:schemeClr val="bg1"/>
                </a:solidFill>
              </a:rPr>
              <a:t>H2</a:t>
            </a:r>
            <a:r>
              <a:rPr lang="zh-CN" altLang="en-US" b="1" dirty="0">
                <a:solidFill>
                  <a:schemeClr val="bg1"/>
                </a:solidFill>
              </a:rPr>
              <a:t>改进弱项</a:t>
            </a:r>
          </a:p>
        </p:txBody>
      </p:sp>
      <p:graphicFrame>
        <p:nvGraphicFramePr>
          <p:cNvPr id="31" name="表格 30"/>
          <p:cNvGraphicFramePr>
            <a:graphicFrameLocks noGrp="1"/>
          </p:cNvGraphicFramePr>
          <p:nvPr/>
        </p:nvGraphicFramePr>
        <p:xfrm>
          <a:off x="10617393" y="2668324"/>
          <a:ext cx="1199113" cy="456784"/>
        </p:xfrm>
        <a:graphic>
          <a:graphicData uri="http://schemas.openxmlformats.org/drawingml/2006/table">
            <a:tbl>
              <a:tblPr>
                <a:tableStyleId>{5C22544A-7EE6-4342-B048-85BDC9FD1C3A}</a:tableStyleId>
              </a:tblPr>
              <a:tblGrid>
                <a:gridCol w="1199113">
                  <a:extLst>
                    <a:ext uri="{9D8B030D-6E8A-4147-A177-3AD203B41FA5}">
                      <a16:colId xmlns:a16="http://schemas.microsoft.com/office/drawing/2014/main" val="20000"/>
                    </a:ext>
                  </a:extLst>
                </a:gridCol>
              </a:tblGrid>
              <a:tr h="228392">
                <a:tc>
                  <a:txBody>
                    <a:bodyPr/>
                    <a:lstStyle/>
                    <a:p>
                      <a:pPr algn="ctr" fontAlgn="b"/>
                      <a:r>
                        <a:rPr lang="zh-CN" altLang="en-US" sz="1000" b="1" u="none" strike="noStrike" dirty="0">
                          <a:solidFill>
                            <a:schemeClr val="bg1"/>
                          </a:solidFill>
                          <a:effectLst/>
                          <a:latin typeface="微软雅黑" panose="020B0503020204020204" pitchFamily="34" charset="-122"/>
                          <a:ea typeface="Alibaba PuHuiTi 2.0 55 Regular"/>
                        </a:rPr>
                        <a:t>与第一名总分差距</a:t>
                      </a:r>
                      <a:endParaRPr lang="zh-CN" altLang="en-US" sz="1000" b="1" i="0" u="none" strike="noStrike" dirty="0">
                        <a:solidFill>
                          <a:schemeClr val="bg1"/>
                        </a:solidFill>
                        <a:effectLst/>
                        <a:latin typeface="微软雅黑" panose="020B0503020204020204" pitchFamily="34" charset="-122"/>
                        <a:ea typeface="Alibaba PuHuiTi 2.0 55 Regular"/>
                      </a:endParaRPr>
                    </a:p>
                  </a:txBody>
                  <a:tcPr marL="36000" marR="36000" marT="36000" marB="36000" anchor="b">
                    <a:solidFill>
                      <a:srgbClr val="4B8D56"/>
                    </a:solidFill>
                  </a:tcPr>
                </a:tc>
                <a:extLst>
                  <a:ext uri="{0D108BD9-81ED-4DB2-BD59-A6C34878D82A}">
                    <a16:rowId xmlns:a16="http://schemas.microsoft.com/office/drawing/2014/main" val="10000"/>
                  </a:ext>
                </a:extLst>
              </a:tr>
              <a:tr h="228392">
                <a:tc>
                  <a:txBody>
                    <a:bodyPr/>
                    <a:lstStyle/>
                    <a:p>
                      <a:pPr algn="ctr" fontAlgn="b"/>
                      <a:r>
                        <a:rPr lang="en-US" altLang="zh-CN" sz="1000" b="1" i="0" u="none" strike="noStrike" dirty="0">
                          <a:solidFill>
                            <a:srgbClr val="000000"/>
                          </a:solidFill>
                          <a:effectLst/>
                          <a:latin typeface="微软雅黑" panose="020B0503020204020204" pitchFamily="34" charset="-122"/>
                          <a:ea typeface="Alibaba PuHuiTi 2.0 55 Regular"/>
                        </a:rPr>
                        <a:t>13.46</a:t>
                      </a:r>
                    </a:p>
                  </a:txBody>
                  <a:tcPr marL="36000" marR="36000" marT="36000" marB="36000" anchor="b"/>
                </a:tc>
                <a:extLst>
                  <a:ext uri="{0D108BD9-81ED-4DB2-BD59-A6C34878D82A}">
                    <a16:rowId xmlns:a16="http://schemas.microsoft.com/office/drawing/2014/main" val="10001"/>
                  </a:ext>
                </a:extLst>
              </a:tr>
            </a:tbl>
          </a:graphicData>
        </a:graphic>
      </p:graphicFrame>
      <p:graphicFrame>
        <p:nvGraphicFramePr>
          <p:cNvPr id="32" name="表格 31"/>
          <p:cNvGraphicFramePr>
            <a:graphicFrameLocks noGrp="1"/>
          </p:cNvGraphicFramePr>
          <p:nvPr/>
        </p:nvGraphicFramePr>
        <p:xfrm>
          <a:off x="9512099" y="2669590"/>
          <a:ext cx="857248" cy="456784"/>
        </p:xfrm>
        <a:graphic>
          <a:graphicData uri="http://schemas.openxmlformats.org/drawingml/2006/table">
            <a:tbl>
              <a:tblPr>
                <a:tableStyleId>{5C22544A-7EE6-4342-B048-85BDC9FD1C3A}</a:tableStyleId>
              </a:tblPr>
              <a:tblGrid>
                <a:gridCol w="857248">
                  <a:extLst>
                    <a:ext uri="{9D8B030D-6E8A-4147-A177-3AD203B41FA5}">
                      <a16:colId xmlns:a16="http://schemas.microsoft.com/office/drawing/2014/main" val="20000"/>
                    </a:ext>
                  </a:extLst>
                </a:gridCol>
              </a:tblGrid>
              <a:tr h="228392">
                <a:tc>
                  <a:txBody>
                    <a:bodyPr/>
                    <a:lstStyle/>
                    <a:p>
                      <a:pPr algn="ctr" fontAlgn="b"/>
                      <a:r>
                        <a:rPr lang="zh-CN" altLang="en-US" sz="1000" b="1" u="none" strike="noStrike" kern="1200" dirty="0">
                          <a:solidFill>
                            <a:schemeClr val="bg1"/>
                          </a:solidFill>
                          <a:effectLst/>
                          <a:latin typeface="微软雅黑" panose="020B0503020204020204" pitchFamily="34" charset="-122"/>
                          <a:ea typeface="Alibaba PuHuiTi 2.0 55 Regular"/>
                          <a:cs typeface="+mn-cs"/>
                        </a:rPr>
                        <a:t>弥补差值</a:t>
                      </a:r>
                    </a:p>
                  </a:txBody>
                  <a:tcPr marL="36000" marR="36000" marT="36000" marB="36000" anchor="b">
                    <a:solidFill>
                      <a:srgbClr val="4B8D56"/>
                    </a:solidFill>
                  </a:tcPr>
                </a:tc>
                <a:extLst>
                  <a:ext uri="{0D108BD9-81ED-4DB2-BD59-A6C34878D82A}">
                    <a16:rowId xmlns:a16="http://schemas.microsoft.com/office/drawing/2014/main" val="10000"/>
                  </a:ext>
                </a:extLst>
              </a:tr>
              <a:tr h="228392">
                <a:tc>
                  <a:txBody>
                    <a:bodyPr/>
                    <a:lstStyle/>
                    <a:p>
                      <a:pPr algn="ctr" fontAlgn="b"/>
                      <a:r>
                        <a:rPr lang="en-US" altLang="zh-CN" sz="1000" b="1" i="0" u="none" strike="noStrike" dirty="0">
                          <a:solidFill>
                            <a:srgbClr val="000000"/>
                          </a:solidFill>
                          <a:effectLst/>
                          <a:latin typeface="微软雅黑" panose="020B0503020204020204" pitchFamily="34" charset="-122"/>
                          <a:ea typeface="Alibaba PuHuiTi 2.0 55 Regular"/>
                        </a:rPr>
                        <a:t>13.71</a:t>
                      </a:r>
                    </a:p>
                  </a:txBody>
                  <a:tcPr marL="36000" marR="36000" marT="36000" marB="36000" anchor="b"/>
                </a:tc>
                <a:extLst>
                  <a:ext uri="{0D108BD9-81ED-4DB2-BD59-A6C34878D82A}">
                    <a16:rowId xmlns:a16="http://schemas.microsoft.com/office/drawing/2014/main" val="10001"/>
                  </a:ext>
                </a:extLst>
              </a:tr>
            </a:tbl>
          </a:graphicData>
        </a:graphic>
      </p:graphicFrame>
      <p:sp>
        <p:nvSpPr>
          <p:cNvPr id="33" name="箭头: V 形 32"/>
          <p:cNvSpPr/>
          <p:nvPr/>
        </p:nvSpPr>
        <p:spPr>
          <a:xfrm>
            <a:off x="10431459" y="2777299"/>
            <a:ext cx="123822" cy="190500"/>
          </a:xfrm>
          <a:prstGeom prst="chevron">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0" dirty="0">
              <a:solidFill>
                <a:schemeClr val="bg1"/>
              </a:solidFill>
              <a:latin typeface="+mn-ea"/>
            </a:endParaRPr>
          </a:p>
        </p:txBody>
      </p:sp>
      <p:cxnSp>
        <p:nvCxnSpPr>
          <p:cNvPr id="46" name="直接箭头连接符 8"/>
          <p:cNvCxnSpPr/>
          <p:nvPr/>
        </p:nvCxnSpPr>
        <p:spPr>
          <a:xfrm>
            <a:off x="9419479" y="2270269"/>
            <a:ext cx="0" cy="2438891"/>
          </a:xfrm>
          <a:prstGeom prst="straightConnector1">
            <a:avLst/>
          </a:prstGeom>
          <a:ln w="28575">
            <a:solidFill>
              <a:schemeClr val="accent2"/>
            </a:solidFill>
            <a:headEnd type="ova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1382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3E0D492-EEB5-0E31-0B07-558F816E8AC8}"/>
              </a:ext>
            </a:extLst>
          </p:cNvPr>
          <p:cNvSpPr>
            <a:spLocks noGrp="1"/>
          </p:cNvSpPr>
          <p:nvPr>
            <p:ph type="body" sz="quarter" idx="14"/>
          </p:nvPr>
        </p:nvSpPr>
        <p:spPr/>
        <p:txBody>
          <a:bodyPr/>
          <a:lstStyle/>
          <a:p>
            <a:endParaRPr lang="zh-CN" altLang="en-US"/>
          </a:p>
        </p:txBody>
      </p:sp>
      <p:sp>
        <p:nvSpPr>
          <p:cNvPr id="7" name="文本占位符 6"/>
          <p:cNvSpPr>
            <a:spLocks noGrp="1"/>
          </p:cNvSpPr>
          <p:nvPr>
            <p:ph type="body" sz="quarter" idx="21"/>
          </p:nvPr>
        </p:nvSpPr>
        <p:spPr/>
        <p:txBody>
          <a:bodyPr/>
          <a:lstStyle/>
          <a:p>
            <a:r>
              <a:rPr kumimoji="1" lang="en-US" altLang="zh-CN" dirty="0">
                <a:latin typeface="+mn-ea"/>
                <a:ea typeface="+mn-ea"/>
                <a:sym typeface="+mn-ea"/>
              </a:rPr>
              <a:t>2.2 SSI</a:t>
            </a:r>
            <a:r>
              <a:rPr kumimoji="1" lang="zh-CN" altLang="en-US" dirty="0">
                <a:latin typeface="+mn-ea"/>
                <a:ea typeface="+mn-ea"/>
                <a:sym typeface="+mn-ea"/>
              </a:rPr>
              <a:t>（销售部分）自评</a:t>
            </a:r>
            <a:r>
              <a:rPr lang="zh-CN" altLang="en-US" dirty="0">
                <a:latin typeface="+mn-ea"/>
                <a:ea typeface="+mn-ea"/>
              </a:rPr>
              <a:t>弱项汇总</a:t>
            </a:r>
          </a:p>
        </p:txBody>
      </p:sp>
      <p:sp>
        <p:nvSpPr>
          <p:cNvPr id="4" name="文本占位符 3">
            <a:extLst>
              <a:ext uri="{FF2B5EF4-FFF2-40B4-BE49-F238E27FC236}">
                <a16:creationId xmlns:a16="http://schemas.microsoft.com/office/drawing/2014/main" id="{E9B00809-8D92-8FC9-BDAB-01A824E79A5A}"/>
              </a:ext>
            </a:extLst>
          </p:cNvPr>
          <p:cNvSpPr>
            <a:spLocks noGrp="1"/>
          </p:cNvSpPr>
          <p:nvPr>
            <p:ph type="body" sz="quarter" idx="22"/>
          </p:nvPr>
        </p:nvSpPr>
        <p:spPr/>
        <p:txBody>
          <a:bodyPr/>
          <a:lstStyle/>
          <a:p>
            <a:r>
              <a:rPr lang="zh-CN" altLang="en-US" dirty="0"/>
              <a:t>销售下半年满意度调研中遇到的主要问题是</a:t>
            </a:r>
            <a:r>
              <a:rPr lang="zh-CN" altLang="en-US" u="sng" dirty="0"/>
              <a:t>提供的饮料服务</a:t>
            </a:r>
            <a:r>
              <a:rPr lang="zh-CN" altLang="en-US" dirty="0"/>
              <a:t>，</a:t>
            </a:r>
            <a:r>
              <a:rPr lang="zh-CN" altLang="en-US" u="sng" dirty="0"/>
              <a:t>咨询过程的专业性</a:t>
            </a:r>
            <a:r>
              <a:rPr lang="zh-CN" altLang="en-US" dirty="0"/>
              <a:t>，</a:t>
            </a:r>
            <a:r>
              <a:rPr lang="zh-CN" altLang="en-US" u="sng" dirty="0"/>
              <a:t>销售顾问对车主权益和服务的介绍清晰程度</a:t>
            </a:r>
            <a:r>
              <a:rPr lang="zh-CN" altLang="en-US" dirty="0"/>
              <a:t>，</a:t>
            </a:r>
            <a:r>
              <a:rPr lang="zh-CN" altLang="en-US" u="sng" dirty="0"/>
              <a:t>离店后的回访</a:t>
            </a:r>
            <a:r>
              <a:rPr lang="zh-CN" altLang="en-US" dirty="0"/>
              <a:t>等</a:t>
            </a:r>
          </a:p>
          <a:p>
            <a:endParaRPr lang="zh-CN" altLang="en-US" dirty="0"/>
          </a:p>
        </p:txBody>
      </p:sp>
      <p:sp>
        <p:nvSpPr>
          <p:cNvPr id="5" name="灯片编号占位符 4"/>
          <p:cNvSpPr>
            <a:spLocks noGrp="1"/>
          </p:cNvSpPr>
          <p:nvPr>
            <p:ph type="sldNum" sz="quarter" idx="4"/>
          </p:nvPr>
        </p:nvSpPr>
        <p:spPr/>
        <p:txBody>
          <a:bodyPr/>
          <a:lstStyle/>
          <a:p>
            <a:fld id="{5BC33376-1D8B-E948-ACD6-AA21A3D30A8E}" type="slidenum">
              <a:rPr lang="zh-CN" altLang="en-US" smtClean="0"/>
              <a:t>31</a:t>
            </a:fld>
            <a:endParaRPr lang="zh-CN" altLang="en-US" dirty="0"/>
          </a:p>
        </p:txBody>
      </p:sp>
      <p:sp>
        <p:nvSpPr>
          <p:cNvPr id="28" name="文本框 27"/>
          <p:cNvSpPr txBox="1"/>
          <p:nvPr/>
        </p:nvSpPr>
        <p:spPr>
          <a:xfrm>
            <a:off x="269333" y="1497479"/>
            <a:ext cx="11664000" cy="369332"/>
          </a:xfrm>
          <a:prstGeom prst="rect">
            <a:avLst/>
          </a:prstGeom>
          <a:solidFill>
            <a:srgbClr val="4B8D56"/>
          </a:solidFill>
        </p:spPr>
        <p:txBody>
          <a:bodyPr wrap="square">
            <a:spAutoFit/>
          </a:bodyPr>
          <a:lstStyle/>
          <a:p>
            <a:pPr algn="ctr"/>
            <a:r>
              <a:rPr lang="zh-CN" altLang="en-US" b="1" dirty="0">
                <a:solidFill>
                  <a:schemeClr val="bg1"/>
                </a:solidFill>
              </a:rPr>
              <a:t>某品牌</a:t>
            </a:r>
            <a:r>
              <a:rPr lang="en-US" altLang="zh-CN" b="1" dirty="0">
                <a:solidFill>
                  <a:schemeClr val="bg1"/>
                </a:solidFill>
              </a:rPr>
              <a:t>2023</a:t>
            </a:r>
            <a:r>
              <a:rPr lang="zh-CN" altLang="en-US" b="1" dirty="0">
                <a:solidFill>
                  <a:schemeClr val="bg1"/>
                </a:solidFill>
              </a:rPr>
              <a:t>年</a:t>
            </a:r>
            <a:r>
              <a:rPr lang="en-US" altLang="zh-CN" b="1" dirty="0">
                <a:solidFill>
                  <a:schemeClr val="bg1"/>
                </a:solidFill>
              </a:rPr>
              <a:t>H2</a:t>
            </a:r>
            <a:r>
              <a:rPr lang="zh-CN" altLang="en-US" b="1" dirty="0">
                <a:solidFill>
                  <a:schemeClr val="bg1"/>
                </a:solidFill>
              </a:rPr>
              <a:t>改进弱项</a:t>
            </a:r>
          </a:p>
        </p:txBody>
      </p:sp>
      <p:graphicFrame>
        <p:nvGraphicFramePr>
          <p:cNvPr id="6" name="表格 5">
            <a:extLst>
              <a:ext uri="{FF2B5EF4-FFF2-40B4-BE49-F238E27FC236}">
                <a16:creationId xmlns:a16="http://schemas.microsoft.com/office/drawing/2014/main" id="{7F702BBB-FB71-DF80-1B00-A22F415835E9}"/>
              </a:ext>
            </a:extLst>
          </p:cNvPr>
          <p:cNvGraphicFramePr>
            <a:graphicFrameLocks noGrp="1"/>
          </p:cNvGraphicFramePr>
          <p:nvPr/>
        </p:nvGraphicFramePr>
        <p:xfrm>
          <a:off x="263525" y="1945758"/>
          <a:ext cx="11664952" cy="4665343"/>
        </p:xfrm>
        <a:graphic>
          <a:graphicData uri="http://schemas.openxmlformats.org/drawingml/2006/table">
            <a:tbl>
              <a:tblPr>
                <a:tableStyleId>{5C22544A-7EE6-4342-B048-85BDC9FD1C3A}</a:tableStyleId>
              </a:tblPr>
              <a:tblGrid>
                <a:gridCol w="800311">
                  <a:extLst>
                    <a:ext uri="{9D8B030D-6E8A-4147-A177-3AD203B41FA5}">
                      <a16:colId xmlns:a16="http://schemas.microsoft.com/office/drawing/2014/main" val="3479189147"/>
                    </a:ext>
                  </a:extLst>
                </a:gridCol>
                <a:gridCol w="2417502">
                  <a:extLst>
                    <a:ext uri="{9D8B030D-6E8A-4147-A177-3AD203B41FA5}">
                      <a16:colId xmlns:a16="http://schemas.microsoft.com/office/drawing/2014/main" val="1898528405"/>
                    </a:ext>
                  </a:extLst>
                </a:gridCol>
                <a:gridCol w="938571">
                  <a:extLst>
                    <a:ext uri="{9D8B030D-6E8A-4147-A177-3AD203B41FA5}">
                      <a16:colId xmlns:a16="http://schemas.microsoft.com/office/drawing/2014/main" val="2265875328"/>
                    </a:ext>
                  </a:extLst>
                </a:gridCol>
                <a:gridCol w="938571">
                  <a:extLst>
                    <a:ext uri="{9D8B030D-6E8A-4147-A177-3AD203B41FA5}">
                      <a16:colId xmlns:a16="http://schemas.microsoft.com/office/drawing/2014/main" val="2861119348"/>
                    </a:ext>
                  </a:extLst>
                </a:gridCol>
                <a:gridCol w="938571">
                  <a:extLst>
                    <a:ext uri="{9D8B030D-6E8A-4147-A177-3AD203B41FA5}">
                      <a16:colId xmlns:a16="http://schemas.microsoft.com/office/drawing/2014/main" val="4022068326"/>
                    </a:ext>
                  </a:extLst>
                </a:gridCol>
                <a:gridCol w="938571">
                  <a:extLst>
                    <a:ext uri="{9D8B030D-6E8A-4147-A177-3AD203B41FA5}">
                      <a16:colId xmlns:a16="http://schemas.microsoft.com/office/drawing/2014/main" val="1729747019"/>
                    </a:ext>
                  </a:extLst>
                </a:gridCol>
                <a:gridCol w="938571">
                  <a:extLst>
                    <a:ext uri="{9D8B030D-6E8A-4147-A177-3AD203B41FA5}">
                      <a16:colId xmlns:a16="http://schemas.microsoft.com/office/drawing/2014/main" val="180696372"/>
                    </a:ext>
                  </a:extLst>
                </a:gridCol>
                <a:gridCol w="938571">
                  <a:extLst>
                    <a:ext uri="{9D8B030D-6E8A-4147-A177-3AD203B41FA5}">
                      <a16:colId xmlns:a16="http://schemas.microsoft.com/office/drawing/2014/main" val="1839397679"/>
                    </a:ext>
                  </a:extLst>
                </a:gridCol>
                <a:gridCol w="938571">
                  <a:extLst>
                    <a:ext uri="{9D8B030D-6E8A-4147-A177-3AD203B41FA5}">
                      <a16:colId xmlns:a16="http://schemas.microsoft.com/office/drawing/2014/main" val="843054686"/>
                    </a:ext>
                  </a:extLst>
                </a:gridCol>
                <a:gridCol w="938571">
                  <a:extLst>
                    <a:ext uri="{9D8B030D-6E8A-4147-A177-3AD203B41FA5}">
                      <a16:colId xmlns:a16="http://schemas.microsoft.com/office/drawing/2014/main" val="631989715"/>
                    </a:ext>
                  </a:extLst>
                </a:gridCol>
                <a:gridCol w="938571">
                  <a:extLst>
                    <a:ext uri="{9D8B030D-6E8A-4147-A177-3AD203B41FA5}">
                      <a16:colId xmlns:a16="http://schemas.microsoft.com/office/drawing/2014/main" val="4104154280"/>
                    </a:ext>
                  </a:extLst>
                </a:gridCol>
              </a:tblGrid>
              <a:tr h="388847">
                <a:tc>
                  <a:txBody>
                    <a:bodyPr/>
                    <a:lstStyle/>
                    <a:p>
                      <a:pPr algn="ctr" fontAlgn="ctr"/>
                      <a:r>
                        <a:rPr lang="zh-CN" altLang="en-US" sz="900" b="1" u="none" strike="noStrike" dirty="0">
                          <a:effectLst/>
                          <a:latin typeface="+mn-ea"/>
                          <a:ea typeface="+mn-ea"/>
                        </a:rPr>
                        <a:t>因子</a:t>
                      </a:r>
                      <a:br>
                        <a:rPr lang="zh-CN" altLang="en-US" sz="900" b="1" u="none" strike="noStrike" dirty="0">
                          <a:effectLst/>
                          <a:latin typeface="+mn-ea"/>
                          <a:ea typeface="+mn-ea"/>
                        </a:rPr>
                      </a:br>
                      <a:r>
                        <a:rPr lang="en-US" altLang="zh-CN" sz="900" b="1" u="none" strike="noStrike" dirty="0">
                          <a:effectLst/>
                          <a:latin typeface="+mn-ea"/>
                          <a:ea typeface="+mn-ea"/>
                        </a:rPr>
                        <a:t>(</a:t>
                      </a:r>
                      <a:r>
                        <a:rPr lang="zh-CN" altLang="en-US" sz="900" b="1" u="none" strike="noStrike" dirty="0">
                          <a:effectLst/>
                          <a:latin typeface="+mn-ea"/>
                          <a:ea typeface="+mn-ea"/>
                        </a:rPr>
                        <a:t>环节</a:t>
                      </a:r>
                      <a:r>
                        <a:rPr lang="en-US" altLang="zh-CN" sz="900" b="1" u="none" strike="noStrike" dirty="0">
                          <a:effectLst/>
                          <a:latin typeface="+mn-ea"/>
                          <a:ea typeface="+mn-ea"/>
                        </a:rPr>
                        <a:t>)</a:t>
                      </a:r>
                      <a:endParaRPr lang="en-US" altLang="zh-CN" sz="900" b="1" i="0" u="none" strike="noStrike" dirty="0">
                        <a:solidFill>
                          <a:srgbClr val="000000"/>
                        </a:solidFill>
                        <a:effectLst/>
                        <a:latin typeface="+mn-ea"/>
                        <a:ea typeface="+mn-ea"/>
                      </a:endParaRPr>
                    </a:p>
                  </a:txBody>
                  <a:tcPr marL="2349" marR="2349" marT="2349" marB="0" anchor="ctr">
                    <a:solidFill>
                      <a:schemeClr val="accent6">
                        <a:lumMod val="60000"/>
                        <a:lumOff val="40000"/>
                      </a:schemeClr>
                    </a:solidFill>
                  </a:tcPr>
                </a:tc>
                <a:tc>
                  <a:txBody>
                    <a:bodyPr/>
                    <a:lstStyle/>
                    <a:p>
                      <a:pPr algn="ctr" fontAlgn="ctr"/>
                      <a:r>
                        <a:rPr lang="zh-CN" altLang="en-US" sz="900" b="1" u="none" strike="noStrike" dirty="0">
                          <a:effectLst/>
                          <a:latin typeface="+mn-ea"/>
                          <a:ea typeface="+mn-ea"/>
                        </a:rPr>
                        <a:t>某品牌要素</a:t>
                      </a:r>
                      <a:br>
                        <a:rPr lang="zh-CN" altLang="en-US" sz="900" b="1" u="none" strike="noStrike" dirty="0">
                          <a:effectLst/>
                          <a:latin typeface="+mn-ea"/>
                          <a:ea typeface="+mn-ea"/>
                        </a:rPr>
                      </a:br>
                      <a:r>
                        <a:rPr lang="en-US" altLang="zh-CN" sz="900" b="1" u="none" strike="noStrike" dirty="0">
                          <a:effectLst/>
                          <a:latin typeface="+mn-ea"/>
                          <a:ea typeface="+mn-ea"/>
                        </a:rPr>
                        <a:t>(</a:t>
                      </a:r>
                      <a:r>
                        <a:rPr lang="zh-CN" altLang="en-US" sz="900" b="1" u="none" strike="noStrike" dirty="0">
                          <a:effectLst/>
                          <a:latin typeface="+mn-ea"/>
                          <a:ea typeface="+mn-ea"/>
                        </a:rPr>
                        <a:t>服务项</a:t>
                      </a:r>
                      <a:r>
                        <a:rPr lang="en-US" altLang="zh-CN" sz="900" b="1" u="none" strike="noStrike" dirty="0">
                          <a:effectLst/>
                          <a:latin typeface="+mn-ea"/>
                          <a:ea typeface="+mn-ea"/>
                        </a:rPr>
                        <a:t>)</a:t>
                      </a:r>
                      <a:endParaRPr lang="en-US" altLang="zh-CN" sz="900" b="1" i="0" u="none" strike="noStrike" dirty="0">
                        <a:solidFill>
                          <a:srgbClr val="000000"/>
                        </a:solidFill>
                        <a:effectLst/>
                        <a:latin typeface="+mn-ea"/>
                        <a:ea typeface="+mn-ea"/>
                      </a:endParaRPr>
                    </a:p>
                  </a:txBody>
                  <a:tcPr marL="2349" marR="2349" marT="2349" marB="0" anchor="ctr">
                    <a:solidFill>
                      <a:schemeClr val="accent6">
                        <a:lumMod val="60000"/>
                        <a:lumOff val="40000"/>
                      </a:schemeClr>
                    </a:solidFill>
                  </a:tcPr>
                </a:tc>
                <a:tc>
                  <a:txBody>
                    <a:bodyPr/>
                    <a:lstStyle/>
                    <a:p>
                      <a:pPr algn="ctr" fontAlgn="ctr"/>
                      <a:r>
                        <a:rPr lang="zh-CN" altLang="en-US" sz="900" b="1" u="none" strike="noStrike" dirty="0">
                          <a:effectLst/>
                          <a:latin typeface="+mn-ea"/>
                          <a:ea typeface="+mn-ea"/>
                        </a:rPr>
                        <a:t>某品牌</a:t>
                      </a:r>
                      <a:endParaRPr lang="zh-CN" altLang="en-US" sz="900" b="1" i="0" u="none" strike="noStrike" dirty="0">
                        <a:solidFill>
                          <a:srgbClr val="000000"/>
                        </a:solidFill>
                        <a:effectLst/>
                        <a:latin typeface="+mn-ea"/>
                        <a:ea typeface="+mn-ea"/>
                      </a:endParaRPr>
                    </a:p>
                  </a:txBody>
                  <a:tcPr marL="2349" marR="2349" marT="2349" marB="0" anchor="ctr">
                    <a:solidFill>
                      <a:schemeClr val="accent6">
                        <a:lumMod val="60000"/>
                        <a:lumOff val="40000"/>
                      </a:schemeClr>
                    </a:solidFill>
                  </a:tcPr>
                </a:tc>
                <a:tc>
                  <a:txBody>
                    <a:bodyPr/>
                    <a:lstStyle/>
                    <a:p>
                      <a:pPr algn="ctr" fontAlgn="ctr"/>
                      <a:r>
                        <a:rPr lang="zh-CN" altLang="en-US" sz="900" b="1" u="none" strike="noStrike" dirty="0">
                          <a:effectLst/>
                          <a:latin typeface="+mn-ea"/>
                          <a:ea typeface="+mn-ea"/>
                        </a:rPr>
                        <a:t>与总体满意度</a:t>
                      </a:r>
                      <a:endParaRPr lang="en-US" altLang="zh-CN" sz="900" b="1" u="none" strike="noStrike" dirty="0">
                        <a:effectLst/>
                        <a:latin typeface="+mn-ea"/>
                        <a:ea typeface="+mn-ea"/>
                      </a:endParaRPr>
                    </a:p>
                    <a:p>
                      <a:pPr algn="ctr" fontAlgn="ctr"/>
                      <a:r>
                        <a:rPr lang="zh-CN" altLang="en-US" sz="900" b="1" u="none" strike="noStrike" dirty="0">
                          <a:effectLst/>
                          <a:latin typeface="+mn-ea"/>
                          <a:ea typeface="+mn-ea"/>
                        </a:rPr>
                        <a:t>得分差距</a:t>
                      </a:r>
                      <a:endParaRPr lang="en-US" altLang="zh-CN" sz="900" b="1" u="none" strike="noStrike" dirty="0">
                        <a:effectLst/>
                        <a:latin typeface="+mn-ea"/>
                        <a:ea typeface="+mn-ea"/>
                      </a:endParaRPr>
                    </a:p>
                  </a:txBody>
                  <a:tcPr marL="2349" marR="2349" marT="2349" marB="0" anchor="ctr">
                    <a:solidFill>
                      <a:schemeClr val="accent6">
                        <a:lumMod val="60000"/>
                        <a:lumOff val="40000"/>
                      </a:schemeClr>
                    </a:solidFill>
                  </a:tcPr>
                </a:tc>
                <a:tc>
                  <a:txBody>
                    <a:bodyPr/>
                    <a:lstStyle/>
                    <a:p>
                      <a:pPr algn="ctr" fontAlgn="ctr"/>
                      <a:r>
                        <a:rPr lang="zh-CN" altLang="en-US" sz="900" b="1" u="none" strike="noStrike" dirty="0">
                          <a:effectLst/>
                          <a:latin typeface="+mn-ea"/>
                          <a:ea typeface="+mn-ea"/>
                        </a:rPr>
                        <a:t>蔚来</a:t>
                      </a:r>
                      <a:endParaRPr lang="zh-CN" altLang="en-US" sz="900" b="1" i="0" u="none" strike="noStrike" dirty="0">
                        <a:solidFill>
                          <a:srgbClr val="000000"/>
                        </a:solidFill>
                        <a:effectLst/>
                        <a:latin typeface="+mn-ea"/>
                        <a:ea typeface="+mn-ea"/>
                      </a:endParaRPr>
                    </a:p>
                  </a:txBody>
                  <a:tcPr marL="2349" marR="2349" marT="2349" marB="0" anchor="ctr">
                    <a:solidFill>
                      <a:schemeClr val="accent6">
                        <a:lumMod val="60000"/>
                        <a:lumOff val="40000"/>
                      </a:schemeClr>
                    </a:solidFill>
                  </a:tcPr>
                </a:tc>
                <a:tc>
                  <a:txBody>
                    <a:bodyPr/>
                    <a:lstStyle/>
                    <a:p>
                      <a:pPr algn="ctr" fontAlgn="ctr"/>
                      <a:r>
                        <a:rPr lang="zh-CN" altLang="en-US" sz="900" b="1" u="none" strike="noStrike" dirty="0">
                          <a:effectLst/>
                          <a:latin typeface="+mn-ea"/>
                          <a:ea typeface="+mn-ea"/>
                        </a:rPr>
                        <a:t>与第一名得分</a:t>
                      </a:r>
                      <a:endParaRPr lang="en-US" altLang="zh-CN" sz="900" b="1" u="none" strike="noStrike" dirty="0">
                        <a:effectLst/>
                        <a:latin typeface="+mn-ea"/>
                        <a:ea typeface="+mn-ea"/>
                      </a:endParaRPr>
                    </a:p>
                    <a:p>
                      <a:pPr algn="ctr" fontAlgn="ctr"/>
                      <a:r>
                        <a:rPr lang="zh-CN" altLang="en-US" sz="900" b="1" u="none" strike="noStrike" dirty="0">
                          <a:effectLst/>
                          <a:latin typeface="+mn-ea"/>
                          <a:ea typeface="+mn-ea"/>
                        </a:rPr>
                        <a:t>差距</a:t>
                      </a:r>
                      <a:endParaRPr lang="zh-CN" altLang="en-US" sz="900" b="1" i="0" u="none" strike="noStrike" dirty="0">
                        <a:solidFill>
                          <a:srgbClr val="000000"/>
                        </a:solidFill>
                        <a:effectLst/>
                        <a:latin typeface="+mn-ea"/>
                        <a:ea typeface="+mn-ea"/>
                      </a:endParaRPr>
                    </a:p>
                  </a:txBody>
                  <a:tcPr marL="2349" marR="2349" marT="2349" marB="0" anchor="ctr">
                    <a:solidFill>
                      <a:schemeClr val="accent6">
                        <a:lumMod val="60000"/>
                        <a:lumOff val="40000"/>
                      </a:schemeClr>
                    </a:solidFill>
                  </a:tcPr>
                </a:tc>
                <a:tc>
                  <a:txBody>
                    <a:bodyPr/>
                    <a:lstStyle/>
                    <a:p>
                      <a:pPr algn="ctr" fontAlgn="ctr"/>
                      <a:r>
                        <a:rPr lang="zh-CN" altLang="en-US" sz="900" b="1" u="none" strike="noStrike" dirty="0">
                          <a:effectLst/>
                          <a:latin typeface="+mn-ea"/>
                          <a:ea typeface="+mn-ea"/>
                        </a:rPr>
                        <a:t>绝对弱项</a:t>
                      </a:r>
                      <a:endParaRPr lang="zh-CN" altLang="en-US" sz="900" b="1" i="0" u="none" strike="noStrike" dirty="0">
                        <a:solidFill>
                          <a:srgbClr val="000000"/>
                        </a:solidFill>
                        <a:effectLst/>
                        <a:latin typeface="+mn-ea"/>
                        <a:ea typeface="+mn-ea"/>
                      </a:endParaRPr>
                    </a:p>
                  </a:txBody>
                  <a:tcPr marL="2349" marR="2349" marT="2349" marB="0" anchor="ctr">
                    <a:solidFill>
                      <a:schemeClr val="accent6">
                        <a:lumMod val="60000"/>
                        <a:lumOff val="40000"/>
                      </a:schemeClr>
                    </a:solidFill>
                  </a:tcPr>
                </a:tc>
                <a:tc>
                  <a:txBody>
                    <a:bodyPr/>
                    <a:lstStyle/>
                    <a:p>
                      <a:pPr algn="ctr" fontAlgn="ctr"/>
                      <a:r>
                        <a:rPr lang="zh-CN" altLang="en-US" sz="900" b="1" u="none" strike="noStrike" dirty="0">
                          <a:effectLst/>
                          <a:latin typeface="+mn-ea"/>
                          <a:ea typeface="+mn-ea"/>
                        </a:rPr>
                        <a:t>相对弱项</a:t>
                      </a:r>
                      <a:endParaRPr lang="zh-CN" altLang="en-US" sz="900" b="1" i="0" u="none" strike="noStrike" dirty="0">
                        <a:solidFill>
                          <a:srgbClr val="000000"/>
                        </a:solidFill>
                        <a:effectLst/>
                        <a:latin typeface="+mn-ea"/>
                        <a:ea typeface="+mn-ea"/>
                      </a:endParaRPr>
                    </a:p>
                  </a:txBody>
                  <a:tcPr marL="2349" marR="2349" marT="2349" marB="0" anchor="ctr">
                    <a:solidFill>
                      <a:schemeClr val="accent6">
                        <a:lumMod val="60000"/>
                        <a:lumOff val="40000"/>
                      </a:schemeClr>
                    </a:solidFill>
                  </a:tcPr>
                </a:tc>
                <a:tc>
                  <a:txBody>
                    <a:bodyPr/>
                    <a:lstStyle/>
                    <a:p>
                      <a:pPr algn="ctr" fontAlgn="ctr"/>
                      <a:r>
                        <a:rPr lang="zh-CN" altLang="en-US" sz="900" b="1" u="none" strike="noStrike" dirty="0">
                          <a:effectLst/>
                          <a:latin typeface="+mn-ea"/>
                          <a:ea typeface="+mn-ea"/>
                        </a:rPr>
                        <a:t>改进影响</a:t>
                      </a:r>
                      <a:endParaRPr lang="zh-CN" altLang="en-US" sz="900" b="1" i="0" u="none" strike="noStrike" dirty="0">
                        <a:solidFill>
                          <a:srgbClr val="000000"/>
                        </a:solidFill>
                        <a:effectLst/>
                        <a:latin typeface="+mn-ea"/>
                        <a:ea typeface="+mn-ea"/>
                      </a:endParaRPr>
                    </a:p>
                  </a:txBody>
                  <a:tcPr marL="2349" marR="2349" marT="2349" marB="0" anchor="ctr">
                    <a:solidFill>
                      <a:schemeClr val="accent6">
                        <a:lumMod val="60000"/>
                        <a:lumOff val="40000"/>
                      </a:schemeClr>
                    </a:solidFill>
                  </a:tcPr>
                </a:tc>
                <a:tc>
                  <a:txBody>
                    <a:bodyPr/>
                    <a:lstStyle/>
                    <a:p>
                      <a:pPr algn="ctr" fontAlgn="ctr"/>
                      <a:r>
                        <a:rPr lang="zh-CN" altLang="en-US" sz="900" b="1" u="none" strike="noStrike" dirty="0">
                          <a:effectLst/>
                          <a:latin typeface="+mn-ea"/>
                          <a:ea typeface="+mn-ea"/>
                        </a:rPr>
                        <a:t>优先级排序</a:t>
                      </a:r>
                      <a:endParaRPr lang="zh-CN" altLang="en-US" sz="900" b="1" i="0" u="none" strike="noStrike" dirty="0">
                        <a:solidFill>
                          <a:srgbClr val="000000"/>
                        </a:solidFill>
                        <a:effectLst/>
                        <a:latin typeface="+mn-ea"/>
                        <a:ea typeface="+mn-ea"/>
                      </a:endParaRPr>
                    </a:p>
                  </a:txBody>
                  <a:tcPr marL="2349" marR="2349" marT="2349" marB="0" anchor="ctr">
                    <a:solidFill>
                      <a:schemeClr val="accent6">
                        <a:lumMod val="60000"/>
                        <a:lumOff val="40000"/>
                      </a:schemeClr>
                    </a:solidFill>
                  </a:tcPr>
                </a:tc>
                <a:tc>
                  <a:txBody>
                    <a:bodyPr/>
                    <a:lstStyle/>
                    <a:p>
                      <a:pPr algn="ctr" fontAlgn="ctr"/>
                      <a:r>
                        <a:rPr lang="zh-CN" altLang="en-US" sz="900" b="1" u="none" strike="noStrike" dirty="0">
                          <a:effectLst/>
                          <a:latin typeface="+mn-ea"/>
                          <a:ea typeface="+mn-ea"/>
                        </a:rPr>
                        <a:t>最终弱项</a:t>
                      </a:r>
                      <a:endParaRPr lang="zh-CN" altLang="en-US" sz="900" b="1" i="0" u="none" strike="noStrike" dirty="0">
                        <a:solidFill>
                          <a:srgbClr val="000000"/>
                        </a:solidFill>
                        <a:effectLst/>
                        <a:latin typeface="+mn-ea"/>
                        <a:ea typeface="+mn-ea"/>
                      </a:endParaRPr>
                    </a:p>
                  </a:txBody>
                  <a:tcPr marL="2349" marR="2349" marT="2349" marB="0" anchor="ctr">
                    <a:solidFill>
                      <a:schemeClr val="accent6">
                        <a:lumMod val="60000"/>
                        <a:lumOff val="40000"/>
                      </a:schemeClr>
                    </a:solidFill>
                  </a:tcPr>
                </a:tc>
                <a:extLst>
                  <a:ext uri="{0D108BD9-81ED-4DB2-BD59-A6C34878D82A}">
                    <a16:rowId xmlns:a16="http://schemas.microsoft.com/office/drawing/2014/main" val="884983105"/>
                  </a:ext>
                </a:extLst>
              </a:tr>
              <a:tr h="152732">
                <a:tc rowSpan="2">
                  <a:txBody>
                    <a:bodyPr/>
                    <a:lstStyle/>
                    <a:p>
                      <a:pPr algn="ctr" fontAlgn="ctr"/>
                      <a:r>
                        <a:rPr lang="zh-CN" altLang="en-US" sz="800" u="none" strike="noStrike">
                          <a:effectLst/>
                          <a:latin typeface="+mn-ea"/>
                          <a:ea typeface="+mn-ea"/>
                        </a:rPr>
                        <a:t>入店前沟通</a:t>
                      </a:r>
                      <a:endParaRPr lang="zh-CN" altLang="en-US" sz="800" b="0" i="0" u="none" strike="noStrike">
                        <a:solidFill>
                          <a:srgbClr val="000000"/>
                        </a:solidFill>
                        <a:effectLst/>
                        <a:latin typeface="+mn-ea"/>
                        <a:ea typeface="+mn-ea"/>
                      </a:endParaRPr>
                    </a:p>
                  </a:txBody>
                  <a:tcPr marL="2349" marR="2349" marT="2349" marB="0" anchor="ctr"/>
                </a:tc>
                <a:tc>
                  <a:txBody>
                    <a:bodyPr/>
                    <a:lstStyle/>
                    <a:p>
                      <a:pPr algn="r" fontAlgn="ctr"/>
                      <a:r>
                        <a:rPr lang="zh-CN" altLang="en-US" sz="800" u="none" strike="noStrike" dirty="0">
                          <a:effectLst/>
                          <a:latin typeface="+mn-ea"/>
                          <a:ea typeface="+mn-ea"/>
                        </a:rPr>
                        <a:t>咨询过程的专业度</a:t>
                      </a:r>
                      <a:endParaRPr lang="zh-CN" altLang="en-US" sz="800" b="0" i="0" u="none" strike="noStrike" dirty="0">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dirty="0">
                          <a:effectLst/>
                          <a:latin typeface="+mn-ea"/>
                          <a:ea typeface="+mn-ea"/>
                        </a:rPr>
                        <a:t>8.26</a:t>
                      </a:r>
                      <a:endParaRPr lang="en-US" altLang="zh-CN" sz="800" b="0" i="0" u="none" strike="noStrike" dirty="0">
                        <a:solidFill>
                          <a:srgbClr val="FF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dirty="0">
                          <a:effectLst/>
                          <a:latin typeface="+mn-ea"/>
                          <a:ea typeface="+mn-ea"/>
                        </a:rPr>
                        <a:t>0.34 </a:t>
                      </a:r>
                      <a:endParaRPr lang="en-US" altLang="zh-CN" sz="800" b="0" i="0" u="none" strike="noStrike" dirty="0">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dirty="0">
                          <a:effectLst/>
                          <a:latin typeface="+mn-ea"/>
                          <a:ea typeface="+mn-ea"/>
                        </a:rPr>
                        <a:t>8.67</a:t>
                      </a:r>
                      <a:endParaRPr lang="en-US" altLang="zh-CN" sz="800" b="0" i="0" u="none" strike="noStrike" dirty="0">
                        <a:solidFill>
                          <a:srgbClr val="FF505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dirty="0">
                          <a:effectLst/>
                          <a:latin typeface="+mn-ea"/>
                          <a:ea typeface="+mn-ea"/>
                        </a:rPr>
                        <a:t>0.41 </a:t>
                      </a:r>
                      <a:endParaRPr lang="en-US" altLang="zh-CN" sz="800" b="0" i="0" u="none" strike="noStrike" dirty="0">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zh-CN" altLang="en-US" sz="800" u="none" strike="noStrike">
                          <a:effectLst/>
                          <a:latin typeface="+mn-ea"/>
                          <a:ea typeface="+mn-ea"/>
                        </a:rPr>
                        <a:t>是</a:t>
                      </a:r>
                      <a:endParaRPr lang="zh-CN" altLang="en-US" sz="800" b="0" i="0" u="none" strike="noStrike">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zh-CN" altLang="en-US" sz="800" u="none" strike="noStrike">
                          <a:effectLst/>
                          <a:latin typeface="+mn-ea"/>
                          <a:ea typeface="+mn-ea"/>
                        </a:rPr>
                        <a:t>是</a:t>
                      </a:r>
                      <a:endParaRPr lang="zh-CN" altLang="en-US" sz="800" b="0" i="0" u="none" strike="noStrike">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a:effectLst/>
                          <a:latin typeface="+mn-ea"/>
                          <a:ea typeface="+mn-ea"/>
                        </a:rPr>
                        <a:t>1.0512</a:t>
                      </a:r>
                      <a:endParaRPr lang="en-US" altLang="zh-CN" sz="800" b="0" i="0" u="none" strike="noStrike">
                        <a:solidFill>
                          <a:srgbClr val="9C0006"/>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a:effectLst/>
                          <a:latin typeface="+mn-ea"/>
                          <a:ea typeface="+mn-ea"/>
                        </a:rPr>
                        <a:t>2</a:t>
                      </a:r>
                      <a:endParaRPr lang="en-US" altLang="zh-CN" sz="800" b="0" i="0" u="none" strike="noStrike">
                        <a:solidFill>
                          <a:srgbClr val="9C0006"/>
                        </a:solidFill>
                        <a:effectLst/>
                        <a:latin typeface="+mn-ea"/>
                        <a:ea typeface="+mn-ea"/>
                      </a:endParaRPr>
                    </a:p>
                  </a:txBody>
                  <a:tcPr marL="2349" marR="2349" marT="2349" marB="0" anchor="ctr">
                    <a:solidFill>
                      <a:srgbClr val="FCE8D0"/>
                    </a:solidFill>
                  </a:tcPr>
                </a:tc>
                <a:tc>
                  <a:txBody>
                    <a:bodyPr/>
                    <a:lstStyle/>
                    <a:p>
                      <a:pPr algn="ctr" fontAlgn="ctr"/>
                      <a:r>
                        <a:rPr lang="zh-CN" altLang="en-US" sz="800" u="none" strike="noStrike" dirty="0">
                          <a:effectLst/>
                          <a:latin typeface="+mn-ea"/>
                          <a:ea typeface="+mn-ea"/>
                        </a:rPr>
                        <a:t>弱项</a:t>
                      </a:r>
                      <a:endParaRPr lang="zh-CN" altLang="en-US" sz="800" b="0" i="0" u="none" strike="noStrike" dirty="0">
                        <a:solidFill>
                          <a:srgbClr val="000000"/>
                        </a:solidFill>
                        <a:effectLst/>
                        <a:latin typeface="+mn-ea"/>
                        <a:ea typeface="+mn-ea"/>
                      </a:endParaRPr>
                    </a:p>
                  </a:txBody>
                  <a:tcPr marL="2349" marR="2349" marT="2349" marB="0" anchor="ctr">
                    <a:solidFill>
                      <a:srgbClr val="FCE8D0"/>
                    </a:solidFill>
                  </a:tcPr>
                </a:tc>
                <a:extLst>
                  <a:ext uri="{0D108BD9-81ED-4DB2-BD59-A6C34878D82A}">
                    <a16:rowId xmlns:a16="http://schemas.microsoft.com/office/drawing/2014/main" val="441705310"/>
                  </a:ext>
                </a:extLst>
              </a:tr>
              <a:tr h="152732">
                <a:tc vMerge="1">
                  <a:txBody>
                    <a:bodyPr/>
                    <a:lstStyle/>
                    <a:p>
                      <a:endParaRPr lang="zh-CN" altLang="en-US"/>
                    </a:p>
                  </a:txBody>
                  <a:tcPr/>
                </a:tc>
                <a:tc>
                  <a:txBody>
                    <a:bodyPr/>
                    <a:lstStyle/>
                    <a:p>
                      <a:pPr algn="r" fontAlgn="ctr"/>
                      <a:r>
                        <a:rPr lang="zh-CN" altLang="en-US" sz="800" u="none" strike="noStrike" dirty="0">
                          <a:effectLst/>
                          <a:latin typeface="+mn-ea"/>
                          <a:ea typeface="+mn-ea"/>
                        </a:rPr>
                        <a:t>预约便利性</a:t>
                      </a: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8.80</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-0.21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8.81</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0.01 </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3635522530"/>
                  </a:ext>
                </a:extLst>
              </a:tr>
              <a:tr h="152732">
                <a:tc>
                  <a:txBody>
                    <a:bodyPr/>
                    <a:lstStyle/>
                    <a:p>
                      <a:pPr algn="ctr" fontAlgn="ctr"/>
                      <a:r>
                        <a:rPr lang="zh-CN" altLang="en-US" sz="800" u="none" strike="noStrike">
                          <a:effectLst/>
                          <a:latin typeface="+mn-ea"/>
                          <a:ea typeface="+mn-ea"/>
                        </a:rPr>
                        <a:t>到店接待</a:t>
                      </a:r>
                      <a:endParaRPr lang="zh-CN" altLang="en-US" sz="800" b="0" i="0" u="none" strike="noStrike">
                        <a:solidFill>
                          <a:srgbClr val="000000"/>
                        </a:solidFill>
                        <a:effectLst/>
                        <a:latin typeface="+mn-ea"/>
                        <a:ea typeface="+mn-ea"/>
                      </a:endParaRPr>
                    </a:p>
                  </a:txBody>
                  <a:tcPr marL="2349" marR="2349" marT="2349" marB="0" anchor="ctr"/>
                </a:tc>
                <a:tc>
                  <a:txBody>
                    <a:bodyPr/>
                    <a:lstStyle/>
                    <a:p>
                      <a:pPr algn="r" fontAlgn="ctr"/>
                      <a:r>
                        <a:rPr lang="zh-CN" altLang="en-US" sz="800" u="none" strike="noStrike">
                          <a:effectLst/>
                          <a:latin typeface="+mn-ea"/>
                          <a:ea typeface="+mn-ea"/>
                        </a:rPr>
                        <a:t>人员接待及时性与主动性</a:t>
                      </a: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8.92</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-0.32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8.62</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-0.30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3368372375"/>
                  </a:ext>
                </a:extLst>
              </a:tr>
              <a:tr h="152732">
                <a:tc rowSpan="10">
                  <a:txBody>
                    <a:bodyPr/>
                    <a:lstStyle/>
                    <a:p>
                      <a:pPr algn="ctr" fontAlgn="ctr"/>
                      <a:r>
                        <a:rPr lang="zh-CN" altLang="en-US" sz="800" u="none" strike="noStrike" dirty="0">
                          <a:effectLst/>
                          <a:latin typeface="+mn-ea"/>
                          <a:ea typeface="+mn-ea"/>
                        </a:rPr>
                        <a:t>店内看车</a:t>
                      </a:r>
                      <a:endParaRPr lang="zh-CN" altLang="en-US" sz="800" b="0" i="0" u="none" strike="noStrike" dirty="0">
                        <a:solidFill>
                          <a:srgbClr val="000000"/>
                        </a:solidFill>
                        <a:effectLst/>
                        <a:latin typeface="+mn-ea"/>
                        <a:ea typeface="+mn-ea"/>
                      </a:endParaRPr>
                    </a:p>
                  </a:txBody>
                  <a:tcPr marL="2349" marR="2349" marT="2349" marB="0" anchor="ctr"/>
                </a:tc>
                <a:tc>
                  <a:txBody>
                    <a:bodyPr/>
                    <a:lstStyle/>
                    <a:p>
                      <a:pPr algn="r" fontAlgn="ctr"/>
                      <a:r>
                        <a:rPr lang="zh-CN" altLang="en-US" sz="800" u="none" strike="noStrike" dirty="0">
                          <a:effectLst/>
                          <a:latin typeface="+mn-ea"/>
                          <a:ea typeface="+mn-ea"/>
                        </a:rPr>
                        <a:t>销售顾问对车型介绍专业性</a:t>
                      </a: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8.60</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-0.01 </a:t>
                      </a:r>
                      <a:endParaRPr lang="en-US" altLang="zh-CN" sz="800" b="0" i="0" u="none" strike="noStrike" dirty="0">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8.76</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0.16 </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3627360292"/>
                  </a:ext>
                </a:extLst>
              </a:tr>
              <a:tr h="152732">
                <a:tc vMerge="1">
                  <a:txBody>
                    <a:bodyPr/>
                    <a:lstStyle/>
                    <a:p>
                      <a:endParaRPr lang="zh-CN" altLang="en-US"/>
                    </a:p>
                  </a:txBody>
                  <a:tcPr/>
                </a:tc>
                <a:tc>
                  <a:txBody>
                    <a:bodyPr/>
                    <a:lstStyle/>
                    <a:p>
                      <a:pPr algn="r" fontAlgn="ctr"/>
                      <a:r>
                        <a:rPr lang="zh-CN" altLang="en-US" sz="800" u="none" strike="noStrike" dirty="0">
                          <a:effectLst/>
                          <a:latin typeface="+mn-ea"/>
                          <a:ea typeface="+mn-ea"/>
                        </a:rPr>
                        <a:t>销售顾问理解购车需求及针对性的推荐程度</a:t>
                      </a: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8.50</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0.09 </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8.53</a:t>
                      </a:r>
                      <a:endParaRPr lang="en-US" altLang="zh-CN" sz="800" b="0" i="0" u="none" strike="noStrike" dirty="0">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0.03 </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4117219188"/>
                  </a:ext>
                </a:extLst>
              </a:tr>
              <a:tr h="152732">
                <a:tc vMerge="1">
                  <a:txBody>
                    <a:bodyPr/>
                    <a:lstStyle/>
                    <a:p>
                      <a:endParaRPr lang="zh-CN" altLang="en-US"/>
                    </a:p>
                  </a:txBody>
                  <a:tcPr/>
                </a:tc>
                <a:tc>
                  <a:txBody>
                    <a:bodyPr/>
                    <a:lstStyle/>
                    <a:p>
                      <a:pPr algn="r" fontAlgn="ctr"/>
                      <a:r>
                        <a:rPr lang="zh-CN" altLang="en-US" sz="800" u="none" strike="noStrike">
                          <a:effectLst/>
                          <a:latin typeface="+mn-ea"/>
                          <a:ea typeface="+mn-ea"/>
                        </a:rPr>
                        <a:t>门店静态演示和体验表现</a:t>
                      </a: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8.69</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-0.10 </a:t>
                      </a:r>
                      <a:endParaRPr lang="en-US" altLang="zh-CN" sz="800" b="0" i="0" u="none" strike="noStrike" dirty="0">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8.59</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-0.11 </a:t>
                      </a:r>
                      <a:endParaRPr lang="en-US" altLang="zh-CN" sz="800" b="0" i="0" u="none" strike="noStrike" dirty="0">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1366781260"/>
                  </a:ext>
                </a:extLst>
              </a:tr>
              <a:tr h="152732">
                <a:tc vMerge="1">
                  <a:txBody>
                    <a:bodyPr/>
                    <a:lstStyle/>
                    <a:p>
                      <a:endParaRPr lang="zh-CN" altLang="en-US"/>
                    </a:p>
                  </a:txBody>
                  <a:tcPr/>
                </a:tc>
                <a:tc>
                  <a:txBody>
                    <a:bodyPr/>
                    <a:lstStyle/>
                    <a:p>
                      <a:pPr algn="r" fontAlgn="ctr"/>
                      <a:r>
                        <a:rPr lang="zh-CN" altLang="en-US" sz="800" u="none" strike="noStrike">
                          <a:effectLst/>
                          <a:latin typeface="+mn-ea"/>
                          <a:ea typeface="+mn-ea"/>
                        </a:rPr>
                        <a:t>销售顾问的服务态度</a:t>
                      </a: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9.06</a:t>
                      </a:r>
                      <a:endParaRPr lang="en-US" altLang="zh-CN" sz="800" b="0" i="0" u="none" strike="noStrike">
                        <a:solidFill>
                          <a:srgbClr val="00B05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-0.47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8.76</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-0.30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916762287"/>
                  </a:ext>
                </a:extLst>
              </a:tr>
              <a:tr h="152732">
                <a:tc vMerge="1">
                  <a:txBody>
                    <a:bodyPr/>
                    <a:lstStyle/>
                    <a:p>
                      <a:endParaRPr lang="zh-CN" altLang="en-US"/>
                    </a:p>
                  </a:txBody>
                  <a:tcPr/>
                </a:tc>
                <a:tc>
                  <a:txBody>
                    <a:bodyPr/>
                    <a:lstStyle/>
                    <a:p>
                      <a:pPr algn="r" fontAlgn="ctr"/>
                      <a:r>
                        <a:rPr lang="zh-CN" altLang="en-US" sz="800" u="none" strike="noStrike">
                          <a:effectLst/>
                          <a:latin typeface="+mn-ea"/>
                          <a:ea typeface="+mn-ea"/>
                        </a:rPr>
                        <a:t>销售顾问诚信度</a:t>
                      </a: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8.68</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-0.09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8.38</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-0.30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2422024086"/>
                  </a:ext>
                </a:extLst>
              </a:tr>
              <a:tr h="152732">
                <a:tc vMerge="1">
                  <a:txBody>
                    <a:bodyPr/>
                    <a:lstStyle/>
                    <a:p>
                      <a:endParaRPr lang="zh-CN" altLang="en-US"/>
                    </a:p>
                  </a:txBody>
                  <a:tcPr/>
                </a:tc>
                <a:tc>
                  <a:txBody>
                    <a:bodyPr/>
                    <a:lstStyle/>
                    <a:p>
                      <a:pPr algn="r" fontAlgn="ctr"/>
                      <a:r>
                        <a:rPr lang="zh-CN" altLang="en-US" sz="800" u="none" strike="noStrike" dirty="0">
                          <a:effectLst/>
                          <a:latin typeface="+mn-ea"/>
                          <a:ea typeface="+mn-ea"/>
                        </a:rPr>
                        <a:t>销售顾问的形象</a:t>
                      </a: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8.93</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-0.33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8.97</a:t>
                      </a:r>
                      <a:endParaRPr lang="en-US" altLang="zh-CN" sz="800" b="0" i="0" u="none" strike="noStrike">
                        <a:solidFill>
                          <a:srgbClr val="00B05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0.04 </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1868918680"/>
                  </a:ext>
                </a:extLst>
              </a:tr>
              <a:tr h="152732">
                <a:tc vMerge="1">
                  <a:txBody>
                    <a:bodyPr/>
                    <a:lstStyle/>
                    <a:p>
                      <a:endParaRPr lang="zh-CN" altLang="en-US"/>
                    </a:p>
                  </a:txBody>
                  <a:tcPr/>
                </a:tc>
                <a:tc>
                  <a:txBody>
                    <a:bodyPr/>
                    <a:lstStyle/>
                    <a:p>
                      <a:pPr algn="r" fontAlgn="ctr"/>
                      <a:r>
                        <a:rPr lang="zh-CN" altLang="en-US" sz="800" u="none" strike="noStrike" dirty="0">
                          <a:effectLst/>
                          <a:latin typeface="+mn-ea"/>
                          <a:ea typeface="+mn-ea"/>
                        </a:rPr>
                        <a:t>展车情况</a:t>
                      </a: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8.91</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-0.32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9.03</a:t>
                      </a:r>
                      <a:endParaRPr lang="en-US" altLang="zh-CN" sz="800" b="0" i="0" u="none" strike="noStrike" dirty="0">
                        <a:solidFill>
                          <a:srgbClr val="00B05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0.12 </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3721033207"/>
                  </a:ext>
                </a:extLst>
              </a:tr>
              <a:tr h="152732">
                <a:tc vMerge="1">
                  <a:txBody>
                    <a:bodyPr/>
                    <a:lstStyle/>
                    <a:p>
                      <a:endParaRPr lang="zh-CN" altLang="en-US"/>
                    </a:p>
                  </a:txBody>
                  <a:tcPr/>
                </a:tc>
                <a:tc>
                  <a:txBody>
                    <a:bodyPr/>
                    <a:lstStyle/>
                    <a:p>
                      <a:pPr algn="r" fontAlgn="ctr"/>
                      <a:r>
                        <a:rPr lang="zh-CN" altLang="en-US" sz="800" u="none" strike="noStrike" dirty="0">
                          <a:effectLst/>
                          <a:latin typeface="+mn-ea"/>
                          <a:ea typeface="+mn-ea"/>
                        </a:rPr>
                        <a:t>店内硬件设施</a:t>
                      </a: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8.55</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0.04 </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8.76</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0.21 </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229110102"/>
                  </a:ext>
                </a:extLst>
              </a:tr>
              <a:tr h="152732">
                <a:tc vMerge="1">
                  <a:txBody>
                    <a:bodyPr/>
                    <a:lstStyle/>
                    <a:p>
                      <a:endParaRPr lang="zh-CN" altLang="en-US"/>
                    </a:p>
                  </a:txBody>
                  <a:tcPr/>
                </a:tc>
                <a:tc>
                  <a:txBody>
                    <a:bodyPr/>
                    <a:lstStyle/>
                    <a:p>
                      <a:pPr algn="r" fontAlgn="ctr"/>
                      <a:r>
                        <a:rPr lang="zh-CN" altLang="en-US" sz="800" u="none" strike="noStrike">
                          <a:effectLst/>
                          <a:latin typeface="+mn-ea"/>
                          <a:ea typeface="+mn-ea"/>
                        </a:rPr>
                        <a:t>提供的饮料服务</a:t>
                      </a:r>
                      <a:endParaRPr lang="zh-CN" altLang="en-US" sz="800" b="0" i="0" u="none" strike="noStrike">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dirty="0">
                          <a:effectLst/>
                          <a:latin typeface="+mn-ea"/>
                          <a:ea typeface="+mn-ea"/>
                        </a:rPr>
                        <a:t>7.88</a:t>
                      </a:r>
                      <a:endParaRPr lang="en-US" altLang="zh-CN" sz="800" b="0" i="0" u="none" strike="noStrike" dirty="0">
                        <a:solidFill>
                          <a:srgbClr val="FF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a:effectLst/>
                          <a:latin typeface="+mn-ea"/>
                          <a:ea typeface="+mn-ea"/>
                        </a:rPr>
                        <a:t>0.72 </a:t>
                      </a:r>
                      <a:endParaRPr lang="en-US" altLang="zh-CN" sz="800" b="0" i="0" u="none" strike="noStrike">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dirty="0">
                          <a:effectLst/>
                          <a:latin typeface="+mn-ea"/>
                          <a:ea typeface="+mn-ea"/>
                        </a:rPr>
                        <a:t>8.50</a:t>
                      </a:r>
                      <a:endParaRPr lang="en-US" altLang="zh-CN" sz="800" b="0" i="0" u="none" strike="noStrike" dirty="0">
                        <a:solidFill>
                          <a:srgbClr val="FF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a:effectLst/>
                          <a:latin typeface="+mn-ea"/>
                          <a:ea typeface="+mn-ea"/>
                        </a:rPr>
                        <a:t>0.62 </a:t>
                      </a:r>
                      <a:endParaRPr lang="en-US" altLang="zh-CN" sz="800" b="0" i="0" u="none" strike="noStrike">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zh-CN" altLang="en-US" sz="800" u="none" strike="noStrike" dirty="0">
                          <a:effectLst/>
                          <a:latin typeface="+mn-ea"/>
                          <a:ea typeface="+mn-ea"/>
                        </a:rPr>
                        <a:t>是</a:t>
                      </a:r>
                      <a:endParaRPr lang="zh-CN" altLang="en-US" sz="800" b="0" i="0" u="none" strike="noStrike" dirty="0">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zh-CN" altLang="en-US" sz="800" u="none" strike="noStrike" dirty="0">
                          <a:effectLst/>
                          <a:latin typeface="+mn-ea"/>
                          <a:ea typeface="+mn-ea"/>
                        </a:rPr>
                        <a:t>是</a:t>
                      </a:r>
                      <a:endParaRPr lang="zh-CN" altLang="en-US" sz="800" b="0" i="0" u="none" strike="noStrike" dirty="0">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a:effectLst/>
                          <a:latin typeface="+mn-ea"/>
                          <a:ea typeface="+mn-ea"/>
                        </a:rPr>
                        <a:t>1.6536</a:t>
                      </a:r>
                      <a:endParaRPr lang="en-US" altLang="zh-CN" sz="800" b="0" i="0" u="none" strike="noStrike">
                        <a:solidFill>
                          <a:srgbClr val="9C0006"/>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a:effectLst/>
                          <a:latin typeface="+mn-ea"/>
                          <a:ea typeface="+mn-ea"/>
                        </a:rPr>
                        <a:t>1</a:t>
                      </a:r>
                      <a:endParaRPr lang="en-US" altLang="zh-CN" sz="800" b="0" i="0" u="none" strike="noStrike">
                        <a:solidFill>
                          <a:srgbClr val="9C0006"/>
                        </a:solidFill>
                        <a:effectLst/>
                        <a:latin typeface="+mn-ea"/>
                        <a:ea typeface="+mn-ea"/>
                      </a:endParaRPr>
                    </a:p>
                  </a:txBody>
                  <a:tcPr marL="2349" marR="2349" marT="2349" marB="0" anchor="ctr">
                    <a:solidFill>
                      <a:srgbClr val="FCE8D0"/>
                    </a:solidFill>
                  </a:tcPr>
                </a:tc>
                <a:tc>
                  <a:txBody>
                    <a:bodyPr/>
                    <a:lstStyle/>
                    <a:p>
                      <a:pPr algn="ctr" fontAlgn="ctr"/>
                      <a:r>
                        <a:rPr lang="zh-CN" altLang="en-US" sz="800" u="none" strike="noStrike" dirty="0">
                          <a:effectLst/>
                          <a:latin typeface="+mn-ea"/>
                          <a:ea typeface="+mn-ea"/>
                        </a:rPr>
                        <a:t>弱项</a:t>
                      </a:r>
                      <a:endParaRPr lang="zh-CN" altLang="en-US" sz="800" b="0" i="0" u="none" strike="noStrike" dirty="0">
                        <a:solidFill>
                          <a:srgbClr val="000000"/>
                        </a:solidFill>
                        <a:effectLst/>
                        <a:latin typeface="+mn-ea"/>
                        <a:ea typeface="+mn-ea"/>
                      </a:endParaRPr>
                    </a:p>
                  </a:txBody>
                  <a:tcPr marL="2349" marR="2349" marT="2349" marB="0" anchor="ctr">
                    <a:solidFill>
                      <a:srgbClr val="FCE8D0"/>
                    </a:solidFill>
                  </a:tcPr>
                </a:tc>
                <a:extLst>
                  <a:ext uri="{0D108BD9-81ED-4DB2-BD59-A6C34878D82A}">
                    <a16:rowId xmlns:a16="http://schemas.microsoft.com/office/drawing/2014/main" val="516565630"/>
                  </a:ext>
                </a:extLst>
              </a:tr>
              <a:tr h="152732">
                <a:tc vMerge="1">
                  <a:txBody>
                    <a:bodyPr/>
                    <a:lstStyle/>
                    <a:p>
                      <a:endParaRPr lang="zh-CN" altLang="en-US"/>
                    </a:p>
                  </a:txBody>
                  <a:tcPr/>
                </a:tc>
                <a:tc>
                  <a:txBody>
                    <a:bodyPr/>
                    <a:lstStyle/>
                    <a:p>
                      <a:pPr algn="r" fontAlgn="ctr"/>
                      <a:r>
                        <a:rPr lang="zh-CN" altLang="en-US" sz="800" u="none" strike="noStrike" dirty="0">
                          <a:effectLst/>
                          <a:latin typeface="+mn-ea"/>
                          <a:ea typeface="+mn-ea"/>
                        </a:rPr>
                        <a:t>店内设计风格</a:t>
                      </a: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8.46</a:t>
                      </a:r>
                      <a:endParaRPr lang="en-US" altLang="zh-CN" sz="800" b="0" i="0" u="none" strike="noStrike" dirty="0">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0.13 </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8.74</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0.27 </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2284474279"/>
                  </a:ext>
                </a:extLst>
              </a:tr>
              <a:tr h="152732">
                <a:tc rowSpan="8">
                  <a:txBody>
                    <a:bodyPr/>
                    <a:lstStyle/>
                    <a:p>
                      <a:pPr algn="ctr" fontAlgn="ctr"/>
                      <a:r>
                        <a:rPr lang="zh-CN" altLang="en-US" sz="800" u="none" strike="noStrike">
                          <a:effectLst/>
                          <a:latin typeface="+mn-ea"/>
                          <a:ea typeface="+mn-ea"/>
                        </a:rPr>
                        <a:t>试乘试驾</a:t>
                      </a:r>
                      <a:endParaRPr lang="zh-CN" altLang="en-US" sz="800" b="0" i="0" u="none" strike="noStrike">
                        <a:solidFill>
                          <a:srgbClr val="000000"/>
                        </a:solidFill>
                        <a:effectLst/>
                        <a:latin typeface="+mn-ea"/>
                        <a:ea typeface="+mn-ea"/>
                      </a:endParaRPr>
                    </a:p>
                  </a:txBody>
                  <a:tcPr marL="2349" marR="2349" marT="2349" marB="0" anchor="ctr"/>
                </a:tc>
                <a:tc>
                  <a:txBody>
                    <a:bodyPr/>
                    <a:lstStyle/>
                    <a:p>
                      <a:pPr algn="r" fontAlgn="ctr"/>
                      <a:r>
                        <a:rPr lang="zh-CN" altLang="en-US" sz="800" u="none" strike="noStrike">
                          <a:effectLst/>
                          <a:latin typeface="+mn-ea"/>
                          <a:ea typeface="+mn-ea"/>
                        </a:rPr>
                        <a:t>门店试驾邀约满意度</a:t>
                      </a: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8.92</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-0.32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8.71</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-0.21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752260379"/>
                  </a:ext>
                </a:extLst>
              </a:tr>
              <a:tr h="152732">
                <a:tc vMerge="1">
                  <a:txBody>
                    <a:bodyPr/>
                    <a:lstStyle/>
                    <a:p>
                      <a:endParaRPr lang="zh-CN" altLang="en-US"/>
                    </a:p>
                  </a:txBody>
                  <a:tcPr/>
                </a:tc>
                <a:tc>
                  <a:txBody>
                    <a:bodyPr/>
                    <a:lstStyle/>
                    <a:p>
                      <a:pPr algn="r" fontAlgn="ctr"/>
                      <a:r>
                        <a:rPr lang="zh-CN" altLang="en-US" sz="800" u="none" strike="noStrike" dirty="0">
                          <a:effectLst/>
                          <a:latin typeface="+mn-ea"/>
                          <a:ea typeface="+mn-ea"/>
                        </a:rPr>
                        <a:t>试驾申请流程便捷程度</a:t>
                      </a: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9.04</a:t>
                      </a:r>
                      <a:endParaRPr lang="en-US" altLang="zh-CN" sz="800" b="0" i="0" u="none" strike="noStrike">
                        <a:solidFill>
                          <a:srgbClr val="00B05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-0.45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8.79</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-0.25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2892616245"/>
                  </a:ext>
                </a:extLst>
              </a:tr>
              <a:tr h="152732">
                <a:tc vMerge="1">
                  <a:txBody>
                    <a:bodyPr/>
                    <a:lstStyle/>
                    <a:p>
                      <a:endParaRPr lang="zh-CN" altLang="en-US"/>
                    </a:p>
                  </a:txBody>
                  <a:tcPr/>
                </a:tc>
                <a:tc>
                  <a:txBody>
                    <a:bodyPr/>
                    <a:lstStyle/>
                    <a:p>
                      <a:pPr algn="r" fontAlgn="ctr"/>
                      <a:r>
                        <a:rPr lang="zh-CN" altLang="en-US" sz="800" u="none" strike="noStrike">
                          <a:effectLst/>
                          <a:latin typeface="+mn-ea"/>
                          <a:ea typeface="+mn-ea"/>
                        </a:rPr>
                        <a:t>对试驾等待时间的满意度</a:t>
                      </a: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8.95</a:t>
                      </a:r>
                      <a:endParaRPr lang="en-US" altLang="zh-CN" sz="800" b="0" i="0" u="none" strike="noStrike" dirty="0">
                        <a:solidFill>
                          <a:srgbClr val="00B05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-0.35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8.62</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-0.33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2479693600"/>
                  </a:ext>
                </a:extLst>
              </a:tr>
              <a:tr h="152732">
                <a:tc vMerge="1">
                  <a:txBody>
                    <a:bodyPr/>
                    <a:lstStyle/>
                    <a:p>
                      <a:endParaRPr lang="zh-CN" altLang="en-US"/>
                    </a:p>
                  </a:txBody>
                  <a:tcPr/>
                </a:tc>
                <a:tc>
                  <a:txBody>
                    <a:bodyPr/>
                    <a:lstStyle/>
                    <a:p>
                      <a:pPr algn="r" fontAlgn="ctr"/>
                      <a:r>
                        <a:rPr lang="zh-CN" altLang="en-US" sz="800" u="none" strike="noStrike">
                          <a:effectLst/>
                          <a:latin typeface="+mn-ea"/>
                          <a:ea typeface="+mn-ea"/>
                        </a:rPr>
                        <a:t>试驾前的准备工作满意度</a:t>
                      </a: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8.87</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-0.28 </a:t>
                      </a:r>
                      <a:endParaRPr lang="en-US" altLang="zh-CN" sz="800" b="0" i="0" u="none" strike="noStrike" dirty="0">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8.59</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-0.29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2935880475"/>
                  </a:ext>
                </a:extLst>
              </a:tr>
              <a:tr h="152732">
                <a:tc vMerge="1">
                  <a:txBody>
                    <a:bodyPr/>
                    <a:lstStyle/>
                    <a:p>
                      <a:endParaRPr lang="zh-CN" altLang="en-US"/>
                    </a:p>
                  </a:txBody>
                  <a:tcPr/>
                </a:tc>
                <a:tc>
                  <a:txBody>
                    <a:bodyPr/>
                    <a:lstStyle/>
                    <a:p>
                      <a:pPr algn="r" fontAlgn="ctr"/>
                      <a:r>
                        <a:rPr lang="zh-CN" altLang="en-US" sz="800" u="none" strike="noStrike">
                          <a:effectLst/>
                          <a:latin typeface="+mn-ea"/>
                          <a:ea typeface="+mn-ea"/>
                        </a:rPr>
                        <a:t>试乘试驾车辆状况</a:t>
                      </a: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9.01</a:t>
                      </a:r>
                      <a:endParaRPr lang="en-US" altLang="zh-CN" sz="800" b="0" i="0" u="none" strike="noStrike">
                        <a:solidFill>
                          <a:srgbClr val="00B05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-0.42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8.76</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-0.25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564610514"/>
                  </a:ext>
                </a:extLst>
              </a:tr>
              <a:tr h="152732">
                <a:tc vMerge="1">
                  <a:txBody>
                    <a:bodyPr/>
                    <a:lstStyle/>
                    <a:p>
                      <a:endParaRPr lang="zh-CN" altLang="en-US"/>
                    </a:p>
                  </a:txBody>
                  <a:tcPr/>
                </a:tc>
                <a:tc>
                  <a:txBody>
                    <a:bodyPr/>
                    <a:lstStyle/>
                    <a:p>
                      <a:pPr algn="r" fontAlgn="ctr"/>
                      <a:r>
                        <a:rPr lang="zh-CN" altLang="en-US" sz="800" u="none" strike="noStrike">
                          <a:effectLst/>
                          <a:latin typeface="+mn-ea"/>
                          <a:ea typeface="+mn-ea"/>
                        </a:rPr>
                        <a:t>试驾时长与试驾路线安排</a:t>
                      </a: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8.68</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-0.08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8.47</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-0.21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3291289806"/>
                  </a:ext>
                </a:extLst>
              </a:tr>
              <a:tr h="152732">
                <a:tc vMerge="1">
                  <a:txBody>
                    <a:bodyPr/>
                    <a:lstStyle/>
                    <a:p>
                      <a:endParaRPr lang="zh-CN" altLang="en-US"/>
                    </a:p>
                  </a:txBody>
                  <a:tcPr/>
                </a:tc>
                <a:tc>
                  <a:txBody>
                    <a:bodyPr/>
                    <a:lstStyle/>
                    <a:p>
                      <a:pPr algn="r" fontAlgn="ctr"/>
                      <a:r>
                        <a:rPr lang="zh-CN" altLang="en-US" sz="800" u="none" strike="noStrike" dirty="0">
                          <a:effectLst/>
                          <a:latin typeface="+mn-ea"/>
                          <a:ea typeface="+mn-ea"/>
                        </a:rPr>
                        <a:t>销售顾问或试驾专员的讲解专业性</a:t>
                      </a: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8.68</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-0.08 </a:t>
                      </a:r>
                      <a:endParaRPr lang="en-US" altLang="zh-CN" sz="800" b="0" i="0" u="none" strike="noStrike" dirty="0">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8.76</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0.09 </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2153208068"/>
                  </a:ext>
                </a:extLst>
              </a:tr>
              <a:tr h="152732">
                <a:tc vMerge="1">
                  <a:txBody>
                    <a:bodyPr/>
                    <a:lstStyle/>
                    <a:p>
                      <a:endParaRPr lang="zh-CN" altLang="en-US"/>
                    </a:p>
                  </a:txBody>
                  <a:tcPr/>
                </a:tc>
                <a:tc>
                  <a:txBody>
                    <a:bodyPr/>
                    <a:lstStyle/>
                    <a:p>
                      <a:pPr algn="r" fontAlgn="ctr"/>
                      <a:r>
                        <a:rPr lang="zh-CN" altLang="en-US" sz="800" u="none" strike="noStrike">
                          <a:effectLst/>
                          <a:latin typeface="+mn-ea"/>
                          <a:ea typeface="+mn-ea"/>
                        </a:rPr>
                        <a:t>试驾结束后的持续服务</a:t>
                      </a: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8.79</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-0.19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8.82</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0.04 </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2878539185"/>
                  </a:ext>
                </a:extLst>
              </a:tr>
              <a:tr h="152732">
                <a:tc rowSpan="5">
                  <a:txBody>
                    <a:bodyPr/>
                    <a:lstStyle/>
                    <a:p>
                      <a:pPr algn="ctr" fontAlgn="ctr"/>
                      <a:r>
                        <a:rPr lang="zh-CN" altLang="en-US" sz="800" u="none" strike="noStrike">
                          <a:effectLst/>
                          <a:latin typeface="+mn-ea"/>
                          <a:ea typeface="+mn-ea"/>
                        </a:rPr>
                        <a:t>洽谈下定</a:t>
                      </a:r>
                      <a:endParaRPr lang="zh-CN" altLang="en-US" sz="800" b="0" i="0" u="none" strike="noStrike">
                        <a:solidFill>
                          <a:srgbClr val="000000"/>
                        </a:solidFill>
                        <a:effectLst/>
                        <a:latin typeface="+mn-ea"/>
                        <a:ea typeface="+mn-ea"/>
                      </a:endParaRPr>
                    </a:p>
                  </a:txBody>
                  <a:tcPr marL="2349" marR="2349" marT="2349" marB="0" anchor="ctr"/>
                </a:tc>
                <a:tc>
                  <a:txBody>
                    <a:bodyPr/>
                    <a:lstStyle/>
                    <a:p>
                      <a:pPr algn="r" fontAlgn="ctr"/>
                      <a:r>
                        <a:rPr lang="zh-CN" altLang="en-US" sz="800" u="none" strike="noStrike">
                          <a:effectLst/>
                          <a:latin typeface="+mn-ea"/>
                          <a:ea typeface="+mn-ea"/>
                        </a:rPr>
                        <a:t>产品报价和下定政策介绍清晰程度</a:t>
                      </a: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8.52</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0.07 </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8.68</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0.15 </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1834322836"/>
                  </a:ext>
                </a:extLst>
              </a:tr>
              <a:tr h="152732">
                <a:tc vMerge="1">
                  <a:txBody>
                    <a:bodyPr/>
                    <a:lstStyle/>
                    <a:p>
                      <a:endParaRPr lang="zh-CN" altLang="en-US"/>
                    </a:p>
                  </a:txBody>
                  <a:tcPr/>
                </a:tc>
                <a:tc>
                  <a:txBody>
                    <a:bodyPr/>
                    <a:lstStyle/>
                    <a:p>
                      <a:pPr algn="r" fontAlgn="ctr"/>
                      <a:r>
                        <a:rPr lang="zh-CN" altLang="en-US" sz="800" u="none" strike="noStrike" dirty="0">
                          <a:effectLst/>
                          <a:latin typeface="+mn-ea"/>
                          <a:ea typeface="+mn-ea"/>
                        </a:rPr>
                        <a:t>销售顾问对车主权益和服务的介绍清晰程度</a:t>
                      </a:r>
                      <a:endParaRPr lang="zh-CN" altLang="en-US" sz="800" b="0" i="0" u="none" strike="noStrike" dirty="0">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a:effectLst/>
                          <a:latin typeface="+mn-ea"/>
                          <a:ea typeface="+mn-ea"/>
                        </a:rPr>
                        <a:t>8.44</a:t>
                      </a:r>
                      <a:endParaRPr lang="en-US" altLang="zh-CN" sz="800" b="0" i="0" u="none" strike="noStrike">
                        <a:solidFill>
                          <a:srgbClr val="FF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a:effectLst/>
                          <a:latin typeface="+mn-ea"/>
                          <a:ea typeface="+mn-ea"/>
                        </a:rPr>
                        <a:t>0.15 </a:t>
                      </a:r>
                      <a:endParaRPr lang="en-US" altLang="zh-CN" sz="800" b="0" i="0" u="none" strike="noStrike">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a:effectLst/>
                          <a:latin typeface="+mn-ea"/>
                          <a:ea typeface="+mn-ea"/>
                        </a:rPr>
                        <a:t>8.76</a:t>
                      </a:r>
                      <a:endParaRPr lang="en-US" altLang="zh-CN" sz="800" b="0" i="0" u="none" strike="noStrike">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a:effectLst/>
                          <a:latin typeface="+mn-ea"/>
                          <a:ea typeface="+mn-ea"/>
                        </a:rPr>
                        <a:t>0.32 </a:t>
                      </a:r>
                      <a:endParaRPr lang="en-US" altLang="zh-CN" sz="800" b="0" i="0" u="none" strike="noStrike">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zh-CN" altLang="en-US" sz="800" u="none" strike="noStrike">
                          <a:effectLst/>
                          <a:latin typeface="+mn-ea"/>
                          <a:ea typeface="+mn-ea"/>
                        </a:rPr>
                        <a:t>是</a:t>
                      </a:r>
                      <a:endParaRPr lang="zh-CN" altLang="en-US" sz="800" b="0" i="0" u="none" strike="noStrike">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zh-CN" altLang="en-US" sz="800" u="none" strike="noStrike">
                          <a:effectLst/>
                          <a:latin typeface="+mn-ea"/>
                          <a:ea typeface="+mn-ea"/>
                        </a:rPr>
                        <a:t>是</a:t>
                      </a:r>
                      <a:endParaRPr lang="zh-CN" altLang="en-US" sz="800" b="0" i="0" u="none" strike="noStrike">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dirty="0">
                          <a:effectLst/>
                          <a:latin typeface="+mn-ea"/>
                          <a:ea typeface="+mn-ea"/>
                        </a:rPr>
                        <a:t>0.9019</a:t>
                      </a:r>
                      <a:endParaRPr lang="en-US" altLang="zh-CN" sz="800" b="0" i="0" u="none" strike="noStrike" dirty="0">
                        <a:solidFill>
                          <a:srgbClr val="9C0006"/>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dirty="0">
                          <a:effectLst/>
                          <a:latin typeface="+mn-ea"/>
                          <a:ea typeface="+mn-ea"/>
                        </a:rPr>
                        <a:t>3</a:t>
                      </a:r>
                      <a:endParaRPr lang="en-US" altLang="zh-CN" sz="800" b="0" i="0" u="none" strike="noStrike" dirty="0">
                        <a:solidFill>
                          <a:srgbClr val="9C0006"/>
                        </a:solidFill>
                        <a:effectLst/>
                        <a:latin typeface="+mn-ea"/>
                        <a:ea typeface="+mn-ea"/>
                      </a:endParaRPr>
                    </a:p>
                  </a:txBody>
                  <a:tcPr marL="2349" marR="2349" marT="2349" marB="0" anchor="ctr">
                    <a:solidFill>
                      <a:srgbClr val="FCE8D0"/>
                    </a:solidFill>
                  </a:tcPr>
                </a:tc>
                <a:tc>
                  <a:txBody>
                    <a:bodyPr/>
                    <a:lstStyle/>
                    <a:p>
                      <a:pPr algn="ctr" fontAlgn="ctr"/>
                      <a:r>
                        <a:rPr lang="zh-CN" altLang="en-US" sz="800" u="none" strike="noStrike" dirty="0">
                          <a:effectLst/>
                          <a:latin typeface="+mn-ea"/>
                          <a:ea typeface="+mn-ea"/>
                        </a:rPr>
                        <a:t>弱项</a:t>
                      </a:r>
                      <a:endParaRPr lang="zh-CN" altLang="en-US" sz="800" b="0" i="0" u="none" strike="noStrike" dirty="0">
                        <a:solidFill>
                          <a:srgbClr val="000000"/>
                        </a:solidFill>
                        <a:effectLst/>
                        <a:latin typeface="+mn-ea"/>
                        <a:ea typeface="+mn-ea"/>
                      </a:endParaRPr>
                    </a:p>
                  </a:txBody>
                  <a:tcPr marL="2349" marR="2349" marT="2349" marB="0" anchor="ctr">
                    <a:solidFill>
                      <a:srgbClr val="FCE8D0"/>
                    </a:solidFill>
                  </a:tcPr>
                </a:tc>
                <a:extLst>
                  <a:ext uri="{0D108BD9-81ED-4DB2-BD59-A6C34878D82A}">
                    <a16:rowId xmlns:a16="http://schemas.microsoft.com/office/drawing/2014/main" val="3125297513"/>
                  </a:ext>
                </a:extLst>
              </a:tr>
              <a:tr h="152732">
                <a:tc vMerge="1">
                  <a:txBody>
                    <a:bodyPr/>
                    <a:lstStyle/>
                    <a:p>
                      <a:endParaRPr lang="zh-CN" altLang="en-US"/>
                    </a:p>
                  </a:txBody>
                  <a:tcPr/>
                </a:tc>
                <a:tc>
                  <a:txBody>
                    <a:bodyPr/>
                    <a:lstStyle/>
                    <a:p>
                      <a:pPr algn="r" fontAlgn="ctr"/>
                      <a:r>
                        <a:rPr lang="zh-CN" altLang="en-US" sz="800" u="none" strike="noStrike">
                          <a:effectLst/>
                          <a:latin typeface="+mn-ea"/>
                          <a:ea typeface="+mn-ea"/>
                        </a:rPr>
                        <a:t>金融服务体验满意度</a:t>
                      </a:r>
                      <a:endParaRPr lang="zh-CN" altLang="en-US" sz="800" b="0" i="0" u="none" strike="noStrike">
                        <a:solidFill>
                          <a:srgbClr val="000000"/>
                        </a:solidFill>
                        <a:effectLst/>
                        <a:latin typeface="+mn-ea"/>
                        <a:ea typeface="+mn-ea"/>
                      </a:endParaRPr>
                    </a:p>
                  </a:txBody>
                  <a:tcPr marL="2349" marR="2349" marT="2349" marB="0" anchor="ctr"/>
                </a:tc>
                <a:tc>
                  <a:txBody>
                    <a:bodyPr/>
                    <a:lstStyle/>
                    <a:p>
                      <a:pPr algn="ctr" fontAlgn="ctr"/>
                      <a:r>
                        <a:rPr lang="en-US" altLang="zh-CN" sz="800" u="none" strike="noStrike">
                          <a:effectLst/>
                          <a:latin typeface="+mn-ea"/>
                          <a:ea typeface="+mn-ea"/>
                        </a:rPr>
                        <a:t>8.88</a:t>
                      </a:r>
                      <a:endParaRPr lang="en-US" altLang="zh-CN" sz="800" b="0" i="0" u="none" strike="noStrike">
                        <a:solidFill>
                          <a:srgbClr val="000000"/>
                        </a:solidFill>
                        <a:effectLst/>
                        <a:latin typeface="+mn-ea"/>
                        <a:ea typeface="+mn-ea"/>
                      </a:endParaRPr>
                    </a:p>
                  </a:txBody>
                  <a:tcPr marL="2349" marR="2349" marT="2349" marB="0" anchor="ctr"/>
                </a:tc>
                <a:tc>
                  <a:txBody>
                    <a:bodyPr/>
                    <a:lstStyle/>
                    <a:p>
                      <a:pPr algn="ctr" fontAlgn="ctr"/>
                      <a:r>
                        <a:rPr lang="en-US" altLang="zh-CN" sz="800" u="none" strike="noStrike">
                          <a:effectLst/>
                          <a:latin typeface="+mn-ea"/>
                          <a:ea typeface="+mn-ea"/>
                        </a:rPr>
                        <a:t>-0.28 </a:t>
                      </a:r>
                      <a:endParaRPr lang="en-US" altLang="zh-CN" sz="800" b="0" i="0" u="none" strike="noStrike">
                        <a:solidFill>
                          <a:srgbClr val="FF0000"/>
                        </a:solidFill>
                        <a:effectLst/>
                        <a:latin typeface="+mn-ea"/>
                        <a:ea typeface="+mn-ea"/>
                      </a:endParaRPr>
                    </a:p>
                  </a:txBody>
                  <a:tcPr marL="2349" marR="2349" marT="2349" marB="0" anchor="ctr"/>
                </a:tc>
                <a:tc>
                  <a:txBody>
                    <a:bodyPr/>
                    <a:lstStyle/>
                    <a:p>
                      <a:pPr algn="ctr" fontAlgn="ctr"/>
                      <a:r>
                        <a:rPr lang="en-US" altLang="zh-CN" sz="800" u="none" strike="noStrike">
                          <a:effectLst/>
                          <a:latin typeface="+mn-ea"/>
                          <a:ea typeface="+mn-ea"/>
                        </a:rPr>
                        <a:t>8.67</a:t>
                      </a:r>
                      <a:endParaRPr lang="en-US" altLang="zh-CN" sz="800" b="0" i="0" u="none" strike="noStrike">
                        <a:solidFill>
                          <a:srgbClr val="000000"/>
                        </a:solidFill>
                        <a:effectLst/>
                        <a:latin typeface="+mn-ea"/>
                        <a:ea typeface="+mn-ea"/>
                      </a:endParaRPr>
                    </a:p>
                  </a:txBody>
                  <a:tcPr marL="2349" marR="2349" marT="2349" marB="0" anchor="ctr"/>
                </a:tc>
                <a:tc>
                  <a:txBody>
                    <a:bodyPr/>
                    <a:lstStyle/>
                    <a:p>
                      <a:pPr algn="ctr" fontAlgn="ctr"/>
                      <a:r>
                        <a:rPr lang="en-US" altLang="zh-CN" sz="800" u="none" strike="noStrike">
                          <a:effectLst/>
                          <a:latin typeface="+mn-ea"/>
                          <a:ea typeface="+mn-ea"/>
                        </a:rPr>
                        <a:t>-0.21 </a:t>
                      </a:r>
                      <a:endParaRPr lang="en-US" altLang="zh-CN" sz="800" b="0" i="0" u="none" strike="noStrike">
                        <a:solidFill>
                          <a:srgbClr val="FF0000"/>
                        </a:solidFill>
                        <a:effectLst/>
                        <a:latin typeface="+mn-ea"/>
                        <a:ea typeface="+mn-ea"/>
                      </a:endParaRPr>
                    </a:p>
                  </a:txBody>
                  <a:tcPr marL="2349" marR="2349" marT="2349" marB="0" anchor="ct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tc>
                <a:extLst>
                  <a:ext uri="{0D108BD9-81ED-4DB2-BD59-A6C34878D82A}">
                    <a16:rowId xmlns:a16="http://schemas.microsoft.com/office/drawing/2014/main" val="3828777052"/>
                  </a:ext>
                </a:extLst>
              </a:tr>
              <a:tr h="152732">
                <a:tc vMerge="1">
                  <a:txBody>
                    <a:bodyPr/>
                    <a:lstStyle/>
                    <a:p>
                      <a:endParaRPr lang="zh-CN" altLang="en-US"/>
                    </a:p>
                  </a:txBody>
                  <a:tcPr/>
                </a:tc>
                <a:tc>
                  <a:txBody>
                    <a:bodyPr/>
                    <a:lstStyle/>
                    <a:p>
                      <a:pPr algn="r" fontAlgn="ctr"/>
                      <a:r>
                        <a:rPr lang="zh-CN" altLang="en-US" sz="800" u="none" strike="noStrike" dirty="0">
                          <a:effectLst/>
                          <a:latin typeface="+mn-ea"/>
                          <a:ea typeface="+mn-ea"/>
                        </a:rPr>
                        <a:t>保险服务的介绍及协助办理过程中的体验</a:t>
                      </a: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8.63</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-0.04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8.56</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-0.07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3123994489"/>
                  </a:ext>
                </a:extLst>
              </a:tr>
              <a:tr h="152732">
                <a:tc vMerge="1">
                  <a:txBody>
                    <a:bodyPr/>
                    <a:lstStyle/>
                    <a:p>
                      <a:endParaRPr lang="zh-CN" altLang="en-US"/>
                    </a:p>
                  </a:txBody>
                  <a:tcPr/>
                </a:tc>
                <a:tc>
                  <a:txBody>
                    <a:bodyPr/>
                    <a:lstStyle/>
                    <a:p>
                      <a:pPr algn="r" fontAlgn="ctr"/>
                      <a:r>
                        <a:rPr lang="zh-CN" altLang="en-US" sz="800" u="none" strike="noStrike">
                          <a:effectLst/>
                          <a:latin typeface="+mn-ea"/>
                          <a:ea typeface="+mn-ea"/>
                        </a:rPr>
                        <a:t>付款过程体验</a:t>
                      </a: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8.95</a:t>
                      </a:r>
                      <a:endParaRPr lang="en-US" altLang="zh-CN" sz="800" b="0" i="0" u="none" strike="noStrike">
                        <a:solidFill>
                          <a:srgbClr val="00B05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-0.35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8.79</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-0.15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887745048"/>
                  </a:ext>
                </a:extLst>
              </a:tr>
              <a:tr h="152732">
                <a:tc rowSpan="2">
                  <a:txBody>
                    <a:bodyPr/>
                    <a:lstStyle/>
                    <a:p>
                      <a:pPr algn="ctr" fontAlgn="ctr"/>
                      <a:r>
                        <a:rPr lang="zh-CN" altLang="en-US" sz="800" u="none" strike="noStrike">
                          <a:effectLst/>
                          <a:latin typeface="+mn-ea"/>
                          <a:ea typeface="+mn-ea"/>
                        </a:rPr>
                        <a:t>送别与回访</a:t>
                      </a:r>
                      <a:endParaRPr lang="zh-CN" altLang="en-US" sz="800" b="0" i="0" u="none" strike="noStrike">
                        <a:solidFill>
                          <a:srgbClr val="000000"/>
                        </a:solidFill>
                        <a:effectLst/>
                        <a:latin typeface="+mn-ea"/>
                        <a:ea typeface="+mn-ea"/>
                      </a:endParaRPr>
                    </a:p>
                  </a:txBody>
                  <a:tcPr marL="2349" marR="2349" marT="2349" marB="0" anchor="ctr"/>
                </a:tc>
                <a:tc>
                  <a:txBody>
                    <a:bodyPr/>
                    <a:lstStyle/>
                    <a:p>
                      <a:pPr algn="r" fontAlgn="ctr"/>
                      <a:r>
                        <a:rPr lang="zh-CN" altLang="en-US" sz="800" u="none" strike="noStrike">
                          <a:effectLst/>
                          <a:latin typeface="+mn-ea"/>
                          <a:ea typeface="+mn-ea"/>
                        </a:rPr>
                        <a:t>离店送别服务表现</a:t>
                      </a:r>
                      <a:endParaRPr lang="zh-CN" altLang="en-US"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8.65</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-0.06 </a:t>
                      </a:r>
                      <a:endParaRPr lang="en-US" altLang="zh-CN" sz="800" b="0" i="0" u="none" strike="noStrike">
                        <a:solidFill>
                          <a:srgbClr val="FF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a:effectLst/>
                          <a:latin typeface="+mn-ea"/>
                          <a:ea typeface="+mn-ea"/>
                        </a:rPr>
                        <a:t>8.91</a:t>
                      </a:r>
                      <a:endParaRPr lang="en-US" altLang="zh-CN" sz="800" b="0" i="0" u="none" strike="noStrike">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r>
                        <a:rPr lang="en-US" altLang="zh-CN" sz="800" u="none" strike="noStrike" dirty="0">
                          <a:effectLst/>
                          <a:latin typeface="+mn-ea"/>
                          <a:ea typeface="+mn-ea"/>
                        </a:rPr>
                        <a:t>0.26 </a:t>
                      </a:r>
                      <a:endParaRPr lang="en-US" altLang="zh-CN"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tc>
                  <a:txBody>
                    <a:bodyPr/>
                    <a:lstStyle/>
                    <a:p>
                      <a:pPr algn="ctr" fontAlgn="ctr"/>
                      <a:endParaRPr lang="zh-CN" altLang="en-US" sz="800" b="0" i="0" u="none" strike="noStrike" dirty="0">
                        <a:solidFill>
                          <a:srgbClr val="000000"/>
                        </a:solidFill>
                        <a:effectLst/>
                        <a:latin typeface="+mn-ea"/>
                        <a:ea typeface="+mn-ea"/>
                      </a:endParaRPr>
                    </a:p>
                  </a:txBody>
                  <a:tcPr marL="2349" marR="2349" marT="2349" marB="0" anchor="ctr">
                    <a:solidFill>
                      <a:schemeClr val="tx1">
                        <a:lumMod val="10000"/>
                        <a:lumOff val="90000"/>
                      </a:schemeClr>
                    </a:solidFill>
                  </a:tcPr>
                </a:tc>
                <a:extLst>
                  <a:ext uri="{0D108BD9-81ED-4DB2-BD59-A6C34878D82A}">
                    <a16:rowId xmlns:a16="http://schemas.microsoft.com/office/drawing/2014/main" val="2630981019"/>
                  </a:ext>
                </a:extLst>
              </a:tr>
              <a:tr h="152732">
                <a:tc vMerge="1">
                  <a:txBody>
                    <a:bodyPr/>
                    <a:lstStyle/>
                    <a:p>
                      <a:endParaRPr lang="zh-CN" altLang="en-US"/>
                    </a:p>
                  </a:txBody>
                  <a:tcPr/>
                </a:tc>
                <a:tc>
                  <a:txBody>
                    <a:bodyPr/>
                    <a:lstStyle/>
                    <a:p>
                      <a:pPr algn="r" fontAlgn="ctr"/>
                      <a:r>
                        <a:rPr lang="zh-CN" altLang="en-US" sz="800" u="none" strike="noStrike" dirty="0">
                          <a:effectLst/>
                          <a:latin typeface="+mn-ea"/>
                          <a:ea typeface="+mn-ea"/>
                        </a:rPr>
                        <a:t>离店后的回访表现</a:t>
                      </a:r>
                      <a:endParaRPr lang="zh-CN" altLang="en-US" sz="800" b="0" i="0" u="none" strike="noStrike" dirty="0">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dirty="0">
                          <a:effectLst/>
                          <a:latin typeface="+mn-ea"/>
                          <a:ea typeface="+mn-ea"/>
                        </a:rPr>
                        <a:t>8.31</a:t>
                      </a:r>
                      <a:endParaRPr lang="en-US" altLang="zh-CN" sz="800" b="0" i="0" u="none" strike="noStrike" dirty="0">
                        <a:solidFill>
                          <a:srgbClr val="FF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dirty="0">
                          <a:effectLst/>
                          <a:latin typeface="+mn-ea"/>
                          <a:ea typeface="+mn-ea"/>
                        </a:rPr>
                        <a:t>0.28 </a:t>
                      </a:r>
                      <a:endParaRPr lang="en-US" altLang="zh-CN" sz="800" b="0" i="0" u="none" strike="noStrike" dirty="0">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a:effectLst/>
                          <a:latin typeface="+mn-ea"/>
                          <a:ea typeface="+mn-ea"/>
                        </a:rPr>
                        <a:t>8.53</a:t>
                      </a:r>
                      <a:endParaRPr lang="en-US" altLang="zh-CN" sz="800" b="0" i="0" u="none" strike="noStrike">
                        <a:solidFill>
                          <a:srgbClr val="FF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a:effectLst/>
                          <a:latin typeface="+mn-ea"/>
                          <a:ea typeface="+mn-ea"/>
                        </a:rPr>
                        <a:t>0.22 </a:t>
                      </a:r>
                      <a:endParaRPr lang="en-US" altLang="zh-CN" sz="800" b="0" i="0" u="none" strike="noStrike">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zh-CN" altLang="en-US" sz="800" u="none" strike="noStrike">
                          <a:effectLst/>
                          <a:latin typeface="+mn-ea"/>
                          <a:ea typeface="+mn-ea"/>
                        </a:rPr>
                        <a:t>是</a:t>
                      </a:r>
                      <a:endParaRPr lang="zh-CN" altLang="en-US" sz="800" b="0" i="0" u="none" strike="noStrike">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zh-CN" altLang="en-US" sz="800" u="none" strike="noStrike">
                          <a:effectLst/>
                          <a:latin typeface="+mn-ea"/>
                          <a:ea typeface="+mn-ea"/>
                        </a:rPr>
                        <a:t>是</a:t>
                      </a:r>
                      <a:endParaRPr lang="zh-CN" altLang="en-US" sz="800" b="0" i="0" u="none" strike="noStrike">
                        <a:solidFill>
                          <a:srgbClr val="000000"/>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a:effectLst/>
                          <a:latin typeface="+mn-ea"/>
                          <a:ea typeface="+mn-ea"/>
                        </a:rPr>
                        <a:t>0.7017</a:t>
                      </a:r>
                      <a:endParaRPr lang="en-US" altLang="zh-CN" sz="800" b="0" i="0" u="none" strike="noStrike">
                        <a:solidFill>
                          <a:srgbClr val="9C0006"/>
                        </a:solidFill>
                        <a:effectLst/>
                        <a:latin typeface="+mn-ea"/>
                        <a:ea typeface="+mn-ea"/>
                      </a:endParaRPr>
                    </a:p>
                  </a:txBody>
                  <a:tcPr marL="2349" marR="2349" marT="2349" marB="0" anchor="ctr">
                    <a:solidFill>
                      <a:srgbClr val="FCE8D0"/>
                    </a:solidFill>
                  </a:tcPr>
                </a:tc>
                <a:tc>
                  <a:txBody>
                    <a:bodyPr/>
                    <a:lstStyle/>
                    <a:p>
                      <a:pPr algn="ctr" fontAlgn="ctr"/>
                      <a:r>
                        <a:rPr lang="en-US" altLang="zh-CN" sz="800" u="none" strike="noStrike" dirty="0">
                          <a:effectLst/>
                          <a:latin typeface="+mn-ea"/>
                          <a:ea typeface="+mn-ea"/>
                        </a:rPr>
                        <a:t>4</a:t>
                      </a:r>
                      <a:endParaRPr lang="en-US" altLang="zh-CN" sz="800" b="0" i="0" u="none" strike="noStrike" dirty="0">
                        <a:solidFill>
                          <a:srgbClr val="9C0006"/>
                        </a:solidFill>
                        <a:effectLst/>
                        <a:latin typeface="+mn-ea"/>
                        <a:ea typeface="+mn-ea"/>
                      </a:endParaRPr>
                    </a:p>
                  </a:txBody>
                  <a:tcPr marL="2349" marR="2349" marT="2349" marB="0" anchor="ctr">
                    <a:solidFill>
                      <a:srgbClr val="FCE8D0"/>
                    </a:solidFill>
                  </a:tcPr>
                </a:tc>
                <a:tc>
                  <a:txBody>
                    <a:bodyPr/>
                    <a:lstStyle/>
                    <a:p>
                      <a:pPr algn="ctr" fontAlgn="ctr"/>
                      <a:r>
                        <a:rPr lang="zh-CN" altLang="en-US" sz="800" u="none" strike="noStrike" dirty="0">
                          <a:effectLst/>
                          <a:latin typeface="+mn-ea"/>
                          <a:ea typeface="+mn-ea"/>
                        </a:rPr>
                        <a:t>弱项</a:t>
                      </a:r>
                      <a:endParaRPr lang="zh-CN" altLang="en-US" sz="800" b="0" i="0" u="none" strike="noStrike" dirty="0">
                        <a:solidFill>
                          <a:srgbClr val="000000"/>
                        </a:solidFill>
                        <a:effectLst/>
                        <a:latin typeface="+mn-ea"/>
                        <a:ea typeface="+mn-ea"/>
                      </a:endParaRPr>
                    </a:p>
                  </a:txBody>
                  <a:tcPr marL="2349" marR="2349" marT="2349" marB="0" anchor="ctr">
                    <a:solidFill>
                      <a:srgbClr val="FCE8D0"/>
                    </a:solidFill>
                  </a:tcPr>
                </a:tc>
                <a:extLst>
                  <a:ext uri="{0D108BD9-81ED-4DB2-BD59-A6C34878D82A}">
                    <a16:rowId xmlns:a16="http://schemas.microsoft.com/office/drawing/2014/main" val="2605123538"/>
                  </a:ext>
                </a:extLst>
              </a:tr>
            </a:tbl>
          </a:graphicData>
        </a:graphic>
      </p:graphicFrame>
    </p:spTree>
    <p:extLst>
      <p:ext uri="{BB962C8B-B14F-4D97-AF65-F5344CB8AC3E}">
        <p14:creationId xmlns:p14="http://schemas.microsoft.com/office/powerpoint/2010/main" val="2993294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21"/>
          </p:nvPr>
        </p:nvSpPr>
        <p:spPr/>
        <p:txBody>
          <a:bodyPr/>
          <a:lstStyle/>
          <a:p>
            <a:r>
              <a:rPr kumimoji="1" lang="en-US" altLang="zh-CN" dirty="0">
                <a:latin typeface="+mn-ea"/>
                <a:ea typeface="+mn-ea"/>
                <a:sym typeface="+mn-ea"/>
              </a:rPr>
              <a:t>2.2 SSI</a:t>
            </a:r>
            <a:r>
              <a:rPr kumimoji="1" lang="zh-CN" altLang="en-US" dirty="0">
                <a:latin typeface="+mn-ea"/>
                <a:ea typeface="+mn-ea"/>
                <a:sym typeface="+mn-ea"/>
              </a:rPr>
              <a:t>（销售部分）</a:t>
            </a:r>
            <a:r>
              <a:rPr kumimoji="1" lang="en-US" altLang="zh-CN" dirty="0">
                <a:latin typeface="+mn-ea"/>
                <a:ea typeface="+mn-ea"/>
                <a:sym typeface="+mn-ea"/>
              </a:rPr>
              <a:t>- </a:t>
            </a:r>
            <a:r>
              <a:rPr lang="zh-CN" altLang="en-US" dirty="0">
                <a:latin typeface="DIN Pro" panose="02000503040000020003" charset="0"/>
                <a:sym typeface="+mn-ea"/>
              </a:rPr>
              <a:t>弱项 </a:t>
            </a:r>
            <a:r>
              <a:rPr lang="en-US" altLang="zh-CN" dirty="0">
                <a:latin typeface="DIN Pro" panose="02000503040000020003" charset="0"/>
                <a:sym typeface="+mn-ea"/>
              </a:rPr>
              <a:t>H1 vs H2</a:t>
            </a:r>
            <a:endParaRPr lang="zh-CN" altLang="en-US" dirty="0"/>
          </a:p>
        </p:txBody>
      </p:sp>
      <p:sp>
        <p:nvSpPr>
          <p:cNvPr id="10" name="文本占位符 9">
            <a:extLst>
              <a:ext uri="{FF2B5EF4-FFF2-40B4-BE49-F238E27FC236}">
                <a16:creationId xmlns:a16="http://schemas.microsoft.com/office/drawing/2014/main" id="{543BE715-7057-4388-85E4-1E4B55FC9931}"/>
              </a:ext>
            </a:extLst>
          </p:cNvPr>
          <p:cNvSpPr>
            <a:spLocks noGrp="1"/>
          </p:cNvSpPr>
          <p:nvPr>
            <p:ph type="body" sz="quarter" idx="22"/>
          </p:nvPr>
        </p:nvSpPr>
        <p:spPr/>
        <p:txBody>
          <a:bodyPr/>
          <a:lstStyle/>
          <a:p>
            <a:r>
              <a:rPr lang="zh-CN" altLang="en-US" dirty="0"/>
              <a:t>下半年，某品牌在试乘试驾环节弱项得到明显改善，在提供饮品服务服务项存在不足</a:t>
            </a:r>
          </a:p>
          <a:p>
            <a:endParaRPr lang="zh-CN" altLang="en-US" dirty="0"/>
          </a:p>
        </p:txBody>
      </p:sp>
      <p:sp>
        <p:nvSpPr>
          <p:cNvPr id="5" name="灯片编号占位符 4"/>
          <p:cNvSpPr>
            <a:spLocks noGrp="1"/>
          </p:cNvSpPr>
          <p:nvPr>
            <p:ph type="sldNum" sz="quarter" idx="4"/>
          </p:nvPr>
        </p:nvSpPr>
        <p:spPr/>
        <p:txBody>
          <a:bodyPr/>
          <a:lstStyle/>
          <a:p>
            <a:fld id="{5BC33376-1D8B-E948-ACD6-AA21A3D30A8E}" type="slidenum">
              <a:rPr lang="zh-CN" altLang="en-US" smtClean="0"/>
              <a:t>32</a:t>
            </a:fld>
            <a:endParaRPr lang="zh-CN" altLang="en-US" dirty="0"/>
          </a:p>
        </p:txBody>
      </p:sp>
      <p:sp>
        <p:nvSpPr>
          <p:cNvPr id="28" name="文本框 27"/>
          <p:cNvSpPr txBox="1"/>
          <p:nvPr/>
        </p:nvSpPr>
        <p:spPr>
          <a:xfrm>
            <a:off x="263525" y="1497479"/>
            <a:ext cx="11664950" cy="418634"/>
          </a:xfrm>
          <a:prstGeom prst="rect">
            <a:avLst/>
          </a:prstGeom>
          <a:solidFill>
            <a:srgbClr val="4B8D56"/>
          </a:solidFill>
        </p:spPr>
        <p:txBody>
          <a:bodyPr wrap="square" anchor="ctr" anchorCtr="0">
            <a:noAutofit/>
          </a:bodyPr>
          <a:lstStyle/>
          <a:p>
            <a:pPr algn="ctr"/>
            <a:r>
              <a:rPr lang="zh-CN" altLang="en-US" b="1" dirty="0">
                <a:solidFill>
                  <a:schemeClr val="bg1"/>
                </a:solidFill>
              </a:rPr>
              <a:t>某品牌</a:t>
            </a:r>
            <a:r>
              <a:rPr lang="en-US" altLang="zh-CN" b="1" dirty="0">
                <a:solidFill>
                  <a:schemeClr val="bg1"/>
                </a:solidFill>
              </a:rPr>
              <a:t>2023</a:t>
            </a:r>
            <a:r>
              <a:rPr lang="zh-CN" altLang="en-US" b="1" dirty="0">
                <a:solidFill>
                  <a:schemeClr val="bg1"/>
                </a:solidFill>
              </a:rPr>
              <a:t>年</a:t>
            </a:r>
            <a:r>
              <a:rPr lang="en-US" altLang="zh-CN" b="1" dirty="0">
                <a:solidFill>
                  <a:schemeClr val="bg1"/>
                </a:solidFill>
              </a:rPr>
              <a:t>H2</a:t>
            </a:r>
            <a:r>
              <a:rPr lang="zh-CN" altLang="en-US" b="1" dirty="0">
                <a:solidFill>
                  <a:schemeClr val="bg1"/>
                </a:solidFill>
              </a:rPr>
              <a:t>与</a:t>
            </a:r>
            <a:r>
              <a:rPr lang="en-US" altLang="zh-CN" b="1" dirty="0">
                <a:solidFill>
                  <a:schemeClr val="bg1"/>
                </a:solidFill>
              </a:rPr>
              <a:t>H1</a:t>
            </a:r>
            <a:r>
              <a:rPr lang="zh-CN" altLang="en-US" b="1" dirty="0">
                <a:solidFill>
                  <a:schemeClr val="bg1"/>
                </a:solidFill>
              </a:rPr>
              <a:t>改进弱项对比</a:t>
            </a:r>
          </a:p>
        </p:txBody>
      </p:sp>
      <p:graphicFrame>
        <p:nvGraphicFramePr>
          <p:cNvPr id="2" name="表格 1"/>
          <p:cNvGraphicFramePr>
            <a:graphicFrameLocks noGrp="1"/>
          </p:cNvGraphicFramePr>
          <p:nvPr>
            <p:extLst>
              <p:ext uri="{D42A27DB-BD31-4B8C-83A1-F6EECF244321}">
                <p14:modId xmlns:p14="http://schemas.microsoft.com/office/powerpoint/2010/main" val="1234405631"/>
              </p:ext>
            </p:extLst>
          </p:nvPr>
        </p:nvGraphicFramePr>
        <p:xfrm>
          <a:off x="263526" y="2049671"/>
          <a:ext cx="5552110" cy="4100866"/>
        </p:xfrm>
        <a:graphic>
          <a:graphicData uri="http://schemas.openxmlformats.org/drawingml/2006/table">
            <a:tbl>
              <a:tblPr/>
              <a:tblGrid>
                <a:gridCol w="764087">
                  <a:extLst>
                    <a:ext uri="{9D8B030D-6E8A-4147-A177-3AD203B41FA5}">
                      <a16:colId xmlns:a16="http://schemas.microsoft.com/office/drawing/2014/main" val="20000"/>
                    </a:ext>
                  </a:extLst>
                </a:gridCol>
                <a:gridCol w="2300192">
                  <a:extLst>
                    <a:ext uri="{9D8B030D-6E8A-4147-A177-3AD203B41FA5}">
                      <a16:colId xmlns:a16="http://schemas.microsoft.com/office/drawing/2014/main" val="20001"/>
                    </a:ext>
                  </a:extLst>
                </a:gridCol>
                <a:gridCol w="829277">
                  <a:extLst>
                    <a:ext uri="{9D8B030D-6E8A-4147-A177-3AD203B41FA5}">
                      <a16:colId xmlns:a16="http://schemas.microsoft.com/office/drawing/2014/main" val="20002"/>
                    </a:ext>
                  </a:extLst>
                </a:gridCol>
                <a:gridCol w="829277">
                  <a:extLst>
                    <a:ext uri="{9D8B030D-6E8A-4147-A177-3AD203B41FA5}">
                      <a16:colId xmlns:a16="http://schemas.microsoft.com/office/drawing/2014/main" val="1779943002"/>
                    </a:ext>
                  </a:extLst>
                </a:gridCol>
                <a:gridCol w="829277">
                  <a:extLst>
                    <a:ext uri="{9D8B030D-6E8A-4147-A177-3AD203B41FA5}">
                      <a16:colId xmlns:a16="http://schemas.microsoft.com/office/drawing/2014/main" val="634262922"/>
                    </a:ext>
                  </a:extLst>
                </a:gridCol>
              </a:tblGrid>
              <a:tr h="391010">
                <a:tc>
                  <a:txBody>
                    <a:bodyPr/>
                    <a:lstStyle/>
                    <a:p>
                      <a:pPr algn="ctr" fontAlgn="ctr"/>
                      <a:r>
                        <a:rPr lang="zh-CN" altLang="en-US" sz="1200" b="0" i="0" u="none" strike="noStrike" dirty="0">
                          <a:solidFill>
                            <a:srgbClr val="000000"/>
                          </a:solidFill>
                          <a:effectLst/>
                          <a:latin typeface="+mn-ea"/>
                          <a:ea typeface="+mn-ea"/>
                        </a:rPr>
                        <a:t>因子</a:t>
                      </a:r>
                      <a:r>
                        <a:rPr lang="en-US" altLang="zh-CN" sz="1200" b="0" i="0" u="none" strike="noStrike" dirty="0">
                          <a:solidFill>
                            <a:srgbClr val="000000"/>
                          </a:solidFill>
                          <a:effectLst/>
                          <a:latin typeface="+mn-ea"/>
                          <a:ea typeface="+mn-ea"/>
                        </a:rPr>
                        <a:t>(</a:t>
                      </a:r>
                      <a:r>
                        <a:rPr lang="zh-CN" altLang="en-US" sz="1200" b="0" i="0" u="none" strike="noStrike" dirty="0">
                          <a:solidFill>
                            <a:srgbClr val="000000"/>
                          </a:solidFill>
                          <a:effectLst/>
                          <a:latin typeface="+mn-ea"/>
                          <a:ea typeface="+mn-ea"/>
                        </a:rPr>
                        <a:t>环节</a:t>
                      </a:r>
                      <a:r>
                        <a:rPr lang="en-US" altLang="zh-CN" sz="1200" b="0" i="0" u="none" strike="noStrike" dirty="0">
                          <a:solidFill>
                            <a:srgbClr val="000000"/>
                          </a:solidFill>
                          <a:effectLst/>
                          <a:latin typeface="+mn-ea"/>
                          <a:ea typeface="+mn-ea"/>
                        </a:rPr>
                        <a:t>)</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zh-CN" altLang="en-US" sz="1200" b="0" i="0" u="none" strike="noStrike" dirty="0">
                          <a:solidFill>
                            <a:srgbClr val="000000"/>
                          </a:solidFill>
                          <a:effectLst/>
                          <a:latin typeface="+mn-ea"/>
                          <a:ea typeface="+mn-ea"/>
                        </a:rPr>
                        <a:t>要素</a:t>
                      </a:r>
                      <a:r>
                        <a:rPr lang="en-US" altLang="zh-CN" sz="1200" b="0" i="0" u="none" strike="noStrike" dirty="0">
                          <a:solidFill>
                            <a:srgbClr val="000000"/>
                          </a:solidFill>
                          <a:effectLst/>
                          <a:latin typeface="+mn-ea"/>
                          <a:ea typeface="+mn-ea"/>
                        </a:rPr>
                        <a:t>(</a:t>
                      </a:r>
                      <a:r>
                        <a:rPr lang="zh-CN" altLang="en-US" sz="1200" b="0" i="0" u="none" strike="noStrike" dirty="0">
                          <a:solidFill>
                            <a:srgbClr val="000000"/>
                          </a:solidFill>
                          <a:effectLst/>
                          <a:latin typeface="+mn-ea"/>
                          <a:ea typeface="+mn-ea"/>
                        </a:rPr>
                        <a:t>服务项</a:t>
                      </a:r>
                      <a:r>
                        <a:rPr lang="en-US" altLang="zh-CN" sz="1200" b="0" i="0" u="none" strike="noStrike" dirty="0">
                          <a:solidFill>
                            <a:srgbClr val="000000"/>
                          </a:solidFill>
                          <a:effectLst/>
                          <a:latin typeface="+mn-ea"/>
                          <a:ea typeface="+mn-ea"/>
                        </a:rPr>
                        <a:t>)</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n-US" altLang="zh-CN" sz="1200" b="0" i="0" u="none" strike="noStrike" dirty="0">
                          <a:solidFill>
                            <a:srgbClr val="000000"/>
                          </a:solidFill>
                          <a:effectLst/>
                          <a:latin typeface="+mn-ea"/>
                          <a:ea typeface="+mn-ea"/>
                        </a:rPr>
                        <a:t>H1</a:t>
                      </a:r>
                      <a:r>
                        <a:rPr lang="zh-CN" altLang="en-US" sz="1200" b="0" i="0" u="none" strike="noStrike" dirty="0">
                          <a:solidFill>
                            <a:srgbClr val="000000"/>
                          </a:solidFill>
                          <a:effectLst/>
                          <a:latin typeface="+mn-ea"/>
                          <a:ea typeface="+mn-ea"/>
                        </a:rPr>
                        <a:t>建议改进排序</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n-US" altLang="zh-CN" sz="1200" b="0" i="0" u="none" strike="noStrike" dirty="0">
                          <a:solidFill>
                            <a:srgbClr val="000000"/>
                          </a:solidFill>
                          <a:effectLst/>
                          <a:latin typeface="+mn-ea"/>
                          <a:ea typeface="+mn-ea"/>
                        </a:rPr>
                        <a:t>H1</a:t>
                      </a:r>
                      <a:r>
                        <a:rPr lang="zh-CN" altLang="en-US" sz="1200" b="0" i="0" u="none" strike="noStrike" dirty="0">
                          <a:solidFill>
                            <a:srgbClr val="000000"/>
                          </a:solidFill>
                          <a:effectLst/>
                          <a:latin typeface="+mn-ea"/>
                          <a:ea typeface="+mn-ea"/>
                        </a:rPr>
                        <a:t>得分</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effectLst/>
                          <a:latin typeface="+mn-ea"/>
                          <a:ea typeface="+mn-ea"/>
                        </a:rPr>
                        <a:t>H2</a:t>
                      </a:r>
                      <a:r>
                        <a:rPr lang="zh-CN" altLang="en-US" sz="1200" b="0" i="0" u="none" strike="noStrike" dirty="0">
                          <a:solidFill>
                            <a:srgbClr val="000000"/>
                          </a:solidFill>
                          <a:effectLst/>
                          <a:latin typeface="+mn-ea"/>
                          <a:ea typeface="+mn-ea"/>
                        </a:rPr>
                        <a:t>得分</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10000"/>
                  </a:ext>
                </a:extLst>
              </a:tr>
              <a:tr h="231866">
                <a:tc>
                  <a:txBody>
                    <a:bodyPr/>
                    <a:lstStyle/>
                    <a:p>
                      <a:pPr marL="0" algn="ctr" defTabSz="914400" rtl="0" eaLnBrk="1" fontAlgn="ctr" latinLnBrk="0" hangingPunct="1"/>
                      <a:r>
                        <a:rPr lang="zh-CN" altLang="en-US" sz="1000" b="0" i="0" u="none" strike="noStrike" kern="1200" dirty="0">
                          <a:solidFill>
                            <a:srgbClr val="000000"/>
                          </a:solidFill>
                          <a:effectLst/>
                          <a:latin typeface="+mn-ea"/>
                          <a:ea typeface="+mn-ea"/>
                          <a:cs typeface="+mn-cs"/>
                        </a:rPr>
                        <a:t>试乘试驾</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试驾讲解专业性</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8.03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8.68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31866">
                <a:tc>
                  <a:txBody>
                    <a:bodyPr/>
                    <a:lstStyle/>
                    <a:p>
                      <a:pPr marL="0" algn="ctr" defTabSz="914400" rtl="0" eaLnBrk="1" fontAlgn="ctr" latinLnBrk="0" hangingPunct="1"/>
                      <a:r>
                        <a:rPr lang="zh-CN" altLang="en-US" sz="1000" b="0" i="0" u="none" strike="noStrike" kern="1200" dirty="0">
                          <a:solidFill>
                            <a:srgbClr val="000000"/>
                          </a:solidFill>
                          <a:effectLst/>
                          <a:latin typeface="+mn-ea"/>
                          <a:ea typeface="+mn-ea"/>
                          <a:cs typeface="+mn-cs"/>
                        </a:rPr>
                        <a:t>试乘试驾</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试驾中的产品介绍满意度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8.07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sz="1000" b="0" i="0" u="none" strike="noStrike" kern="1200" dirty="0">
                          <a:solidFill>
                            <a:schemeClr val="tx1"/>
                          </a:solidFill>
                          <a:effectLst/>
                          <a:latin typeface="+mn-ea"/>
                          <a:ea typeface="+mn-ea"/>
                          <a:cs typeface="+mn-cs"/>
                        </a:rPr>
                        <a: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31866">
                <a:tc>
                  <a:txBody>
                    <a:bodyPr/>
                    <a:lstStyle/>
                    <a:p>
                      <a:pPr marL="0" algn="ctr" defTabSz="914400" rtl="0" eaLnBrk="1" fontAlgn="ctr" latinLnBrk="0" hangingPunct="1"/>
                      <a:r>
                        <a:rPr lang="zh-CN" altLang="en-US" sz="1000" b="0" i="0" u="none" strike="noStrike" kern="1200">
                          <a:solidFill>
                            <a:srgbClr val="000000"/>
                          </a:solidFill>
                          <a:effectLst/>
                          <a:latin typeface="+mn-ea"/>
                          <a:ea typeface="+mn-ea"/>
                          <a:cs typeface="+mn-cs"/>
                        </a:rPr>
                        <a:t>试乘试驾</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试驾申请流程便捷度*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9.04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231866">
                <a:tc>
                  <a:txBody>
                    <a:bodyPr/>
                    <a:lstStyle/>
                    <a:p>
                      <a:pPr marL="0" algn="ctr" defTabSz="914400" rtl="0" eaLnBrk="1" fontAlgn="ctr" latinLnBrk="0" hangingPunct="1"/>
                      <a:r>
                        <a:rPr lang="zh-CN" altLang="en-US" sz="1000" b="0" i="0" u="none" strike="noStrike" kern="1200" dirty="0">
                          <a:solidFill>
                            <a:srgbClr val="000000"/>
                          </a:solidFill>
                          <a:effectLst/>
                          <a:latin typeface="+mn-ea"/>
                          <a:ea typeface="+mn-ea"/>
                          <a:cs typeface="+mn-cs"/>
                        </a:rPr>
                        <a:t>试乘试驾</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试驾等待合理度*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8.18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8.95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31866">
                <a:tc>
                  <a:txBody>
                    <a:bodyPr/>
                    <a:lstStyle/>
                    <a:p>
                      <a:pPr marL="0" algn="ctr" defTabSz="914400" rtl="0" eaLnBrk="1" fontAlgn="ctr" latinLnBrk="0" hangingPunct="1"/>
                      <a:r>
                        <a:rPr lang="zh-CN" altLang="en-US" sz="1000" b="0" i="0" u="none" strike="noStrike" kern="1200" dirty="0">
                          <a:solidFill>
                            <a:srgbClr val="000000"/>
                          </a:solidFill>
                          <a:effectLst/>
                          <a:latin typeface="+mn-ea"/>
                          <a:ea typeface="+mn-ea"/>
                          <a:cs typeface="+mn-cs"/>
                        </a:rPr>
                        <a:t>试乘试驾</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914400" rtl="0" eaLnBrk="1" fontAlgn="ctr" latinLnBrk="0" hangingPunct="1"/>
                      <a:r>
                        <a:rPr lang="zh-CN" altLang="en-US" sz="1000" b="0" i="0" u="none" strike="noStrike" kern="1200">
                          <a:solidFill>
                            <a:srgbClr val="000000"/>
                          </a:solidFill>
                          <a:effectLst/>
                          <a:latin typeface="+mn-ea"/>
                          <a:ea typeface="+mn-ea"/>
                          <a:cs typeface="+mn-cs"/>
                        </a:rPr>
                        <a:t>试乘试驾车辆状况满意度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8.15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9.01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231866">
                <a:tc>
                  <a:txBody>
                    <a:bodyPr/>
                    <a:lstStyle/>
                    <a:p>
                      <a:pPr marL="0" algn="ctr" defTabSz="914400" rtl="0" eaLnBrk="1" fontAlgn="ctr" latinLnBrk="0" hangingPunct="1"/>
                      <a:r>
                        <a:rPr lang="zh-CN" altLang="en-US" sz="1000" b="0" i="0" u="none" strike="noStrike" kern="1200" dirty="0">
                          <a:solidFill>
                            <a:srgbClr val="000000"/>
                          </a:solidFill>
                          <a:effectLst/>
                          <a:latin typeface="+mn-ea"/>
                          <a:ea typeface="+mn-ea"/>
                          <a:cs typeface="+mn-cs"/>
                        </a:rPr>
                        <a:t>洽谈下定</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购车权益和服务满足度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7.66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8.44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31866">
                <a:tc>
                  <a:txBody>
                    <a:bodyPr/>
                    <a:lstStyle/>
                    <a:p>
                      <a:pPr marL="0" algn="ctr" defTabSz="914400" rtl="0" eaLnBrk="1" fontAlgn="ctr" latinLnBrk="0" hangingPunct="1"/>
                      <a:r>
                        <a:rPr lang="zh-CN" altLang="en-US" sz="1000" b="0" i="0" u="none" strike="noStrike" kern="1200">
                          <a:solidFill>
                            <a:srgbClr val="000000"/>
                          </a:solidFill>
                          <a:effectLst/>
                          <a:latin typeface="+mn-ea"/>
                          <a:ea typeface="+mn-ea"/>
                          <a:cs typeface="+mn-cs"/>
                        </a:rPr>
                        <a:t>店内看车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销售顾问车型介绍专业性</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7.98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8.6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r h="231866">
                <a:tc>
                  <a:txBody>
                    <a:bodyPr/>
                    <a:lstStyle/>
                    <a:p>
                      <a:pPr marL="0" algn="ctr" defTabSz="914400" rtl="0" eaLnBrk="1" fontAlgn="ctr" latinLnBrk="0" hangingPunct="1"/>
                      <a:r>
                        <a:rPr lang="zh-CN" altLang="en-US" sz="1000" b="0" i="0" u="none" strike="noStrike" kern="1200">
                          <a:solidFill>
                            <a:srgbClr val="000000"/>
                          </a:solidFill>
                          <a:effectLst/>
                          <a:latin typeface="+mn-ea"/>
                          <a:ea typeface="+mn-ea"/>
                          <a:cs typeface="+mn-cs"/>
                        </a:rPr>
                        <a:t>店内看车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销售顾问服务态度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8.48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9.06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231866">
                <a:tc>
                  <a:txBody>
                    <a:bodyPr/>
                    <a:lstStyle/>
                    <a:p>
                      <a:pPr marL="0" algn="ctr" defTabSz="914400" rtl="0" eaLnBrk="1" fontAlgn="ctr" latinLnBrk="0" hangingPunct="1"/>
                      <a:r>
                        <a:rPr lang="zh-CN" altLang="en-US" sz="1000" b="0" i="0" u="none" strike="noStrike" kern="1200" dirty="0">
                          <a:solidFill>
                            <a:srgbClr val="000000"/>
                          </a:solidFill>
                          <a:effectLst/>
                          <a:latin typeface="+mn-ea"/>
                          <a:ea typeface="+mn-ea"/>
                          <a:cs typeface="+mn-cs"/>
                        </a:rPr>
                        <a:t>店内看车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展车商品车情况</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8.1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8.91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9"/>
                  </a:ext>
                </a:extLst>
              </a:tr>
              <a:tr h="231866">
                <a:tc>
                  <a:txBody>
                    <a:bodyPr/>
                    <a:lstStyle/>
                    <a:p>
                      <a:pPr marL="0" algn="ctr" defTabSz="914400" rtl="0" eaLnBrk="1" fontAlgn="ctr" latinLnBrk="0" hangingPunct="1"/>
                      <a:r>
                        <a:rPr lang="zh-CN" altLang="en-US" sz="1000" b="0" i="0" u="none" strike="noStrike" kern="1200" dirty="0">
                          <a:solidFill>
                            <a:srgbClr val="000000"/>
                          </a:solidFill>
                          <a:effectLst/>
                          <a:latin typeface="+mn-ea"/>
                          <a:ea typeface="+mn-ea"/>
                          <a:cs typeface="+mn-cs"/>
                        </a:rPr>
                        <a:t>入店前沟通</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在线咨询过程的流畅性与专业性</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8.06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8.26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0"/>
                  </a:ext>
                </a:extLst>
              </a:tr>
              <a:tr h="231866">
                <a:tc>
                  <a:txBody>
                    <a:bodyPr/>
                    <a:lstStyle/>
                    <a:p>
                      <a:pPr marL="0" algn="ctr" defTabSz="914400" rtl="0" eaLnBrk="1" fontAlgn="ctr" latinLnBrk="0" hangingPunct="1"/>
                      <a:r>
                        <a:rPr lang="zh-CN" altLang="en-US" sz="1000" b="0" i="0" u="none" strike="noStrike" kern="1200" dirty="0">
                          <a:solidFill>
                            <a:srgbClr val="000000"/>
                          </a:solidFill>
                          <a:effectLst/>
                          <a:latin typeface="+mn-ea"/>
                          <a:ea typeface="+mn-ea"/>
                          <a:cs typeface="+mn-cs"/>
                        </a:rPr>
                        <a:t>洽谈下定</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产品价格及政策介绍满意度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7.71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8.52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1"/>
                  </a:ext>
                </a:extLst>
              </a:tr>
              <a:tr h="231866">
                <a:tc>
                  <a:txBody>
                    <a:bodyPr/>
                    <a:lstStyle/>
                    <a:p>
                      <a:pPr marL="0" algn="ctr" defTabSz="914400" rtl="0" eaLnBrk="1" fontAlgn="ctr" latinLnBrk="0" hangingPunct="1"/>
                      <a:r>
                        <a:rPr lang="zh-CN" altLang="en-US" sz="1000" b="0" i="0" u="none" strike="noStrike" kern="1200">
                          <a:solidFill>
                            <a:srgbClr val="000000"/>
                          </a:solidFill>
                          <a:effectLst/>
                          <a:latin typeface="+mn-ea"/>
                          <a:ea typeface="+mn-ea"/>
                          <a:cs typeface="+mn-cs"/>
                        </a:rPr>
                        <a:t>洽谈下定</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保险服务的介绍及协助办理过程中的体验</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7.64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8.63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2"/>
                  </a:ext>
                </a:extLst>
              </a:tr>
              <a:tr h="231866">
                <a:tc>
                  <a:txBody>
                    <a:bodyPr/>
                    <a:lstStyle/>
                    <a:p>
                      <a:pPr marL="0" algn="ctr" defTabSz="914400" rtl="0" eaLnBrk="1" fontAlgn="ctr" latinLnBrk="0" hangingPunct="1"/>
                      <a:r>
                        <a:rPr lang="zh-CN" altLang="en-US" sz="1000" b="0" i="0" u="none" strike="noStrike" kern="1200">
                          <a:solidFill>
                            <a:srgbClr val="000000"/>
                          </a:solidFill>
                          <a:effectLst/>
                          <a:latin typeface="+mn-ea"/>
                          <a:ea typeface="+mn-ea"/>
                          <a:cs typeface="+mn-cs"/>
                        </a:rPr>
                        <a:t>试乘试驾</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试驾邀约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8.06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8.92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3"/>
                  </a:ext>
                </a:extLst>
              </a:tr>
              <a:tr h="231866">
                <a:tc>
                  <a:txBody>
                    <a:bodyPr/>
                    <a:lstStyle/>
                    <a:p>
                      <a:pPr marL="0" algn="ctr" defTabSz="914400" rtl="0" eaLnBrk="1" fontAlgn="ctr" latinLnBrk="0" hangingPunct="1"/>
                      <a:r>
                        <a:rPr lang="zh-CN" altLang="en-US" sz="1000" b="0" i="0" u="none" strike="noStrike" kern="1200" dirty="0">
                          <a:solidFill>
                            <a:srgbClr val="000000"/>
                          </a:solidFill>
                          <a:effectLst/>
                          <a:latin typeface="+mn-ea"/>
                          <a:ea typeface="+mn-ea"/>
                          <a:cs typeface="+mn-cs"/>
                        </a:rPr>
                        <a:t>店内看车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店内设计风格和硬件设施</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chemeClr val="tx1"/>
                          </a:solidFill>
                          <a:effectLst/>
                          <a:latin typeface="+mn-ea"/>
                          <a:ea typeface="+mn-ea"/>
                          <a:cs typeface="+mn-cs"/>
                        </a:rPr>
                        <a:t>7.77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8.46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4"/>
                  </a:ext>
                </a:extLst>
              </a:tr>
              <a:tr h="231866">
                <a:tc>
                  <a:txBody>
                    <a:bodyPr/>
                    <a:lstStyle/>
                    <a:p>
                      <a:pPr marL="0" algn="ctr" defTabSz="914400" rtl="0" eaLnBrk="1" fontAlgn="ctr" latinLnBrk="0" hangingPunct="1"/>
                      <a:r>
                        <a:rPr lang="zh-CN" altLang="en-US" sz="1000" b="0" i="0" u="none" strike="noStrike" kern="1200">
                          <a:solidFill>
                            <a:srgbClr val="000000"/>
                          </a:solidFill>
                          <a:effectLst/>
                          <a:latin typeface="+mn-ea"/>
                          <a:ea typeface="+mn-ea"/>
                          <a:cs typeface="+mn-cs"/>
                        </a:rPr>
                        <a:t>试乘试驾</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试乘试驾结束后服务人员的跟进效率</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8.13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8.79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5"/>
                  </a:ext>
                </a:extLst>
              </a:tr>
              <a:tr h="231866">
                <a:tc>
                  <a:txBody>
                    <a:bodyPr/>
                    <a:lstStyle/>
                    <a:p>
                      <a:pPr marL="0" algn="ctr" defTabSz="914400" rtl="0" eaLnBrk="1" fontAlgn="ctr" latinLnBrk="0" hangingPunct="1"/>
                      <a:r>
                        <a:rPr lang="zh-CN" altLang="en-US" sz="1000" b="0" i="0" u="none" strike="noStrike" kern="1200" dirty="0">
                          <a:solidFill>
                            <a:srgbClr val="000000"/>
                          </a:solidFill>
                          <a:effectLst/>
                          <a:latin typeface="+mn-ea"/>
                          <a:ea typeface="+mn-ea"/>
                          <a:cs typeface="+mn-cs"/>
                        </a:rPr>
                        <a:t>试乘试驾</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marL="0" algn="r" defTabSz="914400" rtl="0" eaLnBrk="1" fontAlgn="ctr" latinLnBrk="0" hangingPunct="1"/>
                      <a:r>
                        <a:rPr lang="zh-CN" altLang="en-US" sz="1000" b="0" i="0" u="none" strike="noStrike" kern="1200" dirty="0">
                          <a:solidFill>
                            <a:srgbClr val="000000"/>
                          </a:solidFill>
                          <a:effectLst/>
                          <a:latin typeface="+mn-ea"/>
                          <a:ea typeface="+mn-ea"/>
                          <a:cs typeface="+mn-cs"/>
                        </a:rPr>
                        <a:t>送别与回访表现</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sz="1000" b="0" i="0" u="none" strike="noStrike" kern="1200" dirty="0">
                          <a:solidFill>
                            <a:schemeClr val="tx1"/>
                          </a:solidFill>
                          <a:effectLst/>
                          <a:latin typeface="+mn-ea"/>
                          <a:ea typeface="+mn-ea"/>
                          <a:cs typeface="+mn-cs"/>
                        </a:rPr>
                        <a: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8.31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6"/>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558292700"/>
              </p:ext>
            </p:extLst>
          </p:nvPr>
        </p:nvGraphicFramePr>
        <p:xfrm>
          <a:off x="5987143" y="2049671"/>
          <a:ext cx="5941331" cy="4100873"/>
        </p:xfrm>
        <a:graphic>
          <a:graphicData uri="http://schemas.openxmlformats.org/drawingml/2006/table">
            <a:tbl>
              <a:tblPr/>
              <a:tblGrid>
                <a:gridCol w="817654">
                  <a:extLst>
                    <a:ext uri="{9D8B030D-6E8A-4147-A177-3AD203B41FA5}">
                      <a16:colId xmlns:a16="http://schemas.microsoft.com/office/drawing/2014/main" val="20000"/>
                    </a:ext>
                  </a:extLst>
                </a:gridCol>
                <a:gridCol w="2461441">
                  <a:extLst>
                    <a:ext uri="{9D8B030D-6E8A-4147-A177-3AD203B41FA5}">
                      <a16:colId xmlns:a16="http://schemas.microsoft.com/office/drawing/2014/main" val="20001"/>
                    </a:ext>
                  </a:extLst>
                </a:gridCol>
                <a:gridCol w="887412">
                  <a:extLst>
                    <a:ext uri="{9D8B030D-6E8A-4147-A177-3AD203B41FA5}">
                      <a16:colId xmlns:a16="http://schemas.microsoft.com/office/drawing/2014/main" val="20002"/>
                    </a:ext>
                  </a:extLst>
                </a:gridCol>
                <a:gridCol w="887412">
                  <a:extLst>
                    <a:ext uri="{9D8B030D-6E8A-4147-A177-3AD203B41FA5}">
                      <a16:colId xmlns:a16="http://schemas.microsoft.com/office/drawing/2014/main" val="1242981516"/>
                    </a:ext>
                  </a:extLst>
                </a:gridCol>
                <a:gridCol w="887412">
                  <a:extLst>
                    <a:ext uri="{9D8B030D-6E8A-4147-A177-3AD203B41FA5}">
                      <a16:colId xmlns:a16="http://schemas.microsoft.com/office/drawing/2014/main" val="2968251933"/>
                    </a:ext>
                  </a:extLst>
                </a:gridCol>
              </a:tblGrid>
              <a:tr h="385521">
                <a:tc>
                  <a:txBody>
                    <a:bodyPr/>
                    <a:lstStyle/>
                    <a:p>
                      <a:pPr algn="ctr" fontAlgn="ctr"/>
                      <a:r>
                        <a:rPr lang="zh-CN" altLang="en-US" sz="1200" b="0" i="0" u="none" strike="noStrike" dirty="0">
                          <a:solidFill>
                            <a:srgbClr val="000000"/>
                          </a:solidFill>
                          <a:effectLst/>
                          <a:latin typeface="微软雅黑" panose="020B0503020204020204" pitchFamily="34" charset="-122"/>
                          <a:ea typeface="Alibaba PuHuiTi 2.0 55 Regular"/>
                        </a:rPr>
                        <a:t>因子</a:t>
                      </a:r>
                      <a:r>
                        <a:rPr lang="en-US" altLang="zh-CN" sz="1200" b="0" i="0" u="none" strike="noStrike" dirty="0">
                          <a:solidFill>
                            <a:srgbClr val="000000"/>
                          </a:solidFill>
                          <a:effectLst/>
                          <a:latin typeface="微软雅黑" panose="020B0503020204020204" pitchFamily="34" charset="-122"/>
                          <a:ea typeface="Alibaba PuHuiTi 2.0 55 Regular"/>
                        </a:rPr>
                        <a:t>(</a:t>
                      </a:r>
                      <a:r>
                        <a:rPr lang="zh-CN" altLang="en-US" sz="1200" b="0" i="0" u="none" strike="noStrike" dirty="0">
                          <a:solidFill>
                            <a:srgbClr val="000000"/>
                          </a:solidFill>
                          <a:effectLst/>
                          <a:latin typeface="微软雅黑" panose="020B0503020204020204" pitchFamily="34" charset="-122"/>
                          <a:ea typeface="Alibaba PuHuiTi 2.0 55 Regular"/>
                        </a:rPr>
                        <a:t>环节</a:t>
                      </a:r>
                      <a:r>
                        <a:rPr lang="en-US" altLang="zh-CN" sz="1200" b="0" i="0" u="none" strike="noStrike" dirty="0">
                          <a:solidFill>
                            <a:srgbClr val="000000"/>
                          </a:solidFill>
                          <a:effectLst/>
                          <a:latin typeface="微软雅黑" panose="020B0503020204020204" pitchFamily="34" charset="-122"/>
                          <a:ea typeface="Alibaba PuHuiTi 2.0 55 Regular"/>
                        </a:rPr>
                        <a:t>)</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Alibaba PuHuiTi 2.0 55 Regular"/>
                        </a:rPr>
                        <a:t>要素</a:t>
                      </a:r>
                      <a:r>
                        <a:rPr lang="en-US" altLang="zh-CN" sz="1200" b="0" i="0" u="none" strike="noStrike" dirty="0">
                          <a:solidFill>
                            <a:srgbClr val="000000"/>
                          </a:solidFill>
                          <a:effectLst/>
                          <a:latin typeface="微软雅黑" panose="020B0503020204020204" pitchFamily="34" charset="-122"/>
                          <a:ea typeface="Alibaba PuHuiTi 2.0 55 Regular"/>
                        </a:rPr>
                        <a:t>(</a:t>
                      </a:r>
                      <a:r>
                        <a:rPr lang="zh-CN" altLang="en-US" sz="1200" b="0" i="0" u="none" strike="noStrike" dirty="0">
                          <a:solidFill>
                            <a:srgbClr val="000000"/>
                          </a:solidFill>
                          <a:effectLst/>
                          <a:latin typeface="微软雅黑" panose="020B0503020204020204" pitchFamily="34" charset="-122"/>
                          <a:ea typeface="Alibaba PuHuiTi 2.0 55 Regular"/>
                        </a:rPr>
                        <a:t>服务项</a:t>
                      </a:r>
                      <a:r>
                        <a:rPr lang="en-US" altLang="zh-CN" sz="1200" b="0" i="0" u="none" strike="noStrike" dirty="0">
                          <a:solidFill>
                            <a:srgbClr val="000000"/>
                          </a:solidFill>
                          <a:effectLst/>
                          <a:latin typeface="微软雅黑" panose="020B0503020204020204" pitchFamily="34" charset="-122"/>
                          <a:ea typeface="Alibaba PuHuiTi 2.0 55 Regular"/>
                        </a:rPr>
                        <a:t>)</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Alibaba PuHuiTi 2.0 55 Regular"/>
                        </a:rPr>
                        <a:t>H2</a:t>
                      </a:r>
                      <a:r>
                        <a:rPr lang="zh-CN" altLang="en-US" sz="1200" b="0" i="0" u="none" strike="noStrike" dirty="0">
                          <a:solidFill>
                            <a:srgbClr val="000000"/>
                          </a:solidFill>
                          <a:effectLst/>
                          <a:latin typeface="微软雅黑" panose="020B0503020204020204" pitchFamily="34" charset="-122"/>
                          <a:ea typeface="Alibaba PuHuiTi 2.0 55 Regular"/>
                        </a:rPr>
                        <a:t>建议改进排序</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Alibaba PuHuiTi 2.0 55 Regular"/>
                        </a:rPr>
                        <a:t>H1</a:t>
                      </a:r>
                      <a:r>
                        <a:rPr lang="zh-CN" altLang="en-US" sz="1200" b="0" i="0" u="none" strike="noStrike" dirty="0">
                          <a:solidFill>
                            <a:srgbClr val="000000"/>
                          </a:solidFill>
                          <a:effectLst/>
                          <a:latin typeface="微软雅黑" panose="020B0503020204020204" pitchFamily="34" charset="-122"/>
                          <a:ea typeface="Alibaba PuHuiTi 2.0 55 Regular"/>
                        </a:rPr>
                        <a:t>得分</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effectLst/>
                          <a:latin typeface="微软雅黑" panose="020B0503020204020204" pitchFamily="34" charset="-122"/>
                          <a:ea typeface="Alibaba PuHuiTi 2.0 55 Regular"/>
                        </a:rPr>
                        <a:t>H2</a:t>
                      </a:r>
                      <a:r>
                        <a:rPr lang="zh-CN" altLang="en-US" sz="1200" b="0" i="0" u="none" strike="noStrike" dirty="0">
                          <a:solidFill>
                            <a:srgbClr val="000000"/>
                          </a:solidFill>
                          <a:effectLst/>
                          <a:latin typeface="微软雅黑" panose="020B0503020204020204" pitchFamily="34" charset="-122"/>
                          <a:ea typeface="Alibaba PuHuiTi 2.0 55 Regular"/>
                        </a:rPr>
                        <a:t>得分</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10000"/>
                  </a:ext>
                </a:extLst>
              </a:tr>
              <a:tr h="928838">
                <a:tc>
                  <a:txBody>
                    <a:bodyPr/>
                    <a:lstStyle/>
                    <a:p>
                      <a:pPr marL="0" algn="ctr" defTabSz="914400" rtl="0" eaLnBrk="1" fontAlgn="ctr" latinLnBrk="0" hangingPunct="1"/>
                      <a:r>
                        <a:rPr lang="zh-CN" altLang="en-US" sz="1000" b="0" i="0" u="none" strike="noStrike" kern="1200" dirty="0">
                          <a:solidFill>
                            <a:srgbClr val="000000"/>
                          </a:solidFill>
                          <a:effectLst/>
                          <a:latin typeface="+mn-ea"/>
                          <a:ea typeface="+mn-ea"/>
                          <a:cs typeface="+mn-cs"/>
                        </a:rPr>
                        <a:t>店内看车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zh-CN" altLang="en-US" sz="1000" b="0" i="0" u="none" strike="noStrike" dirty="0">
                          <a:solidFill>
                            <a:srgbClr val="000000"/>
                          </a:solidFill>
                          <a:effectLst/>
                          <a:latin typeface="+mn-ea"/>
                          <a:ea typeface="+mn-ea"/>
                        </a:rPr>
                        <a:t>提供的饮料服务</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CN" sz="1000" b="0" i="0" u="none" strike="noStrike" dirty="0">
                          <a:solidFill>
                            <a:schemeClr val="tx1"/>
                          </a:solidFill>
                          <a:effectLst/>
                          <a:latin typeface="+mn-ea"/>
                          <a:ea typeface="+mn-ea"/>
                        </a:rPr>
                        <a:t>1</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mn-ea"/>
                          <a:ea typeface="+mn-ea"/>
                        </a:rPr>
                        <a: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00"/>
                          </a:solidFill>
                          <a:effectLst/>
                          <a:latin typeface="+mn-ea"/>
                          <a:ea typeface="+mn-ea"/>
                        </a:rPr>
                        <a:t>7.88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28838">
                <a:tc>
                  <a:txBody>
                    <a:bodyPr/>
                    <a:lstStyle/>
                    <a:p>
                      <a:pPr marL="0" algn="ctr" defTabSz="914400" rtl="0" eaLnBrk="1" fontAlgn="ctr" latinLnBrk="0" hangingPunct="1"/>
                      <a:r>
                        <a:rPr lang="zh-CN" altLang="en-US" sz="1000" b="0" i="0" u="none" strike="noStrike" kern="1200" dirty="0">
                          <a:solidFill>
                            <a:srgbClr val="000000"/>
                          </a:solidFill>
                          <a:effectLst/>
                          <a:latin typeface="+mn-ea"/>
                          <a:ea typeface="+mn-ea"/>
                          <a:cs typeface="+mn-cs"/>
                        </a:rPr>
                        <a:t>入店前沟通</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algn="r" fontAlgn="ctr"/>
                      <a:r>
                        <a:rPr lang="zh-CN" altLang="en-US" sz="1000" b="0" i="0" u="none" strike="noStrike" dirty="0">
                          <a:solidFill>
                            <a:srgbClr val="000000"/>
                          </a:solidFill>
                          <a:effectLst/>
                          <a:latin typeface="+mn-ea"/>
                          <a:ea typeface="+mn-ea"/>
                        </a:rPr>
                        <a:t>咨询过程的专业度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algn="ctr" fontAlgn="ctr"/>
                      <a:r>
                        <a:rPr lang="en-US" altLang="zh-CN" sz="1000" b="0" i="0" u="none" strike="noStrike" dirty="0">
                          <a:solidFill>
                            <a:schemeClr val="tx1"/>
                          </a:solidFill>
                          <a:effectLst/>
                          <a:latin typeface="+mn-ea"/>
                          <a:ea typeface="+mn-ea"/>
                        </a:rPr>
                        <a:t>2</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algn="ctr" fontAlgn="ctr"/>
                      <a:r>
                        <a:rPr lang="en-US" altLang="zh-CN" sz="1100" b="0" i="0" u="none" strike="noStrike">
                          <a:solidFill>
                            <a:srgbClr val="000000"/>
                          </a:solidFill>
                          <a:effectLst/>
                          <a:latin typeface="+mn-ea"/>
                          <a:ea typeface="+mn-ea"/>
                        </a:rPr>
                        <a:t>8.06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algn="ctr" fontAlgn="ctr"/>
                      <a:r>
                        <a:rPr lang="en-US" altLang="zh-CN" sz="1100" b="0" i="0" u="none" strike="noStrike" dirty="0">
                          <a:solidFill>
                            <a:srgbClr val="000000"/>
                          </a:solidFill>
                          <a:effectLst/>
                          <a:latin typeface="+mn-ea"/>
                          <a:ea typeface="+mn-ea"/>
                        </a:rPr>
                        <a:t>8.26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extLst>
                  <a:ext uri="{0D108BD9-81ED-4DB2-BD59-A6C34878D82A}">
                    <a16:rowId xmlns:a16="http://schemas.microsoft.com/office/drawing/2014/main" val="10007"/>
                  </a:ext>
                </a:extLst>
              </a:tr>
              <a:tr h="928838">
                <a:tc>
                  <a:txBody>
                    <a:bodyPr/>
                    <a:lstStyle/>
                    <a:p>
                      <a:pPr marL="0" algn="ctr" defTabSz="914400" rtl="0" eaLnBrk="1" fontAlgn="ctr" latinLnBrk="0" hangingPunct="1"/>
                      <a:r>
                        <a:rPr lang="zh-CN" altLang="en-US" sz="1000" b="0" i="0" u="none" strike="noStrike" kern="1200" dirty="0">
                          <a:solidFill>
                            <a:srgbClr val="000000"/>
                          </a:solidFill>
                          <a:effectLst/>
                          <a:latin typeface="+mn-ea"/>
                          <a:ea typeface="+mn-ea"/>
                          <a:cs typeface="+mn-cs"/>
                        </a:rPr>
                        <a:t>洽谈下定</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algn="r" fontAlgn="ctr"/>
                      <a:r>
                        <a:rPr lang="zh-CN" altLang="en-US" sz="1000" b="0" i="0" u="none" strike="noStrike" dirty="0">
                          <a:solidFill>
                            <a:srgbClr val="000000"/>
                          </a:solidFill>
                          <a:effectLst/>
                          <a:latin typeface="+mn-ea"/>
                          <a:ea typeface="+mn-ea"/>
                        </a:rPr>
                        <a:t>销售顾问对车主权益和服务的介绍清晰程度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algn="ctr" fontAlgn="ctr"/>
                      <a:r>
                        <a:rPr lang="en-US" altLang="zh-CN" sz="1000" b="0" i="0" u="none" strike="noStrike" dirty="0">
                          <a:solidFill>
                            <a:schemeClr val="tx1"/>
                          </a:solidFill>
                          <a:effectLst/>
                          <a:latin typeface="+mn-ea"/>
                          <a:ea typeface="+mn-ea"/>
                        </a:rPr>
                        <a:t>3</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algn="ctr" fontAlgn="ctr"/>
                      <a:r>
                        <a:rPr lang="en-US" altLang="zh-CN" sz="1100" b="0" i="0" u="none" strike="noStrike">
                          <a:solidFill>
                            <a:srgbClr val="000000"/>
                          </a:solidFill>
                          <a:effectLst/>
                          <a:latin typeface="+mn-ea"/>
                          <a:ea typeface="+mn-ea"/>
                        </a:rPr>
                        <a:t>7.66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algn="ctr" fontAlgn="ctr"/>
                      <a:r>
                        <a:rPr lang="en-US" altLang="zh-CN" sz="1100" b="0" i="0" u="none" strike="noStrike" dirty="0">
                          <a:solidFill>
                            <a:srgbClr val="000000"/>
                          </a:solidFill>
                          <a:effectLst/>
                          <a:latin typeface="+mn-ea"/>
                          <a:ea typeface="+mn-ea"/>
                        </a:rPr>
                        <a:t>8.44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extLst>
                  <a:ext uri="{0D108BD9-81ED-4DB2-BD59-A6C34878D82A}">
                    <a16:rowId xmlns:a16="http://schemas.microsoft.com/office/drawing/2014/main" val="10010"/>
                  </a:ext>
                </a:extLst>
              </a:tr>
              <a:tr h="928838">
                <a:tc>
                  <a:txBody>
                    <a:bodyPr/>
                    <a:lstStyle/>
                    <a:p>
                      <a:pPr marL="0" algn="ctr" defTabSz="914400" rtl="0" eaLnBrk="1" fontAlgn="ctr" latinLnBrk="0" hangingPunct="1"/>
                      <a:r>
                        <a:rPr lang="zh-CN" altLang="en-US" sz="1000" b="0" i="0" u="none" strike="noStrike" kern="1200" dirty="0">
                          <a:solidFill>
                            <a:srgbClr val="000000"/>
                          </a:solidFill>
                          <a:effectLst/>
                          <a:latin typeface="+mn-ea"/>
                          <a:ea typeface="+mn-ea"/>
                          <a:cs typeface="+mn-cs"/>
                        </a:rPr>
                        <a:t>送别与回访</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algn="r" fontAlgn="ctr"/>
                      <a:r>
                        <a:rPr lang="zh-CN" altLang="en-US" sz="1000" b="0" i="0" u="none" strike="noStrike" dirty="0">
                          <a:solidFill>
                            <a:srgbClr val="000000"/>
                          </a:solidFill>
                          <a:effectLst/>
                          <a:latin typeface="+mn-ea"/>
                          <a:ea typeface="+mn-ea"/>
                        </a:rPr>
                        <a:t>离店后的回访表现</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algn="ctr" fontAlgn="ctr"/>
                      <a:r>
                        <a:rPr lang="en-US" altLang="zh-CN" sz="1000" b="0" i="0" u="none" strike="noStrike" dirty="0">
                          <a:solidFill>
                            <a:schemeClr val="tx1"/>
                          </a:solidFill>
                          <a:effectLst/>
                          <a:latin typeface="+mn-ea"/>
                          <a:ea typeface="+mn-ea"/>
                        </a:rPr>
                        <a:t>4</a:t>
                      </a:r>
                    </a:p>
                  </a:txBody>
                  <a:tcPr marL="6060" marR="6060" marT="60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algn="ctr" fontAlgn="ctr"/>
                      <a:r>
                        <a:rPr lang="en-US" sz="1100" b="0" i="0" u="none" strike="noStrike" dirty="0">
                          <a:solidFill>
                            <a:srgbClr val="000000"/>
                          </a:solidFill>
                          <a:effectLst/>
                          <a:latin typeface="+mn-ea"/>
                          <a:ea typeface="+mn-ea"/>
                        </a:rPr>
                        <a: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tc>
                  <a:txBody>
                    <a:bodyPr/>
                    <a:lstStyle/>
                    <a:p>
                      <a:pPr algn="ctr" fontAlgn="ctr"/>
                      <a:r>
                        <a:rPr lang="en-US" altLang="zh-CN" sz="1100" b="0" i="0" u="none" strike="noStrike" dirty="0">
                          <a:solidFill>
                            <a:srgbClr val="000000"/>
                          </a:solidFill>
                          <a:effectLst/>
                          <a:latin typeface="+mn-ea"/>
                          <a:ea typeface="+mn-ea"/>
                        </a:rPr>
                        <a:t>8.31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1E1"/>
                    </a:solidFill>
                  </a:tcPr>
                </a:tc>
                <a:extLst>
                  <a:ext uri="{0D108BD9-81ED-4DB2-BD59-A6C34878D82A}">
                    <a16:rowId xmlns:a16="http://schemas.microsoft.com/office/drawing/2014/main" val="10011"/>
                  </a:ext>
                </a:extLst>
              </a:tr>
            </a:tbl>
          </a:graphicData>
        </a:graphic>
      </p:graphicFrame>
      <p:sp>
        <p:nvSpPr>
          <p:cNvPr id="8" name="文本框 7"/>
          <p:cNvSpPr txBox="1"/>
          <p:nvPr/>
        </p:nvSpPr>
        <p:spPr>
          <a:xfrm>
            <a:off x="415637" y="6206478"/>
            <a:ext cx="5399999" cy="275590"/>
          </a:xfrm>
          <a:prstGeom prst="rect">
            <a:avLst/>
          </a:prstGeom>
          <a:noFill/>
        </p:spPr>
        <p:txBody>
          <a:bodyPr wrap="square" rtlCol="0">
            <a:spAutoFit/>
          </a:bodyPr>
          <a:lstStyle/>
          <a:p>
            <a:r>
              <a:rPr lang="zh-CN" altLang="en-US" sz="1200" dirty="0">
                <a:highlight>
                  <a:srgbClr val="FBE1E1"/>
                </a:highlight>
              </a:rPr>
              <a:t>粉色</a:t>
            </a:r>
            <a:r>
              <a:rPr lang="zh-CN" altLang="en-US" sz="1200" dirty="0"/>
              <a:t>为上半年、下半年共同存在的弱项</a:t>
            </a:r>
            <a:endParaRPr lang="en-US" altLang="zh-CN" sz="1200" dirty="0"/>
          </a:p>
        </p:txBody>
      </p:sp>
    </p:spTree>
    <p:extLst>
      <p:ext uri="{BB962C8B-B14F-4D97-AF65-F5344CB8AC3E}">
        <p14:creationId xmlns:p14="http://schemas.microsoft.com/office/powerpoint/2010/main" val="12516527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088C1A75-A54C-1F02-9691-593FB59BA427}"/>
              </a:ext>
            </a:extLst>
          </p:cNvPr>
          <p:cNvSpPr>
            <a:spLocks noGrp="1"/>
          </p:cNvSpPr>
          <p:nvPr>
            <p:ph type="body" sz="quarter" idx="21"/>
          </p:nvPr>
        </p:nvSpPr>
        <p:spPr/>
        <p:txBody>
          <a:bodyPr/>
          <a:lstStyle/>
          <a:p>
            <a:r>
              <a:rPr kumimoji="1" lang="en-US" altLang="zh-CN" dirty="0">
                <a:latin typeface="+mn-ea"/>
                <a:ea typeface="+mn-ea"/>
              </a:rPr>
              <a:t>2.3 </a:t>
            </a:r>
            <a:r>
              <a:rPr kumimoji="1" lang="zh-CN" altLang="en-US" dirty="0">
                <a:latin typeface="+mn-ea"/>
                <a:ea typeface="+mn-ea"/>
              </a:rPr>
              <a:t>战胜战败分析 </a:t>
            </a:r>
            <a:r>
              <a:rPr kumimoji="1" lang="en-US" altLang="zh-CN" dirty="0">
                <a:latin typeface="+mn-ea"/>
                <a:ea typeface="+mn-ea"/>
              </a:rPr>
              <a:t>– </a:t>
            </a:r>
            <a:r>
              <a:rPr kumimoji="1" lang="zh-CN" altLang="en-US" dirty="0">
                <a:latin typeface="+mn-ea"/>
                <a:ea typeface="+mn-ea"/>
              </a:rPr>
              <a:t>汇总页</a:t>
            </a:r>
            <a:endParaRPr lang="zh-CN" altLang="en-US" dirty="0"/>
          </a:p>
        </p:txBody>
      </p:sp>
      <p:sp>
        <p:nvSpPr>
          <p:cNvPr id="8" name="文本占位符 7">
            <a:extLst>
              <a:ext uri="{FF2B5EF4-FFF2-40B4-BE49-F238E27FC236}">
                <a16:creationId xmlns:a16="http://schemas.microsoft.com/office/drawing/2014/main" id="{E8FD316F-85E7-8B1B-E25E-ADDA7BFFF94E}"/>
              </a:ext>
            </a:extLst>
          </p:cNvPr>
          <p:cNvSpPr>
            <a:spLocks noGrp="1"/>
          </p:cNvSpPr>
          <p:nvPr>
            <p:ph type="body" sz="quarter" idx="22"/>
          </p:nvPr>
        </p:nvSpPr>
        <p:spPr/>
        <p:txBody>
          <a:bodyPr/>
          <a:lstStyle/>
          <a:p>
            <a:endParaRPr lang="zh-CN" altLang="en-US"/>
          </a:p>
        </p:txBody>
      </p:sp>
      <p:sp>
        <p:nvSpPr>
          <p:cNvPr id="5" name="灯片编号占位符 4">
            <a:extLst>
              <a:ext uri="{FF2B5EF4-FFF2-40B4-BE49-F238E27FC236}">
                <a16:creationId xmlns:a16="http://schemas.microsoft.com/office/drawing/2014/main" id="{52EF2D5D-425D-5983-2561-DFD5720E3D6F}"/>
              </a:ext>
            </a:extLst>
          </p:cNvPr>
          <p:cNvSpPr>
            <a:spLocks noGrp="1"/>
          </p:cNvSpPr>
          <p:nvPr>
            <p:ph type="sldNum" sz="quarter" idx="4"/>
          </p:nvPr>
        </p:nvSpPr>
        <p:spPr/>
        <p:txBody>
          <a:bodyPr/>
          <a:lstStyle/>
          <a:p>
            <a:fld id="{04824671-56D2-5D44-834F-250C3DA554E9}" type="slidenum">
              <a:rPr lang="zh-CN" altLang="en-US" smtClean="0"/>
              <a:t>33</a:t>
            </a:fld>
            <a:endParaRPr lang="zh-CN" altLang="en-US" dirty="0"/>
          </a:p>
        </p:txBody>
      </p:sp>
      <p:graphicFrame>
        <p:nvGraphicFramePr>
          <p:cNvPr id="2" name="表格 1">
            <a:extLst>
              <a:ext uri="{FF2B5EF4-FFF2-40B4-BE49-F238E27FC236}">
                <a16:creationId xmlns:a16="http://schemas.microsoft.com/office/drawing/2014/main" id="{1313A575-3968-A2A5-AF4F-B110F907F8CA}"/>
              </a:ext>
            </a:extLst>
          </p:cNvPr>
          <p:cNvGraphicFramePr>
            <a:graphicFrameLocks noGrp="1"/>
          </p:cNvGraphicFramePr>
          <p:nvPr>
            <p:extLst>
              <p:ext uri="{D42A27DB-BD31-4B8C-83A1-F6EECF244321}">
                <p14:modId xmlns:p14="http://schemas.microsoft.com/office/powerpoint/2010/main" val="921787224"/>
              </p:ext>
            </p:extLst>
          </p:nvPr>
        </p:nvGraphicFramePr>
        <p:xfrm>
          <a:off x="245673" y="1916113"/>
          <a:ext cx="11843658" cy="3990347"/>
        </p:xfrm>
        <a:graphic>
          <a:graphicData uri="http://schemas.openxmlformats.org/drawingml/2006/table">
            <a:tbl>
              <a:tblPr>
                <a:tableStyleId>{5C22544A-7EE6-4342-B048-85BDC9FD1C3A}</a:tableStyleId>
              </a:tblPr>
              <a:tblGrid>
                <a:gridCol w="2239431">
                  <a:extLst>
                    <a:ext uri="{9D8B030D-6E8A-4147-A177-3AD203B41FA5}">
                      <a16:colId xmlns:a16="http://schemas.microsoft.com/office/drawing/2014/main" val="2133488044"/>
                    </a:ext>
                  </a:extLst>
                </a:gridCol>
                <a:gridCol w="9604227">
                  <a:extLst>
                    <a:ext uri="{9D8B030D-6E8A-4147-A177-3AD203B41FA5}">
                      <a16:colId xmlns:a16="http://schemas.microsoft.com/office/drawing/2014/main" val="208597903"/>
                    </a:ext>
                  </a:extLst>
                </a:gridCol>
              </a:tblGrid>
              <a:tr h="3990347">
                <a:tc>
                  <a:txBody>
                    <a:bodyPr/>
                    <a:lstStyle/>
                    <a:p>
                      <a:pPr algn="l" fontAlgn="ctr"/>
                      <a:r>
                        <a:rPr lang="zh-CN" altLang="en-US" sz="1400" b="1" i="0" u="none" strike="noStrike" dirty="0">
                          <a:solidFill>
                            <a:srgbClr val="000000"/>
                          </a:solidFill>
                          <a:effectLst/>
                          <a:latin typeface="+mn-ea"/>
                          <a:ea typeface="+mn-ea"/>
                        </a:rPr>
                        <a:t>销售战胜战败</a:t>
                      </a:r>
                    </a:p>
                  </a:txBody>
                  <a:tcPr marL="72000" marR="6350" marT="6350" marB="0" anchor="ctr">
                    <a:solidFill>
                      <a:schemeClr val="accent6">
                        <a:lumMod val="20000"/>
                        <a:lumOff val="80000"/>
                      </a:schemeClr>
                    </a:solidFill>
                  </a:tcPr>
                </a:tc>
                <a:tc>
                  <a:txBody>
                    <a:bodyPr/>
                    <a:lstStyle/>
                    <a:p>
                      <a:pPr marL="171450" indent="-171450" algn="l" fontAlgn="ctr">
                        <a:lnSpc>
                          <a:spcPct val="200000"/>
                        </a:lnSpc>
                        <a:buFont typeface="Arial" panose="020B0604020202020204" pitchFamily="34" charset="0"/>
                        <a:buChar char="•"/>
                      </a:pPr>
                      <a:r>
                        <a:rPr lang="zh-CN" altLang="en-US" sz="1400" b="0" i="0" u="none" strike="noStrike" dirty="0">
                          <a:solidFill>
                            <a:srgbClr val="000000"/>
                          </a:solidFill>
                          <a:effectLst/>
                          <a:latin typeface="+mn-ea"/>
                          <a:ea typeface="+mn-ea"/>
                        </a:rPr>
                        <a:t>战胜车主对某品牌服务体验满意度远高于特斯拉，极氪；理想、小鹏车主对某品牌服务满意度远低于战败所购品牌服务</a:t>
                      </a:r>
                      <a:br>
                        <a:rPr lang="zh-CN" altLang="en-US" sz="1400" b="0" i="0" u="none" strike="noStrike" dirty="0">
                          <a:solidFill>
                            <a:srgbClr val="000000"/>
                          </a:solidFill>
                          <a:effectLst/>
                          <a:latin typeface="+mn-ea"/>
                          <a:ea typeface="+mn-ea"/>
                        </a:rPr>
                      </a:br>
                      <a:r>
                        <a:rPr lang="zh-CN" altLang="en-US" sz="1400" b="0" i="0" u="none" strike="noStrike" dirty="0">
                          <a:solidFill>
                            <a:srgbClr val="000000"/>
                          </a:solidFill>
                          <a:effectLst/>
                          <a:latin typeface="+mn-ea"/>
                          <a:ea typeface="+mn-ea"/>
                        </a:rPr>
                        <a:t>战胜车主对某品牌到店接待评价远高于对竞品评价；</a:t>
                      </a:r>
                      <a:endParaRPr lang="en-US" altLang="zh-CN" sz="1400" b="0" i="0" u="none" strike="noStrike" dirty="0">
                        <a:solidFill>
                          <a:srgbClr val="000000"/>
                        </a:solidFill>
                        <a:effectLst/>
                        <a:latin typeface="+mn-ea"/>
                        <a:ea typeface="+mn-ea"/>
                      </a:endParaRPr>
                    </a:p>
                    <a:p>
                      <a:pPr marL="171450" indent="-171450" algn="l" fontAlgn="ctr">
                        <a:lnSpc>
                          <a:spcPct val="200000"/>
                        </a:lnSpc>
                        <a:buFont typeface="Arial" panose="020B0604020202020204" pitchFamily="34" charset="0"/>
                        <a:buChar char="•"/>
                      </a:pPr>
                      <a:r>
                        <a:rPr lang="zh-CN" altLang="en-US" sz="1400" b="0" i="0" u="none" strike="noStrike" dirty="0">
                          <a:solidFill>
                            <a:srgbClr val="000000"/>
                          </a:solidFill>
                          <a:effectLst/>
                          <a:latin typeface="+mn-ea"/>
                          <a:ea typeface="+mn-ea"/>
                        </a:rPr>
                        <a:t>战败车主入店前没有咨询某品牌原因主要是担心“销售人员骚扰和信息泄露”；除产品原因外，没有试乘试驾主要是“排队等待时间”，没有洽谈下定主要是“没有优惠政策”；</a:t>
                      </a:r>
                      <a:endParaRPr lang="en-US" altLang="zh-CN" sz="1400" b="0" i="0" u="none" strike="noStrike" dirty="0">
                        <a:solidFill>
                          <a:srgbClr val="000000"/>
                        </a:solidFill>
                        <a:effectLst/>
                        <a:latin typeface="+mn-ea"/>
                        <a:ea typeface="+mn-ea"/>
                      </a:endParaRPr>
                    </a:p>
                    <a:p>
                      <a:pPr marL="171450" indent="-171450" algn="l" fontAlgn="ctr">
                        <a:lnSpc>
                          <a:spcPct val="200000"/>
                        </a:lnSpc>
                        <a:buFont typeface="Arial" panose="020B0604020202020204" pitchFamily="34" charset="0"/>
                        <a:buChar char="•"/>
                      </a:pPr>
                      <a:r>
                        <a:rPr lang="zh-CN" altLang="en-US" sz="1400" b="0" i="0" u="none" strike="noStrike" dirty="0">
                          <a:solidFill>
                            <a:srgbClr val="000000"/>
                          </a:solidFill>
                          <a:effectLst/>
                          <a:latin typeface="+mn-ea"/>
                          <a:ea typeface="+mn-ea"/>
                        </a:rPr>
                        <a:t>导致战败车主不购买某品牌最重要环节是“店内看车”和“试乘试驾”；</a:t>
                      </a:r>
                      <a:endParaRPr lang="en-US" altLang="zh-CN" sz="1400" b="0" i="0" u="none" strike="noStrike" dirty="0">
                        <a:solidFill>
                          <a:srgbClr val="000000"/>
                        </a:solidFill>
                        <a:effectLst/>
                        <a:latin typeface="+mn-ea"/>
                        <a:ea typeface="+mn-ea"/>
                      </a:endParaRPr>
                    </a:p>
                    <a:p>
                      <a:pPr marL="171450" indent="-171450" algn="l" fontAlgn="ctr">
                        <a:lnSpc>
                          <a:spcPct val="200000"/>
                        </a:lnSpc>
                        <a:buFont typeface="Arial" panose="020B0604020202020204" pitchFamily="34" charset="0"/>
                        <a:buChar char="•"/>
                      </a:pPr>
                      <a:r>
                        <a:rPr lang="zh-CN" altLang="en-US" sz="1400" b="0" i="0" u="none" strike="noStrike" dirty="0">
                          <a:solidFill>
                            <a:srgbClr val="000000"/>
                          </a:solidFill>
                          <a:effectLst/>
                          <a:latin typeface="+mn-ea"/>
                          <a:ea typeface="+mn-ea"/>
                        </a:rPr>
                        <a:t>当让战败车主重新选择某品牌，最关键影响因素是“品牌成熟可靠和试乘试驾体验”，其次是“专业度和服务态度”</a:t>
                      </a:r>
                    </a:p>
                  </a:txBody>
                  <a:tcPr marL="108000" marR="6350" marT="6350" marB="0" anchor="ctr">
                    <a:solidFill>
                      <a:schemeClr val="accent6">
                        <a:lumMod val="20000"/>
                        <a:lumOff val="80000"/>
                      </a:schemeClr>
                    </a:solidFill>
                  </a:tcPr>
                </a:tc>
                <a:extLst>
                  <a:ext uri="{0D108BD9-81ED-4DB2-BD59-A6C34878D82A}">
                    <a16:rowId xmlns:a16="http://schemas.microsoft.com/office/drawing/2014/main" val="635080515"/>
                  </a:ext>
                </a:extLst>
              </a:tr>
            </a:tbl>
          </a:graphicData>
        </a:graphic>
      </p:graphicFrame>
    </p:spTree>
    <p:extLst>
      <p:ext uri="{BB962C8B-B14F-4D97-AF65-F5344CB8AC3E}">
        <p14:creationId xmlns:p14="http://schemas.microsoft.com/office/powerpoint/2010/main" val="21790222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内容占位符 5">
            <a:extLst>
              <a:ext uri="{FF2B5EF4-FFF2-40B4-BE49-F238E27FC236}">
                <a16:creationId xmlns:a16="http://schemas.microsoft.com/office/drawing/2014/main" id="{5D1F67F4-8B18-F367-B05C-7A94AAE4A660}"/>
              </a:ext>
            </a:extLst>
          </p:cNvPr>
          <p:cNvGraphicFramePr>
            <a:graphicFrameLocks/>
          </p:cNvGraphicFramePr>
          <p:nvPr>
            <p:extLst>
              <p:ext uri="{D42A27DB-BD31-4B8C-83A1-F6EECF244321}">
                <p14:modId xmlns:p14="http://schemas.microsoft.com/office/powerpoint/2010/main" val="2505576383"/>
              </p:ext>
            </p:extLst>
          </p:nvPr>
        </p:nvGraphicFramePr>
        <p:xfrm>
          <a:off x="837398" y="2628772"/>
          <a:ext cx="5082138" cy="2652951"/>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9" name="内容占位符 5">
            <a:extLst>
              <a:ext uri="{FF2B5EF4-FFF2-40B4-BE49-F238E27FC236}">
                <a16:creationId xmlns:a16="http://schemas.microsoft.com/office/drawing/2014/main" id="{7D61B553-E6E1-170A-F61F-2616F6B78E78}"/>
              </a:ext>
            </a:extLst>
          </p:cNvPr>
          <p:cNvGraphicFramePr>
            <a:graphicFrameLocks/>
          </p:cNvGraphicFramePr>
          <p:nvPr>
            <p:extLst>
              <p:ext uri="{D42A27DB-BD31-4B8C-83A1-F6EECF244321}">
                <p14:modId xmlns:p14="http://schemas.microsoft.com/office/powerpoint/2010/main" val="2062432143"/>
              </p:ext>
            </p:extLst>
          </p:nvPr>
        </p:nvGraphicFramePr>
        <p:xfrm>
          <a:off x="6854378" y="2628772"/>
          <a:ext cx="5076000" cy="2652951"/>
        </p:xfrm>
        <a:graphic>
          <a:graphicData uri="http://schemas.openxmlformats.org/drawingml/2006/chart">
            <c:chart xmlns:c="http://schemas.openxmlformats.org/drawingml/2006/chart" xmlns:r="http://schemas.openxmlformats.org/officeDocument/2006/relationships" r:id="rId7"/>
          </a:graphicData>
        </a:graphic>
      </p:graphicFrame>
      <p:sp>
        <p:nvSpPr>
          <p:cNvPr id="3" name="文本占位符 2"/>
          <p:cNvSpPr>
            <a:spLocks noGrp="1"/>
          </p:cNvSpPr>
          <p:nvPr>
            <p:ph type="body" sz="quarter" idx="21"/>
          </p:nvPr>
        </p:nvSpPr>
        <p:spPr/>
        <p:txBody>
          <a:bodyPr/>
          <a:lstStyle/>
          <a:p>
            <a:r>
              <a:rPr kumimoji="1" lang="en-US" altLang="zh-CN" dirty="0">
                <a:latin typeface="+mn-ea"/>
                <a:ea typeface="+mn-ea"/>
              </a:rPr>
              <a:t>2.3 </a:t>
            </a:r>
            <a:r>
              <a:rPr kumimoji="1" lang="zh-CN" altLang="en-US" dirty="0">
                <a:latin typeface="+mn-ea"/>
                <a:ea typeface="+mn-ea"/>
              </a:rPr>
              <a:t>战胜战败分析 </a:t>
            </a:r>
            <a:r>
              <a:rPr kumimoji="1" lang="en-US" altLang="zh-CN" dirty="0">
                <a:latin typeface="+mn-ea"/>
                <a:ea typeface="+mn-ea"/>
              </a:rPr>
              <a:t>– </a:t>
            </a:r>
            <a:r>
              <a:rPr kumimoji="1" lang="zh-CN" altLang="en-US" dirty="0">
                <a:latin typeface="+mn-ea"/>
                <a:ea typeface="+mn-ea"/>
              </a:rPr>
              <a:t>得分差距汇总</a:t>
            </a:r>
          </a:p>
        </p:txBody>
      </p:sp>
      <p:sp>
        <p:nvSpPr>
          <p:cNvPr id="17" name="文本占位符 16"/>
          <p:cNvSpPr>
            <a:spLocks noGrp="1"/>
          </p:cNvSpPr>
          <p:nvPr>
            <p:ph type="body" sz="quarter" idx="22"/>
          </p:nvPr>
        </p:nvSpPr>
        <p:spPr/>
        <p:txBody>
          <a:bodyPr/>
          <a:lstStyle/>
          <a:p>
            <a:pPr>
              <a:spcBef>
                <a:spcPts val="0"/>
              </a:spcBef>
            </a:pPr>
            <a:r>
              <a:rPr lang="zh-CN" altLang="en-US" dirty="0">
                <a:latin typeface="+mn-ea"/>
                <a:ea typeface="+mn-ea"/>
              </a:rPr>
              <a:t>两两对比时，</a:t>
            </a:r>
            <a:r>
              <a:rPr lang="zh-CN" altLang="en-US" dirty="0">
                <a:solidFill>
                  <a:schemeClr val="accent2"/>
                </a:solidFill>
                <a:latin typeface="+mn-ea"/>
                <a:ea typeface="+mn-ea"/>
              </a:rPr>
              <a:t>战胜车主对某品牌</a:t>
            </a:r>
            <a:r>
              <a:rPr lang="zh-CN" altLang="en-US" dirty="0">
                <a:latin typeface="+mn-ea"/>
                <a:ea typeface="+mn-ea"/>
              </a:rPr>
              <a:t>服务体验满意度远</a:t>
            </a:r>
            <a:r>
              <a:rPr lang="zh-CN" altLang="en-US" dirty="0">
                <a:solidFill>
                  <a:srgbClr val="4B8D56"/>
                </a:solidFill>
                <a:latin typeface="+mn-ea"/>
                <a:ea typeface="+mn-ea"/>
              </a:rPr>
              <a:t>高于</a:t>
            </a:r>
            <a:r>
              <a:rPr lang="zh-CN" altLang="en-US" dirty="0">
                <a:latin typeface="+mn-ea"/>
                <a:ea typeface="+mn-ea"/>
              </a:rPr>
              <a:t>特斯拉，极氪</a:t>
            </a:r>
            <a:endParaRPr lang="en-US" altLang="zh-CN" dirty="0">
              <a:latin typeface="+mn-ea"/>
              <a:ea typeface="+mn-ea"/>
            </a:endParaRPr>
          </a:p>
          <a:p>
            <a:pPr>
              <a:spcBef>
                <a:spcPts val="0"/>
              </a:spcBef>
            </a:pPr>
            <a:r>
              <a:rPr lang="zh-CN" altLang="en-US" dirty="0">
                <a:latin typeface="+mn-ea"/>
                <a:ea typeface="+mn-ea"/>
              </a:rPr>
              <a:t>理想、小鹏车主对某品牌服务满意度远</a:t>
            </a:r>
            <a:r>
              <a:rPr lang="zh-CN" altLang="en-US" dirty="0">
                <a:solidFill>
                  <a:srgbClr val="FF0000"/>
                </a:solidFill>
                <a:latin typeface="+mn-ea"/>
                <a:ea typeface="+mn-ea"/>
              </a:rPr>
              <a:t>低于</a:t>
            </a:r>
            <a:r>
              <a:rPr lang="zh-CN" altLang="en-US" dirty="0">
                <a:solidFill>
                  <a:schemeClr val="accent2"/>
                </a:solidFill>
                <a:latin typeface="+mn-ea"/>
                <a:ea typeface="+mn-ea"/>
              </a:rPr>
              <a:t>战败所购品牌服务</a:t>
            </a:r>
          </a:p>
        </p:txBody>
      </p:sp>
      <p:sp>
        <p:nvSpPr>
          <p:cNvPr id="63" name="灯片编号占位符 62"/>
          <p:cNvSpPr>
            <a:spLocks noGrp="1"/>
          </p:cNvSpPr>
          <p:nvPr>
            <p:ph type="sldNum" sz="quarter" idx="4"/>
            <p:custDataLst>
              <p:tags r:id="rId1"/>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E00B666-AD48-5640-8D08-2A4A6036569F}" type="slidenum">
              <a:rPr kumimoji="0" lang="zh-CN" altLang="en-US" sz="800" b="0" i="0" u="none" strike="noStrike" kern="1200" cap="none" spc="0" normalizeH="0" baseline="0" noProof="0" smtClean="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rPr>
              <a:t>34</a:t>
            </a:fld>
            <a:endParaRPr kumimoji="0" lang="zh-CN" altLang="en-US" sz="800" b="0" i="0" u="none" strike="noStrike" kern="1200" cap="none" spc="0" normalizeH="0" baseline="0" noProof="0" dirty="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endParaRPr>
          </a:p>
        </p:txBody>
      </p:sp>
      <p:sp>
        <p:nvSpPr>
          <p:cNvPr id="5" name="文本框 4">
            <a:extLst>
              <a:ext uri="{FF2B5EF4-FFF2-40B4-BE49-F238E27FC236}">
                <a16:creationId xmlns:a16="http://schemas.microsoft.com/office/drawing/2014/main" id="{0C250CEB-4938-2FB2-81EF-0F9D252143EE}"/>
              </a:ext>
            </a:extLst>
          </p:cNvPr>
          <p:cNvSpPr txBox="1"/>
          <p:nvPr/>
        </p:nvSpPr>
        <p:spPr>
          <a:xfrm>
            <a:off x="272404" y="2059197"/>
            <a:ext cx="5652000" cy="338554"/>
          </a:xfrm>
          <a:prstGeom prst="rect">
            <a:avLst/>
          </a:prstGeom>
          <a:solidFill>
            <a:srgbClr val="1B9538"/>
          </a:solidFill>
        </p:spPr>
        <p:txBody>
          <a:bodyPr wrap="square" rtlCol="0">
            <a:spAutoFit/>
          </a:bodyPr>
          <a:lstStyle/>
          <a:p>
            <a:pPr algn="ctr"/>
            <a:r>
              <a:rPr lang="zh-CN" altLang="en-US" sz="1600" b="1" dirty="0">
                <a:solidFill>
                  <a:schemeClr val="bg1"/>
                </a:solidFill>
                <a:latin typeface="微软雅黑" panose="020B0503020204020204" pitchFamily="34" charset="-122"/>
                <a:ea typeface="Alibaba PuHuiTi 2.0 55 Regular"/>
              </a:rPr>
              <a:t>某品牌战胜得分差距</a:t>
            </a:r>
          </a:p>
        </p:txBody>
      </p:sp>
      <p:sp>
        <p:nvSpPr>
          <p:cNvPr id="6" name="文本框 5">
            <a:extLst>
              <a:ext uri="{FF2B5EF4-FFF2-40B4-BE49-F238E27FC236}">
                <a16:creationId xmlns:a16="http://schemas.microsoft.com/office/drawing/2014/main" id="{A840E563-9BCF-DED8-DD37-B2EB7945CEDB}"/>
              </a:ext>
            </a:extLst>
          </p:cNvPr>
          <p:cNvSpPr txBox="1"/>
          <p:nvPr/>
        </p:nvSpPr>
        <p:spPr>
          <a:xfrm>
            <a:off x="6281766" y="2059197"/>
            <a:ext cx="5652000" cy="338554"/>
          </a:xfrm>
          <a:prstGeom prst="rect">
            <a:avLst/>
          </a:prstGeom>
          <a:solidFill>
            <a:srgbClr val="1B9538"/>
          </a:solidFill>
        </p:spPr>
        <p:txBody>
          <a:bodyPr wrap="square" rtlCol="0">
            <a:spAutoFit/>
          </a:bodyPr>
          <a:lstStyle/>
          <a:p>
            <a:pPr algn="ctr"/>
            <a:r>
              <a:rPr lang="zh-CN" altLang="en-US" sz="1600" b="1" dirty="0">
                <a:solidFill>
                  <a:schemeClr val="bg1"/>
                </a:solidFill>
                <a:latin typeface="微软雅黑" panose="020B0503020204020204" pitchFamily="34" charset="-122"/>
                <a:ea typeface="Alibaba PuHuiTi 2.0 55 Regular"/>
              </a:rPr>
              <a:t>某品牌战败得分差距</a:t>
            </a:r>
          </a:p>
        </p:txBody>
      </p:sp>
      <p:graphicFrame>
        <p:nvGraphicFramePr>
          <p:cNvPr id="7" name="表格 7">
            <a:extLst>
              <a:ext uri="{FF2B5EF4-FFF2-40B4-BE49-F238E27FC236}">
                <a16:creationId xmlns:a16="http://schemas.microsoft.com/office/drawing/2014/main" id="{E6A8BBA3-6115-0EE0-9D93-DDD14AE59254}"/>
              </a:ext>
            </a:extLst>
          </p:cNvPr>
          <p:cNvGraphicFramePr>
            <a:graphicFrameLocks noGrp="1"/>
          </p:cNvGraphicFramePr>
          <p:nvPr>
            <p:extLst>
              <p:ext uri="{D42A27DB-BD31-4B8C-83A1-F6EECF244321}">
                <p14:modId xmlns:p14="http://schemas.microsoft.com/office/powerpoint/2010/main" val="3899966312"/>
              </p:ext>
            </p:extLst>
          </p:nvPr>
        </p:nvGraphicFramePr>
        <p:xfrm>
          <a:off x="272405" y="5105429"/>
          <a:ext cx="5647131" cy="1025862"/>
        </p:xfrm>
        <a:graphic>
          <a:graphicData uri="http://schemas.openxmlformats.org/drawingml/2006/table">
            <a:tbl>
              <a:tblPr firstRow="1" bandRow="1">
                <a:tableStyleId>{5940675A-B579-460E-94D1-54222C63F5DA}</a:tableStyleId>
              </a:tblPr>
              <a:tblGrid>
                <a:gridCol w="627459">
                  <a:extLst>
                    <a:ext uri="{9D8B030D-6E8A-4147-A177-3AD203B41FA5}">
                      <a16:colId xmlns:a16="http://schemas.microsoft.com/office/drawing/2014/main" val="2301742660"/>
                    </a:ext>
                  </a:extLst>
                </a:gridCol>
                <a:gridCol w="627459">
                  <a:extLst>
                    <a:ext uri="{9D8B030D-6E8A-4147-A177-3AD203B41FA5}">
                      <a16:colId xmlns:a16="http://schemas.microsoft.com/office/drawing/2014/main" val="20001"/>
                    </a:ext>
                  </a:extLst>
                </a:gridCol>
                <a:gridCol w="627459">
                  <a:extLst>
                    <a:ext uri="{9D8B030D-6E8A-4147-A177-3AD203B41FA5}">
                      <a16:colId xmlns:a16="http://schemas.microsoft.com/office/drawing/2014/main" val="3685624511"/>
                    </a:ext>
                  </a:extLst>
                </a:gridCol>
                <a:gridCol w="627459">
                  <a:extLst>
                    <a:ext uri="{9D8B030D-6E8A-4147-A177-3AD203B41FA5}">
                      <a16:colId xmlns:a16="http://schemas.microsoft.com/office/drawing/2014/main" val="1951038261"/>
                    </a:ext>
                  </a:extLst>
                </a:gridCol>
                <a:gridCol w="627459">
                  <a:extLst>
                    <a:ext uri="{9D8B030D-6E8A-4147-A177-3AD203B41FA5}">
                      <a16:colId xmlns:a16="http://schemas.microsoft.com/office/drawing/2014/main" val="3293830224"/>
                    </a:ext>
                  </a:extLst>
                </a:gridCol>
                <a:gridCol w="627459">
                  <a:extLst>
                    <a:ext uri="{9D8B030D-6E8A-4147-A177-3AD203B41FA5}">
                      <a16:colId xmlns:a16="http://schemas.microsoft.com/office/drawing/2014/main" val="841584505"/>
                    </a:ext>
                  </a:extLst>
                </a:gridCol>
                <a:gridCol w="627459">
                  <a:extLst>
                    <a:ext uri="{9D8B030D-6E8A-4147-A177-3AD203B41FA5}">
                      <a16:colId xmlns:a16="http://schemas.microsoft.com/office/drawing/2014/main" val="1510639366"/>
                    </a:ext>
                  </a:extLst>
                </a:gridCol>
                <a:gridCol w="627459">
                  <a:extLst>
                    <a:ext uri="{9D8B030D-6E8A-4147-A177-3AD203B41FA5}">
                      <a16:colId xmlns:a16="http://schemas.microsoft.com/office/drawing/2014/main" val="112141770"/>
                    </a:ext>
                  </a:extLst>
                </a:gridCol>
                <a:gridCol w="627459">
                  <a:extLst>
                    <a:ext uri="{9D8B030D-6E8A-4147-A177-3AD203B41FA5}">
                      <a16:colId xmlns:a16="http://schemas.microsoft.com/office/drawing/2014/main" val="4073597746"/>
                    </a:ext>
                  </a:extLst>
                </a:gridCol>
              </a:tblGrid>
              <a:tr h="374748">
                <a:tc>
                  <a:txBody>
                    <a:bodyPr/>
                    <a:lstStyle/>
                    <a:p>
                      <a:pPr algn="ctr"/>
                      <a:endParaRPr lang="zh-CN" altLang="en-US" sz="900" b="0" kern="1200" dirty="0">
                        <a:solidFill>
                          <a:schemeClr val="tx1">
                            <a:lumMod val="75000"/>
                            <a:lumOff val="25000"/>
                          </a:schemeClr>
                        </a:solidFill>
                        <a:latin typeface="+mj-ea"/>
                        <a:ea typeface="+mj-ea"/>
                        <a:cs typeface="+mn-cs"/>
                      </a:endParaRP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900" b="0" i="0" u="none" strike="noStrike" dirty="0">
                          <a:solidFill>
                            <a:srgbClr val="000000"/>
                          </a:solidFill>
                          <a:effectLst/>
                          <a:latin typeface="+mj-ea"/>
                          <a:ea typeface="+mj-ea"/>
                        </a:rPr>
                        <a:t>总体</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900" b="0" i="0" u="none" strike="noStrike" dirty="0">
                          <a:solidFill>
                            <a:srgbClr val="000000"/>
                          </a:solidFill>
                          <a:effectLst/>
                          <a:latin typeface="+mj-ea"/>
                          <a:ea typeface="+mj-ea"/>
                        </a:rPr>
                        <a:t>某品牌</a:t>
                      </a:r>
                      <a:r>
                        <a:rPr lang="en-US" altLang="zh-CN" sz="900" b="0" i="0" u="none" strike="noStrike" dirty="0">
                          <a:solidFill>
                            <a:srgbClr val="000000"/>
                          </a:solidFill>
                          <a:effectLst/>
                          <a:latin typeface="+mj-ea"/>
                          <a:ea typeface="+mj-ea"/>
                        </a:rPr>
                        <a:t>vs</a:t>
                      </a:r>
                    </a:p>
                    <a:p>
                      <a:pPr algn="ctr" fontAlgn="ctr"/>
                      <a:r>
                        <a:rPr lang="zh-CN" altLang="en-US" sz="900" b="0" i="0" u="none" strike="noStrike" dirty="0">
                          <a:solidFill>
                            <a:srgbClr val="000000"/>
                          </a:solidFill>
                          <a:effectLst/>
                          <a:latin typeface="+mj-ea"/>
                          <a:ea typeface="+mj-ea"/>
                        </a:rPr>
                        <a:t>理想</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900" b="0" i="0" u="none" strike="noStrike" dirty="0">
                          <a:solidFill>
                            <a:srgbClr val="000000"/>
                          </a:solidFill>
                          <a:effectLst/>
                          <a:latin typeface="+mj-ea"/>
                          <a:ea typeface="+mj-ea"/>
                        </a:rPr>
                        <a:t>某品牌</a:t>
                      </a:r>
                      <a:r>
                        <a:rPr lang="en-US" altLang="zh-CN" sz="900" b="0" i="0" u="none" strike="noStrike" dirty="0">
                          <a:solidFill>
                            <a:srgbClr val="000000"/>
                          </a:solidFill>
                          <a:effectLst/>
                          <a:latin typeface="+mj-ea"/>
                          <a:ea typeface="+mj-ea"/>
                        </a:rPr>
                        <a:t>vs</a:t>
                      </a:r>
                    </a:p>
                    <a:p>
                      <a:pPr algn="ctr" fontAlgn="ctr"/>
                      <a:r>
                        <a:rPr lang="zh-CN" altLang="en-US" sz="900" b="0" i="0" u="none" strike="noStrike" dirty="0">
                          <a:solidFill>
                            <a:srgbClr val="000000"/>
                          </a:solidFill>
                          <a:effectLst/>
                          <a:latin typeface="+mj-ea"/>
                          <a:ea typeface="+mj-ea"/>
                        </a:rPr>
                        <a:t>蔚来</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900" b="0" i="0" u="none" strike="noStrike" dirty="0">
                          <a:solidFill>
                            <a:srgbClr val="000000"/>
                          </a:solidFill>
                          <a:effectLst/>
                          <a:latin typeface="+mj-ea"/>
                          <a:ea typeface="+mj-ea"/>
                        </a:rPr>
                        <a:t>某品牌</a:t>
                      </a:r>
                      <a:r>
                        <a:rPr lang="en-US" altLang="zh-CN" sz="900" b="0" i="0" u="none" strike="noStrike" dirty="0">
                          <a:solidFill>
                            <a:srgbClr val="000000"/>
                          </a:solidFill>
                          <a:effectLst/>
                          <a:latin typeface="+mj-ea"/>
                          <a:ea typeface="+mj-ea"/>
                        </a:rPr>
                        <a:t>vs</a:t>
                      </a:r>
                    </a:p>
                    <a:p>
                      <a:pPr algn="ctr" fontAlgn="ctr"/>
                      <a:r>
                        <a:rPr lang="zh-CN" altLang="en-US" sz="900" b="0" i="0" u="none" strike="noStrike" dirty="0">
                          <a:solidFill>
                            <a:srgbClr val="000000"/>
                          </a:solidFill>
                          <a:effectLst/>
                          <a:latin typeface="+mj-ea"/>
                          <a:ea typeface="+mj-ea"/>
                        </a:rPr>
                        <a:t>问界</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900" b="0" i="0" u="none" strike="noStrike" dirty="0">
                          <a:solidFill>
                            <a:srgbClr val="000000"/>
                          </a:solidFill>
                          <a:effectLst/>
                          <a:latin typeface="+mj-ea"/>
                          <a:ea typeface="+mj-ea"/>
                        </a:rPr>
                        <a:t>某品牌</a:t>
                      </a:r>
                      <a:r>
                        <a:rPr lang="en-US" altLang="zh-CN" sz="900" b="0" i="0" u="none" strike="noStrike" dirty="0">
                          <a:solidFill>
                            <a:srgbClr val="000000"/>
                          </a:solidFill>
                          <a:effectLst/>
                          <a:latin typeface="+mj-ea"/>
                          <a:ea typeface="+mj-ea"/>
                        </a:rPr>
                        <a:t>vs</a:t>
                      </a:r>
                    </a:p>
                    <a:p>
                      <a:pPr algn="ctr" fontAlgn="ctr"/>
                      <a:r>
                        <a:rPr lang="zh-CN" altLang="en-US" sz="900" b="0" i="0" u="none" strike="noStrike" dirty="0">
                          <a:solidFill>
                            <a:srgbClr val="000000"/>
                          </a:solidFill>
                          <a:effectLst/>
                          <a:latin typeface="+mj-ea"/>
                          <a:ea typeface="+mj-ea"/>
                        </a:rPr>
                        <a:t>小鹏</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900" b="0" i="0" u="none" strike="noStrike" dirty="0">
                          <a:solidFill>
                            <a:srgbClr val="000000"/>
                          </a:solidFill>
                          <a:effectLst/>
                          <a:latin typeface="+mj-ea"/>
                          <a:ea typeface="+mj-ea"/>
                        </a:rPr>
                        <a:t>某品牌</a:t>
                      </a:r>
                      <a:r>
                        <a:rPr lang="en-US" altLang="zh-CN" sz="900" b="0" i="0" u="none" strike="noStrike" dirty="0">
                          <a:solidFill>
                            <a:srgbClr val="000000"/>
                          </a:solidFill>
                          <a:effectLst/>
                          <a:latin typeface="+mj-ea"/>
                          <a:ea typeface="+mj-ea"/>
                        </a:rPr>
                        <a:t>vs</a:t>
                      </a:r>
                    </a:p>
                    <a:p>
                      <a:pPr algn="ctr" fontAlgn="ctr"/>
                      <a:r>
                        <a:rPr lang="zh-CN" altLang="en-US" sz="900" b="0" i="0" u="none" strike="noStrike" dirty="0">
                          <a:solidFill>
                            <a:srgbClr val="000000"/>
                          </a:solidFill>
                          <a:effectLst/>
                          <a:latin typeface="+mj-ea"/>
                          <a:ea typeface="+mj-ea"/>
                        </a:rPr>
                        <a:t>极氪</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900" b="0" i="0" u="none" strike="noStrike" dirty="0">
                          <a:solidFill>
                            <a:srgbClr val="000000"/>
                          </a:solidFill>
                          <a:effectLst/>
                          <a:latin typeface="+mj-ea"/>
                          <a:ea typeface="+mj-ea"/>
                        </a:rPr>
                        <a:t>某品牌</a:t>
                      </a:r>
                      <a:r>
                        <a:rPr lang="en-US" altLang="zh-CN" sz="900" b="0" i="0" u="none" strike="noStrike" dirty="0">
                          <a:solidFill>
                            <a:srgbClr val="000000"/>
                          </a:solidFill>
                          <a:effectLst/>
                          <a:latin typeface="+mj-ea"/>
                          <a:ea typeface="+mj-ea"/>
                        </a:rPr>
                        <a:t>vs</a:t>
                      </a:r>
                    </a:p>
                    <a:p>
                      <a:pPr algn="ctr" fontAlgn="ctr"/>
                      <a:r>
                        <a:rPr lang="zh-CN" altLang="en-US" sz="900" b="0" i="0" u="none" strike="noStrike" dirty="0">
                          <a:solidFill>
                            <a:srgbClr val="000000"/>
                          </a:solidFill>
                          <a:effectLst/>
                          <a:latin typeface="+mj-ea"/>
                          <a:ea typeface="+mj-ea"/>
                        </a:rPr>
                        <a:t>特斯拉</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900" b="0" i="0" u="none" strike="noStrike" dirty="0">
                          <a:solidFill>
                            <a:srgbClr val="000000"/>
                          </a:solidFill>
                          <a:effectLst/>
                          <a:latin typeface="+mj-ea"/>
                          <a:ea typeface="+mj-ea"/>
                        </a:rPr>
                        <a:t>某品牌</a:t>
                      </a:r>
                      <a:r>
                        <a:rPr lang="en-US" altLang="zh-CN" sz="900" b="0" i="0" u="none" strike="noStrike" dirty="0">
                          <a:solidFill>
                            <a:srgbClr val="000000"/>
                          </a:solidFill>
                          <a:effectLst/>
                          <a:latin typeface="+mj-ea"/>
                          <a:ea typeface="+mj-ea"/>
                        </a:rPr>
                        <a:t>vs</a:t>
                      </a:r>
                    </a:p>
                    <a:p>
                      <a:pPr algn="ctr" fontAlgn="ctr"/>
                      <a:r>
                        <a:rPr lang="zh-CN" altLang="en-US" sz="900" b="0" i="0" u="none" strike="noStrike" dirty="0">
                          <a:solidFill>
                            <a:srgbClr val="000000"/>
                          </a:solidFill>
                          <a:effectLst/>
                          <a:latin typeface="+mj-ea"/>
                          <a:ea typeface="+mj-ea"/>
                        </a:rPr>
                        <a:t>智己</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2555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900" b="0" kern="1200" dirty="0">
                          <a:solidFill>
                            <a:schemeClr val="tx1">
                              <a:lumMod val="75000"/>
                              <a:lumOff val="25000"/>
                            </a:schemeClr>
                          </a:solidFill>
                          <a:latin typeface="+mj-ea"/>
                          <a:ea typeface="+mn-ea"/>
                          <a:cs typeface="+mn-cs"/>
                        </a:rPr>
                        <a:t>差值</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900" b="0" i="0" u="none" strike="noStrike" kern="1200" dirty="0">
                          <a:solidFill>
                            <a:srgbClr val="000000"/>
                          </a:solidFill>
                          <a:effectLst/>
                          <a:latin typeface="+mj-ea"/>
                          <a:ea typeface="+mj-ea"/>
                          <a:cs typeface="+mn-cs"/>
                        </a:rPr>
                        <a:t>67</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900" b="0" i="0" u="none" strike="noStrike" kern="1200" dirty="0">
                          <a:solidFill>
                            <a:srgbClr val="000000"/>
                          </a:solidFill>
                          <a:effectLst/>
                          <a:latin typeface="+mj-ea"/>
                          <a:ea typeface="+mj-ea"/>
                          <a:cs typeface="+mn-cs"/>
                        </a:rPr>
                        <a:t>47</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900" b="0" i="0" u="none" strike="noStrike" kern="1200" dirty="0">
                          <a:solidFill>
                            <a:srgbClr val="000000"/>
                          </a:solidFill>
                          <a:effectLst/>
                          <a:latin typeface="+mj-ea"/>
                          <a:ea typeface="+mj-ea"/>
                          <a:cs typeface="+mn-cs"/>
                        </a:rPr>
                        <a:t>43</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900" b="0" i="0" u="none" strike="noStrike" kern="1200" dirty="0">
                          <a:solidFill>
                            <a:srgbClr val="000000"/>
                          </a:solidFill>
                          <a:effectLst/>
                          <a:latin typeface="+mj-ea"/>
                          <a:ea typeface="+mj-ea"/>
                          <a:cs typeface="+mn-cs"/>
                        </a:rPr>
                        <a:t>62</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900" b="0" i="0" u="none" strike="noStrike" kern="1200" dirty="0">
                          <a:solidFill>
                            <a:srgbClr val="000000"/>
                          </a:solidFill>
                          <a:effectLst/>
                          <a:latin typeface="+mj-ea"/>
                          <a:ea typeface="+mj-ea"/>
                          <a:cs typeface="+mn-cs"/>
                        </a:rPr>
                        <a:t>52</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900" b="0" i="0" u="none" strike="noStrike" kern="1200" dirty="0">
                          <a:solidFill>
                            <a:srgbClr val="4B8D56"/>
                          </a:solidFill>
                          <a:effectLst/>
                          <a:latin typeface="+mj-ea"/>
                          <a:ea typeface="+mj-ea"/>
                          <a:cs typeface="+mn-cs"/>
                        </a:rPr>
                        <a:t>70</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900" b="0" i="0" u="none" strike="noStrike" kern="1200" dirty="0">
                          <a:solidFill>
                            <a:srgbClr val="4B8D56"/>
                          </a:solidFill>
                          <a:effectLst/>
                          <a:latin typeface="+mj-ea"/>
                          <a:ea typeface="+mj-ea"/>
                          <a:cs typeface="+mn-cs"/>
                        </a:rPr>
                        <a:t>126</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900" b="0" i="0" u="none" strike="noStrike" kern="1200" dirty="0">
                          <a:solidFill>
                            <a:srgbClr val="000000"/>
                          </a:solidFill>
                          <a:effectLst/>
                          <a:latin typeface="+mj-ea"/>
                          <a:ea typeface="+mj-ea"/>
                          <a:cs typeface="+mn-cs"/>
                        </a:rPr>
                        <a:t>94</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02588240"/>
                  </a:ext>
                </a:extLst>
              </a:tr>
              <a:tr h="32555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900" b="0" kern="1200" dirty="0">
                          <a:solidFill>
                            <a:schemeClr val="tx1">
                              <a:lumMod val="75000"/>
                              <a:lumOff val="25000"/>
                            </a:schemeClr>
                          </a:solidFill>
                          <a:latin typeface="+mj-ea"/>
                          <a:ea typeface="+mn-ea"/>
                          <a:cs typeface="+mn-cs"/>
                        </a:rPr>
                        <a:t>样本量</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900" b="0" i="0" u="none" strike="noStrike" dirty="0">
                          <a:solidFill>
                            <a:srgbClr val="000000"/>
                          </a:solidFill>
                          <a:effectLst/>
                          <a:latin typeface="+mj-ea"/>
                          <a:ea typeface="+mj-ea"/>
                        </a:rPr>
                        <a:t>271 </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900" b="0" i="0" u="none" strike="noStrike" dirty="0">
                          <a:solidFill>
                            <a:srgbClr val="000000"/>
                          </a:solidFill>
                          <a:effectLst/>
                          <a:latin typeface="+mj-ea"/>
                          <a:ea typeface="+mj-ea"/>
                        </a:rPr>
                        <a:t>23</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900" b="0" i="0" u="none" strike="noStrike" dirty="0">
                          <a:solidFill>
                            <a:srgbClr val="000000"/>
                          </a:solidFill>
                          <a:effectLst/>
                          <a:latin typeface="+mj-ea"/>
                          <a:ea typeface="+mj-ea"/>
                        </a:rPr>
                        <a:t>79</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900" b="0" i="0" u="none" strike="noStrike" dirty="0">
                          <a:solidFill>
                            <a:srgbClr val="000000"/>
                          </a:solidFill>
                          <a:effectLst/>
                          <a:latin typeface="+mj-ea"/>
                          <a:ea typeface="+mj-ea"/>
                        </a:rPr>
                        <a:t>41</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900" b="0" i="0" u="none" strike="noStrike" dirty="0">
                          <a:solidFill>
                            <a:srgbClr val="000000"/>
                          </a:solidFill>
                          <a:effectLst/>
                          <a:latin typeface="+mj-ea"/>
                          <a:ea typeface="+mj-ea"/>
                        </a:rPr>
                        <a:t>39</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900" b="0" i="0" u="none" strike="noStrike" dirty="0">
                          <a:solidFill>
                            <a:srgbClr val="000000"/>
                          </a:solidFill>
                          <a:effectLst/>
                          <a:latin typeface="+mj-ea"/>
                          <a:ea typeface="+mj-ea"/>
                        </a:rPr>
                        <a:t>29</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900" b="0" i="0" u="none" strike="noStrike" dirty="0">
                          <a:solidFill>
                            <a:srgbClr val="000000"/>
                          </a:solidFill>
                          <a:effectLst/>
                          <a:latin typeface="+mj-ea"/>
                          <a:ea typeface="+mj-ea"/>
                        </a:rPr>
                        <a:t>44</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900" b="0" i="0" u="none" strike="noStrike" dirty="0">
                          <a:solidFill>
                            <a:srgbClr val="000000"/>
                          </a:solidFill>
                          <a:effectLst/>
                          <a:latin typeface="+mj-ea"/>
                          <a:ea typeface="+mj-ea"/>
                        </a:rPr>
                        <a:t>16</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8128764"/>
                  </a:ext>
                </a:extLst>
              </a:tr>
            </a:tbl>
          </a:graphicData>
        </a:graphic>
      </p:graphicFrame>
      <p:graphicFrame>
        <p:nvGraphicFramePr>
          <p:cNvPr id="8" name="表格 7">
            <a:extLst>
              <a:ext uri="{FF2B5EF4-FFF2-40B4-BE49-F238E27FC236}">
                <a16:creationId xmlns:a16="http://schemas.microsoft.com/office/drawing/2014/main" id="{53AD6161-312B-1851-ACE9-0BDE33480904}"/>
              </a:ext>
            </a:extLst>
          </p:cNvPr>
          <p:cNvGraphicFramePr>
            <a:graphicFrameLocks noGrp="1"/>
          </p:cNvGraphicFramePr>
          <p:nvPr>
            <p:extLst>
              <p:ext uri="{D42A27DB-BD31-4B8C-83A1-F6EECF244321}">
                <p14:modId xmlns:p14="http://schemas.microsoft.com/office/powerpoint/2010/main" val="2801764045"/>
              </p:ext>
            </p:extLst>
          </p:nvPr>
        </p:nvGraphicFramePr>
        <p:xfrm>
          <a:off x="6281344" y="5102884"/>
          <a:ext cx="5647131" cy="1025862"/>
        </p:xfrm>
        <a:graphic>
          <a:graphicData uri="http://schemas.openxmlformats.org/drawingml/2006/table">
            <a:tbl>
              <a:tblPr firstRow="1" bandRow="1">
                <a:tableStyleId>{5940675A-B579-460E-94D1-54222C63F5DA}</a:tableStyleId>
              </a:tblPr>
              <a:tblGrid>
                <a:gridCol w="627459">
                  <a:extLst>
                    <a:ext uri="{9D8B030D-6E8A-4147-A177-3AD203B41FA5}">
                      <a16:colId xmlns:a16="http://schemas.microsoft.com/office/drawing/2014/main" val="2301742660"/>
                    </a:ext>
                  </a:extLst>
                </a:gridCol>
                <a:gridCol w="627459">
                  <a:extLst>
                    <a:ext uri="{9D8B030D-6E8A-4147-A177-3AD203B41FA5}">
                      <a16:colId xmlns:a16="http://schemas.microsoft.com/office/drawing/2014/main" val="20001"/>
                    </a:ext>
                  </a:extLst>
                </a:gridCol>
                <a:gridCol w="627459">
                  <a:extLst>
                    <a:ext uri="{9D8B030D-6E8A-4147-A177-3AD203B41FA5}">
                      <a16:colId xmlns:a16="http://schemas.microsoft.com/office/drawing/2014/main" val="3685624511"/>
                    </a:ext>
                  </a:extLst>
                </a:gridCol>
                <a:gridCol w="627459">
                  <a:extLst>
                    <a:ext uri="{9D8B030D-6E8A-4147-A177-3AD203B41FA5}">
                      <a16:colId xmlns:a16="http://schemas.microsoft.com/office/drawing/2014/main" val="1951038261"/>
                    </a:ext>
                  </a:extLst>
                </a:gridCol>
                <a:gridCol w="627459">
                  <a:extLst>
                    <a:ext uri="{9D8B030D-6E8A-4147-A177-3AD203B41FA5}">
                      <a16:colId xmlns:a16="http://schemas.microsoft.com/office/drawing/2014/main" val="3293830224"/>
                    </a:ext>
                  </a:extLst>
                </a:gridCol>
                <a:gridCol w="627459">
                  <a:extLst>
                    <a:ext uri="{9D8B030D-6E8A-4147-A177-3AD203B41FA5}">
                      <a16:colId xmlns:a16="http://schemas.microsoft.com/office/drawing/2014/main" val="841584505"/>
                    </a:ext>
                  </a:extLst>
                </a:gridCol>
                <a:gridCol w="627459">
                  <a:extLst>
                    <a:ext uri="{9D8B030D-6E8A-4147-A177-3AD203B41FA5}">
                      <a16:colId xmlns:a16="http://schemas.microsoft.com/office/drawing/2014/main" val="1510639366"/>
                    </a:ext>
                  </a:extLst>
                </a:gridCol>
                <a:gridCol w="627459">
                  <a:extLst>
                    <a:ext uri="{9D8B030D-6E8A-4147-A177-3AD203B41FA5}">
                      <a16:colId xmlns:a16="http://schemas.microsoft.com/office/drawing/2014/main" val="112141770"/>
                    </a:ext>
                  </a:extLst>
                </a:gridCol>
                <a:gridCol w="627459">
                  <a:extLst>
                    <a:ext uri="{9D8B030D-6E8A-4147-A177-3AD203B41FA5}">
                      <a16:colId xmlns:a16="http://schemas.microsoft.com/office/drawing/2014/main" val="4073597746"/>
                    </a:ext>
                  </a:extLst>
                </a:gridCol>
              </a:tblGrid>
              <a:tr h="374748">
                <a:tc>
                  <a:txBody>
                    <a:bodyPr/>
                    <a:lstStyle/>
                    <a:p>
                      <a:pPr algn="ctr"/>
                      <a:endParaRPr lang="zh-CN" altLang="en-US" sz="900" b="0" kern="1200" dirty="0">
                        <a:solidFill>
                          <a:schemeClr val="tx1">
                            <a:lumMod val="75000"/>
                            <a:lumOff val="25000"/>
                          </a:schemeClr>
                        </a:solidFill>
                        <a:latin typeface="+mj-ea"/>
                        <a:ea typeface="+mj-ea"/>
                        <a:cs typeface="+mn-cs"/>
                      </a:endParaRP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zh-CN" altLang="en-US" sz="900" b="0" i="0" u="none" strike="noStrike" dirty="0">
                          <a:solidFill>
                            <a:srgbClr val="000000"/>
                          </a:solidFill>
                          <a:effectLst/>
                          <a:latin typeface="+mj-ea"/>
                          <a:ea typeface="+mj-ea"/>
                        </a:rPr>
                        <a:t>总体</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900" b="0" i="0" u="none" strike="noStrike" dirty="0">
                          <a:solidFill>
                            <a:srgbClr val="000000"/>
                          </a:solidFill>
                          <a:effectLst/>
                          <a:latin typeface="+mj-ea"/>
                          <a:ea typeface="+mj-ea"/>
                        </a:rPr>
                        <a:t>理想</a:t>
                      </a:r>
                      <a:r>
                        <a:rPr lang="en-US" altLang="zh-CN" sz="900" b="0" i="0" u="none" strike="noStrike" dirty="0">
                          <a:solidFill>
                            <a:srgbClr val="000000"/>
                          </a:solidFill>
                          <a:effectLst/>
                          <a:latin typeface="+mj-ea"/>
                          <a:ea typeface="+mj-ea"/>
                        </a:rPr>
                        <a:t>vs</a:t>
                      </a:r>
                    </a:p>
                    <a:p>
                      <a:pPr algn="ctr" fontAlgn="ctr"/>
                      <a:r>
                        <a:rPr lang="zh-CN" altLang="en-US" sz="900" b="0" i="0" u="none" strike="noStrike" dirty="0">
                          <a:solidFill>
                            <a:srgbClr val="000000"/>
                          </a:solidFill>
                          <a:effectLst/>
                          <a:latin typeface="+mj-ea"/>
                          <a:ea typeface="+mj-ea"/>
                        </a:rPr>
                        <a:t>某品牌</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900" b="0" i="0" u="none" strike="noStrike" dirty="0">
                          <a:solidFill>
                            <a:srgbClr val="000000"/>
                          </a:solidFill>
                          <a:effectLst/>
                          <a:latin typeface="+mj-ea"/>
                          <a:ea typeface="+mj-ea"/>
                        </a:rPr>
                        <a:t>蔚来</a:t>
                      </a:r>
                      <a:r>
                        <a:rPr lang="en-US" altLang="zh-CN" sz="900" b="0" i="0" u="none" strike="noStrike" kern="1200" dirty="0">
                          <a:solidFill>
                            <a:srgbClr val="000000"/>
                          </a:solidFill>
                          <a:effectLst/>
                          <a:latin typeface="+mj-ea"/>
                          <a:ea typeface="+mn-ea"/>
                          <a:cs typeface="+mn-cs"/>
                        </a:rPr>
                        <a:t>vs</a:t>
                      </a:r>
                    </a:p>
                    <a:p>
                      <a:pPr algn="ctr" fontAlgn="ctr"/>
                      <a:r>
                        <a:rPr lang="zh-CN" altLang="en-US" sz="900" b="0" i="0" u="none" strike="noStrike" kern="1200" dirty="0">
                          <a:solidFill>
                            <a:srgbClr val="000000"/>
                          </a:solidFill>
                          <a:effectLst/>
                          <a:latin typeface="+mj-ea"/>
                          <a:ea typeface="+mn-ea"/>
                          <a:cs typeface="+mn-cs"/>
                        </a:rPr>
                        <a:t>某品牌</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900" b="0" i="0" u="none" strike="noStrike" dirty="0">
                          <a:solidFill>
                            <a:srgbClr val="000000"/>
                          </a:solidFill>
                          <a:effectLst/>
                          <a:latin typeface="+mj-ea"/>
                          <a:ea typeface="+mj-ea"/>
                        </a:rPr>
                        <a:t>问界</a:t>
                      </a:r>
                      <a:r>
                        <a:rPr lang="en-US" altLang="zh-CN" sz="900" b="0" i="0" u="none" strike="noStrike" kern="1200" dirty="0">
                          <a:solidFill>
                            <a:srgbClr val="000000"/>
                          </a:solidFill>
                          <a:effectLst/>
                          <a:latin typeface="+mj-ea"/>
                          <a:ea typeface="+mn-ea"/>
                          <a:cs typeface="+mn-cs"/>
                        </a:rPr>
                        <a:t>vs</a:t>
                      </a:r>
                    </a:p>
                    <a:p>
                      <a:pPr algn="ctr" fontAlgn="ctr"/>
                      <a:r>
                        <a:rPr lang="zh-CN" altLang="en-US" sz="900" b="0" i="0" u="none" strike="noStrike" kern="1200" dirty="0">
                          <a:solidFill>
                            <a:srgbClr val="000000"/>
                          </a:solidFill>
                          <a:effectLst/>
                          <a:latin typeface="+mj-ea"/>
                          <a:ea typeface="+mn-ea"/>
                          <a:cs typeface="+mn-cs"/>
                        </a:rPr>
                        <a:t>某品牌</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900" b="0" i="0" u="none" strike="noStrike" dirty="0">
                          <a:solidFill>
                            <a:srgbClr val="000000"/>
                          </a:solidFill>
                          <a:effectLst/>
                          <a:latin typeface="+mj-ea"/>
                          <a:ea typeface="+mj-ea"/>
                        </a:rPr>
                        <a:t>小鹏</a:t>
                      </a:r>
                      <a:r>
                        <a:rPr lang="en-US" altLang="zh-CN" sz="900" b="0" i="0" u="none" strike="noStrike" kern="1200" dirty="0">
                          <a:solidFill>
                            <a:srgbClr val="000000"/>
                          </a:solidFill>
                          <a:effectLst/>
                          <a:latin typeface="+mj-ea"/>
                          <a:ea typeface="+mn-ea"/>
                          <a:cs typeface="+mn-cs"/>
                        </a:rPr>
                        <a:t>vs</a:t>
                      </a:r>
                    </a:p>
                    <a:p>
                      <a:pPr algn="ctr" fontAlgn="ctr"/>
                      <a:r>
                        <a:rPr lang="zh-CN" altLang="en-US" sz="900" b="0" i="0" u="none" strike="noStrike" kern="1200" dirty="0">
                          <a:solidFill>
                            <a:srgbClr val="000000"/>
                          </a:solidFill>
                          <a:effectLst/>
                          <a:latin typeface="+mj-ea"/>
                          <a:ea typeface="+mn-ea"/>
                          <a:cs typeface="+mn-cs"/>
                        </a:rPr>
                        <a:t>某品牌</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900" b="0" i="0" u="none" strike="noStrike" dirty="0">
                          <a:solidFill>
                            <a:srgbClr val="000000"/>
                          </a:solidFill>
                          <a:effectLst/>
                          <a:latin typeface="+mj-ea"/>
                          <a:ea typeface="+mj-ea"/>
                        </a:rPr>
                        <a:t>极氪</a:t>
                      </a:r>
                      <a:r>
                        <a:rPr lang="en-US" altLang="zh-CN" sz="900" b="0" i="0" u="none" strike="noStrike" kern="1200" dirty="0">
                          <a:solidFill>
                            <a:srgbClr val="000000"/>
                          </a:solidFill>
                          <a:effectLst/>
                          <a:latin typeface="+mj-ea"/>
                          <a:ea typeface="+mn-ea"/>
                          <a:cs typeface="+mn-cs"/>
                        </a:rPr>
                        <a:t>vs</a:t>
                      </a:r>
                    </a:p>
                    <a:p>
                      <a:pPr algn="ctr" fontAlgn="ctr"/>
                      <a:r>
                        <a:rPr lang="zh-CN" altLang="en-US" sz="900" b="0" i="0" u="none" strike="noStrike" kern="1200" dirty="0">
                          <a:solidFill>
                            <a:srgbClr val="000000"/>
                          </a:solidFill>
                          <a:effectLst/>
                          <a:latin typeface="+mj-ea"/>
                          <a:ea typeface="+mn-ea"/>
                          <a:cs typeface="+mn-cs"/>
                        </a:rPr>
                        <a:t>某品牌</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900" b="0" i="0" u="none" strike="noStrike" dirty="0">
                          <a:solidFill>
                            <a:srgbClr val="000000"/>
                          </a:solidFill>
                          <a:effectLst/>
                          <a:latin typeface="+mj-ea"/>
                          <a:ea typeface="+mj-ea"/>
                        </a:rPr>
                        <a:t>特斯拉</a:t>
                      </a:r>
                      <a:r>
                        <a:rPr lang="en-US" altLang="zh-CN" sz="900" b="0" i="0" u="none" strike="noStrike" kern="1200" dirty="0">
                          <a:solidFill>
                            <a:srgbClr val="000000"/>
                          </a:solidFill>
                          <a:effectLst/>
                          <a:latin typeface="+mj-ea"/>
                          <a:ea typeface="+mn-ea"/>
                          <a:cs typeface="+mn-cs"/>
                        </a:rPr>
                        <a:t>vs</a:t>
                      </a:r>
                    </a:p>
                    <a:p>
                      <a:pPr algn="ctr" fontAlgn="ctr"/>
                      <a:r>
                        <a:rPr lang="zh-CN" altLang="en-US" sz="900" b="0" i="0" u="none" strike="noStrike" kern="1200" dirty="0">
                          <a:solidFill>
                            <a:srgbClr val="000000"/>
                          </a:solidFill>
                          <a:effectLst/>
                          <a:latin typeface="+mj-ea"/>
                          <a:ea typeface="+mn-ea"/>
                          <a:cs typeface="+mn-cs"/>
                        </a:rPr>
                        <a:t>某品牌</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900" b="0" i="0" u="none" strike="noStrike" dirty="0">
                          <a:solidFill>
                            <a:srgbClr val="000000"/>
                          </a:solidFill>
                          <a:effectLst/>
                          <a:latin typeface="+mj-ea"/>
                          <a:ea typeface="+mj-ea"/>
                        </a:rPr>
                        <a:t>智己</a:t>
                      </a:r>
                      <a:r>
                        <a:rPr lang="en-US" altLang="zh-CN" sz="900" b="0" i="0" u="none" strike="noStrike" kern="1200" dirty="0">
                          <a:solidFill>
                            <a:srgbClr val="000000"/>
                          </a:solidFill>
                          <a:effectLst/>
                          <a:latin typeface="+mj-ea"/>
                          <a:ea typeface="+mn-ea"/>
                          <a:cs typeface="+mn-cs"/>
                        </a:rPr>
                        <a:t>vs</a:t>
                      </a:r>
                    </a:p>
                    <a:p>
                      <a:pPr algn="ctr" fontAlgn="ctr"/>
                      <a:r>
                        <a:rPr lang="zh-CN" altLang="en-US" sz="900" b="0" i="0" u="none" strike="noStrike" kern="1200" dirty="0">
                          <a:solidFill>
                            <a:srgbClr val="000000"/>
                          </a:solidFill>
                          <a:effectLst/>
                          <a:latin typeface="+mj-ea"/>
                          <a:ea typeface="+mn-ea"/>
                          <a:cs typeface="+mn-cs"/>
                        </a:rPr>
                        <a:t>某品牌</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25557">
                <a:tc>
                  <a:txBody>
                    <a:bodyPr/>
                    <a:lstStyle/>
                    <a:p>
                      <a:pPr algn="ctr"/>
                      <a:r>
                        <a:rPr lang="zh-CN" altLang="en-US" sz="900" b="0" kern="1200" dirty="0">
                          <a:solidFill>
                            <a:schemeClr val="tx1">
                              <a:lumMod val="75000"/>
                              <a:lumOff val="25000"/>
                            </a:schemeClr>
                          </a:solidFill>
                          <a:latin typeface="+mj-ea"/>
                          <a:ea typeface="+mj-ea"/>
                          <a:cs typeface="+mn-cs"/>
                        </a:rPr>
                        <a:t>差值</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kern="1200" dirty="0">
                          <a:solidFill>
                            <a:schemeClr val="tx1">
                              <a:lumMod val="75000"/>
                              <a:lumOff val="25000"/>
                            </a:schemeClr>
                          </a:solidFill>
                          <a:latin typeface="+mj-ea"/>
                          <a:ea typeface="+mn-ea"/>
                          <a:cs typeface="+mn-cs"/>
                        </a:rPr>
                        <a:t>67</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kern="1200" dirty="0">
                          <a:solidFill>
                            <a:srgbClr val="FF0000"/>
                          </a:solidFill>
                          <a:latin typeface="+mj-ea"/>
                          <a:ea typeface="+mn-ea"/>
                          <a:cs typeface="+mn-cs"/>
                        </a:rPr>
                        <a:t>81</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kern="1200">
                          <a:solidFill>
                            <a:schemeClr val="tx1">
                              <a:lumMod val="75000"/>
                              <a:lumOff val="25000"/>
                            </a:schemeClr>
                          </a:solidFill>
                          <a:latin typeface="+mj-ea"/>
                          <a:ea typeface="+mn-ea"/>
                          <a:cs typeface="+mn-cs"/>
                        </a:rPr>
                        <a:t>66</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kern="1200" dirty="0">
                          <a:solidFill>
                            <a:schemeClr val="tx1">
                              <a:lumMod val="75000"/>
                              <a:lumOff val="25000"/>
                            </a:schemeClr>
                          </a:solidFill>
                          <a:latin typeface="+mj-ea"/>
                          <a:ea typeface="+mn-ea"/>
                          <a:cs typeface="+mn-cs"/>
                        </a:rPr>
                        <a:t>58</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kern="1200" dirty="0">
                          <a:solidFill>
                            <a:srgbClr val="FF0000"/>
                          </a:solidFill>
                          <a:latin typeface="+mj-ea"/>
                          <a:ea typeface="+mn-ea"/>
                          <a:cs typeface="+mn-cs"/>
                        </a:rPr>
                        <a:t>88</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kern="1200" dirty="0">
                          <a:solidFill>
                            <a:schemeClr val="tx1">
                              <a:lumMod val="75000"/>
                              <a:lumOff val="25000"/>
                            </a:schemeClr>
                          </a:solidFill>
                          <a:latin typeface="+mj-ea"/>
                          <a:ea typeface="+mn-ea"/>
                          <a:cs typeface="+mn-cs"/>
                        </a:rPr>
                        <a:t>64</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kern="1200" dirty="0">
                          <a:solidFill>
                            <a:schemeClr val="tx1">
                              <a:lumMod val="75000"/>
                              <a:lumOff val="25000"/>
                            </a:schemeClr>
                          </a:solidFill>
                          <a:latin typeface="+mj-ea"/>
                          <a:ea typeface="+mn-ea"/>
                          <a:cs typeface="+mn-cs"/>
                        </a:rPr>
                        <a:t>54</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kern="1200" dirty="0">
                          <a:solidFill>
                            <a:schemeClr val="tx1">
                              <a:lumMod val="75000"/>
                              <a:lumOff val="25000"/>
                            </a:schemeClr>
                          </a:solidFill>
                          <a:latin typeface="+mj-ea"/>
                          <a:ea typeface="+mn-ea"/>
                          <a:cs typeface="+mn-cs"/>
                        </a:rPr>
                        <a:t>55</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9463106"/>
                  </a:ext>
                </a:extLst>
              </a:tr>
              <a:tr h="32555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900" b="0" kern="1200" dirty="0">
                          <a:solidFill>
                            <a:schemeClr val="tx1">
                              <a:lumMod val="75000"/>
                              <a:lumOff val="25000"/>
                            </a:schemeClr>
                          </a:solidFill>
                          <a:latin typeface="+mj-ea"/>
                          <a:ea typeface="+mn-ea"/>
                          <a:cs typeface="+mn-cs"/>
                        </a:rPr>
                        <a:t>样本量</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r>
                        <a:rPr lang="en-US" altLang="zh-CN" sz="900" b="0" i="0" u="none" strike="noStrike" kern="1200" dirty="0">
                          <a:solidFill>
                            <a:srgbClr val="000000"/>
                          </a:solidFill>
                          <a:effectLst/>
                          <a:latin typeface="+mj-ea"/>
                          <a:ea typeface="+mj-ea"/>
                          <a:cs typeface="+mn-cs"/>
                        </a:rPr>
                        <a:t>225</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r>
                        <a:rPr lang="en-US" altLang="zh-CN" sz="900" b="0" i="0" u="none" strike="noStrike" kern="1200" dirty="0">
                          <a:solidFill>
                            <a:srgbClr val="000000"/>
                          </a:solidFill>
                          <a:effectLst/>
                          <a:latin typeface="+mj-ea"/>
                          <a:ea typeface="+mj-ea"/>
                          <a:cs typeface="+mn-cs"/>
                        </a:rPr>
                        <a:t>34</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r>
                        <a:rPr lang="en-US" altLang="zh-CN" sz="900" b="0" i="0" u="none" strike="noStrike" kern="1200" dirty="0">
                          <a:solidFill>
                            <a:srgbClr val="000000"/>
                          </a:solidFill>
                          <a:effectLst/>
                          <a:latin typeface="+mj-ea"/>
                          <a:ea typeface="+mj-ea"/>
                          <a:cs typeface="+mn-cs"/>
                        </a:rPr>
                        <a:t>34</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r>
                        <a:rPr lang="en-US" altLang="zh-CN" sz="900" b="0" i="0" u="none" strike="noStrike" kern="1200">
                          <a:solidFill>
                            <a:srgbClr val="000000"/>
                          </a:solidFill>
                          <a:effectLst/>
                          <a:latin typeface="+mj-ea"/>
                          <a:ea typeface="+mj-ea"/>
                          <a:cs typeface="+mn-cs"/>
                        </a:rPr>
                        <a:t>35</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r>
                        <a:rPr lang="en-US" altLang="zh-CN" sz="900" b="0" i="0" u="none" strike="noStrike" kern="1200" dirty="0">
                          <a:solidFill>
                            <a:srgbClr val="000000"/>
                          </a:solidFill>
                          <a:effectLst/>
                          <a:latin typeface="+mj-ea"/>
                          <a:ea typeface="+mj-ea"/>
                          <a:cs typeface="+mn-cs"/>
                        </a:rPr>
                        <a:t>35</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r>
                        <a:rPr lang="en-US" altLang="zh-CN" sz="900" b="0" i="0" u="none" strike="noStrike" kern="1200" dirty="0">
                          <a:solidFill>
                            <a:srgbClr val="000000"/>
                          </a:solidFill>
                          <a:effectLst/>
                          <a:latin typeface="+mj-ea"/>
                          <a:ea typeface="+mj-ea"/>
                          <a:cs typeface="+mn-cs"/>
                        </a:rPr>
                        <a:t>34</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r>
                        <a:rPr lang="en-US" altLang="zh-CN" sz="900" b="0" i="0" u="none" strike="noStrike" kern="1200" dirty="0">
                          <a:solidFill>
                            <a:srgbClr val="000000"/>
                          </a:solidFill>
                          <a:effectLst/>
                          <a:latin typeface="+mj-ea"/>
                          <a:ea typeface="+mj-ea"/>
                          <a:cs typeface="+mn-cs"/>
                        </a:rPr>
                        <a:t>35</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r>
                        <a:rPr lang="en-US" altLang="zh-CN" sz="900" b="0" i="0" u="none" strike="noStrike" kern="1200" dirty="0">
                          <a:solidFill>
                            <a:srgbClr val="000000"/>
                          </a:solidFill>
                          <a:effectLst/>
                          <a:latin typeface="+mj-ea"/>
                          <a:ea typeface="+mj-ea"/>
                          <a:cs typeface="+mn-cs"/>
                        </a:rPr>
                        <a:t>18</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8128764"/>
                  </a:ext>
                </a:extLst>
              </a:tr>
            </a:tbl>
          </a:graphicData>
        </a:graphic>
      </p:graphicFrame>
      <p:sp>
        <p:nvSpPr>
          <p:cNvPr id="9" name="矩形 8">
            <a:extLst>
              <a:ext uri="{FF2B5EF4-FFF2-40B4-BE49-F238E27FC236}">
                <a16:creationId xmlns:a16="http://schemas.microsoft.com/office/drawing/2014/main" id="{F32B4DA4-A0D6-68CD-E669-D46F6AF8BC6D}"/>
              </a:ext>
            </a:extLst>
          </p:cNvPr>
          <p:cNvSpPr/>
          <p:nvPr/>
        </p:nvSpPr>
        <p:spPr>
          <a:xfrm>
            <a:off x="5255394" y="2472529"/>
            <a:ext cx="664142" cy="2630356"/>
          </a:xfrm>
          <a:prstGeom prst="rect">
            <a:avLst/>
          </a:prstGeom>
          <a:solidFill>
            <a:schemeClr val="bg1">
              <a:lumMod val="9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990F32C-D3C1-0BDA-A633-9D3EEB57A487}"/>
              </a:ext>
            </a:extLst>
          </p:cNvPr>
          <p:cNvSpPr/>
          <p:nvPr/>
        </p:nvSpPr>
        <p:spPr>
          <a:xfrm>
            <a:off x="11262178" y="2472529"/>
            <a:ext cx="664142" cy="2630356"/>
          </a:xfrm>
          <a:prstGeom prst="rect">
            <a:avLst/>
          </a:prstGeom>
          <a:solidFill>
            <a:schemeClr val="bg1">
              <a:lumMod val="9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B082DE20-2DBD-460C-8585-3238A489777F}"/>
              </a:ext>
            </a:extLst>
          </p:cNvPr>
          <p:cNvSpPr txBox="1"/>
          <p:nvPr>
            <p:custDataLst>
              <p:tags r:id="rId2"/>
            </p:custDataLst>
          </p:nvPr>
        </p:nvSpPr>
        <p:spPr>
          <a:xfrm>
            <a:off x="263525" y="6159845"/>
            <a:ext cx="5868988" cy="24622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zh-CN" altLang="en-US" sz="1000" dirty="0">
                <a:latin typeface="DIN Pro"/>
                <a:ea typeface="Alibaba PuHuiTi 2.0 55 Regular"/>
              </a:rPr>
              <a:t>在</a:t>
            </a:r>
            <a:r>
              <a:rPr lang="en-US" altLang="zh-CN" sz="1000" dirty="0">
                <a:latin typeface="DIN Pro"/>
                <a:ea typeface="Alibaba PuHuiTi 2.0 55 Regular"/>
              </a:rPr>
              <a:t>95%</a:t>
            </a:r>
            <a:r>
              <a:rPr lang="zh-CN" altLang="en-US" sz="1000" dirty="0">
                <a:latin typeface="DIN Pro"/>
                <a:ea typeface="Alibaba PuHuiTi 2.0 55 Regular"/>
              </a:rPr>
              <a:t>置信度水平下，</a:t>
            </a:r>
            <a:r>
              <a:rPr lang="zh-CN" altLang="en-US" sz="1000" dirty="0">
                <a:latin typeface="+mn-ea"/>
              </a:rPr>
              <a:t>战胜用户某品牌分数显著高于蔚来、问界、小鹏、极氪、特斯拉</a:t>
            </a:r>
            <a:endParaRPr kumimoji="0" lang="en-US" altLang="zh-CN" sz="1000" i="0" u="none" strike="noStrike" kern="1200" cap="none" spc="0" normalizeH="0" baseline="0" noProof="0" dirty="0">
              <a:ln>
                <a:noFill/>
              </a:ln>
              <a:effectLst/>
              <a:uLnTx/>
              <a:uFillTx/>
              <a:latin typeface="+mn-ea"/>
              <a:cs typeface="+mn-cs"/>
            </a:endParaRPr>
          </a:p>
        </p:txBody>
      </p:sp>
      <p:sp>
        <p:nvSpPr>
          <p:cNvPr id="15" name="文本框 14">
            <a:extLst>
              <a:ext uri="{FF2B5EF4-FFF2-40B4-BE49-F238E27FC236}">
                <a16:creationId xmlns:a16="http://schemas.microsoft.com/office/drawing/2014/main" id="{4673582B-C347-42AE-9475-E13293060954}"/>
              </a:ext>
            </a:extLst>
          </p:cNvPr>
          <p:cNvSpPr txBox="1"/>
          <p:nvPr>
            <p:custDataLst>
              <p:tags r:id="rId3"/>
            </p:custDataLst>
          </p:nvPr>
        </p:nvSpPr>
        <p:spPr>
          <a:xfrm>
            <a:off x="6281344" y="6159845"/>
            <a:ext cx="5868988" cy="246221"/>
          </a:xfrm>
          <a:prstGeom prst="rect">
            <a:avLst/>
          </a:prstGeom>
          <a:noFill/>
        </p:spPr>
        <p:txBody>
          <a:bodyPr wrap="square" rtlCol="0">
            <a:spAutoFit/>
          </a:bodyPr>
          <a:lstStyle>
            <a:defPPr>
              <a:defRPr lang="zh-CN"/>
            </a:defPPr>
            <a:lvl1pPr marL="171450" marR="0" lvl="0" indent="-171450" fontAlgn="auto">
              <a:lnSpc>
                <a:spcPct val="100000"/>
              </a:lnSpc>
              <a:spcBef>
                <a:spcPts val="300"/>
              </a:spcBef>
              <a:spcAft>
                <a:spcPts val="0"/>
              </a:spcAft>
              <a:buClrTx/>
              <a:buSzTx/>
              <a:buFont typeface="Arial" panose="020B0604020202020204" pitchFamily="34" charset="0"/>
              <a:buChar char="•"/>
              <a:tabLst/>
              <a:defRPr sz="1000">
                <a:latin typeface="+mn-ea"/>
              </a:defRPr>
            </a:lvl1pPr>
          </a:lstStyle>
          <a:p>
            <a:r>
              <a:rPr lang="zh-CN" altLang="en-US" sz="1000" dirty="0">
                <a:latin typeface="DIN Pro"/>
                <a:ea typeface="Alibaba PuHuiTi 2.0 55 Regular"/>
              </a:rPr>
              <a:t>在</a:t>
            </a:r>
            <a:r>
              <a:rPr lang="en-US" altLang="zh-CN" sz="1000" dirty="0">
                <a:latin typeface="DIN Pro"/>
                <a:ea typeface="Alibaba PuHuiTi 2.0 55 Regular"/>
              </a:rPr>
              <a:t>95%</a:t>
            </a:r>
            <a:r>
              <a:rPr lang="zh-CN" altLang="en-US" sz="1000" dirty="0">
                <a:latin typeface="DIN Pro"/>
                <a:ea typeface="Alibaba PuHuiTi 2.0 55 Regular"/>
              </a:rPr>
              <a:t>置信度水平下，</a:t>
            </a:r>
            <a:r>
              <a:rPr lang="zh-CN" altLang="en-US" dirty="0"/>
              <a:t>战败用户某品牌分数显著低于竞品</a:t>
            </a:r>
            <a:endParaRPr lang="en-US" altLang="zh-CN" dirty="0"/>
          </a:p>
        </p:txBody>
      </p:sp>
    </p:spTree>
    <p:extLst>
      <p:ext uri="{BB962C8B-B14F-4D97-AF65-F5344CB8AC3E}">
        <p14:creationId xmlns:p14="http://schemas.microsoft.com/office/powerpoint/2010/main" val="325896525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占位符 10">
            <a:extLst>
              <a:ext uri="{FF2B5EF4-FFF2-40B4-BE49-F238E27FC236}">
                <a16:creationId xmlns:a16="http://schemas.microsoft.com/office/drawing/2014/main" id="{E1803BBA-F048-0B59-4076-8E44BB627CC9}"/>
              </a:ext>
            </a:extLst>
          </p:cNvPr>
          <p:cNvSpPr>
            <a:spLocks noGrp="1"/>
          </p:cNvSpPr>
          <p:nvPr>
            <p:ph type="body" sz="quarter" idx="14"/>
          </p:nvPr>
        </p:nvSpPr>
        <p:spPr/>
        <p:txBody>
          <a:bodyPr/>
          <a:lstStyle/>
          <a:p>
            <a:endParaRPr lang="zh-CN" altLang="en-US"/>
          </a:p>
        </p:txBody>
      </p:sp>
      <p:sp>
        <p:nvSpPr>
          <p:cNvPr id="2" name="文本占位符 1">
            <a:extLst>
              <a:ext uri="{FF2B5EF4-FFF2-40B4-BE49-F238E27FC236}">
                <a16:creationId xmlns:a16="http://schemas.microsoft.com/office/drawing/2014/main" id="{82C81AF5-FA33-7ADC-EFC2-8C3A3C3CFB22}"/>
              </a:ext>
            </a:extLst>
          </p:cNvPr>
          <p:cNvSpPr>
            <a:spLocks noGrp="1"/>
          </p:cNvSpPr>
          <p:nvPr>
            <p:ph type="body" sz="quarter" idx="21"/>
          </p:nvPr>
        </p:nvSpPr>
        <p:spPr/>
        <p:txBody>
          <a:bodyPr/>
          <a:lstStyle/>
          <a:p>
            <a:r>
              <a:rPr kumimoji="1" lang="en-US" altLang="zh-CN" dirty="0">
                <a:latin typeface="+mn-ea"/>
                <a:ea typeface="+mn-ea"/>
              </a:rPr>
              <a:t>2.3 </a:t>
            </a:r>
            <a:r>
              <a:rPr kumimoji="1" lang="zh-CN" altLang="en-US" dirty="0">
                <a:latin typeface="+mn-ea"/>
                <a:ea typeface="+mn-ea"/>
              </a:rPr>
              <a:t>战胜战败分析 </a:t>
            </a:r>
            <a:r>
              <a:rPr kumimoji="1" lang="en-US" altLang="zh-CN" dirty="0">
                <a:latin typeface="+mn-ea"/>
                <a:ea typeface="+mn-ea"/>
              </a:rPr>
              <a:t>– </a:t>
            </a:r>
            <a:r>
              <a:rPr lang="zh-CN" altLang="en-US" dirty="0">
                <a:latin typeface="+mn-ea"/>
                <a:ea typeface="+mn-ea"/>
              </a:rPr>
              <a:t>因子分析</a:t>
            </a:r>
          </a:p>
        </p:txBody>
      </p:sp>
      <p:sp>
        <p:nvSpPr>
          <p:cNvPr id="12" name="文本占位符 11">
            <a:extLst>
              <a:ext uri="{FF2B5EF4-FFF2-40B4-BE49-F238E27FC236}">
                <a16:creationId xmlns:a16="http://schemas.microsoft.com/office/drawing/2014/main" id="{2D72ABDA-3A02-E201-093C-4733A2759107}"/>
              </a:ext>
            </a:extLst>
          </p:cNvPr>
          <p:cNvSpPr>
            <a:spLocks noGrp="1"/>
          </p:cNvSpPr>
          <p:nvPr>
            <p:ph type="body" sz="quarter" idx="22"/>
          </p:nvPr>
        </p:nvSpPr>
        <p:spPr/>
        <p:txBody>
          <a:bodyPr/>
          <a:lstStyle/>
          <a:p>
            <a:pPr>
              <a:spcBef>
                <a:spcPts val="0"/>
              </a:spcBef>
            </a:pPr>
            <a:r>
              <a:rPr lang="zh-CN" altLang="en-US" dirty="0"/>
              <a:t>因子层面，战胜车主对某品牌</a:t>
            </a:r>
            <a:r>
              <a:rPr lang="zh-CN" altLang="en-US" dirty="0">
                <a:solidFill>
                  <a:srgbClr val="4B8D56"/>
                </a:solidFill>
              </a:rPr>
              <a:t>到店接待</a:t>
            </a:r>
            <a:r>
              <a:rPr lang="zh-CN" altLang="en-US" dirty="0">
                <a:solidFill>
                  <a:schemeClr val="tx1"/>
                </a:solidFill>
              </a:rPr>
              <a:t>评价远高于对竞品评价，战败车主对</a:t>
            </a:r>
            <a:r>
              <a:rPr lang="zh-CN" altLang="en-US" dirty="0">
                <a:solidFill>
                  <a:srgbClr val="FF0000"/>
                </a:solidFill>
              </a:rPr>
              <a:t>送别与回访</a:t>
            </a:r>
            <a:r>
              <a:rPr lang="zh-CN" altLang="en-US" dirty="0">
                <a:solidFill>
                  <a:schemeClr val="tx1"/>
                </a:solidFill>
              </a:rPr>
              <a:t>满意度远低于自己所购品牌</a:t>
            </a:r>
          </a:p>
        </p:txBody>
      </p:sp>
      <p:sp>
        <p:nvSpPr>
          <p:cNvPr id="5" name="灯片编号占位符 4">
            <a:extLst>
              <a:ext uri="{FF2B5EF4-FFF2-40B4-BE49-F238E27FC236}">
                <a16:creationId xmlns:a16="http://schemas.microsoft.com/office/drawing/2014/main" id="{06691800-2534-AC70-8274-CC2C0122E943}"/>
              </a:ext>
            </a:extLst>
          </p:cNvPr>
          <p:cNvSpPr>
            <a:spLocks noGrp="1"/>
          </p:cNvSpPr>
          <p:nvPr>
            <p:ph type="sldNum" sz="quarter" idx="4"/>
          </p:nvPr>
        </p:nvSpPr>
        <p:spPr/>
        <p:txBody>
          <a:bodyPr/>
          <a:lstStyle/>
          <a:p>
            <a:fld id="{04824671-56D2-5D44-834F-250C3DA554E9}" type="slidenum">
              <a:rPr lang="zh-CN" altLang="en-US" smtClean="0"/>
              <a:t>35</a:t>
            </a:fld>
            <a:endParaRPr lang="zh-CN" altLang="en-US" dirty="0"/>
          </a:p>
        </p:txBody>
      </p:sp>
      <p:graphicFrame>
        <p:nvGraphicFramePr>
          <p:cNvPr id="3" name="内容占位符 5">
            <a:extLst>
              <a:ext uri="{FF2B5EF4-FFF2-40B4-BE49-F238E27FC236}">
                <a16:creationId xmlns:a16="http://schemas.microsoft.com/office/drawing/2014/main" id="{52CBF561-F3B8-0161-88DD-B019EB1AE926}"/>
              </a:ext>
            </a:extLst>
          </p:cNvPr>
          <p:cNvGraphicFramePr>
            <a:graphicFrameLocks/>
          </p:cNvGraphicFramePr>
          <p:nvPr>
            <p:extLst>
              <p:ext uri="{D42A27DB-BD31-4B8C-83A1-F6EECF244321}">
                <p14:modId xmlns:p14="http://schemas.microsoft.com/office/powerpoint/2010/main" val="1802201571"/>
              </p:ext>
            </p:extLst>
          </p:nvPr>
        </p:nvGraphicFramePr>
        <p:xfrm>
          <a:off x="263526" y="2628772"/>
          <a:ext cx="5511632" cy="265295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内容占位符 5">
            <a:extLst>
              <a:ext uri="{FF2B5EF4-FFF2-40B4-BE49-F238E27FC236}">
                <a16:creationId xmlns:a16="http://schemas.microsoft.com/office/drawing/2014/main" id="{FA67D81E-7754-BAF4-C2B7-66FD050C68EB}"/>
              </a:ext>
            </a:extLst>
          </p:cNvPr>
          <p:cNvGraphicFramePr>
            <a:graphicFrameLocks/>
          </p:cNvGraphicFramePr>
          <p:nvPr>
            <p:extLst>
              <p:ext uri="{D42A27DB-BD31-4B8C-83A1-F6EECF244321}">
                <p14:modId xmlns:p14="http://schemas.microsoft.com/office/powerpoint/2010/main" val="77801947"/>
              </p:ext>
            </p:extLst>
          </p:nvPr>
        </p:nvGraphicFramePr>
        <p:xfrm>
          <a:off x="6268393" y="2628772"/>
          <a:ext cx="5464092" cy="2652951"/>
        </p:xfrm>
        <a:graphic>
          <a:graphicData uri="http://schemas.openxmlformats.org/drawingml/2006/chart">
            <c:chart xmlns:c="http://schemas.openxmlformats.org/drawingml/2006/chart" xmlns:r="http://schemas.openxmlformats.org/officeDocument/2006/relationships" r:id="rId3"/>
          </a:graphicData>
        </a:graphic>
      </p:graphicFrame>
      <p:sp>
        <p:nvSpPr>
          <p:cNvPr id="9" name="文本框 8">
            <a:extLst>
              <a:ext uri="{FF2B5EF4-FFF2-40B4-BE49-F238E27FC236}">
                <a16:creationId xmlns:a16="http://schemas.microsoft.com/office/drawing/2014/main" id="{335E94B7-2068-DC35-A609-C51E26418CCD}"/>
              </a:ext>
            </a:extLst>
          </p:cNvPr>
          <p:cNvSpPr txBox="1"/>
          <p:nvPr/>
        </p:nvSpPr>
        <p:spPr>
          <a:xfrm>
            <a:off x="314936" y="2059197"/>
            <a:ext cx="5652000" cy="338554"/>
          </a:xfrm>
          <a:prstGeom prst="rect">
            <a:avLst/>
          </a:prstGeom>
          <a:solidFill>
            <a:srgbClr val="1B9538"/>
          </a:solidFill>
        </p:spPr>
        <p:txBody>
          <a:bodyPr wrap="square" rtlCol="0">
            <a:spAutoFit/>
          </a:bodyPr>
          <a:lstStyle/>
          <a:p>
            <a:pPr algn="ctr"/>
            <a:r>
              <a:rPr lang="zh-CN" altLang="en-US" sz="1600" b="1" dirty="0">
                <a:solidFill>
                  <a:schemeClr val="bg1"/>
                </a:solidFill>
                <a:latin typeface="微软雅黑" panose="020B0503020204020204" pitchFamily="34" charset="-122"/>
                <a:ea typeface="Alibaba PuHuiTi 2.0 55 Regular"/>
              </a:rPr>
              <a:t>某品牌战胜得分差距</a:t>
            </a:r>
          </a:p>
        </p:txBody>
      </p:sp>
      <p:sp>
        <p:nvSpPr>
          <p:cNvPr id="10" name="文本框 9">
            <a:extLst>
              <a:ext uri="{FF2B5EF4-FFF2-40B4-BE49-F238E27FC236}">
                <a16:creationId xmlns:a16="http://schemas.microsoft.com/office/drawing/2014/main" id="{9BBC77FE-F3C6-6A69-593A-2178DCF272A5}"/>
              </a:ext>
            </a:extLst>
          </p:cNvPr>
          <p:cNvSpPr txBox="1"/>
          <p:nvPr/>
        </p:nvSpPr>
        <p:spPr>
          <a:xfrm>
            <a:off x="6239236" y="2059197"/>
            <a:ext cx="5652000" cy="338554"/>
          </a:xfrm>
          <a:prstGeom prst="rect">
            <a:avLst/>
          </a:prstGeom>
          <a:solidFill>
            <a:srgbClr val="1B9538"/>
          </a:solidFill>
        </p:spPr>
        <p:txBody>
          <a:bodyPr wrap="square" rtlCol="0">
            <a:spAutoFit/>
          </a:bodyPr>
          <a:lstStyle/>
          <a:p>
            <a:pPr algn="ctr"/>
            <a:r>
              <a:rPr lang="zh-CN" altLang="en-US" sz="1600" b="1" dirty="0">
                <a:solidFill>
                  <a:schemeClr val="bg1"/>
                </a:solidFill>
                <a:latin typeface="微软雅黑" panose="020B0503020204020204" pitchFamily="34" charset="-122"/>
                <a:ea typeface="Alibaba PuHuiTi 2.0 55 Regular"/>
              </a:rPr>
              <a:t>某品牌战败得分差距</a:t>
            </a:r>
          </a:p>
        </p:txBody>
      </p:sp>
      <p:graphicFrame>
        <p:nvGraphicFramePr>
          <p:cNvPr id="28" name="表格 27">
            <a:extLst>
              <a:ext uri="{FF2B5EF4-FFF2-40B4-BE49-F238E27FC236}">
                <a16:creationId xmlns:a16="http://schemas.microsoft.com/office/drawing/2014/main" id="{E78C9C97-6ECC-39E9-774B-D54DE63B7428}"/>
              </a:ext>
            </a:extLst>
          </p:cNvPr>
          <p:cNvGraphicFramePr>
            <a:graphicFrameLocks noGrp="1"/>
          </p:cNvGraphicFramePr>
          <p:nvPr/>
        </p:nvGraphicFramePr>
        <p:xfrm>
          <a:off x="311065" y="5382240"/>
          <a:ext cx="5464092" cy="370840"/>
        </p:xfrm>
        <a:graphic>
          <a:graphicData uri="http://schemas.openxmlformats.org/drawingml/2006/table">
            <a:tbl>
              <a:tblPr firstRow="1" bandRow="1">
                <a:tableStyleId>{5C22544A-7EE6-4342-B048-85BDC9FD1C3A}</a:tableStyleId>
              </a:tblPr>
              <a:tblGrid>
                <a:gridCol w="910682">
                  <a:extLst>
                    <a:ext uri="{9D8B030D-6E8A-4147-A177-3AD203B41FA5}">
                      <a16:colId xmlns:a16="http://schemas.microsoft.com/office/drawing/2014/main" val="996804910"/>
                    </a:ext>
                  </a:extLst>
                </a:gridCol>
                <a:gridCol w="910682">
                  <a:extLst>
                    <a:ext uri="{9D8B030D-6E8A-4147-A177-3AD203B41FA5}">
                      <a16:colId xmlns:a16="http://schemas.microsoft.com/office/drawing/2014/main" val="219944489"/>
                    </a:ext>
                  </a:extLst>
                </a:gridCol>
                <a:gridCol w="910682">
                  <a:extLst>
                    <a:ext uri="{9D8B030D-6E8A-4147-A177-3AD203B41FA5}">
                      <a16:colId xmlns:a16="http://schemas.microsoft.com/office/drawing/2014/main" val="1589569921"/>
                    </a:ext>
                  </a:extLst>
                </a:gridCol>
                <a:gridCol w="910682">
                  <a:extLst>
                    <a:ext uri="{9D8B030D-6E8A-4147-A177-3AD203B41FA5}">
                      <a16:colId xmlns:a16="http://schemas.microsoft.com/office/drawing/2014/main" val="2180222477"/>
                    </a:ext>
                  </a:extLst>
                </a:gridCol>
                <a:gridCol w="910682">
                  <a:extLst>
                    <a:ext uri="{9D8B030D-6E8A-4147-A177-3AD203B41FA5}">
                      <a16:colId xmlns:a16="http://schemas.microsoft.com/office/drawing/2014/main" val="4271917189"/>
                    </a:ext>
                  </a:extLst>
                </a:gridCol>
                <a:gridCol w="910682">
                  <a:extLst>
                    <a:ext uri="{9D8B030D-6E8A-4147-A177-3AD203B41FA5}">
                      <a16:colId xmlns:a16="http://schemas.microsoft.com/office/drawing/2014/main" val="3133000720"/>
                    </a:ext>
                  </a:extLst>
                </a:gridCol>
              </a:tblGrid>
              <a:tr h="370840">
                <a:tc>
                  <a:txBody>
                    <a:bodyPr/>
                    <a:lstStyle/>
                    <a:p>
                      <a:pPr algn="ctr"/>
                      <a:r>
                        <a:rPr lang="zh-CN" altLang="en-US" sz="1100" dirty="0">
                          <a:solidFill>
                            <a:schemeClr val="tx1"/>
                          </a:solidFill>
                          <a:latin typeface="+mn-ea"/>
                          <a:ea typeface="+mn-ea"/>
                        </a:rPr>
                        <a:t>差值</a:t>
                      </a:r>
                    </a:p>
                  </a:txBody>
                  <a:tcPr anchor="ctr">
                    <a:noFill/>
                  </a:tcPr>
                </a:tc>
                <a:tc>
                  <a:txBody>
                    <a:bodyPr/>
                    <a:lstStyle/>
                    <a:p>
                      <a:pPr algn="ctr" fontAlgn="ctr"/>
                      <a:r>
                        <a:rPr lang="en-US" altLang="zh-CN" sz="1100" b="0" i="0" u="none" strike="noStrike" dirty="0">
                          <a:solidFill>
                            <a:schemeClr val="tx1"/>
                          </a:solidFill>
                          <a:effectLst/>
                          <a:latin typeface="+mn-ea"/>
                          <a:ea typeface="+mn-ea"/>
                        </a:rPr>
                        <a:t>45.9 </a:t>
                      </a:r>
                    </a:p>
                  </a:txBody>
                  <a:tcPr marL="6350" marR="6350" marT="6350" marB="0" anchor="ctr">
                    <a:noFill/>
                  </a:tcPr>
                </a:tc>
                <a:tc>
                  <a:txBody>
                    <a:bodyPr/>
                    <a:lstStyle/>
                    <a:p>
                      <a:pPr algn="ctr" fontAlgn="ctr"/>
                      <a:r>
                        <a:rPr lang="en-US" altLang="zh-CN" sz="1100" b="1" i="0" u="none" strike="noStrike" dirty="0">
                          <a:solidFill>
                            <a:srgbClr val="4B8D56"/>
                          </a:solidFill>
                          <a:effectLst/>
                          <a:latin typeface="+mn-ea"/>
                          <a:ea typeface="+mn-ea"/>
                        </a:rPr>
                        <a:t>80.0 </a:t>
                      </a:r>
                    </a:p>
                  </a:txBody>
                  <a:tcPr marL="6350" marR="6350" marT="6350" marB="0" anchor="ctr">
                    <a:noFill/>
                  </a:tcPr>
                </a:tc>
                <a:tc>
                  <a:txBody>
                    <a:bodyPr/>
                    <a:lstStyle/>
                    <a:p>
                      <a:pPr algn="ctr" fontAlgn="ctr"/>
                      <a:r>
                        <a:rPr lang="en-US" altLang="zh-CN" sz="1100" b="0" i="0" u="none" strike="noStrike">
                          <a:solidFill>
                            <a:schemeClr val="tx1"/>
                          </a:solidFill>
                          <a:effectLst/>
                          <a:latin typeface="+mn-ea"/>
                          <a:ea typeface="+mn-ea"/>
                        </a:rPr>
                        <a:t>51.4 </a:t>
                      </a:r>
                    </a:p>
                  </a:txBody>
                  <a:tcPr marL="6350" marR="6350" marT="6350" marB="0" anchor="ctr">
                    <a:noFill/>
                  </a:tcPr>
                </a:tc>
                <a:tc>
                  <a:txBody>
                    <a:bodyPr/>
                    <a:lstStyle/>
                    <a:p>
                      <a:pPr algn="ctr" fontAlgn="ctr"/>
                      <a:r>
                        <a:rPr lang="en-US" altLang="zh-CN" sz="1100" b="0" i="0" u="none" strike="noStrike" dirty="0">
                          <a:solidFill>
                            <a:schemeClr val="tx1"/>
                          </a:solidFill>
                          <a:effectLst/>
                          <a:latin typeface="+mn-ea"/>
                          <a:ea typeface="+mn-ea"/>
                        </a:rPr>
                        <a:t>60.5 </a:t>
                      </a:r>
                    </a:p>
                  </a:txBody>
                  <a:tcPr marL="6350" marR="6350" marT="6350" marB="0" anchor="ctr">
                    <a:noFill/>
                  </a:tcPr>
                </a:tc>
                <a:tc>
                  <a:txBody>
                    <a:bodyPr/>
                    <a:lstStyle/>
                    <a:p>
                      <a:pPr algn="ctr" fontAlgn="ctr"/>
                      <a:r>
                        <a:rPr lang="en-US" altLang="zh-CN" sz="1100" b="0" i="0" u="none" strike="noStrike" dirty="0">
                          <a:solidFill>
                            <a:schemeClr val="tx1"/>
                          </a:solidFill>
                          <a:effectLst/>
                          <a:latin typeface="+mn-ea"/>
                          <a:ea typeface="+mn-ea"/>
                        </a:rPr>
                        <a:t>64.5 </a:t>
                      </a:r>
                    </a:p>
                  </a:txBody>
                  <a:tcPr marL="6350" marR="6350" marT="6350" marB="0" anchor="ctr">
                    <a:noFill/>
                  </a:tcPr>
                </a:tc>
                <a:extLst>
                  <a:ext uri="{0D108BD9-81ED-4DB2-BD59-A6C34878D82A}">
                    <a16:rowId xmlns:a16="http://schemas.microsoft.com/office/drawing/2014/main" val="1729157826"/>
                  </a:ext>
                </a:extLst>
              </a:tr>
            </a:tbl>
          </a:graphicData>
        </a:graphic>
      </p:graphicFrame>
      <p:graphicFrame>
        <p:nvGraphicFramePr>
          <p:cNvPr id="29" name="表格 28">
            <a:extLst>
              <a:ext uri="{FF2B5EF4-FFF2-40B4-BE49-F238E27FC236}">
                <a16:creationId xmlns:a16="http://schemas.microsoft.com/office/drawing/2014/main" id="{DA96CA60-B86E-A471-C962-76B4A6BC904F}"/>
              </a:ext>
            </a:extLst>
          </p:cNvPr>
          <p:cNvGraphicFramePr>
            <a:graphicFrameLocks noGrp="1"/>
          </p:cNvGraphicFramePr>
          <p:nvPr/>
        </p:nvGraphicFramePr>
        <p:xfrm>
          <a:off x="6243073" y="5382240"/>
          <a:ext cx="5464092" cy="370840"/>
        </p:xfrm>
        <a:graphic>
          <a:graphicData uri="http://schemas.openxmlformats.org/drawingml/2006/table">
            <a:tbl>
              <a:tblPr firstRow="1" bandRow="1">
                <a:tableStyleId>{5C22544A-7EE6-4342-B048-85BDC9FD1C3A}</a:tableStyleId>
              </a:tblPr>
              <a:tblGrid>
                <a:gridCol w="910682">
                  <a:extLst>
                    <a:ext uri="{9D8B030D-6E8A-4147-A177-3AD203B41FA5}">
                      <a16:colId xmlns:a16="http://schemas.microsoft.com/office/drawing/2014/main" val="996804910"/>
                    </a:ext>
                  </a:extLst>
                </a:gridCol>
                <a:gridCol w="910682">
                  <a:extLst>
                    <a:ext uri="{9D8B030D-6E8A-4147-A177-3AD203B41FA5}">
                      <a16:colId xmlns:a16="http://schemas.microsoft.com/office/drawing/2014/main" val="219944489"/>
                    </a:ext>
                  </a:extLst>
                </a:gridCol>
                <a:gridCol w="910682">
                  <a:extLst>
                    <a:ext uri="{9D8B030D-6E8A-4147-A177-3AD203B41FA5}">
                      <a16:colId xmlns:a16="http://schemas.microsoft.com/office/drawing/2014/main" val="1589569921"/>
                    </a:ext>
                  </a:extLst>
                </a:gridCol>
                <a:gridCol w="910682">
                  <a:extLst>
                    <a:ext uri="{9D8B030D-6E8A-4147-A177-3AD203B41FA5}">
                      <a16:colId xmlns:a16="http://schemas.microsoft.com/office/drawing/2014/main" val="2180222477"/>
                    </a:ext>
                  </a:extLst>
                </a:gridCol>
                <a:gridCol w="910682">
                  <a:extLst>
                    <a:ext uri="{9D8B030D-6E8A-4147-A177-3AD203B41FA5}">
                      <a16:colId xmlns:a16="http://schemas.microsoft.com/office/drawing/2014/main" val="4271917189"/>
                    </a:ext>
                  </a:extLst>
                </a:gridCol>
                <a:gridCol w="910682">
                  <a:extLst>
                    <a:ext uri="{9D8B030D-6E8A-4147-A177-3AD203B41FA5}">
                      <a16:colId xmlns:a16="http://schemas.microsoft.com/office/drawing/2014/main" val="3133000720"/>
                    </a:ext>
                  </a:extLst>
                </a:gridCol>
              </a:tblGrid>
              <a:tr h="370840">
                <a:tc>
                  <a:txBody>
                    <a:bodyPr/>
                    <a:lstStyle/>
                    <a:p>
                      <a:pPr marL="0" algn="ctr" defTabSz="914400" rtl="0" eaLnBrk="1" latinLnBrk="0" hangingPunct="1"/>
                      <a:r>
                        <a:rPr lang="zh-CN" altLang="en-US" sz="1100" b="1" kern="1200" dirty="0">
                          <a:solidFill>
                            <a:schemeClr val="tx1"/>
                          </a:solidFill>
                          <a:latin typeface="+mn-ea"/>
                          <a:ea typeface="+mn-ea"/>
                          <a:cs typeface="+mn-cs"/>
                        </a:rPr>
                        <a:t>差值</a:t>
                      </a:r>
                    </a:p>
                  </a:txBody>
                  <a:tcPr anchor="ctr">
                    <a:noFill/>
                  </a:tcPr>
                </a:tc>
                <a:tc>
                  <a:txBody>
                    <a:bodyPr/>
                    <a:lstStyle/>
                    <a:p>
                      <a:pPr marL="0" algn="ctr" defTabSz="914400" rtl="0" eaLnBrk="1" fontAlgn="ctr" latinLnBrk="0" hangingPunct="1"/>
                      <a:r>
                        <a:rPr lang="en-US" altLang="zh-CN" sz="1100" b="0" kern="1200" dirty="0">
                          <a:solidFill>
                            <a:schemeClr val="tx1"/>
                          </a:solidFill>
                          <a:latin typeface="+mn-ea"/>
                          <a:ea typeface="+mn-ea"/>
                          <a:cs typeface="+mn-cs"/>
                        </a:rPr>
                        <a:t>59.0 </a:t>
                      </a:r>
                    </a:p>
                  </a:txBody>
                  <a:tcPr marL="6350" marR="6350" marT="6350" marB="0" anchor="ctr">
                    <a:noFill/>
                  </a:tcPr>
                </a:tc>
                <a:tc>
                  <a:txBody>
                    <a:bodyPr/>
                    <a:lstStyle/>
                    <a:p>
                      <a:pPr marL="0" algn="ctr" defTabSz="914400" rtl="0" eaLnBrk="1" fontAlgn="ctr" latinLnBrk="0" hangingPunct="1"/>
                      <a:r>
                        <a:rPr lang="en-US" altLang="zh-CN" sz="1100" b="0" kern="1200" dirty="0">
                          <a:solidFill>
                            <a:schemeClr val="tx1"/>
                          </a:solidFill>
                          <a:latin typeface="+mn-ea"/>
                          <a:ea typeface="+mn-ea"/>
                          <a:cs typeface="+mn-cs"/>
                        </a:rPr>
                        <a:t>54.7 </a:t>
                      </a:r>
                    </a:p>
                  </a:txBody>
                  <a:tcPr marL="6350" marR="6350" marT="6350" marB="0" anchor="ctr">
                    <a:noFill/>
                  </a:tcPr>
                </a:tc>
                <a:tc>
                  <a:txBody>
                    <a:bodyPr/>
                    <a:lstStyle/>
                    <a:p>
                      <a:pPr marL="0" algn="ctr" defTabSz="914400" rtl="0" eaLnBrk="1" fontAlgn="ctr" latinLnBrk="0" hangingPunct="1"/>
                      <a:r>
                        <a:rPr lang="en-US" altLang="zh-CN" sz="1100" b="0" kern="1200" dirty="0">
                          <a:solidFill>
                            <a:schemeClr val="tx1"/>
                          </a:solidFill>
                          <a:latin typeface="+mn-ea"/>
                          <a:ea typeface="+mn-ea"/>
                          <a:cs typeface="+mn-cs"/>
                        </a:rPr>
                        <a:t>67.8 </a:t>
                      </a:r>
                    </a:p>
                  </a:txBody>
                  <a:tcPr marL="6350" marR="6350" marT="6350" marB="0" anchor="ctr">
                    <a:noFill/>
                  </a:tcPr>
                </a:tc>
                <a:tc>
                  <a:txBody>
                    <a:bodyPr/>
                    <a:lstStyle/>
                    <a:p>
                      <a:pPr marL="0" algn="ctr" defTabSz="914400" rtl="0" eaLnBrk="1" fontAlgn="ctr" latinLnBrk="0" hangingPunct="1"/>
                      <a:r>
                        <a:rPr lang="en-US" altLang="zh-CN" sz="1100" b="0" kern="1200" dirty="0">
                          <a:solidFill>
                            <a:schemeClr val="tx1"/>
                          </a:solidFill>
                          <a:latin typeface="+mn-ea"/>
                          <a:ea typeface="+mn-ea"/>
                          <a:cs typeface="+mn-cs"/>
                        </a:rPr>
                        <a:t>69.9 </a:t>
                      </a:r>
                    </a:p>
                  </a:txBody>
                  <a:tcPr marL="6350" marR="6350" marT="6350" marB="0" anchor="ctr">
                    <a:noFill/>
                  </a:tcPr>
                </a:tc>
                <a:tc>
                  <a:txBody>
                    <a:bodyPr/>
                    <a:lstStyle/>
                    <a:p>
                      <a:pPr marL="0" algn="ctr" defTabSz="914400" rtl="0" eaLnBrk="1" fontAlgn="ctr" latinLnBrk="0" hangingPunct="1"/>
                      <a:r>
                        <a:rPr lang="en-US" altLang="zh-CN" sz="1100" b="1" kern="1200" dirty="0">
                          <a:solidFill>
                            <a:srgbClr val="FF0000"/>
                          </a:solidFill>
                          <a:latin typeface="+mn-ea"/>
                          <a:ea typeface="+mn-ea"/>
                          <a:cs typeface="+mn-cs"/>
                        </a:rPr>
                        <a:t>84.4 </a:t>
                      </a:r>
                    </a:p>
                  </a:txBody>
                  <a:tcPr marL="6350" marR="6350" marT="6350" marB="0" anchor="ctr">
                    <a:noFill/>
                  </a:tcPr>
                </a:tc>
                <a:extLst>
                  <a:ext uri="{0D108BD9-81ED-4DB2-BD59-A6C34878D82A}">
                    <a16:rowId xmlns:a16="http://schemas.microsoft.com/office/drawing/2014/main" val="1729157826"/>
                  </a:ext>
                </a:extLst>
              </a:tr>
            </a:tbl>
          </a:graphicData>
        </a:graphic>
      </p:graphicFrame>
    </p:spTree>
    <p:extLst>
      <p:ext uri="{BB962C8B-B14F-4D97-AF65-F5344CB8AC3E}">
        <p14:creationId xmlns:p14="http://schemas.microsoft.com/office/powerpoint/2010/main" val="7474737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E097F8F1-0475-74B0-4F83-813138AC5FED}"/>
              </a:ext>
            </a:extLst>
          </p:cNvPr>
          <p:cNvSpPr>
            <a:spLocks noGrp="1"/>
          </p:cNvSpPr>
          <p:nvPr>
            <p:ph type="body" sz="quarter" idx="21"/>
          </p:nvPr>
        </p:nvSpPr>
        <p:spPr/>
        <p:txBody>
          <a:bodyPr/>
          <a:lstStyle/>
          <a:p>
            <a:r>
              <a:rPr kumimoji="1" lang="en-US" altLang="zh-CN" dirty="0">
                <a:latin typeface="+mn-ea"/>
                <a:ea typeface="+mn-ea"/>
              </a:rPr>
              <a:t>2.3 </a:t>
            </a:r>
            <a:r>
              <a:rPr kumimoji="1" lang="zh-CN" altLang="en-US" dirty="0">
                <a:latin typeface="+mn-ea"/>
                <a:ea typeface="+mn-ea"/>
              </a:rPr>
              <a:t>战胜战败分析 </a:t>
            </a:r>
            <a:r>
              <a:rPr kumimoji="1" lang="en-US" altLang="zh-CN" dirty="0">
                <a:latin typeface="+mn-ea"/>
                <a:ea typeface="+mn-ea"/>
              </a:rPr>
              <a:t>– </a:t>
            </a:r>
            <a:r>
              <a:rPr kumimoji="1" lang="zh-CN" altLang="en-US" dirty="0"/>
              <a:t>服务环节体验缺失分析</a:t>
            </a:r>
            <a:endParaRPr lang="zh-CN" altLang="en-US" dirty="0"/>
          </a:p>
        </p:txBody>
      </p:sp>
      <p:sp>
        <p:nvSpPr>
          <p:cNvPr id="8" name="文本占位符 7">
            <a:extLst>
              <a:ext uri="{FF2B5EF4-FFF2-40B4-BE49-F238E27FC236}">
                <a16:creationId xmlns:a16="http://schemas.microsoft.com/office/drawing/2014/main" id="{99A11EC1-FEA6-9337-6349-A0025CD5C5D9}"/>
              </a:ext>
            </a:extLst>
          </p:cNvPr>
          <p:cNvSpPr>
            <a:spLocks noGrp="1"/>
          </p:cNvSpPr>
          <p:nvPr>
            <p:ph type="body" sz="quarter" idx="22"/>
          </p:nvPr>
        </p:nvSpPr>
        <p:spPr>
          <a:xfrm>
            <a:off x="311065" y="906889"/>
            <a:ext cx="11547560" cy="577424"/>
          </a:xfrm>
        </p:spPr>
        <p:txBody>
          <a:bodyPr/>
          <a:lstStyle/>
          <a:p>
            <a:r>
              <a:rPr lang="zh-CN" altLang="en-US" dirty="0">
                <a:latin typeface="+mn-ea"/>
                <a:ea typeface="+mn-ea"/>
              </a:rPr>
              <a:t>战败车主入店前没有咨询某品牌原因主要是担心“销售人员骚扰和信息泄露”；除产品原因外，没有试乘试驾主要是“排队等待时间”，没有洽谈下定主要是“没有优惠政策”</a:t>
            </a:r>
          </a:p>
        </p:txBody>
      </p:sp>
      <p:sp>
        <p:nvSpPr>
          <p:cNvPr id="5" name="灯片编号占位符 4">
            <a:extLst>
              <a:ext uri="{FF2B5EF4-FFF2-40B4-BE49-F238E27FC236}">
                <a16:creationId xmlns:a16="http://schemas.microsoft.com/office/drawing/2014/main" id="{B2B8CC27-9470-82B3-99D8-7E73E114004C}"/>
              </a:ext>
            </a:extLst>
          </p:cNvPr>
          <p:cNvSpPr>
            <a:spLocks noGrp="1"/>
          </p:cNvSpPr>
          <p:nvPr>
            <p:ph type="sldNum" sz="quarter" idx="4"/>
          </p:nvPr>
        </p:nvSpPr>
        <p:spPr/>
        <p:txBody>
          <a:bodyPr/>
          <a:lstStyle/>
          <a:p>
            <a:fld id="{04824671-56D2-5D44-834F-250C3DA554E9}" type="slidenum">
              <a:rPr lang="zh-CN" altLang="en-US" smtClean="0"/>
              <a:t>36</a:t>
            </a:fld>
            <a:endParaRPr lang="zh-CN" altLang="en-US" dirty="0"/>
          </a:p>
        </p:txBody>
      </p:sp>
      <p:graphicFrame>
        <p:nvGraphicFramePr>
          <p:cNvPr id="18" name="图表 17">
            <a:extLst>
              <a:ext uri="{FF2B5EF4-FFF2-40B4-BE49-F238E27FC236}">
                <a16:creationId xmlns:a16="http://schemas.microsoft.com/office/drawing/2014/main" id="{AFC8646B-5AD9-24A4-0E97-178241A6BA86}"/>
              </a:ext>
            </a:extLst>
          </p:cNvPr>
          <p:cNvGraphicFramePr/>
          <p:nvPr>
            <p:extLst>
              <p:ext uri="{D42A27DB-BD31-4B8C-83A1-F6EECF244321}">
                <p14:modId xmlns:p14="http://schemas.microsoft.com/office/powerpoint/2010/main" val="2078746937"/>
              </p:ext>
            </p:extLst>
          </p:nvPr>
        </p:nvGraphicFramePr>
        <p:xfrm>
          <a:off x="8508476" y="2387120"/>
          <a:ext cx="3419999" cy="2828138"/>
        </p:xfrm>
        <a:graphic>
          <a:graphicData uri="http://schemas.openxmlformats.org/drawingml/2006/chart">
            <c:chart xmlns:c="http://schemas.openxmlformats.org/drawingml/2006/chart" xmlns:r="http://schemas.openxmlformats.org/officeDocument/2006/relationships" r:id="rId2"/>
          </a:graphicData>
        </a:graphic>
      </p:graphicFrame>
      <p:sp>
        <p:nvSpPr>
          <p:cNvPr id="19" name="文本框 18">
            <a:extLst>
              <a:ext uri="{FF2B5EF4-FFF2-40B4-BE49-F238E27FC236}">
                <a16:creationId xmlns:a16="http://schemas.microsoft.com/office/drawing/2014/main" id="{FA815195-BDDA-3AE2-5D76-7D559F29EB6E}"/>
              </a:ext>
            </a:extLst>
          </p:cNvPr>
          <p:cNvSpPr txBox="1"/>
          <p:nvPr/>
        </p:nvSpPr>
        <p:spPr>
          <a:xfrm>
            <a:off x="1546117" y="2160752"/>
            <a:ext cx="1463040" cy="246221"/>
          </a:xfrm>
          <a:prstGeom prst="rect">
            <a:avLst/>
          </a:prstGeom>
          <a:noFill/>
        </p:spPr>
        <p:txBody>
          <a:bodyPr wrap="square" rtlCol="0">
            <a:spAutoFit/>
          </a:bodyPr>
          <a:lstStyle/>
          <a:p>
            <a:r>
              <a:rPr lang="en-US" altLang="zh-CN" sz="1000" dirty="0">
                <a:solidFill>
                  <a:schemeClr val="bg1">
                    <a:lumMod val="50000"/>
                  </a:schemeClr>
                </a:solidFill>
                <a:latin typeface="+mj-ea"/>
                <a:ea typeface="+mj-ea"/>
              </a:rPr>
              <a:t>N=22</a:t>
            </a:r>
            <a:endParaRPr lang="zh-CN" altLang="en-US" sz="1000" dirty="0">
              <a:solidFill>
                <a:schemeClr val="bg1">
                  <a:lumMod val="50000"/>
                </a:schemeClr>
              </a:solidFill>
              <a:latin typeface="+mj-ea"/>
              <a:ea typeface="+mj-ea"/>
            </a:endParaRPr>
          </a:p>
        </p:txBody>
      </p:sp>
      <p:graphicFrame>
        <p:nvGraphicFramePr>
          <p:cNvPr id="16" name="图表 15">
            <a:extLst>
              <a:ext uri="{FF2B5EF4-FFF2-40B4-BE49-F238E27FC236}">
                <a16:creationId xmlns:a16="http://schemas.microsoft.com/office/drawing/2014/main" id="{8A57DFBD-B9B8-8486-D59F-23760385ACBA}"/>
              </a:ext>
            </a:extLst>
          </p:cNvPr>
          <p:cNvGraphicFramePr/>
          <p:nvPr>
            <p:extLst>
              <p:ext uri="{D42A27DB-BD31-4B8C-83A1-F6EECF244321}">
                <p14:modId xmlns:p14="http://schemas.microsoft.com/office/powerpoint/2010/main" val="422009823"/>
              </p:ext>
            </p:extLst>
          </p:nvPr>
        </p:nvGraphicFramePr>
        <p:xfrm>
          <a:off x="4394734" y="2395997"/>
          <a:ext cx="3447779" cy="3700603"/>
        </p:xfrm>
        <a:graphic>
          <a:graphicData uri="http://schemas.openxmlformats.org/drawingml/2006/chart">
            <c:chart xmlns:c="http://schemas.openxmlformats.org/drawingml/2006/chart" xmlns:r="http://schemas.openxmlformats.org/officeDocument/2006/relationships" r:id="rId3"/>
          </a:graphicData>
        </a:graphic>
      </p:graphicFrame>
      <p:sp>
        <p:nvSpPr>
          <p:cNvPr id="21" name="文本框 20">
            <a:extLst>
              <a:ext uri="{FF2B5EF4-FFF2-40B4-BE49-F238E27FC236}">
                <a16:creationId xmlns:a16="http://schemas.microsoft.com/office/drawing/2014/main" id="{29E4FACB-A5BA-544A-C41A-7EDC2DC98D13}"/>
              </a:ext>
            </a:extLst>
          </p:cNvPr>
          <p:cNvSpPr txBox="1"/>
          <p:nvPr/>
        </p:nvSpPr>
        <p:spPr>
          <a:xfrm>
            <a:off x="5861599" y="2160752"/>
            <a:ext cx="1463040" cy="246221"/>
          </a:xfrm>
          <a:prstGeom prst="rect">
            <a:avLst/>
          </a:prstGeom>
          <a:noFill/>
        </p:spPr>
        <p:txBody>
          <a:bodyPr wrap="square" rtlCol="0">
            <a:spAutoFit/>
          </a:bodyPr>
          <a:lstStyle/>
          <a:p>
            <a:r>
              <a:rPr lang="en-US" altLang="zh-CN" sz="1000" dirty="0">
                <a:solidFill>
                  <a:schemeClr val="bg1">
                    <a:lumMod val="50000"/>
                  </a:schemeClr>
                </a:solidFill>
                <a:latin typeface="+mj-ea"/>
                <a:ea typeface="+mj-ea"/>
              </a:rPr>
              <a:t>N=33</a:t>
            </a:r>
            <a:endParaRPr lang="zh-CN" altLang="en-US" sz="1000" dirty="0">
              <a:solidFill>
                <a:schemeClr val="bg1">
                  <a:lumMod val="50000"/>
                </a:schemeClr>
              </a:solidFill>
              <a:latin typeface="+mj-ea"/>
              <a:ea typeface="+mj-ea"/>
            </a:endParaRPr>
          </a:p>
        </p:txBody>
      </p:sp>
      <p:sp>
        <p:nvSpPr>
          <p:cNvPr id="22" name="文本框 21">
            <a:extLst>
              <a:ext uri="{FF2B5EF4-FFF2-40B4-BE49-F238E27FC236}">
                <a16:creationId xmlns:a16="http://schemas.microsoft.com/office/drawing/2014/main" id="{4414973B-B22A-16C7-5B9C-A859D625172C}"/>
              </a:ext>
            </a:extLst>
          </p:cNvPr>
          <p:cNvSpPr txBox="1"/>
          <p:nvPr/>
        </p:nvSpPr>
        <p:spPr>
          <a:xfrm>
            <a:off x="9894053" y="2160752"/>
            <a:ext cx="1463040" cy="246221"/>
          </a:xfrm>
          <a:prstGeom prst="rect">
            <a:avLst/>
          </a:prstGeom>
          <a:noFill/>
        </p:spPr>
        <p:txBody>
          <a:bodyPr wrap="square" rtlCol="0">
            <a:spAutoFit/>
          </a:bodyPr>
          <a:lstStyle/>
          <a:p>
            <a:r>
              <a:rPr lang="en-US" altLang="zh-CN" sz="1000" dirty="0">
                <a:solidFill>
                  <a:schemeClr val="bg1">
                    <a:lumMod val="50000"/>
                  </a:schemeClr>
                </a:solidFill>
                <a:latin typeface="+mj-ea"/>
                <a:ea typeface="+mj-ea"/>
              </a:rPr>
              <a:t>N=207</a:t>
            </a:r>
            <a:endParaRPr lang="zh-CN" altLang="en-US" sz="1000" dirty="0">
              <a:solidFill>
                <a:schemeClr val="bg1">
                  <a:lumMod val="50000"/>
                </a:schemeClr>
              </a:solidFill>
              <a:latin typeface="+mj-ea"/>
              <a:ea typeface="+mj-ea"/>
            </a:endParaRPr>
          </a:p>
        </p:txBody>
      </p:sp>
      <p:graphicFrame>
        <p:nvGraphicFramePr>
          <p:cNvPr id="14" name="图表 13">
            <a:extLst>
              <a:ext uri="{FF2B5EF4-FFF2-40B4-BE49-F238E27FC236}">
                <a16:creationId xmlns:a16="http://schemas.microsoft.com/office/drawing/2014/main" id="{3A7DA622-5D64-C33D-13A8-E6E1F961E5F0}"/>
              </a:ext>
            </a:extLst>
          </p:cNvPr>
          <p:cNvGraphicFramePr/>
          <p:nvPr>
            <p:extLst>
              <p:ext uri="{D42A27DB-BD31-4B8C-83A1-F6EECF244321}">
                <p14:modId xmlns:p14="http://schemas.microsoft.com/office/powerpoint/2010/main" val="3925458132"/>
              </p:ext>
            </p:extLst>
          </p:nvPr>
        </p:nvGraphicFramePr>
        <p:xfrm>
          <a:off x="263525" y="2395997"/>
          <a:ext cx="3447779" cy="3700603"/>
        </p:xfrm>
        <a:graphic>
          <a:graphicData uri="http://schemas.openxmlformats.org/drawingml/2006/chart">
            <c:chart xmlns:c="http://schemas.openxmlformats.org/drawingml/2006/chart" xmlns:r="http://schemas.openxmlformats.org/officeDocument/2006/relationships" r:id="rId4"/>
          </a:graphicData>
        </a:graphic>
      </p:graphicFrame>
      <p:sp>
        <p:nvSpPr>
          <p:cNvPr id="2" name="矩形 1">
            <a:extLst>
              <a:ext uri="{FF2B5EF4-FFF2-40B4-BE49-F238E27FC236}">
                <a16:creationId xmlns:a16="http://schemas.microsoft.com/office/drawing/2014/main" id="{07DBF48D-FFA6-8313-DB74-54B1196DCF19}"/>
              </a:ext>
            </a:extLst>
          </p:cNvPr>
          <p:cNvSpPr/>
          <p:nvPr/>
        </p:nvSpPr>
        <p:spPr>
          <a:xfrm>
            <a:off x="290646" y="1846349"/>
            <a:ext cx="3816000" cy="4354425"/>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753B97A7-B0FB-FAEE-19C8-D01B429CD9B6}"/>
              </a:ext>
            </a:extLst>
          </p:cNvPr>
          <p:cNvSpPr/>
          <p:nvPr/>
        </p:nvSpPr>
        <p:spPr>
          <a:xfrm>
            <a:off x="4199192" y="1846349"/>
            <a:ext cx="3816000" cy="4354425"/>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B494F8C7-FEF1-512E-CC77-2D3684D7F4CC}"/>
              </a:ext>
            </a:extLst>
          </p:cNvPr>
          <p:cNvSpPr/>
          <p:nvPr/>
        </p:nvSpPr>
        <p:spPr>
          <a:xfrm>
            <a:off x="8107738" y="1846349"/>
            <a:ext cx="3816000" cy="4354425"/>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EAE52862-84B2-F888-0ECC-6DC304A28E42}"/>
              </a:ext>
            </a:extLst>
          </p:cNvPr>
          <p:cNvSpPr txBox="1"/>
          <p:nvPr/>
        </p:nvSpPr>
        <p:spPr>
          <a:xfrm>
            <a:off x="284791" y="1642743"/>
            <a:ext cx="3816000" cy="307777"/>
          </a:xfrm>
          <a:prstGeom prst="rect">
            <a:avLst/>
          </a:prstGeom>
          <a:solidFill>
            <a:srgbClr val="1B9538"/>
          </a:solidFill>
        </p:spPr>
        <p:txBody>
          <a:bodyPr wrap="square" rtlCol="0">
            <a:spAutoFit/>
          </a:bodyPr>
          <a:lstStyle/>
          <a:p>
            <a:pPr algn="ctr"/>
            <a:r>
              <a:rPr lang="zh-CN" altLang="en-US" sz="1400" b="1" dirty="0">
                <a:solidFill>
                  <a:schemeClr val="bg1"/>
                </a:solidFill>
                <a:latin typeface="微软雅黑" panose="020B0503020204020204" pitchFamily="34" charset="-122"/>
                <a:ea typeface="Alibaba PuHuiTi 2.0 55 Regular"/>
              </a:rPr>
              <a:t>入店前没有咨询的原因</a:t>
            </a:r>
          </a:p>
        </p:txBody>
      </p:sp>
      <p:sp>
        <p:nvSpPr>
          <p:cNvPr id="9" name="文本框 8">
            <a:extLst>
              <a:ext uri="{FF2B5EF4-FFF2-40B4-BE49-F238E27FC236}">
                <a16:creationId xmlns:a16="http://schemas.microsoft.com/office/drawing/2014/main" id="{B8979F2C-C5F7-D3D4-5CF3-B628665E8BA1}"/>
              </a:ext>
            </a:extLst>
          </p:cNvPr>
          <p:cNvSpPr txBox="1"/>
          <p:nvPr/>
        </p:nvSpPr>
        <p:spPr>
          <a:xfrm>
            <a:off x="4220491" y="1642743"/>
            <a:ext cx="3816000" cy="307777"/>
          </a:xfrm>
          <a:prstGeom prst="rect">
            <a:avLst/>
          </a:prstGeom>
          <a:solidFill>
            <a:srgbClr val="1B9538"/>
          </a:solidFill>
        </p:spPr>
        <p:txBody>
          <a:bodyPr wrap="square" rtlCol="0">
            <a:spAutoFit/>
          </a:bodyPr>
          <a:lstStyle/>
          <a:p>
            <a:pPr algn="ctr"/>
            <a:r>
              <a:rPr lang="zh-CN" altLang="en-US" sz="1400" b="1" dirty="0">
                <a:solidFill>
                  <a:schemeClr val="bg1"/>
                </a:solidFill>
                <a:latin typeface="微软雅黑" panose="020B0503020204020204" pitchFamily="34" charset="-122"/>
                <a:ea typeface="Alibaba PuHuiTi 2.0 55 Regular"/>
              </a:rPr>
              <a:t>入店后没有试乘试驾的原因</a:t>
            </a:r>
          </a:p>
        </p:txBody>
      </p:sp>
      <p:sp>
        <p:nvSpPr>
          <p:cNvPr id="11" name="文本框 10">
            <a:extLst>
              <a:ext uri="{FF2B5EF4-FFF2-40B4-BE49-F238E27FC236}">
                <a16:creationId xmlns:a16="http://schemas.microsoft.com/office/drawing/2014/main" id="{F2C029CC-80F7-78A6-2281-EC14B86BCD71}"/>
              </a:ext>
            </a:extLst>
          </p:cNvPr>
          <p:cNvSpPr txBox="1"/>
          <p:nvPr/>
        </p:nvSpPr>
        <p:spPr>
          <a:xfrm>
            <a:off x="8107714" y="1642743"/>
            <a:ext cx="3816000" cy="307777"/>
          </a:xfrm>
          <a:prstGeom prst="rect">
            <a:avLst/>
          </a:prstGeom>
          <a:solidFill>
            <a:srgbClr val="1B9538"/>
          </a:solidFill>
        </p:spPr>
        <p:txBody>
          <a:bodyPr wrap="square" rtlCol="0">
            <a:spAutoFit/>
          </a:bodyPr>
          <a:lstStyle/>
          <a:p>
            <a:pPr algn="ctr"/>
            <a:r>
              <a:rPr lang="zh-CN" altLang="en-US" sz="1400" b="1" dirty="0">
                <a:solidFill>
                  <a:schemeClr val="bg1"/>
                </a:solidFill>
                <a:latin typeface="微软雅黑" panose="020B0503020204020204" pitchFamily="34" charset="-122"/>
                <a:ea typeface="Alibaba PuHuiTi 2.0 55 Regular"/>
              </a:rPr>
              <a:t>入店后没有洽谈下定的原因</a:t>
            </a:r>
          </a:p>
        </p:txBody>
      </p:sp>
    </p:spTree>
    <p:extLst>
      <p:ext uri="{BB962C8B-B14F-4D97-AF65-F5344CB8AC3E}">
        <p14:creationId xmlns:p14="http://schemas.microsoft.com/office/powerpoint/2010/main" val="30722853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占位符 26">
            <a:extLst>
              <a:ext uri="{FF2B5EF4-FFF2-40B4-BE49-F238E27FC236}">
                <a16:creationId xmlns:a16="http://schemas.microsoft.com/office/drawing/2014/main" id="{99B3C8AC-B24F-FE3F-D0DB-C44C12AD46EB}"/>
              </a:ext>
            </a:extLst>
          </p:cNvPr>
          <p:cNvSpPr>
            <a:spLocks noGrp="1"/>
          </p:cNvSpPr>
          <p:nvPr>
            <p:ph type="body" sz="quarter" idx="14"/>
          </p:nvPr>
        </p:nvSpPr>
        <p:spPr/>
        <p:txBody>
          <a:bodyPr/>
          <a:lstStyle/>
          <a:p>
            <a:endParaRPr lang="zh-CN" altLang="en-US"/>
          </a:p>
        </p:txBody>
      </p:sp>
      <p:sp>
        <p:nvSpPr>
          <p:cNvPr id="7" name="文本占位符 6">
            <a:extLst>
              <a:ext uri="{FF2B5EF4-FFF2-40B4-BE49-F238E27FC236}">
                <a16:creationId xmlns:a16="http://schemas.microsoft.com/office/drawing/2014/main" id="{E097F8F1-0475-74B0-4F83-813138AC5FED}"/>
              </a:ext>
            </a:extLst>
          </p:cNvPr>
          <p:cNvSpPr>
            <a:spLocks noGrp="1"/>
          </p:cNvSpPr>
          <p:nvPr>
            <p:ph type="body" sz="quarter" idx="21"/>
          </p:nvPr>
        </p:nvSpPr>
        <p:spPr/>
        <p:txBody>
          <a:bodyPr/>
          <a:lstStyle/>
          <a:p>
            <a:r>
              <a:rPr kumimoji="1" lang="en-US" altLang="zh-CN" dirty="0">
                <a:latin typeface="+mn-ea"/>
                <a:ea typeface="+mn-ea"/>
              </a:rPr>
              <a:t>2.3 </a:t>
            </a:r>
            <a:r>
              <a:rPr kumimoji="1" lang="zh-CN" altLang="en-US" dirty="0">
                <a:latin typeface="+mn-ea"/>
                <a:ea typeface="+mn-ea"/>
              </a:rPr>
              <a:t>战胜战败分析 </a:t>
            </a:r>
            <a:r>
              <a:rPr kumimoji="1" lang="en-US" altLang="zh-CN" dirty="0">
                <a:latin typeface="+mn-ea"/>
                <a:ea typeface="+mn-ea"/>
              </a:rPr>
              <a:t>– </a:t>
            </a:r>
            <a:r>
              <a:rPr kumimoji="1" lang="zh-CN" altLang="en-US" dirty="0"/>
              <a:t>影响选择某品牌重要因素</a:t>
            </a:r>
            <a:endParaRPr lang="zh-CN" altLang="en-US" dirty="0"/>
          </a:p>
        </p:txBody>
      </p:sp>
      <p:sp>
        <p:nvSpPr>
          <p:cNvPr id="8" name="文本占位符 7">
            <a:extLst>
              <a:ext uri="{FF2B5EF4-FFF2-40B4-BE49-F238E27FC236}">
                <a16:creationId xmlns:a16="http://schemas.microsoft.com/office/drawing/2014/main" id="{99A11EC1-FEA6-9337-6349-A0025CD5C5D9}"/>
              </a:ext>
            </a:extLst>
          </p:cNvPr>
          <p:cNvSpPr>
            <a:spLocks noGrp="1"/>
          </p:cNvSpPr>
          <p:nvPr>
            <p:ph type="body" sz="quarter" idx="22"/>
          </p:nvPr>
        </p:nvSpPr>
        <p:spPr/>
        <p:txBody>
          <a:bodyPr/>
          <a:lstStyle/>
          <a:p>
            <a:pPr>
              <a:lnSpc>
                <a:spcPct val="100000"/>
              </a:lnSpc>
              <a:spcBef>
                <a:spcPts val="0"/>
              </a:spcBef>
            </a:pPr>
            <a:r>
              <a:rPr lang="zh-CN" altLang="en-US" dirty="0">
                <a:latin typeface="+mn-ea"/>
                <a:ea typeface="+mn-ea"/>
              </a:rPr>
              <a:t>导致战败车主不购买某品牌最重要环节是“店内看车”和“试乘试驾”；</a:t>
            </a:r>
            <a:endParaRPr lang="en-US" altLang="zh-CN" dirty="0">
              <a:latin typeface="+mn-ea"/>
              <a:ea typeface="+mn-ea"/>
            </a:endParaRPr>
          </a:p>
          <a:p>
            <a:pPr>
              <a:lnSpc>
                <a:spcPct val="100000"/>
              </a:lnSpc>
              <a:spcBef>
                <a:spcPts val="0"/>
              </a:spcBef>
            </a:pPr>
            <a:r>
              <a:rPr lang="zh-CN" altLang="en-US" dirty="0">
                <a:latin typeface="+mn-ea"/>
                <a:ea typeface="+mn-ea"/>
              </a:rPr>
              <a:t>当让战败车主重新选择某品牌，最关键影响因素是“品牌成熟可靠和试乘试驾体验”，其次是“专业度和服务态度”</a:t>
            </a:r>
          </a:p>
        </p:txBody>
      </p:sp>
      <p:sp>
        <p:nvSpPr>
          <p:cNvPr id="10" name="文本框 9">
            <a:extLst>
              <a:ext uri="{FF2B5EF4-FFF2-40B4-BE49-F238E27FC236}">
                <a16:creationId xmlns:a16="http://schemas.microsoft.com/office/drawing/2014/main" id="{EAE52862-84B2-F888-0ECC-6DC304A28E42}"/>
              </a:ext>
            </a:extLst>
          </p:cNvPr>
          <p:cNvSpPr txBox="1"/>
          <p:nvPr/>
        </p:nvSpPr>
        <p:spPr>
          <a:xfrm>
            <a:off x="290646" y="1538573"/>
            <a:ext cx="3888000" cy="307777"/>
          </a:xfrm>
          <a:prstGeom prst="rect">
            <a:avLst/>
          </a:prstGeom>
          <a:solidFill>
            <a:srgbClr val="1B9538"/>
          </a:solidFill>
        </p:spPr>
        <p:txBody>
          <a:bodyPr wrap="square" rtlCol="0">
            <a:spAutoFit/>
          </a:bodyPr>
          <a:lstStyle/>
          <a:p>
            <a:pPr algn="ctr"/>
            <a:r>
              <a:rPr lang="zh-CN" altLang="en-US" sz="1400" b="1" dirty="0">
                <a:solidFill>
                  <a:schemeClr val="bg1"/>
                </a:solidFill>
                <a:latin typeface="微软雅黑" panose="020B0503020204020204" pitchFamily="34" charset="-122"/>
                <a:ea typeface="Alibaba PuHuiTi 2.0 55 Regular"/>
              </a:rPr>
              <a:t>导致不购买某品牌最重要的环节</a:t>
            </a:r>
          </a:p>
        </p:txBody>
      </p:sp>
      <p:graphicFrame>
        <p:nvGraphicFramePr>
          <p:cNvPr id="14" name="图表 13">
            <a:extLst>
              <a:ext uri="{FF2B5EF4-FFF2-40B4-BE49-F238E27FC236}">
                <a16:creationId xmlns:a16="http://schemas.microsoft.com/office/drawing/2014/main" id="{5C5B4255-1DC6-9CB1-10BF-8CCEA75FCFE6}"/>
              </a:ext>
            </a:extLst>
          </p:cNvPr>
          <p:cNvGraphicFramePr/>
          <p:nvPr>
            <p:extLst>
              <p:ext uri="{D42A27DB-BD31-4B8C-83A1-F6EECF244321}">
                <p14:modId xmlns:p14="http://schemas.microsoft.com/office/powerpoint/2010/main" val="2115502194"/>
              </p:ext>
            </p:extLst>
          </p:nvPr>
        </p:nvGraphicFramePr>
        <p:xfrm>
          <a:off x="3876585" y="2413595"/>
          <a:ext cx="4465674" cy="396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图表 14">
            <a:extLst>
              <a:ext uri="{FF2B5EF4-FFF2-40B4-BE49-F238E27FC236}">
                <a16:creationId xmlns:a16="http://schemas.microsoft.com/office/drawing/2014/main" id="{D9AE8328-E65C-897A-3474-0920DA51154A}"/>
              </a:ext>
            </a:extLst>
          </p:cNvPr>
          <p:cNvGraphicFramePr/>
          <p:nvPr>
            <p:extLst>
              <p:ext uri="{D42A27DB-BD31-4B8C-83A1-F6EECF244321}">
                <p14:modId xmlns:p14="http://schemas.microsoft.com/office/powerpoint/2010/main" val="2594125844"/>
              </p:ext>
            </p:extLst>
          </p:nvPr>
        </p:nvGraphicFramePr>
        <p:xfrm>
          <a:off x="453616" y="2525006"/>
          <a:ext cx="3583224" cy="2297365"/>
        </p:xfrm>
        <a:graphic>
          <a:graphicData uri="http://schemas.openxmlformats.org/drawingml/2006/chart">
            <c:chart xmlns:c="http://schemas.openxmlformats.org/drawingml/2006/chart" xmlns:r="http://schemas.openxmlformats.org/officeDocument/2006/relationships" r:id="rId4"/>
          </a:graphicData>
        </a:graphic>
      </p:graphicFrame>
      <p:sp>
        <p:nvSpPr>
          <p:cNvPr id="4" name="文本框 3">
            <a:extLst>
              <a:ext uri="{FF2B5EF4-FFF2-40B4-BE49-F238E27FC236}">
                <a16:creationId xmlns:a16="http://schemas.microsoft.com/office/drawing/2014/main" id="{EB06601F-C8E6-2D08-5482-79A27BE3CB23}"/>
              </a:ext>
            </a:extLst>
          </p:cNvPr>
          <p:cNvSpPr txBox="1"/>
          <p:nvPr/>
        </p:nvSpPr>
        <p:spPr>
          <a:xfrm>
            <a:off x="4369870" y="1544468"/>
            <a:ext cx="7272000" cy="307777"/>
          </a:xfrm>
          <a:prstGeom prst="rect">
            <a:avLst/>
          </a:prstGeom>
          <a:solidFill>
            <a:srgbClr val="1B9538"/>
          </a:solidFill>
        </p:spPr>
        <p:txBody>
          <a:bodyPr wrap="square" rtlCol="0">
            <a:spAutoFit/>
          </a:bodyPr>
          <a:lstStyle/>
          <a:p>
            <a:pPr algn="ctr"/>
            <a:r>
              <a:rPr lang="zh-CN" altLang="en-US" sz="1400" b="1" dirty="0">
                <a:solidFill>
                  <a:schemeClr val="bg1"/>
                </a:solidFill>
                <a:latin typeface="微软雅黑" panose="020B0503020204020204" pitchFamily="34" charset="-122"/>
                <a:ea typeface="Alibaba PuHuiTi 2.0 55 Regular"/>
              </a:rPr>
              <a:t>影响重新选择某品牌因素</a:t>
            </a:r>
          </a:p>
        </p:txBody>
      </p:sp>
      <p:graphicFrame>
        <p:nvGraphicFramePr>
          <p:cNvPr id="6" name="图表 5">
            <a:extLst>
              <a:ext uri="{FF2B5EF4-FFF2-40B4-BE49-F238E27FC236}">
                <a16:creationId xmlns:a16="http://schemas.microsoft.com/office/drawing/2014/main" id="{F835F0C1-DB16-ABBD-6A4E-72932A1D9D0F}"/>
              </a:ext>
            </a:extLst>
          </p:cNvPr>
          <p:cNvGraphicFramePr/>
          <p:nvPr>
            <p:extLst>
              <p:ext uri="{D42A27DB-BD31-4B8C-83A1-F6EECF244321}">
                <p14:modId xmlns:p14="http://schemas.microsoft.com/office/powerpoint/2010/main" val="1704350464"/>
              </p:ext>
            </p:extLst>
          </p:nvPr>
        </p:nvGraphicFramePr>
        <p:xfrm>
          <a:off x="7288735" y="2413595"/>
          <a:ext cx="4467600" cy="3960000"/>
        </p:xfrm>
        <a:graphic>
          <a:graphicData uri="http://schemas.openxmlformats.org/drawingml/2006/chart">
            <c:chart xmlns:c="http://schemas.openxmlformats.org/drawingml/2006/chart" xmlns:r="http://schemas.openxmlformats.org/officeDocument/2006/relationships" r:id="rId5"/>
          </a:graphicData>
        </a:graphic>
      </p:graphicFrame>
      <p:sp>
        <p:nvSpPr>
          <p:cNvPr id="17" name="文本框 16">
            <a:extLst>
              <a:ext uri="{FF2B5EF4-FFF2-40B4-BE49-F238E27FC236}">
                <a16:creationId xmlns:a16="http://schemas.microsoft.com/office/drawing/2014/main" id="{A9BB38FD-6E51-A705-1D4E-342095DC899C}"/>
              </a:ext>
            </a:extLst>
          </p:cNvPr>
          <p:cNvSpPr txBox="1"/>
          <p:nvPr/>
        </p:nvSpPr>
        <p:spPr>
          <a:xfrm>
            <a:off x="4579809" y="2344369"/>
            <a:ext cx="2880000" cy="276999"/>
          </a:xfrm>
          <a:prstGeom prst="rect">
            <a:avLst/>
          </a:prstGeom>
          <a:solidFill>
            <a:schemeClr val="accent6">
              <a:lumMod val="20000"/>
              <a:lumOff val="80000"/>
            </a:schemeClr>
          </a:solidFill>
        </p:spPr>
        <p:txBody>
          <a:bodyPr wrap="square">
            <a:spAutoFit/>
          </a:bodyPr>
          <a:lstStyle/>
          <a:p>
            <a:pPr algn="ctr"/>
            <a:r>
              <a:rPr lang="zh-CN" altLang="en-US" sz="1200" b="1" dirty="0"/>
              <a:t>最关键的影响因素</a:t>
            </a:r>
          </a:p>
        </p:txBody>
      </p:sp>
      <p:sp>
        <p:nvSpPr>
          <p:cNvPr id="23" name="文本框 22">
            <a:extLst>
              <a:ext uri="{FF2B5EF4-FFF2-40B4-BE49-F238E27FC236}">
                <a16:creationId xmlns:a16="http://schemas.microsoft.com/office/drawing/2014/main" id="{0643705B-521E-D1BC-72F4-ED31492EA311}"/>
              </a:ext>
            </a:extLst>
          </p:cNvPr>
          <p:cNvSpPr txBox="1"/>
          <p:nvPr/>
        </p:nvSpPr>
        <p:spPr>
          <a:xfrm>
            <a:off x="8582324" y="2344368"/>
            <a:ext cx="2880000" cy="276999"/>
          </a:xfrm>
          <a:prstGeom prst="rect">
            <a:avLst/>
          </a:prstGeom>
          <a:solidFill>
            <a:schemeClr val="accent6">
              <a:lumMod val="20000"/>
              <a:lumOff val="80000"/>
            </a:schemeClr>
          </a:solidFill>
        </p:spPr>
        <p:txBody>
          <a:bodyPr wrap="square">
            <a:spAutoFit/>
          </a:bodyPr>
          <a:lstStyle>
            <a:defPPr>
              <a:defRPr lang="zh-CN"/>
            </a:defPPr>
            <a:lvl1pPr algn="ctr">
              <a:defRPr sz="1200" b="1"/>
            </a:lvl1pPr>
          </a:lstStyle>
          <a:p>
            <a:r>
              <a:rPr lang="zh-CN" altLang="en-US" dirty="0"/>
              <a:t>其次的影响因素</a:t>
            </a:r>
          </a:p>
        </p:txBody>
      </p:sp>
      <p:sp>
        <p:nvSpPr>
          <p:cNvPr id="25" name="矩形 24">
            <a:extLst>
              <a:ext uri="{FF2B5EF4-FFF2-40B4-BE49-F238E27FC236}">
                <a16:creationId xmlns:a16="http://schemas.microsoft.com/office/drawing/2014/main" id="{989B142A-DA69-2A65-7CDA-90E69DC2627F}"/>
              </a:ext>
            </a:extLst>
          </p:cNvPr>
          <p:cNvSpPr/>
          <p:nvPr/>
        </p:nvSpPr>
        <p:spPr>
          <a:xfrm>
            <a:off x="290646" y="1846350"/>
            <a:ext cx="3888000" cy="4354425"/>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59AD45F6-62BB-C80F-9B4E-9B5EEEC1FCD6}"/>
              </a:ext>
            </a:extLst>
          </p:cNvPr>
          <p:cNvSpPr/>
          <p:nvPr/>
        </p:nvSpPr>
        <p:spPr>
          <a:xfrm>
            <a:off x="4369870" y="1846222"/>
            <a:ext cx="7272000" cy="4354425"/>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62">
            <a:extLst>
              <a:ext uri="{FF2B5EF4-FFF2-40B4-BE49-F238E27FC236}">
                <a16:creationId xmlns:a16="http://schemas.microsoft.com/office/drawing/2014/main" id="{7E8765B2-9E07-4F42-1F5F-8E7722E2C55E}"/>
              </a:ext>
            </a:extLst>
          </p:cNvPr>
          <p:cNvSpPr>
            <a:spLocks noGrp="1"/>
          </p:cNvSpPr>
          <p:nvPr>
            <p:ph type="sldNum" sz="quarter" idx="4"/>
            <p:custDataLst>
              <p:tags r:id="rId1"/>
            </p:custDataLst>
          </p:nvPr>
        </p:nvSpPr>
        <p:spPr>
          <a:xfrm>
            <a:off x="11523095" y="6472443"/>
            <a:ext cx="368141" cy="2407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00B666-AD48-5640-8D08-2A4A6036569F}" type="slidenum">
              <a:rPr kumimoji="0" lang="zh-CN" altLang="en-US" sz="800" b="0" i="0" u="none" strike="noStrike" kern="1200" cap="none" spc="0" normalizeH="0" baseline="0" noProof="0" smtClean="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800" b="0" i="0" u="none" strike="noStrike" kern="1200" cap="none" spc="0" normalizeH="0" baseline="0" noProof="0" dirty="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endParaRPr>
          </a:p>
        </p:txBody>
      </p:sp>
      <p:sp>
        <p:nvSpPr>
          <p:cNvPr id="3" name="文本框 2">
            <a:extLst>
              <a:ext uri="{FF2B5EF4-FFF2-40B4-BE49-F238E27FC236}">
                <a16:creationId xmlns:a16="http://schemas.microsoft.com/office/drawing/2014/main" id="{5D83E944-B5C8-5969-30E7-3FC16955F941}"/>
              </a:ext>
            </a:extLst>
          </p:cNvPr>
          <p:cNvSpPr txBox="1"/>
          <p:nvPr/>
        </p:nvSpPr>
        <p:spPr>
          <a:xfrm>
            <a:off x="1953929" y="1900690"/>
            <a:ext cx="1463040" cy="246221"/>
          </a:xfrm>
          <a:prstGeom prst="rect">
            <a:avLst/>
          </a:prstGeom>
          <a:noFill/>
        </p:spPr>
        <p:txBody>
          <a:bodyPr wrap="square" rtlCol="0">
            <a:spAutoFit/>
          </a:bodyPr>
          <a:lstStyle/>
          <a:p>
            <a:r>
              <a:rPr lang="en-US" altLang="zh-CN" sz="1000" dirty="0">
                <a:solidFill>
                  <a:schemeClr val="bg1">
                    <a:lumMod val="50000"/>
                  </a:schemeClr>
                </a:solidFill>
                <a:latin typeface="+mj-ea"/>
                <a:ea typeface="+mj-ea"/>
              </a:rPr>
              <a:t>N=22</a:t>
            </a:r>
            <a:endParaRPr lang="zh-CN" altLang="en-US" sz="1000" dirty="0">
              <a:solidFill>
                <a:schemeClr val="bg1">
                  <a:lumMod val="50000"/>
                </a:schemeClr>
              </a:solidFill>
              <a:latin typeface="+mj-ea"/>
              <a:ea typeface="+mj-ea"/>
            </a:endParaRPr>
          </a:p>
        </p:txBody>
      </p:sp>
      <p:sp>
        <p:nvSpPr>
          <p:cNvPr id="5" name="文本框 4">
            <a:extLst>
              <a:ext uri="{FF2B5EF4-FFF2-40B4-BE49-F238E27FC236}">
                <a16:creationId xmlns:a16="http://schemas.microsoft.com/office/drawing/2014/main" id="{62A6D2A0-142E-701C-3757-81E15900A893}"/>
              </a:ext>
            </a:extLst>
          </p:cNvPr>
          <p:cNvSpPr txBox="1"/>
          <p:nvPr/>
        </p:nvSpPr>
        <p:spPr>
          <a:xfrm>
            <a:off x="7610739" y="1873502"/>
            <a:ext cx="1463040" cy="246221"/>
          </a:xfrm>
          <a:prstGeom prst="rect">
            <a:avLst/>
          </a:prstGeom>
          <a:noFill/>
        </p:spPr>
        <p:txBody>
          <a:bodyPr wrap="square" rtlCol="0">
            <a:spAutoFit/>
          </a:bodyPr>
          <a:lstStyle/>
          <a:p>
            <a:r>
              <a:rPr lang="en-US" altLang="zh-CN" sz="1000" dirty="0">
                <a:solidFill>
                  <a:schemeClr val="bg1">
                    <a:lumMod val="50000"/>
                  </a:schemeClr>
                </a:solidFill>
                <a:latin typeface="+mj-ea"/>
                <a:ea typeface="+mj-ea"/>
              </a:rPr>
              <a:t>N=22</a:t>
            </a:r>
            <a:endParaRPr lang="zh-CN" altLang="en-US" sz="1000" dirty="0">
              <a:solidFill>
                <a:schemeClr val="bg1">
                  <a:lumMod val="50000"/>
                </a:schemeClr>
              </a:solidFill>
              <a:latin typeface="+mj-ea"/>
              <a:ea typeface="+mj-ea"/>
            </a:endParaRPr>
          </a:p>
        </p:txBody>
      </p:sp>
    </p:spTree>
    <p:extLst>
      <p:ext uri="{BB962C8B-B14F-4D97-AF65-F5344CB8AC3E}">
        <p14:creationId xmlns:p14="http://schemas.microsoft.com/office/powerpoint/2010/main" val="30561082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5C3FBD1B-851D-A0E0-4B35-31F4319DF9F7}"/>
              </a:ext>
            </a:extLst>
          </p:cNvPr>
          <p:cNvSpPr>
            <a:spLocks noGrp="1"/>
          </p:cNvSpPr>
          <p:nvPr>
            <p:ph type="body" sz="quarter" idx="14"/>
          </p:nvPr>
        </p:nvSpPr>
        <p:spPr/>
        <p:txBody>
          <a:bodyPr/>
          <a:lstStyle/>
          <a:p>
            <a:endParaRPr lang="zh-CN" altLang="en-US"/>
          </a:p>
        </p:txBody>
      </p:sp>
      <p:sp>
        <p:nvSpPr>
          <p:cNvPr id="2" name="文本占位符 1">
            <a:extLst>
              <a:ext uri="{FF2B5EF4-FFF2-40B4-BE49-F238E27FC236}">
                <a16:creationId xmlns:a16="http://schemas.microsoft.com/office/drawing/2014/main" id="{9F10B788-B8C3-1418-A03F-B548D74FBAED}"/>
              </a:ext>
            </a:extLst>
          </p:cNvPr>
          <p:cNvSpPr>
            <a:spLocks noGrp="1"/>
          </p:cNvSpPr>
          <p:nvPr>
            <p:ph type="body" sz="quarter" idx="21"/>
          </p:nvPr>
        </p:nvSpPr>
        <p:spPr/>
        <p:txBody>
          <a:bodyPr/>
          <a:lstStyle/>
          <a:p>
            <a:r>
              <a:rPr kumimoji="1" lang="en-US" altLang="zh-CN" dirty="0">
                <a:latin typeface="+mn-ea"/>
                <a:ea typeface="+mn-ea"/>
              </a:rPr>
              <a:t>2.3 </a:t>
            </a:r>
            <a:r>
              <a:rPr kumimoji="1" lang="zh-CN" altLang="en-US" dirty="0">
                <a:latin typeface="+mn-ea"/>
                <a:ea typeface="+mn-ea"/>
              </a:rPr>
              <a:t>战胜战败分析 </a:t>
            </a:r>
            <a:r>
              <a:rPr kumimoji="1" lang="en-US" altLang="zh-CN" dirty="0">
                <a:latin typeface="+mn-ea"/>
                <a:ea typeface="+mn-ea"/>
              </a:rPr>
              <a:t>– </a:t>
            </a:r>
            <a:r>
              <a:rPr lang="zh-CN" altLang="en-US" dirty="0"/>
              <a:t>要素得分</a:t>
            </a:r>
          </a:p>
        </p:txBody>
      </p:sp>
      <p:sp>
        <p:nvSpPr>
          <p:cNvPr id="8" name="文本占位符 7">
            <a:extLst>
              <a:ext uri="{FF2B5EF4-FFF2-40B4-BE49-F238E27FC236}">
                <a16:creationId xmlns:a16="http://schemas.microsoft.com/office/drawing/2014/main" id="{0792E2E5-D3CF-1DDF-0F12-D2E9538B0779}"/>
              </a:ext>
            </a:extLst>
          </p:cNvPr>
          <p:cNvSpPr>
            <a:spLocks noGrp="1"/>
          </p:cNvSpPr>
          <p:nvPr>
            <p:ph type="body" sz="quarter" idx="22"/>
          </p:nvPr>
        </p:nvSpPr>
        <p:spPr/>
        <p:txBody>
          <a:bodyPr/>
          <a:lstStyle/>
          <a:p>
            <a:pPr>
              <a:lnSpc>
                <a:spcPct val="100000"/>
              </a:lnSpc>
              <a:spcBef>
                <a:spcPts val="0"/>
              </a:spcBef>
            </a:pPr>
            <a:r>
              <a:rPr lang="zh-CN" altLang="en-US" dirty="0">
                <a:latin typeface="+mn-ea"/>
                <a:ea typeface="+mn-ea"/>
              </a:rPr>
              <a:t>战胜得分相对较高的是人员接待型和主动性，销售顾问服务态度，门店试驾邀约，试驾时长，离店送别</a:t>
            </a:r>
            <a:endParaRPr lang="en-US" altLang="zh-CN" dirty="0">
              <a:latin typeface="+mn-ea"/>
              <a:ea typeface="+mn-ea"/>
            </a:endParaRPr>
          </a:p>
          <a:p>
            <a:pPr>
              <a:lnSpc>
                <a:spcPct val="100000"/>
              </a:lnSpc>
              <a:spcBef>
                <a:spcPts val="0"/>
              </a:spcBef>
            </a:pPr>
            <a:r>
              <a:rPr lang="zh-CN" altLang="en-US" dirty="0">
                <a:latin typeface="+mn-ea"/>
                <a:ea typeface="+mn-ea"/>
              </a:rPr>
              <a:t>战败得分相对较低的是销售顾问诚信度，试驾申请便携程度，试驾前准备工作，离店送别，离店回访</a:t>
            </a:r>
          </a:p>
        </p:txBody>
      </p:sp>
      <p:sp>
        <p:nvSpPr>
          <p:cNvPr id="5" name="灯片编号占位符 4">
            <a:extLst>
              <a:ext uri="{FF2B5EF4-FFF2-40B4-BE49-F238E27FC236}">
                <a16:creationId xmlns:a16="http://schemas.microsoft.com/office/drawing/2014/main" id="{55D015F0-0EF6-45D2-D0D0-C8EE67B94881}"/>
              </a:ext>
            </a:extLst>
          </p:cNvPr>
          <p:cNvSpPr>
            <a:spLocks noGrp="1"/>
          </p:cNvSpPr>
          <p:nvPr>
            <p:ph type="sldNum" sz="quarter" idx="4"/>
          </p:nvPr>
        </p:nvSpPr>
        <p:spPr/>
        <p:txBody>
          <a:bodyPr/>
          <a:lstStyle/>
          <a:p>
            <a:fld id="{04824671-56D2-5D44-834F-250C3DA554E9}" type="slidenum">
              <a:rPr lang="zh-CN" altLang="en-US" smtClean="0"/>
              <a:t>38</a:t>
            </a:fld>
            <a:endParaRPr lang="zh-CN" altLang="en-US" dirty="0"/>
          </a:p>
        </p:txBody>
      </p:sp>
      <p:graphicFrame>
        <p:nvGraphicFramePr>
          <p:cNvPr id="3" name="图表 2">
            <a:extLst>
              <a:ext uri="{FF2B5EF4-FFF2-40B4-BE49-F238E27FC236}">
                <a16:creationId xmlns:a16="http://schemas.microsoft.com/office/drawing/2014/main" id="{74E6B0B1-DB84-5FEF-B5B2-D141CA5EB740}"/>
              </a:ext>
            </a:extLst>
          </p:cNvPr>
          <p:cNvGraphicFramePr/>
          <p:nvPr>
            <p:extLst>
              <p:ext uri="{D42A27DB-BD31-4B8C-83A1-F6EECF244321}">
                <p14:modId xmlns:p14="http://schemas.microsoft.com/office/powerpoint/2010/main" val="3400707592"/>
              </p:ext>
            </p:extLst>
          </p:nvPr>
        </p:nvGraphicFramePr>
        <p:xfrm>
          <a:off x="261026" y="1837070"/>
          <a:ext cx="12155563" cy="1710801"/>
        </p:xfrm>
        <a:graphic>
          <a:graphicData uri="http://schemas.openxmlformats.org/drawingml/2006/chart">
            <c:chart xmlns:c="http://schemas.openxmlformats.org/drawingml/2006/chart" xmlns:r="http://schemas.openxmlformats.org/officeDocument/2006/relationships" r:id="rId2"/>
          </a:graphicData>
        </a:graphic>
      </p:graphicFrame>
      <p:sp>
        <p:nvSpPr>
          <p:cNvPr id="4" name="文本框 3">
            <a:extLst>
              <a:ext uri="{FF2B5EF4-FFF2-40B4-BE49-F238E27FC236}">
                <a16:creationId xmlns:a16="http://schemas.microsoft.com/office/drawing/2014/main" id="{FAB16A22-F3BA-7091-B52D-BE6D4883BE20}"/>
              </a:ext>
            </a:extLst>
          </p:cNvPr>
          <p:cNvSpPr txBox="1"/>
          <p:nvPr/>
        </p:nvSpPr>
        <p:spPr>
          <a:xfrm>
            <a:off x="261026" y="1529539"/>
            <a:ext cx="11589477" cy="307777"/>
          </a:xfrm>
          <a:prstGeom prst="rect">
            <a:avLst/>
          </a:prstGeom>
          <a:solidFill>
            <a:srgbClr val="1B9538"/>
          </a:solidFill>
        </p:spPr>
        <p:txBody>
          <a:bodyPr wrap="square" rtlCol="0">
            <a:spAutoFit/>
          </a:bodyPr>
          <a:lstStyle/>
          <a:p>
            <a:pPr algn="ctr"/>
            <a:r>
              <a:rPr lang="zh-CN" altLang="en-US" sz="1400" b="1" dirty="0">
                <a:solidFill>
                  <a:schemeClr val="bg1"/>
                </a:solidFill>
                <a:latin typeface="微软雅黑" panose="020B0503020204020204" pitchFamily="34" charset="-122"/>
                <a:ea typeface="Alibaba PuHuiTi 2.0 55 Regular"/>
              </a:rPr>
              <a:t>某品牌战胜得分差距</a:t>
            </a:r>
          </a:p>
        </p:txBody>
      </p:sp>
      <p:graphicFrame>
        <p:nvGraphicFramePr>
          <p:cNvPr id="15" name="表格 14">
            <a:extLst>
              <a:ext uri="{FF2B5EF4-FFF2-40B4-BE49-F238E27FC236}">
                <a16:creationId xmlns:a16="http://schemas.microsoft.com/office/drawing/2014/main" id="{BBAB0E0F-5E79-BF14-E689-5201E6BF9FC8}"/>
              </a:ext>
            </a:extLst>
          </p:cNvPr>
          <p:cNvGraphicFramePr>
            <a:graphicFrameLocks noGrp="1"/>
          </p:cNvGraphicFramePr>
          <p:nvPr/>
        </p:nvGraphicFramePr>
        <p:xfrm>
          <a:off x="411479" y="3499064"/>
          <a:ext cx="11416027" cy="332272"/>
        </p:xfrm>
        <a:graphic>
          <a:graphicData uri="http://schemas.openxmlformats.org/drawingml/2006/table">
            <a:tbl>
              <a:tblPr firstRow="1" bandRow="1">
                <a:tableStyleId>{5C22544A-7EE6-4342-B048-85BDC9FD1C3A}</a:tableStyleId>
              </a:tblPr>
              <a:tblGrid>
                <a:gridCol w="496349">
                  <a:extLst>
                    <a:ext uri="{9D8B030D-6E8A-4147-A177-3AD203B41FA5}">
                      <a16:colId xmlns:a16="http://schemas.microsoft.com/office/drawing/2014/main" val="2823740596"/>
                    </a:ext>
                  </a:extLst>
                </a:gridCol>
                <a:gridCol w="496349">
                  <a:extLst>
                    <a:ext uri="{9D8B030D-6E8A-4147-A177-3AD203B41FA5}">
                      <a16:colId xmlns:a16="http://schemas.microsoft.com/office/drawing/2014/main" val="2442210773"/>
                    </a:ext>
                  </a:extLst>
                </a:gridCol>
                <a:gridCol w="496349">
                  <a:extLst>
                    <a:ext uri="{9D8B030D-6E8A-4147-A177-3AD203B41FA5}">
                      <a16:colId xmlns:a16="http://schemas.microsoft.com/office/drawing/2014/main" val="553136752"/>
                    </a:ext>
                  </a:extLst>
                </a:gridCol>
                <a:gridCol w="496349">
                  <a:extLst>
                    <a:ext uri="{9D8B030D-6E8A-4147-A177-3AD203B41FA5}">
                      <a16:colId xmlns:a16="http://schemas.microsoft.com/office/drawing/2014/main" val="271276945"/>
                    </a:ext>
                  </a:extLst>
                </a:gridCol>
                <a:gridCol w="496349">
                  <a:extLst>
                    <a:ext uri="{9D8B030D-6E8A-4147-A177-3AD203B41FA5}">
                      <a16:colId xmlns:a16="http://schemas.microsoft.com/office/drawing/2014/main" val="3731974136"/>
                    </a:ext>
                  </a:extLst>
                </a:gridCol>
                <a:gridCol w="496349">
                  <a:extLst>
                    <a:ext uri="{9D8B030D-6E8A-4147-A177-3AD203B41FA5}">
                      <a16:colId xmlns:a16="http://schemas.microsoft.com/office/drawing/2014/main" val="3256047488"/>
                    </a:ext>
                  </a:extLst>
                </a:gridCol>
                <a:gridCol w="496349">
                  <a:extLst>
                    <a:ext uri="{9D8B030D-6E8A-4147-A177-3AD203B41FA5}">
                      <a16:colId xmlns:a16="http://schemas.microsoft.com/office/drawing/2014/main" val="1002508164"/>
                    </a:ext>
                  </a:extLst>
                </a:gridCol>
                <a:gridCol w="496349">
                  <a:extLst>
                    <a:ext uri="{9D8B030D-6E8A-4147-A177-3AD203B41FA5}">
                      <a16:colId xmlns:a16="http://schemas.microsoft.com/office/drawing/2014/main" val="2966597460"/>
                    </a:ext>
                  </a:extLst>
                </a:gridCol>
                <a:gridCol w="496349">
                  <a:extLst>
                    <a:ext uri="{9D8B030D-6E8A-4147-A177-3AD203B41FA5}">
                      <a16:colId xmlns:a16="http://schemas.microsoft.com/office/drawing/2014/main" val="228622395"/>
                    </a:ext>
                  </a:extLst>
                </a:gridCol>
                <a:gridCol w="496349">
                  <a:extLst>
                    <a:ext uri="{9D8B030D-6E8A-4147-A177-3AD203B41FA5}">
                      <a16:colId xmlns:a16="http://schemas.microsoft.com/office/drawing/2014/main" val="1383909732"/>
                    </a:ext>
                  </a:extLst>
                </a:gridCol>
                <a:gridCol w="496349">
                  <a:extLst>
                    <a:ext uri="{9D8B030D-6E8A-4147-A177-3AD203B41FA5}">
                      <a16:colId xmlns:a16="http://schemas.microsoft.com/office/drawing/2014/main" val="510725710"/>
                    </a:ext>
                  </a:extLst>
                </a:gridCol>
                <a:gridCol w="496349">
                  <a:extLst>
                    <a:ext uri="{9D8B030D-6E8A-4147-A177-3AD203B41FA5}">
                      <a16:colId xmlns:a16="http://schemas.microsoft.com/office/drawing/2014/main" val="18513713"/>
                    </a:ext>
                  </a:extLst>
                </a:gridCol>
                <a:gridCol w="496349">
                  <a:extLst>
                    <a:ext uri="{9D8B030D-6E8A-4147-A177-3AD203B41FA5}">
                      <a16:colId xmlns:a16="http://schemas.microsoft.com/office/drawing/2014/main" val="3630061233"/>
                    </a:ext>
                  </a:extLst>
                </a:gridCol>
                <a:gridCol w="496349">
                  <a:extLst>
                    <a:ext uri="{9D8B030D-6E8A-4147-A177-3AD203B41FA5}">
                      <a16:colId xmlns:a16="http://schemas.microsoft.com/office/drawing/2014/main" val="239909375"/>
                    </a:ext>
                  </a:extLst>
                </a:gridCol>
                <a:gridCol w="496349">
                  <a:extLst>
                    <a:ext uri="{9D8B030D-6E8A-4147-A177-3AD203B41FA5}">
                      <a16:colId xmlns:a16="http://schemas.microsoft.com/office/drawing/2014/main" val="3798122669"/>
                    </a:ext>
                  </a:extLst>
                </a:gridCol>
                <a:gridCol w="496349">
                  <a:extLst>
                    <a:ext uri="{9D8B030D-6E8A-4147-A177-3AD203B41FA5}">
                      <a16:colId xmlns:a16="http://schemas.microsoft.com/office/drawing/2014/main" val="3514649848"/>
                    </a:ext>
                  </a:extLst>
                </a:gridCol>
                <a:gridCol w="496349">
                  <a:extLst>
                    <a:ext uri="{9D8B030D-6E8A-4147-A177-3AD203B41FA5}">
                      <a16:colId xmlns:a16="http://schemas.microsoft.com/office/drawing/2014/main" val="1246911294"/>
                    </a:ext>
                  </a:extLst>
                </a:gridCol>
                <a:gridCol w="496349">
                  <a:extLst>
                    <a:ext uri="{9D8B030D-6E8A-4147-A177-3AD203B41FA5}">
                      <a16:colId xmlns:a16="http://schemas.microsoft.com/office/drawing/2014/main" val="4171352973"/>
                    </a:ext>
                  </a:extLst>
                </a:gridCol>
                <a:gridCol w="496349">
                  <a:extLst>
                    <a:ext uri="{9D8B030D-6E8A-4147-A177-3AD203B41FA5}">
                      <a16:colId xmlns:a16="http://schemas.microsoft.com/office/drawing/2014/main" val="1528244757"/>
                    </a:ext>
                  </a:extLst>
                </a:gridCol>
                <a:gridCol w="496349">
                  <a:extLst>
                    <a:ext uri="{9D8B030D-6E8A-4147-A177-3AD203B41FA5}">
                      <a16:colId xmlns:a16="http://schemas.microsoft.com/office/drawing/2014/main" val="1050018950"/>
                    </a:ext>
                  </a:extLst>
                </a:gridCol>
                <a:gridCol w="496349">
                  <a:extLst>
                    <a:ext uri="{9D8B030D-6E8A-4147-A177-3AD203B41FA5}">
                      <a16:colId xmlns:a16="http://schemas.microsoft.com/office/drawing/2014/main" val="1461410333"/>
                    </a:ext>
                  </a:extLst>
                </a:gridCol>
                <a:gridCol w="496349">
                  <a:extLst>
                    <a:ext uri="{9D8B030D-6E8A-4147-A177-3AD203B41FA5}">
                      <a16:colId xmlns:a16="http://schemas.microsoft.com/office/drawing/2014/main" val="3627902571"/>
                    </a:ext>
                  </a:extLst>
                </a:gridCol>
                <a:gridCol w="496349">
                  <a:extLst>
                    <a:ext uri="{9D8B030D-6E8A-4147-A177-3AD203B41FA5}">
                      <a16:colId xmlns:a16="http://schemas.microsoft.com/office/drawing/2014/main" val="702049497"/>
                    </a:ext>
                  </a:extLst>
                </a:gridCol>
              </a:tblGrid>
              <a:tr h="332272">
                <a:tc>
                  <a:txBody>
                    <a:bodyPr/>
                    <a:lstStyle/>
                    <a:p>
                      <a:pPr algn="ctr" fontAlgn="ctr"/>
                      <a:r>
                        <a:rPr lang="en-US" altLang="zh-CN" sz="1000" b="0" i="0" u="none" strike="noStrike" dirty="0">
                          <a:solidFill>
                            <a:srgbClr val="000000"/>
                          </a:solidFill>
                          <a:effectLst/>
                          <a:latin typeface="+mn-ea"/>
                          <a:ea typeface="+mn-ea"/>
                        </a:rPr>
                        <a:t>0.29</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0.57</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1" i="0" u="none" strike="noStrike" dirty="0">
                          <a:solidFill>
                            <a:srgbClr val="4B8D56"/>
                          </a:solidFill>
                          <a:effectLst/>
                          <a:latin typeface="+mn-ea"/>
                          <a:ea typeface="+mn-ea"/>
                        </a:rPr>
                        <a:t>+0.80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0.45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a:solidFill>
                            <a:srgbClr val="000000"/>
                          </a:solidFill>
                          <a:effectLst/>
                          <a:latin typeface="+mn-ea"/>
                          <a:ea typeface="+mn-ea"/>
                        </a:rPr>
                        <a:t>0.52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0.56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1" i="0" u="none" strike="noStrike" dirty="0">
                          <a:solidFill>
                            <a:srgbClr val="4B8D56"/>
                          </a:solidFill>
                          <a:effectLst/>
                          <a:latin typeface="+mn-ea"/>
                          <a:ea typeface="+mn-ea"/>
                        </a:rPr>
                        <a:t>+0.82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mn-ea"/>
                          <a:ea typeface="+mn-ea"/>
                          <a:cs typeface="+mn-cs"/>
                        </a:rPr>
                        <a:t>0.63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mn-ea"/>
                          <a:ea typeface="+mn-ea"/>
                          <a:cs typeface="+mn-cs"/>
                        </a:rPr>
                        <a:t>0.58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0.52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0.27</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0.48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a:solidFill>
                            <a:srgbClr val="000000"/>
                          </a:solidFill>
                          <a:effectLst/>
                          <a:latin typeface="+mn-ea"/>
                          <a:ea typeface="+mn-ea"/>
                        </a:rPr>
                        <a:t>0.50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1" i="0" u="none" strike="noStrike" dirty="0">
                          <a:solidFill>
                            <a:srgbClr val="4B8D56"/>
                          </a:solidFill>
                          <a:effectLst/>
                          <a:latin typeface="+mn-ea"/>
                          <a:ea typeface="+mn-ea"/>
                        </a:rPr>
                        <a:t>+0.70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a:solidFill>
                            <a:srgbClr val="000000"/>
                          </a:solidFill>
                          <a:effectLst/>
                          <a:latin typeface="+mn-ea"/>
                          <a:ea typeface="+mn-ea"/>
                        </a:rPr>
                        <a:t>0.69</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1" i="0" u="none" strike="noStrike" dirty="0">
                          <a:solidFill>
                            <a:srgbClr val="4B8D56"/>
                          </a:solidFill>
                          <a:effectLst/>
                          <a:latin typeface="+mn-ea"/>
                          <a:ea typeface="+mn-ea"/>
                        </a:rPr>
                        <a:t>+0.85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0.60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a:solidFill>
                            <a:srgbClr val="000000"/>
                          </a:solidFill>
                          <a:effectLst/>
                          <a:latin typeface="+mn-ea"/>
                          <a:ea typeface="+mn-ea"/>
                        </a:rPr>
                        <a:t>0.60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a:solidFill>
                            <a:srgbClr val="000000"/>
                          </a:solidFill>
                          <a:effectLst/>
                          <a:latin typeface="+mn-ea"/>
                          <a:ea typeface="+mn-ea"/>
                        </a:rPr>
                        <a:t>0.59</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a:solidFill>
                            <a:srgbClr val="000000"/>
                          </a:solidFill>
                          <a:effectLst/>
                          <a:latin typeface="+mn-ea"/>
                          <a:ea typeface="+mn-ea"/>
                        </a:rPr>
                        <a:t>0.39</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a:solidFill>
                            <a:srgbClr val="000000"/>
                          </a:solidFill>
                          <a:effectLst/>
                          <a:latin typeface="+mn-ea"/>
                          <a:ea typeface="+mn-ea"/>
                        </a:rPr>
                        <a:t>0.59</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1" i="0" u="none" strike="noStrike" dirty="0">
                          <a:solidFill>
                            <a:srgbClr val="4B8D56"/>
                          </a:solidFill>
                          <a:effectLst/>
                          <a:latin typeface="+mn-ea"/>
                          <a:ea typeface="+mn-ea"/>
                        </a:rPr>
                        <a:t>+0.78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0.56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3933678"/>
                  </a:ext>
                </a:extLst>
              </a:tr>
            </a:tbl>
          </a:graphicData>
        </a:graphic>
      </p:graphicFrame>
      <p:sp>
        <p:nvSpPr>
          <p:cNvPr id="16" name="矩形 15">
            <a:extLst>
              <a:ext uri="{FF2B5EF4-FFF2-40B4-BE49-F238E27FC236}">
                <a16:creationId xmlns:a16="http://schemas.microsoft.com/office/drawing/2014/main" id="{6AF29396-00C7-31A8-29DF-ADC9DAA10560}"/>
              </a:ext>
            </a:extLst>
          </p:cNvPr>
          <p:cNvSpPr/>
          <p:nvPr/>
        </p:nvSpPr>
        <p:spPr>
          <a:xfrm>
            <a:off x="1499616" y="1819830"/>
            <a:ext cx="438912" cy="2026538"/>
          </a:xfrm>
          <a:prstGeom prst="rect">
            <a:avLst/>
          </a:prstGeom>
          <a:solidFill>
            <a:srgbClr val="4B8D5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D240BA67-81C0-439A-F969-035D3B367919}"/>
              </a:ext>
            </a:extLst>
          </p:cNvPr>
          <p:cNvSpPr/>
          <p:nvPr/>
        </p:nvSpPr>
        <p:spPr>
          <a:xfrm>
            <a:off x="3466018" y="1790364"/>
            <a:ext cx="438912" cy="2026538"/>
          </a:xfrm>
          <a:prstGeom prst="rect">
            <a:avLst/>
          </a:prstGeom>
          <a:solidFill>
            <a:srgbClr val="4B8D5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3343F171-25C4-864A-3F45-DA2282FA714C}"/>
              </a:ext>
            </a:extLst>
          </p:cNvPr>
          <p:cNvSpPr/>
          <p:nvPr/>
        </p:nvSpPr>
        <p:spPr>
          <a:xfrm>
            <a:off x="6893273" y="1842049"/>
            <a:ext cx="438912" cy="2026538"/>
          </a:xfrm>
          <a:prstGeom prst="rect">
            <a:avLst/>
          </a:prstGeom>
          <a:solidFill>
            <a:srgbClr val="4B8D5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6BED7E66-2E5E-8F67-996C-2AE75E61C637}"/>
              </a:ext>
            </a:extLst>
          </p:cNvPr>
          <p:cNvSpPr/>
          <p:nvPr/>
        </p:nvSpPr>
        <p:spPr>
          <a:xfrm>
            <a:off x="7970641" y="1804798"/>
            <a:ext cx="438912" cy="2026538"/>
          </a:xfrm>
          <a:prstGeom prst="rect">
            <a:avLst/>
          </a:prstGeom>
          <a:solidFill>
            <a:srgbClr val="4B8D5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E33BF79F-9A11-EB3B-ACD6-06D6C35B8F73}"/>
              </a:ext>
            </a:extLst>
          </p:cNvPr>
          <p:cNvSpPr/>
          <p:nvPr/>
        </p:nvSpPr>
        <p:spPr>
          <a:xfrm>
            <a:off x="10832233" y="1810903"/>
            <a:ext cx="438912" cy="2026538"/>
          </a:xfrm>
          <a:prstGeom prst="rect">
            <a:avLst/>
          </a:prstGeom>
          <a:solidFill>
            <a:srgbClr val="4B8D5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9" name="图表 28">
            <a:extLst>
              <a:ext uri="{FF2B5EF4-FFF2-40B4-BE49-F238E27FC236}">
                <a16:creationId xmlns:a16="http://schemas.microsoft.com/office/drawing/2014/main" id="{CEC437EA-9B2F-13B4-129F-D826A34846AA}"/>
              </a:ext>
            </a:extLst>
          </p:cNvPr>
          <p:cNvGraphicFramePr/>
          <p:nvPr>
            <p:extLst>
              <p:ext uri="{D42A27DB-BD31-4B8C-83A1-F6EECF244321}">
                <p14:modId xmlns:p14="http://schemas.microsoft.com/office/powerpoint/2010/main" val="604233528"/>
              </p:ext>
            </p:extLst>
          </p:nvPr>
        </p:nvGraphicFramePr>
        <p:xfrm>
          <a:off x="297723" y="4278198"/>
          <a:ext cx="11894277" cy="1710801"/>
        </p:xfrm>
        <a:graphic>
          <a:graphicData uri="http://schemas.openxmlformats.org/drawingml/2006/chart">
            <c:chart xmlns:c="http://schemas.openxmlformats.org/drawingml/2006/chart" xmlns:r="http://schemas.openxmlformats.org/officeDocument/2006/relationships" r:id="rId3"/>
          </a:graphicData>
        </a:graphic>
      </p:graphicFrame>
      <p:sp>
        <p:nvSpPr>
          <p:cNvPr id="30" name="文本框 29">
            <a:extLst>
              <a:ext uri="{FF2B5EF4-FFF2-40B4-BE49-F238E27FC236}">
                <a16:creationId xmlns:a16="http://schemas.microsoft.com/office/drawing/2014/main" id="{A547B3D5-F070-6747-B556-311D228E03E0}"/>
              </a:ext>
            </a:extLst>
          </p:cNvPr>
          <p:cNvSpPr txBox="1"/>
          <p:nvPr/>
        </p:nvSpPr>
        <p:spPr>
          <a:xfrm>
            <a:off x="297723" y="3970667"/>
            <a:ext cx="11589477" cy="307777"/>
          </a:xfrm>
          <a:prstGeom prst="rect">
            <a:avLst/>
          </a:prstGeom>
          <a:solidFill>
            <a:srgbClr val="1B9538"/>
          </a:solidFill>
        </p:spPr>
        <p:txBody>
          <a:bodyPr wrap="square" rtlCol="0">
            <a:spAutoFit/>
          </a:bodyPr>
          <a:lstStyle/>
          <a:p>
            <a:pPr algn="ctr"/>
            <a:r>
              <a:rPr lang="zh-CN" altLang="en-US" sz="1400" b="1" dirty="0">
                <a:solidFill>
                  <a:schemeClr val="bg1"/>
                </a:solidFill>
                <a:latin typeface="微软雅黑" panose="020B0503020204020204" pitchFamily="34" charset="-122"/>
                <a:ea typeface="Alibaba PuHuiTi 2.0 55 Regular"/>
              </a:rPr>
              <a:t>某品牌战败得分差距</a:t>
            </a:r>
          </a:p>
        </p:txBody>
      </p:sp>
      <p:graphicFrame>
        <p:nvGraphicFramePr>
          <p:cNvPr id="31" name="表格 30">
            <a:extLst>
              <a:ext uri="{FF2B5EF4-FFF2-40B4-BE49-F238E27FC236}">
                <a16:creationId xmlns:a16="http://schemas.microsoft.com/office/drawing/2014/main" id="{7F7083C5-86B1-C342-71EB-6FE33E3F9D09}"/>
              </a:ext>
            </a:extLst>
          </p:cNvPr>
          <p:cNvGraphicFramePr>
            <a:graphicFrameLocks noGrp="1"/>
          </p:cNvGraphicFramePr>
          <p:nvPr/>
        </p:nvGraphicFramePr>
        <p:xfrm>
          <a:off x="411480" y="5940192"/>
          <a:ext cx="11482796" cy="332272"/>
        </p:xfrm>
        <a:graphic>
          <a:graphicData uri="http://schemas.openxmlformats.org/drawingml/2006/table">
            <a:tbl>
              <a:tblPr firstRow="1" bandRow="1">
                <a:tableStyleId>{5C22544A-7EE6-4342-B048-85BDC9FD1C3A}</a:tableStyleId>
              </a:tblPr>
              <a:tblGrid>
                <a:gridCol w="499252">
                  <a:extLst>
                    <a:ext uri="{9D8B030D-6E8A-4147-A177-3AD203B41FA5}">
                      <a16:colId xmlns:a16="http://schemas.microsoft.com/office/drawing/2014/main" val="2823740596"/>
                    </a:ext>
                  </a:extLst>
                </a:gridCol>
                <a:gridCol w="499252">
                  <a:extLst>
                    <a:ext uri="{9D8B030D-6E8A-4147-A177-3AD203B41FA5}">
                      <a16:colId xmlns:a16="http://schemas.microsoft.com/office/drawing/2014/main" val="2442210773"/>
                    </a:ext>
                  </a:extLst>
                </a:gridCol>
                <a:gridCol w="499252">
                  <a:extLst>
                    <a:ext uri="{9D8B030D-6E8A-4147-A177-3AD203B41FA5}">
                      <a16:colId xmlns:a16="http://schemas.microsoft.com/office/drawing/2014/main" val="553136752"/>
                    </a:ext>
                  </a:extLst>
                </a:gridCol>
                <a:gridCol w="499252">
                  <a:extLst>
                    <a:ext uri="{9D8B030D-6E8A-4147-A177-3AD203B41FA5}">
                      <a16:colId xmlns:a16="http://schemas.microsoft.com/office/drawing/2014/main" val="271276945"/>
                    </a:ext>
                  </a:extLst>
                </a:gridCol>
                <a:gridCol w="499252">
                  <a:extLst>
                    <a:ext uri="{9D8B030D-6E8A-4147-A177-3AD203B41FA5}">
                      <a16:colId xmlns:a16="http://schemas.microsoft.com/office/drawing/2014/main" val="3731974136"/>
                    </a:ext>
                  </a:extLst>
                </a:gridCol>
                <a:gridCol w="499252">
                  <a:extLst>
                    <a:ext uri="{9D8B030D-6E8A-4147-A177-3AD203B41FA5}">
                      <a16:colId xmlns:a16="http://schemas.microsoft.com/office/drawing/2014/main" val="3256047488"/>
                    </a:ext>
                  </a:extLst>
                </a:gridCol>
                <a:gridCol w="499252">
                  <a:extLst>
                    <a:ext uri="{9D8B030D-6E8A-4147-A177-3AD203B41FA5}">
                      <a16:colId xmlns:a16="http://schemas.microsoft.com/office/drawing/2014/main" val="1002508164"/>
                    </a:ext>
                  </a:extLst>
                </a:gridCol>
                <a:gridCol w="499252">
                  <a:extLst>
                    <a:ext uri="{9D8B030D-6E8A-4147-A177-3AD203B41FA5}">
                      <a16:colId xmlns:a16="http://schemas.microsoft.com/office/drawing/2014/main" val="2966597460"/>
                    </a:ext>
                  </a:extLst>
                </a:gridCol>
                <a:gridCol w="499252">
                  <a:extLst>
                    <a:ext uri="{9D8B030D-6E8A-4147-A177-3AD203B41FA5}">
                      <a16:colId xmlns:a16="http://schemas.microsoft.com/office/drawing/2014/main" val="228622395"/>
                    </a:ext>
                  </a:extLst>
                </a:gridCol>
                <a:gridCol w="499252">
                  <a:extLst>
                    <a:ext uri="{9D8B030D-6E8A-4147-A177-3AD203B41FA5}">
                      <a16:colId xmlns:a16="http://schemas.microsoft.com/office/drawing/2014/main" val="1383909732"/>
                    </a:ext>
                  </a:extLst>
                </a:gridCol>
                <a:gridCol w="499252">
                  <a:extLst>
                    <a:ext uri="{9D8B030D-6E8A-4147-A177-3AD203B41FA5}">
                      <a16:colId xmlns:a16="http://schemas.microsoft.com/office/drawing/2014/main" val="510725710"/>
                    </a:ext>
                  </a:extLst>
                </a:gridCol>
                <a:gridCol w="499252">
                  <a:extLst>
                    <a:ext uri="{9D8B030D-6E8A-4147-A177-3AD203B41FA5}">
                      <a16:colId xmlns:a16="http://schemas.microsoft.com/office/drawing/2014/main" val="18513713"/>
                    </a:ext>
                  </a:extLst>
                </a:gridCol>
                <a:gridCol w="499252">
                  <a:extLst>
                    <a:ext uri="{9D8B030D-6E8A-4147-A177-3AD203B41FA5}">
                      <a16:colId xmlns:a16="http://schemas.microsoft.com/office/drawing/2014/main" val="3630061233"/>
                    </a:ext>
                  </a:extLst>
                </a:gridCol>
                <a:gridCol w="499252">
                  <a:extLst>
                    <a:ext uri="{9D8B030D-6E8A-4147-A177-3AD203B41FA5}">
                      <a16:colId xmlns:a16="http://schemas.microsoft.com/office/drawing/2014/main" val="239909375"/>
                    </a:ext>
                  </a:extLst>
                </a:gridCol>
                <a:gridCol w="499252">
                  <a:extLst>
                    <a:ext uri="{9D8B030D-6E8A-4147-A177-3AD203B41FA5}">
                      <a16:colId xmlns:a16="http://schemas.microsoft.com/office/drawing/2014/main" val="3798122669"/>
                    </a:ext>
                  </a:extLst>
                </a:gridCol>
                <a:gridCol w="499252">
                  <a:extLst>
                    <a:ext uri="{9D8B030D-6E8A-4147-A177-3AD203B41FA5}">
                      <a16:colId xmlns:a16="http://schemas.microsoft.com/office/drawing/2014/main" val="3514649848"/>
                    </a:ext>
                  </a:extLst>
                </a:gridCol>
                <a:gridCol w="499252">
                  <a:extLst>
                    <a:ext uri="{9D8B030D-6E8A-4147-A177-3AD203B41FA5}">
                      <a16:colId xmlns:a16="http://schemas.microsoft.com/office/drawing/2014/main" val="1246911294"/>
                    </a:ext>
                  </a:extLst>
                </a:gridCol>
                <a:gridCol w="499252">
                  <a:extLst>
                    <a:ext uri="{9D8B030D-6E8A-4147-A177-3AD203B41FA5}">
                      <a16:colId xmlns:a16="http://schemas.microsoft.com/office/drawing/2014/main" val="4171352973"/>
                    </a:ext>
                  </a:extLst>
                </a:gridCol>
                <a:gridCol w="499252">
                  <a:extLst>
                    <a:ext uri="{9D8B030D-6E8A-4147-A177-3AD203B41FA5}">
                      <a16:colId xmlns:a16="http://schemas.microsoft.com/office/drawing/2014/main" val="1528244757"/>
                    </a:ext>
                  </a:extLst>
                </a:gridCol>
                <a:gridCol w="499252">
                  <a:extLst>
                    <a:ext uri="{9D8B030D-6E8A-4147-A177-3AD203B41FA5}">
                      <a16:colId xmlns:a16="http://schemas.microsoft.com/office/drawing/2014/main" val="1050018950"/>
                    </a:ext>
                  </a:extLst>
                </a:gridCol>
                <a:gridCol w="499252">
                  <a:extLst>
                    <a:ext uri="{9D8B030D-6E8A-4147-A177-3AD203B41FA5}">
                      <a16:colId xmlns:a16="http://schemas.microsoft.com/office/drawing/2014/main" val="1461410333"/>
                    </a:ext>
                  </a:extLst>
                </a:gridCol>
                <a:gridCol w="499252">
                  <a:extLst>
                    <a:ext uri="{9D8B030D-6E8A-4147-A177-3AD203B41FA5}">
                      <a16:colId xmlns:a16="http://schemas.microsoft.com/office/drawing/2014/main" val="3627902571"/>
                    </a:ext>
                  </a:extLst>
                </a:gridCol>
                <a:gridCol w="499252">
                  <a:extLst>
                    <a:ext uri="{9D8B030D-6E8A-4147-A177-3AD203B41FA5}">
                      <a16:colId xmlns:a16="http://schemas.microsoft.com/office/drawing/2014/main" val="702049497"/>
                    </a:ext>
                  </a:extLst>
                </a:gridCol>
              </a:tblGrid>
              <a:tr h="332272">
                <a:tc>
                  <a:txBody>
                    <a:bodyPr/>
                    <a:lstStyle/>
                    <a:p>
                      <a:pPr algn="ctr" fontAlgn="ctr"/>
                      <a:r>
                        <a:rPr lang="en-US" altLang="zh-CN" sz="900" b="0" i="0" u="none" strike="noStrike">
                          <a:solidFill>
                            <a:srgbClr val="000000"/>
                          </a:solidFill>
                          <a:effectLst/>
                          <a:latin typeface="+mn-ea"/>
                          <a:ea typeface="+mn-ea"/>
                        </a:rPr>
                        <a:t>0.55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dirty="0">
                          <a:solidFill>
                            <a:srgbClr val="000000"/>
                          </a:solidFill>
                          <a:effectLst/>
                          <a:latin typeface="+mn-ea"/>
                          <a:ea typeface="+mn-ea"/>
                        </a:rPr>
                        <a:t>0.72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0.55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0.71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0.73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0.77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0.73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1" i="0" u="none" strike="noStrike" dirty="0">
                          <a:solidFill>
                            <a:srgbClr val="FF0000"/>
                          </a:solidFill>
                          <a:effectLst/>
                          <a:latin typeface="+mn-ea"/>
                          <a:ea typeface="+mn-ea"/>
                        </a:rPr>
                        <a:t>0.78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0.51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0.63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0.64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0.66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0.71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0.71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1" i="0" u="none" strike="noStrike" dirty="0">
                          <a:solidFill>
                            <a:srgbClr val="FF0000"/>
                          </a:solidFill>
                          <a:effectLst/>
                          <a:latin typeface="+mn-ea"/>
                          <a:ea typeface="+mn-ea"/>
                        </a:rPr>
                        <a:t>0.82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0.73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1" i="0" u="none" strike="noStrike" dirty="0">
                          <a:solidFill>
                            <a:srgbClr val="FF0000"/>
                          </a:solidFill>
                          <a:effectLst/>
                          <a:latin typeface="+mn-ea"/>
                          <a:ea typeface="+mn-ea"/>
                        </a:rPr>
                        <a:t>0.81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0.51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0.64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0.66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0" i="0" u="none" strike="noStrike">
                          <a:solidFill>
                            <a:srgbClr val="000000"/>
                          </a:solidFill>
                          <a:effectLst/>
                          <a:latin typeface="+mn-ea"/>
                          <a:ea typeface="+mn-ea"/>
                        </a:rPr>
                        <a:t>0.70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1" i="0" u="none" strike="noStrike">
                          <a:solidFill>
                            <a:srgbClr val="FF0000"/>
                          </a:solidFill>
                          <a:effectLst/>
                          <a:latin typeface="+mn-ea"/>
                          <a:ea typeface="+mn-ea"/>
                        </a:rPr>
                        <a:t>0.80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900" b="1" i="0" u="none" strike="noStrike" dirty="0">
                          <a:solidFill>
                            <a:srgbClr val="FF0000"/>
                          </a:solidFill>
                          <a:effectLst/>
                          <a:latin typeface="+mn-ea"/>
                          <a:ea typeface="+mn-ea"/>
                        </a:rPr>
                        <a:t>0.89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3933678"/>
                  </a:ext>
                </a:extLst>
              </a:tr>
            </a:tbl>
          </a:graphicData>
        </a:graphic>
      </p:graphicFrame>
      <p:sp>
        <p:nvSpPr>
          <p:cNvPr id="32" name="矩形 31">
            <a:extLst>
              <a:ext uri="{FF2B5EF4-FFF2-40B4-BE49-F238E27FC236}">
                <a16:creationId xmlns:a16="http://schemas.microsoft.com/office/drawing/2014/main" id="{4DABE68B-B5D9-75AF-F0DA-CAB9DA6C674C}"/>
              </a:ext>
            </a:extLst>
          </p:cNvPr>
          <p:cNvSpPr/>
          <p:nvPr/>
        </p:nvSpPr>
        <p:spPr>
          <a:xfrm>
            <a:off x="3932041" y="4290653"/>
            <a:ext cx="438912" cy="2026538"/>
          </a:xfrm>
          <a:prstGeom prst="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59432096-AA1D-2697-09C0-5960908089B0}"/>
              </a:ext>
            </a:extLst>
          </p:cNvPr>
          <p:cNvSpPr/>
          <p:nvPr/>
        </p:nvSpPr>
        <p:spPr>
          <a:xfrm>
            <a:off x="7382137" y="4290653"/>
            <a:ext cx="438912" cy="2026538"/>
          </a:xfrm>
          <a:prstGeom prst="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269C0D56-6D38-FA5C-3484-C26271B0BB80}"/>
              </a:ext>
            </a:extLst>
          </p:cNvPr>
          <p:cNvSpPr/>
          <p:nvPr/>
        </p:nvSpPr>
        <p:spPr>
          <a:xfrm>
            <a:off x="8409553" y="4278198"/>
            <a:ext cx="438912" cy="2026538"/>
          </a:xfrm>
          <a:prstGeom prst="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D4F37C81-CFD6-DA73-86DE-36373BCE5AC7}"/>
              </a:ext>
            </a:extLst>
          </p:cNvPr>
          <p:cNvSpPr/>
          <p:nvPr/>
        </p:nvSpPr>
        <p:spPr>
          <a:xfrm>
            <a:off x="10832233" y="4251043"/>
            <a:ext cx="438912" cy="2026538"/>
          </a:xfrm>
          <a:prstGeom prst="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70168353-304B-F174-6CFB-369C2F2B0956}"/>
              </a:ext>
            </a:extLst>
          </p:cNvPr>
          <p:cNvSpPr/>
          <p:nvPr/>
        </p:nvSpPr>
        <p:spPr>
          <a:xfrm>
            <a:off x="11388603" y="4244953"/>
            <a:ext cx="438912" cy="2026538"/>
          </a:xfrm>
          <a:prstGeom prst="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475336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 name="矩形 39">
            <a:extLst>
              <a:ext uri="{FF2B5EF4-FFF2-40B4-BE49-F238E27FC236}">
                <a16:creationId xmlns:a16="http://schemas.microsoft.com/office/drawing/2014/main" id="{70168353-304B-F174-6CFB-369C2F2B0956}"/>
              </a:ext>
            </a:extLst>
          </p:cNvPr>
          <p:cNvSpPr/>
          <p:nvPr/>
        </p:nvSpPr>
        <p:spPr>
          <a:xfrm>
            <a:off x="11388603" y="4244953"/>
            <a:ext cx="438912" cy="2026538"/>
          </a:xfrm>
          <a:prstGeom prst="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图表 2">
            <a:extLst>
              <a:ext uri="{FF2B5EF4-FFF2-40B4-BE49-F238E27FC236}">
                <a16:creationId xmlns:a16="http://schemas.microsoft.com/office/drawing/2014/main" id="{74E6B0B1-DB84-5FEF-B5B2-D141CA5EB740}"/>
              </a:ext>
            </a:extLst>
          </p:cNvPr>
          <p:cNvGraphicFramePr/>
          <p:nvPr/>
        </p:nvGraphicFramePr>
        <p:xfrm>
          <a:off x="261026" y="1837070"/>
          <a:ext cx="12155563" cy="1710801"/>
        </p:xfrm>
        <a:graphic>
          <a:graphicData uri="http://schemas.openxmlformats.org/drawingml/2006/chart">
            <c:chart xmlns:c="http://schemas.openxmlformats.org/drawingml/2006/chart" xmlns:r="http://schemas.openxmlformats.org/officeDocument/2006/relationships" r:id="rId2"/>
          </a:graphicData>
        </a:graphic>
      </p:graphicFrame>
      <p:sp>
        <p:nvSpPr>
          <p:cNvPr id="19" name="矩形 18">
            <a:extLst>
              <a:ext uri="{FF2B5EF4-FFF2-40B4-BE49-F238E27FC236}">
                <a16:creationId xmlns:a16="http://schemas.microsoft.com/office/drawing/2014/main" id="{6BED7E66-2E5E-8F67-996C-2AE75E61C637}"/>
              </a:ext>
            </a:extLst>
          </p:cNvPr>
          <p:cNvSpPr/>
          <p:nvPr/>
        </p:nvSpPr>
        <p:spPr>
          <a:xfrm>
            <a:off x="7885577" y="1804798"/>
            <a:ext cx="438912" cy="2026538"/>
          </a:xfrm>
          <a:prstGeom prst="rect">
            <a:avLst/>
          </a:prstGeom>
          <a:solidFill>
            <a:srgbClr val="4B8D5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E33BF79F-9A11-EB3B-ACD6-06D6C35B8F73}"/>
              </a:ext>
            </a:extLst>
          </p:cNvPr>
          <p:cNvSpPr/>
          <p:nvPr/>
        </p:nvSpPr>
        <p:spPr>
          <a:xfrm>
            <a:off x="9369193" y="1807961"/>
            <a:ext cx="438912" cy="2026538"/>
          </a:xfrm>
          <a:prstGeom prst="rect">
            <a:avLst/>
          </a:prstGeom>
          <a:solidFill>
            <a:srgbClr val="4B8D5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D240BA67-81C0-439A-F969-035D3B367919}"/>
              </a:ext>
            </a:extLst>
          </p:cNvPr>
          <p:cNvSpPr/>
          <p:nvPr/>
        </p:nvSpPr>
        <p:spPr>
          <a:xfrm>
            <a:off x="8374828" y="1817969"/>
            <a:ext cx="438912" cy="2026538"/>
          </a:xfrm>
          <a:prstGeom prst="rect">
            <a:avLst/>
          </a:prstGeom>
          <a:solidFill>
            <a:srgbClr val="4B8D5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a:extLst>
              <a:ext uri="{FF2B5EF4-FFF2-40B4-BE49-F238E27FC236}">
                <a16:creationId xmlns:a16="http://schemas.microsoft.com/office/drawing/2014/main" id="{9F10B788-B8C3-1418-A03F-B548D74FBAED}"/>
              </a:ext>
            </a:extLst>
          </p:cNvPr>
          <p:cNvSpPr>
            <a:spLocks noGrp="1"/>
          </p:cNvSpPr>
          <p:nvPr>
            <p:ph type="body" sz="quarter" idx="21"/>
          </p:nvPr>
        </p:nvSpPr>
        <p:spPr/>
        <p:txBody>
          <a:bodyPr/>
          <a:lstStyle/>
          <a:p>
            <a:r>
              <a:rPr kumimoji="1" lang="en-US" altLang="zh-CN" dirty="0">
                <a:latin typeface="+mn-ea"/>
                <a:ea typeface="+mn-ea"/>
              </a:rPr>
              <a:t>2.3 </a:t>
            </a:r>
            <a:r>
              <a:rPr kumimoji="1" lang="zh-CN" altLang="en-US" dirty="0">
                <a:latin typeface="+mn-ea"/>
                <a:ea typeface="+mn-ea"/>
              </a:rPr>
              <a:t>战胜战败分析 </a:t>
            </a:r>
            <a:r>
              <a:rPr kumimoji="1" lang="en-US" altLang="zh-CN" dirty="0">
                <a:latin typeface="+mn-ea"/>
                <a:ea typeface="+mn-ea"/>
              </a:rPr>
              <a:t>– </a:t>
            </a:r>
            <a:r>
              <a:rPr kumimoji="1" lang="zh-CN" altLang="en-US" dirty="0">
                <a:latin typeface="+mn-ea"/>
                <a:ea typeface="+mn-ea"/>
              </a:rPr>
              <a:t>某品牌</a:t>
            </a:r>
            <a:r>
              <a:rPr kumimoji="1" lang="en-US" altLang="zh-CN" dirty="0">
                <a:latin typeface="+mn-ea"/>
                <a:ea typeface="+mn-ea"/>
              </a:rPr>
              <a:t>vs</a:t>
            </a:r>
            <a:r>
              <a:rPr kumimoji="1" lang="zh-CN" altLang="en-US" dirty="0">
                <a:latin typeface="+mn-ea"/>
                <a:ea typeface="+mn-ea"/>
              </a:rPr>
              <a:t>蔚来</a:t>
            </a:r>
            <a:r>
              <a:rPr lang="zh-CN" altLang="en-US" dirty="0"/>
              <a:t>要素得分</a:t>
            </a:r>
          </a:p>
        </p:txBody>
      </p:sp>
      <p:sp>
        <p:nvSpPr>
          <p:cNvPr id="8" name="文本占位符 7">
            <a:extLst>
              <a:ext uri="{FF2B5EF4-FFF2-40B4-BE49-F238E27FC236}">
                <a16:creationId xmlns:a16="http://schemas.microsoft.com/office/drawing/2014/main" id="{0792E2E5-D3CF-1DDF-0F12-D2E9538B0779}"/>
              </a:ext>
            </a:extLst>
          </p:cNvPr>
          <p:cNvSpPr>
            <a:spLocks noGrp="1"/>
          </p:cNvSpPr>
          <p:nvPr>
            <p:ph type="body" sz="quarter" idx="22"/>
          </p:nvPr>
        </p:nvSpPr>
        <p:spPr>
          <a:xfrm>
            <a:off x="311065" y="906889"/>
            <a:ext cx="11547560" cy="577424"/>
          </a:xfrm>
        </p:spPr>
        <p:txBody>
          <a:bodyPr/>
          <a:lstStyle/>
          <a:p>
            <a:pPr>
              <a:lnSpc>
                <a:spcPct val="100000"/>
              </a:lnSpc>
              <a:spcBef>
                <a:spcPts val="0"/>
              </a:spcBef>
            </a:pPr>
            <a:r>
              <a:rPr lang="zh-CN" altLang="en-US" dirty="0">
                <a:latin typeface="+mn-ea"/>
                <a:ea typeface="+mn-ea"/>
              </a:rPr>
              <a:t>某品牌战胜蔚来得分相对较高的是试驾等待时间，试驾前的准备工作，试驾时长与试驾流程安排合理性</a:t>
            </a:r>
            <a:endParaRPr lang="en-US" altLang="zh-CN" dirty="0">
              <a:latin typeface="+mn-ea"/>
              <a:ea typeface="+mn-ea"/>
            </a:endParaRPr>
          </a:p>
          <a:p>
            <a:pPr>
              <a:lnSpc>
                <a:spcPct val="100000"/>
              </a:lnSpc>
              <a:spcBef>
                <a:spcPts val="0"/>
              </a:spcBef>
            </a:pPr>
            <a:r>
              <a:rPr lang="zh-CN" altLang="en-US" dirty="0">
                <a:latin typeface="+mn-ea"/>
                <a:ea typeface="+mn-ea"/>
              </a:rPr>
              <a:t>战败得分相对较低的是预约便利性，试驾后持续服务，离店后回访表现</a:t>
            </a:r>
          </a:p>
        </p:txBody>
      </p:sp>
      <p:sp>
        <p:nvSpPr>
          <p:cNvPr id="5" name="灯片编号占位符 4">
            <a:extLst>
              <a:ext uri="{FF2B5EF4-FFF2-40B4-BE49-F238E27FC236}">
                <a16:creationId xmlns:a16="http://schemas.microsoft.com/office/drawing/2014/main" id="{55D015F0-0EF6-45D2-D0D0-C8EE67B94881}"/>
              </a:ext>
            </a:extLst>
          </p:cNvPr>
          <p:cNvSpPr>
            <a:spLocks noGrp="1"/>
          </p:cNvSpPr>
          <p:nvPr>
            <p:ph type="sldNum" sz="quarter" idx="4"/>
          </p:nvPr>
        </p:nvSpPr>
        <p:spPr/>
        <p:txBody>
          <a:bodyPr/>
          <a:lstStyle/>
          <a:p>
            <a:fld id="{04824671-56D2-5D44-834F-250C3DA554E9}" type="slidenum">
              <a:rPr lang="zh-CN" altLang="en-US" smtClean="0"/>
              <a:t>39</a:t>
            </a:fld>
            <a:endParaRPr lang="zh-CN" altLang="en-US" dirty="0"/>
          </a:p>
        </p:txBody>
      </p:sp>
      <p:sp>
        <p:nvSpPr>
          <p:cNvPr id="4" name="文本框 3">
            <a:extLst>
              <a:ext uri="{FF2B5EF4-FFF2-40B4-BE49-F238E27FC236}">
                <a16:creationId xmlns:a16="http://schemas.microsoft.com/office/drawing/2014/main" id="{FAB16A22-F3BA-7091-B52D-BE6D4883BE20}"/>
              </a:ext>
            </a:extLst>
          </p:cNvPr>
          <p:cNvSpPr txBox="1"/>
          <p:nvPr/>
        </p:nvSpPr>
        <p:spPr>
          <a:xfrm>
            <a:off x="261026" y="1529539"/>
            <a:ext cx="11589477" cy="307777"/>
          </a:xfrm>
          <a:prstGeom prst="rect">
            <a:avLst/>
          </a:prstGeom>
          <a:solidFill>
            <a:srgbClr val="1B9538"/>
          </a:solidFill>
        </p:spPr>
        <p:txBody>
          <a:bodyPr wrap="square" rtlCol="0">
            <a:spAutoFit/>
          </a:bodyPr>
          <a:lstStyle/>
          <a:p>
            <a:pPr algn="ctr"/>
            <a:r>
              <a:rPr lang="zh-CN" altLang="en-US" sz="1400" b="1" dirty="0">
                <a:solidFill>
                  <a:schemeClr val="bg1"/>
                </a:solidFill>
                <a:latin typeface="微软雅黑" panose="020B0503020204020204" pitchFamily="34" charset="-122"/>
                <a:ea typeface="Alibaba PuHuiTi 2.0 55 Regular"/>
              </a:rPr>
              <a:t>某品牌战胜得分差距</a:t>
            </a:r>
          </a:p>
        </p:txBody>
      </p:sp>
      <p:graphicFrame>
        <p:nvGraphicFramePr>
          <p:cNvPr id="29" name="图表 28">
            <a:extLst>
              <a:ext uri="{FF2B5EF4-FFF2-40B4-BE49-F238E27FC236}">
                <a16:creationId xmlns:a16="http://schemas.microsoft.com/office/drawing/2014/main" id="{CEC437EA-9B2F-13B4-129F-D826A34846AA}"/>
              </a:ext>
            </a:extLst>
          </p:cNvPr>
          <p:cNvGraphicFramePr/>
          <p:nvPr/>
        </p:nvGraphicFramePr>
        <p:xfrm>
          <a:off x="297723" y="4278198"/>
          <a:ext cx="11894277" cy="1710801"/>
        </p:xfrm>
        <a:graphic>
          <a:graphicData uri="http://schemas.openxmlformats.org/drawingml/2006/chart">
            <c:chart xmlns:c="http://schemas.openxmlformats.org/drawingml/2006/chart" xmlns:r="http://schemas.openxmlformats.org/officeDocument/2006/relationships" r:id="rId3"/>
          </a:graphicData>
        </a:graphic>
      </p:graphicFrame>
      <p:sp>
        <p:nvSpPr>
          <p:cNvPr id="30" name="文本框 29">
            <a:extLst>
              <a:ext uri="{FF2B5EF4-FFF2-40B4-BE49-F238E27FC236}">
                <a16:creationId xmlns:a16="http://schemas.microsoft.com/office/drawing/2014/main" id="{A547B3D5-F070-6747-B556-311D228E03E0}"/>
              </a:ext>
            </a:extLst>
          </p:cNvPr>
          <p:cNvSpPr txBox="1"/>
          <p:nvPr/>
        </p:nvSpPr>
        <p:spPr>
          <a:xfrm>
            <a:off x="297723" y="3970667"/>
            <a:ext cx="11589477" cy="307777"/>
          </a:xfrm>
          <a:prstGeom prst="rect">
            <a:avLst/>
          </a:prstGeom>
          <a:solidFill>
            <a:srgbClr val="1B9538"/>
          </a:solidFill>
        </p:spPr>
        <p:txBody>
          <a:bodyPr wrap="square" rtlCol="0">
            <a:spAutoFit/>
          </a:bodyPr>
          <a:lstStyle/>
          <a:p>
            <a:pPr algn="ctr"/>
            <a:r>
              <a:rPr lang="zh-CN" altLang="en-US" sz="1400" b="1" dirty="0">
                <a:solidFill>
                  <a:schemeClr val="bg1"/>
                </a:solidFill>
                <a:latin typeface="微软雅黑" panose="020B0503020204020204" pitchFamily="34" charset="-122"/>
                <a:ea typeface="Alibaba PuHuiTi 2.0 55 Regular"/>
              </a:rPr>
              <a:t>某品牌战败得分差距</a:t>
            </a:r>
          </a:p>
        </p:txBody>
      </p:sp>
      <p:sp>
        <p:nvSpPr>
          <p:cNvPr id="32" name="矩形 31">
            <a:extLst>
              <a:ext uri="{FF2B5EF4-FFF2-40B4-BE49-F238E27FC236}">
                <a16:creationId xmlns:a16="http://schemas.microsoft.com/office/drawing/2014/main" id="{4DABE68B-B5D9-75AF-F0DA-CAB9DA6C674C}"/>
              </a:ext>
            </a:extLst>
          </p:cNvPr>
          <p:cNvSpPr/>
          <p:nvPr/>
        </p:nvSpPr>
        <p:spPr>
          <a:xfrm>
            <a:off x="948408" y="4244953"/>
            <a:ext cx="438912" cy="2026538"/>
          </a:xfrm>
          <a:prstGeom prst="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47D8C462-511A-3F15-4D42-42F809BBB69E}"/>
              </a:ext>
            </a:extLst>
          </p:cNvPr>
          <p:cNvSpPr/>
          <p:nvPr/>
        </p:nvSpPr>
        <p:spPr>
          <a:xfrm>
            <a:off x="10428882" y="4263958"/>
            <a:ext cx="438912" cy="2026538"/>
          </a:xfrm>
          <a:prstGeom prst="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1" name="表格 30">
            <a:extLst>
              <a:ext uri="{FF2B5EF4-FFF2-40B4-BE49-F238E27FC236}">
                <a16:creationId xmlns:a16="http://schemas.microsoft.com/office/drawing/2014/main" id="{7F7083C5-86B1-C342-71EB-6FE33E3F9D09}"/>
              </a:ext>
            </a:extLst>
          </p:cNvPr>
          <p:cNvGraphicFramePr>
            <a:graphicFrameLocks noGrp="1"/>
          </p:cNvGraphicFramePr>
          <p:nvPr/>
        </p:nvGraphicFramePr>
        <p:xfrm>
          <a:off x="411480" y="5940192"/>
          <a:ext cx="11482796" cy="332272"/>
        </p:xfrm>
        <a:graphic>
          <a:graphicData uri="http://schemas.openxmlformats.org/drawingml/2006/table">
            <a:tbl>
              <a:tblPr firstRow="1" bandRow="1">
                <a:tableStyleId>{5C22544A-7EE6-4342-B048-85BDC9FD1C3A}</a:tableStyleId>
              </a:tblPr>
              <a:tblGrid>
                <a:gridCol w="499252">
                  <a:extLst>
                    <a:ext uri="{9D8B030D-6E8A-4147-A177-3AD203B41FA5}">
                      <a16:colId xmlns:a16="http://schemas.microsoft.com/office/drawing/2014/main" val="2823740596"/>
                    </a:ext>
                  </a:extLst>
                </a:gridCol>
                <a:gridCol w="499252">
                  <a:extLst>
                    <a:ext uri="{9D8B030D-6E8A-4147-A177-3AD203B41FA5}">
                      <a16:colId xmlns:a16="http://schemas.microsoft.com/office/drawing/2014/main" val="2442210773"/>
                    </a:ext>
                  </a:extLst>
                </a:gridCol>
                <a:gridCol w="499252">
                  <a:extLst>
                    <a:ext uri="{9D8B030D-6E8A-4147-A177-3AD203B41FA5}">
                      <a16:colId xmlns:a16="http://schemas.microsoft.com/office/drawing/2014/main" val="553136752"/>
                    </a:ext>
                  </a:extLst>
                </a:gridCol>
                <a:gridCol w="499252">
                  <a:extLst>
                    <a:ext uri="{9D8B030D-6E8A-4147-A177-3AD203B41FA5}">
                      <a16:colId xmlns:a16="http://schemas.microsoft.com/office/drawing/2014/main" val="271276945"/>
                    </a:ext>
                  </a:extLst>
                </a:gridCol>
                <a:gridCol w="499252">
                  <a:extLst>
                    <a:ext uri="{9D8B030D-6E8A-4147-A177-3AD203B41FA5}">
                      <a16:colId xmlns:a16="http://schemas.microsoft.com/office/drawing/2014/main" val="3731974136"/>
                    </a:ext>
                  </a:extLst>
                </a:gridCol>
                <a:gridCol w="499252">
                  <a:extLst>
                    <a:ext uri="{9D8B030D-6E8A-4147-A177-3AD203B41FA5}">
                      <a16:colId xmlns:a16="http://schemas.microsoft.com/office/drawing/2014/main" val="3256047488"/>
                    </a:ext>
                  </a:extLst>
                </a:gridCol>
                <a:gridCol w="499252">
                  <a:extLst>
                    <a:ext uri="{9D8B030D-6E8A-4147-A177-3AD203B41FA5}">
                      <a16:colId xmlns:a16="http://schemas.microsoft.com/office/drawing/2014/main" val="1002508164"/>
                    </a:ext>
                  </a:extLst>
                </a:gridCol>
                <a:gridCol w="499252">
                  <a:extLst>
                    <a:ext uri="{9D8B030D-6E8A-4147-A177-3AD203B41FA5}">
                      <a16:colId xmlns:a16="http://schemas.microsoft.com/office/drawing/2014/main" val="2966597460"/>
                    </a:ext>
                  </a:extLst>
                </a:gridCol>
                <a:gridCol w="499252">
                  <a:extLst>
                    <a:ext uri="{9D8B030D-6E8A-4147-A177-3AD203B41FA5}">
                      <a16:colId xmlns:a16="http://schemas.microsoft.com/office/drawing/2014/main" val="228622395"/>
                    </a:ext>
                  </a:extLst>
                </a:gridCol>
                <a:gridCol w="499252">
                  <a:extLst>
                    <a:ext uri="{9D8B030D-6E8A-4147-A177-3AD203B41FA5}">
                      <a16:colId xmlns:a16="http://schemas.microsoft.com/office/drawing/2014/main" val="1383909732"/>
                    </a:ext>
                  </a:extLst>
                </a:gridCol>
                <a:gridCol w="499252">
                  <a:extLst>
                    <a:ext uri="{9D8B030D-6E8A-4147-A177-3AD203B41FA5}">
                      <a16:colId xmlns:a16="http://schemas.microsoft.com/office/drawing/2014/main" val="510725710"/>
                    </a:ext>
                  </a:extLst>
                </a:gridCol>
                <a:gridCol w="499252">
                  <a:extLst>
                    <a:ext uri="{9D8B030D-6E8A-4147-A177-3AD203B41FA5}">
                      <a16:colId xmlns:a16="http://schemas.microsoft.com/office/drawing/2014/main" val="18513713"/>
                    </a:ext>
                  </a:extLst>
                </a:gridCol>
                <a:gridCol w="499252">
                  <a:extLst>
                    <a:ext uri="{9D8B030D-6E8A-4147-A177-3AD203B41FA5}">
                      <a16:colId xmlns:a16="http://schemas.microsoft.com/office/drawing/2014/main" val="3630061233"/>
                    </a:ext>
                  </a:extLst>
                </a:gridCol>
                <a:gridCol w="499252">
                  <a:extLst>
                    <a:ext uri="{9D8B030D-6E8A-4147-A177-3AD203B41FA5}">
                      <a16:colId xmlns:a16="http://schemas.microsoft.com/office/drawing/2014/main" val="239909375"/>
                    </a:ext>
                  </a:extLst>
                </a:gridCol>
                <a:gridCol w="499252">
                  <a:extLst>
                    <a:ext uri="{9D8B030D-6E8A-4147-A177-3AD203B41FA5}">
                      <a16:colId xmlns:a16="http://schemas.microsoft.com/office/drawing/2014/main" val="3798122669"/>
                    </a:ext>
                  </a:extLst>
                </a:gridCol>
                <a:gridCol w="499252">
                  <a:extLst>
                    <a:ext uri="{9D8B030D-6E8A-4147-A177-3AD203B41FA5}">
                      <a16:colId xmlns:a16="http://schemas.microsoft.com/office/drawing/2014/main" val="3514649848"/>
                    </a:ext>
                  </a:extLst>
                </a:gridCol>
                <a:gridCol w="499252">
                  <a:extLst>
                    <a:ext uri="{9D8B030D-6E8A-4147-A177-3AD203B41FA5}">
                      <a16:colId xmlns:a16="http://schemas.microsoft.com/office/drawing/2014/main" val="1246911294"/>
                    </a:ext>
                  </a:extLst>
                </a:gridCol>
                <a:gridCol w="499252">
                  <a:extLst>
                    <a:ext uri="{9D8B030D-6E8A-4147-A177-3AD203B41FA5}">
                      <a16:colId xmlns:a16="http://schemas.microsoft.com/office/drawing/2014/main" val="4171352973"/>
                    </a:ext>
                  </a:extLst>
                </a:gridCol>
                <a:gridCol w="499252">
                  <a:extLst>
                    <a:ext uri="{9D8B030D-6E8A-4147-A177-3AD203B41FA5}">
                      <a16:colId xmlns:a16="http://schemas.microsoft.com/office/drawing/2014/main" val="1528244757"/>
                    </a:ext>
                  </a:extLst>
                </a:gridCol>
                <a:gridCol w="499252">
                  <a:extLst>
                    <a:ext uri="{9D8B030D-6E8A-4147-A177-3AD203B41FA5}">
                      <a16:colId xmlns:a16="http://schemas.microsoft.com/office/drawing/2014/main" val="1050018950"/>
                    </a:ext>
                  </a:extLst>
                </a:gridCol>
                <a:gridCol w="499252">
                  <a:extLst>
                    <a:ext uri="{9D8B030D-6E8A-4147-A177-3AD203B41FA5}">
                      <a16:colId xmlns:a16="http://schemas.microsoft.com/office/drawing/2014/main" val="1461410333"/>
                    </a:ext>
                  </a:extLst>
                </a:gridCol>
                <a:gridCol w="499252">
                  <a:extLst>
                    <a:ext uri="{9D8B030D-6E8A-4147-A177-3AD203B41FA5}">
                      <a16:colId xmlns:a16="http://schemas.microsoft.com/office/drawing/2014/main" val="3627902571"/>
                    </a:ext>
                  </a:extLst>
                </a:gridCol>
                <a:gridCol w="499252">
                  <a:extLst>
                    <a:ext uri="{9D8B030D-6E8A-4147-A177-3AD203B41FA5}">
                      <a16:colId xmlns:a16="http://schemas.microsoft.com/office/drawing/2014/main" val="702049497"/>
                    </a:ext>
                  </a:extLst>
                </a:gridCol>
              </a:tblGrid>
              <a:tr h="332272">
                <a:tc>
                  <a:txBody>
                    <a:bodyPr/>
                    <a:lstStyle/>
                    <a:p>
                      <a:pPr marL="0" algn="ctr" defTabSz="914400" rtl="0" eaLnBrk="1" fontAlgn="ctr" latinLnBrk="0" hangingPunct="1"/>
                      <a:r>
                        <a:rPr lang="en-US" altLang="zh-CN" sz="1000" b="0" i="0" u="none" strike="noStrike" kern="1200" dirty="0">
                          <a:solidFill>
                            <a:srgbClr val="000000"/>
                          </a:solidFill>
                          <a:effectLst/>
                          <a:latin typeface="+mn-ea"/>
                          <a:ea typeface="+mn-ea"/>
                          <a:cs typeface="+mn-cs"/>
                        </a:rPr>
                        <a:t>0.63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1" i="0" u="none" strike="noStrike" kern="1200" dirty="0">
                          <a:solidFill>
                            <a:srgbClr val="C00000"/>
                          </a:solidFill>
                          <a:effectLst/>
                          <a:latin typeface="+mn-ea"/>
                          <a:ea typeface="+mn-ea"/>
                          <a:cs typeface="+mn-cs"/>
                        </a:rPr>
                        <a:t>0.98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mn-ea"/>
                          <a:ea typeface="+mn-ea"/>
                          <a:cs typeface="+mn-cs"/>
                        </a:rPr>
                        <a:t>0.47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rgbClr val="000000"/>
                          </a:solidFill>
                          <a:effectLst/>
                          <a:latin typeface="+mn-ea"/>
                          <a:ea typeface="+mn-ea"/>
                          <a:cs typeface="+mn-cs"/>
                        </a:rPr>
                        <a:t>0.71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mn-ea"/>
                          <a:ea typeface="+mn-ea"/>
                          <a:cs typeface="+mn-cs"/>
                        </a:rPr>
                        <a:t>0.50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mn-ea"/>
                          <a:ea typeface="+mn-ea"/>
                          <a:cs typeface="+mn-cs"/>
                        </a:rPr>
                        <a:t>0.59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0.50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0.81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0.65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mn-ea"/>
                          <a:ea typeface="+mn-ea"/>
                          <a:cs typeface="+mn-cs"/>
                        </a:rPr>
                        <a:t>0.71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rgbClr val="000000"/>
                          </a:solidFill>
                          <a:effectLst/>
                          <a:latin typeface="+mn-ea"/>
                          <a:ea typeface="+mn-ea"/>
                          <a:cs typeface="+mn-cs"/>
                        </a:rPr>
                        <a:t>0.59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rgbClr val="000000"/>
                          </a:solidFill>
                          <a:effectLst/>
                          <a:latin typeface="+mn-ea"/>
                          <a:ea typeface="+mn-ea"/>
                          <a:cs typeface="+mn-cs"/>
                        </a:rPr>
                        <a:t>0.56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mn-ea"/>
                          <a:ea typeface="+mn-ea"/>
                          <a:cs typeface="+mn-cs"/>
                        </a:rPr>
                        <a:t>0.76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mn-ea"/>
                          <a:ea typeface="+mn-ea"/>
                          <a:cs typeface="+mn-cs"/>
                        </a:rPr>
                        <a:t>0.53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mn-ea"/>
                          <a:ea typeface="+mn-ea"/>
                          <a:cs typeface="+mn-cs"/>
                        </a:rPr>
                        <a:t>0.58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a:solidFill>
                            <a:srgbClr val="000000"/>
                          </a:solidFill>
                          <a:effectLst/>
                          <a:latin typeface="+mn-ea"/>
                          <a:ea typeface="+mn-ea"/>
                          <a:cs typeface="+mn-cs"/>
                        </a:rPr>
                        <a:t>0.44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mn-ea"/>
                          <a:ea typeface="+mn-ea"/>
                          <a:cs typeface="+mn-cs"/>
                        </a:rPr>
                        <a:t>0.80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mn-ea"/>
                          <a:ea typeface="+mn-ea"/>
                          <a:cs typeface="+mn-cs"/>
                        </a:rPr>
                        <a:t>0.37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mn-ea"/>
                          <a:ea typeface="+mn-ea"/>
                          <a:cs typeface="+mn-cs"/>
                        </a:rPr>
                        <a:t>0.43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rgbClr val="000000"/>
                          </a:solidFill>
                          <a:effectLst/>
                          <a:latin typeface="+mn-ea"/>
                          <a:ea typeface="+mn-ea"/>
                          <a:cs typeface="+mn-cs"/>
                        </a:rPr>
                        <a:t>0.44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1" i="0" u="none" strike="noStrike" kern="1200" dirty="0">
                          <a:solidFill>
                            <a:srgbClr val="C00000"/>
                          </a:solidFill>
                          <a:effectLst/>
                          <a:latin typeface="+mn-ea"/>
                          <a:ea typeface="+mn-ea"/>
                          <a:cs typeface="+mn-cs"/>
                        </a:rPr>
                        <a:t>0.93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0" i="0" u="none" strike="noStrike" kern="1200" dirty="0">
                          <a:solidFill>
                            <a:schemeClr val="tx1"/>
                          </a:solidFill>
                          <a:effectLst/>
                          <a:latin typeface="+mn-ea"/>
                          <a:ea typeface="+mn-ea"/>
                          <a:cs typeface="+mn-cs"/>
                        </a:rPr>
                        <a:t>0.76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ctr" defTabSz="914400" rtl="0" eaLnBrk="1" fontAlgn="ctr" latinLnBrk="0" hangingPunct="1"/>
                      <a:r>
                        <a:rPr lang="en-US" altLang="zh-CN" sz="1000" b="1" i="0" u="none" strike="noStrike" kern="1200" dirty="0">
                          <a:solidFill>
                            <a:srgbClr val="C00000"/>
                          </a:solidFill>
                          <a:effectLst/>
                          <a:latin typeface="+mn-ea"/>
                          <a:ea typeface="+mn-ea"/>
                          <a:cs typeface="+mn-cs"/>
                        </a:rPr>
                        <a:t>0.88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3933678"/>
                  </a:ext>
                </a:extLst>
              </a:tr>
            </a:tbl>
          </a:graphicData>
        </a:graphic>
      </p:graphicFrame>
      <p:graphicFrame>
        <p:nvGraphicFramePr>
          <p:cNvPr id="15" name="表格 14">
            <a:extLst>
              <a:ext uri="{FF2B5EF4-FFF2-40B4-BE49-F238E27FC236}">
                <a16:creationId xmlns:a16="http://schemas.microsoft.com/office/drawing/2014/main" id="{BBAB0E0F-5E79-BF14-E689-5201E6BF9FC8}"/>
              </a:ext>
            </a:extLst>
          </p:cNvPr>
          <p:cNvGraphicFramePr>
            <a:graphicFrameLocks noGrp="1"/>
          </p:cNvGraphicFramePr>
          <p:nvPr/>
        </p:nvGraphicFramePr>
        <p:xfrm>
          <a:off x="411479" y="3499064"/>
          <a:ext cx="11416027" cy="332272"/>
        </p:xfrm>
        <a:graphic>
          <a:graphicData uri="http://schemas.openxmlformats.org/drawingml/2006/table">
            <a:tbl>
              <a:tblPr firstRow="1" bandRow="1">
                <a:tableStyleId>{5C22544A-7EE6-4342-B048-85BDC9FD1C3A}</a:tableStyleId>
              </a:tblPr>
              <a:tblGrid>
                <a:gridCol w="496349">
                  <a:extLst>
                    <a:ext uri="{9D8B030D-6E8A-4147-A177-3AD203B41FA5}">
                      <a16:colId xmlns:a16="http://schemas.microsoft.com/office/drawing/2014/main" val="2823740596"/>
                    </a:ext>
                  </a:extLst>
                </a:gridCol>
                <a:gridCol w="496349">
                  <a:extLst>
                    <a:ext uri="{9D8B030D-6E8A-4147-A177-3AD203B41FA5}">
                      <a16:colId xmlns:a16="http://schemas.microsoft.com/office/drawing/2014/main" val="2442210773"/>
                    </a:ext>
                  </a:extLst>
                </a:gridCol>
                <a:gridCol w="496349">
                  <a:extLst>
                    <a:ext uri="{9D8B030D-6E8A-4147-A177-3AD203B41FA5}">
                      <a16:colId xmlns:a16="http://schemas.microsoft.com/office/drawing/2014/main" val="553136752"/>
                    </a:ext>
                  </a:extLst>
                </a:gridCol>
                <a:gridCol w="496349">
                  <a:extLst>
                    <a:ext uri="{9D8B030D-6E8A-4147-A177-3AD203B41FA5}">
                      <a16:colId xmlns:a16="http://schemas.microsoft.com/office/drawing/2014/main" val="271276945"/>
                    </a:ext>
                  </a:extLst>
                </a:gridCol>
                <a:gridCol w="496349">
                  <a:extLst>
                    <a:ext uri="{9D8B030D-6E8A-4147-A177-3AD203B41FA5}">
                      <a16:colId xmlns:a16="http://schemas.microsoft.com/office/drawing/2014/main" val="3731974136"/>
                    </a:ext>
                  </a:extLst>
                </a:gridCol>
                <a:gridCol w="496349">
                  <a:extLst>
                    <a:ext uri="{9D8B030D-6E8A-4147-A177-3AD203B41FA5}">
                      <a16:colId xmlns:a16="http://schemas.microsoft.com/office/drawing/2014/main" val="3256047488"/>
                    </a:ext>
                  </a:extLst>
                </a:gridCol>
                <a:gridCol w="496349">
                  <a:extLst>
                    <a:ext uri="{9D8B030D-6E8A-4147-A177-3AD203B41FA5}">
                      <a16:colId xmlns:a16="http://schemas.microsoft.com/office/drawing/2014/main" val="1002508164"/>
                    </a:ext>
                  </a:extLst>
                </a:gridCol>
                <a:gridCol w="496349">
                  <a:extLst>
                    <a:ext uri="{9D8B030D-6E8A-4147-A177-3AD203B41FA5}">
                      <a16:colId xmlns:a16="http://schemas.microsoft.com/office/drawing/2014/main" val="2966597460"/>
                    </a:ext>
                  </a:extLst>
                </a:gridCol>
                <a:gridCol w="496349">
                  <a:extLst>
                    <a:ext uri="{9D8B030D-6E8A-4147-A177-3AD203B41FA5}">
                      <a16:colId xmlns:a16="http://schemas.microsoft.com/office/drawing/2014/main" val="228622395"/>
                    </a:ext>
                  </a:extLst>
                </a:gridCol>
                <a:gridCol w="496349">
                  <a:extLst>
                    <a:ext uri="{9D8B030D-6E8A-4147-A177-3AD203B41FA5}">
                      <a16:colId xmlns:a16="http://schemas.microsoft.com/office/drawing/2014/main" val="1383909732"/>
                    </a:ext>
                  </a:extLst>
                </a:gridCol>
                <a:gridCol w="496349">
                  <a:extLst>
                    <a:ext uri="{9D8B030D-6E8A-4147-A177-3AD203B41FA5}">
                      <a16:colId xmlns:a16="http://schemas.microsoft.com/office/drawing/2014/main" val="510725710"/>
                    </a:ext>
                  </a:extLst>
                </a:gridCol>
                <a:gridCol w="496349">
                  <a:extLst>
                    <a:ext uri="{9D8B030D-6E8A-4147-A177-3AD203B41FA5}">
                      <a16:colId xmlns:a16="http://schemas.microsoft.com/office/drawing/2014/main" val="18513713"/>
                    </a:ext>
                  </a:extLst>
                </a:gridCol>
                <a:gridCol w="496349">
                  <a:extLst>
                    <a:ext uri="{9D8B030D-6E8A-4147-A177-3AD203B41FA5}">
                      <a16:colId xmlns:a16="http://schemas.microsoft.com/office/drawing/2014/main" val="3630061233"/>
                    </a:ext>
                  </a:extLst>
                </a:gridCol>
                <a:gridCol w="496349">
                  <a:extLst>
                    <a:ext uri="{9D8B030D-6E8A-4147-A177-3AD203B41FA5}">
                      <a16:colId xmlns:a16="http://schemas.microsoft.com/office/drawing/2014/main" val="239909375"/>
                    </a:ext>
                  </a:extLst>
                </a:gridCol>
                <a:gridCol w="496349">
                  <a:extLst>
                    <a:ext uri="{9D8B030D-6E8A-4147-A177-3AD203B41FA5}">
                      <a16:colId xmlns:a16="http://schemas.microsoft.com/office/drawing/2014/main" val="3798122669"/>
                    </a:ext>
                  </a:extLst>
                </a:gridCol>
                <a:gridCol w="496349">
                  <a:extLst>
                    <a:ext uri="{9D8B030D-6E8A-4147-A177-3AD203B41FA5}">
                      <a16:colId xmlns:a16="http://schemas.microsoft.com/office/drawing/2014/main" val="3514649848"/>
                    </a:ext>
                  </a:extLst>
                </a:gridCol>
                <a:gridCol w="496349">
                  <a:extLst>
                    <a:ext uri="{9D8B030D-6E8A-4147-A177-3AD203B41FA5}">
                      <a16:colId xmlns:a16="http://schemas.microsoft.com/office/drawing/2014/main" val="1246911294"/>
                    </a:ext>
                  </a:extLst>
                </a:gridCol>
                <a:gridCol w="496349">
                  <a:extLst>
                    <a:ext uri="{9D8B030D-6E8A-4147-A177-3AD203B41FA5}">
                      <a16:colId xmlns:a16="http://schemas.microsoft.com/office/drawing/2014/main" val="4171352973"/>
                    </a:ext>
                  </a:extLst>
                </a:gridCol>
                <a:gridCol w="496349">
                  <a:extLst>
                    <a:ext uri="{9D8B030D-6E8A-4147-A177-3AD203B41FA5}">
                      <a16:colId xmlns:a16="http://schemas.microsoft.com/office/drawing/2014/main" val="1528244757"/>
                    </a:ext>
                  </a:extLst>
                </a:gridCol>
                <a:gridCol w="496349">
                  <a:extLst>
                    <a:ext uri="{9D8B030D-6E8A-4147-A177-3AD203B41FA5}">
                      <a16:colId xmlns:a16="http://schemas.microsoft.com/office/drawing/2014/main" val="1050018950"/>
                    </a:ext>
                  </a:extLst>
                </a:gridCol>
                <a:gridCol w="496349">
                  <a:extLst>
                    <a:ext uri="{9D8B030D-6E8A-4147-A177-3AD203B41FA5}">
                      <a16:colId xmlns:a16="http://schemas.microsoft.com/office/drawing/2014/main" val="1461410333"/>
                    </a:ext>
                  </a:extLst>
                </a:gridCol>
                <a:gridCol w="496349">
                  <a:extLst>
                    <a:ext uri="{9D8B030D-6E8A-4147-A177-3AD203B41FA5}">
                      <a16:colId xmlns:a16="http://schemas.microsoft.com/office/drawing/2014/main" val="3627902571"/>
                    </a:ext>
                  </a:extLst>
                </a:gridCol>
                <a:gridCol w="496349">
                  <a:extLst>
                    <a:ext uri="{9D8B030D-6E8A-4147-A177-3AD203B41FA5}">
                      <a16:colId xmlns:a16="http://schemas.microsoft.com/office/drawing/2014/main" val="702049497"/>
                    </a:ext>
                  </a:extLst>
                </a:gridCol>
              </a:tblGrid>
              <a:tr h="332272">
                <a:tc>
                  <a:txBody>
                    <a:bodyPr/>
                    <a:lstStyle/>
                    <a:p>
                      <a:pPr algn="ctr" fontAlgn="ctr"/>
                      <a:r>
                        <a:rPr lang="en-US" altLang="zh-CN" sz="1000" b="0" i="0" u="none" strike="noStrike" dirty="0">
                          <a:solidFill>
                            <a:srgbClr val="000000"/>
                          </a:solidFill>
                          <a:effectLst/>
                          <a:latin typeface="+mn-ea"/>
                          <a:ea typeface="+mn-ea"/>
                        </a:rPr>
                        <a:t>0.22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a:solidFill>
                            <a:srgbClr val="000000"/>
                          </a:solidFill>
                          <a:effectLst/>
                          <a:latin typeface="+mn-ea"/>
                          <a:ea typeface="+mn-ea"/>
                        </a:rPr>
                        <a:t>0.25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0.57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a:solidFill>
                            <a:srgbClr val="000000"/>
                          </a:solidFill>
                          <a:effectLst/>
                          <a:latin typeface="+mn-ea"/>
                          <a:ea typeface="+mn-ea"/>
                        </a:rPr>
                        <a:t>0.54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a:solidFill>
                            <a:srgbClr val="000000"/>
                          </a:solidFill>
                          <a:effectLst/>
                          <a:latin typeface="+mn-ea"/>
                          <a:ea typeface="+mn-ea"/>
                        </a:rPr>
                        <a:t>0.48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0.59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chemeClr val="tx1"/>
                          </a:solidFill>
                          <a:effectLst/>
                          <a:latin typeface="+mn-ea"/>
                          <a:ea typeface="+mn-ea"/>
                        </a:rPr>
                        <a:t>0.71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chemeClr val="tx1"/>
                          </a:solidFill>
                          <a:effectLst/>
                          <a:latin typeface="+mn-ea"/>
                          <a:ea typeface="+mn-ea"/>
                        </a:rPr>
                        <a:t>0.66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chemeClr val="tx1"/>
                          </a:solidFill>
                          <a:effectLst/>
                          <a:latin typeface="+mn-ea"/>
                          <a:ea typeface="+mn-ea"/>
                        </a:rPr>
                        <a:t>0.49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chemeClr val="tx1"/>
                          </a:solidFill>
                          <a:effectLst/>
                          <a:latin typeface="+mn-ea"/>
                          <a:ea typeface="+mn-ea"/>
                        </a:rPr>
                        <a:t>0.35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a:solidFill>
                            <a:srgbClr val="000000"/>
                          </a:solidFill>
                          <a:effectLst/>
                          <a:latin typeface="+mn-ea"/>
                          <a:ea typeface="+mn-ea"/>
                        </a:rPr>
                        <a:t>0.22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0.20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a:solidFill>
                            <a:srgbClr val="000000"/>
                          </a:solidFill>
                          <a:effectLst/>
                          <a:latin typeface="+mn-ea"/>
                          <a:ea typeface="+mn-ea"/>
                        </a:rPr>
                        <a:t>0.39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0.59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a:solidFill>
                            <a:srgbClr val="000000"/>
                          </a:solidFill>
                          <a:effectLst/>
                          <a:latin typeface="+mn-ea"/>
                          <a:ea typeface="+mn-ea"/>
                        </a:rPr>
                        <a:t>0.54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1" i="0" u="none" strike="noStrike" dirty="0">
                          <a:solidFill>
                            <a:srgbClr val="4B8D56"/>
                          </a:solidFill>
                          <a:effectLst/>
                          <a:latin typeface="+mn-ea"/>
                          <a:ea typeface="+mn-ea"/>
                        </a:rPr>
                        <a:t>0.84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1" i="0" u="none" strike="noStrike" dirty="0">
                          <a:solidFill>
                            <a:srgbClr val="4B8D56"/>
                          </a:solidFill>
                          <a:effectLst/>
                          <a:latin typeface="+mn-ea"/>
                          <a:ea typeface="+mn-ea"/>
                        </a:rPr>
                        <a:t>0.72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0.60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1" i="0" u="none" strike="noStrike" dirty="0">
                          <a:solidFill>
                            <a:srgbClr val="4B8D56"/>
                          </a:solidFill>
                          <a:effectLst/>
                          <a:latin typeface="+mn-ea"/>
                          <a:ea typeface="+mn-ea"/>
                        </a:rPr>
                        <a:t>0.78</a:t>
                      </a:r>
                      <a:r>
                        <a:rPr lang="en-US" altLang="zh-CN" sz="1000" b="0" i="0" u="none" strike="noStrike" dirty="0">
                          <a:solidFill>
                            <a:srgbClr val="000000"/>
                          </a:solidFill>
                          <a:effectLst/>
                          <a:latin typeface="+mn-ea"/>
                          <a:ea typeface="+mn-ea"/>
                        </a:rPr>
                        <a:t>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0.12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0.36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0.30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000" b="0" i="0" u="none" strike="noStrike" dirty="0">
                          <a:solidFill>
                            <a:srgbClr val="000000"/>
                          </a:solidFill>
                          <a:effectLst/>
                          <a:latin typeface="+mn-ea"/>
                          <a:ea typeface="+mn-ea"/>
                        </a:rPr>
                        <a:t>0.39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3933678"/>
                  </a:ext>
                </a:extLst>
              </a:tr>
            </a:tbl>
          </a:graphicData>
        </a:graphic>
      </p:graphicFrame>
    </p:spTree>
    <p:extLst>
      <p:ext uri="{BB962C8B-B14F-4D97-AF65-F5344CB8AC3E}">
        <p14:creationId xmlns:p14="http://schemas.microsoft.com/office/powerpoint/2010/main" val="24746426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表格 11">
            <a:extLst>
              <a:ext uri="{FF2B5EF4-FFF2-40B4-BE49-F238E27FC236}">
                <a16:creationId xmlns:a16="http://schemas.microsoft.com/office/drawing/2014/main" id="{82F12D06-829A-9DB9-603E-8B898E44ADA8}"/>
              </a:ext>
            </a:extLst>
          </p:cNvPr>
          <p:cNvGraphicFramePr>
            <a:graphicFrameLocks noGrp="1"/>
          </p:cNvGraphicFramePr>
          <p:nvPr>
            <p:extLst>
              <p:ext uri="{D42A27DB-BD31-4B8C-83A1-F6EECF244321}">
                <p14:modId xmlns:p14="http://schemas.microsoft.com/office/powerpoint/2010/main" val="2556986935"/>
              </p:ext>
            </p:extLst>
          </p:nvPr>
        </p:nvGraphicFramePr>
        <p:xfrm>
          <a:off x="4050791" y="1970469"/>
          <a:ext cx="7472304" cy="3949701"/>
        </p:xfrm>
        <a:graphic>
          <a:graphicData uri="http://schemas.openxmlformats.org/drawingml/2006/table">
            <a:tbl>
              <a:tblPr firstRow="1" bandRow="1">
                <a:tableStyleId>{5C22544A-7EE6-4342-B048-85BDC9FD1C3A}</a:tableStyleId>
              </a:tblPr>
              <a:tblGrid>
                <a:gridCol w="3547873">
                  <a:extLst>
                    <a:ext uri="{9D8B030D-6E8A-4147-A177-3AD203B41FA5}">
                      <a16:colId xmlns:a16="http://schemas.microsoft.com/office/drawing/2014/main" val="3871825000"/>
                    </a:ext>
                  </a:extLst>
                </a:gridCol>
                <a:gridCol w="3924431">
                  <a:extLst>
                    <a:ext uri="{9D8B030D-6E8A-4147-A177-3AD203B41FA5}">
                      <a16:colId xmlns:a16="http://schemas.microsoft.com/office/drawing/2014/main" val="3652453961"/>
                    </a:ext>
                  </a:extLst>
                </a:gridCol>
              </a:tblGrid>
              <a:tr h="2005246">
                <a:tc>
                  <a:txBody>
                    <a:bodyPr/>
                    <a:lstStyle/>
                    <a:p>
                      <a:r>
                        <a:rPr lang="zh-CN" altLang="en-US" sz="1200" dirty="0">
                          <a:solidFill>
                            <a:schemeClr val="tx1"/>
                          </a:solidFill>
                        </a:rPr>
                        <a:t>比较劣势</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CD8D0"/>
                    </a:solidFill>
                  </a:tcPr>
                </a:tc>
                <a:tc>
                  <a:txBody>
                    <a:bodyPr/>
                    <a:lstStyle/>
                    <a:p>
                      <a:endParaRPr lang="zh-CN" altLang="en-US" sz="1200" dirty="0">
                        <a:solidFill>
                          <a:schemeClr val="tx1"/>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B4DE86"/>
                    </a:solidFill>
                  </a:tcPr>
                </a:tc>
                <a:extLst>
                  <a:ext uri="{0D108BD9-81ED-4DB2-BD59-A6C34878D82A}">
                    <a16:rowId xmlns:a16="http://schemas.microsoft.com/office/drawing/2014/main" val="4070876479"/>
                  </a:ext>
                </a:extLst>
              </a:tr>
              <a:tr h="1944455">
                <a:tc>
                  <a:txBody>
                    <a:bodyPr/>
                    <a:lstStyle/>
                    <a:p>
                      <a:endParaRPr lang="zh-CN" altLang="en-US" sz="1200" dirty="0">
                        <a:solidFill>
                          <a:schemeClr val="tx1"/>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EECE8"/>
                    </a:solidFill>
                  </a:tcPr>
                </a:tc>
                <a:tc>
                  <a:txBody>
                    <a:bodyPr/>
                    <a:lstStyle/>
                    <a:p>
                      <a:pPr algn="r"/>
                      <a:r>
                        <a:rPr lang="zh-CN" altLang="en-US" sz="1200" b="1" dirty="0">
                          <a:solidFill>
                            <a:schemeClr val="tx1"/>
                          </a:solidFill>
                        </a:rPr>
                        <a:t>比较优势</a:t>
                      </a: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CAE8AA"/>
                    </a:solidFill>
                  </a:tcPr>
                </a:tc>
                <a:extLst>
                  <a:ext uri="{0D108BD9-81ED-4DB2-BD59-A6C34878D82A}">
                    <a16:rowId xmlns:a16="http://schemas.microsoft.com/office/drawing/2014/main" val="1321191454"/>
                  </a:ext>
                </a:extLst>
              </a:tr>
            </a:tbl>
          </a:graphicData>
        </a:graphic>
      </p:graphicFrame>
      <p:graphicFrame>
        <p:nvGraphicFramePr>
          <p:cNvPr id="10" name="图表 9">
            <a:extLst>
              <a:ext uri="{FF2B5EF4-FFF2-40B4-BE49-F238E27FC236}">
                <a16:creationId xmlns:a16="http://schemas.microsoft.com/office/drawing/2014/main" id="{02E06ECB-DCC5-8009-3BD6-97DECBE470DF}"/>
              </a:ext>
            </a:extLst>
          </p:cNvPr>
          <p:cNvGraphicFramePr/>
          <p:nvPr/>
        </p:nvGraphicFramePr>
        <p:xfrm>
          <a:off x="3718560" y="1850764"/>
          <a:ext cx="8128000" cy="4186429"/>
        </p:xfrm>
        <a:graphic>
          <a:graphicData uri="http://schemas.openxmlformats.org/drawingml/2006/chart">
            <c:chart xmlns:c="http://schemas.openxmlformats.org/drawingml/2006/chart" xmlns:r="http://schemas.openxmlformats.org/officeDocument/2006/relationships" r:id="rId2"/>
          </a:graphicData>
        </a:graphic>
      </p:graphicFrame>
      <p:sp>
        <p:nvSpPr>
          <p:cNvPr id="2" name="文本占位符 1">
            <a:extLst>
              <a:ext uri="{FF2B5EF4-FFF2-40B4-BE49-F238E27FC236}">
                <a16:creationId xmlns:a16="http://schemas.microsoft.com/office/drawing/2014/main" id="{2ADACD32-7B90-F3E8-EDEB-42EFEF920535}"/>
              </a:ext>
            </a:extLst>
          </p:cNvPr>
          <p:cNvSpPr>
            <a:spLocks noGrp="1"/>
          </p:cNvSpPr>
          <p:nvPr>
            <p:ph type="body" sz="quarter" idx="21"/>
          </p:nvPr>
        </p:nvSpPr>
        <p:spPr/>
        <p:txBody>
          <a:bodyPr/>
          <a:lstStyle/>
          <a:p>
            <a:r>
              <a:rPr kumimoji="1" lang="en-US" altLang="zh-CN" dirty="0">
                <a:latin typeface="+mn-ea"/>
                <a:ea typeface="+mn-ea"/>
              </a:rPr>
              <a:t>2.3 </a:t>
            </a:r>
            <a:r>
              <a:rPr kumimoji="1" lang="zh-CN" altLang="en-US" dirty="0">
                <a:latin typeface="+mn-ea"/>
                <a:ea typeface="+mn-ea"/>
              </a:rPr>
              <a:t>战胜战败分析 </a:t>
            </a:r>
            <a:r>
              <a:rPr kumimoji="1" lang="en-US" altLang="zh-CN" dirty="0">
                <a:latin typeface="+mn-ea"/>
                <a:ea typeface="+mn-ea"/>
              </a:rPr>
              <a:t>–</a:t>
            </a:r>
            <a:r>
              <a:rPr kumimoji="1" lang="zh-CN" altLang="en-US" dirty="0">
                <a:latin typeface="+mn-ea"/>
                <a:ea typeface="+mn-ea"/>
              </a:rPr>
              <a:t> 战胜原因</a:t>
            </a:r>
            <a:r>
              <a:rPr kumimoji="1" lang="en-US" altLang="zh-CN" dirty="0">
                <a:latin typeface="+mn-ea"/>
                <a:ea typeface="+mn-ea"/>
              </a:rPr>
              <a:t>vs</a:t>
            </a:r>
            <a:r>
              <a:rPr kumimoji="1" lang="zh-CN" altLang="en-US" dirty="0">
                <a:latin typeface="+mn-ea"/>
                <a:ea typeface="+mn-ea"/>
              </a:rPr>
              <a:t>战败原因分析</a:t>
            </a:r>
            <a:endParaRPr lang="zh-CN" altLang="en-US" dirty="0"/>
          </a:p>
        </p:txBody>
      </p:sp>
      <p:sp>
        <p:nvSpPr>
          <p:cNvPr id="7" name="文本占位符 6">
            <a:extLst>
              <a:ext uri="{FF2B5EF4-FFF2-40B4-BE49-F238E27FC236}">
                <a16:creationId xmlns:a16="http://schemas.microsoft.com/office/drawing/2014/main" id="{09F5C7A4-6E0F-6EBE-8569-6BFDB6582931}"/>
              </a:ext>
            </a:extLst>
          </p:cNvPr>
          <p:cNvSpPr>
            <a:spLocks noGrp="1"/>
          </p:cNvSpPr>
          <p:nvPr>
            <p:ph type="body" sz="quarter" idx="22"/>
          </p:nvPr>
        </p:nvSpPr>
        <p:spPr>
          <a:xfrm>
            <a:off x="311065" y="906889"/>
            <a:ext cx="11547560" cy="548494"/>
          </a:xfrm>
        </p:spPr>
        <p:txBody>
          <a:bodyPr/>
          <a:lstStyle/>
          <a:p>
            <a:pPr>
              <a:lnSpc>
                <a:spcPct val="100000"/>
              </a:lnSpc>
              <a:spcBef>
                <a:spcPts val="0"/>
              </a:spcBef>
            </a:pPr>
            <a:r>
              <a:rPr lang="zh-CN" altLang="en-US" dirty="0"/>
              <a:t>战胜强项是</a:t>
            </a:r>
            <a:r>
              <a:rPr lang="zh-CN" altLang="en-US" dirty="0">
                <a:solidFill>
                  <a:srgbClr val="4B8D56"/>
                </a:solidFill>
              </a:rPr>
              <a:t>入店接待</a:t>
            </a:r>
            <a:r>
              <a:rPr lang="zh-CN" altLang="en-US" dirty="0"/>
              <a:t>、</a:t>
            </a:r>
            <a:r>
              <a:rPr lang="zh-CN" altLang="en-US" dirty="0">
                <a:solidFill>
                  <a:srgbClr val="4B8D56"/>
                </a:solidFill>
              </a:rPr>
              <a:t>销售顾问形象</a:t>
            </a:r>
            <a:r>
              <a:rPr lang="zh-CN" altLang="en-US" dirty="0"/>
              <a:t>，</a:t>
            </a:r>
            <a:r>
              <a:rPr lang="zh-CN" altLang="en-US" dirty="0">
                <a:solidFill>
                  <a:srgbClr val="4B8D56"/>
                </a:solidFill>
              </a:rPr>
              <a:t>试驾中的车辆状况</a:t>
            </a:r>
            <a:r>
              <a:rPr lang="zh-CN" altLang="en-US" dirty="0"/>
              <a:t>和</a:t>
            </a:r>
            <a:r>
              <a:rPr lang="zh-CN" altLang="en-US" dirty="0">
                <a:solidFill>
                  <a:srgbClr val="4B8D56"/>
                </a:solidFill>
              </a:rPr>
              <a:t>路线安排</a:t>
            </a:r>
            <a:endParaRPr lang="en-US" altLang="zh-CN" dirty="0">
              <a:solidFill>
                <a:srgbClr val="4B8D56"/>
              </a:solidFill>
            </a:endParaRPr>
          </a:p>
          <a:p>
            <a:pPr>
              <a:lnSpc>
                <a:spcPct val="100000"/>
              </a:lnSpc>
              <a:spcBef>
                <a:spcPts val="0"/>
              </a:spcBef>
            </a:pPr>
            <a:r>
              <a:rPr lang="zh-CN" altLang="en-US" dirty="0"/>
              <a:t>战败弱项是</a:t>
            </a:r>
            <a:r>
              <a:rPr lang="zh-CN" altLang="en-US" dirty="0">
                <a:solidFill>
                  <a:srgbClr val="FF0000"/>
                </a:solidFill>
              </a:rPr>
              <a:t>预约便利性</a:t>
            </a:r>
            <a:r>
              <a:rPr lang="zh-CN" altLang="en-US" dirty="0"/>
              <a:t>，</a:t>
            </a:r>
            <a:r>
              <a:rPr lang="zh-CN" altLang="en-US" dirty="0">
                <a:solidFill>
                  <a:srgbClr val="FF0000"/>
                </a:solidFill>
              </a:rPr>
              <a:t>销售顾问介绍专业性</a:t>
            </a:r>
            <a:r>
              <a:rPr lang="zh-CN" altLang="en-US" dirty="0"/>
              <a:t>和</a:t>
            </a:r>
            <a:r>
              <a:rPr lang="zh-CN" altLang="en-US" dirty="0">
                <a:solidFill>
                  <a:srgbClr val="FF0000"/>
                </a:solidFill>
              </a:rPr>
              <a:t>针对性推荐</a:t>
            </a:r>
            <a:r>
              <a:rPr lang="zh-CN" altLang="en-US" dirty="0"/>
              <a:t>，</a:t>
            </a:r>
            <a:r>
              <a:rPr lang="zh-CN" altLang="en-US" dirty="0">
                <a:solidFill>
                  <a:srgbClr val="FF0000"/>
                </a:solidFill>
              </a:rPr>
              <a:t>静态演示</a:t>
            </a:r>
            <a:r>
              <a:rPr lang="zh-CN" altLang="en-US" dirty="0"/>
              <a:t>，</a:t>
            </a:r>
            <a:r>
              <a:rPr lang="zh-CN" altLang="en-US" dirty="0">
                <a:solidFill>
                  <a:srgbClr val="FF0000"/>
                </a:solidFill>
              </a:rPr>
              <a:t>店内设计风格</a:t>
            </a:r>
            <a:r>
              <a:rPr lang="zh-CN" altLang="en-US" dirty="0"/>
              <a:t>，</a:t>
            </a:r>
            <a:r>
              <a:rPr lang="zh-CN" altLang="en-US" dirty="0">
                <a:solidFill>
                  <a:srgbClr val="FF0000"/>
                </a:solidFill>
              </a:rPr>
              <a:t>离店后回访</a:t>
            </a:r>
          </a:p>
        </p:txBody>
      </p:sp>
      <p:sp>
        <p:nvSpPr>
          <p:cNvPr id="5" name="灯片编号占位符 4">
            <a:extLst>
              <a:ext uri="{FF2B5EF4-FFF2-40B4-BE49-F238E27FC236}">
                <a16:creationId xmlns:a16="http://schemas.microsoft.com/office/drawing/2014/main" id="{71DB8079-8F71-F48E-CF1B-90158D4E5489}"/>
              </a:ext>
            </a:extLst>
          </p:cNvPr>
          <p:cNvSpPr>
            <a:spLocks noGrp="1"/>
          </p:cNvSpPr>
          <p:nvPr>
            <p:ph type="sldNum" sz="quarter" idx="4"/>
          </p:nvPr>
        </p:nvSpPr>
        <p:spPr/>
        <p:txBody>
          <a:bodyPr/>
          <a:lstStyle/>
          <a:p>
            <a:fld id="{04824671-56D2-5D44-834F-250C3DA554E9}" type="slidenum">
              <a:rPr lang="zh-CN" altLang="en-US" smtClean="0"/>
              <a:t>40</a:t>
            </a:fld>
            <a:endParaRPr lang="zh-CN" altLang="en-US" dirty="0"/>
          </a:p>
        </p:txBody>
      </p:sp>
      <p:graphicFrame>
        <p:nvGraphicFramePr>
          <p:cNvPr id="11" name="表格 10">
            <a:extLst>
              <a:ext uri="{FF2B5EF4-FFF2-40B4-BE49-F238E27FC236}">
                <a16:creationId xmlns:a16="http://schemas.microsoft.com/office/drawing/2014/main" id="{C9F396A3-51C9-3777-8BE9-C58F42D28F91}"/>
              </a:ext>
            </a:extLst>
          </p:cNvPr>
          <p:cNvGraphicFramePr>
            <a:graphicFrameLocks noGrp="1"/>
          </p:cNvGraphicFramePr>
          <p:nvPr>
            <p:extLst>
              <p:ext uri="{D42A27DB-BD31-4B8C-83A1-F6EECF244321}">
                <p14:modId xmlns:p14="http://schemas.microsoft.com/office/powerpoint/2010/main" val="3215898136"/>
              </p:ext>
            </p:extLst>
          </p:nvPr>
        </p:nvGraphicFramePr>
        <p:xfrm>
          <a:off x="304800" y="1970469"/>
          <a:ext cx="3535680" cy="3949700"/>
        </p:xfrm>
        <a:graphic>
          <a:graphicData uri="http://schemas.openxmlformats.org/drawingml/2006/table">
            <a:tbl>
              <a:tblPr firstRow="1" bandRow="1">
                <a:tableStyleId>{5C22544A-7EE6-4342-B048-85BDC9FD1C3A}</a:tableStyleId>
              </a:tblPr>
              <a:tblGrid>
                <a:gridCol w="1767840">
                  <a:extLst>
                    <a:ext uri="{9D8B030D-6E8A-4147-A177-3AD203B41FA5}">
                      <a16:colId xmlns:a16="http://schemas.microsoft.com/office/drawing/2014/main" val="1932847663"/>
                    </a:ext>
                  </a:extLst>
                </a:gridCol>
                <a:gridCol w="1767840">
                  <a:extLst>
                    <a:ext uri="{9D8B030D-6E8A-4147-A177-3AD203B41FA5}">
                      <a16:colId xmlns:a16="http://schemas.microsoft.com/office/drawing/2014/main" val="3948654718"/>
                    </a:ext>
                  </a:extLst>
                </a:gridCol>
              </a:tblGrid>
              <a:tr h="554716">
                <a:tc>
                  <a:txBody>
                    <a:bodyPr/>
                    <a:lstStyle/>
                    <a:p>
                      <a:pPr algn="ctr"/>
                      <a:r>
                        <a:rPr lang="zh-CN" altLang="en-US" dirty="0"/>
                        <a:t>比较优势</a:t>
                      </a:r>
                    </a:p>
                  </a:txBody>
                  <a:tcPr anchor="ctr">
                    <a:lnB w="12700" cap="flat" cmpd="sng" algn="ctr">
                      <a:solidFill>
                        <a:schemeClr val="bg1">
                          <a:lumMod val="75000"/>
                        </a:schemeClr>
                      </a:solidFill>
                      <a:prstDash val="solid"/>
                      <a:round/>
                      <a:headEnd type="none" w="med" len="med"/>
                      <a:tailEnd type="none" w="med" len="med"/>
                    </a:lnB>
                    <a:solidFill>
                      <a:srgbClr val="4B8D56"/>
                    </a:solidFill>
                  </a:tcPr>
                </a:tc>
                <a:tc>
                  <a:txBody>
                    <a:bodyPr/>
                    <a:lstStyle/>
                    <a:p>
                      <a:pPr algn="ctr"/>
                      <a:r>
                        <a:rPr lang="zh-CN" altLang="en-US" dirty="0"/>
                        <a:t>比较劣势</a:t>
                      </a:r>
                    </a:p>
                  </a:txBody>
                  <a:tcPr anchor="ctr">
                    <a:lnB w="12700" cap="flat" cmpd="sng" algn="ctr">
                      <a:solidFill>
                        <a:schemeClr val="bg1">
                          <a:lumMod val="75000"/>
                        </a:schemeClr>
                      </a:solidFill>
                      <a:prstDash val="solid"/>
                      <a:round/>
                      <a:headEnd type="none" w="med" len="med"/>
                      <a:tailEnd type="none" w="med" len="med"/>
                    </a:lnB>
                    <a:solidFill>
                      <a:srgbClr val="4B8D56"/>
                    </a:solidFill>
                  </a:tcPr>
                </a:tc>
                <a:extLst>
                  <a:ext uri="{0D108BD9-81ED-4DB2-BD59-A6C34878D82A}">
                    <a16:rowId xmlns:a16="http://schemas.microsoft.com/office/drawing/2014/main" val="442191212"/>
                  </a:ext>
                </a:extLst>
              </a:tr>
              <a:tr h="621404">
                <a:tc>
                  <a:txBody>
                    <a:bodyPr/>
                    <a:lstStyle/>
                    <a:p>
                      <a:pPr algn="l" fontAlgn="b"/>
                      <a:r>
                        <a:rPr lang="zh-CN" altLang="en-US" sz="1200" b="0" i="0" u="none" strike="noStrike" dirty="0">
                          <a:solidFill>
                            <a:srgbClr val="000000"/>
                          </a:solidFill>
                          <a:effectLst/>
                          <a:latin typeface="+mn-ea"/>
                          <a:ea typeface="+mn-ea"/>
                        </a:rPr>
                        <a:t>人员接待及时性与主动性</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b"/>
                      <a:r>
                        <a:rPr lang="zh-CN" altLang="en-US" sz="1200" b="0" i="0" u="none" strike="noStrike" dirty="0">
                          <a:solidFill>
                            <a:srgbClr val="000000"/>
                          </a:solidFill>
                          <a:effectLst/>
                          <a:latin typeface="+mn-ea"/>
                          <a:ea typeface="+mn-ea"/>
                        </a:rPr>
                        <a:t>预约便利性</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30067773"/>
                  </a:ext>
                </a:extLst>
              </a:tr>
              <a:tr h="554716">
                <a:tc>
                  <a:txBody>
                    <a:bodyPr/>
                    <a:lstStyle/>
                    <a:p>
                      <a:pPr algn="l" fontAlgn="b"/>
                      <a:r>
                        <a:rPr lang="zh-CN" altLang="en-US" sz="1200" b="0" i="0" u="none" strike="noStrike" dirty="0">
                          <a:solidFill>
                            <a:srgbClr val="000000"/>
                          </a:solidFill>
                          <a:effectLst/>
                          <a:latin typeface="+mn-ea"/>
                          <a:ea typeface="+mn-ea"/>
                        </a:rPr>
                        <a:t>销售顾问的形象（比如着装、谈吐等）</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b"/>
                      <a:r>
                        <a:rPr lang="zh-CN" altLang="en-US" sz="1200" b="0" i="0" u="none" strike="noStrike" dirty="0">
                          <a:solidFill>
                            <a:srgbClr val="000000"/>
                          </a:solidFill>
                          <a:effectLst/>
                          <a:latin typeface="+mn-ea"/>
                          <a:ea typeface="+mn-ea"/>
                        </a:rPr>
                        <a:t>销售顾问对车型介绍专业性</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86892597"/>
                  </a:ext>
                </a:extLst>
              </a:tr>
              <a:tr h="554716">
                <a:tc>
                  <a:txBody>
                    <a:bodyPr/>
                    <a:lstStyle/>
                    <a:p>
                      <a:pPr algn="l" fontAlgn="b"/>
                      <a:r>
                        <a:rPr lang="zh-CN" altLang="en-US" sz="1200" b="0" i="0" u="none" strike="noStrike">
                          <a:solidFill>
                            <a:srgbClr val="000000"/>
                          </a:solidFill>
                          <a:effectLst/>
                          <a:latin typeface="+mn-ea"/>
                          <a:ea typeface="+mn-ea"/>
                        </a:rPr>
                        <a:t>试乘试驾车辆状况</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b"/>
                      <a:r>
                        <a:rPr lang="zh-CN" altLang="en-US" sz="1200" b="0" i="0" u="none" strike="noStrike" dirty="0">
                          <a:solidFill>
                            <a:srgbClr val="000000"/>
                          </a:solidFill>
                          <a:effectLst/>
                          <a:latin typeface="+mn-ea"/>
                          <a:ea typeface="+mn-ea"/>
                        </a:rPr>
                        <a:t>销售顾问理解购车需求及针对性的推荐程度</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6119560"/>
                  </a:ext>
                </a:extLst>
              </a:tr>
              <a:tr h="554716">
                <a:tc>
                  <a:txBody>
                    <a:bodyPr/>
                    <a:lstStyle/>
                    <a:p>
                      <a:pPr algn="l" fontAlgn="b"/>
                      <a:r>
                        <a:rPr lang="zh-CN" altLang="en-US" sz="1200" b="0" i="0" u="none" strike="noStrike" dirty="0">
                          <a:solidFill>
                            <a:srgbClr val="000000"/>
                          </a:solidFill>
                          <a:effectLst/>
                          <a:latin typeface="+mn-ea"/>
                          <a:ea typeface="+mn-ea"/>
                        </a:rPr>
                        <a:t>试驾时长与试驾路线安排</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b"/>
                      <a:r>
                        <a:rPr lang="zh-CN" altLang="en-US" sz="1200" b="0" i="0" u="none" strike="noStrike" dirty="0">
                          <a:solidFill>
                            <a:srgbClr val="000000"/>
                          </a:solidFill>
                          <a:effectLst/>
                          <a:latin typeface="+mn-ea"/>
                          <a:ea typeface="+mn-ea"/>
                        </a:rPr>
                        <a:t>门店静态演示和体验表现</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07190988"/>
                  </a:ext>
                </a:extLst>
              </a:tr>
              <a:tr h="554716">
                <a:tc>
                  <a:txBody>
                    <a:bodyPr/>
                    <a:lstStyle/>
                    <a:p>
                      <a:pPr algn="l"/>
                      <a:endParaRPr lang="zh-CN" altLang="en-US" sz="1200">
                        <a:latin typeface="+mn-ea"/>
                        <a:ea typeface="+mn-ea"/>
                      </a:endParaRP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b"/>
                      <a:r>
                        <a:rPr lang="zh-CN" altLang="en-US" sz="1200" b="0" i="0" u="none" strike="noStrike" dirty="0">
                          <a:solidFill>
                            <a:srgbClr val="000000"/>
                          </a:solidFill>
                          <a:effectLst/>
                          <a:latin typeface="+mn-ea"/>
                          <a:ea typeface="+mn-ea"/>
                        </a:rPr>
                        <a:t>店内设计风格</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56171091"/>
                  </a:ext>
                </a:extLst>
              </a:tr>
              <a:tr h="554716">
                <a:tc>
                  <a:txBody>
                    <a:bodyPr/>
                    <a:lstStyle/>
                    <a:p>
                      <a:pPr algn="l"/>
                      <a:endParaRPr lang="zh-CN" altLang="en-US" sz="1200">
                        <a:latin typeface="+mn-ea"/>
                        <a:ea typeface="+mn-ea"/>
                      </a:endParaRP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b"/>
                      <a:r>
                        <a:rPr lang="zh-CN" altLang="en-US" sz="1200" b="0" i="0" u="none" strike="noStrike" dirty="0">
                          <a:solidFill>
                            <a:srgbClr val="000000"/>
                          </a:solidFill>
                          <a:effectLst/>
                          <a:latin typeface="+mn-ea"/>
                          <a:ea typeface="+mn-ea"/>
                        </a:rPr>
                        <a:t>离店后的回访表现</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43407051"/>
                  </a:ext>
                </a:extLst>
              </a:tr>
            </a:tbl>
          </a:graphicData>
        </a:graphic>
      </p:graphicFrame>
      <p:cxnSp>
        <p:nvCxnSpPr>
          <p:cNvPr id="16" name="直接箭头连接符 15">
            <a:extLst>
              <a:ext uri="{FF2B5EF4-FFF2-40B4-BE49-F238E27FC236}">
                <a16:creationId xmlns:a16="http://schemas.microsoft.com/office/drawing/2014/main" id="{0F5F0B9B-C084-92B4-C43E-4150E3E88876}"/>
              </a:ext>
            </a:extLst>
          </p:cNvPr>
          <p:cNvCxnSpPr/>
          <p:nvPr/>
        </p:nvCxnSpPr>
        <p:spPr>
          <a:xfrm>
            <a:off x="4050791" y="5920169"/>
            <a:ext cx="77957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8ADA9F01-6041-2282-4086-38F055231417}"/>
              </a:ext>
            </a:extLst>
          </p:cNvPr>
          <p:cNvSpPr/>
          <p:nvPr/>
        </p:nvSpPr>
        <p:spPr>
          <a:xfrm>
            <a:off x="9116568" y="5920169"/>
            <a:ext cx="2729992" cy="3707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CN" altLang="en-US" sz="1200" b="1" dirty="0">
                <a:solidFill>
                  <a:schemeClr val="tx1"/>
                </a:solidFill>
              </a:rPr>
              <a:t>某品牌战胜得分差值</a:t>
            </a:r>
          </a:p>
        </p:txBody>
      </p:sp>
      <p:cxnSp>
        <p:nvCxnSpPr>
          <p:cNvPr id="18" name="直接箭头连接符 17">
            <a:extLst>
              <a:ext uri="{FF2B5EF4-FFF2-40B4-BE49-F238E27FC236}">
                <a16:creationId xmlns:a16="http://schemas.microsoft.com/office/drawing/2014/main" id="{2DF0541B-DE87-4E56-1EE6-94843DBE9D7A}"/>
              </a:ext>
            </a:extLst>
          </p:cNvPr>
          <p:cNvCxnSpPr>
            <a:cxnSpLocks/>
          </p:cNvCxnSpPr>
          <p:nvPr/>
        </p:nvCxnSpPr>
        <p:spPr>
          <a:xfrm flipV="1">
            <a:off x="4050790" y="1552555"/>
            <a:ext cx="1" cy="4367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D657766B-40D2-6872-C521-833D96C67A0E}"/>
              </a:ext>
            </a:extLst>
          </p:cNvPr>
          <p:cNvSpPr/>
          <p:nvPr/>
        </p:nvSpPr>
        <p:spPr>
          <a:xfrm>
            <a:off x="2807715" y="1599763"/>
            <a:ext cx="2729992" cy="3707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CN" altLang="en-US" sz="1200" b="1" dirty="0">
                <a:solidFill>
                  <a:schemeClr val="tx1"/>
                </a:solidFill>
              </a:rPr>
              <a:t>某品牌战败得分差值</a:t>
            </a:r>
          </a:p>
        </p:txBody>
      </p:sp>
    </p:spTree>
    <p:extLst>
      <p:ext uri="{BB962C8B-B14F-4D97-AF65-F5344CB8AC3E}">
        <p14:creationId xmlns:p14="http://schemas.microsoft.com/office/powerpoint/2010/main" val="2697089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内容占位符 5">
            <a:extLst>
              <a:ext uri="{FF2B5EF4-FFF2-40B4-BE49-F238E27FC236}">
                <a16:creationId xmlns:a16="http://schemas.microsoft.com/office/drawing/2014/main" id="{5D1F67F4-8B18-F367-B05C-7A94AAE4A660}"/>
              </a:ext>
            </a:extLst>
          </p:cNvPr>
          <p:cNvGraphicFramePr>
            <a:graphicFrameLocks/>
          </p:cNvGraphicFramePr>
          <p:nvPr/>
        </p:nvGraphicFramePr>
        <p:xfrm>
          <a:off x="587141" y="2628772"/>
          <a:ext cx="11263362" cy="2652951"/>
        </p:xfrm>
        <a:graphic>
          <a:graphicData uri="http://schemas.openxmlformats.org/drawingml/2006/chart">
            <c:chart xmlns:c="http://schemas.openxmlformats.org/drawingml/2006/chart" xmlns:r="http://schemas.openxmlformats.org/officeDocument/2006/relationships" r:id="rId5"/>
          </a:graphicData>
        </a:graphic>
      </p:graphicFrame>
      <p:sp>
        <p:nvSpPr>
          <p:cNvPr id="4" name="文本占位符 3">
            <a:extLst>
              <a:ext uri="{FF2B5EF4-FFF2-40B4-BE49-F238E27FC236}">
                <a16:creationId xmlns:a16="http://schemas.microsoft.com/office/drawing/2014/main" id="{7C4460AF-76BA-DE6E-6F40-C7FAA5AD8376}"/>
              </a:ext>
            </a:extLst>
          </p:cNvPr>
          <p:cNvSpPr>
            <a:spLocks noGrp="1"/>
          </p:cNvSpPr>
          <p:nvPr>
            <p:ph type="body" sz="quarter" idx="14"/>
          </p:nvPr>
        </p:nvSpPr>
        <p:spPr/>
        <p:txBody>
          <a:bodyPr/>
          <a:lstStyle/>
          <a:p>
            <a:endParaRPr lang="zh-CN" altLang="en-US"/>
          </a:p>
        </p:txBody>
      </p:sp>
      <p:sp>
        <p:nvSpPr>
          <p:cNvPr id="3" name="文本占位符 2"/>
          <p:cNvSpPr>
            <a:spLocks noGrp="1"/>
          </p:cNvSpPr>
          <p:nvPr>
            <p:ph type="body" sz="quarter" idx="21"/>
          </p:nvPr>
        </p:nvSpPr>
        <p:spPr/>
        <p:txBody>
          <a:bodyPr/>
          <a:lstStyle/>
          <a:p>
            <a:r>
              <a:rPr kumimoji="1" lang="en-US" altLang="zh-CN" dirty="0">
                <a:latin typeface="+mn-ea"/>
                <a:ea typeface="+mn-ea"/>
              </a:rPr>
              <a:t>2.4 </a:t>
            </a:r>
            <a:r>
              <a:rPr kumimoji="1" lang="zh-CN" altLang="en-US" dirty="0">
                <a:latin typeface="+mn-ea"/>
                <a:ea typeface="+mn-ea"/>
              </a:rPr>
              <a:t>犹豫用户分析 </a:t>
            </a:r>
            <a:r>
              <a:rPr kumimoji="1" lang="en-US" altLang="zh-CN" dirty="0">
                <a:latin typeface="+mn-ea"/>
                <a:ea typeface="+mn-ea"/>
              </a:rPr>
              <a:t>–</a:t>
            </a:r>
            <a:r>
              <a:rPr kumimoji="1" lang="zh-CN" altLang="en-US" dirty="0">
                <a:latin typeface="+mn-ea"/>
                <a:ea typeface="+mn-ea"/>
              </a:rPr>
              <a:t> 汇总分析</a:t>
            </a:r>
            <a:endParaRPr kumimoji="1" lang="zh-CN" altLang="en-US" dirty="0"/>
          </a:p>
        </p:txBody>
      </p:sp>
      <p:sp>
        <p:nvSpPr>
          <p:cNvPr id="17" name="文本占位符 16"/>
          <p:cNvSpPr>
            <a:spLocks noGrp="1"/>
          </p:cNvSpPr>
          <p:nvPr>
            <p:ph type="body" sz="quarter" idx="22"/>
          </p:nvPr>
        </p:nvSpPr>
        <p:spPr>
          <a:xfrm>
            <a:off x="311065" y="906889"/>
            <a:ext cx="11547560" cy="631684"/>
          </a:xfrm>
        </p:spPr>
        <p:txBody>
          <a:bodyPr/>
          <a:lstStyle/>
          <a:p>
            <a:pPr>
              <a:lnSpc>
                <a:spcPct val="100000"/>
              </a:lnSpc>
              <a:spcBef>
                <a:spcPts val="0"/>
              </a:spcBef>
              <a:spcAft>
                <a:spcPts val="600"/>
              </a:spcAft>
            </a:pPr>
            <a:r>
              <a:rPr lang="zh-CN" altLang="en-US" dirty="0"/>
              <a:t>犹豫用户对某品牌服务满意度略低于竞品总体得分，差值为</a:t>
            </a:r>
            <a:r>
              <a:rPr lang="en-US" altLang="zh-CN" dirty="0"/>
              <a:t>-4.6</a:t>
            </a:r>
            <a:r>
              <a:rPr lang="zh-CN" altLang="en-US" dirty="0"/>
              <a:t>；两两对比时，某品牌满意度</a:t>
            </a:r>
            <a:r>
              <a:rPr lang="zh-CN" altLang="en-US" dirty="0">
                <a:solidFill>
                  <a:srgbClr val="C00000"/>
                </a:solidFill>
              </a:rPr>
              <a:t>低于</a:t>
            </a:r>
            <a:r>
              <a:rPr lang="zh-CN" altLang="en-US" dirty="0"/>
              <a:t>理想，蔚来，问界，智己，</a:t>
            </a:r>
            <a:r>
              <a:rPr lang="zh-CN" altLang="en-US" dirty="0">
                <a:solidFill>
                  <a:srgbClr val="4B8D56"/>
                </a:solidFill>
              </a:rPr>
              <a:t>高于</a:t>
            </a:r>
            <a:r>
              <a:rPr lang="zh-CN" altLang="en-US" dirty="0"/>
              <a:t>小鹏，极氪</a:t>
            </a:r>
          </a:p>
        </p:txBody>
      </p:sp>
      <p:sp>
        <p:nvSpPr>
          <p:cNvPr id="63" name="灯片编号占位符 62"/>
          <p:cNvSpPr>
            <a:spLocks noGrp="1"/>
          </p:cNvSpPr>
          <p:nvPr>
            <p:ph type="sldNum" sz="quarter" idx="4"/>
            <p:custDataLst>
              <p:tags r:id="rId1"/>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E00B666-AD48-5640-8D08-2A4A6036569F}" type="slidenum">
              <a:rPr kumimoji="0" lang="zh-CN" altLang="en-US" sz="800" b="0" i="0" u="none" strike="noStrike" kern="1200" cap="none" spc="0" normalizeH="0" baseline="0" noProof="0" smtClean="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rPr>
              <a:t>41</a:t>
            </a:fld>
            <a:endParaRPr kumimoji="0" lang="zh-CN" altLang="en-US" sz="800" b="0" i="0" u="none" strike="noStrike" kern="1200" cap="none" spc="0" normalizeH="0" baseline="0" noProof="0" dirty="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endParaRPr>
          </a:p>
        </p:txBody>
      </p:sp>
      <p:sp>
        <p:nvSpPr>
          <p:cNvPr id="5" name="文本框 4">
            <a:extLst>
              <a:ext uri="{FF2B5EF4-FFF2-40B4-BE49-F238E27FC236}">
                <a16:creationId xmlns:a16="http://schemas.microsoft.com/office/drawing/2014/main" id="{0C250CEB-4938-2FB2-81EF-0F9D252143EE}"/>
              </a:ext>
            </a:extLst>
          </p:cNvPr>
          <p:cNvSpPr txBox="1"/>
          <p:nvPr/>
        </p:nvSpPr>
        <p:spPr>
          <a:xfrm>
            <a:off x="272403" y="2059197"/>
            <a:ext cx="11659175" cy="338554"/>
          </a:xfrm>
          <a:prstGeom prst="rect">
            <a:avLst/>
          </a:prstGeom>
          <a:solidFill>
            <a:srgbClr val="1B9538"/>
          </a:solidFill>
        </p:spPr>
        <p:txBody>
          <a:bodyPr wrap="square" rtlCol="0">
            <a:spAutoFit/>
          </a:bodyPr>
          <a:lstStyle/>
          <a:p>
            <a:pPr algn="ctr"/>
            <a:r>
              <a:rPr lang="zh-CN" altLang="en-US" sz="1600" b="1" dirty="0">
                <a:solidFill>
                  <a:schemeClr val="bg1"/>
                </a:solidFill>
                <a:latin typeface="微软雅黑" panose="020B0503020204020204" pitchFamily="34" charset="-122"/>
                <a:ea typeface="Alibaba PuHuiTi 2.0 55 Regular"/>
              </a:rPr>
              <a:t>某品牌服务评价</a:t>
            </a:r>
          </a:p>
        </p:txBody>
      </p:sp>
      <p:graphicFrame>
        <p:nvGraphicFramePr>
          <p:cNvPr id="7" name="表格 7">
            <a:extLst>
              <a:ext uri="{FF2B5EF4-FFF2-40B4-BE49-F238E27FC236}">
                <a16:creationId xmlns:a16="http://schemas.microsoft.com/office/drawing/2014/main" id="{E6A8BBA3-6115-0EE0-9D93-DDD14AE59254}"/>
              </a:ext>
            </a:extLst>
          </p:cNvPr>
          <p:cNvGraphicFramePr>
            <a:graphicFrameLocks noGrp="1"/>
          </p:cNvGraphicFramePr>
          <p:nvPr/>
        </p:nvGraphicFramePr>
        <p:xfrm>
          <a:off x="311066" y="5105430"/>
          <a:ext cx="11620508" cy="771496"/>
        </p:xfrm>
        <a:graphic>
          <a:graphicData uri="http://schemas.openxmlformats.org/drawingml/2006/table">
            <a:tbl>
              <a:tblPr firstRow="1" bandRow="1">
                <a:tableStyleId>{5940675A-B579-460E-94D1-54222C63F5DA}</a:tableStyleId>
              </a:tblPr>
              <a:tblGrid>
                <a:gridCol w="612959">
                  <a:extLst>
                    <a:ext uri="{9D8B030D-6E8A-4147-A177-3AD203B41FA5}">
                      <a16:colId xmlns:a16="http://schemas.microsoft.com/office/drawing/2014/main" val="2301742660"/>
                    </a:ext>
                  </a:extLst>
                </a:gridCol>
                <a:gridCol w="1347437">
                  <a:extLst>
                    <a:ext uri="{9D8B030D-6E8A-4147-A177-3AD203B41FA5}">
                      <a16:colId xmlns:a16="http://schemas.microsoft.com/office/drawing/2014/main" val="20001"/>
                    </a:ext>
                  </a:extLst>
                </a:gridCol>
                <a:gridCol w="1380016">
                  <a:extLst>
                    <a:ext uri="{9D8B030D-6E8A-4147-A177-3AD203B41FA5}">
                      <a16:colId xmlns:a16="http://schemas.microsoft.com/office/drawing/2014/main" val="4091958166"/>
                    </a:ext>
                  </a:extLst>
                </a:gridCol>
                <a:gridCol w="1380016">
                  <a:extLst>
                    <a:ext uri="{9D8B030D-6E8A-4147-A177-3AD203B41FA5}">
                      <a16:colId xmlns:a16="http://schemas.microsoft.com/office/drawing/2014/main" val="2963818269"/>
                    </a:ext>
                  </a:extLst>
                </a:gridCol>
                <a:gridCol w="1380016">
                  <a:extLst>
                    <a:ext uri="{9D8B030D-6E8A-4147-A177-3AD203B41FA5}">
                      <a16:colId xmlns:a16="http://schemas.microsoft.com/office/drawing/2014/main" val="657075552"/>
                    </a:ext>
                  </a:extLst>
                </a:gridCol>
                <a:gridCol w="1380016">
                  <a:extLst>
                    <a:ext uri="{9D8B030D-6E8A-4147-A177-3AD203B41FA5}">
                      <a16:colId xmlns:a16="http://schemas.microsoft.com/office/drawing/2014/main" val="627477549"/>
                    </a:ext>
                  </a:extLst>
                </a:gridCol>
                <a:gridCol w="1380016">
                  <a:extLst>
                    <a:ext uri="{9D8B030D-6E8A-4147-A177-3AD203B41FA5}">
                      <a16:colId xmlns:a16="http://schemas.microsoft.com/office/drawing/2014/main" val="2258992074"/>
                    </a:ext>
                  </a:extLst>
                </a:gridCol>
                <a:gridCol w="1380016">
                  <a:extLst>
                    <a:ext uri="{9D8B030D-6E8A-4147-A177-3AD203B41FA5}">
                      <a16:colId xmlns:a16="http://schemas.microsoft.com/office/drawing/2014/main" val="1602377978"/>
                    </a:ext>
                  </a:extLst>
                </a:gridCol>
                <a:gridCol w="1380016">
                  <a:extLst>
                    <a:ext uri="{9D8B030D-6E8A-4147-A177-3AD203B41FA5}">
                      <a16:colId xmlns:a16="http://schemas.microsoft.com/office/drawing/2014/main" val="3685624511"/>
                    </a:ext>
                  </a:extLst>
                </a:gridCol>
              </a:tblGrid>
              <a:tr h="385748">
                <a:tc>
                  <a:txBody>
                    <a:bodyPr/>
                    <a:lstStyle/>
                    <a:p>
                      <a:pPr algn="ctr"/>
                      <a:r>
                        <a:rPr lang="zh-CN" altLang="en-US" sz="1000" b="0" kern="1200" dirty="0">
                          <a:solidFill>
                            <a:schemeClr val="tx1">
                              <a:lumMod val="75000"/>
                              <a:lumOff val="25000"/>
                            </a:schemeClr>
                          </a:solidFill>
                          <a:latin typeface="+mn-ea"/>
                          <a:ea typeface="+mn-ea"/>
                          <a:cs typeface="+mn-cs"/>
                        </a:rPr>
                        <a:t>样本量</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000" b="0" i="0" u="none" strike="noStrike" dirty="0">
                          <a:solidFill>
                            <a:srgbClr val="000000"/>
                          </a:solidFill>
                          <a:effectLst/>
                          <a:latin typeface="+mn-ea"/>
                          <a:ea typeface="+mn-ea"/>
                        </a:rPr>
                        <a:t>某品牌</a:t>
                      </a:r>
                      <a:r>
                        <a:rPr lang="en-US" altLang="zh-CN" sz="1000" b="0" i="0" u="none" strike="noStrike" dirty="0">
                          <a:solidFill>
                            <a:srgbClr val="000000"/>
                          </a:solidFill>
                          <a:effectLst/>
                          <a:latin typeface="+mn-ea"/>
                          <a:ea typeface="+mn-ea"/>
                        </a:rPr>
                        <a:t>vs</a:t>
                      </a:r>
                      <a:r>
                        <a:rPr lang="zh-CN" altLang="en-US" sz="1000" b="0" i="0" u="none" strike="noStrike" dirty="0">
                          <a:solidFill>
                            <a:srgbClr val="000000"/>
                          </a:solidFill>
                          <a:effectLst/>
                          <a:latin typeface="+mn-ea"/>
                          <a:ea typeface="+mn-ea"/>
                        </a:rPr>
                        <a:t>竞品均值</a:t>
                      </a:r>
                      <a:endParaRPr lang="en-US" altLang="zh-CN" sz="1000" b="0" i="0" u="none" strike="noStrike" dirty="0">
                        <a:solidFill>
                          <a:srgbClr val="000000"/>
                        </a:solidFill>
                        <a:effectLst/>
                        <a:latin typeface="+mn-ea"/>
                        <a:ea typeface="+mn-ea"/>
                      </a:endParaRP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000" b="0" i="0" u="none" strike="noStrike" dirty="0">
                          <a:solidFill>
                            <a:srgbClr val="000000"/>
                          </a:solidFill>
                          <a:effectLst/>
                          <a:latin typeface="+mn-ea"/>
                          <a:ea typeface="+mn-ea"/>
                        </a:rPr>
                        <a:t>某品牌</a:t>
                      </a:r>
                      <a:r>
                        <a:rPr lang="en-US" altLang="zh-CN" sz="1000" b="0" i="0" u="none" strike="noStrike" dirty="0">
                          <a:solidFill>
                            <a:srgbClr val="000000"/>
                          </a:solidFill>
                          <a:effectLst/>
                          <a:latin typeface="+mn-ea"/>
                          <a:ea typeface="+mn-ea"/>
                        </a:rPr>
                        <a:t>vs</a:t>
                      </a:r>
                      <a:r>
                        <a:rPr lang="zh-CN" altLang="en-US" sz="1000" b="0" i="0" u="none" strike="noStrike" dirty="0">
                          <a:solidFill>
                            <a:srgbClr val="000000"/>
                          </a:solidFill>
                          <a:effectLst/>
                          <a:latin typeface="+mn-ea"/>
                          <a:ea typeface="+mn-ea"/>
                        </a:rPr>
                        <a:t>理想</a:t>
                      </a:r>
                      <a:endParaRPr lang="en-US" altLang="zh-CN" sz="1000" b="0" i="0" u="none" strike="noStrike" dirty="0">
                        <a:solidFill>
                          <a:srgbClr val="000000"/>
                        </a:solidFill>
                        <a:effectLst/>
                        <a:latin typeface="+mn-ea"/>
                        <a:ea typeface="+mn-ea"/>
                      </a:endParaRP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000" b="0" i="0" u="none" strike="noStrike" dirty="0">
                          <a:solidFill>
                            <a:srgbClr val="000000"/>
                          </a:solidFill>
                          <a:effectLst/>
                          <a:latin typeface="+mn-ea"/>
                          <a:ea typeface="+mn-ea"/>
                        </a:rPr>
                        <a:t>某品牌</a:t>
                      </a:r>
                      <a:r>
                        <a:rPr lang="en-US" altLang="zh-CN" sz="1000" b="0" i="0" u="none" strike="noStrike" dirty="0">
                          <a:solidFill>
                            <a:srgbClr val="000000"/>
                          </a:solidFill>
                          <a:effectLst/>
                          <a:latin typeface="+mn-ea"/>
                          <a:ea typeface="+mn-ea"/>
                        </a:rPr>
                        <a:t>vs</a:t>
                      </a:r>
                      <a:r>
                        <a:rPr lang="zh-CN" altLang="en-US" sz="1000" b="0" i="0" u="none" strike="noStrike" dirty="0">
                          <a:solidFill>
                            <a:srgbClr val="000000"/>
                          </a:solidFill>
                          <a:effectLst/>
                          <a:latin typeface="+mn-ea"/>
                          <a:ea typeface="+mn-ea"/>
                        </a:rPr>
                        <a:t>特斯拉</a:t>
                      </a:r>
                      <a:endParaRPr lang="en-US" altLang="zh-CN" sz="1000" b="0" i="0" u="none" strike="noStrike" dirty="0">
                        <a:solidFill>
                          <a:srgbClr val="000000"/>
                        </a:solidFill>
                        <a:effectLst/>
                        <a:latin typeface="+mn-ea"/>
                        <a:ea typeface="+mn-ea"/>
                      </a:endParaRP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000" b="0" i="0" u="none" strike="noStrike" dirty="0">
                          <a:solidFill>
                            <a:srgbClr val="000000"/>
                          </a:solidFill>
                          <a:effectLst/>
                          <a:latin typeface="+mn-ea"/>
                          <a:ea typeface="+mn-ea"/>
                        </a:rPr>
                        <a:t>某品牌</a:t>
                      </a:r>
                      <a:r>
                        <a:rPr lang="en-US" altLang="zh-CN" sz="1000" b="0" i="0" u="none" strike="noStrike" dirty="0">
                          <a:solidFill>
                            <a:srgbClr val="000000"/>
                          </a:solidFill>
                          <a:effectLst/>
                          <a:latin typeface="+mn-ea"/>
                          <a:ea typeface="+mn-ea"/>
                        </a:rPr>
                        <a:t>vs</a:t>
                      </a:r>
                      <a:r>
                        <a:rPr lang="zh-CN" altLang="en-US" sz="1000" b="0" i="0" u="none" strike="noStrike" dirty="0">
                          <a:solidFill>
                            <a:srgbClr val="000000"/>
                          </a:solidFill>
                          <a:effectLst/>
                          <a:latin typeface="+mn-ea"/>
                          <a:ea typeface="+mn-ea"/>
                        </a:rPr>
                        <a:t>蔚来</a:t>
                      </a:r>
                      <a:endParaRPr lang="en-US" altLang="zh-CN" sz="1000" b="0" i="0" u="none" strike="noStrike" dirty="0">
                        <a:solidFill>
                          <a:srgbClr val="000000"/>
                        </a:solidFill>
                        <a:effectLst/>
                        <a:latin typeface="+mn-ea"/>
                        <a:ea typeface="+mn-ea"/>
                      </a:endParaRP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000" b="0" i="0" u="none" strike="noStrike" dirty="0">
                          <a:solidFill>
                            <a:srgbClr val="000000"/>
                          </a:solidFill>
                          <a:effectLst/>
                          <a:latin typeface="+mn-ea"/>
                          <a:ea typeface="+mn-ea"/>
                        </a:rPr>
                        <a:t>某品牌</a:t>
                      </a:r>
                      <a:r>
                        <a:rPr lang="en-US" altLang="zh-CN" sz="1000" b="0" i="0" u="none" strike="noStrike" dirty="0">
                          <a:solidFill>
                            <a:srgbClr val="000000"/>
                          </a:solidFill>
                          <a:effectLst/>
                          <a:latin typeface="+mn-ea"/>
                          <a:ea typeface="+mn-ea"/>
                        </a:rPr>
                        <a:t>vs</a:t>
                      </a:r>
                      <a:r>
                        <a:rPr lang="zh-CN" altLang="en-US" sz="1000" b="0" i="0" u="none" strike="noStrike" dirty="0">
                          <a:solidFill>
                            <a:srgbClr val="000000"/>
                          </a:solidFill>
                          <a:effectLst/>
                          <a:latin typeface="+mn-ea"/>
                          <a:ea typeface="+mn-ea"/>
                        </a:rPr>
                        <a:t>小鹏</a:t>
                      </a:r>
                      <a:endParaRPr lang="en-US" altLang="zh-CN" sz="1000" b="0" i="0" u="none" strike="noStrike" dirty="0">
                        <a:solidFill>
                          <a:srgbClr val="000000"/>
                        </a:solidFill>
                        <a:effectLst/>
                        <a:latin typeface="+mn-ea"/>
                        <a:ea typeface="+mn-ea"/>
                      </a:endParaRP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000" b="0" i="0" u="none" strike="noStrike" dirty="0">
                          <a:solidFill>
                            <a:srgbClr val="000000"/>
                          </a:solidFill>
                          <a:effectLst/>
                          <a:latin typeface="+mn-ea"/>
                          <a:ea typeface="+mn-ea"/>
                        </a:rPr>
                        <a:t>某品牌</a:t>
                      </a:r>
                      <a:r>
                        <a:rPr lang="en-US" altLang="zh-CN" sz="1000" b="0" i="0" u="none" strike="noStrike" dirty="0">
                          <a:solidFill>
                            <a:srgbClr val="000000"/>
                          </a:solidFill>
                          <a:effectLst/>
                          <a:latin typeface="+mn-ea"/>
                          <a:ea typeface="+mn-ea"/>
                        </a:rPr>
                        <a:t>vs</a:t>
                      </a:r>
                      <a:r>
                        <a:rPr lang="zh-CN" altLang="en-US" sz="1000" b="0" i="0" u="none" strike="noStrike" dirty="0">
                          <a:solidFill>
                            <a:srgbClr val="000000"/>
                          </a:solidFill>
                          <a:effectLst/>
                          <a:latin typeface="+mn-ea"/>
                          <a:ea typeface="+mn-ea"/>
                        </a:rPr>
                        <a:t>问界</a:t>
                      </a:r>
                      <a:endParaRPr lang="en-US" altLang="zh-CN" sz="1000" b="0" i="0" u="none" strike="noStrike" dirty="0">
                        <a:solidFill>
                          <a:srgbClr val="000000"/>
                        </a:solidFill>
                        <a:effectLst/>
                        <a:latin typeface="+mn-ea"/>
                        <a:ea typeface="+mn-ea"/>
                      </a:endParaRP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000" b="0" i="0" u="none" strike="noStrike" dirty="0">
                          <a:solidFill>
                            <a:srgbClr val="000000"/>
                          </a:solidFill>
                          <a:effectLst/>
                          <a:latin typeface="+mn-ea"/>
                          <a:ea typeface="+mn-ea"/>
                        </a:rPr>
                        <a:t>某品牌</a:t>
                      </a:r>
                      <a:r>
                        <a:rPr lang="en-US" altLang="zh-CN" sz="1000" b="0" i="0" u="none" strike="noStrike" dirty="0">
                          <a:solidFill>
                            <a:srgbClr val="000000"/>
                          </a:solidFill>
                          <a:effectLst/>
                          <a:latin typeface="+mn-ea"/>
                          <a:ea typeface="+mn-ea"/>
                        </a:rPr>
                        <a:t>vs</a:t>
                      </a:r>
                      <a:r>
                        <a:rPr lang="zh-CN" altLang="en-US" sz="1000" b="0" i="0" u="none" strike="noStrike" dirty="0">
                          <a:solidFill>
                            <a:srgbClr val="000000"/>
                          </a:solidFill>
                          <a:effectLst/>
                          <a:latin typeface="+mn-ea"/>
                          <a:ea typeface="+mn-ea"/>
                        </a:rPr>
                        <a:t>极氪</a:t>
                      </a:r>
                      <a:endParaRPr lang="en-US" altLang="zh-CN" sz="1000" b="0" i="0" u="none" strike="noStrike" dirty="0">
                        <a:solidFill>
                          <a:srgbClr val="000000"/>
                        </a:solidFill>
                        <a:effectLst/>
                        <a:latin typeface="+mn-ea"/>
                        <a:ea typeface="+mn-ea"/>
                      </a:endParaRP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000" b="0" i="0" u="none" strike="noStrike" dirty="0">
                          <a:solidFill>
                            <a:srgbClr val="000000"/>
                          </a:solidFill>
                          <a:effectLst/>
                          <a:latin typeface="+mn-ea"/>
                          <a:ea typeface="+mn-ea"/>
                        </a:rPr>
                        <a:t>某品牌</a:t>
                      </a:r>
                      <a:r>
                        <a:rPr lang="en-US" altLang="zh-CN" sz="1000" b="0" i="0" u="none" strike="noStrike" dirty="0">
                          <a:solidFill>
                            <a:srgbClr val="000000"/>
                          </a:solidFill>
                          <a:effectLst/>
                          <a:latin typeface="+mn-ea"/>
                          <a:ea typeface="+mn-ea"/>
                        </a:rPr>
                        <a:t>vs</a:t>
                      </a:r>
                      <a:r>
                        <a:rPr lang="zh-CN" altLang="en-US" sz="1000" b="0" i="0" u="none" strike="noStrike" dirty="0">
                          <a:solidFill>
                            <a:srgbClr val="000000"/>
                          </a:solidFill>
                          <a:effectLst/>
                          <a:latin typeface="+mn-ea"/>
                          <a:ea typeface="+mn-ea"/>
                        </a:rPr>
                        <a:t>智己</a:t>
                      </a:r>
                      <a:endParaRPr lang="en-US" altLang="zh-CN" sz="1000" b="0" i="0" u="none" strike="noStrike" dirty="0">
                        <a:solidFill>
                          <a:srgbClr val="000000"/>
                        </a:solidFill>
                        <a:effectLst/>
                        <a:latin typeface="+mn-ea"/>
                        <a:ea typeface="+mn-ea"/>
                      </a:endParaRP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85748">
                <a:tc>
                  <a:txBody>
                    <a:bodyPr/>
                    <a:lstStyle/>
                    <a:p>
                      <a:pPr algn="ctr"/>
                      <a:endParaRPr lang="zh-CN" altLang="en-US" sz="1000" b="0" kern="1200" dirty="0">
                        <a:solidFill>
                          <a:schemeClr val="tx1">
                            <a:lumMod val="75000"/>
                            <a:lumOff val="25000"/>
                          </a:schemeClr>
                        </a:solidFill>
                        <a:latin typeface="+mn-ea"/>
                        <a:ea typeface="+mn-ea"/>
                        <a:cs typeface="+mn-cs"/>
                      </a:endParaRP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000" b="0" i="0" u="none" strike="noStrike">
                          <a:solidFill>
                            <a:srgbClr val="000000"/>
                          </a:solidFill>
                          <a:effectLst/>
                          <a:latin typeface="+mn-ea"/>
                          <a:ea typeface="+mn-ea"/>
                        </a:rPr>
                        <a:t>278</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000" b="0" i="0" u="none" strike="noStrike" dirty="0">
                          <a:solidFill>
                            <a:srgbClr val="000000"/>
                          </a:solidFill>
                          <a:effectLst/>
                          <a:latin typeface="+mn-ea"/>
                          <a:ea typeface="+mn-ea"/>
                        </a:rPr>
                        <a:t>40</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000" b="0" i="0" u="none" strike="noStrike">
                          <a:solidFill>
                            <a:srgbClr val="000000"/>
                          </a:solidFill>
                          <a:effectLst/>
                          <a:latin typeface="+mn-ea"/>
                          <a:ea typeface="+mn-ea"/>
                        </a:rPr>
                        <a:t>40</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000" b="0" i="0" u="none" strike="noStrike" dirty="0">
                          <a:solidFill>
                            <a:srgbClr val="000000"/>
                          </a:solidFill>
                          <a:effectLst/>
                          <a:latin typeface="+mn-ea"/>
                          <a:ea typeface="+mn-ea"/>
                        </a:rPr>
                        <a:t>40</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000" b="0" i="0" u="none" strike="noStrike">
                          <a:solidFill>
                            <a:srgbClr val="000000"/>
                          </a:solidFill>
                          <a:effectLst/>
                          <a:latin typeface="+mn-ea"/>
                          <a:ea typeface="+mn-ea"/>
                        </a:rPr>
                        <a:t>40</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000" b="0" i="0" u="none" strike="noStrike" dirty="0">
                          <a:solidFill>
                            <a:srgbClr val="000000"/>
                          </a:solidFill>
                          <a:effectLst/>
                          <a:latin typeface="+mn-ea"/>
                          <a:ea typeface="+mn-ea"/>
                        </a:rPr>
                        <a:t>40</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000" b="0" i="0" u="none" strike="noStrike" dirty="0">
                          <a:solidFill>
                            <a:srgbClr val="000000"/>
                          </a:solidFill>
                          <a:effectLst/>
                          <a:latin typeface="+mn-ea"/>
                          <a:ea typeface="+mn-ea"/>
                        </a:rPr>
                        <a:t>40</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000" b="0" i="0" u="none" strike="noStrike" dirty="0">
                          <a:solidFill>
                            <a:srgbClr val="000000"/>
                          </a:solidFill>
                          <a:effectLst/>
                          <a:latin typeface="+mn-ea"/>
                          <a:ea typeface="+mn-ea"/>
                        </a:rPr>
                        <a:t>38</a:t>
                      </a:r>
                    </a:p>
                  </a:txBody>
                  <a:tcPr marL="6350" marR="6350" marT="635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8128764"/>
                  </a:ext>
                </a:extLst>
              </a:tr>
            </a:tbl>
          </a:graphicData>
        </a:graphic>
      </p:graphicFrame>
      <p:sp>
        <p:nvSpPr>
          <p:cNvPr id="9" name="文本框 8">
            <a:extLst>
              <a:ext uri="{FF2B5EF4-FFF2-40B4-BE49-F238E27FC236}">
                <a16:creationId xmlns:a16="http://schemas.microsoft.com/office/drawing/2014/main" id="{4DC1D317-9900-4138-B785-C96D75B69621}"/>
              </a:ext>
            </a:extLst>
          </p:cNvPr>
          <p:cNvSpPr txBox="1"/>
          <p:nvPr>
            <p:custDataLst>
              <p:tags r:id="rId2"/>
            </p:custDataLst>
          </p:nvPr>
        </p:nvSpPr>
        <p:spPr>
          <a:xfrm>
            <a:off x="263526" y="6040547"/>
            <a:ext cx="5868988" cy="24622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zh-CN" altLang="en-US" sz="1000" dirty="0">
                <a:latin typeface="DIN Pro"/>
                <a:ea typeface="Alibaba PuHuiTi 2.0 55 Regular"/>
              </a:rPr>
              <a:t>在</a:t>
            </a:r>
            <a:r>
              <a:rPr lang="en-US" altLang="zh-CN" sz="1000" dirty="0">
                <a:latin typeface="DIN Pro"/>
                <a:ea typeface="Alibaba PuHuiTi 2.0 55 Regular"/>
              </a:rPr>
              <a:t>95%</a:t>
            </a:r>
            <a:r>
              <a:rPr lang="zh-CN" altLang="en-US" sz="1000" dirty="0">
                <a:latin typeface="DIN Pro"/>
                <a:ea typeface="Alibaba PuHuiTi 2.0 55 Regular"/>
              </a:rPr>
              <a:t>置信度水平下，犹豫用户某品牌分数与竞品无显著差异</a:t>
            </a:r>
            <a:endParaRPr kumimoji="0" lang="en-US" altLang="zh-CN" sz="1000" i="0" u="none" strike="noStrike" kern="1200" cap="none" spc="0" normalizeH="0" baseline="0" noProof="0" dirty="0">
              <a:ln>
                <a:noFill/>
              </a:ln>
              <a:effectLst/>
              <a:uLnTx/>
              <a:uFillTx/>
              <a:latin typeface="DIN Pro"/>
              <a:ea typeface="Alibaba PuHuiTi 2.0 55 Regular"/>
              <a:cs typeface="+mn-cs"/>
            </a:endParaRPr>
          </a:p>
        </p:txBody>
      </p:sp>
    </p:spTree>
    <p:extLst>
      <p:ext uri="{BB962C8B-B14F-4D97-AF65-F5344CB8AC3E}">
        <p14:creationId xmlns:p14="http://schemas.microsoft.com/office/powerpoint/2010/main" val="4108849622"/>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占位符 10">
            <a:extLst>
              <a:ext uri="{FF2B5EF4-FFF2-40B4-BE49-F238E27FC236}">
                <a16:creationId xmlns:a16="http://schemas.microsoft.com/office/drawing/2014/main" id="{23E44684-F8F9-F8E0-1803-49ADA4428779}"/>
              </a:ext>
            </a:extLst>
          </p:cNvPr>
          <p:cNvSpPr>
            <a:spLocks noGrp="1"/>
          </p:cNvSpPr>
          <p:nvPr>
            <p:ph type="body" sz="quarter" idx="14"/>
          </p:nvPr>
        </p:nvSpPr>
        <p:spPr/>
        <p:txBody>
          <a:bodyPr/>
          <a:lstStyle/>
          <a:p>
            <a:endParaRPr lang="zh-CN" altLang="en-US"/>
          </a:p>
        </p:txBody>
      </p:sp>
      <p:sp>
        <p:nvSpPr>
          <p:cNvPr id="2" name="文本占位符 1">
            <a:extLst>
              <a:ext uri="{FF2B5EF4-FFF2-40B4-BE49-F238E27FC236}">
                <a16:creationId xmlns:a16="http://schemas.microsoft.com/office/drawing/2014/main" id="{82C81AF5-FA33-7ADC-EFC2-8C3A3C3CFB22}"/>
              </a:ext>
            </a:extLst>
          </p:cNvPr>
          <p:cNvSpPr>
            <a:spLocks noGrp="1"/>
          </p:cNvSpPr>
          <p:nvPr>
            <p:ph type="body" sz="quarter" idx="21"/>
          </p:nvPr>
        </p:nvSpPr>
        <p:spPr/>
        <p:txBody>
          <a:bodyPr/>
          <a:lstStyle/>
          <a:p>
            <a:r>
              <a:rPr kumimoji="1" lang="en-US" altLang="zh-CN" dirty="0">
                <a:latin typeface="+mn-ea"/>
                <a:ea typeface="+mn-ea"/>
              </a:rPr>
              <a:t>2.4 </a:t>
            </a:r>
            <a:r>
              <a:rPr kumimoji="1" lang="zh-CN" altLang="en-US" dirty="0">
                <a:latin typeface="+mn-ea"/>
                <a:ea typeface="+mn-ea"/>
              </a:rPr>
              <a:t>犹豫用户分析 </a:t>
            </a:r>
            <a:r>
              <a:rPr kumimoji="1" lang="en-US" altLang="zh-CN" dirty="0">
                <a:latin typeface="+mn-ea"/>
                <a:ea typeface="+mn-ea"/>
              </a:rPr>
              <a:t>– </a:t>
            </a:r>
            <a:r>
              <a:rPr lang="zh-CN" altLang="en-US" dirty="0"/>
              <a:t>因子得分</a:t>
            </a:r>
          </a:p>
        </p:txBody>
      </p:sp>
      <p:sp>
        <p:nvSpPr>
          <p:cNvPr id="8" name="文本占位符 7">
            <a:extLst>
              <a:ext uri="{FF2B5EF4-FFF2-40B4-BE49-F238E27FC236}">
                <a16:creationId xmlns:a16="http://schemas.microsoft.com/office/drawing/2014/main" id="{A91165C3-C052-7A0D-BCA5-15C05AA9D770}"/>
              </a:ext>
            </a:extLst>
          </p:cNvPr>
          <p:cNvSpPr>
            <a:spLocks noGrp="1"/>
          </p:cNvSpPr>
          <p:nvPr>
            <p:ph type="body" sz="quarter" idx="22"/>
          </p:nvPr>
        </p:nvSpPr>
        <p:spPr/>
        <p:txBody>
          <a:bodyPr/>
          <a:lstStyle/>
          <a:p>
            <a:r>
              <a:rPr lang="zh-CN" altLang="en-US" dirty="0">
                <a:solidFill>
                  <a:schemeClr val="tx1"/>
                </a:solidFill>
              </a:rPr>
              <a:t>在犹豫用户中，某品牌</a:t>
            </a:r>
            <a:r>
              <a:rPr lang="zh-CN" altLang="en-US" dirty="0">
                <a:solidFill>
                  <a:srgbClr val="FF0000"/>
                </a:solidFill>
              </a:rPr>
              <a:t>入店前沟通</a:t>
            </a:r>
            <a:r>
              <a:rPr lang="zh-CN" altLang="en-US" dirty="0"/>
              <a:t>，</a:t>
            </a:r>
            <a:r>
              <a:rPr lang="zh-CN" altLang="en-US" dirty="0">
                <a:solidFill>
                  <a:srgbClr val="FF0000"/>
                </a:solidFill>
              </a:rPr>
              <a:t>试乘试驾</a:t>
            </a:r>
            <a:r>
              <a:rPr lang="zh-CN" altLang="en-US" dirty="0"/>
              <a:t>相对是弱项</a:t>
            </a:r>
          </a:p>
        </p:txBody>
      </p:sp>
      <p:sp>
        <p:nvSpPr>
          <p:cNvPr id="5" name="灯片编号占位符 4">
            <a:extLst>
              <a:ext uri="{FF2B5EF4-FFF2-40B4-BE49-F238E27FC236}">
                <a16:creationId xmlns:a16="http://schemas.microsoft.com/office/drawing/2014/main" id="{06691800-2534-AC70-8274-CC2C0122E943}"/>
              </a:ext>
            </a:extLst>
          </p:cNvPr>
          <p:cNvSpPr>
            <a:spLocks noGrp="1"/>
          </p:cNvSpPr>
          <p:nvPr>
            <p:ph type="sldNum" sz="quarter" idx="4"/>
          </p:nvPr>
        </p:nvSpPr>
        <p:spPr/>
        <p:txBody>
          <a:bodyPr/>
          <a:lstStyle/>
          <a:p>
            <a:fld id="{04824671-56D2-5D44-834F-250C3DA554E9}" type="slidenum">
              <a:rPr lang="zh-CN" altLang="en-US" smtClean="0"/>
              <a:t>42</a:t>
            </a:fld>
            <a:endParaRPr lang="zh-CN" altLang="en-US" dirty="0"/>
          </a:p>
        </p:txBody>
      </p:sp>
      <p:graphicFrame>
        <p:nvGraphicFramePr>
          <p:cNvPr id="3" name="内容占位符 5">
            <a:extLst>
              <a:ext uri="{FF2B5EF4-FFF2-40B4-BE49-F238E27FC236}">
                <a16:creationId xmlns:a16="http://schemas.microsoft.com/office/drawing/2014/main" id="{52CBF561-F3B8-0161-88DD-B019EB1AE926}"/>
              </a:ext>
            </a:extLst>
          </p:cNvPr>
          <p:cNvGraphicFramePr>
            <a:graphicFrameLocks/>
          </p:cNvGraphicFramePr>
          <p:nvPr>
            <p:extLst>
              <p:ext uri="{D42A27DB-BD31-4B8C-83A1-F6EECF244321}">
                <p14:modId xmlns:p14="http://schemas.microsoft.com/office/powerpoint/2010/main" val="1896239081"/>
              </p:ext>
            </p:extLst>
          </p:nvPr>
        </p:nvGraphicFramePr>
        <p:xfrm>
          <a:off x="263526" y="2628772"/>
          <a:ext cx="11928474" cy="2652951"/>
        </p:xfrm>
        <a:graphic>
          <a:graphicData uri="http://schemas.openxmlformats.org/drawingml/2006/chart">
            <c:chart xmlns:c="http://schemas.openxmlformats.org/drawingml/2006/chart" xmlns:r="http://schemas.openxmlformats.org/officeDocument/2006/relationships" r:id="rId2"/>
          </a:graphicData>
        </a:graphic>
      </p:graphicFrame>
      <p:sp>
        <p:nvSpPr>
          <p:cNvPr id="9" name="文本框 8">
            <a:extLst>
              <a:ext uri="{FF2B5EF4-FFF2-40B4-BE49-F238E27FC236}">
                <a16:creationId xmlns:a16="http://schemas.microsoft.com/office/drawing/2014/main" id="{335E94B7-2068-DC35-A609-C51E26418CCD}"/>
              </a:ext>
            </a:extLst>
          </p:cNvPr>
          <p:cNvSpPr txBox="1"/>
          <p:nvPr/>
        </p:nvSpPr>
        <p:spPr>
          <a:xfrm>
            <a:off x="272404" y="2059197"/>
            <a:ext cx="11610946" cy="338554"/>
          </a:xfrm>
          <a:prstGeom prst="rect">
            <a:avLst/>
          </a:prstGeom>
          <a:solidFill>
            <a:srgbClr val="1B9538"/>
          </a:solidFill>
        </p:spPr>
        <p:txBody>
          <a:bodyPr wrap="square" rtlCol="0">
            <a:spAutoFit/>
          </a:bodyPr>
          <a:lstStyle/>
          <a:p>
            <a:pPr algn="ctr"/>
            <a:r>
              <a:rPr lang="zh-CN" altLang="en-US" sz="1600" b="1" dirty="0">
                <a:solidFill>
                  <a:schemeClr val="bg1"/>
                </a:solidFill>
                <a:latin typeface="微软雅黑" panose="020B0503020204020204" pitchFamily="34" charset="-122"/>
                <a:ea typeface="Alibaba PuHuiTi 2.0 55 Regular"/>
              </a:rPr>
              <a:t>某品牌服务评价</a:t>
            </a:r>
          </a:p>
        </p:txBody>
      </p:sp>
      <p:graphicFrame>
        <p:nvGraphicFramePr>
          <p:cNvPr id="28" name="表格 27">
            <a:extLst>
              <a:ext uri="{FF2B5EF4-FFF2-40B4-BE49-F238E27FC236}">
                <a16:creationId xmlns:a16="http://schemas.microsoft.com/office/drawing/2014/main" id="{E78C9C97-6ECC-39E9-774B-D54DE63B7428}"/>
              </a:ext>
            </a:extLst>
          </p:cNvPr>
          <p:cNvGraphicFramePr>
            <a:graphicFrameLocks noGrp="1"/>
          </p:cNvGraphicFramePr>
          <p:nvPr>
            <p:extLst>
              <p:ext uri="{D42A27DB-BD31-4B8C-83A1-F6EECF244321}">
                <p14:modId xmlns:p14="http://schemas.microsoft.com/office/powerpoint/2010/main" val="342149674"/>
              </p:ext>
            </p:extLst>
          </p:nvPr>
        </p:nvGraphicFramePr>
        <p:xfrm>
          <a:off x="326571" y="5319427"/>
          <a:ext cx="11767458" cy="433653"/>
        </p:xfrm>
        <a:graphic>
          <a:graphicData uri="http://schemas.openxmlformats.org/drawingml/2006/table">
            <a:tbl>
              <a:tblPr firstRow="1" bandRow="1">
                <a:tableStyleId>{5C22544A-7EE6-4342-B048-85BDC9FD1C3A}</a:tableStyleId>
              </a:tblPr>
              <a:tblGrid>
                <a:gridCol w="673098">
                  <a:extLst>
                    <a:ext uri="{9D8B030D-6E8A-4147-A177-3AD203B41FA5}">
                      <a16:colId xmlns:a16="http://schemas.microsoft.com/office/drawing/2014/main" val="996804910"/>
                    </a:ext>
                  </a:extLst>
                </a:gridCol>
                <a:gridCol w="2218872">
                  <a:extLst>
                    <a:ext uri="{9D8B030D-6E8A-4147-A177-3AD203B41FA5}">
                      <a16:colId xmlns:a16="http://schemas.microsoft.com/office/drawing/2014/main" val="219944489"/>
                    </a:ext>
                  </a:extLst>
                </a:gridCol>
                <a:gridCol w="2218872">
                  <a:extLst>
                    <a:ext uri="{9D8B030D-6E8A-4147-A177-3AD203B41FA5}">
                      <a16:colId xmlns:a16="http://schemas.microsoft.com/office/drawing/2014/main" val="1589569921"/>
                    </a:ext>
                  </a:extLst>
                </a:gridCol>
                <a:gridCol w="2218872">
                  <a:extLst>
                    <a:ext uri="{9D8B030D-6E8A-4147-A177-3AD203B41FA5}">
                      <a16:colId xmlns:a16="http://schemas.microsoft.com/office/drawing/2014/main" val="2180222477"/>
                    </a:ext>
                  </a:extLst>
                </a:gridCol>
                <a:gridCol w="2218872">
                  <a:extLst>
                    <a:ext uri="{9D8B030D-6E8A-4147-A177-3AD203B41FA5}">
                      <a16:colId xmlns:a16="http://schemas.microsoft.com/office/drawing/2014/main" val="4271917189"/>
                    </a:ext>
                  </a:extLst>
                </a:gridCol>
                <a:gridCol w="2218872">
                  <a:extLst>
                    <a:ext uri="{9D8B030D-6E8A-4147-A177-3AD203B41FA5}">
                      <a16:colId xmlns:a16="http://schemas.microsoft.com/office/drawing/2014/main" val="3133000720"/>
                    </a:ext>
                  </a:extLst>
                </a:gridCol>
              </a:tblGrid>
              <a:tr h="433653">
                <a:tc>
                  <a:txBody>
                    <a:bodyPr/>
                    <a:lstStyle/>
                    <a:p>
                      <a:pPr algn="ctr"/>
                      <a:r>
                        <a:rPr lang="zh-CN" altLang="en-US" sz="1100" dirty="0">
                          <a:solidFill>
                            <a:schemeClr val="tx1"/>
                          </a:solidFill>
                          <a:latin typeface="+mn-ea"/>
                          <a:ea typeface="+mn-ea"/>
                        </a:rPr>
                        <a:t>差值</a:t>
                      </a:r>
                    </a:p>
                  </a:txBody>
                  <a:tcPr anchor="ctr">
                    <a:noFill/>
                  </a:tcPr>
                </a:tc>
                <a:tc>
                  <a:txBody>
                    <a:bodyPr/>
                    <a:lstStyle/>
                    <a:p>
                      <a:pPr algn="ctr" fontAlgn="ctr"/>
                      <a:r>
                        <a:rPr lang="en-US" altLang="zh-CN" sz="1100" b="1" i="0" u="none" strike="noStrike" dirty="0">
                          <a:solidFill>
                            <a:srgbClr val="FF0000"/>
                          </a:solidFill>
                          <a:effectLst/>
                          <a:latin typeface="+mn-ea"/>
                          <a:ea typeface="+mn-ea"/>
                        </a:rPr>
                        <a:t>-11.6 </a:t>
                      </a:r>
                    </a:p>
                  </a:txBody>
                  <a:tcPr marL="6350" marR="6350" marT="6350" marB="0" anchor="ctr">
                    <a:noFill/>
                  </a:tcPr>
                </a:tc>
                <a:tc>
                  <a:txBody>
                    <a:bodyPr/>
                    <a:lstStyle/>
                    <a:p>
                      <a:pPr algn="ctr" fontAlgn="ctr"/>
                      <a:r>
                        <a:rPr lang="en-US" altLang="zh-CN" sz="1100" b="0" i="0" u="none" strike="noStrike">
                          <a:solidFill>
                            <a:srgbClr val="000000"/>
                          </a:solidFill>
                          <a:effectLst/>
                          <a:latin typeface="+mn-ea"/>
                          <a:ea typeface="+mn-ea"/>
                        </a:rPr>
                        <a:t>-4.7 </a:t>
                      </a:r>
                    </a:p>
                  </a:txBody>
                  <a:tcPr marL="6350" marR="6350" marT="6350" marB="0" anchor="ctr">
                    <a:noFill/>
                  </a:tcPr>
                </a:tc>
                <a:tc>
                  <a:txBody>
                    <a:bodyPr/>
                    <a:lstStyle/>
                    <a:p>
                      <a:pPr algn="ctr" fontAlgn="ctr"/>
                      <a:r>
                        <a:rPr lang="en-US" altLang="zh-CN" sz="1100" b="0" i="0" u="none" strike="noStrike">
                          <a:solidFill>
                            <a:srgbClr val="000000"/>
                          </a:solidFill>
                          <a:effectLst/>
                          <a:latin typeface="+mn-ea"/>
                          <a:ea typeface="+mn-ea"/>
                        </a:rPr>
                        <a:t>-1.0 </a:t>
                      </a:r>
                    </a:p>
                  </a:txBody>
                  <a:tcPr marL="6350" marR="6350" marT="6350" marB="0" anchor="ctr">
                    <a:noFill/>
                  </a:tcPr>
                </a:tc>
                <a:tc>
                  <a:txBody>
                    <a:bodyPr/>
                    <a:lstStyle/>
                    <a:p>
                      <a:pPr algn="ctr" fontAlgn="ctr"/>
                      <a:r>
                        <a:rPr lang="en-US" altLang="zh-CN" sz="1100" b="1" i="0" u="none" strike="noStrike" dirty="0">
                          <a:solidFill>
                            <a:srgbClr val="FF0000"/>
                          </a:solidFill>
                          <a:effectLst/>
                          <a:latin typeface="+mn-ea"/>
                          <a:ea typeface="+mn-ea"/>
                        </a:rPr>
                        <a:t>-5.9 </a:t>
                      </a:r>
                    </a:p>
                  </a:txBody>
                  <a:tcPr marL="6350" marR="6350" marT="6350" marB="0" anchor="ctr">
                    <a:noFill/>
                  </a:tcPr>
                </a:tc>
                <a:tc>
                  <a:txBody>
                    <a:bodyPr/>
                    <a:lstStyle/>
                    <a:p>
                      <a:pPr algn="ctr" fontAlgn="ctr"/>
                      <a:r>
                        <a:rPr lang="en-US" altLang="zh-CN" sz="1100" b="0" i="0" u="none" strike="noStrike" dirty="0">
                          <a:solidFill>
                            <a:srgbClr val="000000"/>
                          </a:solidFill>
                          <a:effectLst/>
                          <a:latin typeface="+mn-ea"/>
                          <a:ea typeface="+mn-ea"/>
                        </a:rPr>
                        <a:t>-5.0 </a:t>
                      </a:r>
                    </a:p>
                  </a:txBody>
                  <a:tcPr marL="6350" marR="6350" marT="6350" marB="0" anchor="ctr">
                    <a:noFill/>
                  </a:tcPr>
                </a:tc>
                <a:extLst>
                  <a:ext uri="{0D108BD9-81ED-4DB2-BD59-A6C34878D82A}">
                    <a16:rowId xmlns:a16="http://schemas.microsoft.com/office/drawing/2014/main" val="1729157826"/>
                  </a:ext>
                </a:extLst>
              </a:tr>
            </a:tbl>
          </a:graphicData>
        </a:graphic>
      </p:graphicFrame>
      <p:sp>
        <p:nvSpPr>
          <p:cNvPr id="10" name="文本框 9">
            <a:extLst>
              <a:ext uri="{FF2B5EF4-FFF2-40B4-BE49-F238E27FC236}">
                <a16:creationId xmlns:a16="http://schemas.microsoft.com/office/drawing/2014/main" id="{B25CE7E6-642D-538B-45C5-5B3AFDB92AF0}"/>
              </a:ext>
            </a:extLst>
          </p:cNvPr>
          <p:cNvSpPr txBox="1"/>
          <p:nvPr/>
        </p:nvSpPr>
        <p:spPr>
          <a:xfrm>
            <a:off x="181228" y="6077720"/>
            <a:ext cx="8057515" cy="430887"/>
          </a:xfrm>
          <a:prstGeom prst="rect">
            <a:avLst/>
          </a:prstGeom>
          <a:noFill/>
        </p:spPr>
        <p:txBody>
          <a:bodyPr wrap="square" rtlCol="0">
            <a:spAutoFit/>
          </a:bodyPr>
          <a:lstStyle/>
          <a:p>
            <a:r>
              <a:rPr lang="zh-CN" altLang="en-US" sz="1100" dirty="0">
                <a:latin typeface="+mn-ea"/>
              </a:rPr>
              <a:t>在</a:t>
            </a:r>
            <a:r>
              <a:rPr lang="en-US" altLang="zh-CN" sz="1100" dirty="0">
                <a:latin typeface="+mn-ea"/>
              </a:rPr>
              <a:t>95%</a:t>
            </a:r>
            <a:r>
              <a:rPr lang="zh-CN" altLang="en-US" sz="1100" dirty="0">
                <a:latin typeface="+mn-ea"/>
              </a:rPr>
              <a:t>置信水平下，某品牌入店前沟通得分显著低于竞品；某品牌试乘试驾得分显著低于竞品。</a:t>
            </a:r>
          </a:p>
          <a:p>
            <a:endParaRPr lang="zh-CN" altLang="en-US" sz="1100" dirty="0">
              <a:latin typeface="+mn-ea"/>
            </a:endParaRPr>
          </a:p>
        </p:txBody>
      </p:sp>
    </p:spTree>
    <p:extLst>
      <p:ext uri="{BB962C8B-B14F-4D97-AF65-F5344CB8AC3E}">
        <p14:creationId xmlns:p14="http://schemas.microsoft.com/office/powerpoint/2010/main" val="8029097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a:extLst>
              <a:ext uri="{FF2B5EF4-FFF2-40B4-BE49-F238E27FC236}">
                <a16:creationId xmlns:a16="http://schemas.microsoft.com/office/drawing/2014/main" id="{0CF41767-0BB3-0D76-0875-1B597DF37DAD}"/>
              </a:ext>
            </a:extLst>
          </p:cNvPr>
          <p:cNvGraphicFramePr>
            <a:graphicFrameLocks noGrp="1"/>
          </p:cNvGraphicFramePr>
          <p:nvPr/>
        </p:nvGraphicFramePr>
        <p:xfrm>
          <a:off x="315706" y="2448386"/>
          <a:ext cx="11494492" cy="3254865"/>
        </p:xfrm>
        <a:graphic>
          <a:graphicData uri="http://schemas.openxmlformats.org/drawingml/2006/table">
            <a:tbl>
              <a:tblPr firstRow="1" bandRow="1">
                <a:tableStyleId>{5C22544A-7EE6-4342-B048-85BDC9FD1C3A}</a:tableStyleId>
              </a:tblPr>
              <a:tblGrid>
                <a:gridCol w="993330">
                  <a:extLst>
                    <a:ext uri="{9D8B030D-6E8A-4147-A177-3AD203B41FA5}">
                      <a16:colId xmlns:a16="http://schemas.microsoft.com/office/drawing/2014/main" val="4190416729"/>
                    </a:ext>
                  </a:extLst>
                </a:gridCol>
                <a:gridCol w="471638">
                  <a:extLst>
                    <a:ext uri="{9D8B030D-6E8A-4147-A177-3AD203B41FA5}">
                      <a16:colId xmlns:a16="http://schemas.microsoft.com/office/drawing/2014/main" val="3899653991"/>
                    </a:ext>
                  </a:extLst>
                </a:gridCol>
                <a:gridCol w="5005137">
                  <a:extLst>
                    <a:ext uri="{9D8B030D-6E8A-4147-A177-3AD203B41FA5}">
                      <a16:colId xmlns:a16="http://schemas.microsoft.com/office/drawing/2014/main" val="3632989026"/>
                    </a:ext>
                  </a:extLst>
                </a:gridCol>
                <a:gridCol w="4023360">
                  <a:extLst>
                    <a:ext uri="{9D8B030D-6E8A-4147-A177-3AD203B41FA5}">
                      <a16:colId xmlns:a16="http://schemas.microsoft.com/office/drawing/2014/main" val="628068942"/>
                    </a:ext>
                  </a:extLst>
                </a:gridCol>
                <a:gridCol w="1001027">
                  <a:extLst>
                    <a:ext uri="{9D8B030D-6E8A-4147-A177-3AD203B41FA5}">
                      <a16:colId xmlns:a16="http://schemas.microsoft.com/office/drawing/2014/main" val="666084063"/>
                    </a:ext>
                  </a:extLst>
                </a:gridCol>
              </a:tblGrid>
              <a:tr h="3254865">
                <a:tc>
                  <a:txBody>
                    <a:bodyPr/>
                    <a:lstStyle/>
                    <a:p>
                      <a:pPr algn="ctr"/>
                      <a:r>
                        <a:rPr lang="zh-CN" altLang="en-US" sz="900" dirty="0">
                          <a:solidFill>
                            <a:schemeClr val="tx1"/>
                          </a:solidFill>
                        </a:rPr>
                        <a:t> 入店前沟通</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6">
                        <a:lumMod val="60000"/>
                        <a:lumOff val="40000"/>
                      </a:schemeClr>
                    </a:solidFill>
                  </a:tcPr>
                </a:tc>
                <a:tc>
                  <a:txBody>
                    <a:bodyPr/>
                    <a:lstStyle/>
                    <a:p>
                      <a:pPr algn="ctr"/>
                      <a:r>
                        <a:rPr lang="zh-CN" altLang="en-US" sz="900" dirty="0">
                          <a:solidFill>
                            <a:schemeClr val="tx1"/>
                          </a:solidFill>
                        </a:rPr>
                        <a:t> </a:t>
                      </a:r>
                      <a:r>
                        <a:rPr lang="zh-CN" altLang="en-US" sz="800" dirty="0">
                          <a:solidFill>
                            <a:schemeClr val="tx1"/>
                          </a:solidFill>
                        </a:rPr>
                        <a:t>到店接待</a:t>
                      </a:r>
                      <a:endParaRPr lang="zh-CN" altLang="en-US" sz="900"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6">
                        <a:lumMod val="40000"/>
                        <a:lumOff val="60000"/>
                      </a:schemeClr>
                    </a:solidFill>
                  </a:tcPr>
                </a:tc>
                <a:tc>
                  <a:txBody>
                    <a:bodyPr/>
                    <a:lstStyle/>
                    <a:p>
                      <a:pPr algn="ctr"/>
                      <a:r>
                        <a:rPr lang="zh-CN" altLang="en-US" sz="900" dirty="0">
                          <a:solidFill>
                            <a:schemeClr val="tx1"/>
                          </a:solidFill>
                        </a:rPr>
                        <a:t> 店内看车</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6">
                        <a:lumMod val="20000"/>
                        <a:lumOff val="80000"/>
                      </a:schemeClr>
                    </a:solidFill>
                  </a:tcPr>
                </a:tc>
                <a:tc>
                  <a:txBody>
                    <a:bodyPr/>
                    <a:lstStyle/>
                    <a:p>
                      <a:pPr algn="ctr"/>
                      <a:r>
                        <a:rPr lang="zh-CN" altLang="en-US" sz="900" dirty="0">
                          <a:solidFill>
                            <a:schemeClr val="tx1"/>
                          </a:solidFill>
                        </a:rPr>
                        <a:t> 试乘试驾</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algn="ctr"/>
                      <a:r>
                        <a:rPr lang="zh-CN" altLang="en-US" sz="900" dirty="0">
                          <a:solidFill>
                            <a:schemeClr val="tx1"/>
                          </a:solidFill>
                        </a:rPr>
                        <a:t> 送别与回访</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4024662622"/>
                  </a:ext>
                </a:extLst>
              </a:tr>
            </a:tbl>
          </a:graphicData>
        </a:graphic>
      </p:graphicFrame>
      <p:graphicFrame>
        <p:nvGraphicFramePr>
          <p:cNvPr id="3" name="图表 2">
            <a:extLst>
              <a:ext uri="{FF2B5EF4-FFF2-40B4-BE49-F238E27FC236}">
                <a16:creationId xmlns:a16="http://schemas.microsoft.com/office/drawing/2014/main" id="{74E6B0B1-DB84-5FEF-B5B2-D141CA5EB740}"/>
              </a:ext>
            </a:extLst>
          </p:cNvPr>
          <p:cNvGraphicFramePr/>
          <p:nvPr/>
        </p:nvGraphicFramePr>
        <p:xfrm>
          <a:off x="261026" y="2673349"/>
          <a:ext cx="12155563" cy="2978197"/>
        </p:xfrm>
        <a:graphic>
          <a:graphicData uri="http://schemas.openxmlformats.org/drawingml/2006/chart">
            <c:chart xmlns:c="http://schemas.openxmlformats.org/drawingml/2006/chart" xmlns:r="http://schemas.openxmlformats.org/officeDocument/2006/relationships" r:id="rId2"/>
          </a:graphicData>
        </a:graphic>
      </p:graphicFrame>
      <p:sp>
        <p:nvSpPr>
          <p:cNvPr id="23" name="文本占位符 22">
            <a:extLst>
              <a:ext uri="{FF2B5EF4-FFF2-40B4-BE49-F238E27FC236}">
                <a16:creationId xmlns:a16="http://schemas.microsoft.com/office/drawing/2014/main" id="{D9EEDFE3-4BB1-B1E5-274A-BA7EF5B3437B}"/>
              </a:ext>
            </a:extLst>
          </p:cNvPr>
          <p:cNvSpPr>
            <a:spLocks noGrp="1"/>
          </p:cNvSpPr>
          <p:nvPr>
            <p:ph type="body" sz="quarter" idx="14"/>
          </p:nvPr>
        </p:nvSpPr>
        <p:spPr/>
        <p:txBody>
          <a:bodyPr/>
          <a:lstStyle/>
          <a:p>
            <a:endParaRPr lang="zh-CN" altLang="en-US"/>
          </a:p>
        </p:txBody>
      </p:sp>
      <p:sp>
        <p:nvSpPr>
          <p:cNvPr id="2" name="文本占位符 1">
            <a:extLst>
              <a:ext uri="{FF2B5EF4-FFF2-40B4-BE49-F238E27FC236}">
                <a16:creationId xmlns:a16="http://schemas.microsoft.com/office/drawing/2014/main" id="{9F10B788-B8C3-1418-A03F-B548D74FBAED}"/>
              </a:ext>
            </a:extLst>
          </p:cNvPr>
          <p:cNvSpPr>
            <a:spLocks noGrp="1"/>
          </p:cNvSpPr>
          <p:nvPr>
            <p:ph type="body" sz="quarter" idx="21"/>
          </p:nvPr>
        </p:nvSpPr>
        <p:spPr/>
        <p:txBody>
          <a:bodyPr/>
          <a:lstStyle/>
          <a:p>
            <a:r>
              <a:rPr kumimoji="1" lang="en-US" altLang="zh-CN" dirty="0">
                <a:latin typeface="+mn-ea"/>
                <a:ea typeface="+mn-ea"/>
              </a:rPr>
              <a:t>2.4 </a:t>
            </a:r>
            <a:r>
              <a:rPr kumimoji="1" lang="zh-CN" altLang="en-US" dirty="0">
                <a:latin typeface="+mn-ea"/>
                <a:ea typeface="+mn-ea"/>
              </a:rPr>
              <a:t>犹豫用户分析 </a:t>
            </a:r>
            <a:r>
              <a:rPr kumimoji="1" lang="en-US" altLang="zh-CN" dirty="0">
                <a:latin typeface="+mn-ea"/>
                <a:ea typeface="+mn-ea"/>
              </a:rPr>
              <a:t>– </a:t>
            </a:r>
            <a:r>
              <a:rPr lang="zh-CN" altLang="en-US" dirty="0"/>
              <a:t>要素得分</a:t>
            </a:r>
          </a:p>
        </p:txBody>
      </p:sp>
      <p:sp>
        <p:nvSpPr>
          <p:cNvPr id="8" name="文本占位符 7">
            <a:extLst>
              <a:ext uri="{FF2B5EF4-FFF2-40B4-BE49-F238E27FC236}">
                <a16:creationId xmlns:a16="http://schemas.microsoft.com/office/drawing/2014/main" id="{0792E2E5-D3CF-1DDF-0F12-D2E9538B0779}"/>
              </a:ext>
            </a:extLst>
          </p:cNvPr>
          <p:cNvSpPr>
            <a:spLocks noGrp="1"/>
          </p:cNvSpPr>
          <p:nvPr>
            <p:ph type="body" sz="quarter" idx="22"/>
          </p:nvPr>
        </p:nvSpPr>
        <p:spPr/>
        <p:txBody>
          <a:bodyPr/>
          <a:lstStyle/>
          <a:p>
            <a:pPr>
              <a:lnSpc>
                <a:spcPct val="100000"/>
              </a:lnSpc>
              <a:spcBef>
                <a:spcPts val="0"/>
              </a:spcBef>
            </a:pPr>
            <a:r>
              <a:rPr lang="zh-CN" altLang="en-US" dirty="0">
                <a:latin typeface="+mn-ea"/>
                <a:ea typeface="+mn-ea"/>
              </a:rPr>
              <a:t>某品牌劣势相对是咨询过程专业度，销售顾问对需求理解和针对性推荐，试驾结束后持续服务</a:t>
            </a:r>
          </a:p>
        </p:txBody>
      </p:sp>
      <p:sp>
        <p:nvSpPr>
          <p:cNvPr id="5" name="灯片编号占位符 4">
            <a:extLst>
              <a:ext uri="{FF2B5EF4-FFF2-40B4-BE49-F238E27FC236}">
                <a16:creationId xmlns:a16="http://schemas.microsoft.com/office/drawing/2014/main" id="{55D015F0-0EF6-45D2-D0D0-C8EE67B94881}"/>
              </a:ext>
            </a:extLst>
          </p:cNvPr>
          <p:cNvSpPr>
            <a:spLocks noGrp="1"/>
          </p:cNvSpPr>
          <p:nvPr>
            <p:ph type="sldNum" sz="quarter" idx="4"/>
          </p:nvPr>
        </p:nvSpPr>
        <p:spPr/>
        <p:txBody>
          <a:bodyPr/>
          <a:lstStyle/>
          <a:p>
            <a:fld id="{04824671-56D2-5D44-834F-250C3DA554E9}" type="slidenum">
              <a:rPr lang="zh-CN" altLang="en-US" smtClean="0"/>
              <a:t>43</a:t>
            </a:fld>
            <a:endParaRPr lang="zh-CN" altLang="en-US" dirty="0"/>
          </a:p>
        </p:txBody>
      </p:sp>
      <p:sp>
        <p:nvSpPr>
          <p:cNvPr id="4" name="文本框 3">
            <a:extLst>
              <a:ext uri="{FF2B5EF4-FFF2-40B4-BE49-F238E27FC236}">
                <a16:creationId xmlns:a16="http://schemas.microsoft.com/office/drawing/2014/main" id="{FAB16A22-F3BA-7091-B52D-BE6D4883BE20}"/>
              </a:ext>
            </a:extLst>
          </p:cNvPr>
          <p:cNvSpPr txBox="1"/>
          <p:nvPr/>
        </p:nvSpPr>
        <p:spPr>
          <a:xfrm>
            <a:off x="261026" y="2078180"/>
            <a:ext cx="11589477" cy="307777"/>
          </a:xfrm>
          <a:prstGeom prst="rect">
            <a:avLst/>
          </a:prstGeom>
          <a:solidFill>
            <a:srgbClr val="1B9538"/>
          </a:solidFill>
        </p:spPr>
        <p:txBody>
          <a:bodyPr wrap="square" rtlCol="0">
            <a:spAutoFit/>
          </a:bodyPr>
          <a:lstStyle/>
          <a:p>
            <a:pPr algn="ctr"/>
            <a:r>
              <a:rPr lang="zh-CN" altLang="en-US" sz="1400" b="1" dirty="0">
                <a:solidFill>
                  <a:schemeClr val="bg1"/>
                </a:solidFill>
                <a:latin typeface="微软雅黑" panose="020B0503020204020204" pitchFamily="34" charset="-122"/>
                <a:ea typeface="Alibaba PuHuiTi 2.0 55 Regular"/>
              </a:rPr>
              <a:t>某品牌和竞品满意度</a:t>
            </a:r>
          </a:p>
        </p:txBody>
      </p:sp>
      <p:graphicFrame>
        <p:nvGraphicFramePr>
          <p:cNvPr id="15" name="表格 14">
            <a:extLst>
              <a:ext uri="{FF2B5EF4-FFF2-40B4-BE49-F238E27FC236}">
                <a16:creationId xmlns:a16="http://schemas.microsoft.com/office/drawing/2014/main" id="{BBAB0E0F-5E79-BF14-E689-5201E6BF9FC8}"/>
              </a:ext>
            </a:extLst>
          </p:cNvPr>
          <p:cNvGraphicFramePr>
            <a:graphicFrameLocks noGrp="1"/>
          </p:cNvGraphicFramePr>
          <p:nvPr/>
        </p:nvGraphicFramePr>
        <p:xfrm>
          <a:off x="304800" y="5703252"/>
          <a:ext cx="11494480" cy="332272"/>
        </p:xfrm>
        <a:graphic>
          <a:graphicData uri="http://schemas.openxmlformats.org/drawingml/2006/table">
            <a:tbl>
              <a:tblPr firstRow="1" bandRow="1">
                <a:tableStyleId>{5C22544A-7EE6-4342-B048-85BDC9FD1C3A}</a:tableStyleId>
              </a:tblPr>
              <a:tblGrid>
                <a:gridCol w="499760">
                  <a:extLst>
                    <a:ext uri="{9D8B030D-6E8A-4147-A177-3AD203B41FA5}">
                      <a16:colId xmlns:a16="http://schemas.microsoft.com/office/drawing/2014/main" val="2823740596"/>
                    </a:ext>
                  </a:extLst>
                </a:gridCol>
                <a:gridCol w="499760">
                  <a:extLst>
                    <a:ext uri="{9D8B030D-6E8A-4147-A177-3AD203B41FA5}">
                      <a16:colId xmlns:a16="http://schemas.microsoft.com/office/drawing/2014/main" val="2442210773"/>
                    </a:ext>
                  </a:extLst>
                </a:gridCol>
                <a:gridCol w="499760">
                  <a:extLst>
                    <a:ext uri="{9D8B030D-6E8A-4147-A177-3AD203B41FA5}">
                      <a16:colId xmlns:a16="http://schemas.microsoft.com/office/drawing/2014/main" val="553136752"/>
                    </a:ext>
                  </a:extLst>
                </a:gridCol>
                <a:gridCol w="499760">
                  <a:extLst>
                    <a:ext uri="{9D8B030D-6E8A-4147-A177-3AD203B41FA5}">
                      <a16:colId xmlns:a16="http://schemas.microsoft.com/office/drawing/2014/main" val="271276945"/>
                    </a:ext>
                  </a:extLst>
                </a:gridCol>
                <a:gridCol w="499760">
                  <a:extLst>
                    <a:ext uri="{9D8B030D-6E8A-4147-A177-3AD203B41FA5}">
                      <a16:colId xmlns:a16="http://schemas.microsoft.com/office/drawing/2014/main" val="3731974136"/>
                    </a:ext>
                  </a:extLst>
                </a:gridCol>
                <a:gridCol w="499760">
                  <a:extLst>
                    <a:ext uri="{9D8B030D-6E8A-4147-A177-3AD203B41FA5}">
                      <a16:colId xmlns:a16="http://schemas.microsoft.com/office/drawing/2014/main" val="3256047488"/>
                    </a:ext>
                  </a:extLst>
                </a:gridCol>
                <a:gridCol w="499760">
                  <a:extLst>
                    <a:ext uri="{9D8B030D-6E8A-4147-A177-3AD203B41FA5}">
                      <a16:colId xmlns:a16="http://schemas.microsoft.com/office/drawing/2014/main" val="1002508164"/>
                    </a:ext>
                  </a:extLst>
                </a:gridCol>
                <a:gridCol w="499760">
                  <a:extLst>
                    <a:ext uri="{9D8B030D-6E8A-4147-A177-3AD203B41FA5}">
                      <a16:colId xmlns:a16="http://schemas.microsoft.com/office/drawing/2014/main" val="2966597460"/>
                    </a:ext>
                  </a:extLst>
                </a:gridCol>
                <a:gridCol w="499760">
                  <a:extLst>
                    <a:ext uri="{9D8B030D-6E8A-4147-A177-3AD203B41FA5}">
                      <a16:colId xmlns:a16="http://schemas.microsoft.com/office/drawing/2014/main" val="228622395"/>
                    </a:ext>
                  </a:extLst>
                </a:gridCol>
                <a:gridCol w="499760">
                  <a:extLst>
                    <a:ext uri="{9D8B030D-6E8A-4147-A177-3AD203B41FA5}">
                      <a16:colId xmlns:a16="http://schemas.microsoft.com/office/drawing/2014/main" val="1383909732"/>
                    </a:ext>
                  </a:extLst>
                </a:gridCol>
                <a:gridCol w="499760">
                  <a:extLst>
                    <a:ext uri="{9D8B030D-6E8A-4147-A177-3AD203B41FA5}">
                      <a16:colId xmlns:a16="http://schemas.microsoft.com/office/drawing/2014/main" val="510725710"/>
                    </a:ext>
                  </a:extLst>
                </a:gridCol>
                <a:gridCol w="499760">
                  <a:extLst>
                    <a:ext uri="{9D8B030D-6E8A-4147-A177-3AD203B41FA5}">
                      <a16:colId xmlns:a16="http://schemas.microsoft.com/office/drawing/2014/main" val="18513713"/>
                    </a:ext>
                  </a:extLst>
                </a:gridCol>
                <a:gridCol w="499760">
                  <a:extLst>
                    <a:ext uri="{9D8B030D-6E8A-4147-A177-3AD203B41FA5}">
                      <a16:colId xmlns:a16="http://schemas.microsoft.com/office/drawing/2014/main" val="3630061233"/>
                    </a:ext>
                  </a:extLst>
                </a:gridCol>
                <a:gridCol w="499760">
                  <a:extLst>
                    <a:ext uri="{9D8B030D-6E8A-4147-A177-3AD203B41FA5}">
                      <a16:colId xmlns:a16="http://schemas.microsoft.com/office/drawing/2014/main" val="239909375"/>
                    </a:ext>
                  </a:extLst>
                </a:gridCol>
                <a:gridCol w="499760">
                  <a:extLst>
                    <a:ext uri="{9D8B030D-6E8A-4147-A177-3AD203B41FA5}">
                      <a16:colId xmlns:a16="http://schemas.microsoft.com/office/drawing/2014/main" val="3798122669"/>
                    </a:ext>
                  </a:extLst>
                </a:gridCol>
                <a:gridCol w="499760">
                  <a:extLst>
                    <a:ext uri="{9D8B030D-6E8A-4147-A177-3AD203B41FA5}">
                      <a16:colId xmlns:a16="http://schemas.microsoft.com/office/drawing/2014/main" val="3514649848"/>
                    </a:ext>
                  </a:extLst>
                </a:gridCol>
                <a:gridCol w="499760">
                  <a:extLst>
                    <a:ext uri="{9D8B030D-6E8A-4147-A177-3AD203B41FA5}">
                      <a16:colId xmlns:a16="http://schemas.microsoft.com/office/drawing/2014/main" val="1246911294"/>
                    </a:ext>
                  </a:extLst>
                </a:gridCol>
                <a:gridCol w="499760">
                  <a:extLst>
                    <a:ext uri="{9D8B030D-6E8A-4147-A177-3AD203B41FA5}">
                      <a16:colId xmlns:a16="http://schemas.microsoft.com/office/drawing/2014/main" val="4171352973"/>
                    </a:ext>
                  </a:extLst>
                </a:gridCol>
                <a:gridCol w="499760">
                  <a:extLst>
                    <a:ext uri="{9D8B030D-6E8A-4147-A177-3AD203B41FA5}">
                      <a16:colId xmlns:a16="http://schemas.microsoft.com/office/drawing/2014/main" val="1528244757"/>
                    </a:ext>
                  </a:extLst>
                </a:gridCol>
                <a:gridCol w="499760">
                  <a:extLst>
                    <a:ext uri="{9D8B030D-6E8A-4147-A177-3AD203B41FA5}">
                      <a16:colId xmlns:a16="http://schemas.microsoft.com/office/drawing/2014/main" val="1050018950"/>
                    </a:ext>
                  </a:extLst>
                </a:gridCol>
                <a:gridCol w="499760">
                  <a:extLst>
                    <a:ext uri="{9D8B030D-6E8A-4147-A177-3AD203B41FA5}">
                      <a16:colId xmlns:a16="http://schemas.microsoft.com/office/drawing/2014/main" val="1461410333"/>
                    </a:ext>
                  </a:extLst>
                </a:gridCol>
                <a:gridCol w="499760">
                  <a:extLst>
                    <a:ext uri="{9D8B030D-6E8A-4147-A177-3AD203B41FA5}">
                      <a16:colId xmlns:a16="http://schemas.microsoft.com/office/drawing/2014/main" val="3627902571"/>
                    </a:ext>
                  </a:extLst>
                </a:gridCol>
                <a:gridCol w="499760">
                  <a:extLst>
                    <a:ext uri="{9D8B030D-6E8A-4147-A177-3AD203B41FA5}">
                      <a16:colId xmlns:a16="http://schemas.microsoft.com/office/drawing/2014/main" val="702049497"/>
                    </a:ext>
                  </a:extLst>
                </a:gridCol>
              </a:tblGrid>
              <a:tr h="332272">
                <a:tc>
                  <a:txBody>
                    <a:bodyPr/>
                    <a:lstStyle/>
                    <a:p>
                      <a:pPr algn="ctr" fontAlgn="ctr"/>
                      <a:r>
                        <a:rPr lang="en-US" altLang="zh-CN" sz="1100" b="1" i="0" u="none" strike="noStrike" dirty="0">
                          <a:solidFill>
                            <a:srgbClr val="FF0000"/>
                          </a:solidFill>
                          <a:effectLst/>
                          <a:latin typeface="+mn-ea"/>
                          <a:ea typeface="+mn-ea"/>
                        </a:rPr>
                        <a:t>-18.5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a:solidFill>
                            <a:srgbClr val="000000"/>
                          </a:solidFill>
                          <a:effectLst/>
                          <a:latin typeface="+mn-ea"/>
                          <a:ea typeface="+mn-ea"/>
                        </a:rPr>
                        <a:t>-0.2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dirty="0">
                          <a:solidFill>
                            <a:srgbClr val="000000"/>
                          </a:solidFill>
                          <a:effectLst/>
                          <a:latin typeface="+mn-ea"/>
                          <a:ea typeface="+mn-ea"/>
                        </a:rPr>
                        <a:t>-4.7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a:solidFill>
                            <a:srgbClr val="000000"/>
                          </a:solidFill>
                          <a:effectLst/>
                          <a:latin typeface="+mn-ea"/>
                          <a:ea typeface="+mn-ea"/>
                        </a:rPr>
                        <a:t>-2.5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1" i="0" u="none" strike="noStrike" dirty="0">
                          <a:solidFill>
                            <a:srgbClr val="FF0000"/>
                          </a:solidFill>
                          <a:effectLst/>
                          <a:latin typeface="+mn-ea"/>
                          <a:ea typeface="+mn-ea"/>
                        </a:rPr>
                        <a:t>-15.4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a:solidFill>
                            <a:srgbClr val="000000"/>
                          </a:solidFill>
                          <a:effectLst/>
                          <a:latin typeface="+mn-ea"/>
                          <a:ea typeface="+mn-ea"/>
                        </a:rPr>
                        <a:t>-3.1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dirty="0">
                          <a:solidFill>
                            <a:srgbClr val="000000"/>
                          </a:solidFill>
                          <a:effectLst/>
                          <a:latin typeface="+mn-ea"/>
                          <a:ea typeface="+mn-ea"/>
                        </a:rPr>
                        <a:t>-6.1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a:solidFill>
                            <a:srgbClr val="000000"/>
                          </a:solidFill>
                          <a:effectLst/>
                          <a:latin typeface="+mn-ea"/>
                          <a:ea typeface="+mn-ea"/>
                        </a:rPr>
                        <a:t>-0.3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a:solidFill>
                            <a:srgbClr val="000000"/>
                          </a:solidFill>
                          <a:effectLst/>
                          <a:latin typeface="+mn-ea"/>
                          <a:ea typeface="+mn-ea"/>
                        </a:rPr>
                        <a:t>-8.5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dirty="0">
                          <a:solidFill>
                            <a:srgbClr val="000000"/>
                          </a:solidFill>
                          <a:effectLst/>
                          <a:latin typeface="+mn-ea"/>
                          <a:ea typeface="+mn-ea"/>
                        </a:rPr>
                        <a:t>2.8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a:solidFill>
                            <a:srgbClr val="000000"/>
                          </a:solidFill>
                          <a:effectLst/>
                          <a:latin typeface="+mn-ea"/>
                          <a:ea typeface="+mn-ea"/>
                        </a:rPr>
                        <a:t>10.6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a:solidFill>
                            <a:srgbClr val="000000"/>
                          </a:solidFill>
                          <a:effectLst/>
                          <a:latin typeface="+mn-ea"/>
                          <a:ea typeface="+mn-ea"/>
                        </a:rPr>
                        <a:t>9.9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a:solidFill>
                            <a:srgbClr val="000000"/>
                          </a:solidFill>
                          <a:effectLst/>
                          <a:latin typeface="+mn-ea"/>
                          <a:ea typeface="+mn-ea"/>
                        </a:rPr>
                        <a:t>2.5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dirty="0">
                          <a:solidFill>
                            <a:srgbClr val="000000"/>
                          </a:solidFill>
                          <a:effectLst/>
                          <a:latin typeface="+mn-ea"/>
                          <a:ea typeface="+mn-ea"/>
                        </a:rPr>
                        <a:t>1.2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a:solidFill>
                            <a:srgbClr val="000000"/>
                          </a:solidFill>
                          <a:effectLst/>
                          <a:latin typeface="+mn-ea"/>
                          <a:ea typeface="+mn-ea"/>
                        </a:rPr>
                        <a:t>-4.1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a:solidFill>
                            <a:srgbClr val="000000"/>
                          </a:solidFill>
                          <a:effectLst/>
                          <a:latin typeface="+mn-ea"/>
                          <a:ea typeface="+mn-ea"/>
                        </a:rPr>
                        <a:t>-1.3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dirty="0">
                          <a:solidFill>
                            <a:srgbClr val="000000"/>
                          </a:solidFill>
                          <a:effectLst/>
                          <a:latin typeface="+mn-ea"/>
                          <a:ea typeface="+mn-ea"/>
                        </a:rPr>
                        <a:t>-7.9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a:solidFill>
                            <a:srgbClr val="000000"/>
                          </a:solidFill>
                          <a:effectLst/>
                          <a:latin typeface="+mn-ea"/>
                          <a:ea typeface="+mn-ea"/>
                        </a:rPr>
                        <a:t>-4.9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dirty="0">
                          <a:solidFill>
                            <a:srgbClr val="000000"/>
                          </a:solidFill>
                          <a:effectLst/>
                          <a:latin typeface="+mn-ea"/>
                          <a:ea typeface="+mn-ea"/>
                        </a:rPr>
                        <a:t>-14.1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0" i="0" u="none" strike="noStrike" dirty="0">
                          <a:solidFill>
                            <a:srgbClr val="000000"/>
                          </a:solidFill>
                          <a:effectLst/>
                          <a:latin typeface="+mn-ea"/>
                          <a:ea typeface="+mn-ea"/>
                        </a:rPr>
                        <a:t>-7.4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zh-CN" sz="1100" b="1" i="0" u="none" strike="noStrike" dirty="0">
                          <a:solidFill>
                            <a:srgbClr val="FF0000"/>
                          </a:solidFill>
                          <a:effectLst/>
                          <a:latin typeface="+mn-ea"/>
                          <a:ea typeface="+mn-ea"/>
                        </a:rPr>
                        <a:t>-8.9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b"/>
                      <a:r>
                        <a:rPr lang="en-US" altLang="zh-CN" sz="1100" b="0" i="0" u="none" strike="noStrike" dirty="0">
                          <a:solidFill>
                            <a:srgbClr val="000000"/>
                          </a:solidFill>
                          <a:effectLst/>
                          <a:latin typeface="+mn-ea"/>
                          <a:ea typeface="+mn-ea"/>
                        </a:rPr>
                        <a:t>-6.5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b"/>
                      <a:r>
                        <a:rPr lang="en-US" altLang="zh-CN" sz="1100" b="0" i="0" u="none" strike="noStrike" dirty="0">
                          <a:solidFill>
                            <a:srgbClr val="000000"/>
                          </a:solidFill>
                          <a:effectLst/>
                          <a:latin typeface="+mn-ea"/>
                          <a:ea typeface="+mn-ea"/>
                        </a:rPr>
                        <a:t>-3.6 </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3933678"/>
                  </a:ext>
                </a:extLst>
              </a:tr>
            </a:tbl>
          </a:graphicData>
        </a:graphic>
      </p:graphicFrame>
    </p:spTree>
    <p:extLst>
      <p:ext uri="{BB962C8B-B14F-4D97-AF65-F5344CB8AC3E}">
        <p14:creationId xmlns:p14="http://schemas.microsoft.com/office/powerpoint/2010/main" val="20288450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表格 11">
            <a:extLst>
              <a:ext uri="{FF2B5EF4-FFF2-40B4-BE49-F238E27FC236}">
                <a16:creationId xmlns:a16="http://schemas.microsoft.com/office/drawing/2014/main" id="{82F12D06-829A-9DB9-603E-8B898E44ADA8}"/>
              </a:ext>
            </a:extLst>
          </p:cNvPr>
          <p:cNvGraphicFramePr>
            <a:graphicFrameLocks noGrp="1"/>
          </p:cNvGraphicFramePr>
          <p:nvPr/>
        </p:nvGraphicFramePr>
        <p:xfrm>
          <a:off x="3982476" y="1873297"/>
          <a:ext cx="7621179" cy="3847019"/>
        </p:xfrm>
        <a:graphic>
          <a:graphicData uri="http://schemas.openxmlformats.org/drawingml/2006/table">
            <a:tbl>
              <a:tblPr firstRow="1" bandRow="1">
                <a:tableStyleId>{5C22544A-7EE6-4342-B048-85BDC9FD1C3A}</a:tableStyleId>
              </a:tblPr>
              <a:tblGrid>
                <a:gridCol w="3183868">
                  <a:extLst>
                    <a:ext uri="{9D8B030D-6E8A-4147-A177-3AD203B41FA5}">
                      <a16:colId xmlns:a16="http://schemas.microsoft.com/office/drawing/2014/main" val="3871825000"/>
                    </a:ext>
                  </a:extLst>
                </a:gridCol>
                <a:gridCol w="4437311">
                  <a:extLst>
                    <a:ext uri="{9D8B030D-6E8A-4147-A177-3AD203B41FA5}">
                      <a16:colId xmlns:a16="http://schemas.microsoft.com/office/drawing/2014/main" val="3652453961"/>
                    </a:ext>
                  </a:extLst>
                </a:gridCol>
              </a:tblGrid>
              <a:tr h="1953114">
                <a:tc>
                  <a:txBody>
                    <a:bodyPr/>
                    <a:lstStyle/>
                    <a:p>
                      <a:r>
                        <a:rPr lang="zh-CN" altLang="en-US" sz="1200" dirty="0">
                          <a:solidFill>
                            <a:schemeClr val="tx1"/>
                          </a:solidFill>
                        </a:rPr>
                        <a:t>弱项</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CD8D0"/>
                    </a:solidFill>
                  </a:tcPr>
                </a:tc>
                <a:tc>
                  <a:txBody>
                    <a:bodyPr/>
                    <a:lstStyle/>
                    <a:p>
                      <a:endParaRPr lang="zh-CN" altLang="en-US" sz="1200" dirty="0">
                        <a:solidFill>
                          <a:schemeClr val="tx1"/>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B4DE86"/>
                    </a:solidFill>
                  </a:tcPr>
                </a:tc>
                <a:extLst>
                  <a:ext uri="{0D108BD9-81ED-4DB2-BD59-A6C34878D82A}">
                    <a16:rowId xmlns:a16="http://schemas.microsoft.com/office/drawing/2014/main" val="4070876479"/>
                  </a:ext>
                </a:extLst>
              </a:tr>
              <a:tr h="1893905">
                <a:tc>
                  <a:txBody>
                    <a:bodyPr/>
                    <a:lstStyle/>
                    <a:p>
                      <a:endParaRPr lang="zh-CN" altLang="en-US" sz="1200" dirty="0">
                        <a:solidFill>
                          <a:schemeClr val="tx1"/>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EECE8"/>
                    </a:solidFill>
                  </a:tcPr>
                </a:tc>
                <a:tc>
                  <a:txBody>
                    <a:bodyPr/>
                    <a:lstStyle/>
                    <a:p>
                      <a:pPr algn="r"/>
                      <a:r>
                        <a:rPr lang="zh-CN" altLang="en-US" sz="1200" b="1" dirty="0">
                          <a:solidFill>
                            <a:schemeClr val="tx1"/>
                          </a:solidFill>
                        </a:rPr>
                        <a:t>强项</a:t>
                      </a: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CAE8AA"/>
                    </a:solidFill>
                  </a:tcPr>
                </a:tc>
                <a:extLst>
                  <a:ext uri="{0D108BD9-81ED-4DB2-BD59-A6C34878D82A}">
                    <a16:rowId xmlns:a16="http://schemas.microsoft.com/office/drawing/2014/main" val="1321191454"/>
                  </a:ext>
                </a:extLst>
              </a:tr>
            </a:tbl>
          </a:graphicData>
        </a:graphic>
      </p:graphicFrame>
      <p:graphicFrame>
        <p:nvGraphicFramePr>
          <p:cNvPr id="10" name="图表 9">
            <a:extLst>
              <a:ext uri="{FF2B5EF4-FFF2-40B4-BE49-F238E27FC236}">
                <a16:creationId xmlns:a16="http://schemas.microsoft.com/office/drawing/2014/main" id="{02E06ECB-DCC5-8009-3BD6-97DECBE470DF}"/>
              </a:ext>
            </a:extLst>
          </p:cNvPr>
          <p:cNvGraphicFramePr/>
          <p:nvPr>
            <p:extLst>
              <p:ext uri="{D42A27DB-BD31-4B8C-83A1-F6EECF244321}">
                <p14:modId xmlns:p14="http://schemas.microsoft.com/office/powerpoint/2010/main" val="2853401483"/>
              </p:ext>
            </p:extLst>
          </p:nvPr>
        </p:nvGraphicFramePr>
        <p:xfrm>
          <a:off x="3718560" y="1706385"/>
          <a:ext cx="8128000" cy="4186429"/>
        </p:xfrm>
        <a:graphic>
          <a:graphicData uri="http://schemas.openxmlformats.org/drawingml/2006/chart">
            <c:chart xmlns:c="http://schemas.openxmlformats.org/drawingml/2006/chart" xmlns:r="http://schemas.openxmlformats.org/officeDocument/2006/relationships" r:id="rId2"/>
          </a:graphicData>
        </a:graphic>
      </p:graphicFrame>
      <p:sp>
        <p:nvSpPr>
          <p:cNvPr id="2" name="文本占位符 1">
            <a:extLst>
              <a:ext uri="{FF2B5EF4-FFF2-40B4-BE49-F238E27FC236}">
                <a16:creationId xmlns:a16="http://schemas.microsoft.com/office/drawing/2014/main" id="{2ADACD32-7B90-F3E8-EDEB-42EFEF920535}"/>
              </a:ext>
            </a:extLst>
          </p:cNvPr>
          <p:cNvSpPr>
            <a:spLocks noGrp="1"/>
          </p:cNvSpPr>
          <p:nvPr>
            <p:ph type="body" sz="quarter" idx="21"/>
          </p:nvPr>
        </p:nvSpPr>
        <p:spPr/>
        <p:txBody>
          <a:bodyPr/>
          <a:lstStyle/>
          <a:p>
            <a:r>
              <a:rPr kumimoji="1" lang="en-US" altLang="zh-CN" dirty="0">
                <a:latin typeface="+mn-ea"/>
                <a:ea typeface="+mn-ea"/>
              </a:rPr>
              <a:t>2.4 </a:t>
            </a:r>
            <a:r>
              <a:rPr kumimoji="1" lang="zh-CN" altLang="en-US" dirty="0">
                <a:latin typeface="+mn-ea"/>
                <a:ea typeface="+mn-ea"/>
              </a:rPr>
              <a:t>犹豫用户分析 </a:t>
            </a:r>
            <a:r>
              <a:rPr kumimoji="1" lang="en-US" altLang="zh-CN" dirty="0">
                <a:latin typeface="+mn-ea"/>
                <a:ea typeface="+mn-ea"/>
              </a:rPr>
              <a:t>– </a:t>
            </a:r>
            <a:r>
              <a:rPr kumimoji="1" lang="zh-CN" altLang="en-US" dirty="0">
                <a:latin typeface="+mn-ea"/>
                <a:ea typeface="+mn-ea"/>
              </a:rPr>
              <a:t>犹豫阶段强弱项分析</a:t>
            </a:r>
            <a:endParaRPr lang="zh-CN" altLang="en-US" dirty="0"/>
          </a:p>
        </p:txBody>
      </p:sp>
      <p:sp>
        <p:nvSpPr>
          <p:cNvPr id="7" name="文本占位符 6">
            <a:extLst>
              <a:ext uri="{FF2B5EF4-FFF2-40B4-BE49-F238E27FC236}">
                <a16:creationId xmlns:a16="http://schemas.microsoft.com/office/drawing/2014/main" id="{09F5C7A4-6E0F-6EBE-8569-6BFDB6582931}"/>
              </a:ext>
            </a:extLst>
          </p:cNvPr>
          <p:cNvSpPr>
            <a:spLocks noGrp="1"/>
          </p:cNvSpPr>
          <p:nvPr>
            <p:ph type="body" sz="quarter" idx="22"/>
          </p:nvPr>
        </p:nvSpPr>
        <p:spPr/>
        <p:txBody>
          <a:bodyPr/>
          <a:lstStyle/>
          <a:p>
            <a:pPr>
              <a:lnSpc>
                <a:spcPct val="100000"/>
              </a:lnSpc>
              <a:spcBef>
                <a:spcPts val="0"/>
              </a:spcBef>
            </a:pPr>
            <a:r>
              <a:rPr lang="zh-CN" altLang="en-US" dirty="0"/>
              <a:t>犹豫用户在</a:t>
            </a:r>
            <a:r>
              <a:rPr lang="zh-CN" altLang="en-US" dirty="0">
                <a:solidFill>
                  <a:srgbClr val="4B8D56"/>
                </a:solidFill>
              </a:rPr>
              <a:t>店内硬件设施</a:t>
            </a:r>
            <a:r>
              <a:rPr lang="zh-CN" altLang="en-US" dirty="0">
                <a:solidFill>
                  <a:schemeClr val="accent2"/>
                </a:solidFill>
                <a:latin typeface="+mn-ea"/>
                <a:ea typeface="+mn-ea"/>
              </a:rPr>
              <a:t>方面体验相对高于竞品均值</a:t>
            </a:r>
            <a:endParaRPr lang="en-US" altLang="zh-CN" dirty="0">
              <a:solidFill>
                <a:schemeClr val="accent2"/>
              </a:solidFill>
              <a:latin typeface="+mn-ea"/>
              <a:ea typeface="+mn-ea"/>
            </a:endParaRPr>
          </a:p>
          <a:p>
            <a:pPr>
              <a:lnSpc>
                <a:spcPct val="100000"/>
              </a:lnSpc>
              <a:spcBef>
                <a:spcPts val="0"/>
              </a:spcBef>
            </a:pPr>
            <a:r>
              <a:rPr lang="zh-CN" altLang="en-US" dirty="0"/>
              <a:t>弱项是</a:t>
            </a:r>
            <a:r>
              <a:rPr lang="zh-CN" altLang="en-US" dirty="0">
                <a:solidFill>
                  <a:srgbClr val="FF0000"/>
                </a:solidFill>
              </a:rPr>
              <a:t>咨询过程专业度</a:t>
            </a:r>
            <a:r>
              <a:rPr lang="zh-CN" altLang="en-US" dirty="0"/>
              <a:t>，</a:t>
            </a:r>
            <a:r>
              <a:rPr lang="zh-CN" altLang="en-US" dirty="0">
                <a:solidFill>
                  <a:srgbClr val="FF0000"/>
                </a:solidFill>
              </a:rPr>
              <a:t>销售顾问对需求理解和针对性推荐，试驾结束后持续服务</a:t>
            </a:r>
          </a:p>
        </p:txBody>
      </p:sp>
      <p:sp>
        <p:nvSpPr>
          <p:cNvPr id="5" name="灯片编号占位符 4">
            <a:extLst>
              <a:ext uri="{FF2B5EF4-FFF2-40B4-BE49-F238E27FC236}">
                <a16:creationId xmlns:a16="http://schemas.microsoft.com/office/drawing/2014/main" id="{71DB8079-8F71-F48E-CF1B-90158D4E5489}"/>
              </a:ext>
            </a:extLst>
          </p:cNvPr>
          <p:cNvSpPr>
            <a:spLocks noGrp="1"/>
          </p:cNvSpPr>
          <p:nvPr>
            <p:ph type="sldNum" sz="quarter" idx="4"/>
          </p:nvPr>
        </p:nvSpPr>
        <p:spPr/>
        <p:txBody>
          <a:bodyPr/>
          <a:lstStyle/>
          <a:p>
            <a:fld id="{04824671-56D2-5D44-834F-250C3DA554E9}" type="slidenum">
              <a:rPr lang="zh-CN" altLang="en-US" smtClean="0"/>
              <a:t>44</a:t>
            </a:fld>
            <a:endParaRPr lang="zh-CN" altLang="en-US" dirty="0"/>
          </a:p>
        </p:txBody>
      </p:sp>
      <p:graphicFrame>
        <p:nvGraphicFramePr>
          <p:cNvPr id="11" name="表格 10">
            <a:extLst>
              <a:ext uri="{FF2B5EF4-FFF2-40B4-BE49-F238E27FC236}">
                <a16:creationId xmlns:a16="http://schemas.microsoft.com/office/drawing/2014/main" id="{C9F396A3-51C9-3777-8BE9-C58F42D28F91}"/>
              </a:ext>
            </a:extLst>
          </p:cNvPr>
          <p:cNvGraphicFramePr>
            <a:graphicFrameLocks noGrp="1"/>
          </p:cNvGraphicFramePr>
          <p:nvPr>
            <p:extLst>
              <p:ext uri="{D42A27DB-BD31-4B8C-83A1-F6EECF244321}">
                <p14:modId xmlns:p14="http://schemas.microsoft.com/office/powerpoint/2010/main" val="4003950636"/>
              </p:ext>
            </p:extLst>
          </p:nvPr>
        </p:nvGraphicFramePr>
        <p:xfrm>
          <a:off x="302943" y="2013881"/>
          <a:ext cx="3436628" cy="3809117"/>
        </p:xfrm>
        <a:graphic>
          <a:graphicData uri="http://schemas.openxmlformats.org/drawingml/2006/table">
            <a:tbl>
              <a:tblPr firstRow="1" bandRow="1">
                <a:tableStyleId>{5C22544A-7EE6-4342-B048-85BDC9FD1C3A}</a:tableStyleId>
              </a:tblPr>
              <a:tblGrid>
                <a:gridCol w="1718314">
                  <a:extLst>
                    <a:ext uri="{9D8B030D-6E8A-4147-A177-3AD203B41FA5}">
                      <a16:colId xmlns:a16="http://schemas.microsoft.com/office/drawing/2014/main" val="1932847663"/>
                    </a:ext>
                  </a:extLst>
                </a:gridCol>
                <a:gridCol w="1718314">
                  <a:extLst>
                    <a:ext uri="{9D8B030D-6E8A-4147-A177-3AD203B41FA5}">
                      <a16:colId xmlns:a16="http://schemas.microsoft.com/office/drawing/2014/main" val="3948654718"/>
                    </a:ext>
                  </a:extLst>
                </a:gridCol>
              </a:tblGrid>
              <a:tr h="424391">
                <a:tc>
                  <a:txBody>
                    <a:bodyPr/>
                    <a:lstStyle/>
                    <a:p>
                      <a:pPr algn="ctr"/>
                      <a:r>
                        <a:rPr lang="zh-CN" altLang="en-US" dirty="0"/>
                        <a:t>相对强项</a:t>
                      </a:r>
                    </a:p>
                  </a:txBody>
                  <a:tcPr anchor="ctr">
                    <a:lnB w="12700" cap="flat" cmpd="sng" algn="ctr">
                      <a:solidFill>
                        <a:schemeClr val="bg1">
                          <a:lumMod val="75000"/>
                        </a:schemeClr>
                      </a:solidFill>
                      <a:prstDash val="solid"/>
                      <a:round/>
                      <a:headEnd type="none" w="med" len="med"/>
                      <a:tailEnd type="none" w="med" len="med"/>
                    </a:lnB>
                    <a:solidFill>
                      <a:srgbClr val="4B8D56"/>
                    </a:solidFill>
                  </a:tcPr>
                </a:tc>
                <a:tc>
                  <a:txBody>
                    <a:bodyPr/>
                    <a:lstStyle/>
                    <a:p>
                      <a:pPr algn="ctr"/>
                      <a:r>
                        <a:rPr lang="zh-CN" altLang="en-US" dirty="0"/>
                        <a:t>相对弱项</a:t>
                      </a:r>
                    </a:p>
                  </a:txBody>
                  <a:tcPr anchor="ctr">
                    <a:lnB w="12700" cap="flat" cmpd="sng" algn="ctr">
                      <a:solidFill>
                        <a:schemeClr val="bg1">
                          <a:lumMod val="75000"/>
                        </a:schemeClr>
                      </a:solidFill>
                      <a:prstDash val="solid"/>
                      <a:round/>
                      <a:headEnd type="none" w="med" len="med"/>
                      <a:tailEnd type="none" w="med" len="med"/>
                    </a:lnB>
                    <a:solidFill>
                      <a:srgbClr val="4B8D56"/>
                    </a:solidFill>
                  </a:tcPr>
                </a:tc>
                <a:extLst>
                  <a:ext uri="{0D108BD9-81ED-4DB2-BD59-A6C34878D82A}">
                    <a16:rowId xmlns:a16="http://schemas.microsoft.com/office/drawing/2014/main" val="442191212"/>
                  </a:ext>
                </a:extLst>
              </a:tr>
              <a:tr h="1128242">
                <a:tc>
                  <a:txBody>
                    <a:bodyPr/>
                    <a:lstStyle/>
                    <a:p>
                      <a:pPr algn="ctr" fontAlgn="b"/>
                      <a:r>
                        <a:rPr lang="zh-CN" altLang="en-US" sz="1200" b="1" i="0" u="none" strike="noStrike" dirty="0">
                          <a:solidFill>
                            <a:schemeClr val="tx1"/>
                          </a:solidFill>
                          <a:effectLst/>
                          <a:latin typeface="+mn-ea"/>
                          <a:ea typeface="+mn-ea"/>
                        </a:rPr>
                        <a:t>店内硬件设施</a:t>
                      </a:r>
                      <a:endParaRPr lang="en-US" altLang="zh-CN" sz="1200" b="1" i="0" u="none" strike="noStrike" dirty="0">
                        <a:solidFill>
                          <a:schemeClr val="tx1"/>
                        </a:solidFill>
                        <a:effectLst/>
                        <a:latin typeface="+mn-ea"/>
                        <a:ea typeface="+mn-ea"/>
                      </a:endParaRPr>
                    </a:p>
                    <a:p>
                      <a:pPr algn="ctr" fontAlgn="b"/>
                      <a:r>
                        <a:rPr lang="zh-CN" altLang="en-US" sz="1100" b="1" i="0" u="none" strike="noStrike" dirty="0">
                          <a:solidFill>
                            <a:schemeClr val="tx1">
                              <a:lumMod val="50000"/>
                              <a:lumOff val="50000"/>
                            </a:schemeClr>
                          </a:solidFill>
                          <a:effectLst/>
                          <a:latin typeface="+mn-ea"/>
                          <a:ea typeface="+mn-ea"/>
                        </a:rPr>
                        <a:t>（显著强于智己）</a:t>
                      </a:r>
                      <a:endParaRPr lang="en-US" altLang="zh-CN" sz="1100" b="1" i="0" u="none" strike="noStrike" dirty="0">
                        <a:solidFill>
                          <a:schemeClr val="tx1">
                            <a:lumMod val="50000"/>
                            <a:lumOff val="50000"/>
                          </a:schemeClr>
                        </a:solidFill>
                        <a:effectLst/>
                        <a:latin typeface="+mn-ea"/>
                        <a:ea typeface="+mn-ea"/>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b"/>
                      <a:r>
                        <a:rPr lang="zh-CN" altLang="en-US" sz="1200" b="1" i="0" u="none" strike="noStrike" dirty="0">
                          <a:solidFill>
                            <a:srgbClr val="C00000"/>
                          </a:solidFill>
                          <a:effectLst/>
                          <a:latin typeface="+mn-ea"/>
                          <a:ea typeface="+mn-ea"/>
                        </a:rPr>
                        <a:t>咨询过程的专业度</a:t>
                      </a:r>
                      <a:endParaRPr lang="en-US" altLang="zh-CN" sz="1200" b="1" i="0" u="none" strike="noStrike" dirty="0">
                        <a:solidFill>
                          <a:srgbClr val="C00000"/>
                        </a:solidFill>
                        <a:effectLst/>
                        <a:latin typeface="+mn-ea"/>
                        <a:ea typeface="+mn-ea"/>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30067773"/>
                  </a:ext>
                </a:extLst>
              </a:tr>
              <a:tr h="1128242">
                <a:tc>
                  <a:txBody>
                    <a:bodyPr/>
                    <a:lstStyle/>
                    <a:p>
                      <a:pPr algn="ctr" fontAlgn="b"/>
                      <a:endParaRPr lang="en-US" altLang="zh-CN" sz="1200" b="1" i="0" u="none" strike="noStrike" dirty="0">
                        <a:solidFill>
                          <a:schemeClr val="tx1"/>
                        </a:solidFill>
                        <a:effectLst/>
                        <a:latin typeface="+mn-ea"/>
                        <a:ea typeface="+mn-ea"/>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b"/>
                      <a:r>
                        <a:rPr lang="zh-CN" altLang="en-US" sz="1200" b="1" i="0" u="none" strike="noStrike" dirty="0">
                          <a:solidFill>
                            <a:srgbClr val="C00000"/>
                          </a:solidFill>
                          <a:effectLst/>
                          <a:latin typeface="+mn-ea"/>
                          <a:ea typeface="+mn-ea"/>
                        </a:rPr>
                        <a:t>销售顾问理解购车需求及针对性的推荐程度</a:t>
                      </a:r>
                      <a:endParaRPr lang="en-US" altLang="zh-CN" sz="1200" b="1" i="0" u="none" strike="noStrike" dirty="0">
                        <a:solidFill>
                          <a:srgbClr val="C00000"/>
                        </a:solidFill>
                        <a:effectLst/>
                        <a:latin typeface="+mn-ea"/>
                        <a:ea typeface="+mn-ea"/>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86892597"/>
                  </a:ext>
                </a:extLst>
              </a:tr>
              <a:tr h="1128242">
                <a:tc>
                  <a:txBody>
                    <a:bodyPr/>
                    <a:lstStyle/>
                    <a:p>
                      <a:pPr algn="ctr" fontAlgn="b"/>
                      <a:endParaRPr lang="zh-CN" altLang="en-US" sz="1200" b="0" i="0" u="none" strike="noStrike" dirty="0">
                        <a:solidFill>
                          <a:srgbClr val="000000"/>
                        </a:solidFill>
                        <a:effectLst/>
                        <a:latin typeface="+mn-ea"/>
                        <a:ea typeface="+mn-ea"/>
                      </a:endParaRP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b"/>
                      <a:r>
                        <a:rPr lang="zh-CN" altLang="en-US" sz="1200" b="1" i="0" u="none" strike="noStrike" dirty="0">
                          <a:solidFill>
                            <a:srgbClr val="C00000"/>
                          </a:solidFill>
                          <a:effectLst/>
                          <a:latin typeface="+mn-ea"/>
                          <a:ea typeface="+mn-ea"/>
                        </a:rPr>
                        <a:t>试驾结束后的持续服务</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6119560"/>
                  </a:ext>
                </a:extLst>
              </a:tr>
            </a:tbl>
          </a:graphicData>
        </a:graphic>
      </p:graphicFrame>
      <p:cxnSp>
        <p:nvCxnSpPr>
          <p:cNvPr id="16" name="直接箭头连接符 15">
            <a:extLst>
              <a:ext uri="{FF2B5EF4-FFF2-40B4-BE49-F238E27FC236}">
                <a16:creationId xmlns:a16="http://schemas.microsoft.com/office/drawing/2014/main" id="{0F5F0B9B-C084-92B4-C43E-4150E3E88876}"/>
              </a:ext>
            </a:extLst>
          </p:cNvPr>
          <p:cNvCxnSpPr/>
          <p:nvPr/>
        </p:nvCxnSpPr>
        <p:spPr>
          <a:xfrm>
            <a:off x="4050791" y="5775790"/>
            <a:ext cx="77957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8ADA9F01-6041-2282-4086-38F055231417}"/>
              </a:ext>
            </a:extLst>
          </p:cNvPr>
          <p:cNvSpPr/>
          <p:nvPr/>
        </p:nvSpPr>
        <p:spPr>
          <a:xfrm>
            <a:off x="9116568" y="5775790"/>
            <a:ext cx="2729992" cy="3707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CN" altLang="en-US" sz="1200" b="1" dirty="0">
                <a:solidFill>
                  <a:schemeClr val="tx1"/>
                </a:solidFill>
              </a:rPr>
              <a:t>某品牌战胜得分差值</a:t>
            </a:r>
          </a:p>
        </p:txBody>
      </p:sp>
      <p:cxnSp>
        <p:nvCxnSpPr>
          <p:cNvPr id="18" name="直接箭头连接符 17">
            <a:extLst>
              <a:ext uri="{FF2B5EF4-FFF2-40B4-BE49-F238E27FC236}">
                <a16:creationId xmlns:a16="http://schemas.microsoft.com/office/drawing/2014/main" id="{2DF0541B-DE87-4E56-1EE6-94843DBE9D7A}"/>
              </a:ext>
            </a:extLst>
          </p:cNvPr>
          <p:cNvCxnSpPr>
            <a:cxnSpLocks/>
          </p:cNvCxnSpPr>
          <p:nvPr/>
        </p:nvCxnSpPr>
        <p:spPr>
          <a:xfrm flipV="1">
            <a:off x="3973970" y="1408176"/>
            <a:ext cx="1" cy="4367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D657766B-40D2-6872-C521-833D96C67A0E}"/>
              </a:ext>
            </a:extLst>
          </p:cNvPr>
          <p:cNvSpPr/>
          <p:nvPr/>
        </p:nvSpPr>
        <p:spPr>
          <a:xfrm>
            <a:off x="2807715" y="1455384"/>
            <a:ext cx="2729992" cy="3707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CN" altLang="en-US" sz="1200" b="1" dirty="0">
                <a:solidFill>
                  <a:schemeClr val="tx1"/>
                </a:solidFill>
              </a:rPr>
              <a:t>某品牌战败得分差值</a:t>
            </a:r>
          </a:p>
        </p:txBody>
      </p:sp>
      <p:sp>
        <p:nvSpPr>
          <p:cNvPr id="13" name="文本框 12">
            <a:extLst>
              <a:ext uri="{FF2B5EF4-FFF2-40B4-BE49-F238E27FC236}">
                <a16:creationId xmlns:a16="http://schemas.microsoft.com/office/drawing/2014/main" id="{9101E9A7-3452-1174-5EC3-6DF424A86BEB}"/>
              </a:ext>
            </a:extLst>
          </p:cNvPr>
          <p:cNvSpPr txBox="1"/>
          <p:nvPr/>
        </p:nvSpPr>
        <p:spPr>
          <a:xfrm>
            <a:off x="263525" y="5865162"/>
            <a:ext cx="6407370" cy="430887"/>
          </a:xfrm>
          <a:prstGeom prst="rect">
            <a:avLst/>
          </a:prstGeom>
          <a:noFill/>
        </p:spPr>
        <p:txBody>
          <a:bodyPr wrap="square" rtlCol="0">
            <a:spAutoFit/>
          </a:bodyPr>
          <a:lstStyle/>
          <a:p>
            <a:r>
              <a:rPr lang="zh-CN" altLang="en-US" sz="1100" dirty="0">
                <a:latin typeface="+mn-ea"/>
              </a:rPr>
              <a:t>在</a:t>
            </a:r>
            <a:r>
              <a:rPr lang="en-US" altLang="zh-CN" sz="1100" dirty="0">
                <a:latin typeface="+mn-ea"/>
              </a:rPr>
              <a:t>95%</a:t>
            </a:r>
            <a:r>
              <a:rPr lang="zh-CN" altLang="en-US" sz="1100" dirty="0">
                <a:latin typeface="+mn-ea"/>
              </a:rPr>
              <a:t>置信水平下，犹豫用户</a:t>
            </a:r>
            <a:r>
              <a:rPr lang="en-US" altLang="zh-CN" sz="1100" dirty="0">
                <a:latin typeface="+mn-ea"/>
              </a:rPr>
              <a:t>3</a:t>
            </a:r>
            <a:r>
              <a:rPr lang="zh-CN" altLang="en-US" sz="1100" dirty="0">
                <a:latin typeface="+mn-ea"/>
              </a:rPr>
              <a:t>个弱项得分显著低于竞品均值；</a:t>
            </a:r>
            <a:r>
              <a:rPr lang="en-US" altLang="zh-CN" sz="1100" dirty="0">
                <a:latin typeface="+mn-ea"/>
              </a:rPr>
              <a:t>2</a:t>
            </a:r>
            <a:r>
              <a:rPr lang="zh-CN" altLang="en-US" sz="1100" dirty="0">
                <a:latin typeface="+mn-ea"/>
              </a:rPr>
              <a:t>个强项与竞品均值相比无显著性差异；</a:t>
            </a:r>
          </a:p>
          <a:p>
            <a:endParaRPr lang="zh-CN" altLang="en-US" sz="1100" dirty="0">
              <a:latin typeface="+mn-ea"/>
            </a:endParaRPr>
          </a:p>
        </p:txBody>
      </p:sp>
    </p:spTree>
    <p:extLst>
      <p:ext uri="{BB962C8B-B14F-4D97-AF65-F5344CB8AC3E}">
        <p14:creationId xmlns:p14="http://schemas.microsoft.com/office/powerpoint/2010/main" val="41395111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82550A0-5A6E-ADC1-4B5E-9FBFF02CF953}"/>
              </a:ext>
            </a:extLst>
          </p:cNvPr>
          <p:cNvSpPr>
            <a:spLocks noGrp="1"/>
          </p:cNvSpPr>
          <p:nvPr>
            <p:ph type="body" sz="quarter" idx="14"/>
          </p:nvPr>
        </p:nvSpPr>
        <p:spPr/>
        <p:txBody>
          <a:bodyPr/>
          <a:lstStyle/>
          <a:p>
            <a:endParaRPr lang="zh-CN" altLang="en-US"/>
          </a:p>
        </p:txBody>
      </p:sp>
      <p:sp>
        <p:nvSpPr>
          <p:cNvPr id="7" name="文本占位符 6">
            <a:extLst>
              <a:ext uri="{FF2B5EF4-FFF2-40B4-BE49-F238E27FC236}">
                <a16:creationId xmlns:a16="http://schemas.microsoft.com/office/drawing/2014/main" id="{DADDE207-ADC8-E124-91B3-68AE020E08FF}"/>
              </a:ext>
            </a:extLst>
          </p:cNvPr>
          <p:cNvSpPr>
            <a:spLocks noGrp="1"/>
          </p:cNvSpPr>
          <p:nvPr>
            <p:ph type="body" sz="quarter" idx="21"/>
          </p:nvPr>
        </p:nvSpPr>
        <p:spPr/>
        <p:txBody>
          <a:bodyPr/>
          <a:lstStyle/>
          <a:p>
            <a:r>
              <a:rPr kumimoji="1" lang="en-US" altLang="zh-CN" dirty="0">
                <a:latin typeface="+mn-ea"/>
                <a:ea typeface="+mn-ea"/>
                <a:sym typeface="+mn-ea"/>
              </a:rPr>
              <a:t>2.5 SSI</a:t>
            </a:r>
            <a:r>
              <a:rPr kumimoji="1" lang="zh-CN" altLang="en-US" dirty="0">
                <a:latin typeface="+mn-ea"/>
                <a:ea typeface="+mn-ea"/>
                <a:sym typeface="+mn-ea"/>
              </a:rPr>
              <a:t>（销售部分）</a:t>
            </a:r>
            <a:r>
              <a:rPr kumimoji="1" lang="en-US" altLang="zh-CN" dirty="0">
                <a:latin typeface="+mn-ea"/>
                <a:ea typeface="+mn-ea"/>
                <a:sym typeface="+mn-ea"/>
              </a:rPr>
              <a:t>-</a:t>
            </a:r>
            <a:r>
              <a:rPr kumimoji="1" lang="zh-CN" altLang="en-US" dirty="0">
                <a:latin typeface="+mn-ea"/>
                <a:ea typeface="+mn-ea"/>
                <a:sym typeface="+mn-ea"/>
              </a:rPr>
              <a:t> 优先改进项汇总</a:t>
            </a:r>
          </a:p>
        </p:txBody>
      </p:sp>
      <p:sp>
        <p:nvSpPr>
          <p:cNvPr id="8" name="文本占位符 7">
            <a:extLst>
              <a:ext uri="{FF2B5EF4-FFF2-40B4-BE49-F238E27FC236}">
                <a16:creationId xmlns:a16="http://schemas.microsoft.com/office/drawing/2014/main" id="{F10FD0C9-CA9B-C6C3-AD45-093265EBB1B6}"/>
              </a:ext>
            </a:extLst>
          </p:cNvPr>
          <p:cNvSpPr>
            <a:spLocks noGrp="1"/>
          </p:cNvSpPr>
          <p:nvPr>
            <p:ph type="body" sz="quarter" idx="22"/>
          </p:nvPr>
        </p:nvSpPr>
        <p:spPr/>
        <p:txBody>
          <a:bodyPr/>
          <a:lstStyle/>
          <a:p>
            <a:pPr marL="0" marR="0" algn="just">
              <a:spcBef>
                <a:spcPts val="0"/>
              </a:spcBef>
              <a:spcAft>
                <a:spcPts val="600"/>
              </a:spcAft>
            </a:pPr>
            <a:r>
              <a:rPr lang="zh-CN" altLang="en-US" kern="100" dirty="0">
                <a:solidFill>
                  <a:schemeClr val="tx1"/>
                </a:solidFill>
                <a:latin typeface="+mn-ea"/>
                <a:ea typeface="+mn-ea"/>
                <a:cs typeface="Times New Roman" panose="02020603050405020304" pitchFamily="18" charset="0"/>
              </a:rPr>
              <a:t>从车主自评角度，战胜战败角度，犹豫用户的角度找出共</a:t>
            </a:r>
            <a:r>
              <a:rPr lang="en-US" altLang="zh-CN" kern="100" dirty="0">
                <a:solidFill>
                  <a:schemeClr val="tx1"/>
                </a:solidFill>
                <a:latin typeface="+mn-ea"/>
                <a:ea typeface="+mn-ea"/>
                <a:cs typeface="Times New Roman" panose="02020603050405020304" pitchFamily="18" charset="0"/>
              </a:rPr>
              <a:t>10</a:t>
            </a:r>
            <a:r>
              <a:rPr lang="zh-CN" altLang="en-US" kern="100" dirty="0">
                <a:solidFill>
                  <a:schemeClr val="tx1"/>
                </a:solidFill>
                <a:latin typeface="+mn-ea"/>
                <a:ea typeface="+mn-ea"/>
                <a:cs typeface="Times New Roman" panose="02020603050405020304" pitchFamily="18" charset="0"/>
              </a:rPr>
              <a:t>个弱项</a:t>
            </a:r>
            <a:endParaRPr lang="en-US" altLang="zh-CN" kern="100" dirty="0">
              <a:solidFill>
                <a:schemeClr val="tx1"/>
              </a:solidFill>
              <a:effectLst/>
              <a:latin typeface="+mn-ea"/>
              <a:ea typeface="+mn-ea"/>
              <a:cs typeface="Times New Roman" panose="02020603050405020304" pitchFamily="18" charset="0"/>
            </a:endParaRPr>
          </a:p>
          <a:p>
            <a:endParaRPr lang="zh-CN" altLang="en-US" dirty="0">
              <a:solidFill>
                <a:schemeClr val="tx1"/>
              </a:solidFill>
              <a:latin typeface="+mn-ea"/>
              <a:ea typeface="+mn-ea"/>
            </a:endParaRPr>
          </a:p>
        </p:txBody>
      </p:sp>
      <p:sp>
        <p:nvSpPr>
          <p:cNvPr id="5" name="灯片编号占位符 4">
            <a:extLst>
              <a:ext uri="{FF2B5EF4-FFF2-40B4-BE49-F238E27FC236}">
                <a16:creationId xmlns:a16="http://schemas.microsoft.com/office/drawing/2014/main" id="{6C4DDD87-5993-DBD7-3824-D3F59D0ADF61}"/>
              </a:ext>
            </a:extLst>
          </p:cNvPr>
          <p:cNvSpPr>
            <a:spLocks noGrp="1"/>
          </p:cNvSpPr>
          <p:nvPr>
            <p:ph type="sldNum" sz="quarter" idx="4"/>
          </p:nvPr>
        </p:nvSpPr>
        <p:spPr/>
        <p:txBody>
          <a:bodyPr/>
          <a:lstStyle/>
          <a:p>
            <a:fld id="{04824671-56D2-5D44-834F-250C3DA554E9}" type="slidenum">
              <a:rPr lang="zh-CN" altLang="en-US" smtClean="0"/>
              <a:t>45</a:t>
            </a:fld>
            <a:endParaRPr lang="zh-CN" altLang="en-US" dirty="0"/>
          </a:p>
        </p:txBody>
      </p:sp>
      <p:graphicFrame>
        <p:nvGraphicFramePr>
          <p:cNvPr id="6" name="表格 5">
            <a:extLst>
              <a:ext uri="{FF2B5EF4-FFF2-40B4-BE49-F238E27FC236}">
                <a16:creationId xmlns:a16="http://schemas.microsoft.com/office/drawing/2014/main" id="{23274D3F-C9E2-01B1-5730-6085AEF80132}"/>
              </a:ext>
            </a:extLst>
          </p:cNvPr>
          <p:cNvGraphicFramePr>
            <a:graphicFrameLocks noGrp="1"/>
          </p:cNvGraphicFramePr>
          <p:nvPr/>
        </p:nvGraphicFramePr>
        <p:xfrm>
          <a:off x="263524" y="1520825"/>
          <a:ext cx="11547560" cy="4793349"/>
        </p:xfrm>
        <a:graphic>
          <a:graphicData uri="http://schemas.openxmlformats.org/drawingml/2006/table">
            <a:tbl>
              <a:tblPr>
                <a:tableStyleId>{5C22544A-7EE6-4342-B048-85BDC9FD1C3A}</a:tableStyleId>
              </a:tblPr>
              <a:tblGrid>
                <a:gridCol w="1113814">
                  <a:extLst>
                    <a:ext uri="{9D8B030D-6E8A-4147-A177-3AD203B41FA5}">
                      <a16:colId xmlns:a16="http://schemas.microsoft.com/office/drawing/2014/main" val="2250779237"/>
                    </a:ext>
                  </a:extLst>
                </a:gridCol>
                <a:gridCol w="2706164">
                  <a:extLst>
                    <a:ext uri="{9D8B030D-6E8A-4147-A177-3AD203B41FA5}">
                      <a16:colId xmlns:a16="http://schemas.microsoft.com/office/drawing/2014/main" val="553779841"/>
                    </a:ext>
                  </a:extLst>
                </a:gridCol>
                <a:gridCol w="1435559">
                  <a:extLst>
                    <a:ext uri="{9D8B030D-6E8A-4147-A177-3AD203B41FA5}">
                      <a16:colId xmlns:a16="http://schemas.microsoft.com/office/drawing/2014/main" val="1272567022"/>
                    </a:ext>
                  </a:extLst>
                </a:gridCol>
                <a:gridCol w="1435559">
                  <a:extLst>
                    <a:ext uri="{9D8B030D-6E8A-4147-A177-3AD203B41FA5}">
                      <a16:colId xmlns:a16="http://schemas.microsoft.com/office/drawing/2014/main" val="2718776074"/>
                    </a:ext>
                  </a:extLst>
                </a:gridCol>
                <a:gridCol w="1435559">
                  <a:extLst>
                    <a:ext uri="{9D8B030D-6E8A-4147-A177-3AD203B41FA5}">
                      <a16:colId xmlns:a16="http://schemas.microsoft.com/office/drawing/2014/main" val="3556111171"/>
                    </a:ext>
                  </a:extLst>
                </a:gridCol>
                <a:gridCol w="3420905">
                  <a:extLst>
                    <a:ext uri="{9D8B030D-6E8A-4147-A177-3AD203B41FA5}">
                      <a16:colId xmlns:a16="http://schemas.microsoft.com/office/drawing/2014/main" val="707970589"/>
                    </a:ext>
                  </a:extLst>
                </a:gridCol>
              </a:tblGrid>
              <a:tr h="435759">
                <a:tc>
                  <a:txBody>
                    <a:bodyPr/>
                    <a:lstStyle/>
                    <a:p>
                      <a:pPr algn="ctr" fontAlgn="ctr"/>
                      <a:r>
                        <a:rPr lang="zh-CN" altLang="en-US" sz="1100" b="1" u="none" strike="noStrike" dirty="0">
                          <a:solidFill>
                            <a:schemeClr val="bg1"/>
                          </a:solidFill>
                          <a:effectLst/>
                          <a:latin typeface="+mn-ea"/>
                          <a:ea typeface="+mn-ea"/>
                        </a:rPr>
                        <a:t>环节</a:t>
                      </a:r>
                      <a:endParaRPr lang="zh-CN" altLang="en-US" sz="1100" b="1" i="0" u="none" strike="noStrike" dirty="0">
                        <a:solidFill>
                          <a:schemeClr val="bg1"/>
                        </a:solidFill>
                        <a:effectLst/>
                        <a:latin typeface="+mn-ea"/>
                        <a:ea typeface="+mn-ea"/>
                      </a:endParaRPr>
                    </a:p>
                  </a:txBody>
                  <a:tcPr marL="45720" marR="45720" anchor="ctr">
                    <a:solidFill>
                      <a:srgbClr val="4B8D56"/>
                    </a:solidFill>
                  </a:tcPr>
                </a:tc>
                <a:tc>
                  <a:txBody>
                    <a:bodyPr/>
                    <a:lstStyle/>
                    <a:p>
                      <a:pPr algn="ctr" fontAlgn="ctr"/>
                      <a:r>
                        <a:rPr lang="zh-CN" altLang="en-US" sz="1100" b="1" u="none" strike="noStrike" dirty="0">
                          <a:solidFill>
                            <a:schemeClr val="bg1"/>
                          </a:solidFill>
                          <a:effectLst/>
                          <a:latin typeface="+mn-ea"/>
                          <a:ea typeface="+mn-ea"/>
                        </a:rPr>
                        <a:t>弱项</a:t>
                      </a:r>
                      <a:endParaRPr lang="zh-CN" altLang="en-US" sz="1100" b="1" i="0" u="none" strike="noStrike" dirty="0">
                        <a:solidFill>
                          <a:schemeClr val="bg1"/>
                        </a:solidFill>
                        <a:effectLst/>
                        <a:latin typeface="+mn-ea"/>
                        <a:ea typeface="+mn-ea"/>
                      </a:endParaRPr>
                    </a:p>
                  </a:txBody>
                  <a:tcPr marL="45720" marR="45720" anchor="ctr">
                    <a:solidFill>
                      <a:srgbClr val="4B8D56"/>
                    </a:solidFill>
                  </a:tcPr>
                </a:tc>
                <a:tc>
                  <a:txBody>
                    <a:bodyPr/>
                    <a:lstStyle/>
                    <a:p>
                      <a:pPr algn="ctr" fontAlgn="ctr"/>
                      <a:r>
                        <a:rPr lang="zh-CN" altLang="en-US" sz="1100" b="1" i="0" u="none" strike="noStrike" dirty="0">
                          <a:solidFill>
                            <a:schemeClr val="bg1"/>
                          </a:solidFill>
                          <a:effectLst/>
                          <a:latin typeface="+mn-ea"/>
                          <a:ea typeface="+mn-ea"/>
                        </a:rPr>
                        <a:t>自评</a:t>
                      </a:r>
                      <a:r>
                        <a:rPr lang="zh-CN" altLang="en-US" sz="1100" b="1" i="0" u="none" strike="noStrike" kern="100" dirty="0">
                          <a:solidFill>
                            <a:schemeClr val="bg1"/>
                          </a:solidFill>
                          <a:effectLst/>
                          <a:latin typeface="+mn-ea"/>
                          <a:ea typeface="+mn-ea"/>
                          <a:cs typeface="Times New Roman" panose="02020603050405020304" pitchFamily="18" charset="0"/>
                        </a:rPr>
                        <a:t>弱项</a:t>
                      </a:r>
                      <a:endParaRPr lang="zh-CN" altLang="en-US" sz="1100" b="1" i="0" u="none" strike="noStrike" dirty="0">
                        <a:solidFill>
                          <a:schemeClr val="bg1"/>
                        </a:solidFill>
                        <a:effectLst/>
                        <a:latin typeface="+mn-ea"/>
                        <a:ea typeface="+mn-ea"/>
                      </a:endParaRPr>
                    </a:p>
                  </a:txBody>
                  <a:tcPr marL="45720" marR="45720" anchor="ctr">
                    <a:solidFill>
                      <a:srgbClr val="4B8D56"/>
                    </a:solidFill>
                  </a:tcPr>
                </a:tc>
                <a:tc>
                  <a:txBody>
                    <a:bodyPr/>
                    <a:lstStyle/>
                    <a:p>
                      <a:pPr algn="ctr" fontAlgn="ctr"/>
                      <a:r>
                        <a:rPr lang="zh-CN" altLang="en-US" sz="1100" b="1" i="0" u="none" strike="noStrike" dirty="0">
                          <a:solidFill>
                            <a:schemeClr val="bg1"/>
                          </a:solidFill>
                          <a:effectLst/>
                          <a:latin typeface="+mn-ea"/>
                          <a:ea typeface="+mn-ea"/>
                        </a:rPr>
                        <a:t>战败</a:t>
                      </a:r>
                      <a:r>
                        <a:rPr lang="zh-CN" altLang="en-US" sz="1100" b="1" i="0" u="none" strike="noStrike" kern="100" dirty="0">
                          <a:solidFill>
                            <a:schemeClr val="bg1"/>
                          </a:solidFill>
                          <a:effectLst/>
                          <a:latin typeface="+mn-ea"/>
                          <a:ea typeface="+mn-ea"/>
                          <a:cs typeface="Times New Roman" panose="02020603050405020304" pitchFamily="18" charset="0"/>
                        </a:rPr>
                        <a:t>弱项</a:t>
                      </a:r>
                      <a:endParaRPr lang="zh-CN" altLang="en-US" sz="1100" b="1" i="0" u="none" strike="noStrike" dirty="0">
                        <a:solidFill>
                          <a:schemeClr val="bg1"/>
                        </a:solidFill>
                        <a:effectLst/>
                        <a:latin typeface="+mn-ea"/>
                        <a:ea typeface="+mn-ea"/>
                      </a:endParaRPr>
                    </a:p>
                  </a:txBody>
                  <a:tcPr marL="45720" marR="45720" anchor="ctr">
                    <a:solidFill>
                      <a:srgbClr val="4B8D56"/>
                    </a:solidFill>
                  </a:tcPr>
                </a:tc>
                <a:tc>
                  <a:txBody>
                    <a:bodyPr/>
                    <a:lstStyle/>
                    <a:p>
                      <a:pPr algn="ctr" fontAlgn="ctr"/>
                      <a:r>
                        <a:rPr lang="zh-CN" altLang="en-US" sz="1100" b="1" i="0" u="none" strike="noStrike" dirty="0">
                          <a:solidFill>
                            <a:schemeClr val="bg1"/>
                          </a:solidFill>
                          <a:effectLst/>
                          <a:latin typeface="+mn-ea"/>
                          <a:ea typeface="+mn-ea"/>
                        </a:rPr>
                        <a:t>犹豫</a:t>
                      </a:r>
                      <a:r>
                        <a:rPr lang="zh-CN" altLang="en-US" sz="1100" b="1" i="0" u="none" strike="noStrike" kern="100" dirty="0">
                          <a:solidFill>
                            <a:schemeClr val="bg1"/>
                          </a:solidFill>
                          <a:effectLst/>
                          <a:latin typeface="+mn-ea"/>
                          <a:ea typeface="+mn-ea"/>
                          <a:cs typeface="Times New Roman" panose="02020603050405020304" pitchFamily="18" charset="0"/>
                        </a:rPr>
                        <a:t>弱项</a:t>
                      </a:r>
                      <a:endParaRPr lang="zh-CN" altLang="en-US" sz="1100" b="1" i="0" u="none" strike="noStrike" dirty="0">
                        <a:solidFill>
                          <a:schemeClr val="bg1"/>
                        </a:solidFill>
                        <a:effectLst/>
                        <a:latin typeface="+mn-ea"/>
                        <a:ea typeface="+mn-ea"/>
                      </a:endParaRPr>
                    </a:p>
                  </a:txBody>
                  <a:tcPr marL="45720" marR="45720" anchor="ctr">
                    <a:solidFill>
                      <a:srgbClr val="4B8D56"/>
                    </a:solidFill>
                  </a:tcPr>
                </a:tc>
                <a:tc>
                  <a:txBody>
                    <a:bodyPr/>
                    <a:lstStyle/>
                    <a:p>
                      <a:pPr algn="ctr" fontAlgn="ctr"/>
                      <a:r>
                        <a:rPr lang="zh-CN" altLang="en-US" sz="1100" b="1" i="0" u="none" strike="noStrike" dirty="0">
                          <a:solidFill>
                            <a:schemeClr val="bg1"/>
                          </a:solidFill>
                          <a:effectLst/>
                          <a:latin typeface="+mn-ea"/>
                          <a:ea typeface="+mn-ea"/>
                        </a:rPr>
                        <a:t>改进目的</a:t>
                      </a:r>
                    </a:p>
                  </a:txBody>
                  <a:tcPr marL="45720" marR="45720" anchor="ctr">
                    <a:solidFill>
                      <a:srgbClr val="4B8D56"/>
                    </a:solidFill>
                  </a:tcPr>
                </a:tc>
                <a:extLst>
                  <a:ext uri="{0D108BD9-81ED-4DB2-BD59-A6C34878D82A}">
                    <a16:rowId xmlns:a16="http://schemas.microsoft.com/office/drawing/2014/main" val="4240328065"/>
                  </a:ext>
                </a:extLst>
              </a:tr>
              <a:tr h="435759">
                <a:tc rowSpan="2">
                  <a:txBody>
                    <a:bodyPr/>
                    <a:lstStyle/>
                    <a:p>
                      <a:pPr algn="ctr" fontAlgn="ctr"/>
                      <a:r>
                        <a:rPr lang="zh-CN" altLang="en-US" sz="1100" b="1" i="0" u="none" strike="noStrike" dirty="0">
                          <a:solidFill>
                            <a:srgbClr val="000000"/>
                          </a:solidFill>
                          <a:effectLst/>
                          <a:latin typeface="+mn-ea"/>
                          <a:ea typeface="+mn-ea"/>
                        </a:rPr>
                        <a:t>入店前沟通</a:t>
                      </a:r>
                    </a:p>
                  </a:txBody>
                  <a:tcPr marL="45720" marR="45720" anchor="ctr"/>
                </a:tc>
                <a:tc>
                  <a:txBody>
                    <a:bodyPr/>
                    <a:lstStyle/>
                    <a:p>
                      <a:pPr algn="l" fontAlgn="ctr"/>
                      <a:r>
                        <a:rPr lang="zh-CN" altLang="en-US" sz="1000" b="0" i="0" u="none" strike="noStrike" dirty="0">
                          <a:solidFill>
                            <a:srgbClr val="000000"/>
                          </a:solidFill>
                          <a:effectLst/>
                          <a:latin typeface="+mn-ea"/>
                          <a:ea typeface="+mn-ea"/>
                        </a:rPr>
                        <a:t>咨询过程的专业度</a:t>
                      </a:r>
                    </a:p>
                  </a:txBody>
                  <a:tcPr marL="45720" marR="45720" anchor="ct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000" b="0" i="0" u="none" strike="noStrike" kern="100" dirty="0">
                          <a:solidFill>
                            <a:schemeClr val="tx1"/>
                          </a:solidFill>
                          <a:effectLst/>
                          <a:latin typeface="+mn-ea"/>
                          <a:ea typeface="+mn-ea"/>
                          <a:cs typeface="Times New Roman" panose="02020603050405020304" pitchFamily="18" charset="0"/>
                        </a:rPr>
                        <a:t>提升未来本品车主满意度，同时吸引潜在用户</a:t>
                      </a:r>
                      <a:endParaRPr lang="zh-CN" altLang="en-US" sz="1000" b="0" i="0" u="none" strike="noStrike" dirty="0">
                        <a:solidFill>
                          <a:srgbClr val="000000"/>
                        </a:solidFill>
                        <a:effectLst/>
                        <a:latin typeface="+mn-ea"/>
                        <a:ea typeface="+mn-ea"/>
                      </a:endParaRPr>
                    </a:p>
                  </a:txBody>
                  <a:tcPr marL="45720" marR="45720" anchor="ctr"/>
                </a:tc>
                <a:extLst>
                  <a:ext uri="{0D108BD9-81ED-4DB2-BD59-A6C34878D82A}">
                    <a16:rowId xmlns:a16="http://schemas.microsoft.com/office/drawing/2014/main" val="1669513560"/>
                  </a:ext>
                </a:extLst>
              </a:tr>
              <a:tr h="435759">
                <a:tc vMerge="1">
                  <a:txBody>
                    <a:bodyPr/>
                    <a:lstStyle/>
                    <a:p>
                      <a:pPr algn="l" fontAlgn="ctr"/>
                      <a:r>
                        <a:rPr lang="zh-CN" altLang="en-US" sz="1000" b="0" i="0" u="none" strike="noStrike" dirty="0">
                          <a:solidFill>
                            <a:srgbClr val="181818"/>
                          </a:solidFill>
                          <a:effectLst/>
                          <a:latin typeface="宋体" panose="02010600030101010101" pitchFamily="2" charset="-122"/>
                          <a:ea typeface="宋体" panose="02010600030101010101" pitchFamily="2" charset="-122"/>
                        </a:rPr>
                        <a:t>入店前沟通</a:t>
                      </a:r>
                    </a:p>
                  </a:txBody>
                  <a:tcPr marL="6350" marR="6350" marT="6350" marB="0" anchor="ctr"/>
                </a:tc>
                <a:tc>
                  <a:txBody>
                    <a:bodyPr/>
                    <a:lstStyle/>
                    <a:p>
                      <a:pPr algn="l" fontAlgn="ctr"/>
                      <a:r>
                        <a:rPr lang="zh-CN" altLang="en-US" sz="1000" b="0" i="0" u="none" strike="noStrike" dirty="0">
                          <a:solidFill>
                            <a:srgbClr val="181818"/>
                          </a:solidFill>
                          <a:effectLst/>
                          <a:latin typeface="+mn-ea"/>
                          <a:ea typeface="+mn-ea"/>
                        </a:rPr>
                        <a:t>预约便利性</a:t>
                      </a: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algn="l" fontAlgn="ctr"/>
                      <a:r>
                        <a:rPr lang="zh-CN" altLang="en-US" sz="1000" b="0" i="0" u="none" strike="noStrike" kern="100" dirty="0">
                          <a:solidFill>
                            <a:schemeClr val="tx1"/>
                          </a:solidFill>
                          <a:effectLst/>
                          <a:latin typeface="+mn-ea"/>
                          <a:ea typeface="+mn-ea"/>
                          <a:cs typeface="Times New Roman" panose="02020603050405020304" pitchFamily="18" charset="0"/>
                        </a:rPr>
                        <a:t>减少用户流失</a:t>
                      </a:r>
                      <a:endParaRPr lang="zh-CN" altLang="en-US" sz="1000" b="0" i="0" u="none" strike="noStrike" dirty="0">
                        <a:solidFill>
                          <a:srgbClr val="000000"/>
                        </a:solidFill>
                        <a:effectLst/>
                        <a:latin typeface="+mn-ea"/>
                        <a:ea typeface="+mn-ea"/>
                      </a:endParaRPr>
                    </a:p>
                  </a:txBody>
                  <a:tcPr marL="45720" marR="45720" anchor="ctr"/>
                </a:tc>
                <a:extLst>
                  <a:ext uri="{0D108BD9-81ED-4DB2-BD59-A6C34878D82A}">
                    <a16:rowId xmlns:a16="http://schemas.microsoft.com/office/drawing/2014/main" val="3065633557"/>
                  </a:ext>
                </a:extLst>
              </a:tr>
              <a:tr h="435759">
                <a:tc rowSpan="5">
                  <a:txBody>
                    <a:bodyPr/>
                    <a:lstStyle/>
                    <a:p>
                      <a:pPr algn="ctr" fontAlgn="ctr"/>
                      <a:r>
                        <a:rPr lang="zh-CN" altLang="en-US" sz="1100" b="1" i="0" u="none" strike="noStrike" dirty="0">
                          <a:solidFill>
                            <a:srgbClr val="000000"/>
                          </a:solidFill>
                          <a:effectLst/>
                          <a:latin typeface="+mn-ea"/>
                          <a:ea typeface="+mn-ea"/>
                        </a:rPr>
                        <a:t>店内看车</a:t>
                      </a:r>
                    </a:p>
                  </a:txBody>
                  <a:tcPr marL="45720" marR="45720" anchor="ctr"/>
                </a:tc>
                <a:tc>
                  <a:txBody>
                    <a:bodyPr/>
                    <a:lstStyle/>
                    <a:p>
                      <a:pPr algn="l" fontAlgn="ctr"/>
                      <a:r>
                        <a:rPr lang="zh-CN" altLang="en-US" sz="1000" b="0" i="0" u="none" strike="noStrike" dirty="0">
                          <a:solidFill>
                            <a:srgbClr val="000000"/>
                          </a:solidFill>
                          <a:effectLst/>
                          <a:latin typeface="+mn-ea"/>
                          <a:ea typeface="+mn-ea"/>
                        </a:rPr>
                        <a:t>提供的饮料服务</a:t>
                      </a:r>
                    </a:p>
                  </a:txBody>
                  <a:tcPr marL="45720" marR="45720" anchor="ct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algn="l" fontAlgn="ctr"/>
                      <a:endParaRPr lang="zh-CN" altLang="en-US" sz="1200" b="0" i="0" u="none" strike="noStrike">
                        <a:solidFill>
                          <a:srgbClr val="000000"/>
                        </a:solidFill>
                        <a:effectLst/>
                        <a:latin typeface="+mn-ea"/>
                        <a:ea typeface="+mn-ea"/>
                      </a:endParaRPr>
                    </a:p>
                  </a:txBody>
                  <a:tcPr marL="45720" marR="45720" anchor="ctr"/>
                </a:tc>
                <a:tc>
                  <a:txBody>
                    <a:bodyPr/>
                    <a:lstStyle/>
                    <a:p>
                      <a:pPr algn="l" fontAlgn="ctr"/>
                      <a:r>
                        <a:rPr lang="zh-CN" altLang="en-US" sz="1000" b="0" i="0" u="none" strike="noStrike" kern="100" dirty="0">
                          <a:solidFill>
                            <a:schemeClr val="tx1"/>
                          </a:solidFill>
                          <a:effectLst/>
                          <a:latin typeface="+mn-ea"/>
                          <a:ea typeface="+mn-ea"/>
                          <a:cs typeface="Times New Roman" panose="02020603050405020304" pitchFamily="18" charset="0"/>
                        </a:rPr>
                        <a:t>提升未来本品车主满意度</a:t>
                      </a:r>
                      <a:endParaRPr lang="zh-CN" altLang="en-US" sz="1000" b="0" i="0" u="none" strike="noStrike" dirty="0">
                        <a:solidFill>
                          <a:srgbClr val="000000"/>
                        </a:solidFill>
                        <a:effectLst/>
                        <a:latin typeface="+mn-ea"/>
                        <a:ea typeface="+mn-ea"/>
                      </a:endParaRPr>
                    </a:p>
                  </a:txBody>
                  <a:tcPr marL="45720" marR="45720" anchor="ctr"/>
                </a:tc>
                <a:extLst>
                  <a:ext uri="{0D108BD9-81ED-4DB2-BD59-A6C34878D82A}">
                    <a16:rowId xmlns:a16="http://schemas.microsoft.com/office/drawing/2014/main" val="3639934487"/>
                  </a:ext>
                </a:extLst>
              </a:tr>
              <a:tr h="435759">
                <a:tc vMerge="1">
                  <a:txBody>
                    <a:bodyPr/>
                    <a:lstStyle/>
                    <a:p>
                      <a:pPr algn="l" fontAlgn="ctr"/>
                      <a:r>
                        <a:rPr lang="zh-CN" altLang="en-US" sz="1000" b="0" i="0" u="none" strike="noStrike" dirty="0">
                          <a:solidFill>
                            <a:srgbClr val="181818"/>
                          </a:solidFill>
                          <a:effectLst/>
                          <a:latin typeface="宋体" panose="02010600030101010101" pitchFamily="2" charset="-122"/>
                          <a:ea typeface="宋体" panose="02010600030101010101" pitchFamily="2" charset="-122"/>
                        </a:rPr>
                        <a:t>店内看车</a:t>
                      </a:r>
                    </a:p>
                  </a:txBody>
                  <a:tcPr marL="6350" marR="6350" marT="6350" marB="0" anchor="ctr"/>
                </a:tc>
                <a:tc>
                  <a:txBody>
                    <a:bodyPr/>
                    <a:lstStyle/>
                    <a:p>
                      <a:pPr algn="l" fontAlgn="ctr"/>
                      <a:r>
                        <a:rPr lang="zh-CN" altLang="en-US" sz="1000" b="0" i="0" u="none" strike="noStrike" dirty="0">
                          <a:solidFill>
                            <a:srgbClr val="181818"/>
                          </a:solidFill>
                          <a:effectLst/>
                          <a:latin typeface="+mn-ea"/>
                          <a:ea typeface="+mn-ea"/>
                        </a:rPr>
                        <a:t>销售顾问对车型介绍专业性</a:t>
                      </a: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algn="l" fontAlgn="ctr"/>
                      <a:r>
                        <a:rPr lang="zh-CN" altLang="en-US" sz="1000" b="0" i="0" u="none" strike="noStrike" kern="100" dirty="0">
                          <a:solidFill>
                            <a:schemeClr val="tx1"/>
                          </a:solidFill>
                          <a:effectLst/>
                          <a:latin typeface="+mn-ea"/>
                          <a:ea typeface="+mn-ea"/>
                          <a:cs typeface="Times New Roman" panose="02020603050405020304" pitchFamily="18" charset="0"/>
                        </a:rPr>
                        <a:t>减少用户流失</a:t>
                      </a:r>
                      <a:endParaRPr lang="zh-CN" altLang="en-US" sz="1000" b="0" i="0" u="none" strike="noStrike" dirty="0">
                        <a:solidFill>
                          <a:srgbClr val="000000"/>
                        </a:solidFill>
                        <a:effectLst/>
                        <a:latin typeface="+mn-ea"/>
                        <a:ea typeface="+mn-ea"/>
                      </a:endParaRPr>
                    </a:p>
                  </a:txBody>
                  <a:tcPr marL="45720" marR="45720" anchor="ctr"/>
                </a:tc>
                <a:extLst>
                  <a:ext uri="{0D108BD9-81ED-4DB2-BD59-A6C34878D82A}">
                    <a16:rowId xmlns:a16="http://schemas.microsoft.com/office/drawing/2014/main" val="348132674"/>
                  </a:ext>
                </a:extLst>
              </a:tr>
              <a:tr h="435759">
                <a:tc vMerge="1">
                  <a:txBody>
                    <a:bodyPr/>
                    <a:lstStyle/>
                    <a:p>
                      <a:pPr algn="l" fontAlgn="ctr"/>
                      <a:r>
                        <a:rPr lang="zh-CN" altLang="en-US" sz="1000" b="0" i="0" u="none" strike="noStrike" dirty="0">
                          <a:solidFill>
                            <a:srgbClr val="181818"/>
                          </a:solidFill>
                          <a:effectLst/>
                          <a:latin typeface="宋体" panose="02010600030101010101" pitchFamily="2" charset="-122"/>
                          <a:ea typeface="宋体" panose="02010600030101010101" pitchFamily="2" charset="-122"/>
                        </a:rPr>
                        <a:t>店内看车</a:t>
                      </a:r>
                    </a:p>
                  </a:txBody>
                  <a:tcPr marL="6350" marR="6350" marT="6350" marB="0" anchor="ctr"/>
                </a:tc>
                <a:tc>
                  <a:txBody>
                    <a:bodyPr/>
                    <a:lstStyle/>
                    <a:p>
                      <a:pPr algn="l" fontAlgn="ctr"/>
                      <a:r>
                        <a:rPr lang="zh-CN" altLang="en-US" sz="1000" b="0" i="0" u="none" strike="noStrike" dirty="0">
                          <a:solidFill>
                            <a:srgbClr val="181818"/>
                          </a:solidFill>
                          <a:effectLst/>
                          <a:latin typeface="+mn-ea"/>
                          <a:ea typeface="+mn-ea"/>
                        </a:rPr>
                        <a:t>销售顾问理解购车需求及针对性的推荐程度</a:t>
                      </a: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000" b="0" i="0" u="none" strike="noStrike" kern="100" dirty="0">
                          <a:solidFill>
                            <a:schemeClr val="tx1"/>
                          </a:solidFill>
                          <a:effectLst/>
                          <a:latin typeface="+mn-ea"/>
                          <a:ea typeface="+mn-ea"/>
                          <a:cs typeface="Times New Roman" panose="02020603050405020304" pitchFamily="18" charset="0"/>
                        </a:rPr>
                        <a:t>减少用户流失</a:t>
                      </a:r>
                      <a:r>
                        <a:rPr lang="zh-CN" altLang="en-US" sz="1000" kern="100" noProof="0" dirty="0">
                          <a:solidFill>
                            <a:schemeClr val="tx1"/>
                          </a:solidFill>
                          <a:latin typeface="+mn-ea"/>
                          <a:ea typeface="+mn-ea"/>
                          <a:cs typeface="Times New Roman" panose="02020603050405020304" pitchFamily="18" charset="0"/>
                        </a:rPr>
                        <a:t>，同时</a:t>
                      </a:r>
                      <a:r>
                        <a:rPr lang="zh-CN" altLang="en-US" sz="1000" b="0" i="0" u="none" strike="noStrike" dirty="0">
                          <a:solidFill>
                            <a:srgbClr val="000000"/>
                          </a:solidFill>
                          <a:effectLst/>
                          <a:latin typeface="+mn-ea"/>
                          <a:ea typeface="+mn-ea"/>
                        </a:rPr>
                        <a:t>吸引潜在用户</a:t>
                      </a:r>
                    </a:p>
                  </a:txBody>
                  <a:tcPr marL="45720" marR="45720" anchor="ctr"/>
                </a:tc>
                <a:extLst>
                  <a:ext uri="{0D108BD9-81ED-4DB2-BD59-A6C34878D82A}">
                    <a16:rowId xmlns:a16="http://schemas.microsoft.com/office/drawing/2014/main" val="552035653"/>
                  </a:ext>
                </a:extLst>
              </a:tr>
              <a:tr h="435759">
                <a:tc vMerge="1">
                  <a:txBody>
                    <a:bodyPr/>
                    <a:lstStyle/>
                    <a:p>
                      <a:pPr algn="l" fontAlgn="ctr"/>
                      <a:r>
                        <a:rPr lang="zh-CN" altLang="en-US" sz="1000" b="0" i="0" u="none" strike="noStrike" dirty="0">
                          <a:solidFill>
                            <a:srgbClr val="181818"/>
                          </a:solidFill>
                          <a:effectLst/>
                          <a:latin typeface="宋体" panose="02010600030101010101" pitchFamily="2" charset="-122"/>
                          <a:ea typeface="宋体" panose="02010600030101010101" pitchFamily="2" charset="-122"/>
                        </a:rPr>
                        <a:t>店内看车</a:t>
                      </a:r>
                    </a:p>
                  </a:txBody>
                  <a:tcPr marL="6350" marR="6350" marT="6350" marB="0" anchor="ctr"/>
                </a:tc>
                <a:tc>
                  <a:txBody>
                    <a:bodyPr/>
                    <a:lstStyle/>
                    <a:p>
                      <a:pPr algn="l" fontAlgn="ctr"/>
                      <a:r>
                        <a:rPr lang="zh-CN" altLang="en-US" sz="1000" b="0" i="0" u="none" strike="noStrike" dirty="0">
                          <a:solidFill>
                            <a:srgbClr val="181818"/>
                          </a:solidFill>
                          <a:effectLst/>
                          <a:latin typeface="+mn-ea"/>
                          <a:ea typeface="+mn-ea"/>
                        </a:rPr>
                        <a:t>门店静态演示和体验表现</a:t>
                      </a: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000000"/>
                          </a:solidFill>
                          <a:effectLst/>
                          <a:uLnTx/>
                          <a:uFillTx/>
                          <a:latin typeface="+mn-ea"/>
                          <a:ea typeface="+mn-ea"/>
                          <a:cs typeface="+mn-cs"/>
                        </a:rPr>
                        <a:t>√</a:t>
                      </a:r>
                      <a:endParaRPr kumimoji="0" lang="zh-CN" altLang="en-US" sz="1200" b="0" i="0" u="none" strike="noStrike" kern="1200" cap="none" spc="0" normalizeH="0" baseline="0" noProof="0" dirty="0">
                        <a:ln>
                          <a:noFill/>
                        </a:ln>
                        <a:solidFill>
                          <a:srgbClr val="000000"/>
                        </a:solidFill>
                        <a:effectLst/>
                        <a:uLnTx/>
                        <a:uFillTx/>
                        <a:latin typeface="+mn-ea"/>
                        <a:ea typeface="+mn-ea"/>
                        <a:cs typeface="+mn-cs"/>
                      </a:endParaRP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marL="0" algn="l" defTabSz="914400" rtl="0" eaLnBrk="1" fontAlgn="ctr" latinLnBrk="0" hangingPunct="1"/>
                      <a:r>
                        <a:rPr lang="zh-CN" altLang="en-US" sz="1000" b="0" i="0" u="none" strike="noStrike" kern="100" dirty="0">
                          <a:solidFill>
                            <a:schemeClr val="tx1"/>
                          </a:solidFill>
                          <a:effectLst/>
                          <a:latin typeface="+mn-ea"/>
                          <a:ea typeface="+mn-ea"/>
                          <a:cs typeface="Times New Roman" panose="02020603050405020304" pitchFamily="18" charset="0"/>
                        </a:rPr>
                        <a:t>减少用户流失</a:t>
                      </a:r>
                      <a:endParaRPr lang="zh-CN" altLang="en-US" sz="1000" kern="100" dirty="0">
                        <a:solidFill>
                          <a:schemeClr val="tx1"/>
                        </a:solidFill>
                        <a:latin typeface="+mn-ea"/>
                        <a:ea typeface="+mn-ea"/>
                        <a:cs typeface="Times New Roman" panose="02020603050405020304" pitchFamily="18" charset="0"/>
                      </a:endParaRPr>
                    </a:p>
                  </a:txBody>
                  <a:tcPr marL="45720" marR="45720" anchor="ctr"/>
                </a:tc>
                <a:extLst>
                  <a:ext uri="{0D108BD9-81ED-4DB2-BD59-A6C34878D82A}">
                    <a16:rowId xmlns:a16="http://schemas.microsoft.com/office/drawing/2014/main" val="151566211"/>
                  </a:ext>
                </a:extLst>
              </a:tr>
              <a:tr h="435759">
                <a:tc vMerge="1">
                  <a:txBody>
                    <a:bodyPr/>
                    <a:lstStyle/>
                    <a:p>
                      <a:pPr algn="l" fontAlgn="ctr"/>
                      <a:r>
                        <a:rPr lang="zh-CN" altLang="en-US" sz="1000" b="0" i="0" u="none" strike="noStrike" dirty="0">
                          <a:solidFill>
                            <a:srgbClr val="181818"/>
                          </a:solidFill>
                          <a:effectLst/>
                          <a:latin typeface="宋体" panose="02010600030101010101" pitchFamily="2" charset="-122"/>
                          <a:ea typeface="宋体" panose="02010600030101010101" pitchFamily="2" charset="-122"/>
                        </a:rPr>
                        <a:t>店内看车</a:t>
                      </a:r>
                    </a:p>
                  </a:txBody>
                  <a:tcPr marL="6350" marR="6350" marT="6350" marB="0" anchor="ctr"/>
                </a:tc>
                <a:tc>
                  <a:txBody>
                    <a:bodyPr/>
                    <a:lstStyle/>
                    <a:p>
                      <a:pPr algn="l" fontAlgn="ctr"/>
                      <a:r>
                        <a:rPr lang="zh-CN" altLang="en-US" sz="1000" b="0" i="0" u="none" strike="noStrike" dirty="0">
                          <a:solidFill>
                            <a:srgbClr val="181818"/>
                          </a:solidFill>
                          <a:effectLst/>
                          <a:latin typeface="+mn-ea"/>
                          <a:ea typeface="+mn-ea"/>
                        </a:rPr>
                        <a:t>店内设计风格</a:t>
                      </a: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mn-ea"/>
                          <a:ea typeface="+mn-ea"/>
                          <a:cs typeface="+mn-cs"/>
                        </a:rPr>
                        <a:t>√</a:t>
                      </a: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marL="0" algn="l" defTabSz="914400" rtl="0" eaLnBrk="1" fontAlgn="ctr" latinLnBrk="0" hangingPunct="1"/>
                      <a:r>
                        <a:rPr lang="zh-CN" altLang="en-US" sz="1000" b="0" i="0" u="none" strike="noStrike" kern="100" dirty="0">
                          <a:solidFill>
                            <a:schemeClr val="tx1"/>
                          </a:solidFill>
                          <a:effectLst/>
                          <a:latin typeface="+mn-ea"/>
                          <a:ea typeface="+mn-ea"/>
                          <a:cs typeface="Times New Roman" panose="02020603050405020304" pitchFamily="18" charset="0"/>
                        </a:rPr>
                        <a:t>减少用户流失</a:t>
                      </a:r>
                      <a:endParaRPr lang="zh-CN" altLang="en-US" sz="1000" kern="100" dirty="0">
                        <a:solidFill>
                          <a:schemeClr val="tx1"/>
                        </a:solidFill>
                        <a:latin typeface="+mn-ea"/>
                        <a:ea typeface="+mn-ea"/>
                        <a:cs typeface="Times New Roman" panose="02020603050405020304" pitchFamily="18" charset="0"/>
                      </a:endParaRPr>
                    </a:p>
                  </a:txBody>
                  <a:tcPr marL="45720" marR="45720" anchor="ctr"/>
                </a:tc>
                <a:extLst>
                  <a:ext uri="{0D108BD9-81ED-4DB2-BD59-A6C34878D82A}">
                    <a16:rowId xmlns:a16="http://schemas.microsoft.com/office/drawing/2014/main" val="2757629026"/>
                  </a:ext>
                </a:extLst>
              </a:tr>
              <a:tr h="435759">
                <a:tc>
                  <a:txBody>
                    <a:bodyPr/>
                    <a:lstStyle/>
                    <a:p>
                      <a:pPr algn="ctr" fontAlgn="ctr"/>
                      <a:r>
                        <a:rPr lang="zh-CN" altLang="en-US" sz="1100" b="1" i="0" u="none" strike="noStrike" dirty="0">
                          <a:solidFill>
                            <a:srgbClr val="000000"/>
                          </a:solidFill>
                          <a:effectLst/>
                          <a:latin typeface="+mn-ea"/>
                          <a:ea typeface="+mn-ea"/>
                        </a:rPr>
                        <a:t>洽谈下定</a:t>
                      </a:r>
                    </a:p>
                  </a:txBody>
                  <a:tcPr marL="45720" marR="45720" anchor="ctr"/>
                </a:tc>
                <a:tc>
                  <a:txBody>
                    <a:bodyPr/>
                    <a:lstStyle/>
                    <a:p>
                      <a:pPr algn="l" fontAlgn="ctr"/>
                      <a:r>
                        <a:rPr lang="zh-CN" altLang="en-US" sz="1000" b="0" i="0" u="none" strike="noStrike">
                          <a:solidFill>
                            <a:srgbClr val="000000"/>
                          </a:solidFill>
                          <a:effectLst/>
                          <a:latin typeface="+mn-ea"/>
                          <a:ea typeface="+mn-ea"/>
                        </a:rPr>
                        <a:t>销售顾问对车主权益和服务的介绍清晰程度</a:t>
                      </a:r>
                    </a:p>
                  </a:txBody>
                  <a:tcPr marL="45720" marR="4572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200" b="0" i="0" u="none" strike="noStrike" dirty="0">
                          <a:solidFill>
                            <a:srgbClr val="000000"/>
                          </a:solidFill>
                          <a:effectLst/>
                          <a:latin typeface="+mn-ea"/>
                          <a:ea typeface="+mn-ea"/>
                        </a:rPr>
                        <a:t>√</a:t>
                      </a: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algn="l" fontAlgn="ctr"/>
                      <a:r>
                        <a:rPr lang="zh-CN" altLang="en-US" sz="1000" b="0" i="0" u="none" strike="noStrike" kern="100" dirty="0">
                          <a:solidFill>
                            <a:schemeClr val="tx1"/>
                          </a:solidFill>
                          <a:effectLst/>
                          <a:latin typeface="+mn-ea"/>
                          <a:ea typeface="+mn-ea"/>
                          <a:cs typeface="Times New Roman" panose="02020603050405020304" pitchFamily="18" charset="0"/>
                        </a:rPr>
                        <a:t>提升未来本品车主满意度</a:t>
                      </a:r>
                      <a:endParaRPr lang="zh-CN" altLang="en-US" sz="1000" b="0" i="0" u="none" strike="noStrike" dirty="0">
                        <a:solidFill>
                          <a:srgbClr val="000000"/>
                        </a:solidFill>
                        <a:effectLst/>
                        <a:latin typeface="+mn-ea"/>
                        <a:ea typeface="+mn-ea"/>
                      </a:endParaRPr>
                    </a:p>
                  </a:txBody>
                  <a:tcPr marL="45720" marR="45720" anchor="ctr"/>
                </a:tc>
                <a:extLst>
                  <a:ext uri="{0D108BD9-81ED-4DB2-BD59-A6C34878D82A}">
                    <a16:rowId xmlns:a16="http://schemas.microsoft.com/office/drawing/2014/main" val="673498978"/>
                  </a:ext>
                </a:extLst>
              </a:tr>
              <a:tr h="435759">
                <a:tc>
                  <a:txBody>
                    <a:bodyPr/>
                    <a:lstStyle/>
                    <a:p>
                      <a:pPr algn="ctr" fontAlgn="ctr"/>
                      <a:r>
                        <a:rPr lang="zh-CN" altLang="en-US" sz="1100" b="1" i="0" u="none" strike="noStrike" dirty="0">
                          <a:solidFill>
                            <a:srgbClr val="000000"/>
                          </a:solidFill>
                          <a:effectLst/>
                          <a:latin typeface="+mn-ea"/>
                          <a:ea typeface="+mn-ea"/>
                        </a:rPr>
                        <a:t>试乘试驾</a:t>
                      </a:r>
                    </a:p>
                  </a:txBody>
                  <a:tcPr marL="45720" marR="45720" anchor="ctr"/>
                </a:tc>
                <a:tc>
                  <a:txBody>
                    <a:bodyPr/>
                    <a:lstStyle/>
                    <a:p>
                      <a:pPr algn="l" fontAlgn="ctr"/>
                      <a:r>
                        <a:rPr lang="zh-CN" altLang="en-US" sz="1000" b="0" i="0" u="none" strike="noStrike" dirty="0">
                          <a:solidFill>
                            <a:srgbClr val="181818"/>
                          </a:solidFill>
                          <a:effectLst/>
                          <a:latin typeface="+mn-ea"/>
                          <a:ea typeface="+mn-ea"/>
                        </a:rPr>
                        <a:t>试驾结束后的持续服务</a:t>
                      </a: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algn="ctr" fontAlgn="ctr"/>
                      <a:r>
                        <a:rPr lang="zh-CN" altLang="en-US" sz="1200" b="0" i="0" u="none" strike="noStrike" dirty="0">
                          <a:solidFill>
                            <a:srgbClr val="000000"/>
                          </a:solidFill>
                          <a:effectLst/>
                          <a:latin typeface="+mn-ea"/>
                          <a:ea typeface="+mn-ea"/>
                        </a:rPr>
                        <a:t>√</a:t>
                      </a:r>
                    </a:p>
                  </a:txBody>
                  <a:tcPr marL="45720" marR="45720" anchor="ctr"/>
                </a:tc>
                <a:tc>
                  <a:txBody>
                    <a:bodyPr/>
                    <a:lstStyle/>
                    <a:p>
                      <a:pPr algn="l" fontAlgn="ctr"/>
                      <a:r>
                        <a:rPr lang="zh-CN" altLang="en-US" sz="1000" b="0" i="0" u="none" strike="noStrike" dirty="0">
                          <a:solidFill>
                            <a:srgbClr val="000000"/>
                          </a:solidFill>
                          <a:effectLst/>
                          <a:latin typeface="+mn-ea"/>
                          <a:ea typeface="+mn-ea"/>
                        </a:rPr>
                        <a:t>吸引潜在用户</a:t>
                      </a:r>
                    </a:p>
                  </a:txBody>
                  <a:tcPr marL="45720" marR="45720" anchor="ctr"/>
                </a:tc>
                <a:extLst>
                  <a:ext uri="{0D108BD9-81ED-4DB2-BD59-A6C34878D82A}">
                    <a16:rowId xmlns:a16="http://schemas.microsoft.com/office/drawing/2014/main" val="3270329998"/>
                  </a:ext>
                </a:extLst>
              </a:tr>
              <a:tr h="435759">
                <a:tc>
                  <a:txBody>
                    <a:bodyPr/>
                    <a:lstStyle/>
                    <a:p>
                      <a:pPr algn="ctr" fontAlgn="ctr"/>
                      <a:r>
                        <a:rPr lang="zh-CN" altLang="en-US" sz="1100" b="1" i="0" u="none" strike="noStrike" dirty="0">
                          <a:solidFill>
                            <a:srgbClr val="000000"/>
                          </a:solidFill>
                          <a:effectLst/>
                          <a:latin typeface="+mn-ea"/>
                          <a:ea typeface="+mn-ea"/>
                        </a:rPr>
                        <a:t>送别与回访</a:t>
                      </a:r>
                    </a:p>
                  </a:txBody>
                  <a:tcPr marL="45720" marR="45720" anchor="ctr"/>
                </a:tc>
                <a:tc>
                  <a:txBody>
                    <a:bodyPr/>
                    <a:lstStyle/>
                    <a:p>
                      <a:pPr algn="l" fontAlgn="ctr"/>
                      <a:r>
                        <a:rPr lang="zh-CN" altLang="en-US" sz="1000" b="0" i="0" u="none" strike="noStrike" dirty="0">
                          <a:solidFill>
                            <a:srgbClr val="000000"/>
                          </a:solidFill>
                          <a:effectLst/>
                          <a:latin typeface="+mn-ea"/>
                          <a:ea typeface="+mn-ea"/>
                        </a:rPr>
                        <a:t>离店后的回访表现</a:t>
                      </a:r>
                    </a:p>
                  </a:txBody>
                  <a:tcPr marL="45720" marR="4572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000000"/>
                          </a:solidFill>
                          <a:effectLst/>
                          <a:uLnTx/>
                          <a:uFillTx/>
                          <a:latin typeface="+mn-ea"/>
                          <a:ea typeface="+mn-ea"/>
                          <a:cs typeface="+mn-cs"/>
                        </a:rPr>
                        <a:t>√</a:t>
                      </a:r>
                      <a:endParaRPr kumimoji="0" lang="zh-CN" altLang="en-US" sz="1200" b="0" i="0" u="none" strike="noStrike" kern="1200" cap="none" spc="0" normalizeH="0" baseline="0" noProof="0" dirty="0">
                        <a:ln>
                          <a:noFill/>
                        </a:ln>
                        <a:solidFill>
                          <a:srgbClr val="000000"/>
                        </a:solidFill>
                        <a:effectLst/>
                        <a:uLnTx/>
                        <a:uFillTx/>
                        <a:latin typeface="+mn-ea"/>
                        <a:ea typeface="+mn-ea"/>
                        <a:cs typeface="+mn-cs"/>
                      </a:endParaRPr>
                    </a:p>
                  </a:txBody>
                  <a:tcPr marL="45720" marR="4572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mn-ea"/>
                          <a:ea typeface="+mn-ea"/>
                          <a:cs typeface="+mn-cs"/>
                        </a:rPr>
                        <a:t>√</a:t>
                      </a:r>
                    </a:p>
                  </a:txBody>
                  <a:tcPr marL="45720" marR="45720" anchor="ctr"/>
                </a:tc>
                <a:tc>
                  <a:txBody>
                    <a:bodyPr/>
                    <a:lstStyle/>
                    <a:p>
                      <a:pPr algn="l" fontAlgn="ctr"/>
                      <a:endParaRPr lang="zh-CN" altLang="en-US" sz="1200" b="0" i="0" u="none" strike="noStrike" dirty="0">
                        <a:solidFill>
                          <a:srgbClr val="000000"/>
                        </a:solidFill>
                        <a:effectLst/>
                        <a:latin typeface="+mn-ea"/>
                        <a:ea typeface="+mn-ea"/>
                      </a:endParaRPr>
                    </a:p>
                  </a:txBody>
                  <a:tcPr marL="45720" marR="45720" anchor="ctr"/>
                </a:tc>
                <a:tc>
                  <a:txBody>
                    <a:bodyPr/>
                    <a:lstStyle/>
                    <a:p>
                      <a:pPr algn="l" fontAlgn="ctr"/>
                      <a:r>
                        <a:rPr lang="zh-CN" altLang="en-US" sz="1000" b="0" i="0" u="none" strike="noStrike" kern="100" dirty="0">
                          <a:solidFill>
                            <a:schemeClr val="tx1"/>
                          </a:solidFill>
                          <a:effectLst/>
                          <a:latin typeface="+mn-ea"/>
                          <a:ea typeface="+mn-ea"/>
                          <a:cs typeface="Times New Roman" panose="02020603050405020304" pitchFamily="18" charset="0"/>
                        </a:rPr>
                        <a:t>提升未来本品车主满意度，减少用户流失</a:t>
                      </a:r>
                      <a:endParaRPr lang="zh-CN" altLang="en-US" sz="1000" b="0" i="0" u="none" strike="noStrike" dirty="0">
                        <a:solidFill>
                          <a:srgbClr val="000000"/>
                        </a:solidFill>
                        <a:effectLst/>
                        <a:latin typeface="+mn-ea"/>
                        <a:ea typeface="+mn-ea"/>
                      </a:endParaRPr>
                    </a:p>
                  </a:txBody>
                  <a:tcPr marL="45720" marR="45720" anchor="ctr"/>
                </a:tc>
                <a:extLst>
                  <a:ext uri="{0D108BD9-81ED-4DB2-BD59-A6C34878D82A}">
                    <a16:rowId xmlns:a16="http://schemas.microsoft.com/office/drawing/2014/main" val="3902312219"/>
                  </a:ext>
                </a:extLst>
              </a:tr>
            </a:tbl>
          </a:graphicData>
        </a:graphic>
      </p:graphicFrame>
    </p:spTree>
    <p:extLst>
      <p:ext uri="{BB962C8B-B14F-4D97-AF65-F5344CB8AC3E}">
        <p14:creationId xmlns:p14="http://schemas.microsoft.com/office/powerpoint/2010/main" val="35781288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 name="表格 46"/>
          <p:cNvGraphicFramePr/>
          <p:nvPr>
            <p:custDataLst>
              <p:tags r:id="rId1"/>
            </p:custDataLst>
            <p:extLst>
              <p:ext uri="{D42A27DB-BD31-4B8C-83A1-F6EECF244321}">
                <p14:modId xmlns:p14="http://schemas.microsoft.com/office/powerpoint/2010/main" val="1173402931"/>
              </p:ext>
            </p:extLst>
          </p:nvPr>
        </p:nvGraphicFramePr>
        <p:xfrm>
          <a:off x="263523" y="4979299"/>
          <a:ext cx="11664950" cy="1455420"/>
        </p:xfrm>
        <a:graphic>
          <a:graphicData uri="http://schemas.openxmlformats.org/drawingml/2006/table">
            <a:tbl>
              <a:tblPr firstRow="1" bandRow="1">
                <a:tableStyleId>{5C22544A-7EE6-4342-B048-85BDC9FD1C3A}</a:tableStyleId>
              </a:tblPr>
              <a:tblGrid>
                <a:gridCol w="793117">
                  <a:extLst>
                    <a:ext uri="{9D8B030D-6E8A-4147-A177-3AD203B41FA5}">
                      <a16:colId xmlns:a16="http://schemas.microsoft.com/office/drawing/2014/main" val="20000"/>
                    </a:ext>
                  </a:extLst>
                </a:gridCol>
                <a:gridCol w="1287623">
                  <a:extLst>
                    <a:ext uri="{9D8B030D-6E8A-4147-A177-3AD203B41FA5}">
                      <a16:colId xmlns:a16="http://schemas.microsoft.com/office/drawing/2014/main" val="20001"/>
                    </a:ext>
                  </a:extLst>
                </a:gridCol>
                <a:gridCol w="1368650">
                  <a:extLst>
                    <a:ext uri="{9D8B030D-6E8A-4147-A177-3AD203B41FA5}">
                      <a16:colId xmlns:a16="http://schemas.microsoft.com/office/drawing/2014/main" val="20002"/>
                    </a:ext>
                  </a:extLst>
                </a:gridCol>
                <a:gridCol w="1369695">
                  <a:extLst>
                    <a:ext uri="{9D8B030D-6E8A-4147-A177-3AD203B41FA5}">
                      <a16:colId xmlns:a16="http://schemas.microsoft.com/office/drawing/2014/main" val="20003"/>
                    </a:ext>
                  </a:extLst>
                </a:gridCol>
                <a:gridCol w="1371263">
                  <a:extLst>
                    <a:ext uri="{9D8B030D-6E8A-4147-A177-3AD203B41FA5}">
                      <a16:colId xmlns:a16="http://schemas.microsoft.com/office/drawing/2014/main" val="20004"/>
                    </a:ext>
                  </a:extLst>
                </a:gridCol>
                <a:gridCol w="1368128">
                  <a:extLst>
                    <a:ext uri="{9D8B030D-6E8A-4147-A177-3AD203B41FA5}">
                      <a16:colId xmlns:a16="http://schemas.microsoft.com/office/drawing/2014/main" val="825770071"/>
                    </a:ext>
                  </a:extLst>
                </a:gridCol>
                <a:gridCol w="1368128">
                  <a:extLst>
                    <a:ext uri="{9D8B030D-6E8A-4147-A177-3AD203B41FA5}">
                      <a16:colId xmlns:a16="http://schemas.microsoft.com/office/drawing/2014/main" val="87473239"/>
                    </a:ext>
                  </a:extLst>
                </a:gridCol>
                <a:gridCol w="1368128">
                  <a:extLst>
                    <a:ext uri="{9D8B030D-6E8A-4147-A177-3AD203B41FA5}">
                      <a16:colId xmlns:a16="http://schemas.microsoft.com/office/drawing/2014/main" val="20005"/>
                    </a:ext>
                  </a:extLst>
                </a:gridCol>
                <a:gridCol w="1370218">
                  <a:extLst>
                    <a:ext uri="{9D8B030D-6E8A-4147-A177-3AD203B41FA5}">
                      <a16:colId xmlns:a16="http://schemas.microsoft.com/office/drawing/2014/main" val="20006"/>
                    </a:ext>
                  </a:extLst>
                </a:gridCol>
              </a:tblGrid>
              <a:tr h="177181">
                <a:tc>
                  <a:txBody>
                    <a:bodyPr/>
                    <a:lstStyle/>
                    <a:p>
                      <a:pPr algn="ctr">
                        <a:buNone/>
                      </a:pPr>
                      <a:r>
                        <a:rPr lang="zh-CN" altLang="en-US" sz="1400" b="1" dirty="0">
                          <a:solidFill>
                            <a:sysClr val="windowText" lastClr="000000"/>
                          </a:solidFill>
                        </a:rPr>
                        <a:t>战区</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1400" b="1" kern="1200" dirty="0">
                          <a:solidFill>
                            <a:sysClr val="windowText" lastClr="000000"/>
                          </a:solidFill>
                          <a:latin typeface="+mn-lt"/>
                          <a:ea typeface="+mn-ea"/>
                          <a:cs typeface="+mn-cs"/>
                        </a:rPr>
                        <a:t>北一区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1400" b="1" kern="1200" dirty="0">
                          <a:solidFill>
                            <a:sysClr val="windowText" lastClr="000000"/>
                          </a:solidFill>
                          <a:latin typeface="+mn-lt"/>
                          <a:ea typeface="+mn-ea"/>
                          <a:cs typeface="+mn-cs"/>
                        </a:rPr>
                        <a:t>东二区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1400" b="1" kern="1200">
                          <a:solidFill>
                            <a:sysClr val="windowText" lastClr="000000"/>
                          </a:solidFill>
                          <a:latin typeface="+mn-lt"/>
                          <a:ea typeface="+mn-ea"/>
                          <a:cs typeface="+mn-cs"/>
                        </a:rPr>
                        <a:t>东三区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1400" b="1" kern="1200">
                          <a:solidFill>
                            <a:sysClr val="windowText" lastClr="000000"/>
                          </a:solidFill>
                          <a:latin typeface="+mn-lt"/>
                          <a:ea typeface="+mn-ea"/>
                          <a:cs typeface="+mn-cs"/>
                        </a:rPr>
                        <a:t>西一区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1400" b="1" kern="1200">
                          <a:solidFill>
                            <a:sysClr val="windowText" lastClr="000000"/>
                          </a:solidFill>
                          <a:latin typeface="+mn-lt"/>
                          <a:ea typeface="+mn-ea"/>
                          <a:cs typeface="+mn-cs"/>
                        </a:rPr>
                        <a:t>南二区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1400" b="1" kern="1200" dirty="0">
                          <a:solidFill>
                            <a:sysClr val="windowText" lastClr="000000"/>
                          </a:solidFill>
                          <a:latin typeface="+mn-lt"/>
                          <a:ea typeface="+mn-ea"/>
                          <a:cs typeface="+mn-cs"/>
                        </a:rPr>
                        <a:t>西二区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zh-CN" altLang="en-US" sz="1400" b="1" kern="1200" dirty="0">
                          <a:solidFill>
                            <a:sysClr val="windowText" lastClr="000000"/>
                          </a:solidFill>
                          <a:latin typeface="+mn-lt"/>
                          <a:ea typeface="+mn-ea"/>
                          <a:cs typeface="+mn-cs"/>
                        </a:rPr>
                        <a:t>东一区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zh-CN" altLang="en-US" sz="1400" b="1" kern="1200" dirty="0">
                          <a:solidFill>
                            <a:sysClr val="windowText" lastClr="000000"/>
                          </a:solidFill>
                          <a:latin typeface="+mn-lt"/>
                          <a:ea typeface="+mn-ea"/>
                          <a:cs typeface="+mn-cs"/>
                        </a:rPr>
                        <a:t>南一区</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57494">
                <a:tc>
                  <a:txBody>
                    <a:bodyPr/>
                    <a:lstStyle/>
                    <a:p>
                      <a:pPr algn="ctr">
                        <a:buNone/>
                      </a:pPr>
                      <a:r>
                        <a:rPr lang="zh-CN" altLang="en-US" sz="1400" b="1" dirty="0">
                          <a:solidFill>
                            <a:sysClr val="windowText" lastClr="000000"/>
                          </a:solidFill>
                        </a:rPr>
                        <a:t>样本量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400" b="0" kern="1200" dirty="0">
                          <a:solidFill>
                            <a:sysClr val="windowText" lastClr="000000"/>
                          </a:solidFill>
                          <a:latin typeface="+mn-lt"/>
                          <a:ea typeface="+mn-ea"/>
                          <a:cs typeface="+mn-cs"/>
                        </a:rPr>
                        <a:t>31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400" b="0" kern="1200" dirty="0">
                          <a:solidFill>
                            <a:sysClr val="windowText" lastClr="000000"/>
                          </a:solidFill>
                          <a:latin typeface="+mn-lt"/>
                          <a:ea typeface="+mn-ea"/>
                          <a:cs typeface="+mn-cs"/>
                        </a:rPr>
                        <a:t>35</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400" b="0" kern="1200" dirty="0">
                          <a:solidFill>
                            <a:sysClr val="windowText" lastClr="000000"/>
                          </a:solidFill>
                          <a:latin typeface="+mn-lt"/>
                          <a:ea typeface="+mn-ea"/>
                          <a:cs typeface="+mn-cs"/>
                        </a:rPr>
                        <a:t>34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400" b="0" kern="1200" dirty="0">
                          <a:solidFill>
                            <a:sysClr val="windowText" lastClr="000000"/>
                          </a:solidFill>
                          <a:latin typeface="+mn-lt"/>
                          <a:ea typeface="+mn-ea"/>
                          <a:cs typeface="+mn-cs"/>
                        </a:rPr>
                        <a:t>34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400" b="0" kern="1200" dirty="0">
                          <a:solidFill>
                            <a:sysClr val="windowText" lastClr="000000"/>
                          </a:solidFill>
                          <a:latin typeface="+mn-lt"/>
                          <a:ea typeface="+mn-ea"/>
                          <a:cs typeface="+mn-cs"/>
                        </a:rPr>
                        <a:t>34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400" b="0" kern="1200" dirty="0">
                          <a:solidFill>
                            <a:sysClr val="windowText" lastClr="000000"/>
                          </a:solidFill>
                          <a:latin typeface="+mn-lt"/>
                          <a:ea typeface="+mn-ea"/>
                          <a:cs typeface="+mn-cs"/>
                        </a:rPr>
                        <a:t>34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400" b="0" kern="1200" dirty="0">
                          <a:solidFill>
                            <a:sysClr val="windowText" lastClr="000000"/>
                          </a:solidFill>
                          <a:latin typeface="+mn-lt"/>
                          <a:ea typeface="+mn-ea"/>
                          <a:cs typeface="+mn-cs"/>
                        </a:rPr>
                        <a:t>34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altLang="zh-CN" sz="1400" b="0" kern="1200" dirty="0">
                          <a:solidFill>
                            <a:sysClr val="windowText" lastClr="000000"/>
                          </a:solidFill>
                          <a:latin typeface="+mn-lt"/>
                          <a:ea typeface="+mn-ea"/>
                          <a:cs typeface="+mn-cs"/>
                        </a:rPr>
                        <a:t>35</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57494">
                <a:tc>
                  <a:txBody>
                    <a:bodyPr/>
                    <a:lstStyle/>
                    <a:p>
                      <a:pPr algn="ctr">
                        <a:buNone/>
                      </a:pPr>
                      <a:r>
                        <a:rPr lang="zh-CN" altLang="en-US" sz="1400" b="1" dirty="0">
                          <a:solidFill>
                            <a:sysClr val="windowText" lastClr="000000"/>
                          </a:solidFill>
                        </a:rPr>
                        <a:t>城市</a:t>
                      </a:r>
                      <a:endParaRPr lang="en-US" altLang="zh-CN" sz="1400" b="1" dirty="0">
                        <a:solidFill>
                          <a:sysClr val="windowText" lastClr="000000"/>
                        </a:solidFill>
                      </a:endParaRPr>
                    </a:p>
                    <a:p>
                      <a:pPr algn="ctr">
                        <a:buNone/>
                      </a:pPr>
                      <a:r>
                        <a:rPr lang="zh-CN" altLang="en-US" sz="1400" b="1" dirty="0">
                          <a:solidFill>
                            <a:sysClr val="windowText" lastClr="000000"/>
                          </a:solidFill>
                        </a:rPr>
                        <a:t>样本量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zh-CN" altLang="en-US" sz="1100" b="0" kern="1200" dirty="0">
                          <a:solidFill>
                            <a:sysClr val="windowText" lastClr="000000"/>
                          </a:solidFill>
                          <a:latin typeface="+mn-ea"/>
                          <a:ea typeface="+mn-ea"/>
                          <a:cs typeface="+mn-cs"/>
                        </a:rPr>
                        <a:t>北京（</a:t>
                      </a:r>
                      <a:r>
                        <a:rPr lang="en-US" altLang="zh-CN" sz="1100" b="0" kern="1200" dirty="0">
                          <a:solidFill>
                            <a:sysClr val="windowText" lastClr="000000"/>
                          </a:solidFill>
                          <a:latin typeface="+mn-ea"/>
                          <a:ea typeface="+mn-ea"/>
                          <a:cs typeface="+mn-cs"/>
                        </a:rPr>
                        <a:t>17</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p>
                      <a:pPr marL="0" algn="ctr" defTabSz="914400" rtl="0" eaLnBrk="1" fontAlgn="b" latinLnBrk="0" hangingPunct="1"/>
                      <a:r>
                        <a:rPr lang="zh-CN" altLang="en-US" sz="1100" b="0" kern="1200" dirty="0">
                          <a:solidFill>
                            <a:sysClr val="windowText" lastClr="000000"/>
                          </a:solidFill>
                          <a:latin typeface="+mn-ea"/>
                          <a:ea typeface="+mn-ea"/>
                          <a:cs typeface="+mn-cs"/>
                        </a:rPr>
                        <a:t>郑州（</a:t>
                      </a:r>
                      <a:r>
                        <a:rPr lang="en-US" altLang="zh-CN" sz="1100" b="0" kern="1200" dirty="0">
                          <a:solidFill>
                            <a:sysClr val="windowText" lastClr="000000"/>
                          </a:solidFill>
                          <a:latin typeface="+mn-ea"/>
                          <a:ea typeface="+mn-ea"/>
                          <a:cs typeface="+mn-cs"/>
                        </a:rPr>
                        <a:t>9</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p>
                      <a:pPr marL="0" algn="ctr" defTabSz="914400" rtl="0" eaLnBrk="1" fontAlgn="b" latinLnBrk="0" hangingPunct="1"/>
                      <a:r>
                        <a:rPr lang="zh-CN" altLang="en-US" sz="1100" b="0" kern="1200" dirty="0">
                          <a:solidFill>
                            <a:sysClr val="windowText" lastClr="000000"/>
                          </a:solidFill>
                          <a:latin typeface="+mn-ea"/>
                          <a:ea typeface="+mn-ea"/>
                          <a:cs typeface="+mn-cs"/>
                        </a:rPr>
                        <a:t>青岛（</a:t>
                      </a:r>
                      <a:r>
                        <a:rPr lang="en-US" altLang="zh-CN" sz="1100" b="0" kern="1200" dirty="0">
                          <a:solidFill>
                            <a:sysClr val="windowText" lastClr="000000"/>
                          </a:solidFill>
                          <a:latin typeface="+mn-ea"/>
                          <a:ea typeface="+mn-ea"/>
                          <a:cs typeface="+mn-cs"/>
                        </a:rPr>
                        <a:t>5</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zh-CN" altLang="en-US" sz="1100" b="0" kern="1200" dirty="0">
                          <a:solidFill>
                            <a:sysClr val="windowText" lastClr="000000"/>
                          </a:solidFill>
                          <a:latin typeface="+mn-ea"/>
                          <a:ea typeface="+mn-ea"/>
                          <a:cs typeface="+mn-cs"/>
                        </a:rPr>
                        <a:t>无锡（</a:t>
                      </a:r>
                      <a:r>
                        <a:rPr lang="en-US" altLang="zh-CN" sz="1100" b="0" kern="1200" dirty="0">
                          <a:solidFill>
                            <a:sysClr val="windowText" lastClr="000000"/>
                          </a:solidFill>
                          <a:latin typeface="+mn-ea"/>
                          <a:ea typeface="+mn-ea"/>
                          <a:cs typeface="+mn-cs"/>
                        </a:rPr>
                        <a:t>10</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p>
                      <a:pPr marL="0" algn="ctr" defTabSz="914400" rtl="0" eaLnBrk="1" fontAlgn="b" latinLnBrk="0" hangingPunct="1"/>
                      <a:r>
                        <a:rPr lang="zh-CN" altLang="en-US" sz="1100" b="0" kern="1200" dirty="0">
                          <a:solidFill>
                            <a:sysClr val="windowText" lastClr="000000"/>
                          </a:solidFill>
                          <a:latin typeface="+mn-ea"/>
                          <a:ea typeface="+mn-ea"/>
                          <a:cs typeface="+mn-cs"/>
                        </a:rPr>
                        <a:t>合肥（</a:t>
                      </a:r>
                      <a:r>
                        <a:rPr lang="en-US" altLang="zh-CN" sz="1100" b="0" kern="1200" dirty="0">
                          <a:solidFill>
                            <a:sysClr val="windowText" lastClr="000000"/>
                          </a:solidFill>
                          <a:latin typeface="+mn-ea"/>
                          <a:ea typeface="+mn-ea"/>
                          <a:cs typeface="+mn-cs"/>
                        </a:rPr>
                        <a:t>12</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p>
                      <a:pPr marL="0" algn="ctr" defTabSz="914400" rtl="0" eaLnBrk="1" fontAlgn="b" latinLnBrk="0" hangingPunct="1"/>
                      <a:r>
                        <a:rPr lang="zh-CN" altLang="en-US" sz="1100" b="0" kern="1200" dirty="0">
                          <a:solidFill>
                            <a:sysClr val="windowText" lastClr="000000"/>
                          </a:solidFill>
                          <a:latin typeface="+mn-ea"/>
                          <a:ea typeface="+mn-ea"/>
                          <a:cs typeface="+mn-cs"/>
                        </a:rPr>
                        <a:t>南京（</a:t>
                      </a:r>
                      <a:r>
                        <a:rPr lang="en-US" altLang="zh-CN" sz="1100" b="0" kern="1200" dirty="0">
                          <a:solidFill>
                            <a:sysClr val="windowText" lastClr="000000"/>
                          </a:solidFill>
                          <a:latin typeface="+mn-ea"/>
                          <a:ea typeface="+mn-ea"/>
                          <a:cs typeface="+mn-cs"/>
                        </a:rPr>
                        <a:t>6</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p>
                      <a:pPr marL="0" algn="ctr" defTabSz="914400" rtl="0" eaLnBrk="1" fontAlgn="b" latinLnBrk="0" hangingPunct="1"/>
                      <a:r>
                        <a:rPr lang="zh-CN" altLang="en-US" sz="1100" b="0" kern="1200" dirty="0">
                          <a:solidFill>
                            <a:sysClr val="windowText" lastClr="000000"/>
                          </a:solidFill>
                          <a:latin typeface="+mn-ea"/>
                          <a:ea typeface="+mn-ea"/>
                          <a:cs typeface="+mn-cs"/>
                        </a:rPr>
                        <a:t>苏州（</a:t>
                      </a:r>
                      <a:r>
                        <a:rPr lang="en-US" altLang="zh-CN" sz="1100" b="0" kern="1200" dirty="0">
                          <a:solidFill>
                            <a:sysClr val="windowText" lastClr="000000"/>
                          </a:solidFill>
                          <a:latin typeface="+mn-ea"/>
                          <a:ea typeface="+mn-ea"/>
                          <a:cs typeface="+mn-cs"/>
                        </a:rPr>
                        <a:t>7</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zh-CN" altLang="en-US" sz="1100" b="0" kern="1200" dirty="0">
                          <a:solidFill>
                            <a:sysClr val="windowText" lastClr="000000"/>
                          </a:solidFill>
                          <a:latin typeface="+mn-ea"/>
                          <a:ea typeface="+mn-ea"/>
                          <a:cs typeface="+mn-cs"/>
                        </a:rPr>
                        <a:t>上海（</a:t>
                      </a:r>
                      <a:r>
                        <a:rPr lang="en-US" altLang="zh-CN" sz="1100" b="0" kern="1200" dirty="0">
                          <a:solidFill>
                            <a:sysClr val="windowText" lastClr="000000"/>
                          </a:solidFill>
                          <a:latin typeface="+mn-ea"/>
                          <a:ea typeface="+mn-ea"/>
                          <a:cs typeface="+mn-cs"/>
                        </a:rPr>
                        <a:t>34</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p>
                      <a:pPr marL="0" algn="ctr" defTabSz="914400" rtl="0" eaLnBrk="1" fontAlgn="b" latinLnBrk="0" hangingPunct="1"/>
                      <a:endParaRPr lang="en-US" altLang="zh-CN" sz="1100" b="0" kern="1200" dirty="0">
                        <a:solidFill>
                          <a:sysClr val="windowText" lastClr="000000"/>
                        </a:solidFill>
                        <a:latin typeface="+mn-ea"/>
                        <a:ea typeface="+mn-ea"/>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zh-CN" altLang="en-US" sz="1100" b="0" kern="1200" dirty="0">
                          <a:solidFill>
                            <a:sysClr val="windowText" lastClr="000000"/>
                          </a:solidFill>
                          <a:latin typeface="+mn-ea"/>
                          <a:ea typeface="+mn-ea"/>
                          <a:cs typeface="+mn-cs"/>
                        </a:rPr>
                        <a:t>武汉（</a:t>
                      </a:r>
                      <a:r>
                        <a:rPr lang="en-US" altLang="zh-CN" sz="1100" b="0" kern="1200" dirty="0">
                          <a:solidFill>
                            <a:sysClr val="windowText" lastClr="000000"/>
                          </a:solidFill>
                          <a:latin typeface="+mn-ea"/>
                          <a:ea typeface="+mn-ea"/>
                          <a:cs typeface="+mn-cs"/>
                        </a:rPr>
                        <a:t>10</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p>
                      <a:pPr marL="0" algn="ctr" defTabSz="914400" rtl="0" eaLnBrk="1" fontAlgn="b" latinLnBrk="0" hangingPunct="1"/>
                      <a:r>
                        <a:rPr lang="zh-CN" altLang="en-US" sz="1100" b="0" kern="1200" dirty="0">
                          <a:solidFill>
                            <a:sysClr val="windowText" lastClr="000000"/>
                          </a:solidFill>
                          <a:latin typeface="+mn-ea"/>
                          <a:ea typeface="+mn-ea"/>
                          <a:cs typeface="+mn-cs"/>
                        </a:rPr>
                        <a:t>成都（</a:t>
                      </a:r>
                      <a:r>
                        <a:rPr lang="en-US" altLang="zh-CN" sz="1100" b="0" kern="1200" dirty="0">
                          <a:solidFill>
                            <a:sysClr val="windowText" lastClr="000000"/>
                          </a:solidFill>
                          <a:latin typeface="+mn-ea"/>
                          <a:ea typeface="+mn-ea"/>
                          <a:cs typeface="+mn-cs"/>
                        </a:rPr>
                        <a:t>20</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p>
                      <a:pPr marL="0" algn="ctr" defTabSz="914400" rtl="0" eaLnBrk="1" fontAlgn="b" latinLnBrk="0" hangingPunct="1"/>
                      <a:r>
                        <a:rPr lang="zh-CN" altLang="en-US" sz="1100" b="0" kern="1200" dirty="0">
                          <a:solidFill>
                            <a:sysClr val="windowText" lastClr="000000"/>
                          </a:solidFill>
                          <a:latin typeface="+mn-ea"/>
                          <a:ea typeface="+mn-ea"/>
                          <a:cs typeface="+mn-cs"/>
                        </a:rPr>
                        <a:t>昆明（</a:t>
                      </a:r>
                      <a:r>
                        <a:rPr lang="en-US" altLang="zh-CN" sz="1100" b="0" kern="1200" dirty="0">
                          <a:solidFill>
                            <a:sysClr val="windowText" lastClr="000000"/>
                          </a:solidFill>
                          <a:latin typeface="+mn-ea"/>
                          <a:ea typeface="+mn-ea"/>
                          <a:cs typeface="+mn-cs"/>
                        </a:rPr>
                        <a:t>4</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zh-CN" altLang="en-US" sz="1100" b="0" kern="1200" dirty="0">
                          <a:solidFill>
                            <a:sysClr val="windowText" lastClr="000000"/>
                          </a:solidFill>
                          <a:latin typeface="+mn-ea"/>
                          <a:ea typeface="+mn-ea"/>
                          <a:cs typeface="+mn-cs"/>
                        </a:rPr>
                        <a:t>广州（</a:t>
                      </a:r>
                      <a:r>
                        <a:rPr lang="en-US" altLang="zh-CN" sz="1100" b="0" kern="1200" dirty="0">
                          <a:solidFill>
                            <a:sysClr val="windowText" lastClr="000000"/>
                          </a:solidFill>
                          <a:latin typeface="+mn-ea"/>
                          <a:ea typeface="+mn-ea"/>
                          <a:cs typeface="+mn-cs"/>
                        </a:rPr>
                        <a:t>34</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p>
                      <a:pPr marL="0" algn="ctr" defTabSz="914400" rtl="0" eaLnBrk="1" fontAlgn="b" latinLnBrk="0" hangingPunct="1"/>
                      <a:endParaRPr lang="en-US" altLang="zh-CN" sz="1100" b="0" kern="1200" dirty="0">
                        <a:solidFill>
                          <a:sysClr val="windowText" lastClr="000000"/>
                        </a:solidFill>
                        <a:latin typeface="+mn-ea"/>
                        <a:ea typeface="+mn-ea"/>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zh-CN" altLang="en-US" sz="1100" b="0" kern="1200" dirty="0">
                          <a:solidFill>
                            <a:sysClr val="windowText" lastClr="000000"/>
                          </a:solidFill>
                          <a:latin typeface="+mn-ea"/>
                          <a:ea typeface="+mn-ea"/>
                          <a:cs typeface="+mn-cs"/>
                        </a:rPr>
                        <a:t>重庆（</a:t>
                      </a:r>
                      <a:r>
                        <a:rPr lang="en-US" altLang="zh-CN" sz="1100" b="0" kern="1200" dirty="0">
                          <a:solidFill>
                            <a:sysClr val="windowText" lastClr="000000"/>
                          </a:solidFill>
                          <a:latin typeface="+mn-ea"/>
                          <a:ea typeface="+mn-ea"/>
                          <a:cs typeface="+mn-cs"/>
                        </a:rPr>
                        <a:t>34</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b" latinLnBrk="0" hangingPunct="1"/>
                      <a:r>
                        <a:rPr lang="zh-CN" altLang="en-US" sz="1100" b="0" kern="1200" dirty="0">
                          <a:solidFill>
                            <a:sysClr val="windowText" lastClr="000000"/>
                          </a:solidFill>
                          <a:latin typeface="+mn-ea"/>
                          <a:ea typeface="+mn-ea"/>
                          <a:cs typeface="+mn-cs"/>
                        </a:rPr>
                        <a:t>宁波（</a:t>
                      </a:r>
                      <a:r>
                        <a:rPr lang="en-US" altLang="zh-CN" sz="1100" b="0" kern="1200" dirty="0">
                          <a:solidFill>
                            <a:sysClr val="windowText" lastClr="000000"/>
                          </a:solidFill>
                          <a:latin typeface="+mn-ea"/>
                          <a:ea typeface="+mn-ea"/>
                          <a:cs typeface="+mn-cs"/>
                        </a:rPr>
                        <a:t>11</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p>
                      <a:pPr marL="0" algn="ctr" defTabSz="914400" rtl="0" eaLnBrk="1" fontAlgn="b" latinLnBrk="0" hangingPunct="1"/>
                      <a:r>
                        <a:rPr lang="zh-CN" altLang="en-US" sz="1100" b="0" kern="1200" dirty="0">
                          <a:solidFill>
                            <a:sysClr val="windowText" lastClr="000000"/>
                          </a:solidFill>
                          <a:latin typeface="+mn-ea"/>
                          <a:ea typeface="+mn-ea"/>
                          <a:cs typeface="+mn-cs"/>
                        </a:rPr>
                        <a:t>义乌（</a:t>
                      </a:r>
                      <a:r>
                        <a:rPr lang="en-US" altLang="zh-CN" sz="1100" b="0" kern="1200" dirty="0">
                          <a:solidFill>
                            <a:sysClr val="windowText" lastClr="000000"/>
                          </a:solidFill>
                          <a:latin typeface="+mn-ea"/>
                          <a:ea typeface="+mn-ea"/>
                          <a:cs typeface="+mn-cs"/>
                        </a:rPr>
                        <a:t>6</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p>
                      <a:pPr marL="0" algn="ctr" defTabSz="914400" rtl="0" eaLnBrk="1" fontAlgn="b" latinLnBrk="0" hangingPunct="1"/>
                      <a:r>
                        <a:rPr lang="zh-CN" altLang="en-US" sz="1100" b="0" kern="1200" dirty="0">
                          <a:solidFill>
                            <a:sysClr val="windowText" lastClr="000000"/>
                          </a:solidFill>
                          <a:latin typeface="+mn-ea"/>
                          <a:ea typeface="+mn-ea"/>
                          <a:cs typeface="+mn-cs"/>
                        </a:rPr>
                        <a:t>金华（</a:t>
                      </a:r>
                      <a:r>
                        <a:rPr lang="en-US" altLang="zh-CN" sz="1100" b="0" kern="1200" dirty="0">
                          <a:solidFill>
                            <a:sysClr val="windowText" lastClr="000000"/>
                          </a:solidFill>
                          <a:latin typeface="+mn-ea"/>
                          <a:ea typeface="+mn-ea"/>
                          <a:cs typeface="+mn-cs"/>
                        </a:rPr>
                        <a:t>3</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p>
                      <a:pPr marL="0" algn="ctr" defTabSz="914400" rtl="0" eaLnBrk="1" fontAlgn="b" latinLnBrk="0" hangingPunct="1"/>
                      <a:r>
                        <a:rPr lang="zh-CN" altLang="en-US" sz="1100" b="0" kern="1200" dirty="0">
                          <a:solidFill>
                            <a:sysClr val="windowText" lastClr="000000"/>
                          </a:solidFill>
                          <a:latin typeface="+mn-ea"/>
                          <a:ea typeface="+mn-ea"/>
                          <a:cs typeface="+mn-cs"/>
                        </a:rPr>
                        <a:t>温州（</a:t>
                      </a:r>
                      <a:r>
                        <a:rPr lang="en-US" altLang="zh-CN" sz="1100" b="0" kern="1200" dirty="0">
                          <a:solidFill>
                            <a:sysClr val="windowText" lastClr="000000"/>
                          </a:solidFill>
                          <a:latin typeface="+mn-ea"/>
                          <a:ea typeface="+mn-ea"/>
                          <a:cs typeface="+mn-cs"/>
                        </a:rPr>
                        <a:t>1</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p>
                      <a:pPr marL="0" algn="ctr" defTabSz="914400" rtl="0" eaLnBrk="1" fontAlgn="b" latinLnBrk="0" hangingPunct="1"/>
                      <a:r>
                        <a:rPr lang="zh-CN" altLang="en-US" sz="1100" b="0" kern="1200" dirty="0">
                          <a:solidFill>
                            <a:sysClr val="windowText" lastClr="000000"/>
                          </a:solidFill>
                          <a:latin typeface="+mn-ea"/>
                          <a:ea typeface="+mn-ea"/>
                          <a:cs typeface="+mn-cs"/>
                        </a:rPr>
                        <a:t>杭州（</a:t>
                      </a:r>
                      <a:r>
                        <a:rPr lang="en-US" altLang="zh-CN" sz="1100" b="0" kern="1200" dirty="0">
                          <a:solidFill>
                            <a:sysClr val="windowText" lastClr="000000"/>
                          </a:solidFill>
                          <a:latin typeface="+mn-ea"/>
                          <a:ea typeface="+mn-ea"/>
                          <a:cs typeface="+mn-cs"/>
                        </a:rPr>
                        <a:t>13</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zh-CN" altLang="en-US" sz="1100" b="0" kern="1200" dirty="0">
                          <a:solidFill>
                            <a:sysClr val="windowText" lastClr="000000"/>
                          </a:solidFill>
                          <a:latin typeface="+mn-ea"/>
                          <a:ea typeface="+mn-ea"/>
                          <a:cs typeface="+mn-cs"/>
                        </a:rPr>
                        <a:t>深圳（</a:t>
                      </a:r>
                      <a:r>
                        <a:rPr lang="en-US" altLang="zh-CN" sz="1100" b="0" kern="1200" dirty="0">
                          <a:solidFill>
                            <a:sysClr val="windowText" lastClr="000000"/>
                          </a:solidFill>
                          <a:latin typeface="+mn-ea"/>
                          <a:ea typeface="+mn-ea"/>
                          <a:cs typeface="+mn-cs"/>
                        </a:rPr>
                        <a:t>35</a:t>
                      </a:r>
                      <a:r>
                        <a:rPr lang="zh-CN" altLang="en-US" sz="1100" b="0" kern="1200" dirty="0">
                          <a:solidFill>
                            <a:sysClr val="windowText" lastClr="000000"/>
                          </a:solidFill>
                          <a:latin typeface="+mn-ea"/>
                          <a:ea typeface="+mn-ea"/>
                          <a:cs typeface="+mn-cs"/>
                        </a:rPr>
                        <a:t>）</a:t>
                      </a:r>
                      <a:endParaRPr lang="en-US" altLang="zh-CN" sz="1100" b="0" kern="1200" dirty="0">
                        <a:solidFill>
                          <a:sysClr val="windowText" lastClr="000000"/>
                        </a:solidFill>
                        <a:latin typeface="+mn-ea"/>
                        <a:ea typeface="+mn-ea"/>
                        <a:cs typeface="+mn-cs"/>
                      </a:endParaRPr>
                    </a:p>
                    <a:p>
                      <a:pPr marL="0" algn="ctr" defTabSz="914400" rtl="0" eaLnBrk="1" fontAlgn="b" latinLnBrk="0" hangingPunct="1"/>
                      <a:endParaRPr lang="en-US" altLang="zh-CN" sz="1100" b="0" kern="1200" dirty="0">
                        <a:solidFill>
                          <a:sysClr val="windowText" lastClr="000000"/>
                        </a:solidFill>
                        <a:latin typeface="+mn-ea"/>
                        <a:ea typeface="+mn-ea"/>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8865268"/>
                  </a:ext>
                </a:extLst>
              </a:tr>
            </a:tbl>
          </a:graphicData>
        </a:graphic>
      </p:graphicFrame>
      <p:sp>
        <p:nvSpPr>
          <p:cNvPr id="3" name="文本占位符 2"/>
          <p:cNvSpPr>
            <a:spLocks noGrp="1"/>
          </p:cNvSpPr>
          <p:nvPr>
            <p:ph type="body" sz="quarter" idx="21"/>
          </p:nvPr>
        </p:nvSpPr>
        <p:spPr/>
        <p:txBody>
          <a:bodyPr/>
          <a:lstStyle/>
          <a:p>
            <a:r>
              <a:rPr kumimoji="1" lang="en-US" altLang="zh-CN" dirty="0">
                <a:latin typeface="+mn-ea"/>
                <a:ea typeface="+mn-ea"/>
                <a:sym typeface="+mn-ea"/>
              </a:rPr>
              <a:t>2.6 SSI</a:t>
            </a:r>
            <a:r>
              <a:rPr kumimoji="1" lang="zh-CN" altLang="en-US" dirty="0">
                <a:latin typeface="+mn-ea"/>
                <a:ea typeface="+mn-ea"/>
                <a:sym typeface="+mn-ea"/>
              </a:rPr>
              <a:t>（销售部分）怎样可以有效提升某品牌销售服务得分排名？从</a:t>
            </a:r>
            <a:r>
              <a:rPr kumimoji="1" lang="zh-CN" altLang="en-US" dirty="0">
                <a:latin typeface="+mn-ea"/>
                <a:ea typeface="+mn-ea"/>
              </a:rPr>
              <a:t>战区维度来看</a:t>
            </a:r>
          </a:p>
        </p:txBody>
      </p:sp>
      <p:sp>
        <p:nvSpPr>
          <p:cNvPr id="7" name="灯片编号占位符 6"/>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00B666-AD48-5640-8D08-2A4A6036569F}" type="slidenum">
              <a:rPr kumimoji="0" lang="zh-CN" altLang="en-US" sz="800" b="0" i="0" u="none" strike="noStrike" kern="1200" cap="none" spc="0" normalizeH="0" baseline="0" noProof="0" smtClean="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800" b="0" i="0" u="none" strike="noStrike" kern="1200" cap="none" spc="0" normalizeH="0" baseline="0" noProof="0" dirty="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endParaRPr>
          </a:p>
        </p:txBody>
      </p:sp>
      <p:graphicFrame>
        <p:nvGraphicFramePr>
          <p:cNvPr id="27" name="图表 26"/>
          <p:cNvGraphicFramePr/>
          <p:nvPr>
            <p:custDataLst>
              <p:tags r:id="rId2"/>
            </p:custDataLst>
          </p:nvPr>
        </p:nvGraphicFramePr>
        <p:xfrm>
          <a:off x="653144" y="1756488"/>
          <a:ext cx="11270750" cy="3311614"/>
        </p:xfrm>
        <a:graphic>
          <a:graphicData uri="http://schemas.openxmlformats.org/drawingml/2006/chart">
            <c:chart xmlns:c="http://schemas.openxmlformats.org/drawingml/2006/chart" xmlns:r="http://schemas.openxmlformats.org/officeDocument/2006/relationships" r:id="rId5"/>
          </a:graphicData>
        </a:graphic>
      </p:graphicFrame>
      <p:cxnSp>
        <p:nvCxnSpPr>
          <p:cNvPr id="2" name="直接连接符 1"/>
          <p:cNvCxnSpPr>
            <a:cxnSpLocks/>
          </p:cNvCxnSpPr>
          <p:nvPr/>
        </p:nvCxnSpPr>
        <p:spPr>
          <a:xfrm>
            <a:off x="922930" y="2699718"/>
            <a:ext cx="10968306" cy="0"/>
          </a:xfrm>
          <a:prstGeom prst="line">
            <a:avLst/>
          </a:prstGeom>
          <a:ln w="9525" cap="flat" cmpd="sng" algn="ctr">
            <a:solidFill>
              <a:schemeClr val="accent5">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文本框 4"/>
          <p:cNvSpPr txBox="1"/>
          <p:nvPr/>
        </p:nvSpPr>
        <p:spPr>
          <a:xfrm>
            <a:off x="311064" y="2437495"/>
            <a:ext cx="611866"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4B8D56"/>
                </a:solidFill>
                <a:effectLst/>
                <a:uLnTx/>
                <a:uFillTx/>
                <a:latin typeface="DIN Pro"/>
                <a:ea typeface="Alibaba PuHuiTi 2.0 55 Regular"/>
                <a:cs typeface="+mn-cs"/>
              </a:rPr>
              <a:t>全国均分</a:t>
            </a:r>
            <a:r>
              <a:rPr lang="en-US" altLang="zh-CN" sz="1100" b="1" dirty="0">
                <a:solidFill>
                  <a:srgbClr val="4B8D56"/>
                </a:solidFill>
                <a:latin typeface="DIN Pro"/>
                <a:ea typeface="Alibaba PuHuiTi 2.0 55 Regular"/>
              </a:rPr>
              <a:t>869</a:t>
            </a:r>
            <a:endParaRPr kumimoji="0" lang="zh-CN" altLang="en-US" sz="1100" b="1" i="0" u="none" strike="noStrike" kern="1200" cap="none" spc="0" normalizeH="0" baseline="0" noProof="0" dirty="0">
              <a:ln>
                <a:noFill/>
              </a:ln>
              <a:solidFill>
                <a:srgbClr val="4B8D56"/>
              </a:solidFill>
              <a:effectLst/>
              <a:uLnTx/>
              <a:uFillTx/>
              <a:latin typeface="DIN Pro"/>
              <a:ea typeface="Alibaba PuHuiTi 2.0 55 Regular"/>
              <a:cs typeface="+mn-cs"/>
            </a:endParaRPr>
          </a:p>
        </p:txBody>
      </p:sp>
      <p:sp>
        <p:nvSpPr>
          <p:cNvPr id="8" name="文本占位符 3"/>
          <p:cNvSpPr>
            <a:spLocks noGrp="1"/>
          </p:cNvSpPr>
          <p:nvPr/>
        </p:nvSpPr>
        <p:spPr>
          <a:xfrm>
            <a:off x="311065" y="954323"/>
            <a:ext cx="11547560" cy="345747"/>
          </a:xfrm>
          <a:prstGeom prst="rect">
            <a:avLst/>
          </a:prstGeom>
          <a:noFill/>
        </p:spPr>
        <p:txBody>
          <a:bodyPr lIns="0" tIns="0" rIns="0" bIns="0" anchor="t" anchorCtr="0"/>
          <a:lstStyle>
            <a:lvl1pPr marL="0" indent="0" algn="l" defTabSz="914400" rtl="0" eaLnBrk="1" latinLnBrk="0" hangingPunct="1">
              <a:lnSpc>
                <a:spcPct val="90000"/>
              </a:lnSpc>
              <a:spcBef>
                <a:spcPts val="1000"/>
              </a:spcBef>
              <a:buFont typeface="Arial" panose="020B0604020202020204" pitchFamily="34" charset="0"/>
              <a:buNone/>
              <a:defRPr kumimoji="0" lang="zh-CN" altLang="en-US" sz="1600" b="1" i="0" u="none" strike="noStrike" kern="0" cap="none" spc="0" normalizeH="0" baseline="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zh-CN" altLang="en-US" sz="1600" b="1" i="0" u="none" strike="noStrike" kern="0" cap="none" spc="0" normalizeH="0" baseline="0" noProof="0" dirty="0">
                <a:ln>
                  <a:noFill/>
                </a:ln>
                <a:solidFill>
                  <a:srgbClr val="595757"/>
                </a:solidFill>
                <a:effectLst/>
                <a:uLnTx/>
                <a:uFillTx/>
                <a:latin typeface="DIN Pro Regular" panose="02000503040000020003" pitchFamily="50" charset="0"/>
                <a:ea typeface="Alibaba PuHuiTi 2.0 55 Regular" pitchFamily="18" charset="-122"/>
                <a:cs typeface="Alibaba PuHuiTi 2.0 55 Regular" pitchFamily="18" charset="-122"/>
              </a:rPr>
              <a:t>提升某品牌销售服务得分排名，具体到战区层面，表现最差的南一区需要优先提升</a:t>
            </a:r>
          </a:p>
        </p:txBody>
      </p:sp>
      <p:sp>
        <p:nvSpPr>
          <p:cNvPr id="9" name="矩形 8">
            <a:extLst>
              <a:ext uri="{FF2B5EF4-FFF2-40B4-BE49-F238E27FC236}">
                <a16:creationId xmlns:a16="http://schemas.microsoft.com/office/drawing/2014/main" id="{5DC27695-0C2C-67BA-9E0C-C346ADCB9932}"/>
              </a:ext>
            </a:extLst>
          </p:cNvPr>
          <p:cNvSpPr/>
          <p:nvPr/>
        </p:nvSpPr>
        <p:spPr>
          <a:xfrm>
            <a:off x="263526" y="1282733"/>
            <a:ext cx="11664950" cy="3600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kumimoji="0" lang="zh-CN" altLang="en-US" sz="1400" b="1" i="0" u="none" strike="noStrike" kern="1200" cap="none" spc="0" normalizeH="0" baseline="0" noProof="0" dirty="0">
                <a:ln>
                  <a:noFill/>
                </a:ln>
                <a:solidFill>
                  <a:srgbClr val="FBFBFB"/>
                </a:solidFill>
                <a:effectLst/>
                <a:uLnTx/>
                <a:uFillTx/>
                <a:latin typeface="Alibaba PuHuiTi 2.0 55 Regular"/>
                <a:ea typeface="Alibaba PuHuiTi 2.0 55 Regular"/>
                <a:cs typeface="Alibaba PuHuiTi 2.0 55 Regular"/>
              </a:rPr>
              <a:t>各战区销售服务满意度排名（车主自评）</a:t>
            </a:r>
            <a:endParaRPr kumimoji="0" lang="en-US" altLang="zh-CN" sz="1400" b="1" i="0" u="none" strike="noStrike" kern="1200" cap="none" spc="0" normalizeH="0" baseline="0" noProof="0" dirty="0">
              <a:ln>
                <a:noFill/>
              </a:ln>
              <a:solidFill>
                <a:srgbClr val="FBFBFB"/>
              </a:solidFill>
              <a:effectLst/>
              <a:uLnTx/>
              <a:uFillTx/>
              <a:latin typeface="Alibaba PuHuiTi 2.0 55 Regular"/>
              <a:ea typeface="Alibaba PuHuiTi 2.0 55 Regular"/>
              <a:cs typeface="Alibaba PuHuiTi 2.0 55 Regul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9F4CFC8-3A5F-ADCF-472C-383E02322624}"/>
              </a:ext>
            </a:extLst>
          </p:cNvPr>
          <p:cNvSpPr/>
          <p:nvPr/>
        </p:nvSpPr>
        <p:spPr>
          <a:xfrm>
            <a:off x="278934" y="1528681"/>
            <a:ext cx="11664949" cy="5003800"/>
          </a:xfrm>
          <a:prstGeom prst="rect">
            <a:avLst/>
          </a:prstGeom>
          <a:solidFill>
            <a:srgbClr val="F0F0F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0" name="文本占位符 9">
            <a:extLst>
              <a:ext uri="{FF2B5EF4-FFF2-40B4-BE49-F238E27FC236}">
                <a16:creationId xmlns:a16="http://schemas.microsoft.com/office/drawing/2014/main" id="{BBB8CD17-1C49-CFC6-157E-23166074490E}"/>
              </a:ext>
            </a:extLst>
          </p:cNvPr>
          <p:cNvSpPr>
            <a:spLocks noGrp="1"/>
          </p:cNvSpPr>
          <p:nvPr>
            <p:ph type="body" sz="quarter" idx="14"/>
          </p:nvPr>
        </p:nvSpPr>
        <p:spPr/>
        <p:txBody>
          <a:bodyPr/>
          <a:lstStyle/>
          <a:p>
            <a:endParaRPr lang="zh-CN" altLang="en-US"/>
          </a:p>
        </p:txBody>
      </p:sp>
      <p:sp>
        <p:nvSpPr>
          <p:cNvPr id="7" name="文本占位符 6">
            <a:extLst>
              <a:ext uri="{FF2B5EF4-FFF2-40B4-BE49-F238E27FC236}">
                <a16:creationId xmlns:a16="http://schemas.microsoft.com/office/drawing/2014/main" id="{6D2845FF-4C97-1D55-08C4-5FAF28694215}"/>
              </a:ext>
            </a:extLst>
          </p:cNvPr>
          <p:cNvSpPr>
            <a:spLocks noGrp="1"/>
          </p:cNvSpPr>
          <p:nvPr>
            <p:ph type="body" sz="quarter" idx="21"/>
          </p:nvPr>
        </p:nvSpPr>
        <p:spPr/>
        <p:txBody>
          <a:bodyPr/>
          <a:lstStyle/>
          <a:p>
            <a:r>
              <a:rPr kumimoji="1" lang="en-US" altLang="zh-CN" dirty="0">
                <a:latin typeface="+mn-ea"/>
                <a:ea typeface="+mn-ea"/>
                <a:sym typeface="+mn-ea"/>
              </a:rPr>
              <a:t>2.6 SSI</a:t>
            </a:r>
            <a:r>
              <a:rPr kumimoji="1" lang="zh-CN" altLang="en-US" dirty="0">
                <a:latin typeface="+mn-ea"/>
                <a:ea typeface="+mn-ea"/>
                <a:sym typeface="+mn-ea"/>
              </a:rPr>
              <a:t>（销售部分）</a:t>
            </a:r>
            <a:r>
              <a:rPr kumimoji="1" lang="en-US" altLang="zh-CN" dirty="0">
                <a:latin typeface="+mn-ea"/>
                <a:ea typeface="+mn-ea"/>
                <a:sym typeface="+mn-ea"/>
              </a:rPr>
              <a:t>-</a:t>
            </a:r>
            <a:r>
              <a:rPr lang="zh-CN" altLang="en-US" dirty="0"/>
              <a:t>各战区表现</a:t>
            </a:r>
            <a:r>
              <a:rPr lang="en-US" altLang="zh-CN" dirty="0"/>
              <a:t>-</a:t>
            </a:r>
            <a:r>
              <a:rPr lang="zh-CN" altLang="en-US" dirty="0"/>
              <a:t>因子评分</a:t>
            </a:r>
          </a:p>
        </p:txBody>
      </p:sp>
      <p:sp>
        <p:nvSpPr>
          <p:cNvPr id="8" name="文本占位符 7">
            <a:extLst>
              <a:ext uri="{FF2B5EF4-FFF2-40B4-BE49-F238E27FC236}">
                <a16:creationId xmlns:a16="http://schemas.microsoft.com/office/drawing/2014/main" id="{16F4F567-B42B-DA3F-BEE3-108EDFDE83A1}"/>
              </a:ext>
            </a:extLst>
          </p:cNvPr>
          <p:cNvSpPr>
            <a:spLocks noGrp="1"/>
          </p:cNvSpPr>
          <p:nvPr>
            <p:ph type="body" sz="quarter" idx="22"/>
          </p:nvPr>
        </p:nvSpPr>
        <p:spPr/>
        <p:txBody>
          <a:bodyPr/>
          <a:lstStyle/>
          <a:p>
            <a:r>
              <a:rPr lang="zh-CN" altLang="en-US" dirty="0"/>
              <a:t>东一区、东二区、南一区和南二区的入店前沟通环节得分有待提高</a:t>
            </a:r>
          </a:p>
        </p:txBody>
      </p:sp>
      <p:sp>
        <p:nvSpPr>
          <p:cNvPr id="5" name="灯片编号占位符 4">
            <a:extLst>
              <a:ext uri="{FF2B5EF4-FFF2-40B4-BE49-F238E27FC236}">
                <a16:creationId xmlns:a16="http://schemas.microsoft.com/office/drawing/2014/main" id="{C67C051F-09BD-B029-F77D-E715C8BC7DAD}"/>
              </a:ext>
            </a:extLst>
          </p:cNvPr>
          <p:cNvSpPr>
            <a:spLocks noGrp="1"/>
          </p:cNvSpPr>
          <p:nvPr>
            <p:ph type="sldNum" sz="quarter" idx="4"/>
          </p:nvPr>
        </p:nvSpPr>
        <p:spPr/>
        <p:txBody>
          <a:bodyPr/>
          <a:lstStyle/>
          <a:p>
            <a:fld id="{04824671-56D2-5D44-834F-250C3DA554E9}" type="slidenum">
              <a:rPr lang="zh-CN" altLang="en-US" smtClean="0"/>
              <a:t>47</a:t>
            </a:fld>
            <a:endParaRPr lang="zh-CN" altLang="en-US" dirty="0"/>
          </a:p>
        </p:txBody>
      </p:sp>
      <p:sp>
        <p:nvSpPr>
          <p:cNvPr id="14" name="矩形 13">
            <a:extLst>
              <a:ext uri="{FF2B5EF4-FFF2-40B4-BE49-F238E27FC236}">
                <a16:creationId xmlns:a16="http://schemas.microsoft.com/office/drawing/2014/main" id="{A1CA4F79-3B09-EED1-8F57-D97DAF69D034}"/>
              </a:ext>
            </a:extLst>
          </p:cNvPr>
          <p:cNvSpPr/>
          <p:nvPr/>
        </p:nvSpPr>
        <p:spPr>
          <a:xfrm>
            <a:off x="1529098" y="1528682"/>
            <a:ext cx="1232393" cy="3600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dirty="0">
                <a:solidFill>
                  <a:srgbClr val="FBFBFB"/>
                </a:solidFill>
                <a:latin typeface="Alibaba PuHuiTi 2.0 55 Regular"/>
                <a:ea typeface="Alibaba PuHuiTi 2.0 55 Regular"/>
              </a:rPr>
              <a:t>东一区</a:t>
            </a:r>
            <a:endParaRPr kumimoji="0" lang="zh-CN" altLang="en-US" sz="1400" b="1" i="0" u="none" strike="noStrike" kern="1200" cap="none" spc="0" normalizeH="0" baseline="0" noProof="0" dirty="0">
              <a:ln>
                <a:noFill/>
              </a:ln>
              <a:solidFill>
                <a:srgbClr val="FBFBFB"/>
              </a:solidFill>
              <a:effectLst/>
              <a:uLnTx/>
              <a:uFillTx/>
              <a:latin typeface="Alibaba PuHuiTi 2.0 55 Regular"/>
              <a:ea typeface="Alibaba PuHuiTi 2.0 55 Regular"/>
              <a:cs typeface="+mn-cs"/>
            </a:endParaRPr>
          </a:p>
        </p:txBody>
      </p:sp>
      <p:graphicFrame>
        <p:nvGraphicFramePr>
          <p:cNvPr id="17" name="图表 16">
            <a:extLst>
              <a:ext uri="{FF2B5EF4-FFF2-40B4-BE49-F238E27FC236}">
                <a16:creationId xmlns:a16="http://schemas.microsoft.com/office/drawing/2014/main" id="{78EDB283-F1B3-9A82-DDD6-7DFE8A1A81C5}"/>
              </a:ext>
            </a:extLst>
          </p:cNvPr>
          <p:cNvGraphicFramePr/>
          <p:nvPr>
            <p:extLst>
              <p:ext uri="{D42A27DB-BD31-4B8C-83A1-F6EECF244321}">
                <p14:modId xmlns:p14="http://schemas.microsoft.com/office/powerpoint/2010/main" val="1477094132"/>
              </p:ext>
            </p:extLst>
          </p:nvPr>
        </p:nvGraphicFramePr>
        <p:xfrm>
          <a:off x="1435100" y="1847435"/>
          <a:ext cx="1318098" cy="4197763"/>
        </p:xfrm>
        <a:graphic>
          <a:graphicData uri="http://schemas.openxmlformats.org/drawingml/2006/chart">
            <c:chart xmlns:c="http://schemas.openxmlformats.org/drawingml/2006/chart" xmlns:r="http://schemas.openxmlformats.org/officeDocument/2006/relationships" r:id="rId3"/>
          </a:graphicData>
        </a:graphic>
      </p:graphicFrame>
      <p:sp>
        <p:nvSpPr>
          <p:cNvPr id="18" name="矩形 17">
            <a:extLst>
              <a:ext uri="{FF2B5EF4-FFF2-40B4-BE49-F238E27FC236}">
                <a16:creationId xmlns:a16="http://schemas.microsoft.com/office/drawing/2014/main" id="{E2F06042-A630-4255-E60C-ECFC5BDBBAE8}"/>
              </a:ext>
            </a:extLst>
          </p:cNvPr>
          <p:cNvSpPr/>
          <p:nvPr/>
        </p:nvSpPr>
        <p:spPr>
          <a:xfrm>
            <a:off x="2869895" y="1528682"/>
            <a:ext cx="1232393" cy="3600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dirty="0">
                <a:solidFill>
                  <a:srgbClr val="FBFBFB"/>
                </a:solidFill>
                <a:latin typeface="Alibaba PuHuiTi 2.0 55 Regular"/>
                <a:ea typeface="Alibaba PuHuiTi 2.0 55 Regular"/>
              </a:rPr>
              <a:t>东二区</a:t>
            </a:r>
            <a:endParaRPr kumimoji="0" lang="zh-CN" altLang="en-US" sz="1400" b="1" i="0" u="none" strike="noStrike" kern="1200" cap="none" spc="0" normalizeH="0" baseline="0" noProof="0" dirty="0">
              <a:ln>
                <a:noFill/>
              </a:ln>
              <a:solidFill>
                <a:srgbClr val="FBFBFB"/>
              </a:solidFill>
              <a:effectLst/>
              <a:uLnTx/>
              <a:uFillTx/>
              <a:latin typeface="Alibaba PuHuiTi 2.0 55 Regular"/>
              <a:ea typeface="Alibaba PuHuiTi 2.0 55 Regular"/>
              <a:cs typeface="+mn-cs"/>
            </a:endParaRPr>
          </a:p>
        </p:txBody>
      </p:sp>
      <p:sp>
        <p:nvSpPr>
          <p:cNvPr id="19" name="矩形 18">
            <a:extLst>
              <a:ext uri="{FF2B5EF4-FFF2-40B4-BE49-F238E27FC236}">
                <a16:creationId xmlns:a16="http://schemas.microsoft.com/office/drawing/2014/main" id="{62F368C9-51E3-4649-0F62-3419ED492155}"/>
              </a:ext>
            </a:extLst>
          </p:cNvPr>
          <p:cNvSpPr/>
          <p:nvPr/>
        </p:nvSpPr>
        <p:spPr>
          <a:xfrm>
            <a:off x="4210692" y="1528682"/>
            <a:ext cx="1232393" cy="3600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dirty="0">
                <a:solidFill>
                  <a:srgbClr val="FBFBFB"/>
                </a:solidFill>
                <a:latin typeface="Alibaba PuHuiTi 2.0 55 Regular"/>
                <a:ea typeface="Alibaba PuHuiTi 2.0 55 Regular"/>
              </a:rPr>
              <a:t>南一区</a:t>
            </a:r>
            <a:endParaRPr kumimoji="0" lang="zh-CN" altLang="en-US" sz="1400" b="1" i="0" u="none" strike="noStrike" kern="1200" cap="none" spc="0" normalizeH="0" baseline="0" noProof="0" dirty="0">
              <a:ln>
                <a:noFill/>
              </a:ln>
              <a:solidFill>
                <a:srgbClr val="FBFBFB"/>
              </a:solidFill>
              <a:effectLst/>
              <a:uLnTx/>
              <a:uFillTx/>
              <a:latin typeface="Alibaba PuHuiTi 2.0 55 Regular"/>
              <a:ea typeface="Alibaba PuHuiTi 2.0 55 Regular"/>
              <a:cs typeface="+mn-cs"/>
            </a:endParaRPr>
          </a:p>
        </p:txBody>
      </p:sp>
      <p:sp>
        <p:nvSpPr>
          <p:cNvPr id="20" name="矩形 19">
            <a:extLst>
              <a:ext uri="{FF2B5EF4-FFF2-40B4-BE49-F238E27FC236}">
                <a16:creationId xmlns:a16="http://schemas.microsoft.com/office/drawing/2014/main" id="{374CE55E-ED35-2D95-A105-C7BC3B850AC7}"/>
              </a:ext>
            </a:extLst>
          </p:cNvPr>
          <p:cNvSpPr/>
          <p:nvPr/>
        </p:nvSpPr>
        <p:spPr>
          <a:xfrm>
            <a:off x="5551489" y="1520161"/>
            <a:ext cx="1232393" cy="3600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dirty="0">
                <a:solidFill>
                  <a:srgbClr val="FBFBFB"/>
                </a:solidFill>
                <a:latin typeface="Alibaba PuHuiTi 2.0 55 Regular"/>
                <a:ea typeface="Alibaba PuHuiTi 2.0 55 Regular"/>
              </a:rPr>
              <a:t>北一区</a:t>
            </a:r>
            <a:endParaRPr kumimoji="0" lang="zh-CN" altLang="en-US" sz="1400" b="1" i="0" u="none" strike="noStrike" kern="1200" cap="none" spc="0" normalizeH="0" baseline="0" noProof="0" dirty="0">
              <a:ln>
                <a:noFill/>
              </a:ln>
              <a:solidFill>
                <a:srgbClr val="FBFBFB"/>
              </a:solidFill>
              <a:effectLst/>
              <a:uLnTx/>
              <a:uFillTx/>
              <a:latin typeface="Alibaba PuHuiTi 2.0 55 Regular"/>
              <a:ea typeface="Alibaba PuHuiTi 2.0 55 Regular"/>
              <a:cs typeface="+mn-cs"/>
            </a:endParaRPr>
          </a:p>
        </p:txBody>
      </p:sp>
      <p:sp>
        <p:nvSpPr>
          <p:cNvPr id="21" name="矩形 20">
            <a:extLst>
              <a:ext uri="{FF2B5EF4-FFF2-40B4-BE49-F238E27FC236}">
                <a16:creationId xmlns:a16="http://schemas.microsoft.com/office/drawing/2014/main" id="{A680EC95-7A77-59FE-E69C-A72480A266A2}"/>
              </a:ext>
            </a:extLst>
          </p:cNvPr>
          <p:cNvSpPr/>
          <p:nvPr/>
        </p:nvSpPr>
        <p:spPr>
          <a:xfrm>
            <a:off x="6892286" y="1528681"/>
            <a:ext cx="1232393" cy="3600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dirty="0">
                <a:solidFill>
                  <a:srgbClr val="FBFBFB"/>
                </a:solidFill>
                <a:latin typeface="Alibaba PuHuiTi 2.0 55 Regular"/>
                <a:ea typeface="Alibaba PuHuiTi 2.0 55 Regular"/>
              </a:rPr>
              <a:t>南二区</a:t>
            </a:r>
            <a:endParaRPr kumimoji="0" lang="zh-CN" altLang="en-US" sz="1400" b="1" i="0" u="none" strike="noStrike" kern="1200" cap="none" spc="0" normalizeH="0" baseline="0" noProof="0" dirty="0">
              <a:ln>
                <a:noFill/>
              </a:ln>
              <a:solidFill>
                <a:srgbClr val="FBFBFB"/>
              </a:solidFill>
              <a:effectLst/>
              <a:uLnTx/>
              <a:uFillTx/>
              <a:latin typeface="Alibaba PuHuiTi 2.0 55 Regular"/>
              <a:ea typeface="Alibaba PuHuiTi 2.0 55 Regular"/>
              <a:cs typeface="+mn-cs"/>
            </a:endParaRPr>
          </a:p>
        </p:txBody>
      </p:sp>
      <p:graphicFrame>
        <p:nvGraphicFramePr>
          <p:cNvPr id="22" name="表格 21">
            <a:extLst>
              <a:ext uri="{FF2B5EF4-FFF2-40B4-BE49-F238E27FC236}">
                <a16:creationId xmlns:a16="http://schemas.microsoft.com/office/drawing/2014/main" id="{86873661-B6D4-6814-A37D-8A4D73FF98E8}"/>
              </a:ext>
            </a:extLst>
          </p:cNvPr>
          <p:cNvGraphicFramePr>
            <a:graphicFrameLocks noGrp="1"/>
          </p:cNvGraphicFramePr>
          <p:nvPr/>
        </p:nvGraphicFramePr>
        <p:xfrm>
          <a:off x="-141055" y="2060009"/>
          <a:ext cx="1840684" cy="3891102"/>
        </p:xfrm>
        <a:graphic>
          <a:graphicData uri="http://schemas.openxmlformats.org/drawingml/2006/table">
            <a:tbl>
              <a:tblPr>
                <a:tableStyleId>{5C22544A-7EE6-4342-B048-85BDC9FD1C3A}</a:tableStyleId>
              </a:tblPr>
              <a:tblGrid>
                <a:gridCol w="1840684">
                  <a:extLst>
                    <a:ext uri="{9D8B030D-6E8A-4147-A177-3AD203B41FA5}">
                      <a16:colId xmlns:a16="http://schemas.microsoft.com/office/drawing/2014/main" val="2970220234"/>
                    </a:ext>
                  </a:extLst>
                </a:gridCol>
              </a:tblGrid>
              <a:tr h="648517">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入店前沟通</a:t>
                      </a:r>
                    </a:p>
                  </a:txBody>
                  <a:tcPr marL="6350" marR="6350" marT="635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8957742"/>
                  </a:ext>
                </a:extLst>
              </a:tr>
              <a:tr h="648517">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到店接待</a:t>
                      </a:r>
                      <a:endParaRPr lang="en-US" altLang="zh-CN" sz="1400" b="1" u="none" strike="noStrike" kern="1200" dirty="0">
                        <a:solidFill>
                          <a:schemeClr val="dk1"/>
                        </a:solidFill>
                        <a:effectLst/>
                        <a:latin typeface="+mn-lt"/>
                        <a:ea typeface="+mn-ea"/>
                        <a:cs typeface="+mn-cs"/>
                      </a:endParaRPr>
                    </a:p>
                  </a:txBody>
                  <a:tcPr marL="6350" marR="6350" marT="635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2348971"/>
                  </a:ext>
                </a:extLst>
              </a:tr>
              <a:tr h="648517">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店内看车</a:t>
                      </a:r>
                    </a:p>
                  </a:txBody>
                  <a:tcPr marL="6350" marR="6350" marT="635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5967873"/>
                  </a:ext>
                </a:extLst>
              </a:tr>
              <a:tr h="648517">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试乘试驾</a:t>
                      </a:r>
                    </a:p>
                  </a:txBody>
                  <a:tcPr marL="6350" marR="6350" marT="635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4366575"/>
                  </a:ext>
                </a:extLst>
              </a:tr>
              <a:tr h="64851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zh-CN" altLang="en-US" sz="1400" b="1" u="none" strike="noStrike" kern="1200" dirty="0">
                          <a:solidFill>
                            <a:schemeClr val="dk1"/>
                          </a:solidFill>
                          <a:effectLst/>
                          <a:latin typeface="+mn-lt"/>
                          <a:ea typeface="+mn-ea"/>
                          <a:cs typeface="+mn-cs"/>
                        </a:rPr>
                        <a:t>洽谈下定</a:t>
                      </a:r>
                      <a:endParaRPr lang="en-US" altLang="zh-CN" sz="1400" b="1" u="none" strike="noStrike" kern="1200" dirty="0">
                        <a:solidFill>
                          <a:schemeClr val="dk1"/>
                        </a:solidFill>
                        <a:effectLst/>
                        <a:latin typeface="+mn-lt"/>
                        <a:ea typeface="+mn-ea"/>
                        <a:cs typeface="+mn-cs"/>
                      </a:endParaRPr>
                    </a:p>
                  </a:txBody>
                  <a:tcPr marL="6350" marR="6350" marT="635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1636184"/>
                  </a:ext>
                </a:extLst>
              </a:tr>
              <a:tr h="648517">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送别与回访</a:t>
                      </a:r>
                      <a:endParaRPr lang="en-US" altLang="zh-CN" sz="1400" b="1" u="none" strike="noStrike" kern="1200" dirty="0">
                        <a:solidFill>
                          <a:schemeClr val="dk1"/>
                        </a:solidFill>
                        <a:effectLst/>
                        <a:latin typeface="+mn-lt"/>
                        <a:ea typeface="+mn-ea"/>
                        <a:cs typeface="+mn-cs"/>
                      </a:endParaRPr>
                    </a:p>
                  </a:txBody>
                  <a:tcPr marL="6350" marR="6350" marT="635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2441855"/>
                  </a:ext>
                </a:extLst>
              </a:tr>
            </a:tbl>
          </a:graphicData>
        </a:graphic>
      </p:graphicFrame>
      <p:graphicFrame>
        <p:nvGraphicFramePr>
          <p:cNvPr id="23" name="图表 22">
            <a:extLst>
              <a:ext uri="{FF2B5EF4-FFF2-40B4-BE49-F238E27FC236}">
                <a16:creationId xmlns:a16="http://schemas.microsoft.com/office/drawing/2014/main" id="{D522485D-301D-CAE6-8552-4015A8EFBD20}"/>
              </a:ext>
            </a:extLst>
          </p:cNvPr>
          <p:cNvGraphicFramePr/>
          <p:nvPr>
            <p:extLst>
              <p:ext uri="{D42A27DB-BD31-4B8C-83A1-F6EECF244321}">
                <p14:modId xmlns:p14="http://schemas.microsoft.com/office/powerpoint/2010/main" val="514715604"/>
              </p:ext>
            </p:extLst>
          </p:nvPr>
        </p:nvGraphicFramePr>
        <p:xfrm>
          <a:off x="2767186" y="1847435"/>
          <a:ext cx="1318098" cy="419776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 name="图表 23">
            <a:extLst>
              <a:ext uri="{FF2B5EF4-FFF2-40B4-BE49-F238E27FC236}">
                <a16:creationId xmlns:a16="http://schemas.microsoft.com/office/drawing/2014/main" id="{3B499D0D-C557-BFF7-60B3-080E92C6BE89}"/>
              </a:ext>
            </a:extLst>
          </p:cNvPr>
          <p:cNvGraphicFramePr/>
          <p:nvPr>
            <p:extLst>
              <p:ext uri="{D42A27DB-BD31-4B8C-83A1-F6EECF244321}">
                <p14:modId xmlns:p14="http://schemas.microsoft.com/office/powerpoint/2010/main" val="3669121776"/>
              </p:ext>
            </p:extLst>
          </p:nvPr>
        </p:nvGraphicFramePr>
        <p:xfrm>
          <a:off x="4099272" y="1847435"/>
          <a:ext cx="1318098" cy="419776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5" name="图表 24">
            <a:extLst>
              <a:ext uri="{FF2B5EF4-FFF2-40B4-BE49-F238E27FC236}">
                <a16:creationId xmlns:a16="http://schemas.microsoft.com/office/drawing/2014/main" id="{8199875D-386F-76AD-1BF0-21A6139C1EAE}"/>
              </a:ext>
            </a:extLst>
          </p:cNvPr>
          <p:cNvGraphicFramePr/>
          <p:nvPr>
            <p:extLst>
              <p:ext uri="{D42A27DB-BD31-4B8C-83A1-F6EECF244321}">
                <p14:modId xmlns:p14="http://schemas.microsoft.com/office/powerpoint/2010/main" val="3032656371"/>
              </p:ext>
            </p:extLst>
          </p:nvPr>
        </p:nvGraphicFramePr>
        <p:xfrm>
          <a:off x="5431358" y="1847435"/>
          <a:ext cx="1318098" cy="419776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8" name="图表 27">
            <a:extLst>
              <a:ext uri="{FF2B5EF4-FFF2-40B4-BE49-F238E27FC236}">
                <a16:creationId xmlns:a16="http://schemas.microsoft.com/office/drawing/2014/main" id="{DB7D9523-10F9-B541-6529-1805CEBF2B29}"/>
              </a:ext>
            </a:extLst>
          </p:cNvPr>
          <p:cNvGraphicFramePr/>
          <p:nvPr>
            <p:extLst>
              <p:ext uri="{D42A27DB-BD31-4B8C-83A1-F6EECF244321}">
                <p14:modId xmlns:p14="http://schemas.microsoft.com/office/powerpoint/2010/main" val="2177811372"/>
              </p:ext>
            </p:extLst>
          </p:nvPr>
        </p:nvGraphicFramePr>
        <p:xfrm>
          <a:off x="6763444" y="1847435"/>
          <a:ext cx="1318098" cy="4197763"/>
        </p:xfrm>
        <a:graphic>
          <a:graphicData uri="http://schemas.openxmlformats.org/drawingml/2006/chart">
            <c:chart xmlns:c="http://schemas.openxmlformats.org/drawingml/2006/chart" xmlns:r="http://schemas.openxmlformats.org/officeDocument/2006/relationships" r:id="rId7"/>
          </a:graphicData>
        </a:graphic>
      </p:graphicFrame>
      <p:sp>
        <p:nvSpPr>
          <p:cNvPr id="29" name="矩形 28">
            <a:extLst>
              <a:ext uri="{FF2B5EF4-FFF2-40B4-BE49-F238E27FC236}">
                <a16:creationId xmlns:a16="http://schemas.microsoft.com/office/drawing/2014/main" id="{26F1C50B-F9A6-950E-00A8-388FA623F045}"/>
              </a:ext>
            </a:extLst>
          </p:cNvPr>
          <p:cNvSpPr/>
          <p:nvPr/>
        </p:nvSpPr>
        <p:spPr>
          <a:xfrm>
            <a:off x="8233083" y="1528681"/>
            <a:ext cx="1120357" cy="3600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dirty="0">
                <a:solidFill>
                  <a:srgbClr val="FBFBFB"/>
                </a:solidFill>
                <a:latin typeface="Alibaba PuHuiTi 2.0 55 Regular"/>
                <a:ea typeface="Alibaba PuHuiTi 2.0 55 Regular"/>
              </a:rPr>
              <a:t>西一区</a:t>
            </a:r>
            <a:endParaRPr kumimoji="0" lang="zh-CN" altLang="en-US" sz="1400" b="1" i="0" u="none" strike="noStrike" kern="1200" cap="none" spc="0" normalizeH="0" baseline="0" noProof="0" dirty="0">
              <a:ln>
                <a:noFill/>
              </a:ln>
              <a:solidFill>
                <a:srgbClr val="FBFBFB"/>
              </a:solidFill>
              <a:effectLst/>
              <a:uLnTx/>
              <a:uFillTx/>
              <a:latin typeface="Alibaba PuHuiTi 2.0 55 Regular"/>
              <a:ea typeface="Alibaba PuHuiTi 2.0 55 Regular"/>
              <a:cs typeface="+mn-cs"/>
            </a:endParaRPr>
          </a:p>
        </p:txBody>
      </p:sp>
      <p:graphicFrame>
        <p:nvGraphicFramePr>
          <p:cNvPr id="30" name="图表 29">
            <a:extLst>
              <a:ext uri="{FF2B5EF4-FFF2-40B4-BE49-F238E27FC236}">
                <a16:creationId xmlns:a16="http://schemas.microsoft.com/office/drawing/2014/main" id="{7640CFFF-A7CB-405D-7F79-BD648100828F}"/>
              </a:ext>
            </a:extLst>
          </p:cNvPr>
          <p:cNvGraphicFramePr/>
          <p:nvPr>
            <p:extLst>
              <p:ext uri="{D42A27DB-BD31-4B8C-83A1-F6EECF244321}">
                <p14:modId xmlns:p14="http://schemas.microsoft.com/office/powerpoint/2010/main" val="689875522"/>
              </p:ext>
            </p:extLst>
          </p:nvPr>
        </p:nvGraphicFramePr>
        <p:xfrm>
          <a:off x="8095530" y="1847435"/>
          <a:ext cx="1318098" cy="4197763"/>
        </p:xfrm>
        <a:graphic>
          <a:graphicData uri="http://schemas.openxmlformats.org/drawingml/2006/chart">
            <c:chart xmlns:c="http://schemas.openxmlformats.org/drawingml/2006/chart" xmlns:r="http://schemas.openxmlformats.org/officeDocument/2006/relationships" r:id="rId8"/>
          </a:graphicData>
        </a:graphic>
      </p:graphicFrame>
      <p:sp>
        <p:nvSpPr>
          <p:cNvPr id="33" name="矩形: 圆角 32">
            <a:extLst>
              <a:ext uri="{FF2B5EF4-FFF2-40B4-BE49-F238E27FC236}">
                <a16:creationId xmlns:a16="http://schemas.microsoft.com/office/drawing/2014/main" id="{7347FDD6-015E-F47D-6A1B-0F5339F65A72}"/>
              </a:ext>
            </a:extLst>
          </p:cNvPr>
          <p:cNvSpPr/>
          <p:nvPr/>
        </p:nvSpPr>
        <p:spPr>
          <a:xfrm>
            <a:off x="252370" y="2030080"/>
            <a:ext cx="11664950" cy="60331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30505A9-69A5-13B2-D615-AD310A89F395}"/>
              </a:ext>
            </a:extLst>
          </p:cNvPr>
          <p:cNvSpPr txBox="1"/>
          <p:nvPr>
            <p:custDataLst>
              <p:tags r:id="rId1"/>
            </p:custDataLst>
          </p:nvPr>
        </p:nvSpPr>
        <p:spPr>
          <a:xfrm>
            <a:off x="10011636" y="6108898"/>
            <a:ext cx="1672363" cy="261610"/>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lang="zh-CN" altLang="en-US" sz="1100" b="1" dirty="0">
                <a:solidFill>
                  <a:srgbClr val="181818"/>
                </a:solidFill>
                <a:latin typeface="DIN Pro"/>
                <a:ea typeface="Alibaba PuHuiTi 2.0 55 Regular"/>
              </a:rPr>
              <a:t>战区得分较低项</a:t>
            </a:r>
            <a:endParaRPr kumimoji="0" lang="zh-CN" altLang="en-US" sz="1100" b="1" i="0" u="none" strike="noStrike" kern="1200" cap="none" spc="0" normalizeH="0" baseline="0" noProof="0" dirty="0">
              <a:ln>
                <a:noFill/>
              </a:ln>
              <a:solidFill>
                <a:srgbClr val="181818"/>
              </a:solidFill>
              <a:effectLst/>
              <a:uLnTx/>
              <a:uFillTx/>
              <a:latin typeface="DIN Pro"/>
              <a:ea typeface="Alibaba PuHuiTi 2.0 55 Regular"/>
              <a:cs typeface="+mn-cs"/>
            </a:endParaRPr>
          </a:p>
        </p:txBody>
      </p:sp>
      <p:sp>
        <p:nvSpPr>
          <p:cNvPr id="4" name="矩形 3">
            <a:extLst>
              <a:ext uri="{FF2B5EF4-FFF2-40B4-BE49-F238E27FC236}">
                <a16:creationId xmlns:a16="http://schemas.microsoft.com/office/drawing/2014/main" id="{BFC92560-BE0B-6385-7DA2-36AC41929DEB}"/>
              </a:ext>
            </a:extLst>
          </p:cNvPr>
          <p:cNvSpPr/>
          <p:nvPr/>
        </p:nvSpPr>
        <p:spPr>
          <a:xfrm>
            <a:off x="9942572" y="6159011"/>
            <a:ext cx="108000" cy="108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25">
            <a:extLst>
              <a:ext uri="{FF2B5EF4-FFF2-40B4-BE49-F238E27FC236}">
                <a16:creationId xmlns:a16="http://schemas.microsoft.com/office/drawing/2014/main" id="{6F317B90-7DE9-468C-9B0D-B319CA086BEB}"/>
              </a:ext>
            </a:extLst>
          </p:cNvPr>
          <p:cNvSpPr/>
          <p:nvPr/>
        </p:nvSpPr>
        <p:spPr>
          <a:xfrm>
            <a:off x="9461844" y="1528681"/>
            <a:ext cx="1232393" cy="3600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dirty="0">
                <a:solidFill>
                  <a:srgbClr val="FBFBFB"/>
                </a:solidFill>
                <a:latin typeface="Alibaba PuHuiTi 2.0 55 Regular"/>
                <a:ea typeface="Alibaba PuHuiTi 2.0 55 Regular"/>
              </a:rPr>
              <a:t>东三区</a:t>
            </a:r>
            <a:endParaRPr kumimoji="0" lang="zh-CN" altLang="en-US" sz="1400" b="1" i="0" u="none" strike="noStrike" kern="1200" cap="none" spc="0" normalizeH="0" baseline="0" noProof="0" dirty="0">
              <a:ln>
                <a:noFill/>
              </a:ln>
              <a:solidFill>
                <a:srgbClr val="FBFBFB"/>
              </a:solidFill>
              <a:effectLst/>
              <a:uLnTx/>
              <a:uFillTx/>
              <a:latin typeface="Alibaba PuHuiTi 2.0 55 Regular"/>
              <a:ea typeface="Alibaba PuHuiTi 2.0 55 Regular"/>
              <a:cs typeface="+mn-cs"/>
            </a:endParaRPr>
          </a:p>
        </p:txBody>
      </p:sp>
      <p:sp>
        <p:nvSpPr>
          <p:cNvPr id="31" name="矩形 30">
            <a:extLst>
              <a:ext uri="{FF2B5EF4-FFF2-40B4-BE49-F238E27FC236}">
                <a16:creationId xmlns:a16="http://schemas.microsoft.com/office/drawing/2014/main" id="{42D56489-7C2E-49F9-ACE2-20BBAF03AA35}"/>
              </a:ext>
            </a:extLst>
          </p:cNvPr>
          <p:cNvSpPr/>
          <p:nvPr/>
        </p:nvSpPr>
        <p:spPr>
          <a:xfrm>
            <a:off x="10802639" y="1528681"/>
            <a:ext cx="1120357" cy="3600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dirty="0">
                <a:solidFill>
                  <a:srgbClr val="FBFBFB"/>
                </a:solidFill>
                <a:latin typeface="Alibaba PuHuiTi 2.0 55 Regular"/>
                <a:ea typeface="Alibaba PuHuiTi 2.0 55 Regular"/>
              </a:rPr>
              <a:t>西二区</a:t>
            </a:r>
            <a:endParaRPr kumimoji="0" lang="zh-CN" altLang="en-US" sz="1400" b="1" i="0" u="none" strike="noStrike" kern="1200" cap="none" spc="0" normalizeH="0" baseline="0" noProof="0" dirty="0">
              <a:ln>
                <a:noFill/>
              </a:ln>
              <a:solidFill>
                <a:srgbClr val="FBFBFB"/>
              </a:solidFill>
              <a:effectLst/>
              <a:uLnTx/>
              <a:uFillTx/>
              <a:latin typeface="Alibaba PuHuiTi 2.0 55 Regular"/>
              <a:ea typeface="Alibaba PuHuiTi 2.0 55 Regular"/>
              <a:cs typeface="+mn-cs"/>
            </a:endParaRPr>
          </a:p>
        </p:txBody>
      </p:sp>
      <p:graphicFrame>
        <p:nvGraphicFramePr>
          <p:cNvPr id="34" name="图表 33">
            <a:extLst>
              <a:ext uri="{FF2B5EF4-FFF2-40B4-BE49-F238E27FC236}">
                <a16:creationId xmlns:a16="http://schemas.microsoft.com/office/drawing/2014/main" id="{74B78016-3128-4910-ABF0-1EB333F81FB4}"/>
              </a:ext>
            </a:extLst>
          </p:cNvPr>
          <p:cNvGraphicFramePr/>
          <p:nvPr>
            <p:extLst>
              <p:ext uri="{D42A27DB-BD31-4B8C-83A1-F6EECF244321}">
                <p14:modId xmlns:p14="http://schemas.microsoft.com/office/powerpoint/2010/main" val="3996429507"/>
              </p:ext>
            </p:extLst>
          </p:nvPr>
        </p:nvGraphicFramePr>
        <p:xfrm>
          <a:off x="9262882" y="1831015"/>
          <a:ext cx="1318098" cy="4197763"/>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35" name="图表 34">
            <a:extLst>
              <a:ext uri="{FF2B5EF4-FFF2-40B4-BE49-F238E27FC236}">
                <a16:creationId xmlns:a16="http://schemas.microsoft.com/office/drawing/2014/main" id="{8FCAD13D-D7D0-4526-866E-08BE7AB9CCB7}"/>
              </a:ext>
            </a:extLst>
          </p:cNvPr>
          <p:cNvGraphicFramePr/>
          <p:nvPr>
            <p:extLst>
              <p:ext uri="{D42A27DB-BD31-4B8C-83A1-F6EECF244321}">
                <p14:modId xmlns:p14="http://schemas.microsoft.com/office/powerpoint/2010/main" val="1015486074"/>
              </p:ext>
            </p:extLst>
          </p:nvPr>
        </p:nvGraphicFramePr>
        <p:xfrm>
          <a:off x="10594968" y="1831015"/>
          <a:ext cx="1318098" cy="4197763"/>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9" name="图表 8">
            <a:extLst>
              <a:ext uri="{FF2B5EF4-FFF2-40B4-BE49-F238E27FC236}">
                <a16:creationId xmlns:a16="http://schemas.microsoft.com/office/drawing/2014/main" id="{686277B3-9FB2-3DDA-8ACF-F6A23E879F5A}"/>
              </a:ext>
            </a:extLst>
          </p:cNvPr>
          <p:cNvGraphicFramePr/>
          <p:nvPr>
            <p:extLst>
              <p:ext uri="{D42A27DB-BD31-4B8C-83A1-F6EECF244321}">
                <p14:modId xmlns:p14="http://schemas.microsoft.com/office/powerpoint/2010/main" val="2064624611"/>
              </p:ext>
            </p:extLst>
          </p:nvPr>
        </p:nvGraphicFramePr>
        <p:xfrm>
          <a:off x="8484891" y="5975770"/>
          <a:ext cx="1318098" cy="438693"/>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9806096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sym typeface="+mn-ea"/>
              </a:rPr>
              <a:t>5.1 </a:t>
            </a:r>
            <a:r>
              <a:rPr lang="zh-CN" altLang="en-US" dirty="0">
                <a:sym typeface="+mn-ea"/>
              </a:rPr>
              <a:t>线上平台分渠道满意度得分和具体细项指标得分</a:t>
            </a:r>
          </a:p>
        </p:txBody>
      </p:sp>
      <p:sp>
        <p:nvSpPr>
          <p:cNvPr id="9" name="文本占位符 8"/>
          <p:cNvSpPr>
            <a:spLocks noGrp="1"/>
          </p:cNvSpPr>
          <p:nvPr>
            <p:ph type="body" sz="quarter" idx="13"/>
          </p:nvPr>
        </p:nvSpPr>
        <p:spPr/>
        <p:txBody>
          <a:bodyPr/>
          <a:lstStyle/>
          <a:p>
            <a:r>
              <a:rPr lang="zh-CN" altLang="en-US" dirty="0"/>
              <a:t>线上平台</a:t>
            </a:r>
            <a:r>
              <a:rPr dirty="0"/>
              <a:t>的</a:t>
            </a:r>
            <a:r>
              <a:rPr lang="zh-CN" altLang="en-US" dirty="0"/>
              <a:t>满意度评价</a:t>
            </a:r>
            <a:endParaRPr dirty="0"/>
          </a:p>
        </p:txBody>
      </p:sp>
      <p:sp>
        <p:nvSpPr>
          <p:cNvPr id="8" name="文本占位符 7"/>
          <p:cNvSpPr>
            <a:spLocks noGrp="1"/>
          </p:cNvSpPr>
          <p:nvPr>
            <p:ph type="body" sz="quarter" idx="12"/>
          </p:nvPr>
        </p:nvSpPr>
        <p:spPr/>
        <p:txBody>
          <a:bodyPr/>
          <a:lstStyle/>
          <a:p>
            <a:r>
              <a:rPr lang="en-US" altLang="zh-CN" dirty="0"/>
              <a:t>5</a:t>
            </a:r>
          </a:p>
        </p:txBody>
      </p:sp>
      <p:sp>
        <p:nvSpPr>
          <p:cNvPr id="2" name="灯片编号占位符 1"/>
          <p:cNvSpPr>
            <a:spLocks noGrp="1"/>
          </p:cNvSpPr>
          <p:nvPr>
            <p:ph type="sldNum" sz="quarter" idx="4"/>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C33376-1D8B-E948-ACD6-AA21A3D30A8E}" type="slidenum">
              <a:rPr kumimoji="0" lang="zh-CN" altLang="en-US" sz="800" b="0" i="0" u="none" strike="noStrike" kern="1200" cap="none" spc="0" normalizeH="0" baseline="0" noProof="0" smtClean="0">
                <a:ln>
                  <a:noFill/>
                </a:ln>
                <a:solidFill>
                  <a:srgbClr val="FBFBFB"/>
                </a:solidFill>
                <a:effectLst/>
                <a:uLnTx/>
                <a:uFillTx/>
                <a:latin typeface="DIN Pro Regular" panose="02000503040000020003" pitchFamily="50" charset="0"/>
                <a:ea typeface="Alibaba PuHuiTi 2.0 55 Regular" pitchFamily="18" charset="-122"/>
                <a:cs typeface="Alibaba PuHuiTi 2.0 55 Regular" pitchFamily="18" charset="-122"/>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800" b="0" i="0" u="none" strike="noStrike" kern="1200" cap="none" spc="0" normalizeH="0" baseline="0" noProof="0" dirty="0">
              <a:ln>
                <a:noFill/>
              </a:ln>
              <a:solidFill>
                <a:srgbClr val="FBFBFB"/>
              </a:solidFill>
              <a:effectLst/>
              <a:uLnTx/>
              <a:uFillTx/>
              <a:latin typeface="DIN Pro Regular" panose="02000503040000020003" pitchFamily="50" charset="0"/>
              <a:ea typeface="Alibaba PuHuiTi 2.0 55 Regular" pitchFamily="18" charset="-122"/>
              <a:cs typeface="Alibaba PuHuiTi 2.0 55 Regular" pitchFamily="18"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占位符 20"/>
          <p:cNvSpPr>
            <a:spLocks noGrp="1"/>
          </p:cNvSpPr>
          <p:nvPr>
            <p:ph type="body" sz="quarter" idx="21"/>
          </p:nvPr>
        </p:nvSpPr>
        <p:spPr/>
        <p:txBody>
          <a:bodyPr/>
          <a:lstStyle/>
          <a:p>
            <a:r>
              <a:rPr lang="zh-CN" altLang="en-US" dirty="0"/>
              <a:t>线上平台使用率 </a:t>
            </a:r>
            <a:r>
              <a:rPr lang="en-US" altLang="zh-CN" dirty="0"/>
              <a:t>– </a:t>
            </a:r>
            <a:r>
              <a:rPr lang="zh-CN" altLang="en-US" dirty="0"/>
              <a:t>某品牌用户使用官方</a:t>
            </a:r>
            <a:r>
              <a:rPr lang="en-US" altLang="zh-CN" dirty="0"/>
              <a:t>APP</a:t>
            </a:r>
            <a:r>
              <a:rPr lang="zh-CN" altLang="en-US" dirty="0"/>
              <a:t>的人数占比高于竞品，购车人群对小红书和抖音的使用率相对较低</a:t>
            </a:r>
          </a:p>
        </p:txBody>
      </p:sp>
      <p:sp>
        <p:nvSpPr>
          <p:cNvPr id="2" name="文本框 1">
            <a:extLst>
              <a:ext uri="{FF2B5EF4-FFF2-40B4-BE49-F238E27FC236}">
                <a16:creationId xmlns:a16="http://schemas.microsoft.com/office/drawing/2014/main" id="{1C62A6EA-10A9-41BF-F0D0-0938FB1A7331}"/>
              </a:ext>
            </a:extLst>
          </p:cNvPr>
          <p:cNvSpPr txBox="1"/>
          <p:nvPr>
            <p:custDataLst>
              <p:tags r:id="rId1"/>
            </p:custDataLst>
          </p:nvPr>
        </p:nvSpPr>
        <p:spPr>
          <a:xfrm>
            <a:off x="1513632" y="1270891"/>
            <a:ext cx="1440000" cy="3348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BFBFB"/>
                </a:solidFill>
                <a:effectLst/>
                <a:uLnTx/>
                <a:uFillTx/>
                <a:latin typeface="+mn-ea"/>
                <a:ea typeface="+mn-ea"/>
              </a:rPr>
              <a:t>官方</a:t>
            </a:r>
            <a:r>
              <a:rPr kumimoji="0" lang="en-US" altLang="zh-CN" sz="1600" b="1" i="0" u="none" strike="noStrike" kern="1200" cap="none" spc="0" normalizeH="0" baseline="0" noProof="0" dirty="0">
                <a:ln>
                  <a:noFill/>
                </a:ln>
                <a:solidFill>
                  <a:srgbClr val="FBFBFB"/>
                </a:solidFill>
                <a:effectLst/>
                <a:uLnTx/>
                <a:uFillTx/>
                <a:latin typeface="+mn-ea"/>
                <a:ea typeface="+mn-ea"/>
              </a:rPr>
              <a:t>APP</a:t>
            </a:r>
          </a:p>
        </p:txBody>
      </p:sp>
      <p:sp>
        <p:nvSpPr>
          <p:cNvPr id="3" name="文本框 2">
            <a:extLst>
              <a:ext uri="{FF2B5EF4-FFF2-40B4-BE49-F238E27FC236}">
                <a16:creationId xmlns:a16="http://schemas.microsoft.com/office/drawing/2014/main" id="{93254C8F-7070-A1FB-21FC-8D2868EE4400}"/>
              </a:ext>
            </a:extLst>
          </p:cNvPr>
          <p:cNvSpPr txBox="1"/>
          <p:nvPr>
            <p:custDataLst>
              <p:tags r:id="rId2"/>
            </p:custDataLst>
          </p:nvPr>
        </p:nvSpPr>
        <p:spPr>
          <a:xfrm>
            <a:off x="3318306" y="1270891"/>
            <a:ext cx="1440000" cy="3348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BFBFB"/>
                </a:solidFill>
                <a:effectLst/>
                <a:uLnTx/>
                <a:uFillTx/>
                <a:latin typeface="+mn-ea"/>
                <a:ea typeface="+mn-ea"/>
              </a:rPr>
              <a:t>微信订阅号</a:t>
            </a:r>
            <a:endParaRPr kumimoji="0" lang="en-US" altLang="zh-CN" sz="1600" b="1" i="0" u="none" strike="noStrike" kern="1200" cap="none" spc="0" normalizeH="0" baseline="0" noProof="0" dirty="0">
              <a:ln>
                <a:noFill/>
              </a:ln>
              <a:solidFill>
                <a:srgbClr val="FBFBFB"/>
              </a:solidFill>
              <a:effectLst/>
              <a:uLnTx/>
              <a:uFillTx/>
              <a:latin typeface="+mn-ea"/>
              <a:ea typeface="+mn-ea"/>
            </a:endParaRPr>
          </a:p>
        </p:txBody>
      </p:sp>
      <p:sp>
        <p:nvSpPr>
          <p:cNvPr id="4" name="文本框 3">
            <a:extLst>
              <a:ext uri="{FF2B5EF4-FFF2-40B4-BE49-F238E27FC236}">
                <a16:creationId xmlns:a16="http://schemas.microsoft.com/office/drawing/2014/main" id="{6E967D22-5336-6420-C3A6-1EC8209A0B9D}"/>
              </a:ext>
            </a:extLst>
          </p:cNvPr>
          <p:cNvSpPr txBox="1"/>
          <p:nvPr>
            <p:custDataLst>
              <p:tags r:id="rId3"/>
            </p:custDataLst>
          </p:nvPr>
        </p:nvSpPr>
        <p:spPr>
          <a:xfrm>
            <a:off x="5122980" y="1270891"/>
            <a:ext cx="1440000" cy="3348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BFBFB"/>
                </a:solidFill>
                <a:effectLst/>
                <a:uLnTx/>
                <a:uFillTx/>
                <a:latin typeface="+mn-ea"/>
                <a:ea typeface="+mn-ea"/>
              </a:rPr>
              <a:t>微信小程序</a:t>
            </a:r>
            <a:endParaRPr kumimoji="0" lang="en-US" altLang="zh-CN" sz="1600" b="1" i="0" u="none" strike="noStrike" kern="1200" cap="none" spc="0" normalizeH="0" baseline="0" noProof="0" dirty="0">
              <a:ln>
                <a:noFill/>
              </a:ln>
              <a:solidFill>
                <a:srgbClr val="FBFBFB"/>
              </a:solidFill>
              <a:effectLst/>
              <a:uLnTx/>
              <a:uFillTx/>
              <a:latin typeface="+mn-ea"/>
              <a:ea typeface="+mn-ea"/>
            </a:endParaRPr>
          </a:p>
        </p:txBody>
      </p:sp>
      <p:sp>
        <p:nvSpPr>
          <p:cNvPr id="5" name="文本框 4">
            <a:extLst>
              <a:ext uri="{FF2B5EF4-FFF2-40B4-BE49-F238E27FC236}">
                <a16:creationId xmlns:a16="http://schemas.microsoft.com/office/drawing/2014/main" id="{1BE68089-5BAE-D510-05C6-7BEAB5BF85A0}"/>
              </a:ext>
            </a:extLst>
          </p:cNvPr>
          <p:cNvSpPr txBox="1"/>
          <p:nvPr>
            <p:custDataLst>
              <p:tags r:id="rId4"/>
            </p:custDataLst>
          </p:nvPr>
        </p:nvSpPr>
        <p:spPr>
          <a:xfrm>
            <a:off x="6927654" y="1270891"/>
            <a:ext cx="1440000" cy="3348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BFBFB"/>
                </a:solidFill>
                <a:effectLst/>
                <a:uLnTx/>
                <a:uFillTx/>
                <a:latin typeface="+mn-ea"/>
                <a:ea typeface="+mn-ea"/>
              </a:rPr>
              <a:t>抖音</a:t>
            </a:r>
            <a:endParaRPr kumimoji="0" lang="en-US" altLang="zh-CN" sz="1600" b="1" i="0" u="none" strike="noStrike" kern="1200" cap="none" spc="0" normalizeH="0" baseline="0" noProof="0" dirty="0">
              <a:ln>
                <a:noFill/>
              </a:ln>
              <a:solidFill>
                <a:srgbClr val="FBFBFB"/>
              </a:solidFill>
              <a:effectLst/>
              <a:uLnTx/>
              <a:uFillTx/>
              <a:latin typeface="+mn-ea"/>
              <a:ea typeface="+mn-ea"/>
            </a:endParaRPr>
          </a:p>
        </p:txBody>
      </p:sp>
      <p:sp>
        <p:nvSpPr>
          <p:cNvPr id="6" name="文本框 5">
            <a:extLst>
              <a:ext uri="{FF2B5EF4-FFF2-40B4-BE49-F238E27FC236}">
                <a16:creationId xmlns:a16="http://schemas.microsoft.com/office/drawing/2014/main" id="{74B88065-70DE-24DC-606C-28A34F3FEAC1}"/>
              </a:ext>
            </a:extLst>
          </p:cNvPr>
          <p:cNvSpPr txBox="1"/>
          <p:nvPr>
            <p:custDataLst>
              <p:tags r:id="rId5"/>
            </p:custDataLst>
          </p:nvPr>
        </p:nvSpPr>
        <p:spPr>
          <a:xfrm>
            <a:off x="8732328" y="1270891"/>
            <a:ext cx="1440000" cy="3348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rgbClr val="FBFBFB"/>
                </a:solidFill>
                <a:latin typeface="+mn-ea"/>
                <a:ea typeface="+mn-ea"/>
              </a:rPr>
              <a:t>小红书</a:t>
            </a:r>
            <a:endParaRPr kumimoji="0" lang="en-US" altLang="zh-CN" sz="1600" b="1" i="0" u="none" strike="noStrike" kern="1200" cap="none" spc="0" normalizeH="0" baseline="0" noProof="0" dirty="0">
              <a:ln>
                <a:noFill/>
              </a:ln>
              <a:solidFill>
                <a:srgbClr val="FBFBFB"/>
              </a:solidFill>
              <a:effectLst/>
              <a:uLnTx/>
              <a:uFillTx/>
              <a:latin typeface="+mn-ea"/>
              <a:ea typeface="+mn-ea"/>
            </a:endParaRPr>
          </a:p>
        </p:txBody>
      </p:sp>
      <p:pic>
        <p:nvPicPr>
          <p:cNvPr id="1026" name="Picture 2" descr="阿维塔车标，阿维塔LOGO，阿维塔车标图案、矢量图及含义由来 - 车标网">
            <a:extLst>
              <a:ext uri="{FF2B5EF4-FFF2-40B4-BE49-F238E27FC236}">
                <a16:creationId xmlns:a16="http://schemas.microsoft.com/office/drawing/2014/main" id="{2C6FE05C-99A5-D1F0-A79C-E8C17C605BCE}"/>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831" r="29629"/>
          <a:stretch/>
        </p:blipFill>
        <p:spPr bwMode="auto">
          <a:xfrm>
            <a:off x="268434" y="2268901"/>
            <a:ext cx="934899" cy="930497"/>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75F98B39-CC44-9A12-A47B-EC75B8B7D58D}"/>
              </a:ext>
            </a:extLst>
          </p:cNvPr>
          <p:cNvSpPr txBox="1"/>
          <p:nvPr/>
        </p:nvSpPr>
        <p:spPr>
          <a:xfrm>
            <a:off x="387069" y="4394979"/>
            <a:ext cx="697627" cy="400110"/>
          </a:xfrm>
          <a:prstGeom prst="rect">
            <a:avLst/>
          </a:prstGeom>
          <a:noFill/>
        </p:spPr>
        <p:txBody>
          <a:bodyPr wrap="none" rtlCol="0">
            <a:spAutoFit/>
          </a:bodyPr>
          <a:lstStyle/>
          <a:p>
            <a:r>
              <a:rPr lang="zh-CN" altLang="en-US" sz="2000" b="1" dirty="0"/>
              <a:t>竞品</a:t>
            </a:r>
            <a:endParaRPr lang="en-US" altLang="zh-CN" sz="2000" b="1" dirty="0"/>
          </a:p>
        </p:txBody>
      </p:sp>
      <p:sp>
        <p:nvSpPr>
          <p:cNvPr id="9" name="灯片编号占位符 1">
            <a:extLst>
              <a:ext uri="{FF2B5EF4-FFF2-40B4-BE49-F238E27FC236}">
                <a16:creationId xmlns:a16="http://schemas.microsoft.com/office/drawing/2014/main" id="{D1481525-6FF6-4C1E-A914-35F28AE29C78}"/>
              </a:ext>
            </a:extLst>
          </p:cNvPr>
          <p:cNvSpPr>
            <a:spLocks noGrp="1"/>
          </p:cNvSpPr>
          <p:nvPr>
            <p:ph type="sldNum" sz="quarter" idx="4"/>
          </p:nvPr>
        </p:nvSpPr>
        <p:spPr>
          <a:xfrm>
            <a:off x="11523095" y="6472443"/>
            <a:ext cx="368141" cy="2407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00B666-AD48-5640-8D08-2A4A6036569F}" type="slidenum">
              <a:rPr kumimoji="0" lang="zh-CN" altLang="en-US" sz="800" b="0" i="0" u="none" strike="noStrike" kern="1200" cap="none" spc="0" normalizeH="0" baseline="0" noProof="0" smtClean="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800" b="0" i="0" u="none" strike="noStrike" kern="1200" cap="none" spc="0" normalizeH="0" baseline="0" noProof="0" dirty="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endParaRPr>
          </a:p>
        </p:txBody>
      </p:sp>
      <p:graphicFrame>
        <p:nvGraphicFramePr>
          <p:cNvPr id="12" name="图表 11">
            <a:extLst>
              <a:ext uri="{FF2B5EF4-FFF2-40B4-BE49-F238E27FC236}">
                <a16:creationId xmlns:a16="http://schemas.microsoft.com/office/drawing/2014/main" id="{8D61C00E-031B-EC87-78DD-6A94B1528B3E}"/>
              </a:ext>
            </a:extLst>
          </p:cNvPr>
          <p:cNvGraphicFramePr/>
          <p:nvPr/>
        </p:nvGraphicFramePr>
        <p:xfrm>
          <a:off x="1496223" y="2051782"/>
          <a:ext cx="1361395" cy="1475991"/>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3" name="图表 12">
            <a:extLst>
              <a:ext uri="{FF2B5EF4-FFF2-40B4-BE49-F238E27FC236}">
                <a16:creationId xmlns:a16="http://schemas.microsoft.com/office/drawing/2014/main" id="{812A27E1-F39A-E510-FC4A-9DBBDC699D1E}"/>
              </a:ext>
            </a:extLst>
          </p:cNvPr>
          <p:cNvGraphicFramePr/>
          <p:nvPr/>
        </p:nvGraphicFramePr>
        <p:xfrm>
          <a:off x="3287275" y="2051782"/>
          <a:ext cx="1361395" cy="1475991"/>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4" name="图表 13">
            <a:extLst>
              <a:ext uri="{FF2B5EF4-FFF2-40B4-BE49-F238E27FC236}">
                <a16:creationId xmlns:a16="http://schemas.microsoft.com/office/drawing/2014/main" id="{F1256072-C7A0-FCA1-7A11-3FA8B822746F}"/>
              </a:ext>
            </a:extLst>
          </p:cNvPr>
          <p:cNvGraphicFramePr/>
          <p:nvPr/>
        </p:nvGraphicFramePr>
        <p:xfrm>
          <a:off x="5078327" y="2051782"/>
          <a:ext cx="1361395" cy="1475991"/>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15" name="图表 14">
            <a:extLst>
              <a:ext uri="{FF2B5EF4-FFF2-40B4-BE49-F238E27FC236}">
                <a16:creationId xmlns:a16="http://schemas.microsoft.com/office/drawing/2014/main" id="{78A3D1CF-31FF-6FF7-A4E4-625FAD74BBBE}"/>
              </a:ext>
            </a:extLst>
          </p:cNvPr>
          <p:cNvGraphicFramePr/>
          <p:nvPr/>
        </p:nvGraphicFramePr>
        <p:xfrm>
          <a:off x="6869379" y="2051782"/>
          <a:ext cx="1361395" cy="1475991"/>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16" name="图表 15">
            <a:extLst>
              <a:ext uri="{FF2B5EF4-FFF2-40B4-BE49-F238E27FC236}">
                <a16:creationId xmlns:a16="http://schemas.microsoft.com/office/drawing/2014/main" id="{000BA578-CB2B-0DBB-ADBB-1FFD7F51FABB}"/>
              </a:ext>
            </a:extLst>
          </p:cNvPr>
          <p:cNvGraphicFramePr/>
          <p:nvPr/>
        </p:nvGraphicFramePr>
        <p:xfrm>
          <a:off x="8660431" y="2051782"/>
          <a:ext cx="1361395" cy="1475991"/>
        </p:xfrm>
        <a:graphic>
          <a:graphicData uri="http://schemas.openxmlformats.org/drawingml/2006/chart">
            <c:chart xmlns:c="http://schemas.openxmlformats.org/drawingml/2006/chart" xmlns:r="http://schemas.openxmlformats.org/officeDocument/2006/relationships" r:id="rId13"/>
          </a:graphicData>
        </a:graphic>
      </p:graphicFrame>
      <p:graphicFrame>
        <p:nvGraphicFramePr>
          <p:cNvPr id="10" name="图表 9">
            <a:extLst>
              <a:ext uri="{FF2B5EF4-FFF2-40B4-BE49-F238E27FC236}">
                <a16:creationId xmlns:a16="http://schemas.microsoft.com/office/drawing/2014/main" id="{A0C856B1-5690-3780-A997-71FA311EB36E}"/>
              </a:ext>
            </a:extLst>
          </p:cNvPr>
          <p:cNvGraphicFramePr/>
          <p:nvPr/>
        </p:nvGraphicFramePr>
        <p:xfrm>
          <a:off x="1496223" y="4101858"/>
          <a:ext cx="1361395" cy="1475991"/>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11" name="图表 10">
            <a:extLst>
              <a:ext uri="{FF2B5EF4-FFF2-40B4-BE49-F238E27FC236}">
                <a16:creationId xmlns:a16="http://schemas.microsoft.com/office/drawing/2014/main" id="{F3A6A554-BDAA-D34C-7B2E-68860D861835}"/>
              </a:ext>
            </a:extLst>
          </p:cNvPr>
          <p:cNvGraphicFramePr/>
          <p:nvPr/>
        </p:nvGraphicFramePr>
        <p:xfrm>
          <a:off x="3287275" y="4101858"/>
          <a:ext cx="1361395" cy="1475991"/>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25" name="图表 24">
            <a:extLst>
              <a:ext uri="{FF2B5EF4-FFF2-40B4-BE49-F238E27FC236}">
                <a16:creationId xmlns:a16="http://schemas.microsoft.com/office/drawing/2014/main" id="{7D898CBD-A7B9-605F-3824-306DE150D9CB}"/>
              </a:ext>
            </a:extLst>
          </p:cNvPr>
          <p:cNvGraphicFramePr/>
          <p:nvPr/>
        </p:nvGraphicFramePr>
        <p:xfrm>
          <a:off x="5078327" y="4101858"/>
          <a:ext cx="1361395" cy="1475991"/>
        </p:xfrm>
        <a:graphic>
          <a:graphicData uri="http://schemas.openxmlformats.org/drawingml/2006/chart">
            <c:chart xmlns:c="http://schemas.openxmlformats.org/drawingml/2006/chart" xmlns:r="http://schemas.openxmlformats.org/officeDocument/2006/relationships" r:id="rId16"/>
          </a:graphicData>
        </a:graphic>
      </p:graphicFrame>
      <p:graphicFrame>
        <p:nvGraphicFramePr>
          <p:cNvPr id="26" name="图表 25">
            <a:extLst>
              <a:ext uri="{FF2B5EF4-FFF2-40B4-BE49-F238E27FC236}">
                <a16:creationId xmlns:a16="http://schemas.microsoft.com/office/drawing/2014/main" id="{DD1D2868-457F-4F6F-3262-777AE8258DAC}"/>
              </a:ext>
            </a:extLst>
          </p:cNvPr>
          <p:cNvGraphicFramePr/>
          <p:nvPr/>
        </p:nvGraphicFramePr>
        <p:xfrm>
          <a:off x="6869379" y="4101858"/>
          <a:ext cx="1361395" cy="1475991"/>
        </p:xfrm>
        <a:graphic>
          <a:graphicData uri="http://schemas.openxmlformats.org/drawingml/2006/chart">
            <c:chart xmlns:c="http://schemas.openxmlformats.org/drawingml/2006/chart" xmlns:r="http://schemas.openxmlformats.org/officeDocument/2006/relationships" r:id="rId17"/>
          </a:graphicData>
        </a:graphic>
      </p:graphicFrame>
      <p:graphicFrame>
        <p:nvGraphicFramePr>
          <p:cNvPr id="27" name="图表 26">
            <a:extLst>
              <a:ext uri="{FF2B5EF4-FFF2-40B4-BE49-F238E27FC236}">
                <a16:creationId xmlns:a16="http://schemas.microsoft.com/office/drawing/2014/main" id="{A8D71195-CC55-D163-8753-1A4467DE0650}"/>
              </a:ext>
            </a:extLst>
          </p:cNvPr>
          <p:cNvGraphicFramePr/>
          <p:nvPr/>
        </p:nvGraphicFramePr>
        <p:xfrm>
          <a:off x="8660431" y="4101858"/>
          <a:ext cx="1361395" cy="1475991"/>
        </p:xfrm>
        <a:graphic>
          <a:graphicData uri="http://schemas.openxmlformats.org/drawingml/2006/chart">
            <c:chart xmlns:c="http://schemas.openxmlformats.org/drawingml/2006/chart" xmlns:r="http://schemas.openxmlformats.org/officeDocument/2006/relationships" r:id="rId18"/>
          </a:graphicData>
        </a:graphic>
      </p:graphicFrame>
      <p:sp>
        <p:nvSpPr>
          <p:cNvPr id="29" name="文本框 28">
            <a:extLst>
              <a:ext uri="{FF2B5EF4-FFF2-40B4-BE49-F238E27FC236}">
                <a16:creationId xmlns:a16="http://schemas.microsoft.com/office/drawing/2014/main" id="{079290EE-1CCA-F5FD-FA69-1655EB07CE88}"/>
              </a:ext>
            </a:extLst>
          </p:cNvPr>
          <p:cNvSpPr txBox="1"/>
          <p:nvPr/>
        </p:nvSpPr>
        <p:spPr>
          <a:xfrm>
            <a:off x="1678016" y="5846539"/>
            <a:ext cx="10134860" cy="553998"/>
          </a:xfrm>
          <a:prstGeom prst="rect">
            <a:avLst/>
          </a:prstGeom>
          <a:noFill/>
        </p:spPr>
        <p:txBody>
          <a:bodyPr wrap="square" rtlCol="0">
            <a:spAutoFit/>
          </a:bodyPr>
          <a:lstStyle/>
          <a:p>
            <a:r>
              <a:rPr lang="zh-CN" altLang="en-US" sz="1000" b="1" dirty="0">
                <a:latin typeface="+mn-ea"/>
              </a:rPr>
              <a:t>数据来源：</a:t>
            </a:r>
            <a:endParaRPr lang="en-US" altLang="zh-CN" sz="1000" b="1" dirty="0">
              <a:latin typeface="+mn-ea"/>
            </a:endParaRPr>
          </a:p>
          <a:p>
            <a:r>
              <a:rPr lang="zh-CN" altLang="en-US" sz="1000" dirty="0">
                <a:latin typeface="+mn-ea"/>
              </a:rPr>
              <a:t>销售问卷</a:t>
            </a:r>
            <a:r>
              <a:rPr lang="en-US" altLang="zh-CN" sz="1000" dirty="0">
                <a:latin typeface="+mn-ea"/>
              </a:rPr>
              <a:t> – K2 </a:t>
            </a:r>
            <a:r>
              <a:rPr lang="zh-CN" altLang="en-US" sz="1000" dirty="0">
                <a:latin typeface="+mn-ea"/>
              </a:rPr>
              <a:t>在购车及用车的过程中，您平常主要使用的官方在线平台有哪些？（多选）</a:t>
            </a:r>
            <a:endParaRPr lang="en-US" altLang="zh-CN" sz="1000" dirty="0">
              <a:latin typeface="+mn-ea"/>
            </a:endParaRPr>
          </a:p>
          <a:p>
            <a:r>
              <a:rPr lang="zh-CN" altLang="en-US" sz="1000" dirty="0">
                <a:latin typeface="+mn-ea"/>
              </a:rPr>
              <a:t>售后问卷 </a:t>
            </a:r>
            <a:r>
              <a:rPr lang="en-US" altLang="zh-CN" sz="1000" dirty="0">
                <a:latin typeface="+mn-ea"/>
              </a:rPr>
              <a:t>- I7-1.</a:t>
            </a:r>
            <a:r>
              <a:rPr lang="zh-CN" altLang="en-US" sz="1000" dirty="0">
                <a:latin typeface="+mn-ea"/>
              </a:rPr>
              <a:t>您是否浏览或使用过会员商城（单选）</a:t>
            </a:r>
            <a:endParaRPr lang="en-US" altLang="zh-CN" sz="1000" dirty="0">
              <a:latin typeface="+mn-ea"/>
            </a:endParaRPr>
          </a:p>
        </p:txBody>
      </p:sp>
      <p:cxnSp>
        <p:nvCxnSpPr>
          <p:cNvPr id="31" name="直接连接符 30">
            <a:extLst>
              <a:ext uri="{FF2B5EF4-FFF2-40B4-BE49-F238E27FC236}">
                <a16:creationId xmlns:a16="http://schemas.microsoft.com/office/drawing/2014/main" id="{F385D1CA-E18F-A474-7B43-903100CE3BF6}"/>
              </a:ext>
            </a:extLst>
          </p:cNvPr>
          <p:cNvCxnSpPr>
            <a:cxnSpLocks/>
          </p:cNvCxnSpPr>
          <p:nvPr/>
        </p:nvCxnSpPr>
        <p:spPr>
          <a:xfrm>
            <a:off x="1496223" y="3643544"/>
            <a:ext cx="10354280" cy="0"/>
          </a:xfrm>
          <a:prstGeom prst="line">
            <a:avLst/>
          </a:prstGeom>
          <a:ln w="158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0066D888-3C6E-0D88-F89E-8BD93A15FC87}"/>
              </a:ext>
            </a:extLst>
          </p:cNvPr>
          <p:cNvSpPr/>
          <p:nvPr/>
        </p:nvSpPr>
        <p:spPr>
          <a:xfrm>
            <a:off x="5566110" y="3363785"/>
            <a:ext cx="118533" cy="127000"/>
          </a:xfrm>
          <a:prstGeom prst="rect">
            <a:avLst/>
          </a:prstGeom>
          <a:solidFill>
            <a:srgbClr val="69A3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69A35B"/>
              </a:solidFill>
            </a:endParaRPr>
          </a:p>
        </p:txBody>
      </p:sp>
      <p:sp>
        <p:nvSpPr>
          <p:cNvPr id="19" name="文本框 18">
            <a:extLst>
              <a:ext uri="{FF2B5EF4-FFF2-40B4-BE49-F238E27FC236}">
                <a16:creationId xmlns:a16="http://schemas.microsoft.com/office/drawing/2014/main" id="{92BDCBF8-2EFF-2A15-1168-8A58486F6554}"/>
              </a:ext>
            </a:extLst>
          </p:cNvPr>
          <p:cNvSpPr txBox="1"/>
          <p:nvPr/>
        </p:nvSpPr>
        <p:spPr>
          <a:xfrm>
            <a:off x="5700790" y="3303869"/>
            <a:ext cx="1152442" cy="246221"/>
          </a:xfrm>
          <a:prstGeom prst="rect">
            <a:avLst/>
          </a:prstGeom>
          <a:noFill/>
        </p:spPr>
        <p:txBody>
          <a:bodyPr wrap="square" rtlCol="0">
            <a:spAutoFit/>
          </a:bodyPr>
          <a:lstStyle/>
          <a:p>
            <a:r>
              <a:rPr lang="zh-CN" altLang="en-US" sz="1000" b="1" dirty="0">
                <a:latin typeface="+mn-ea"/>
              </a:rPr>
              <a:t>常使用人数占比</a:t>
            </a:r>
            <a:endParaRPr lang="en-US" altLang="zh-CN" sz="1000" b="1" dirty="0">
              <a:latin typeface="+mn-ea"/>
            </a:endParaRPr>
          </a:p>
        </p:txBody>
      </p:sp>
      <p:sp>
        <p:nvSpPr>
          <p:cNvPr id="20" name="矩形 19">
            <a:extLst>
              <a:ext uri="{FF2B5EF4-FFF2-40B4-BE49-F238E27FC236}">
                <a16:creationId xmlns:a16="http://schemas.microsoft.com/office/drawing/2014/main" id="{5861717C-6348-FB36-89A5-BBA15250C63F}"/>
              </a:ext>
            </a:extLst>
          </p:cNvPr>
          <p:cNvSpPr/>
          <p:nvPr/>
        </p:nvSpPr>
        <p:spPr>
          <a:xfrm>
            <a:off x="6890691" y="3364019"/>
            <a:ext cx="118533" cy="127000"/>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69A35B"/>
              </a:solidFill>
            </a:endParaRPr>
          </a:p>
        </p:txBody>
      </p:sp>
      <p:sp>
        <p:nvSpPr>
          <p:cNvPr id="22" name="文本框 21">
            <a:extLst>
              <a:ext uri="{FF2B5EF4-FFF2-40B4-BE49-F238E27FC236}">
                <a16:creationId xmlns:a16="http://schemas.microsoft.com/office/drawing/2014/main" id="{57EA9BF3-BC2E-D43A-0AC0-2CDBEA7ACCD3}"/>
              </a:ext>
            </a:extLst>
          </p:cNvPr>
          <p:cNvSpPr txBox="1"/>
          <p:nvPr/>
        </p:nvSpPr>
        <p:spPr>
          <a:xfrm>
            <a:off x="7025371" y="3304103"/>
            <a:ext cx="1219273" cy="246221"/>
          </a:xfrm>
          <a:prstGeom prst="rect">
            <a:avLst/>
          </a:prstGeom>
          <a:noFill/>
        </p:spPr>
        <p:txBody>
          <a:bodyPr wrap="square" rtlCol="0">
            <a:spAutoFit/>
          </a:bodyPr>
          <a:lstStyle/>
          <a:p>
            <a:r>
              <a:rPr lang="zh-CN" altLang="en-US" sz="1000" b="1" dirty="0">
                <a:latin typeface="+mn-ea"/>
              </a:rPr>
              <a:t>不常使用人数占比</a:t>
            </a:r>
            <a:endParaRPr lang="en-US" altLang="zh-CN" sz="1000" b="1" dirty="0">
              <a:latin typeface="+mn-ea"/>
            </a:endParaRPr>
          </a:p>
        </p:txBody>
      </p:sp>
      <p:sp>
        <p:nvSpPr>
          <p:cNvPr id="23" name="矩形 22">
            <a:extLst>
              <a:ext uri="{FF2B5EF4-FFF2-40B4-BE49-F238E27FC236}">
                <a16:creationId xmlns:a16="http://schemas.microsoft.com/office/drawing/2014/main" id="{E7DFDAD0-3FCC-8861-B870-E8F9C3570BEA}"/>
              </a:ext>
            </a:extLst>
          </p:cNvPr>
          <p:cNvSpPr/>
          <p:nvPr/>
        </p:nvSpPr>
        <p:spPr>
          <a:xfrm>
            <a:off x="5566110" y="5477323"/>
            <a:ext cx="118533" cy="127000"/>
          </a:xfrm>
          <a:prstGeom prst="rect">
            <a:avLst/>
          </a:prstGeom>
          <a:solidFill>
            <a:srgbClr val="5151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69A35B"/>
              </a:solidFill>
            </a:endParaRPr>
          </a:p>
        </p:txBody>
      </p:sp>
      <p:sp>
        <p:nvSpPr>
          <p:cNvPr id="24" name="文本框 23">
            <a:extLst>
              <a:ext uri="{FF2B5EF4-FFF2-40B4-BE49-F238E27FC236}">
                <a16:creationId xmlns:a16="http://schemas.microsoft.com/office/drawing/2014/main" id="{6BEF2D4F-C46C-F1D0-13B6-37E7F36D36CE}"/>
              </a:ext>
            </a:extLst>
          </p:cNvPr>
          <p:cNvSpPr txBox="1"/>
          <p:nvPr/>
        </p:nvSpPr>
        <p:spPr>
          <a:xfrm>
            <a:off x="5700790" y="5417407"/>
            <a:ext cx="1152442" cy="246221"/>
          </a:xfrm>
          <a:prstGeom prst="rect">
            <a:avLst/>
          </a:prstGeom>
          <a:noFill/>
        </p:spPr>
        <p:txBody>
          <a:bodyPr wrap="square" rtlCol="0">
            <a:spAutoFit/>
          </a:bodyPr>
          <a:lstStyle/>
          <a:p>
            <a:r>
              <a:rPr lang="zh-CN" altLang="en-US" sz="1000" b="1" dirty="0">
                <a:latin typeface="+mn-ea"/>
              </a:rPr>
              <a:t>常使用人数占比</a:t>
            </a:r>
            <a:endParaRPr lang="en-US" altLang="zh-CN" sz="1000" b="1" dirty="0">
              <a:latin typeface="+mn-ea"/>
            </a:endParaRPr>
          </a:p>
        </p:txBody>
      </p:sp>
      <p:sp>
        <p:nvSpPr>
          <p:cNvPr id="30" name="矩形 29">
            <a:extLst>
              <a:ext uri="{FF2B5EF4-FFF2-40B4-BE49-F238E27FC236}">
                <a16:creationId xmlns:a16="http://schemas.microsoft.com/office/drawing/2014/main" id="{CBFA0E07-CB1D-67DC-E679-DFEB9D90374E}"/>
              </a:ext>
            </a:extLst>
          </p:cNvPr>
          <p:cNvSpPr/>
          <p:nvPr/>
        </p:nvSpPr>
        <p:spPr>
          <a:xfrm>
            <a:off x="6890691" y="5477557"/>
            <a:ext cx="118533" cy="127000"/>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69A35B"/>
              </a:solidFill>
            </a:endParaRPr>
          </a:p>
        </p:txBody>
      </p:sp>
      <p:sp>
        <p:nvSpPr>
          <p:cNvPr id="32" name="文本框 31">
            <a:extLst>
              <a:ext uri="{FF2B5EF4-FFF2-40B4-BE49-F238E27FC236}">
                <a16:creationId xmlns:a16="http://schemas.microsoft.com/office/drawing/2014/main" id="{570F885C-4186-8690-3922-EADCAC287E22}"/>
              </a:ext>
            </a:extLst>
          </p:cNvPr>
          <p:cNvSpPr txBox="1"/>
          <p:nvPr/>
        </p:nvSpPr>
        <p:spPr>
          <a:xfrm>
            <a:off x="7025371" y="5417641"/>
            <a:ext cx="1219273" cy="246221"/>
          </a:xfrm>
          <a:prstGeom prst="rect">
            <a:avLst/>
          </a:prstGeom>
          <a:noFill/>
        </p:spPr>
        <p:txBody>
          <a:bodyPr wrap="square" rtlCol="0">
            <a:spAutoFit/>
          </a:bodyPr>
          <a:lstStyle/>
          <a:p>
            <a:r>
              <a:rPr lang="zh-CN" altLang="en-US" sz="1000" b="1" dirty="0">
                <a:latin typeface="+mn-ea"/>
              </a:rPr>
              <a:t>不常使用人数占比</a:t>
            </a:r>
            <a:endParaRPr lang="en-US" altLang="zh-CN" sz="1000" b="1" dirty="0">
              <a:latin typeface="+mn-ea"/>
            </a:endParaRPr>
          </a:p>
        </p:txBody>
      </p:sp>
      <p:sp>
        <p:nvSpPr>
          <p:cNvPr id="34" name="文本框 33">
            <a:extLst>
              <a:ext uri="{FF2B5EF4-FFF2-40B4-BE49-F238E27FC236}">
                <a16:creationId xmlns:a16="http://schemas.microsoft.com/office/drawing/2014/main" id="{F72D7C5F-2B8A-D8CC-E075-8F410A496391}"/>
              </a:ext>
            </a:extLst>
          </p:cNvPr>
          <p:cNvSpPr txBox="1"/>
          <p:nvPr/>
        </p:nvSpPr>
        <p:spPr>
          <a:xfrm>
            <a:off x="1513633" y="1721285"/>
            <a:ext cx="8671730" cy="461665"/>
          </a:xfrm>
          <a:prstGeom prst="rect">
            <a:avLst/>
          </a:prstGeom>
          <a:solidFill>
            <a:schemeClr val="accent6">
              <a:lumMod val="20000"/>
              <a:lumOff val="80000"/>
              <a:alpha val="50000"/>
            </a:schemeClr>
          </a:solidFill>
          <a:ln>
            <a:solidFill>
              <a:schemeClr val="bg1"/>
            </a:solidFill>
          </a:ln>
        </p:spPr>
        <p:txBody>
          <a:bodyPr wrap="square" rtlCol="0" anchor="ctr">
            <a:noAutofit/>
          </a:bodyPr>
          <a:lstStyle/>
          <a:p>
            <a:pPr algn="ctr"/>
            <a:r>
              <a:rPr lang="en-US" altLang="zh-CN" sz="1200" b="1" dirty="0">
                <a:latin typeface="+mn-ea"/>
              </a:rPr>
              <a:t>N=271</a:t>
            </a:r>
          </a:p>
        </p:txBody>
      </p:sp>
      <p:sp>
        <p:nvSpPr>
          <p:cNvPr id="38" name="文本框 37">
            <a:extLst>
              <a:ext uri="{FF2B5EF4-FFF2-40B4-BE49-F238E27FC236}">
                <a16:creationId xmlns:a16="http://schemas.microsoft.com/office/drawing/2014/main" id="{5E237154-A241-D613-4218-EDE20892C9BF}"/>
              </a:ext>
            </a:extLst>
          </p:cNvPr>
          <p:cNvSpPr txBox="1"/>
          <p:nvPr/>
        </p:nvSpPr>
        <p:spPr>
          <a:xfrm>
            <a:off x="1513633" y="3747385"/>
            <a:ext cx="8671730" cy="461665"/>
          </a:xfrm>
          <a:prstGeom prst="rect">
            <a:avLst/>
          </a:prstGeom>
          <a:solidFill>
            <a:schemeClr val="accent6">
              <a:lumMod val="20000"/>
              <a:lumOff val="80000"/>
              <a:alpha val="50000"/>
            </a:schemeClr>
          </a:solidFill>
          <a:ln>
            <a:solidFill>
              <a:schemeClr val="bg1"/>
            </a:solidFill>
          </a:ln>
        </p:spPr>
        <p:txBody>
          <a:bodyPr wrap="square" rtlCol="0" anchor="ctr">
            <a:noAutofit/>
          </a:bodyPr>
          <a:lstStyle/>
          <a:p>
            <a:pPr algn="ctr"/>
            <a:r>
              <a:rPr lang="en-US" altLang="zh-CN" sz="1200" b="1" dirty="0">
                <a:latin typeface="+mn-ea"/>
              </a:rPr>
              <a:t>N=225</a:t>
            </a:r>
          </a:p>
        </p:txBody>
      </p:sp>
      <p:sp>
        <p:nvSpPr>
          <p:cNvPr id="41" name="文本框 40">
            <a:extLst>
              <a:ext uri="{FF2B5EF4-FFF2-40B4-BE49-F238E27FC236}">
                <a16:creationId xmlns:a16="http://schemas.microsoft.com/office/drawing/2014/main" id="{4EBB029A-5C3F-C320-6603-0650730D7799}"/>
              </a:ext>
            </a:extLst>
          </p:cNvPr>
          <p:cNvSpPr txBox="1"/>
          <p:nvPr/>
        </p:nvSpPr>
        <p:spPr>
          <a:xfrm>
            <a:off x="269704" y="1872687"/>
            <a:ext cx="954107" cy="400110"/>
          </a:xfrm>
          <a:prstGeom prst="rect">
            <a:avLst/>
          </a:prstGeom>
          <a:noFill/>
        </p:spPr>
        <p:txBody>
          <a:bodyPr wrap="none" rtlCol="0">
            <a:spAutoFit/>
          </a:bodyPr>
          <a:lstStyle/>
          <a:p>
            <a:pPr algn="ctr"/>
            <a:r>
              <a:rPr lang="zh-CN" altLang="en-US" sz="2000" b="1" dirty="0"/>
              <a:t>某品牌</a:t>
            </a:r>
            <a:endParaRPr lang="en-US" altLang="zh-CN" sz="2000" b="1" dirty="0"/>
          </a:p>
        </p:txBody>
      </p:sp>
    </p:spTree>
    <p:extLst>
      <p:ext uri="{BB962C8B-B14F-4D97-AF65-F5344CB8AC3E}">
        <p14:creationId xmlns:p14="http://schemas.microsoft.com/office/powerpoint/2010/main" val="30966572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CE06DBE-430F-3BD3-325E-66E4126C354B}"/>
              </a:ext>
            </a:extLst>
          </p:cNvPr>
          <p:cNvSpPr/>
          <p:nvPr/>
        </p:nvSpPr>
        <p:spPr>
          <a:xfrm>
            <a:off x="272142" y="1300320"/>
            <a:ext cx="2466975" cy="457660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descr="阿维塔11_车系文章_汽车消费网"/>
          <p:cNvPicPr>
            <a:picLocks noChangeAspect="1" noChangeArrowheads="1"/>
          </p:cNvPicPr>
          <p:nvPr/>
        </p:nvPicPr>
        <p:blipFill>
          <a:blip r:embed="rId4" cstate="print">
            <a:alphaModFix amt="5000"/>
            <a:extLst>
              <a:ext uri="{28A0092B-C50C-407E-A947-70E740481C1C}">
                <a14:useLocalDpi xmlns:a14="http://schemas.microsoft.com/office/drawing/2010/main" val="0"/>
              </a:ext>
            </a:extLst>
          </a:blip>
          <a:srcRect/>
          <a:stretch>
            <a:fillRect/>
          </a:stretch>
        </p:blipFill>
        <p:spPr bwMode="auto">
          <a:xfrm>
            <a:off x="753162" y="1839387"/>
            <a:ext cx="1571226" cy="1571226"/>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占位符 20"/>
          <p:cNvSpPr>
            <a:spLocks noGrp="1"/>
          </p:cNvSpPr>
          <p:nvPr>
            <p:ph type="body" sz="quarter" idx="21"/>
          </p:nvPr>
        </p:nvSpPr>
        <p:spPr/>
        <p:txBody>
          <a:bodyPr/>
          <a:lstStyle/>
          <a:p>
            <a:r>
              <a:rPr lang="zh-CN" altLang="en-US" dirty="0"/>
              <a:t>线上</a:t>
            </a:r>
            <a:r>
              <a:rPr lang="en-US" altLang="zh-CN" dirty="0"/>
              <a:t>ISI</a:t>
            </a:r>
            <a:r>
              <a:rPr lang="zh-CN" altLang="en-US" dirty="0"/>
              <a:t>满意度不涉及弱项识别，测试目前触点的满意程度</a:t>
            </a:r>
          </a:p>
        </p:txBody>
      </p:sp>
      <p:sp>
        <p:nvSpPr>
          <p:cNvPr id="50" name="灯片编号占位符 1"/>
          <p:cNvSpPr>
            <a:spLocks noGrp="1"/>
          </p:cNvSpPr>
          <p:nvPr>
            <p:ph type="sldNum" sz="quarter" idx="4"/>
          </p:nvPr>
        </p:nvSpPr>
        <p:spPr>
          <a:xfrm>
            <a:off x="11523095" y="6472443"/>
            <a:ext cx="368141" cy="2407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00B666-AD48-5640-8D08-2A4A6036569F}" type="slidenum">
              <a:rPr kumimoji="0" lang="zh-CN" altLang="en-US" sz="800" b="0" i="0" u="none" strike="noStrike" kern="1200" cap="none" spc="0" normalizeH="0" baseline="0" noProof="0" smtClean="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zh-CN" altLang="en-US" sz="800" b="0" i="0" u="none" strike="noStrike" kern="1200" cap="none" spc="0" normalizeH="0" baseline="0" noProof="0" dirty="0">
              <a:ln>
                <a:noFill/>
              </a:ln>
              <a:solidFill>
                <a:srgbClr val="FBFBFB">
                  <a:lumMod val="50000"/>
                </a:srgbClr>
              </a:solidFill>
              <a:effectLst/>
              <a:uLnTx/>
              <a:uFillTx/>
              <a:latin typeface="DIN Pro Regular" panose="02000503040000020003" pitchFamily="50" charset="0"/>
              <a:ea typeface="Alibaba PuHuiTi 2.0 55 Regular" pitchFamily="18" charset="-122"/>
              <a:cs typeface="Alibaba PuHuiTi 2.0 55 Regular" pitchFamily="18" charset="-122"/>
            </a:endParaRPr>
          </a:p>
        </p:txBody>
      </p:sp>
      <p:graphicFrame>
        <p:nvGraphicFramePr>
          <p:cNvPr id="9" name="表格 8">
            <a:extLst>
              <a:ext uri="{FF2B5EF4-FFF2-40B4-BE49-F238E27FC236}">
                <a16:creationId xmlns:a16="http://schemas.microsoft.com/office/drawing/2014/main" id="{CDE80DC5-2A89-3635-BB88-E9B60786930B}"/>
              </a:ext>
            </a:extLst>
          </p:cNvPr>
          <p:cNvGraphicFramePr>
            <a:graphicFrameLocks noGrp="1"/>
          </p:cNvGraphicFramePr>
          <p:nvPr/>
        </p:nvGraphicFramePr>
        <p:xfrm>
          <a:off x="463528" y="3586848"/>
          <a:ext cx="2129224" cy="2250440"/>
        </p:xfrm>
        <a:graphic>
          <a:graphicData uri="http://schemas.openxmlformats.org/drawingml/2006/table">
            <a:tbl>
              <a:tblPr>
                <a:tableStyleId>{5C22544A-7EE6-4342-B048-85BDC9FD1C3A}</a:tableStyleId>
              </a:tblPr>
              <a:tblGrid>
                <a:gridCol w="1354385">
                  <a:extLst>
                    <a:ext uri="{9D8B030D-6E8A-4147-A177-3AD203B41FA5}">
                      <a16:colId xmlns:a16="http://schemas.microsoft.com/office/drawing/2014/main" val="2204341184"/>
                    </a:ext>
                  </a:extLst>
                </a:gridCol>
                <a:gridCol w="774839">
                  <a:extLst>
                    <a:ext uri="{9D8B030D-6E8A-4147-A177-3AD203B41FA5}">
                      <a16:colId xmlns:a16="http://schemas.microsoft.com/office/drawing/2014/main" val="2885536173"/>
                    </a:ext>
                  </a:extLst>
                </a:gridCol>
              </a:tblGrid>
              <a:tr h="281305">
                <a:tc>
                  <a:txBody>
                    <a:bodyPr/>
                    <a:lstStyle/>
                    <a:p>
                      <a:pPr algn="ctr" fontAlgn="b"/>
                      <a:r>
                        <a:rPr lang="zh-CN" altLang="en-US" sz="1100" u="none" strike="noStrike">
                          <a:effectLst/>
                          <a:latin typeface="微软雅黑" panose="020B0503020204020204" pitchFamily="34" charset="-122"/>
                          <a:ea typeface="微软雅黑" panose="020B0503020204020204" pitchFamily="34" charset="-122"/>
                        </a:rPr>
                        <a:t> </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tc>
                  <a:txBody>
                    <a:bodyPr/>
                    <a:lstStyle/>
                    <a:p>
                      <a:pPr algn="ctr" fontAlgn="b"/>
                      <a:r>
                        <a:rPr lang="zh-CN" altLang="en-US" sz="1100" u="none" strike="noStrike" dirty="0">
                          <a:effectLst/>
                          <a:latin typeface="微软雅黑" panose="020B0503020204020204" pitchFamily="34" charset="-122"/>
                          <a:ea typeface="微软雅黑" panose="020B0503020204020204" pitchFamily="34" charset="-122"/>
                        </a:rPr>
                        <a:t>因子分数</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tc>
                <a:extLst>
                  <a:ext uri="{0D108BD9-81ED-4DB2-BD59-A6C34878D82A}">
                    <a16:rowId xmlns:a16="http://schemas.microsoft.com/office/drawing/2014/main" val="3919344718"/>
                  </a:ext>
                </a:extLst>
              </a:tr>
              <a:tr h="281305">
                <a:tc>
                  <a:txBody>
                    <a:bodyPr/>
                    <a:lstStyle/>
                    <a:p>
                      <a:pPr marL="0" indent="0" algn="ctr" defTabSz="914400" rtl="0" eaLnBrk="1" fontAlgn="ctr" latinLnBrk="0" hangingPunct="1">
                        <a:buNone/>
                      </a:pPr>
                      <a:r>
                        <a:rPr lang="zh-CN" altLang="en-US" sz="1000" b="0" u="none" strike="noStrike" kern="1200" dirty="0">
                          <a:solidFill>
                            <a:schemeClr val="tx1"/>
                          </a:solidFill>
                          <a:effectLst/>
                          <a:latin typeface="+mn-ea"/>
                          <a:ea typeface="+mn-ea"/>
                          <a:cs typeface="+mn-cs"/>
                        </a:rPr>
                        <a:t> </a:t>
                      </a:r>
                      <a:r>
                        <a:rPr lang="zh-CN" altLang="en-US" sz="1000" b="1" u="none" strike="noStrike" kern="1200" dirty="0">
                          <a:solidFill>
                            <a:srgbClr val="C00000"/>
                          </a:solidFill>
                          <a:effectLst/>
                          <a:latin typeface="+mn-ea"/>
                          <a:ea typeface="+mn-ea"/>
                          <a:cs typeface="+mn-cs"/>
                        </a:rPr>
                        <a:t>官方</a:t>
                      </a:r>
                      <a:r>
                        <a:rPr lang="en-US" sz="1000" b="1" u="none" strike="noStrike" kern="1200" dirty="0">
                          <a:solidFill>
                            <a:srgbClr val="C00000"/>
                          </a:solidFill>
                          <a:effectLst/>
                          <a:latin typeface="+mn-ea"/>
                          <a:ea typeface="+mn-ea"/>
                          <a:cs typeface="+mn-cs"/>
                        </a:rPr>
                        <a:t>APP</a:t>
                      </a:r>
                    </a:p>
                  </a:txBody>
                  <a:tcPr marL="9525" marR="9525" marT="9525"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8.3</a:t>
                      </a:r>
                    </a:p>
                  </a:txBody>
                  <a:tcPr marL="7620" marR="7620" marT="7620" marB="0" anchor="ctr"/>
                </a:tc>
                <a:extLst>
                  <a:ext uri="{0D108BD9-81ED-4DB2-BD59-A6C34878D82A}">
                    <a16:rowId xmlns:a16="http://schemas.microsoft.com/office/drawing/2014/main" val="925077775"/>
                  </a:ext>
                </a:extLst>
              </a:tr>
              <a:tr h="281305">
                <a:tc>
                  <a:txBody>
                    <a:bodyPr/>
                    <a:lstStyle/>
                    <a:p>
                      <a:pPr marL="0" indent="0" algn="ctr" defTabSz="914400" rtl="0" eaLnBrk="1" fontAlgn="ctr" latinLnBrk="0" hangingPunct="1">
                        <a:buNone/>
                      </a:pPr>
                      <a:r>
                        <a:rPr lang="zh-CN" altLang="en-US" sz="1000" b="0" u="none" strike="noStrike" kern="1200" dirty="0">
                          <a:solidFill>
                            <a:schemeClr val="tx1"/>
                          </a:solidFill>
                          <a:effectLst/>
                          <a:latin typeface="+mn-ea"/>
                          <a:ea typeface="+mn-ea"/>
                          <a:cs typeface="+mn-cs"/>
                        </a:rPr>
                        <a:t> 微信订阅号</a:t>
                      </a:r>
                    </a:p>
                  </a:txBody>
                  <a:tcPr marL="9525" marR="9525" marT="9525"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8.6</a:t>
                      </a:r>
                    </a:p>
                  </a:txBody>
                  <a:tcPr marL="7620" marR="7620" marT="7620" marB="0" anchor="ctr"/>
                </a:tc>
                <a:extLst>
                  <a:ext uri="{0D108BD9-81ED-4DB2-BD59-A6C34878D82A}">
                    <a16:rowId xmlns:a16="http://schemas.microsoft.com/office/drawing/2014/main" val="2606177319"/>
                  </a:ext>
                </a:extLst>
              </a:tr>
              <a:tr h="281305">
                <a:tc>
                  <a:txBody>
                    <a:bodyPr/>
                    <a:lstStyle/>
                    <a:p>
                      <a:pPr marL="0" indent="0" algn="ctr" defTabSz="914400" rtl="0" eaLnBrk="1" fontAlgn="ctr" latinLnBrk="0" hangingPunct="1">
                        <a:buNone/>
                      </a:pPr>
                      <a:r>
                        <a:rPr lang="zh-CN" altLang="en-US" sz="1000" b="0" u="none" strike="noStrike" kern="1200" dirty="0">
                          <a:solidFill>
                            <a:schemeClr val="tx1"/>
                          </a:solidFill>
                          <a:effectLst/>
                          <a:latin typeface="+mn-ea"/>
                          <a:ea typeface="+mn-ea"/>
                          <a:cs typeface="+mn-cs"/>
                        </a:rPr>
                        <a:t> 微信小程序</a:t>
                      </a:r>
                    </a:p>
                  </a:txBody>
                  <a:tcPr marL="9525" marR="9525" marT="9525"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8.7</a:t>
                      </a:r>
                    </a:p>
                  </a:txBody>
                  <a:tcPr marL="7620" marR="7620" marT="7620" marB="0" anchor="ctr"/>
                </a:tc>
                <a:extLst>
                  <a:ext uri="{0D108BD9-81ED-4DB2-BD59-A6C34878D82A}">
                    <a16:rowId xmlns:a16="http://schemas.microsoft.com/office/drawing/2014/main" val="3375087133"/>
                  </a:ext>
                </a:extLst>
              </a:tr>
              <a:tr h="281305">
                <a:tc>
                  <a:txBody>
                    <a:bodyPr/>
                    <a:lstStyle/>
                    <a:p>
                      <a:pPr marL="0" indent="0" algn="ctr" defTabSz="914400" rtl="0" eaLnBrk="1" fontAlgn="ctr" latinLnBrk="0" hangingPunct="1">
                        <a:buNone/>
                      </a:pPr>
                      <a:r>
                        <a:rPr lang="zh-CN" altLang="en-US" sz="1000" b="1" u="none" strike="noStrike" kern="1200" dirty="0">
                          <a:solidFill>
                            <a:srgbClr val="C00000"/>
                          </a:solidFill>
                          <a:effectLst/>
                          <a:latin typeface="+mn-ea"/>
                          <a:ea typeface="+mn-ea"/>
                          <a:cs typeface="+mn-cs"/>
                        </a:rPr>
                        <a:t> 抖音</a:t>
                      </a:r>
                    </a:p>
                  </a:txBody>
                  <a:tcPr marL="9525" marR="9525" marT="9525" marB="0" anchor="ctr"/>
                </a:tc>
                <a:tc>
                  <a:txBody>
                    <a:bodyPr/>
                    <a:lstStyle/>
                    <a:p>
                      <a:pPr algn="ctr" fontAlgn="b"/>
                      <a:r>
                        <a:rPr lang="en-US" altLang="zh-CN" sz="1100" b="0" i="0" u="none" strike="noStrike" dirty="0">
                          <a:solidFill>
                            <a:srgbClr val="000000"/>
                          </a:solidFill>
                          <a:effectLst/>
                          <a:latin typeface="等线" panose="02010600030101010101" pitchFamily="2" charset="-122"/>
                          <a:ea typeface="等线" panose="02010600030101010101" pitchFamily="2" charset="-122"/>
                        </a:rPr>
                        <a:t>7.7</a:t>
                      </a:r>
                    </a:p>
                  </a:txBody>
                  <a:tcPr marL="7620" marR="7620" marT="7620" marB="0" anchor="ctr"/>
                </a:tc>
                <a:extLst>
                  <a:ext uri="{0D108BD9-81ED-4DB2-BD59-A6C34878D82A}">
                    <a16:rowId xmlns:a16="http://schemas.microsoft.com/office/drawing/2014/main" val="4023873580"/>
                  </a:ext>
                </a:extLst>
              </a:tr>
              <a:tr h="281305">
                <a:tc>
                  <a:txBody>
                    <a:bodyPr/>
                    <a:lstStyle/>
                    <a:p>
                      <a:pPr marL="0" indent="0" algn="ctr" defTabSz="914400" rtl="0" eaLnBrk="1" fontAlgn="ctr" latinLnBrk="0" hangingPunct="1">
                        <a:buNone/>
                      </a:pPr>
                      <a:r>
                        <a:rPr lang="zh-CN" altLang="en-US" sz="1000" b="0" u="none" strike="noStrike" kern="1200" dirty="0">
                          <a:solidFill>
                            <a:schemeClr val="tx1"/>
                          </a:solidFill>
                          <a:effectLst/>
                          <a:latin typeface="+mn-ea"/>
                          <a:ea typeface="+mn-ea"/>
                          <a:cs typeface="+mn-cs"/>
                        </a:rPr>
                        <a:t> 小红书</a:t>
                      </a:r>
                    </a:p>
                  </a:txBody>
                  <a:tcPr marL="9525" marR="9525" marT="9525" marB="0" anchor="ctr"/>
                </a:tc>
                <a:tc>
                  <a:txBody>
                    <a:bodyPr/>
                    <a:lstStyle/>
                    <a:p>
                      <a:pPr algn="ctr" fontAlgn="b"/>
                      <a:r>
                        <a:rPr lang="en-US" altLang="zh-CN" sz="1100" b="0" i="0" u="none" strike="noStrike" dirty="0">
                          <a:solidFill>
                            <a:srgbClr val="000000"/>
                          </a:solidFill>
                          <a:effectLst/>
                          <a:latin typeface="等线" panose="02010600030101010101" pitchFamily="2" charset="-122"/>
                          <a:ea typeface="等线" panose="02010600030101010101" pitchFamily="2" charset="-122"/>
                        </a:rPr>
                        <a:t>8.4</a:t>
                      </a:r>
                    </a:p>
                  </a:txBody>
                  <a:tcPr marL="7620" marR="7620" marT="7620" marB="0" anchor="ctr"/>
                </a:tc>
                <a:extLst>
                  <a:ext uri="{0D108BD9-81ED-4DB2-BD59-A6C34878D82A}">
                    <a16:rowId xmlns:a16="http://schemas.microsoft.com/office/drawing/2014/main" val="717812724"/>
                  </a:ext>
                </a:extLst>
              </a:tr>
              <a:tr h="281305">
                <a:tc>
                  <a:txBody>
                    <a:bodyPr/>
                    <a:lstStyle/>
                    <a:p>
                      <a:pPr marL="0" indent="0" algn="ctr" defTabSz="914400" rtl="0" eaLnBrk="1" fontAlgn="ctr" latinLnBrk="0" hangingPunct="1">
                        <a:buNone/>
                      </a:pPr>
                      <a:r>
                        <a:rPr lang="zh-CN" altLang="en-US" sz="1000" b="0" u="none" strike="noStrike" kern="1200" dirty="0">
                          <a:solidFill>
                            <a:schemeClr val="tx1"/>
                          </a:solidFill>
                          <a:effectLst/>
                          <a:latin typeface="+mn-ea"/>
                          <a:ea typeface="+mn-ea"/>
                          <a:cs typeface="+mn-cs"/>
                        </a:rPr>
                        <a:t>商城及积分</a:t>
                      </a:r>
                    </a:p>
                  </a:txBody>
                  <a:tcPr marL="9525" marR="9525" marT="9525" marB="0" anchor="ctr"/>
                </a:tc>
                <a:tc>
                  <a:txBody>
                    <a:bodyPr/>
                    <a:lstStyle/>
                    <a:p>
                      <a:pPr algn="ctr" fontAlgn="b"/>
                      <a:r>
                        <a:rPr lang="en-US" altLang="zh-CN" sz="1100" b="0" i="0" u="none" strike="noStrike" dirty="0">
                          <a:solidFill>
                            <a:srgbClr val="000000"/>
                          </a:solidFill>
                          <a:effectLst/>
                          <a:latin typeface="等线" panose="02010600030101010101" pitchFamily="2" charset="-122"/>
                          <a:ea typeface="等线" panose="02010600030101010101" pitchFamily="2" charset="-122"/>
                        </a:rPr>
                        <a:t>8.6</a:t>
                      </a:r>
                    </a:p>
                  </a:txBody>
                  <a:tcPr marL="7620" marR="7620" marT="7620" marB="0" anchor="ctr"/>
                </a:tc>
                <a:extLst>
                  <a:ext uri="{0D108BD9-81ED-4DB2-BD59-A6C34878D82A}">
                    <a16:rowId xmlns:a16="http://schemas.microsoft.com/office/drawing/2014/main" val="2337515278"/>
                  </a:ext>
                </a:extLst>
              </a:tr>
              <a:tr h="281305">
                <a:tc>
                  <a:txBody>
                    <a:bodyPr/>
                    <a:lstStyle/>
                    <a:p>
                      <a:pPr marL="0" indent="0" algn="ctr" defTabSz="914400" rtl="0" eaLnBrk="1" fontAlgn="ctr" latinLnBrk="0" hangingPunct="1">
                        <a:buNone/>
                      </a:pPr>
                      <a:r>
                        <a:rPr lang="zh-CN" altLang="en-US" sz="1000" b="0" u="none" strike="noStrike" kern="1200" dirty="0">
                          <a:solidFill>
                            <a:schemeClr val="tx1"/>
                          </a:solidFill>
                          <a:effectLst/>
                          <a:latin typeface="+mn-ea"/>
                          <a:ea typeface="+mn-ea"/>
                          <a:cs typeface="+mn-cs"/>
                        </a:rPr>
                        <a:t>平台客服沟通</a:t>
                      </a:r>
                    </a:p>
                  </a:txBody>
                  <a:tcPr marL="9525" marR="9525" marT="9525" marB="0" anchor="ctr"/>
                </a:tc>
                <a:tc>
                  <a:txBody>
                    <a:bodyPr/>
                    <a:lstStyle/>
                    <a:p>
                      <a:pPr algn="ctr" fontAlgn="b"/>
                      <a:r>
                        <a:rPr lang="en-US" altLang="zh-CN" sz="1100" b="0" i="0" u="none" strike="noStrike" dirty="0">
                          <a:solidFill>
                            <a:srgbClr val="000000"/>
                          </a:solidFill>
                          <a:effectLst/>
                          <a:latin typeface="等线" panose="02010600030101010101" pitchFamily="2" charset="-122"/>
                          <a:ea typeface="等线" panose="02010600030101010101" pitchFamily="2" charset="-122"/>
                        </a:rPr>
                        <a:t>8.4</a:t>
                      </a:r>
                    </a:p>
                  </a:txBody>
                  <a:tcPr marL="7620" marR="7620" marT="7620" marB="0" anchor="ctr"/>
                </a:tc>
                <a:extLst>
                  <a:ext uri="{0D108BD9-81ED-4DB2-BD59-A6C34878D82A}">
                    <a16:rowId xmlns:a16="http://schemas.microsoft.com/office/drawing/2014/main" val="3177746523"/>
                  </a:ext>
                </a:extLst>
              </a:tr>
            </a:tbl>
          </a:graphicData>
        </a:graphic>
      </p:graphicFrame>
      <p:graphicFrame>
        <p:nvGraphicFramePr>
          <p:cNvPr id="2" name="图表 1">
            <a:extLst>
              <a:ext uri="{FF2B5EF4-FFF2-40B4-BE49-F238E27FC236}">
                <a16:creationId xmlns:a16="http://schemas.microsoft.com/office/drawing/2014/main" id="{BBB4CC89-BCB0-571B-77F6-1B61C0789C1B}"/>
              </a:ext>
            </a:extLst>
          </p:cNvPr>
          <p:cNvGraphicFramePr/>
          <p:nvPr/>
        </p:nvGraphicFramePr>
        <p:xfrm>
          <a:off x="0" y="1498401"/>
          <a:ext cx="2902955" cy="2138419"/>
        </p:xfrm>
        <a:graphic>
          <a:graphicData uri="http://schemas.openxmlformats.org/drawingml/2006/chart">
            <c:chart xmlns:c="http://schemas.openxmlformats.org/drawingml/2006/chart" xmlns:r="http://schemas.openxmlformats.org/officeDocument/2006/relationships" r:id="rId5"/>
          </a:graphicData>
        </a:graphic>
      </p:graphicFrame>
      <p:pic>
        <p:nvPicPr>
          <p:cNvPr id="5" name="图形 4" descr="拇指向下 纯色填充">
            <a:extLst>
              <a:ext uri="{FF2B5EF4-FFF2-40B4-BE49-F238E27FC236}">
                <a16:creationId xmlns:a16="http://schemas.microsoft.com/office/drawing/2014/main" id="{F8895C78-6491-EA12-FFC4-AB6097A46DD3}"/>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0800000">
            <a:off x="2335687" y="2880482"/>
            <a:ext cx="274681" cy="274681"/>
          </a:xfrm>
          <a:prstGeom prst="rect">
            <a:avLst/>
          </a:prstGeom>
        </p:spPr>
      </p:pic>
      <p:pic>
        <p:nvPicPr>
          <p:cNvPr id="6" name="图形 5" descr="拇指向下 纯色填充">
            <a:extLst>
              <a:ext uri="{FF2B5EF4-FFF2-40B4-BE49-F238E27FC236}">
                <a16:creationId xmlns:a16="http://schemas.microsoft.com/office/drawing/2014/main" id="{C0DF25F5-2C02-5329-308D-52110F4EB27E}"/>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965209" y="3338437"/>
            <a:ext cx="274681" cy="274681"/>
          </a:xfrm>
          <a:prstGeom prst="rect">
            <a:avLst/>
          </a:prstGeom>
        </p:spPr>
      </p:pic>
      <p:sp>
        <p:nvSpPr>
          <p:cNvPr id="15" name="文本框 14">
            <a:extLst>
              <a:ext uri="{FF2B5EF4-FFF2-40B4-BE49-F238E27FC236}">
                <a16:creationId xmlns:a16="http://schemas.microsoft.com/office/drawing/2014/main" id="{B3D7D4F1-1C29-A139-1AB5-0E02A28DF838}"/>
              </a:ext>
            </a:extLst>
          </p:cNvPr>
          <p:cNvSpPr txBox="1"/>
          <p:nvPr>
            <p:custDataLst>
              <p:tags r:id="rId1"/>
            </p:custDataLst>
          </p:nvPr>
        </p:nvSpPr>
        <p:spPr>
          <a:xfrm>
            <a:off x="283028" y="1279271"/>
            <a:ext cx="2466975" cy="266400"/>
          </a:xfrm>
          <a:prstGeom prst="rect">
            <a:avLst/>
          </a:prstGeom>
          <a:solidFill>
            <a:srgbClr val="4B8D56"/>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BFBFB"/>
                </a:solidFill>
                <a:effectLst/>
                <a:uLnTx/>
                <a:uFillTx/>
                <a:latin typeface="Alibaba PuHuiTi 2.0 55 Regular"/>
                <a:ea typeface="Alibaba PuHuiTi 2.0 55 Regular"/>
                <a:cs typeface="Alibaba PuHuiTi 2.0 55 Regular"/>
              </a:rPr>
              <a:t>某品牌</a:t>
            </a:r>
            <a:endParaRPr kumimoji="0" lang="en-US" altLang="zh-CN" sz="1200" b="1" i="0" u="none" strike="noStrike" kern="1200" cap="none" spc="0" normalizeH="0" baseline="0" noProof="0" dirty="0">
              <a:ln>
                <a:noFill/>
              </a:ln>
              <a:solidFill>
                <a:srgbClr val="FBFBFB"/>
              </a:solidFill>
              <a:effectLst/>
              <a:uLnTx/>
              <a:uFillTx/>
              <a:latin typeface="Alibaba PuHuiTi 2.0 55 Regular"/>
              <a:ea typeface="Alibaba PuHuiTi 2.0 55 Regular"/>
              <a:cs typeface="Alibaba PuHuiTi 2.0 55 Regular"/>
            </a:endParaRPr>
          </a:p>
        </p:txBody>
      </p:sp>
      <p:sp>
        <p:nvSpPr>
          <p:cNvPr id="23" name="文本框 22">
            <a:extLst>
              <a:ext uri="{FF2B5EF4-FFF2-40B4-BE49-F238E27FC236}">
                <a16:creationId xmlns:a16="http://schemas.microsoft.com/office/drawing/2014/main" id="{1645F574-659E-0F7E-1FA1-AD1E09C65415}"/>
              </a:ext>
            </a:extLst>
          </p:cNvPr>
          <p:cNvSpPr txBox="1"/>
          <p:nvPr/>
        </p:nvSpPr>
        <p:spPr>
          <a:xfrm>
            <a:off x="3775843" y="5936802"/>
            <a:ext cx="8152637" cy="482569"/>
          </a:xfrm>
          <a:prstGeom prst="rect">
            <a:avLst/>
          </a:prstGeom>
          <a:noFill/>
          <a:ln>
            <a:noFill/>
          </a:ln>
        </p:spPr>
        <p:txBody>
          <a:bodyPr wrap="square" rtlCol="0" anchor="ctr">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effectLst/>
                <a:uLnTx/>
                <a:uFillTx/>
                <a:latin typeface="+mn-ea"/>
                <a:cs typeface="+mn-cs"/>
              </a:rPr>
              <a:t>红色为车主最不认可的</a:t>
            </a:r>
            <a:r>
              <a:rPr kumimoji="0" lang="en-US" altLang="zh-CN" sz="1200" b="0" i="0" u="none" strike="noStrike" kern="1200" cap="none" spc="0" normalizeH="0" baseline="0" noProof="0" dirty="0">
                <a:ln>
                  <a:noFill/>
                </a:ln>
                <a:effectLst/>
                <a:uLnTx/>
                <a:uFillTx/>
                <a:latin typeface="+mn-ea"/>
                <a:cs typeface="+mn-cs"/>
              </a:rPr>
              <a:t>5</a:t>
            </a:r>
            <a:r>
              <a:rPr kumimoji="0" lang="zh-CN" altLang="en-US" sz="1200" b="0" i="0" u="none" strike="noStrike" kern="1200" cap="none" spc="0" normalizeH="0" baseline="0" noProof="0" dirty="0">
                <a:ln>
                  <a:noFill/>
                </a:ln>
                <a:effectLst/>
                <a:uLnTx/>
                <a:uFillTx/>
                <a:latin typeface="+mn-ea"/>
                <a:cs typeface="+mn-cs"/>
              </a:rPr>
              <a:t>个服务项，</a:t>
            </a:r>
            <a:endParaRPr kumimoji="0" lang="en-US" altLang="zh-CN" sz="1200" b="0" i="0" u="none" strike="noStrike" kern="1200" cap="none" spc="0" normalizeH="0" baseline="0" noProof="0" dirty="0">
              <a:ln>
                <a:noFill/>
              </a:ln>
              <a:effectLst/>
              <a:uLnTx/>
              <a:uFillTx/>
              <a:latin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effectLst/>
                <a:uLnTx/>
                <a:uFillTx/>
                <a:latin typeface="+mn-ea"/>
                <a:cs typeface="+mn-cs"/>
              </a:rPr>
              <a:t>绿色为车主最认可的</a:t>
            </a:r>
            <a:r>
              <a:rPr kumimoji="0" lang="en-US" altLang="zh-CN" sz="1200" b="0" i="0" u="none" strike="noStrike" kern="1200" cap="none" spc="0" normalizeH="0" baseline="0" noProof="0" dirty="0">
                <a:ln>
                  <a:noFill/>
                </a:ln>
                <a:effectLst/>
                <a:uLnTx/>
                <a:uFillTx/>
                <a:latin typeface="+mn-ea"/>
                <a:cs typeface="+mn-cs"/>
              </a:rPr>
              <a:t>5</a:t>
            </a:r>
            <a:r>
              <a:rPr kumimoji="0" lang="zh-CN" altLang="en-US" sz="1200" b="0" i="0" u="none" strike="noStrike" kern="1200" cap="none" spc="0" normalizeH="0" baseline="0" noProof="0" dirty="0">
                <a:ln>
                  <a:noFill/>
                </a:ln>
                <a:effectLst/>
                <a:uLnTx/>
                <a:uFillTx/>
                <a:latin typeface="+mn-ea"/>
                <a:cs typeface="+mn-cs"/>
              </a:rPr>
              <a:t>个服务项；</a:t>
            </a:r>
            <a:endParaRPr kumimoji="0" lang="en-US" altLang="zh-CN" sz="1200" b="0" i="0" u="none" strike="noStrike" kern="1200" cap="none" spc="0" normalizeH="0" baseline="0" noProof="0" dirty="0">
              <a:ln>
                <a:noFill/>
              </a:ln>
              <a:effectLst/>
              <a:uLnTx/>
              <a:uFillTx/>
              <a:latin typeface="+mn-ea"/>
              <a:cs typeface="+mn-cs"/>
            </a:endParaRPr>
          </a:p>
        </p:txBody>
      </p:sp>
      <p:pic>
        <p:nvPicPr>
          <p:cNvPr id="7" name="图片 6">
            <a:extLst>
              <a:ext uri="{FF2B5EF4-FFF2-40B4-BE49-F238E27FC236}">
                <a16:creationId xmlns:a16="http://schemas.microsoft.com/office/drawing/2014/main" id="{292F6F8B-4193-40D6-96C8-E348A498A5F8}"/>
              </a:ext>
            </a:extLst>
          </p:cNvPr>
          <p:cNvPicPr>
            <a:picLocks noChangeAspect="1"/>
          </p:cNvPicPr>
          <p:nvPr/>
        </p:nvPicPr>
        <p:blipFill>
          <a:blip r:embed="rId10"/>
          <a:stretch>
            <a:fillRect/>
          </a:stretch>
        </p:blipFill>
        <p:spPr>
          <a:xfrm>
            <a:off x="2621666" y="1498401"/>
            <a:ext cx="9343475" cy="4253667"/>
          </a:xfrm>
          <a:prstGeom prst="rect">
            <a:avLst/>
          </a:prstGeom>
        </p:spPr>
      </p:pic>
    </p:spTree>
    <p:extLst>
      <p:ext uri="{BB962C8B-B14F-4D97-AF65-F5344CB8AC3E}">
        <p14:creationId xmlns:p14="http://schemas.microsoft.com/office/powerpoint/2010/main" val="23835583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60">
            <a:extLst>
              <a:ext uri="{FF2B5EF4-FFF2-40B4-BE49-F238E27FC236}">
                <a16:creationId xmlns:a16="http://schemas.microsoft.com/office/drawing/2014/main" id="{09A839E9-CF81-853C-00ED-FC2991DE3D72}"/>
              </a:ext>
            </a:extLst>
          </p:cNvPr>
          <p:cNvSpPr/>
          <p:nvPr/>
        </p:nvSpPr>
        <p:spPr>
          <a:xfrm>
            <a:off x="9397500" y="4155477"/>
            <a:ext cx="2452336" cy="1985733"/>
          </a:xfrm>
          <a:prstGeom prst="rect">
            <a:avLst/>
          </a:prstGeom>
          <a:solidFill>
            <a:schemeClr val="accent6">
              <a:lumMod val="20000"/>
              <a:lumOff val="8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4" name="Picture 18" descr="车团网">
            <a:extLst>
              <a:ext uri="{FF2B5EF4-FFF2-40B4-BE49-F238E27FC236}">
                <a16:creationId xmlns:a16="http://schemas.microsoft.com/office/drawing/2014/main" id="{362B32D9-8A39-AEF4-8C7C-4A99DAFA99CE}"/>
              </a:ext>
            </a:extLst>
          </p:cNvPr>
          <p:cNvPicPr>
            <a:picLocks noChangeAspect="1" noChangeArrowheads="1"/>
          </p:cNvPicPr>
          <p:nvPr/>
        </p:nvPicPr>
        <p:blipFill>
          <a:blip r:embed="rId11">
            <a:alphaModFix amt="4000"/>
            <a:extLst>
              <a:ext uri="{28A0092B-C50C-407E-A947-70E740481C1C}">
                <a14:useLocalDpi xmlns:a14="http://schemas.microsoft.com/office/drawing/2010/main" val="0"/>
              </a:ext>
            </a:extLst>
          </a:blip>
          <a:srcRect/>
          <a:stretch>
            <a:fillRect/>
          </a:stretch>
        </p:blipFill>
        <p:spPr bwMode="auto">
          <a:xfrm>
            <a:off x="9855029" y="4444039"/>
            <a:ext cx="1474926" cy="1474926"/>
          </a:xfrm>
          <a:prstGeom prst="rect">
            <a:avLst/>
          </a:prstGeom>
          <a:noFill/>
          <a:extLst>
            <a:ext uri="{909E8E84-426E-40DD-AFC4-6F175D3DCCD1}">
              <a14:hiddenFill xmlns:a14="http://schemas.microsoft.com/office/drawing/2010/main">
                <a:solidFill>
                  <a:srgbClr val="FFFFFF"/>
                </a:solidFill>
              </a14:hiddenFill>
            </a:ext>
          </a:extLst>
        </p:spPr>
      </p:pic>
      <p:sp>
        <p:nvSpPr>
          <p:cNvPr id="60" name="矩形 59">
            <a:extLst>
              <a:ext uri="{FF2B5EF4-FFF2-40B4-BE49-F238E27FC236}">
                <a16:creationId xmlns:a16="http://schemas.microsoft.com/office/drawing/2014/main" id="{64BF3AB7-7F67-B87D-C341-1130EB7119E6}"/>
              </a:ext>
            </a:extLst>
          </p:cNvPr>
          <p:cNvSpPr/>
          <p:nvPr/>
        </p:nvSpPr>
        <p:spPr>
          <a:xfrm>
            <a:off x="6404600" y="4155477"/>
            <a:ext cx="2452336" cy="1985733"/>
          </a:xfrm>
          <a:prstGeom prst="rect">
            <a:avLst/>
          </a:prstGeom>
          <a:solidFill>
            <a:schemeClr val="accent6">
              <a:lumMod val="20000"/>
              <a:lumOff val="8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5" name="Picture 16" descr="【理想ONE】最新理想理想ONE报价_图片_参数_电动邦">
            <a:extLst>
              <a:ext uri="{FF2B5EF4-FFF2-40B4-BE49-F238E27FC236}">
                <a16:creationId xmlns:a16="http://schemas.microsoft.com/office/drawing/2014/main" id="{2DF7402B-8744-A091-43E3-D264A77FBB5E}"/>
              </a:ext>
            </a:extLst>
          </p:cNvPr>
          <p:cNvPicPr>
            <a:picLocks noChangeAspect="1" noChangeArrowheads="1"/>
          </p:cNvPicPr>
          <p:nvPr/>
        </p:nvPicPr>
        <p:blipFill>
          <a:blip r:embed="rId12">
            <a:alphaModFix amt="5000"/>
            <a:extLst>
              <a:ext uri="{28A0092B-C50C-407E-A947-70E740481C1C}">
                <a14:useLocalDpi xmlns:a14="http://schemas.microsoft.com/office/drawing/2010/main" val="0"/>
              </a:ext>
            </a:extLst>
          </a:blip>
          <a:srcRect/>
          <a:stretch>
            <a:fillRect/>
          </a:stretch>
        </p:blipFill>
        <p:spPr bwMode="auto">
          <a:xfrm>
            <a:off x="6909100" y="4419858"/>
            <a:ext cx="1523289" cy="1523289"/>
          </a:xfrm>
          <a:prstGeom prst="rect">
            <a:avLst/>
          </a:prstGeom>
          <a:noFill/>
          <a:extLst>
            <a:ext uri="{909E8E84-426E-40DD-AFC4-6F175D3DCCD1}">
              <a14:hiddenFill xmlns:a14="http://schemas.microsoft.com/office/drawing/2010/main">
                <a:solidFill>
                  <a:srgbClr val="FFFFFF"/>
                </a:solidFill>
              </a14:hiddenFill>
            </a:ext>
          </a:extLst>
        </p:spPr>
      </p:pic>
      <p:sp>
        <p:nvSpPr>
          <p:cNvPr id="59" name="矩形 58">
            <a:extLst>
              <a:ext uri="{FF2B5EF4-FFF2-40B4-BE49-F238E27FC236}">
                <a16:creationId xmlns:a16="http://schemas.microsoft.com/office/drawing/2014/main" id="{AB5D366C-3839-CE87-D217-73ADE9522F78}"/>
              </a:ext>
            </a:extLst>
          </p:cNvPr>
          <p:cNvSpPr/>
          <p:nvPr/>
        </p:nvSpPr>
        <p:spPr>
          <a:xfrm>
            <a:off x="3379043" y="4155477"/>
            <a:ext cx="2452336" cy="1985733"/>
          </a:xfrm>
          <a:prstGeom prst="rect">
            <a:avLst/>
          </a:prstGeom>
          <a:solidFill>
            <a:schemeClr val="accent6">
              <a:lumMod val="20000"/>
              <a:lumOff val="8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44" name="Picture 12" descr="2022款 增程版 180km 四驱性能版_AITO问界M5_汽车消费网">
            <a:extLst>
              <a:ext uri="{FF2B5EF4-FFF2-40B4-BE49-F238E27FC236}">
                <a16:creationId xmlns:a16="http://schemas.microsoft.com/office/drawing/2014/main" id="{6449C1A4-4793-B077-30BE-6E2494871932}"/>
              </a:ext>
            </a:extLst>
          </p:cNvPr>
          <p:cNvPicPr>
            <a:picLocks noChangeAspect="1" noChangeArrowheads="1"/>
          </p:cNvPicPr>
          <p:nvPr/>
        </p:nvPicPr>
        <p:blipFill>
          <a:blip r:embed="rId13" cstate="print">
            <a:alphaModFix amt="5000"/>
            <a:extLst>
              <a:ext uri="{28A0092B-C50C-407E-A947-70E740481C1C}">
                <a14:useLocalDpi xmlns:a14="http://schemas.microsoft.com/office/drawing/2010/main" val="0"/>
              </a:ext>
            </a:extLst>
          </a:blip>
          <a:srcRect/>
          <a:stretch>
            <a:fillRect/>
          </a:stretch>
        </p:blipFill>
        <p:spPr bwMode="auto">
          <a:xfrm>
            <a:off x="3938048" y="4586750"/>
            <a:ext cx="1323533" cy="1323533"/>
          </a:xfrm>
          <a:prstGeom prst="rect">
            <a:avLst/>
          </a:prstGeom>
          <a:noFill/>
          <a:extLst>
            <a:ext uri="{909E8E84-426E-40DD-AFC4-6F175D3DCCD1}">
              <a14:hiddenFill xmlns:a14="http://schemas.microsoft.com/office/drawing/2010/main">
                <a:solidFill>
                  <a:srgbClr val="FFFFFF"/>
                </a:solidFill>
              </a14:hiddenFill>
            </a:ext>
          </a:extLst>
        </p:spPr>
      </p:pic>
      <p:sp>
        <p:nvSpPr>
          <p:cNvPr id="57" name="矩形 56">
            <a:extLst>
              <a:ext uri="{FF2B5EF4-FFF2-40B4-BE49-F238E27FC236}">
                <a16:creationId xmlns:a16="http://schemas.microsoft.com/office/drawing/2014/main" id="{CF10E9B6-9CFA-EBE1-426C-8A056F37A1F4}"/>
              </a:ext>
            </a:extLst>
          </p:cNvPr>
          <p:cNvSpPr/>
          <p:nvPr/>
        </p:nvSpPr>
        <p:spPr>
          <a:xfrm>
            <a:off x="9415479" y="1573682"/>
            <a:ext cx="2452336" cy="1985733"/>
          </a:xfrm>
          <a:prstGeom prst="rect">
            <a:avLst/>
          </a:prstGeom>
          <a:solidFill>
            <a:schemeClr val="accent6">
              <a:lumMod val="20000"/>
              <a:lumOff val="8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9" name="Picture 8" descr="【极氪001】极氪汽车_极氪001报价_极氪001图片_新出行">
            <a:extLst>
              <a:ext uri="{FF2B5EF4-FFF2-40B4-BE49-F238E27FC236}">
                <a16:creationId xmlns:a16="http://schemas.microsoft.com/office/drawing/2014/main" id="{7D5A1377-E944-6B5D-E29A-CB4B66425B20}"/>
              </a:ext>
            </a:extLst>
          </p:cNvPr>
          <p:cNvPicPr>
            <a:picLocks noChangeAspect="1" noChangeArrowheads="1"/>
          </p:cNvPicPr>
          <p:nvPr/>
        </p:nvPicPr>
        <p:blipFill>
          <a:blip r:embed="rId14" cstate="print">
            <a:alphaModFix amt="5000"/>
            <a:extLst>
              <a:ext uri="{28A0092B-C50C-407E-A947-70E740481C1C}">
                <a14:useLocalDpi xmlns:a14="http://schemas.microsoft.com/office/drawing/2010/main" val="0"/>
              </a:ext>
            </a:extLst>
          </a:blip>
          <a:srcRect/>
          <a:stretch>
            <a:fillRect/>
          </a:stretch>
        </p:blipFill>
        <p:spPr bwMode="auto">
          <a:xfrm>
            <a:off x="9763330" y="1678993"/>
            <a:ext cx="1760766" cy="1760766"/>
          </a:xfrm>
          <a:prstGeom prst="rect">
            <a:avLst/>
          </a:prstGeom>
          <a:noFill/>
          <a:extLst>
            <a:ext uri="{909E8E84-426E-40DD-AFC4-6F175D3DCCD1}">
              <a14:hiddenFill xmlns:a14="http://schemas.microsoft.com/office/drawing/2010/main">
                <a:solidFill>
                  <a:srgbClr val="FFFFFF"/>
                </a:solidFill>
              </a14:hiddenFill>
            </a:ext>
          </a:extLst>
        </p:spPr>
      </p:pic>
      <p:sp>
        <p:nvSpPr>
          <p:cNvPr id="56" name="矩形 55">
            <a:extLst>
              <a:ext uri="{FF2B5EF4-FFF2-40B4-BE49-F238E27FC236}">
                <a16:creationId xmlns:a16="http://schemas.microsoft.com/office/drawing/2014/main" id="{B61D2A43-4626-48B2-4A08-ED2A2B050741}"/>
              </a:ext>
            </a:extLst>
          </p:cNvPr>
          <p:cNvSpPr/>
          <p:nvPr/>
        </p:nvSpPr>
        <p:spPr>
          <a:xfrm>
            <a:off x="6389921" y="1573682"/>
            <a:ext cx="2452336" cy="1985733"/>
          </a:xfrm>
          <a:prstGeom prst="rect">
            <a:avLst/>
          </a:prstGeom>
          <a:solidFill>
            <a:schemeClr val="accent6">
              <a:lumMod val="20000"/>
              <a:lumOff val="8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7" name="Picture 14" descr="特斯拉(tesla) - 商标 图标库 免费下载 - 爱给网">
            <a:extLst>
              <a:ext uri="{FF2B5EF4-FFF2-40B4-BE49-F238E27FC236}">
                <a16:creationId xmlns:a16="http://schemas.microsoft.com/office/drawing/2014/main" id="{ACFE3D2A-03E7-ED82-F075-865CB3C21CAF}"/>
              </a:ext>
            </a:extLst>
          </p:cNvPr>
          <p:cNvPicPr>
            <a:picLocks noChangeAspect="1" noChangeArrowheads="1"/>
          </p:cNvPicPr>
          <p:nvPr/>
        </p:nvPicPr>
        <p:blipFill>
          <a:blip r:embed="rId15" cstate="print">
            <a:alphaModFix amt="5000"/>
            <a:extLst>
              <a:ext uri="{28A0092B-C50C-407E-A947-70E740481C1C}">
                <a14:useLocalDpi xmlns:a14="http://schemas.microsoft.com/office/drawing/2010/main" val="0"/>
              </a:ext>
            </a:extLst>
          </a:blip>
          <a:srcRect/>
          <a:stretch>
            <a:fillRect/>
          </a:stretch>
        </p:blipFill>
        <p:spPr bwMode="auto">
          <a:xfrm>
            <a:off x="6994461" y="2021290"/>
            <a:ext cx="1218070" cy="1218070"/>
          </a:xfrm>
          <a:prstGeom prst="rect">
            <a:avLst/>
          </a:prstGeom>
          <a:noFill/>
          <a:extLst>
            <a:ext uri="{909E8E84-426E-40DD-AFC4-6F175D3DCCD1}">
              <a14:hiddenFill xmlns:a14="http://schemas.microsoft.com/office/drawing/2010/main">
                <a:solidFill>
                  <a:srgbClr val="FFFFFF"/>
                </a:solidFill>
              </a14:hiddenFill>
            </a:ext>
          </a:extLst>
        </p:spPr>
      </p:pic>
      <p:sp>
        <p:nvSpPr>
          <p:cNvPr id="54" name="矩形 53">
            <a:extLst>
              <a:ext uri="{FF2B5EF4-FFF2-40B4-BE49-F238E27FC236}">
                <a16:creationId xmlns:a16="http://schemas.microsoft.com/office/drawing/2014/main" id="{825CC363-797F-A893-A5CC-F8E573D938EC}"/>
              </a:ext>
            </a:extLst>
          </p:cNvPr>
          <p:cNvSpPr/>
          <p:nvPr/>
        </p:nvSpPr>
        <p:spPr>
          <a:xfrm>
            <a:off x="338807" y="1573682"/>
            <a:ext cx="2452336" cy="1985733"/>
          </a:xfrm>
          <a:prstGeom prst="rect">
            <a:avLst/>
          </a:prstGeom>
          <a:solidFill>
            <a:schemeClr val="accent6">
              <a:lumMod val="20000"/>
              <a:lumOff val="8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41" name="Picture 2" descr="阿维塔11_车系文章_汽车消费网">
            <a:extLst>
              <a:ext uri="{FF2B5EF4-FFF2-40B4-BE49-F238E27FC236}">
                <a16:creationId xmlns:a16="http://schemas.microsoft.com/office/drawing/2014/main" id="{25F31648-23D7-2C86-F5EC-B774B8A8987D}"/>
              </a:ext>
            </a:extLst>
          </p:cNvPr>
          <p:cNvPicPr>
            <a:picLocks noChangeAspect="1" noChangeArrowheads="1"/>
          </p:cNvPicPr>
          <p:nvPr/>
        </p:nvPicPr>
        <p:blipFill>
          <a:blip r:embed="rId16" cstate="print">
            <a:alphaModFix amt="5000"/>
            <a:extLst>
              <a:ext uri="{28A0092B-C50C-407E-A947-70E740481C1C}">
                <a14:useLocalDpi xmlns:a14="http://schemas.microsoft.com/office/drawing/2010/main" val="0"/>
              </a:ext>
            </a:extLst>
          </a:blip>
          <a:srcRect/>
          <a:stretch>
            <a:fillRect/>
          </a:stretch>
        </p:blipFill>
        <p:spPr bwMode="auto">
          <a:xfrm>
            <a:off x="766221" y="1859286"/>
            <a:ext cx="1571226" cy="1571226"/>
          </a:xfrm>
          <a:prstGeom prst="rect">
            <a:avLst/>
          </a:prstGeom>
          <a:noFill/>
          <a:extLst>
            <a:ext uri="{909E8E84-426E-40DD-AFC4-6F175D3DCCD1}">
              <a14:hiddenFill xmlns:a14="http://schemas.microsoft.com/office/drawing/2010/main">
                <a:solidFill>
                  <a:srgbClr val="FFFFFF"/>
                </a:solidFill>
              </a14:hiddenFill>
            </a:ext>
          </a:extLst>
        </p:spPr>
      </p:pic>
      <p:sp>
        <p:nvSpPr>
          <p:cNvPr id="55" name="矩形 54">
            <a:extLst>
              <a:ext uri="{FF2B5EF4-FFF2-40B4-BE49-F238E27FC236}">
                <a16:creationId xmlns:a16="http://schemas.microsoft.com/office/drawing/2014/main" id="{4FED4573-12BF-B0D4-4742-FF46471C7F97}"/>
              </a:ext>
            </a:extLst>
          </p:cNvPr>
          <p:cNvSpPr/>
          <p:nvPr/>
        </p:nvSpPr>
        <p:spPr>
          <a:xfrm>
            <a:off x="3364364" y="1573682"/>
            <a:ext cx="2452336" cy="1985733"/>
          </a:xfrm>
          <a:prstGeom prst="rect">
            <a:avLst/>
          </a:prstGeom>
          <a:solidFill>
            <a:schemeClr val="accent6">
              <a:lumMod val="20000"/>
              <a:lumOff val="8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43" name="Picture 6" descr="【蔚来汽车ES8口碑】蔚来汽车ES8怎么样_蔚来汽车ES8车主点评_搜狐汽车">
            <a:extLst>
              <a:ext uri="{FF2B5EF4-FFF2-40B4-BE49-F238E27FC236}">
                <a16:creationId xmlns:a16="http://schemas.microsoft.com/office/drawing/2014/main" id="{191E13CB-A71D-3837-C1FD-F97077B8E755}"/>
              </a:ext>
            </a:extLst>
          </p:cNvPr>
          <p:cNvPicPr>
            <a:picLocks noChangeAspect="1" noChangeArrowheads="1"/>
          </p:cNvPicPr>
          <p:nvPr/>
        </p:nvPicPr>
        <p:blipFill>
          <a:blip r:embed="rId17" cstate="print">
            <a:alphaModFix amt="5000"/>
            <a:extLst>
              <a:ext uri="{28A0092B-C50C-407E-A947-70E740481C1C}">
                <a14:useLocalDpi xmlns:a14="http://schemas.microsoft.com/office/drawing/2010/main" val="0"/>
              </a:ext>
            </a:extLst>
          </a:blip>
          <a:srcRect/>
          <a:stretch>
            <a:fillRect/>
          </a:stretch>
        </p:blipFill>
        <p:spPr bwMode="auto">
          <a:xfrm>
            <a:off x="3745408" y="1794217"/>
            <a:ext cx="1659238" cy="1659238"/>
          </a:xfrm>
          <a:prstGeom prst="rect">
            <a:avLst/>
          </a:prstGeom>
          <a:noFill/>
          <a:extLst>
            <a:ext uri="{909E8E84-426E-40DD-AFC4-6F175D3DCCD1}">
              <a14:hiddenFill xmlns:a14="http://schemas.microsoft.com/office/drawing/2010/main">
                <a:solidFill>
                  <a:srgbClr val="FFFFFF"/>
                </a:solidFill>
              </a14:hiddenFill>
            </a:ext>
          </a:extLst>
        </p:spPr>
      </p:pic>
      <p:sp>
        <p:nvSpPr>
          <p:cNvPr id="58" name="矩形 57">
            <a:extLst>
              <a:ext uri="{FF2B5EF4-FFF2-40B4-BE49-F238E27FC236}">
                <a16:creationId xmlns:a16="http://schemas.microsoft.com/office/drawing/2014/main" id="{3229FE11-B3C4-286E-58B1-7F880F9E1137}"/>
              </a:ext>
            </a:extLst>
          </p:cNvPr>
          <p:cNvSpPr/>
          <p:nvPr/>
        </p:nvSpPr>
        <p:spPr>
          <a:xfrm>
            <a:off x="353486" y="4155477"/>
            <a:ext cx="2452336" cy="1985733"/>
          </a:xfrm>
          <a:prstGeom prst="rect">
            <a:avLst/>
          </a:prstGeom>
          <a:solidFill>
            <a:schemeClr val="accent6">
              <a:lumMod val="20000"/>
              <a:lumOff val="8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7" name="图表 26"/>
          <p:cNvGraphicFramePr/>
          <p:nvPr/>
        </p:nvGraphicFramePr>
        <p:xfrm>
          <a:off x="6068542" y="1511376"/>
          <a:ext cx="3292675" cy="2131978"/>
        </p:xfrm>
        <a:graphic>
          <a:graphicData uri="http://schemas.openxmlformats.org/drawingml/2006/chart">
            <c:chart xmlns:c="http://schemas.openxmlformats.org/drawingml/2006/chart" xmlns:r="http://schemas.openxmlformats.org/officeDocument/2006/relationships" r:id="rId18"/>
          </a:graphicData>
        </a:graphic>
      </p:graphicFrame>
      <p:graphicFrame>
        <p:nvGraphicFramePr>
          <p:cNvPr id="19" name="图表 18"/>
          <p:cNvGraphicFramePr/>
          <p:nvPr/>
        </p:nvGraphicFramePr>
        <p:xfrm>
          <a:off x="9204945" y="1321274"/>
          <a:ext cx="2879439" cy="2323193"/>
        </p:xfrm>
        <a:graphic>
          <a:graphicData uri="http://schemas.openxmlformats.org/drawingml/2006/chart">
            <c:chart xmlns:c="http://schemas.openxmlformats.org/drawingml/2006/chart" xmlns:r="http://schemas.openxmlformats.org/officeDocument/2006/relationships" r:id="rId19"/>
          </a:graphicData>
        </a:graphic>
      </p:graphicFrame>
      <p:graphicFrame>
        <p:nvGraphicFramePr>
          <p:cNvPr id="17" name="图表 16"/>
          <p:cNvGraphicFramePr/>
          <p:nvPr/>
        </p:nvGraphicFramePr>
        <p:xfrm>
          <a:off x="3009753" y="1578303"/>
          <a:ext cx="3273185" cy="2138419"/>
        </p:xfrm>
        <a:graphic>
          <a:graphicData uri="http://schemas.openxmlformats.org/drawingml/2006/chart">
            <c:chart xmlns:c="http://schemas.openxmlformats.org/drawingml/2006/chart" xmlns:r="http://schemas.openxmlformats.org/officeDocument/2006/relationships" r:id="rId20"/>
          </a:graphicData>
        </a:graphic>
      </p:graphicFrame>
      <p:graphicFrame>
        <p:nvGraphicFramePr>
          <p:cNvPr id="18" name="图表 17"/>
          <p:cNvGraphicFramePr/>
          <p:nvPr/>
        </p:nvGraphicFramePr>
        <p:xfrm>
          <a:off x="-26633" y="1535482"/>
          <a:ext cx="3173168" cy="2183107"/>
        </p:xfrm>
        <a:graphic>
          <a:graphicData uri="http://schemas.openxmlformats.org/drawingml/2006/chart">
            <c:chart xmlns:c="http://schemas.openxmlformats.org/drawingml/2006/chart" xmlns:r="http://schemas.openxmlformats.org/officeDocument/2006/relationships" r:id="rId21"/>
          </a:graphicData>
        </a:graphic>
      </p:graphicFrame>
      <p:sp>
        <p:nvSpPr>
          <p:cNvPr id="21" name="文本占位符 20"/>
          <p:cNvSpPr>
            <a:spLocks noGrp="1"/>
          </p:cNvSpPr>
          <p:nvPr>
            <p:ph type="body" sz="quarter" idx="21"/>
          </p:nvPr>
        </p:nvSpPr>
        <p:spPr/>
        <p:txBody>
          <a:bodyPr/>
          <a:lstStyle/>
          <a:p>
            <a:r>
              <a:rPr kumimoji="1" lang="zh-CN" altLang="en-US" dirty="0"/>
              <a:t>（车主自评）具体来看，某品牌</a:t>
            </a:r>
            <a:r>
              <a:rPr kumimoji="1" dirty="0" err="1">
                <a:sym typeface="+mn-ea"/>
              </a:rPr>
              <a:t>车主</a:t>
            </a:r>
            <a:r>
              <a:rPr kumimoji="1" lang="zh-CN" dirty="0">
                <a:sym typeface="+mn-ea"/>
              </a:rPr>
              <a:t>对</a:t>
            </a:r>
            <a:r>
              <a:rPr kumimoji="1" lang="zh-CN" altLang="en-US" b="1" dirty="0">
                <a:solidFill>
                  <a:srgbClr val="C00000"/>
                </a:solidFill>
                <a:sym typeface="+mn-ea"/>
              </a:rPr>
              <a:t>官方</a:t>
            </a:r>
            <a:r>
              <a:rPr kumimoji="1" lang="en-US" altLang="zh-CN" b="1" dirty="0" err="1">
                <a:solidFill>
                  <a:srgbClr val="C00000"/>
                </a:solidFill>
                <a:sym typeface="+mn-ea"/>
              </a:rPr>
              <a:t>APP</a:t>
            </a:r>
            <a:r>
              <a:rPr kumimoji="1" dirty="0" err="1"/>
              <a:t>满意度</a:t>
            </a:r>
            <a:r>
              <a:rPr kumimoji="1" lang="zh-CN" altLang="en-US" dirty="0"/>
              <a:t>偏</a:t>
            </a:r>
            <a:r>
              <a:rPr kumimoji="1" lang="zh-CN" dirty="0"/>
              <a:t>低</a:t>
            </a:r>
            <a:r>
              <a:rPr kumimoji="1" dirty="0"/>
              <a:t>，</a:t>
            </a:r>
            <a:r>
              <a:rPr kumimoji="1" lang="zh-CN" dirty="0"/>
              <a:t>而对</a:t>
            </a:r>
            <a:r>
              <a:rPr kumimoji="1" lang="zh-CN" altLang="en-US" b="1" dirty="0">
                <a:solidFill>
                  <a:srgbClr val="4B8D56"/>
                </a:solidFill>
              </a:rPr>
              <a:t>微信小程序</a:t>
            </a:r>
            <a:r>
              <a:rPr kumimoji="1" lang="zh-CN" dirty="0"/>
              <a:t>认可度最</a:t>
            </a:r>
            <a:r>
              <a:rPr kumimoji="1" dirty="0"/>
              <a:t>高</a:t>
            </a:r>
          </a:p>
        </p:txBody>
      </p:sp>
      <p:sp>
        <p:nvSpPr>
          <p:cNvPr id="13" name="灯片编号占位符 1"/>
          <p:cNvSpPr>
            <a:spLocks noGrp="1"/>
          </p:cNvSpPr>
          <p:nvPr>
            <p:ph type="sldNum" sz="quarter" idx="4"/>
          </p:nvPr>
        </p:nvSpPr>
        <p:spPr>
          <a:xfrm>
            <a:off x="11523095" y="6472443"/>
            <a:ext cx="302305" cy="2407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D9BB5D0-35E4-459D-AEF3-FE4D7C45CC19}" type="slidenum">
              <a:rPr kumimoji="0" lang="zh-CN" altLang="en-US" sz="9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Alibaba PuHuiTi 2.0 55 Regular" pitchFamily="18" charset="-122"/>
              </a:rPr>
              <a:pPr marL="0" marR="0" lvl="0" indent="0" algn="ctr" defTabSz="914400" rtl="0" eaLnBrk="1" fontAlgn="auto" latinLnBrk="0" hangingPunct="1">
                <a:lnSpc>
                  <a:spcPct val="100000"/>
                </a:lnSpc>
                <a:spcBef>
                  <a:spcPts val="0"/>
                </a:spcBef>
                <a:spcAft>
                  <a:spcPts val="0"/>
                </a:spcAft>
                <a:buClrTx/>
                <a:buSzTx/>
                <a:buFontTx/>
                <a:buNone/>
                <a:tabLst/>
                <a:defRPr/>
              </a:pPr>
              <a:t>51</a:t>
            </a:fld>
            <a:endParaRPr kumimoji="0" lang="zh-CN" altLang="en-US" sz="9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Alibaba PuHuiTi 2.0 55 Regular" pitchFamily="18" charset="-122"/>
            </a:endParaRPr>
          </a:p>
        </p:txBody>
      </p:sp>
      <p:pic>
        <p:nvPicPr>
          <p:cNvPr id="2" name="图形 1" descr="拇指向下 纯色填充"/>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10800000">
            <a:off x="2494235" y="2780808"/>
            <a:ext cx="274681" cy="274681"/>
          </a:xfrm>
          <a:prstGeom prst="rect">
            <a:avLst/>
          </a:prstGeom>
        </p:spPr>
      </p:pic>
      <p:pic>
        <p:nvPicPr>
          <p:cNvPr id="14" name="图形 13" descr="拇指向下 纯色填充"/>
          <p:cNvPicPr>
            <a:picLocks noChangeAspect="1"/>
          </p:cNvPicPr>
          <p:nvPr/>
        </p:nvPicPr>
        <p:blipFill>
          <a:blip r:embed="rId24" cstate="print">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772067" y="1655496"/>
            <a:ext cx="274681" cy="274681"/>
          </a:xfrm>
          <a:prstGeom prst="rect">
            <a:avLst/>
          </a:prstGeom>
        </p:spPr>
      </p:pic>
      <p:pic>
        <p:nvPicPr>
          <p:cNvPr id="35" name="图形 34" descr="拇指向下 纯色填充"/>
          <p:cNvPicPr>
            <a:picLocks noChangeAspect="1"/>
          </p:cNvPicPr>
          <p:nvPr/>
        </p:nvPicPr>
        <p:blipFill>
          <a:blip r:embed="rId24" cstate="print">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942842" y="1694898"/>
            <a:ext cx="274681" cy="274681"/>
          </a:xfrm>
          <a:prstGeom prst="rect">
            <a:avLst/>
          </a:prstGeom>
        </p:spPr>
      </p:pic>
      <p:pic>
        <p:nvPicPr>
          <p:cNvPr id="37" name="图形 36" descr="拇指向下 纯色填充"/>
          <p:cNvPicPr>
            <a:picLocks noChangeAspect="1"/>
          </p:cNvPicPr>
          <p:nvPr/>
        </p:nvPicPr>
        <p:blipFill>
          <a:blip r:embed="rId26" cstate="print">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1578358" y="2284695"/>
            <a:ext cx="274681" cy="274681"/>
          </a:xfrm>
          <a:prstGeom prst="rect">
            <a:avLst/>
          </a:prstGeom>
        </p:spPr>
      </p:pic>
      <p:pic>
        <p:nvPicPr>
          <p:cNvPr id="39" name="图形 38" descr="拇指向下 纯色填充"/>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10800000">
            <a:off x="11497088" y="2817771"/>
            <a:ext cx="274681" cy="274681"/>
          </a:xfrm>
          <a:prstGeom prst="rect">
            <a:avLst/>
          </a:prstGeom>
        </p:spPr>
      </p:pic>
      <p:pic>
        <p:nvPicPr>
          <p:cNvPr id="44" name="图形 43" descr="拇指向下 纯色填充"/>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10800000">
            <a:off x="6657178" y="2780808"/>
            <a:ext cx="274681" cy="274681"/>
          </a:xfrm>
          <a:prstGeom prst="rect">
            <a:avLst/>
          </a:prstGeom>
        </p:spPr>
      </p:pic>
      <p:pic>
        <p:nvPicPr>
          <p:cNvPr id="45" name="图形 44" descr="拇指向下 纯色填充"/>
          <p:cNvPicPr>
            <a:picLocks noChangeAspect="1"/>
          </p:cNvPicPr>
          <p:nvPr/>
        </p:nvPicPr>
        <p:blipFill>
          <a:blip r:embed="rId24" cstate="print">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567576" y="2158058"/>
            <a:ext cx="274681" cy="274681"/>
          </a:xfrm>
          <a:prstGeom prst="rect">
            <a:avLst/>
          </a:prstGeom>
        </p:spPr>
      </p:pic>
      <p:pic>
        <p:nvPicPr>
          <p:cNvPr id="1033" name="Picture 10" descr="小鹏汽车 - 百格活动">
            <a:extLst>
              <a:ext uri="{FF2B5EF4-FFF2-40B4-BE49-F238E27FC236}">
                <a16:creationId xmlns:a16="http://schemas.microsoft.com/office/drawing/2014/main" id="{0AA8409F-8BDF-9626-42AF-136474C9F060}"/>
              </a:ext>
            </a:extLst>
          </p:cNvPr>
          <p:cNvPicPr>
            <a:picLocks noChangeAspect="1" noChangeArrowheads="1"/>
          </p:cNvPicPr>
          <p:nvPr/>
        </p:nvPicPr>
        <p:blipFill rotWithShape="1">
          <a:blip r:embed="rId28" cstate="print">
            <a:alphaModFix amt="10000"/>
            <a:extLst>
              <a:ext uri="{28A0092B-C50C-407E-A947-70E740481C1C}">
                <a14:useLocalDpi xmlns:a14="http://schemas.microsoft.com/office/drawing/2010/main" val="0"/>
              </a:ext>
            </a:extLst>
          </a:blip>
          <a:srcRect l="15608" t="36756" r="53748" b="34603"/>
          <a:stretch>
            <a:fillRect/>
          </a:stretch>
        </p:blipFill>
        <p:spPr bwMode="auto">
          <a:xfrm>
            <a:off x="490375" y="4452991"/>
            <a:ext cx="2185769" cy="1633950"/>
          </a:xfrm>
          <a:prstGeom prst="rect">
            <a:avLst/>
          </a:prstGeom>
          <a:noFill/>
          <a:extLst>
            <a:ext uri="{909E8E84-426E-40DD-AFC4-6F175D3DCCD1}">
              <a14:hiddenFill xmlns:a14="http://schemas.microsoft.com/office/drawing/2010/main">
                <a:solidFill>
                  <a:srgbClr val="FFFFFF"/>
                </a:solidFill>
              </a14:hiddenFill>
            </a:ext>
          </a:extLst>
        </p:spPr>
      </p:pic>
      <p:sp>
        <p:nvSpPr>
          <p:cNvPr id="33" name="文本框 32">
            <a:extLst>
              <a:ext uri="{FF2B5EF4-FFF2-40B4-BE49-F238E27FC236}">
                <a16:creationId xmlns:a16="http://schemas.microsoft.com/office/drawing/2014/main" id="{524CA023-0341-5C3E-6C94-0E6BDBBC1859}"/>
              </a:ext>
            </a:extLst>
          </p:cNvPr>
          <p:cNvSpPr txBox="1"/>
          <p:nvPr>
            <p:custDataLst>
              <p:tags r:id="rId1"/>
            </p:custDataLst>
          </p:nvPr>
        </p:nvSpPr>
        <p:spPr>
          <a:xfrm>
            <a:off x="353486" y="1314521"/>
            <a:ext cx="2452336" cy="259161"/>
          </a:xfrm>
          <a:prstGeom prst="rect">
            <a:avLst/>
          </a:prstGeom>
          <a:solidFill>
            <a:srgbClr val="3D9A5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BFBFB"/>
                </a:solidFill>
                <a:effectLst/>
                <a:uLnTx/>
                <a:uFillTx/>
                <a:ea typeface="Alibaba PuHuiTi 2.0 55 Regular"/>
              </a:rPr>
              <a:t>某品牌</a:t>
            </a:r>
            <a:endParaRPr kumimoji="0" lang="en-US" altLang="zh-CN" sz="1200" b="1" i="0" u="none" strike="noStrike" kern="1200" cap="none" spc="0" normalizeH="0" baseline="0" noProof="0" dirty="0">
              <a:ln>
                <a:noFill/>
              </a:ln>
              <a:solidFill>
                <a:srgbClr val="FBFBFB"/>
              </a:solidFill>
              <a:effectLst/>
              <a:uLnTx/>
              <a:uFillTx/>
              <a:ea typeface="Alibaba PuHuiTi 2.0 55 Regular"/>
            </a:endParaRPr>
          </a:p>
        </p:txBody>
      </p:sp>
      <p:sp>
        <p:nvSpPr>
          <p:cNvPr id="34" name="文本框 33">
            <a:extLst>
              <a:ext uri="{FF2B5EF4-FFF2-40B4-BE49-F238E27FC236}">
                <a16:creationId xmlns:a16="http://schemas.microsoft.com/office/drawing/2014/main" id="{D3B0262B-22ED-FDB0-C709-21E1AF4BF0E5}"/>
              </a:ext>
            </a:extLst>
          </p:cNvPr>
          <p:cNvSpPr txBox="1"/>
          <p:nvPr>
            <p:custDataLst>
              <p:tags r:id="rId2"/>
            </p:custDataLst>
          </p:nvPr>
        </p:nvSpPr>
        <p:spPr>
          <a:xfrm>
            <a:off x="3374150" y="1314521"/>
            <a:ext cx="2452336" cy="259161"/>
          </a:xfrm>
          <a:prstGeom prst="rect">
            <a:avLst/>
          </a:prstGeom>
          <a:solidFill>
            <a:srgbClr val="3D9A5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BFBFB"/>
                </a:solidFill>
                <a:effectLst/>
                <a:uLnTx/>
                <a:uFillTx/>
                <a:ea typeface="Alibaba PuHuiTi 2.0 55 Regular"/>
              </a:rPr>
              <a:t>蔚来</a:t>
            </a:r>
            <a:endParaRPr kumimoji="0" lang="en-US" altLang="zh-CN" sz="1200" b="1" i="0" u="none" strike="noStrike" kern="1200" cap="none" spc="0" normalizeH="0" baseline="0" noProof="0" dirty="0">
              <a:ln>
                <a:noFill/>
              </a:ln>
              <a:solidFill>
                <a:srgbClr val="FBFBFB"/>
              </a:solidFill>
              <a:effectLst/>
              <a:uLnTx/>
              <a:uFillTx/>
              <a:ea typeface="Alibaba PuHuiTi 2.0 55 Regular"/>
            </a:endParaRPr>
          </a:p>
        </p:txBody>
      </p:sp>
      <p:sp>
        <p:nvSpPr>
          <p:cNvPr id="38" name="文本框 37">
            <a:extLst>
              <a:ext uri="{FF2B5EF4-FFF2-40B4-BE49-F238E27FC236}">
                <a16:creationId xmlns:a16="http://schemas.microsoft.com/office/drawing/2014/main" id="{49B713FE-38CD-AF83-604C-148B99FDBD00}"/>
              </a:ext>
            </a:extLst>
          </p:cNvPr>
          <p:cNvSpPr txBox="1"/>
          <p:nvPr>
            <p:custDataLst>
              <p:tags r:id="rId3"/>
            </p:custDataLst>
          </p:nvPr>
        </p:nvSpPr>
        <p:spPr>
          <a:xfrm>
            <a:off x="9415479" y="1314521"/>
            <a:ext cx="2452336" cy="259161"/>
          </a:xfrm>
          <a:prstGeom prst="rect">
            <a:avLst/>
          </a:prstGeom>
          <a:solidFill>
            <a:srgbClr val="3D9A5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BFBFB"/>
                </a:solidFill>
                <a:effectLst/>
                <a:uLnTx/>
                <a:uFillTx/>
                <a:ea typeface="Alibaba PuHuiTi 2.0 55 Regular"/>
              </a:rPr>
              <a:t>极氪</a:t>
            </a:r>
            <a:endParaRPr kumimoji="0" lang="en-US" altLang="zh-CN" sz="1200" b="1" i="0" u="none" strike="noStrike" kern="1200" cap="none" spc="0" normalizeH="0" baseline="0" noProof="0" dirty="0">
              <a:ln>
                <a:noFill/>
              </a:ln>
              <a:solidFill>
                <a:srgbClr val="FBFBFB"/>
              </a:solidFill>
              <a:effectLst/>
              <a:uLnTx/>
              <a:uFillTx/>
              <a:ea typeface="Alibaba PuHuiTi 2.0 55 Regular"/>
            </a:endParaRPr>
          </a:p>
        </p:txBody>
      </p:sp>
      <p:sp>
        <p:nvSpPr>
          <p:cNvPr id="40" name="文本框 39">
            <a:extLst>
              <a:ext uri="{FF2B5EF4-FFF2-40B4-BE49-F238E27FC236}">
                <a16:creationId xmlns:a16="http://schemas.microsoft.com/office/drawing/2014/main" id="{5C074087-D2C9-4C6D-017E-D4E6F0F55DD8}"/>
              </a:ext>
            </a:extLst>
          </p:cNvPr>
          <p:cNvSpPr txBox="1"/>
          <p:nvPr>
            <p:custDataLst>
              <p:tags r:id="rId4"/>
            </p:custDataLst>
          </p:nvPr>
        </p:nvSpPr>
        <p:spPr>
          <a:xfrm>
            <a:off x="3359707" y="3900135"/>
            <a:ext cx="2452336" cy="259161"/>
          </a:xfrm>
          <a:prstGeom prst="rect">
            <a:avLst/>
          </a:prstGeom>
          <a:solidFill>
            <a:srgbClr val="3D9A5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solidFill>
                  <a:srgbClr val="FBFBFB"/>
                </a:solidFill>
                <a:ea typeface="Alibaba PuHuiTi 2.0 55 Regular"/>
              </a:rPr>
              <a:t>问界</a:t>
            </a:r>
            <a:endParaRPr kumimoji="0" lang="en-US" altLang="zh-CN" sz="1200" b="1" i="0" u="none" strike="noStrike" kern="1200" cap="none" spc="0" normalizeH="0" baseline="0" noProof="0" dirty="0">
              <a:ln>
                <a:noFill/>
              </a:ln>
              <a:solidFill>
                <a:srgbClr val="FBFBFB"/>
              </a:solidFill>
              <a:effectLst/>
              <a:uLnTx/>
              <a:uFillTx/>
              <a:ea typeface="Alibaba PuHuiTi 2.0 55 Regular"/>
            </a:endParaRPr>
          </a:p>
        </p:txBody>
      </p:sp>
      <p:sp>
        <p:nvSpPr>
          <p:cNvPr id="41" name="文本框 40">
            <a:extLst>
              <a:ext uri="{FF2B5EF4-FFF2-40B4-BE49-F238E27FC236}">
                <a16:creationId xmlns:a16="http://schemas.microsoft.com/office/drawing/2014/main" id="{33254746-4D8D-3C35-DE2E-D019F49CF519}"/>
              </a:ext>
            </a:extLst>
          </p:cNvPr>
          <p:cNvSpPr txBox="1"/>
          <p:nvPr>
            <p:custDataLst>
              <p:tags r:id="rId5"/>
            </p:custDataLst>
          </p:nvPr>
        </p:nvSpPr>
        <p:spPr>
          <a:xfrm>
            <a:off x="6394814" y="1314521"/>
            <a:ext cx="2452336" cy="259161"/>
          </a:xfrm>
          <a:prstGeom prst="rect">
            <a:avLst/>
          </a:prstGeom>
          <a:solidFill>
            <a:srgbClr val="3D9A5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BFBFB"/>
                </a:solidFill>
                <a:effectLst/>
                <a:uLnTx/>
                <a:uFillTx/>
                <a:ea typeface="Alibaba PuHuiTi 2.0 55 Regular"/>
              </a:rPr>
              <a:t>特斯拉</a:t>
            </a:r>
            <a:endParaRPr kumimoji="0" lang="en-US" altLang="zh-CN" sz="1200" b="1" i="0" u="none" strike="noStrike" kern="1200" cap="none" spc="0" normalizeH="0" baseline="0" noProof="0" dirty="0">
              <a:ln>
                <a:noFill/>
              </a:ln>
              <a:solidFill>
                <a:srgbClr val="FBFBFB"/>
              </a:solidFill>
              <a:effectLst/>
              <a:uLnTx/>
              <a:uFillTx/>
              <a:ea typeface="Alibaba PuHuiTi 2.0 55 Regular"/>
            </a:endParaRPr>
          </a:p>
        </p:txBody>
      </p:sp>
      <p:sp>
        <p:nvSpPr>
          <p:cNvPr id="50" name="文本框 49">
            <a:extLst>
              <a:ext uri="{FF2B5EF4-FFF2-40B4-BE49-F238E27FC236}">
                <a16:creationId xmlns:a16="http://schemas.microsoft.com/office/drawing/2014/main" id="{A1D091E1-CC44-6065-C9F5-A29602E1DCF7}"/>
              </a:ext>
            </a:extLst>
          </p:cNvPr>
          <p:cNvSpPr txBox="1"/>
          <p:nvPr>
            <p:custDataLst>
              <p:tags r:id="rId6"/>
            </p:custDataLst>
          </p:nvPr>
        </p:nvSpPr>
        <p:spPr>
          <a:xfrm>
            <a:off x="6383584" y="3900135"/>
            <a:ext cx="2452336" cy="259161"/>
          </a:xfrm>
          <a:prstGeom prst="rect">
            <a:avLst/>
          </a:prstGeom>
          <a:solidFill>
            <a:srgbClr val="3D9A5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BFBFB"/>
                </a:solidFill>
                <a:effectLst/>
                <a:uLnTx/>
                <a:uFillTx/>
                <a:ea typeface="Alibaba PuHuiTi 2.0 55 Regular"/>
              </a:rPr>
              <a:t>理想</a:t>
            </a:r>
            <a:endParaRPr kumimoji="0" lang="en-US" altLang="zh-CN" sz="1200" b="1" i="0" u="none" strike="noStrike" kern="1200" cap="none" spc="0" normalizeH="0" baseline="0" noProof="0" dirty="0">
              <a:ln>
                <a:noFill/>
              </a:ln>
              <a:solidFill>
                <a:srgbClr val="FBFBFB"/>
              </a:solidFill>
              <a:effectLst/>
              <a:uLnTx/>
              <a:uFillTx/>
              <a:ea typeface="Alibaba PuHuiTi 2.0 55 Regular"/>
            </a:endParaRPr>
          </a:p>
        </p:txBody>
      </p:sp>
      <p:sp>
        <p:nvSpPr>
          <p:cNvPr id="51" name="文本框 50">
            <a:extLst>
              <a:ext uri="{FF2B5EF4-FFF2-40B4-BE49-F238E27FC236}">
                <a16:creationId xmlns:a16="http://schemas.microsoft.com/office/drawing/2014/main" id="{024CD865-4E33-84BC-E04C-41BF47CA6B88}"/>
              </a:ext>
            </a:extLst>
          </p:cNvPr>
          <p:cNvSpPr txBox="1"/>
          <p:nvPr>
            <p:custDataLst>
              <p:tags r:id="rId7"/>
            </p:custDataLst>
          </p:nvPr>
        </p:nvSpPr>
        <p:spPr>
          <a:xfrm>
            <a:off x="9407460" y="3900135"/>
            <a:ext cx="2452336" cy="259161"/>
          </a:xfrm>
          <a:prstGeom prst="rect">
            <a:avLst/>
          </a:prstGeom>
          <a:solidFill>
            <a:srgbClr val="3D9A5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solidFill>
                  <a:srgbClr val="FBFBFB"/>
                </a:solidFill>
                <a:ea typeface="Alibaba PuHuiTi 2.0 55 Regular"/>
              </a:rPr>
              <a:t>智己</a:t>
            </a:r>
            <a:endParaRPr kumimoji="0" lang="en-US" altLang="zh-CN" sz="1200" b="1" i="0" u="none" strike="noStrike" kern="1200" cap="none" spc="0" normalizeH="0" baseline="0" noProof="0" dirty="0">
              <a:ln>
                <a:noFill/>
              </a:ln>
              <a:solidFill>
                <a:srgbClr val="FBFBFB"/>
              </a:solidFill>
              <a:effectLst/>
              <a:uLnTx/>
              <a:uFillTx/>
              <a:ea typeface="Alibaba PuHuiTi 2.0 55 Regular"/>
            </a:endParaRPr>
          </a:p>
        </p:txBody>
      </p:sp>
      <p:pic>
        <p:nvPicPr>
          <p:cNvPr id="52" name="图形 51" descr="拇指向下 纯色填充">
            <a:extLst>
              <a:ext uri="{FF2B5EF4-FFF2-40B4-BE49-F238E27FC236}">
                <a16:creationId xmlns:a16="http://schemas.microsoft.com/office/drawing/2014/main" id="{8395A4E9-8718-C994-F7EF-9B57ABFEBC18}"/>
              </a:ext>
            </a:extLst>
          </p:cNvPr>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10800000">
            <a:off x="3627515" y="2804377"/>
            <a:ext cx="274681" cy="274681"/>
          </a:xfrm>
          <a:prstGeom prst="rect">
            <a:avLst/>
          </a:prstGeom>
        </p:spPr>
      </p:pic>
      <p:sp>
        <p:nvSpPr>
          <p:cNvPr id="53" name="文本框 52">
            <a:extLst>
              <a:ext uri="{FF2B5EF4-FFF2-40B4-BE49-F238E27FC236}">
                <a16:creationId xmlns:a16="http://schemas.microsoft.com/office/drawing/2014/main" id="{AC034ECA-EB2F-C457-D8C5-8978DA57F115}"/>
              </a:ext>
            </a:extLst>
          </p:cNvPr>
          <p:cNvSpPr txBox="1"/>
          <p:nvPr>
            <p:custDataLst>
              <p:tags r:id="rId8"/>
            </p:custDataLst>
          </p:nvPr>
        </p:nvSpPr>
        <p:spPr>
          <a:xfrm>
            <a:off x="335830" y="3900135"/>
            <a:ext cx="2452336" cy="259161"/>
          </a:xfrm>
          <a:prstGeom prst="rect">
            <a:avLst/>
          </a:prstGeom>
          <a:solidFill>
            <a:srgbClr val="3D9A5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zh-CN"/>
            </a:defPPr>
            <a:lvl1pPr algn="ctr">
              <a:defRPr b="1">
                <a:solidFill>
                  <a:schemeClr val="bg1"/>
                </a:solidFill>
                <a:latin typeface="+mj-ea"/>
                <a:ea typeface="+mj-ea"/>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FBFBFB"/>
                </a:solidFill>
                <a:effectLst/>
                <a:uLnTx/>
                <a:uFillTx/>
                <a:ea typeface="Alibaba PuHuiTi 2.0 55 Regular"/>
              </a:rPr>
              <a:t>小鹏</a:t>
            </a:r>
            <a:endParaRPr kumimoji="0" lang="en-US" altLang="zh-CN" sz="1200" b="1" i="0" u="none" strike="noStrike" kern="1200" cap="none" spc="0" normalizeH="0" baseline="0" noProof="0" dirty="0">
              <a:ln>
                <a:noFill/>
              </a:ln>
              <a:solidFill>
                <a:srgbClr val="FBFBFB"/>
              </a:solidFill>
              <a:effectLst/>
              <a:uLnTx/>
              <a:uFillTx/>
              <a:ea typeface="Alibaba PuHuiTi 2.0 55 Regular"/>
            </a:endParaRPr>
          </a:p>
        </p:txBody>
      </p:sp>
      <p:graphicFrame>
        <p:nvGraphicFramePr>
          <p:cNvPr id="62" name="图表 61">
            <a:extLst>
              <a:ext uri="{FF2B5EF4-FFF2-40B4-BE49-F238E27FC236}">
                <a16:creationId xmlns:a16="http://schemas.microsoft.com/office/drawing/2014/main" id="{A214138F-F140-46E1-8FA6-615D536A2719}"/>
              </a:ext>
            </a:extLst>
          </p:cNvPr>
          <p:cNvGraphicFramePr/>
          <p:nvPr/>
        </p:nvGraphicFramePr>
        <p:xfrm>
          <a:off x="-19654" y="4233836"/>
          <a:ext cx="3173168" cy="2183107"/>
        </p:xfrm>
        <a:graphic>
          <a:graphicData uri="http://schemas.openxmlformats.org/drawingml/2006/chart">
            <c:chart xmlns:c="http://schemas.openxmlformats.org/drawingml/2006/chart" xmlns:r="http://schemas.openxmlformats.org/officeDocument/2006/relationships" r:id="rId29"/>
          </a:graphicData>
        </a:graphic>
      </p:graphicFrame>
      <p:graphicFrame>
        <p:nvGraphicFramePr>
          <p:cNvPr id="63" name="图表 62">
            <a:extLst>
              <a:ext uri="{FF2B5EF4-FFF2-40B4-BE49-F238E27FC236}">
                <a16:creationId xmlns:a16="http://schemas.microsoft.com/office/drawing/2014/main" id="{DF9A676E-DBF2-4E6E-9A34-5B1E94AD180C}"/>
              </a:ext>
            </a:extLst>
          </p:cNvPr>
          <p:cNvGraphicFramePr/>
          <p:nvPr/>
        </p:nvGraphicFramePr>
        <p:xfrm>
          <a:off x="3016901" y="4233836"/>
          <a:ext cx="3173168" cy="2183107"/>
        </p:xfrm>
        <a:graphic>
          <a:graphicData uri="http://schemas.openxmlformats.org/drawingml/2006/chart">
            <c:chart xmlns:c="http://schemas.openxmlformats.org/drawingml/2006/chart" xmlns:r="http://schemas.openxmlformats.org/officeDocument/2006/relationships" r:id="rId30"/>
          </a:graphicData>
        </a:graphic>
      </p:graphicFrame>
      <p:graphicFrame>
        <p:nvGraphicFramePr>
          <p:cNvPr id="64" name="图表 63">
            <a:extLst>
              <a:ext uri="{FF2B5EF4-FFF2-40B4-BE49-F238E27FC236}">
                <a16:creationId xmlns:a16="http://schemas.microsoft.com/office/drawing/2014/main" id="{F7B149A8-B54A-4F04-BC75-C327C89917F0}"/>
              </a:ext>
            </a:extLst>
          </p:cNvPr>
          <p:cNvGraphicFramePr/>
          <p:nvPr/>
        </p:nvGraphicFramePr>
        <p:xfrm>
          <a:off x="6044184" y="4246454"/>
          <a:ext cx="3173168" cy="2183107"/>
        </p:xfrm>
        <a:graphic>
          <a:graphicData uri="http://schemas.openxmlformats.org/drawingml/2006/chart">
            <c:chart xmlns:c="http://schemas.openxmlformats.org/drawingml/2006/chart" xmlns:r="http://schemas.openxmlformats.org/officeDocument/2006/relationships" r:id="rId31"/>
          </a:graphicData>
        </a:graphic>
      </p:graphicFrame>
      <p:pic>
        <p:nvPicPr>
          <p:cNvPr id="22" name="图形 21" descr="拇指向下 纯色填充">
            <a:extLst>
              <a:ext uri="{FF2B5EF4-FFF2-40B4-BE49-F238E27FC236}">
                <a16:creationId xmlns:a16="http://schemas.microsoft.com/office/drawing/2014/main" id="{EC6E837D-D011-2CE9-95F6-667A530B7004}"/>
              </a:ext>
            </a:extLst>
          </p:cNvPr>
          <p:cNvPicPr>
            <a:picLocks noChangeAspect="1"/>
          </p:cNvPicPr>
          <p:nvPr/>
        </p:nvPicPr>
        <p:blipFill>
          <a:blip r:embed="rId24" cstate="print">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566082" y="5432655"/>
            <a:ext cx="274681" cy="274681"/>
          </a:xfrm>
          <a:prstGeom prst="rect">
            <a:avLst/>
          </a:prstGeom>
        </p:spPr>
      </p:pic>
      <p:pic>
        <p:nvPicPr>
          <p:cNvPr id="23" name="图形 22" descr="拇指向下 纯色填充">
            <a:extLst>
              <a:ext uri="{FF2B5EF4-FFF2-40B4-BE49-F238E27FC236}">
                <a16:creationId xmlns:a16="http://schemas.microsoft.com/office/drawing/2014/main" id="{5B931B5F-AC89-7DDC-EF38-C7DE3F5E506E}"/>
              </a:ext>
            </a:extLst>
          </p:cNvPr>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10800000">
            <a:off x="480415" y="4864079"/>
            <a:ext cx="274681" cy="274681"/>
          </a:xfrm>
          <a:prstGeom prst="rect">
            <a:avLst/>
          </a:prstGeom>
        </p:spPr>
      </p:pic>
      <p:pic>
        <p:nvPicPr>
          <p:cNvPr id="42" name="图形 41" descr="拇指向下 纯色填充"/>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10800000">
            <a:off x="3433594" y="4805455"/>
            <a:ext cx="274681" cy="274681"/>
          </a:xfrm>
          <a:prstGeom prst="rect">
            <a:avLst/>
          </a:prstGeom>
        </p:spPr>
      </p:pic>
      <p:pic>
        <p:nvPicPr>
          <p:cNvPr id="43" name="图形 42" descr="拇指向下 纯色填充"/>
          <p:cNvPicPr>
            <a:picLocks noChangeAspect="1"/>
          </p:cNvPicPr>
          <p:nvPr/>
        </p:nvPicPr>
        <p:blipFill>
          <a:blip r:embed="rId24" cstate="print">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5606019" y="4864078"/>
            <a:ext cx="274681" cy="274681"/>
          </a:xfrm>
          <a:prstGeom prst="rect">
            <a:avLst/>
          </a:prstGeom>
        </p:spPr>
      </p:pic>
      <p:pic>
        <p:nvPicPr>
          <p:cNvPr id="46" name="图形 45" descr="拇指向下 纯色填充"/>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10800000">
            <a:off x="6878717" y="4849875"/>
            <a:ext cx="274681" cy="274681"/>
          </a:xfrm>
          <a:prstGeom prst="rect">
            <a:avLst/>
          </a:prstGeom>
        </p:spPr>
      </p:pic>
      <p:pic>
        <p:nvPicPr>
          <p:cNvPr id="47" name="图形 46" descr="拇指向下 纯色填充"/>
          <p:cNvPicPr>
            <a:picLocks noChangeAspect="1"/>
          </p:cNvPicPr>
          <p:nvPr/>
        </p:nvPicPr>
        <p:blipFill>
          <a:blip r:embed="rId24" cstate="print">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590401" y="5434652"/>
            <a:ext cx="274681" cy="274681"/>
          </a:xfrm>
          <a:prstGeom prst="rect">
            <a:avLst/>
          </a:prstGeom>
        </p:spPr>
      </p:pic>
      <p:graphicFrame>
        <p:nvGraphicFramePr>
          <p:cNvPr id="65" name="图表 64">
            <a:extLst>
              <a:ext uri="{FF2B5EF4-FFF2-40B4-BE49-F238E27FC236}">
                <a16:creationId xmlns:a16="http://schemas.microsoft.com/office/drawing/2014/main" id="{FF590371-5B31-45F4-8B8E-33D264DD482A}"/>
              </a:ext>
            </a:extLst>
          </p:cNvPr>
          <p:cNvGraphicFramePr/>
          <p:nvPr/>
        </p:nvGraphicFramePr>
        <p:xfrm>
          <a:off x="9005908" y="4242360"/>
          <a:ext cx="3173168" cy="2183107"/>
        </p:xfrm>
        <a:graphic>
          <a:graphicData uri="http://schemas.openxmlformats.org/drawingml/2006/chart">
            <c:chart xmlns:c="http://schemas.openxmlformats.org/drawingml/2006/chart" xmlns:r="http://schemas.openxmlformats.org/officeDocument/2006/relationships" r:id="rId32"/>
          </a:graphicData>
        </a:graphic>
      </p:graphicFrame>
      <p:pic>
        <p:nvPicPr>
          <p:cNvPr id="48" name="图形 47" descr="拇指向下 纯色填充"/>
          <p:cNvPicPr>
            <a:picLocks noChangeAspect="1"/>
          </p:cNvPicPr>
          <p:nvPr/>
        </p:nvPicPr>
        <p:blipFill>
          <a:blip r:embed="rId22" cstate="print">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rot="10800000">
            <a:off x="9721428" y="4825440"/>
            <a:ext cx="274681" cy="274681"/>
          </a:xfrm>
          <a:prstGeom prst="rect">
            <a:avLst/>
          </a:prstGeom>
        </p:spPr>
      </p:pic>
      <p:pic>
        <p:nvPicPr>
          <p:cNvPr id="49" name="图形 48" descr="拇指向下 纯色填充"/>
          <p:cNvPicPr>
            <a:picLocks noChangeAspect="1"/>
          </p:cNvPicPr>
          <p:nvPr/>
        </p:nvPicPr>
        <p:blipFill>
          <a:blip r:embed="rId24" cstate="print">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563833" y="4864078"/>
            <a:ext cx="274681" cy="274681"/>
          </a:xfrm>
          <a:prstGeom prst="rect">
            <a:avLst/>
          </a:prstGeom>
        </p:spPr>
      </p:pic>
      <p:sp>
        <p:nvSpPr>
          <p:cNvPr id="67" name="文本框 66">
            <a:extLst>
              <a:ext uri="{FF2B5EF4-FFF2-40B4-BE49-F238E27FC236}">
                <a16:creationId xmlns:a16="http://schemas.microsoft.com/office/drawing/2014/main" id="{6D9F9D0F-08FB-45BB-850D-A187A3212D38}"/>
              </a:ext>
            </a:extLst>
          </p:cNvPr>
          <p:cNvSpPr txBox="1"/>
          <p:nvPr>
            <p:custDataLst>
              <p:tags r:id="rId9"/>
            </p:custDataLst>
          </p:nvPr>
        </p:nvSpPr>
        <p:spPr>
          <a:xfrm>
            <a:off x="2321164" y="6381757"/>
            <a:ext cx="9966325" cy="26161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300"/>
              </a:spcBef>
              <a:spcAft>
                <a:spcPts val="0"/>
              </a:spcAft>
              <a:buClrTx/>
              <a:buSzTx/>
              <a:buFont typeface="Wingdings" panose="05000000000000000000" charset="0"/>
              <a:buChar char="l"/>
              <a:tabLst/>
              <a:defRPr/>
            </a:pPr>
            <a:r>
              <a:rPr kumimoji="0" lang="zh-CN" altLang="en-US" sz="1100" b="1" i="0" u="none" strike="noStrike" kern="1200" cap="none" spc="0" normalizeH="0" baseline="0" noProof="0" dirty="0">
                <a:ln>
                  <a:noFill/>
                </a:ln>
                <a:solidFill>
                  <a:srgbClr val="181818"/>
                </a:solidFill>
                <a:effectLst/>
                <a:uLnTx/>
                <a:uFillTx/>
                <a:latin typeface="DIN Pro"/>
                <a:ea typeface="Alibaba PuHuiTi 2.0 55 Regular"/>
                <a:cs typeface="+mn-cs"/>
              </a:rPr>
              <a:t>抖音、小红书满意度的体验用户占比相对较少，样本量低</a:t>
            </a:r>
            <a:endParaRPr kumimoji="0" lang="en-US" altLang="zh-CN" sz="1100" b="1" i="0" u="none" strike="noStrike" kern="1200" cap="none" spc="0" normalizeH="0" baseline="0" noProof="0" dirty="0">
              <a:ln>
                <a:noFill/>
              </a:ln>
              <a:solidFill>
                <a:srgbClr val="181818"/>
              </a:solidFill>
              <a:effectLst/>
              <a:uLnTx/>
              <a:uFillTx/>
              <a:latin typeface="DIN Pro"/>
              <a:ea typeface="Alibaba PuHuiTi 2.0 55 Regular"/>
              <a:cs typeface="+mn-cs"/>
            </a:endParaRPr>
          </a:p>
        </p:txBody>
      </p:sp>
    </p:spTree>
    <p:extLst>
      <p:ext uri="{BB962C8B-B14F-4D97-AF65-F5344CB8AC3E}">
        <p14:creationId xmlns:p14="http://schemas.microsoft.com/office/powerpoint/2010/main" val="24232729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21"/>
          </p:nvPr>
        </p:nvSpPr>
        <p:spPr/>
        <p:txBody>
          <a:bodyPr/>
          <a:lstStyle/>
          <a:p>
            <a:r>
              <a:rPr kumimoji="1" lang="zh-CN" altLang="en-US" dirty="0">
                <a:sym typeface="+mn-ea"/>
              </a:rPr>
              <a:t>（车主自评）线上平台服务中最受认可的服务项和最不受认可的服务项</a:t>
            </a:r>
            <a:endParaRPr kumimoji="1" lang="zh-CN" altLang="en-US" dirty="0">
              <a:latin typeface="+mj-ea"/>
              <a:ea typeface="+mj-ea"/>
            </a:endParaRPr>
          </a:p>
        </p:txBody>
      </p:sp>
      <p:sp>
        <p:nvSpPr>
          <p:cNvPr id="9" name="灯片编号占位符 1"/>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D9BB5D0-35E4-459D-AEF3-FE4D7C45CC19}" type="slidenum">
              <a:rPr kumimoji="0" lang="zh-CN" altLang="en-US" sz="9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Alibaba PuHuiTi 2.0 55 Regular" pitchFamily="18" charset="-122"/>
              </a:rPr>
              <a:pPr marL="0" marR="0" lvl="0" indent="0" algn="ctr" defTabSz="914400" rtl="0" eaLnBrk="1" fontAlgn="auto" latinLnBrk="0" hangingPunct="1">
                <a:lnSpc>
                  <a:spcPct val="100000"/>
                </a:lnSpc>
                <a:spcBef>
                  <a:spcPts val="0"/>
                </a:spcBef>
                <a:spcAft>
                  <a:spcPts val="0"/>
                </a:spcAft>
                <a:buClrTx/>
                <a:buSzTx/>
                <a:buFontTx/>
                <a:buNone/>
                <a:tabLst/>
                <a:defRPr/>
              </a:pPr>
              <a:t>52</a:t>
            </a:fld>
            <a:endParaRPr kumimoji="0" lang="zh-CN" altLang="en-US" sz="9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Alibaba PuHuiTi 2.0 55 Regular" pitchFamily="18" charset="-122"/>
            </a:endParaRPr>
          </a:p>
        </p:txBody>
      </p:sp>
      <p:graphicFrame>
        <p:nvGraphicFramePr>
          <p:cNvPr id="5" name="表格 6"/>
          <p:cNvGraphicFramePr>
            <a:graphicFrameLocks noGrp="1"/>
          </p:cNvGraphicFramePr>
          <p:nvPr/>
        </p:nvGraphicFramePr>
        <p:xfrm>
          <a:off x="263525" y="1613740"/>
          <a:ext cx="11664950" cy="4326772"/>
        </p:xfrm>
        <a:graphic>
          <a:graphicData uri="http://schemas.openxmlformats.org/drawingml/2006/table">
            <a:tbl>
              <a:tblPr firstRow="1" bandRow="1">
                <a:tableStyleId>{5C22544A-7EE6-4342-B048-85BDC9FD1C3A}</a:tableStyleId>
              </a:tblPr>
              <a:tblGrid>
                <a:gridCol w="2547150">
                  <a:extLst>
                    <a:ext uri="{9D8B030D-6E8A-4147-A177-3AD203B41FA5}">
                      <a16:colId xmlns:a16="http://schemas.microsoft.com/office/drawing/2014/main" val="20000"/>
                    </a:ext>
                  </a:extLst>
                </a:gridCol>
                <a:gridCol w="4558900">
                  <a:extLst>
                    <a:ext uri="{9D8B030D-6E8A-4147-A177-3AD203B41FA5}">
                      <a16:colId xmlns:a16="http://schemas.microsoft.com/office/drawing/2014/main" val="20001"/>
                    </a:ext>
                  </a:extLst>
                </a:gridCol>
                <a:gridCol w="4558900">
                  <a:extLst>
                    <a:ext uri="{9D8B030D-6E8A-4147-A177-3AD203B41FA5}">
                      <a16:colId xmlns:a16="http://schemas.microsoft.com/office/drawing/2014/main" val="20002"/>
                    </a:ext>
                  </a:extLst>
                </a:gridCol>
              </a:tblGrid>
              <a:tr h="460598">
                <a:tc>
                  <a:txBody>
                    <a:bodyPr/>
                    <a:lstStyle/>
                    <a:p>
                      <a:pPr algn="ctr"/>
                      <a:endParaRPr lang="zh-CN" altLang="en-US" sz="1000" dirty="0">
                        <a:solidFill>
                          <a:schemeClr val="bg1"/>
                        </a:solidFill>
                        <a:latin typeface="+mn-ea"/>
                        <a:ea typeface="+mn-ea"/>
                      </a:endParaRP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4B8D56"/>
                    </a:solidFill>
                  </a:tcPr>
                </a:tc>
                <a:tc>
                  <a:txBody>
                    <a:bodyPr/>
                    <a:lstStyle/>
                    <a:p>
                      <a:pPr algn="ctr"/>
                      <a:r>
                        <a:rPr lang="zh-CN" altLang="en-US" sz="1800" dirty="0">
                          <a:solidFill>
                            <a:schemeClr val="bg1"/>
                          </a:solidFill>
                          <a:latin typeface="+mn-ea"/>
                          <a:ea typeface="+mn-ea"/>
                        </a:rPr>
                        <a:t>某品牌</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4B8D56"/>
                    </a:solidFill>
                  </a:tcPr>
                </a:tc>
                <a:tc>
                  <a:txBody>
                    <a:bodyPr/>
                    <a:lstStyle/>
                    <a:p>
                      <a:pPr algn="ctr"/>
                      <a:r>
                        <a:rPr lang="zh-CN" altLang="en-US" sz="1800" dirty="0">
                          <a:solidFill>
                            <a:schemeClr val="bg1"/>
                          </a:solidFill>
                          <a:latin typeface="+mn-ea"/>
                          <a:ea typeface="+mn-ea"/>
                        </a:rPr>
                        <a:t>与竞品的共性认可</a:t>
                      </a:r>
                      <a:r>
                        <a:rPr lang="en-US" altLang="zh-CN" sz="1800" dirty="0">
                          <a:solidFill>
                            <a:schemeClr val="bg1"/>
                          </a:solidFill>
                          <a:latin typeface="+mn-ea"/>
                          <a:ea typeface="+mn-ea"/>
                        </a:rPr>
                        <a:t>/</a:t>
                      </a:r>
                      <a:r>
                        <a:rPr lang="zh-CN" altLang="en-US" sz="1800" dirty="0">
                          <a:solidFill>
                            <a:schemeClr val="bg1"/>
                          </a:solidFill>
                          <a:latin typeface="+mn-ea"/>
                          <a:ea typeface="+mn-ea"/>
                        </a:rPr>
                        <a:t>不认可服务</a:t>
                      </a:r>
                    </a:p>
                  </a:txBody>
                  <a:tcPr anchor="ctr">
                    <a:lnL w="12700" cap="flat" cmpd="sng" algn="ctr">
                      <a:solidFill>
                        <a:schemeClr val="tx1"/>
                      </a:solidFill>
                      <a:prstDash val="dot"/>
                      <a:round/>
                      <a:headEnd type="none" w="med" len="med"/>
                      <a:tailEnd type="none" w="med" len="med"/>
                    </a:lnL>
                    <a:lnR w="9525" cap="flat" cmpd="sng" algn="ctr">
                      <a:noFill/>
                      <a:prstDash val="lg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4B8D56"/>
                    </a:solidFill>
                  </a:tcPr>
                </a:tc>
                <a:extLst>
                  <a:ext uri="{0D108BD9-81ED-4DB2-BD59-A6C34878D82A}">
                    <a16:rowId xmlns:a16="http://schemas.microsoft.com/office/drawing/2014/main" val="10000"/>
                  </a:ext>
                </a:extLst>
              </a:tr>
              <a:tr h="1769642">
                <a:tc>
                  <a:txBody>
                    <a:bodyPr/>
                    <a:lstStyle/>
                    <a:p>
                      <a:pPr algn="ctr"/>
                      <a:r>
                        <a:rPr lang="zh-CN" altLang="en-US" sz="2000" b="1" dirty="0">
                          <a:solidFill>
                            <a:srgbClr val="4B8D56"/>
                          </a:solidFill>
                          <a:latin typeface="+mn-ea"/>
                          <a:ea typeface="+mn-ea"/>
                        </a:rPr>
                        <a:t>最认可服务项</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noFill/>
                  </a:tcPr>
                </a:tc>
                <a:tc>
                  <a:txBody>
                    <a:bodyPr/>
                    <a:lstStyle/>
                    <a:p>
                      <a:pPr algn="l" fontAlgn="b">
                        <a:lnSpc>
                          <a:spcPct val="150000"/>
                        </a:lnSpc>
                      </a:pPr>
                      <a:r>
                        <a:rPr lang="en-US" altLang="zh-CN" sz="1600" b="0" i="0" u="none" strike="noStrike" kern="1200" dirty="0">
                          <a:solidFill>
                            <a:schemeClr val="tx1"/>
                          </a:solidFill>
                          <a:effectLst/>
                          <a:latin typeface="+mn-ea"/>
                          <a:ea typeface="+mn-ea"/>
                          <a:cs typeface="+mn-cs"/>
                        </a:rPr>
                        <a:t>1. </a:t>
                      </a:r>
                      <a:r>
                        <a:rPr lang="zh-CN" altLang="en-US" sz="1600" b="0" i="0" u="none" strike="noStrike" kern="1200" dirty="0">
                          <a:solidFill>
                            <a:schemeClr val="tx1"/>
                          </a:solidFill>
                          <a:effectLst/>
                          <a:latin typeface="+mn-ea"/>
                          <a:ea typeface="+mn-ea"/>
                          <a:cs typeface="+mn-cs"/>
                        </a:rPr>
                        <a:t>官方微信小程序的整体流畅度</a:t>
                      </a:r>
                      <a:endParaRPr lang="en-US" altLang="zh-CN" sz="1600" b="0" i="0" u="none" strike="noStrike" kern="1200" dirty="0">
                        <a:solidFill>
                          <a:schemeClr val="tx1"/>
                        </a:solidFill>
                        <a:effectLst/>
                        <a:latin typeface="+mn-ea"/>
                        <a:ea typeface="+mn-ea"/>
                        <a:cs typeface="+mn-cs"/>
                      </a:endParaRPr>
                    </a:p>
                    <a:p>
                      <a:pPr algn="l" fontAlgn="b">
                        <a:lnSpc>
                          <a:spcPct val="150000"/>
                        </a:lnSpc>
                      </a:pPr>
                      <a:r>
                        <a:rPr lang="en-US" altLang="zh-CN" sz="1600" b="0" i="0" u="none" strike="noStrike" dirty="0">
                          <a:solidFill>
                            <a:schemeClr val="tx1"/>
                          </a:solidFill>
                          <a:effectLst/>
                          <a:latin typeface="+mn-ea"/>
                          <a:ea typeface="+mn-ea"/>
                        </a:rPr>
                        <a:t>2. </a:t>
                      </a:r>
                      <a:r>
                        <a:rPr lang="zh-CN" altLang="en-US" sz="1600" b="0" i="0" u="none" strike="noStrike" dirty="0">
                          <a:solidFill>
                            <a:schemeClr val="tx1"/>
                          </a:solidFill>
                          <a:effectLst/>
                          <a:latin typeface="+mn-ea"/>
                          <a:ea typeface="+mn-ea"/>
                        </a:rPr>
                        <a:t>购车辅助类功能满意度</a:t>
                      </a:r>
                    </a:p>
                    <a:p>
                      <a:pPr algn="l" fontAlgn="b">
                        <a:lnSpc>
                          <a:spcPct val="150000"/>
                        </a:lnSpc>
                      </a:pPr>
                      <a:r>
                        <a:rPr lang="en-US" altLang="zh-CN" sz="1600" b="0" i="0" u="none" strike="noStrike" kern="1200" dirty="0">
                          <a:solidFill>
                            <a:schemeClr val="tx1"/>
                          </a:solidFill>
                          <a:effectLst/>
                          <a:latin typeface="+mn-ea"/>
                          <a:ea typeface="+mn-ea"/>
                          <a:cs typeface="+mn-cs"/>
                        </a:rPr>
                        <a:t>3. </a:t>
                      </a:r>
                      <a:r>
                        <a:rPr lang="zh-CN" altLang="en-US" sz="1600" b="0" i="0" u="none" strike="noStrike" kern="1200" dirty="0">
                          <a:solidFill>
                            <a:schemeClr val="tx1"/>
                          </a:solidFill>
                          <a:effectLst/>
                          <a:latin typeface="+mn-ea"/>
                          <a:ea typeface="+mn-ea"/>
                          <a:cs typeface="+mn-cs"/>
                        </a:rPr>
                        <a:t>官方微信小程序的内容丰富度</a:t>
                      </a:r>
                      <a:endParaRPr lang="en-US" altLang="zh-CN" sz="1600" b="0" i="0" u="none" strike="noStrike" kern="1200" dirty="0">
                        <a:solidFill>
                          <a:schemeClr val="tx1"/>
                        </a:solidFill>
                        <a:effectLst/>
                        <a:latin typeface="+mn-ea"/>
                        <a:ea typeface="+mn-ea"/>
                        <a:cs typeface="+mn-cs"/>
                      </a:endParaRPr>
                    </a:p>
                    <a:p>
                      <a:pPr algn="l" fontAlgn="b">
                        <a:lnSpc>
                          <a:spcPct val="150000"/>
                        </a:lnSpc>
                      </a:pPr>
                      <a:r>
                        <a:rPr lang="en-US" altLang="zh-CN" sz="1600" b="1" i="0" u="none" strike="noStrike" kern="1200" dirty="0">
                          <a:solidFill>
                            <a:srgbClr val="4B8D56"/>
                          </a:solidFill>
                          <a:effectLst/>
                          <a:latin typeface="+mn-ea"/>
                          <a:ea typeface="+mn-ea"/>
                          <a:cs typeface="+mn-cs"/>
                        </a:rPr>
                        <a:t>4. </a:t>
                      </a:r>
                      <a:r>
                        <a:rPr lang="zh-CN" altLang="en-US" sz="1600" b="1" i="0" u="none" strike="noStrike" kern="1200" dirty="0">
                          <a:solidFill>
                            <a:srgbClr val="4B8D56"/>
                          </a:solidFill>
                          <a:effectLst/>
                          <a:latin typeface="+mn-ea"/>
                          <a:ea typeface="+mn-ea"/>
                          <a:cs typeface="+mn-cs"/>
                        </a:rPr>
                        <a:t>会员商城的订单处理及发货体验</a:t>
                      </a:r>
                      <a:endParaRPr lang="en-US" altLang="zh-CN" sz="1600" b="1" i="0" u="none" strike="noStrike" kern="1200" dirty="0">
                        <a:solidFill>
                          <a:srgbClr val="4B8D56"/>
                        </a:solidFill>
                        <a:effectLst/>
                        <a:latin typeface="+mn-ea"/>
                        <a:ea typeface="+mn-ea"/>
                        <a:cs typeface="+mn-cs"/>
                      </a:endParaRPr>
                    </a:p>
                    <a:p>
                      <a:pPr algn="l" fontAlgn="b">
                        <a:lnSpc>
                          <a:spcPct val="150000"/>
                        </a:lnSpc>
                      </a:pPr>
                      <a:r>
                        <a:rPr lang="en-US" altLang="zh-CN" sz="1600" b="1" i="0" u="none" strike="noStrike" kern="1200" dirty="0">
                          <a:solidFill>
                            <a:srgbClr val="4B8D56"/>
                          </a:solidFill>
                          <a:effectLst/>
                          <a:latin typeface="+mn-ea"/>
                          <a:ea typeface="+mn-ea"/>
                          <a:cs typeface="+mn-cs"/>
                        </a:rPr>
                        <a:t>5. </a:t>
                      </a:r>
                      <a:r>
                        <a:rPr lang="zh-CN" altLang="en-US" sz="1600" b="1" i="0" u="none" strike="noStrike" kern="1200" dirty="0">
                          <a:solidFill>
                            <a:srgbClr val="4B8D56"/>
                          </a:solidFill>
                          <a:effectLst/>
                          <a:latin typeface="+mn-ea"/>
                          <a:ea typeface="+mn-ea"/>
                          <a:cs typeface="+mn-cs"/>
                        </a:rPr>
                        <a:t>线上商城的退货流程合理程度</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noFill/>
                  </a:tcPr>
                </a:tc>
                <a:tc>
                  <a:txBody>
                    <a:bodyPr/>
                    <a:lstStyle/>
                    <a:p>
                      <a:pPr algn="l" fontAlgn="b">
                        <a:lnSpc>
                          <a:spcPct val="100000"/>
                        </a:lnSpc>
                      </a:pPr>
                      <a:endParaRPr lang="en-US" altLang="zh-CN" sz="700" b="0" i="0" u="none" strike="noStrike" dirty="0">
                        <a:solidFill>
                          <a:srgbClr val="4B8D56"/>
                        </a:solidFill>
                        <a:effectLst/>
                        <a:latin typeface="+mn-ea"/>
                        <a:ea typeface="+mn-ea"/>
                      </a:endParaRPr>
                    </a:p>
                    <a:p>
                      <a:pPr marL="0" marR="0" lvl="0" indent="0" algn="l" defTabSz="914400" rtl="0" eaLnBrk="1" fontAlgn="b" latinLnBrk="0" hangingPunct="1">
                        <a:lnSpc>
                          <a:spcPct val="100000"/>
                        </a:lnSpc>
                        <a:spcBef>
                          <a:spcPts val="0"/>
                        </a:spcBef>
                        <a:spcAft>
                          <a:spcPts val="0"/>
                        </a:spcAft>
                        <a:buClrTx/>
                        <a:buSzTx/>
                        <a:buFontTx/>
                        <a:buNone/>
                        <a:tabLst/>
                        <a:defRPr/>
                      </a:pPr>
                      <a:r>
                        <a:rPr lang="zh-CN" altLang="en-US" sz="1600" b="1" i="0" u="none" strike="noStrike" dirty="0">
                          <a:solidFill>
                            <a:srgbClr val="4B8D56"/>
                          </a:solidFill>
                          <a:effectLst/>
                          <a:latin typeface="+mn-ea"/>
                          <a:ea typeface="+mn-ea"/>
                        </a:rPr>
                        <a:t>会员商城的订单处理及发货体验</a:t>
                      </a:r>
                      <a:endParaRPr lang="en-US" altLang="zh-CN" sz="1600" b="1" i="0" u="none" strike="noStrike" dirty="0">
                        <a:solidFill>
                          <a:srgbClr val="4B8D56"/>
                        </a:solidFill>
                        <a:effectLst/>
                        <a:latin typeface="+mn-ea"/>
                        <a:ea typeface="+mn-ea"/>
                      </a:endParaRPr>
                    </a:p>
                    <a:p>
                      <a:pPr marL="0" marR="0" lvl="0" indent="0" algn="l" defTabSz="914400" rtl="0" eaLnBrk="1" fontAlgn="b" latinLnBrk="0" hangingPunct="1">
                        <a:lnSpc>
                          <a:spcPct val="100000"/>
                        </a:lnSpc>
                        <a:spcBef>
                          <a:spcPts val="0"/>
                        </a:spcBef>
                        <a:spcAft>
                          <a:spcPts val="0"/>
                        </a:spcAft>
                        <a:buClrTx/>
                        <a:buSzTx/>
                        <a:buFontTx/>
                        <a:buNone/>
                        <a:tabLst/>
                        <a:defRPr/>
                      </a:pPr>
                      <a:r>
                        <a:rPr lang="zh-CN" altLang="en-US" sz="900" b="0" i="0" u="none" strike="noStrike" dirty="0">
                          <a:solidFill>
                            <a:srgbClr val="4B8D56"/>
                          </a:solidFill>
                          <a:effectLst/>
                          <a:latin typeface="+mn-ea"/>
                          <a:ea typeface="+mn-ea"/>
                        </a:rPr>
                        <a:t>（特斯拉、蔚来）</a:t>
                      </a:r>
                      <a:endParaRPr lang="en-US" altLang="zh-CN" sz="900" b="0" i="0" u="none" strike="noStrike" dirty="0">
                        <a:solidFill>
                          <a:srgbClr val="4B8D56"/>
                        </a:solidFill>
                        <a:effectLst/>
                        <a:latin typeface="+mn-ea"/>
                        <a:ea typeface="+mn-ea"/>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900" b="0" i="0" u="none" strike="noStrike" dirty="0">
                        <a:solidFill>
                          <a:srgbClr val="4B8D56"/>
                        </a:solidFill>
                        <a:effectLst/>
                        <a:latin typeface="+mn-ea"/>
                        <a:ea typeface="+mn-ea"/>
                      </a:endParaRPr>
                    </a:p>
                    <a:p>
                      <a:pPr marL="0" marR="0" lvl="0" indent="0" algn="l" defTabSz="914400" rtl="0" eaLnBrk="1" fontAlgn="b" latinLnBrk="0" hangingPunct="1">
                        <a:lnSpc>
                          <a:spcPct val="100000"/>
                        </a:lnSpc>
                        <a:spcBef>
                          <a:spcPts val="0"/>
                        </a:spcBef>
                        <a:spcAft>
                          <a:spcPts val="0"/>
                        </a:spcAft>
                        <a:buClrTx/>
                        <a:buSzTx/>
                        <a:buFontTx/>
                        <a:buNone/>
                        <a:tabLst/>
                        <a:defRPr/>
                      </a:pPr>
                      <a:r>
                        <a:rPr lang="zh-CN" altLang="en-US" sz="1600" b="1" i="0" u="none" strike="noStrike" kern="1200" dirty="0">
                          <a:solidFill>
                            <a:srgbClr val="4B8D56"/>
                          </a:solidFill>
                          <a:effectLst/>
                          <a:latin typeface="+mn-ea"/>
                          <a:ea typeface="+mn-ea"/>
                          <a:cs typeface="+mn-cs"/>
                        </a:rPr>
                        <a:t>线上商城的退货流程合理程度</a:t>
                      </a:r>
                      <a:endParaRPr lang="en-US" altLang="zh-CN" sz="1600" b="1" i="0" u="none" strike="noStrike" kern="1200" dirty="0">
                        <a:solidFill>
                          <a:srgbClr val="4B8D56"/>
                        </a:solidFill>
                        <a:effectLst/>
                        <a:latin typeface="+mn-ea"/>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zh-CN" altLang="en-US" sz="800" b="0" i="0" u="none" strike="noStrike" dirty="0">
                          <a:solidFill>
                            <a:srgbClr val="4B8D56"/>
                          </a:solidFill>
                          <a:effectLst/>
                          <a:latin typeface="+mn-ea"/>
                          <a:ea typeface="+mn-ea"/>
                        </a:rPr>
                        <a:t>（理想、问界、蔚来）</a:t>
                      </a:r>
                      <a:endParaRPr lang="en-US" altLang="zh-CN" sz="800" b="0" i="0" u="none" strike="noStrike" dirty="0">
                        <a:solidFill>
                          <a:srgbClr val="4B8D56"/>
                        </a:solidFill>
                        <a:effectLst/>
                        <a:latin typeface="+mn-ea"/>
                        <a:ea typeface="+mn-ea"/>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900" b="0" i="0" u="none" strike="noStrike" dirty="0">
                        <a:solidFill>
                          <a:srgbClr val="4B8D56"/>
                        </a:solidFill>
                        <a:effectLst/>
                        <a:latin typeface="+mn-ea"/>
                        <a:ea typeface="+mn-ea"/>
                      </a:endParaRPr>
                    </a:p>
                  </a:txBody>
                  <a:tcPr anchor="ctr">
                    <a:lnL w="12700" cap="flat" cmpd="sng" algn="ctr">
                      <a:solidFill>
                        <a:schemeClr val="tx1"/>
                      </a:solidFill>
                      <a:prstDash val="dot"/>
                      <a:round/>
                      <a:headEnd type="none" w="med" len="med"/>
                      <a:tailEnd type="none" w="med" len="med"/>
                    </a:lnL>
                    <a:lnR w="9525" cap="flat" cmpd="sng" algn="ctr">
                      <a:noFill/>
                      <a:prstDash val="lgDash"/>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012990">
                <a:tc>
                  <a:txBody>
                    <a:bodyPr/>
                    <a:lstStyle/>
                    <a:p>
                      <a:pPr algn="ctr"/>
                      <a:r>
                        <a:rPr lang="zh-CN" altLang="en-US" sz="2000" b="1" dirty="0">
                          <a:solidFill>
                            <a:srgbClr val="C00000"/>
                          </a:solidFill>
                          <a:latin typeface="+mn-ea"/>
                          <a:ea typeface="+mn-ea"/>
                        </a:rPr>
                        <a:t>最不认可服务项</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fontAlgn="b">
                        <a:lnSpc>
                          <a:spcPct val="150000"/>
                        </a:lnSpc>
                        <a:buFontTx/>
                        <a:buNone/>
                      </a:pPr>
                      <a:r>
                        <a:rPr lang="en-US" altLang="zh-CN" sz="1600" b="1" i="0" u="none" strike="noStrike" kern="1200" dirty="0">
                          <a:solidFill>
                            <a:srgbClr val="C00000"/>
                          </a:solidFill>
                          <a:effectLst/>
                          <a:latin typeface="+mn-ea"/>
                          <a:ea typeface="+mn-ea"/>
                          <a:cs typeface="+mn-cs"/>
                        </a:rPr>
                        <a:t>1. </a:t>
                      </a:r>
                      <a:r>
                        <a:rPr lang="zh-CN" altLang="en-US" sz="1600" b="1" i="0" u="none" strike="noStrike" kern="1200" dirty="0">
                          <a:solidFill>
                            <a:srgbClr val="C00000"/>
                          </a:solidFill>
                          <a:effectLst/>
                          <a:latin typeface="+mn-ea"/>
                          <a:ea typeface="+mn-ea"/>
                          <a:cs typeface="+mn-cs"/>
                        </a:rPr>
                        <a:t>官方</a:t>
                      </a:r>
                      <a:r>
                        <a:rPr lang="en-US" altLang="zh-CN" sz="1600" b="1" i="0" u="none" strike="noStrike" kern="1200" dirty="0">
                          <a:solidFill>
                            <a:srgbClr val="C00000"/>
                          </a:solidFill>
                          <a:effectLst/>
                          <a:latin typeface="+mn-ea"/>
                          <a:ea typeface="+mn-ea"/>
                          <a:cs typeface="+mn-cs"/>
                        </a:rPr>
                        <a:t>APP</a:t>
                      </a:r>
                      <a:r>
                        <a:rPr lang="zh-CN" altLang="en-US" sz="1600" b="1" i="0" u="none" strike="noStrike" kern="1200" dirty="0">
                          <a:solidFill>
                            <a:srgbClr val="C00000"/>
                          </a:solidFill>
                          <a:effectLst/>
                          <a:latin typeface="+mn-ea"/>
                          <a:ea typeface="+mn-ea"/>
                          <a:cs typeface="+mn-cs"/>
                        </a:rPr>
                        <a:t>的信息反馈类功能满意度</a:t>
                      </a:r>
                    </a:p>
                    <a:p>
                      <a:pPr marL="0" indent="0" algn="l" fontAlgn="b">
                        <a:lnSpc>
                          <a:spcPct val="150000"/>
                        </a:lnSpc>
                        <a:buFontTx/>
                        <a:buNone/>
                      </a:pPr>
                      <a:r>
                        <a:rPr lang="en-US" altLang="zh-CN" sz="1600" b="0" i="0" u="none" strike="noStrike" kern="1200" dirty="0">
                          <a:solidFill>
                            <a:schemeClr val="bg1">
                              <a:lumMod val="10000"/>
                            </a:schemeClr>
                          </a:solidFill>
                          <a:effectLst/>
                          <a:latin typeface="+mn-ea"/>
                          <a:ea typeface="+mn-ea"/>
                          <a:cs typeface="+mn-cs"/>
                        </a:rPr>
                        <a:t>2. </a:t>
                      </a:r>
                      <a:r>
                        <a:rPr lang="zh-CN" altLang="en-US" sz="1600" b="0" i="0" u="none" strike="noStrike" kern="1200" dirty="0">
                          <a:solidFill>
                            <a:schemeClr val="bg1">
                              <a:lumMod val="10000"/>
                            </a:schemeClr>
                          </a:solidFill>
                          <a:effectLst/>
                          <a:latin typeface="+mn-ea"/>
                          <a:ea typeface="+mn-ea"/>
                          <a:cs typeface="+mn-cs"/>
                        </a:rPr>
                        <a:t>官方</a:t>
                      </a:r>
                      <a:r>
                        <a:rPr lang="en-US" altLang="zh-CN" sz="1600" b="0" i="0" u="none" strike="noStrike" kern="1200" dirty="0">
                          <a:solidFill>
                            <a:schemeClr val="bg1">
                              <a:lumMod val="10000"/>
                            </a:schemeClr>
                          </a:solidFill>
                          <a:effectLst/>
                          <a:latin typeface="+mn-ea"/>
                          <a:ea typeface="+mn-ea"/>
                          <a:cs typeface="+mn-cs"/>
                        </a:rPr>
                        <a:t>APP</a:t>
                      </a:r>
                      <a:r>
                        <a:rPr lang="zh-CN" altLang="en-US" sz="1600" b="0" i="0" u="none" strike="noStrike" kern="1200" dirty="0">
                          <a:solidFill>
                            <a:schemeClr val="bg1">
                              <a:lumMod val="10000"/>
                            </a:schemeClr>
                          </a:solidFill>
                          <a:effectLst/>
                          <a:latin typeface="+mn-ea"/>
                          <a:ea typeface="+mn-ea"/>
                          <a:cs typeface="+mn-cs"/>
                        </a:rPr>
                        <a:t>的商城购物类功能满意度</a:t>
                      </a:r>
                      <a:endParaRPr lang="en-US" altLang="zh-CN" sz="1600" b="0" i="0" u="none" strike="noStrike" kern="1200" dirty="0">
                        <a:solidFill>
                          <a:schemeClr val="bg1">
                            <a:lumMod val="10000"/>
                          </a:schemeClr>
                        </a:solidFill>
                        <a:effectLst/>
                        <a:latin typeface="+mn-ea"/>
                        <a:ea typeface="+mn-ea"/>
                        <a:cs typeface="+mn-cs"/>
                      </a:endParaRPr>
                    </a:p>
                    <a:p>
                      <a:pPr marL="0" indent="0" algn="l" fontAlgn="b">
                        <a:lnSpc>
                          <a:spcPct val="150000"/>
                        </a:lnSpc>
                        <a:buFontTx/>
                        <a:buNone/>
                      </a:pPr>
                      <a:r>
                        <a:rPr lang="en-US" altLang="zh-CN" sz="1600" b="0" i="0" u="none" strike="noStrike" kern="1200" dirty="0">
                          <a:solidFill>
                            <a:schemeClr val="bg1">
                              <a:lumMod val="10000"/>
                            </a:schemeClr>
                          </a:solidFill>
                          <a:effectLst/>
                          <a:latin typeface="+mn-ea"/>
                          <a:ea typeface="+mn-ea"/>
                          <a:cs typeface="+mn-cs"/>
                        </a:rPr>
                        <a:t>3. </a:t>
                      </a:r>
                      <a:r>
                        <a:rPr lang="zh-CN" altLang="en-US" sz="1600" b="0" i="0" u="none" strike="noStrike" kern="1200" dirty="0">
                          <a:solidFill>
                            <a:schemeClr val="bg1">
                              <a:lumMod val="10000"/>
                            </a:schemeClr>
                          </a:solidFill>
                          <a:effectLst/>
                          <a:latin typeface="+mn-ea"/>
                          <a:ea typeface="+mn-ea"/>
                          <a:cs typeface="+mn-cs"/>
                        </a:rPr>
                        <a:t>官方</a:t>
                      </a:r>
                      <a:r>
                        <a:rPr lang="en-US" altLang="zh-CN" sz="1600" b="0" i="0" u="none" strike="noStrike" kern="1200" dirty="0">
                          <a:solidFill>
                            <a:schemeClr val="bg1">
                              <a:lumMod val="10000"/>
                            </a:schemeClr>
                          </a:solidFill>
                          <a:effectLst/>
                          <a:latin typeface="+mn-ea"/>
                          <a:ea typeface="+mn-ea"/>
                          <a:cs typeface="+mn-cs"/>
                        </a:rPr>
                        <a:t>APP</a:t>
                      </a:r>
                      <a:r>
                        <a:rPr lang="zh-CN" altLang="en-US" sz="1600" b="0" i="0" u="none" strike="noStrike" kern="1200" dirty="0">
                          <a:solidFill>
                            <a:schemeClr val="bg1">
                              <a:lumMod val="10000"/>
                            </a:schemeClr>
                          </a:solidFill>
                          <a:effectLst/>
                          <a:latin typeface="+mn-ea"/>
                          <a:ea typeface="+mn-ea"/>
                          <a:cs typeface="+mn-cs"/>
                        </a:rPr>
                        <a:t>的资讯及信息内容质量</a:t>
                      </a:r>
                      <a:endParaRPr lang="en-US" altLang="zh-CN" sz="1600" b="0" i="0" u="none" strike="noStrike" kern="1200" dirty="0">
                        <a:solidFill>
                          <a:schemeClr val="bg1">
                            <a:lumMod val="10000"/>
                          </a:schemeClr>
                        </a:solidFill>
                        <a:effectLst/>
                        <a:latin typeface="+mn-ea"/>
                        <a:ea typeface="+mn-ea"/>
                        <a:cs typeface="+mn-cs"/>
                      </a:endParaRPr>
                    </a:p>
                    <a:p>
                      <a:pPr marL="0" marR="0" lvl="0" indent="0" algn="l" defTabSz="914400" rtl="0" eaLnBrk="1" fontAlgn="b" latinLnBrk="0" hangingPunct="1">
                        <a:lnSpc>
                          <a:spcPct val="150000"/>
                        </a:lnSpc>
                        <a:spcBef>
                          <a:spcPts val="0"/>
                        </a:spcBef>
                        <a:spcAft>
                          <a:spcPts val="0"/>
                        </a:spcAft>
                        <a:buClrTx/>
                        <a:buSzTx/>
                        <a:buFontTx/>
                        <a:buNone/>
                        <a:tabLst/>
                        <a:defRPr/>
                      </a:pPr>
                      <a:r>
                        <a:rPr lang="en-US" altLang="zh-CN" sz="1600" b="0" i="0" u="none" strike="noStrike" kern="1200" dirty="0">
                          <a:solidFill>
                            <a:schemeClr val="bg1">
                              <a:lumMod val="10000"/>
                            </a:schemeClr>
                          </a:solidFill>
                          <a:effectLst/>
                          <a:latin typeface="+mn-ea"/>
                          <a:ea typeface="+mn-ea"/>
                          <a:cs typeface="+mn-cs"/>
                        </a:rPr>
                        <a:t>4. </a:t>
                      </a:r>
                      <a:r>
                        <a:rPr lang="zh-CN" altLang="en-US" sz="1600" b="0" i="0" u="none" strike="noStrike" kern="1200" dirty="0">
                          <a:solidFill>
                            <a:schemeClr val="bg1">
                              <a:lumMod val="10000"/>
                            </a:schemeClr>
                          </a:solidFill>
                          <a:effectLst/>
                          <a:latin typeface="+mn-ea"/>
                          <a:ea typeface="+mn-ea"/>
                          <a:cs typeface="+mn-cs"/>
                        </a:rPr>
                        <a:t>官方</a:t>
                      </a:r>
                      <a:r>
                        <a:rPr lang="en-US" altLang="zh-CN" sz="1600" b="0" i="0" u="none" strike="noStrike" kern="1200" dirty="0">
                          <a:solidFill>
                            <a:schemeClr val="bg1">
                              <a:lumMod val="10000"/>
                            </a:schemeClr>
                          </a:solidFill>
                          <a:effectLst/>
                          <a:latin typeface="+mn-ea"/>
                          <a:ea typeface="+mn-ea"/>
                          <a:cs typeface="+mn-cs"/>
                        </a:rPr>
                        <a:t>APP</a:t>
                      </a:r>
                      <a:r>
                        <a:rPr lang="zh-CN" altLang="en-US" sz="1600" b="0" i="0" u="none" strike="noStrike" kern="1200" dirty="0">
                          <a:solidFill>
                            <a:schemeClr val="bg1">
                              <a:lumMod val="10000"/>
                            </a:schemeClr>
                          </a:solidFill>
                          <a:effectLst/>
                          <a:latin typeface="+mn-ea"/>
                          <a:ea typeface="+mn-ea"/>
                          <a:cs typeface="+mn-cs"/>
                        </a:rPr>
                        <a:t>的功能丰富程度</a:t>
                      </a:r>
                      <a:endParaRPr lang="en-US" altLang="zh-CN" sz="1600" b="0" i="0" u="none" strike="noStrike" kern="1200" dirty="0">
                        <a:solidFill>
                          <a:schemeClr val="bg1">
                            <a:lumMod val="10000"/>
                          </a:schemeClr>
                        </a:solidFill>
                        <a:effectLst/>
                        <a:latin typeface="+mn-ea"/>
                        <a:ea typeface="+mn-ea"/>
                        <a:cs typeface="+mn-cs"/>
                      </a:endParaRPr>
                    </a:p>
                    <a:p>
                      <a:pPr marL="0" marR="0" lvl="0" indent="0" algn="l" defTabSz="914400" rtl="0" eaLnBrk="1" fontAlgn="b" latinLnBrk="0" hangingPunct="1">
                        <a:lnSpc>
                          <a:spcPct val="150000"/>
                        </a:lnSpc>
                        <a:spcBef>
                          <a:spcPts val="0"/>
                        </a:spcBef>
                        <a:spcAft>
                          <a:spcPts val="0"/>
                        </a:spcAft>
                        <a:buClrTx/>
                        <a:buSzTx/>
                        <a:buFontTx/>
                        <a:buNone/>
                        <a:tabLst/>
                        <a:defRPr/>
                      </a:pPr>
                      <a:r>
                        <a:rPr lang="en-US" altLang="zh-CN" sz="1600" b="1" i="0" u="none" strike="noStrike" kern="1200" dirty="0">
                          <a:solidFill>
                            <a:srgbClr val="C00000"/>
                          </a:solidFill>
                          <a:effectLst/>
                          <a:latin typeface="+mn-ea"/>
                          <a:ea typeface="+mn-ea"/>
                          <a:cs typeface="+mn-cs"/>
                        </a:rPr>
                        <a:t>5. </a:t>
                      </a:r>
                      <a:r>
                        <a:rPr lang="zh-CN" altLang="en-US" sz="1600" b="1" i="0" u="none" strike="noStrike" kern="1200" dirty="0">
                          <a:solidFill>
                            <a:srgbClr val="C00000"/>
                          </a:solidFill>
                          <a:effectLst/>
                          <a:latin typeface="+mn-ea"/>
                          <a:ea typeface="+mn-ea"/>
                          <a:cs typeface="+mn-cs"/>
                        </a:rPr>
                        <a:t>线上互动活动功能满意度</a:t>
                      </a:r>
                    </a:p>
                  </a:txBody>
                  <a:tcPr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zh-CN" altLang="en-US" sz="1600" b="1" i="0" u="none" strike="noStrike" kern="1200" dirty="0">
                          <a:solidFill>
                            <a:srgbClr val="C00000"/>
                          </a:solidFill>
                          <a:effectLst/>
                          <a:latin typeface="+mn-ea"/>
                          <a:ea typeface="+mn-ea"/>
                          <a:cs typeface="+mn-cs"/>
                        </a:rPr>
                        <a:t>官方</a:t>
                      </a:r>
                      <a:r>
                        <a:rPr lang="en-US" altLang="zh-CN" sz="1600" b="1" i="0" u="none" strike="noStrike" kern="1200" dirty="0">
                          <a:solidFill>
                            <a:srgbClr val="C00000"/>
                          </a:solidFill>
                          <a:effectLst/>
                          <a:latin typeface="+mn-ea"/>
                          <a:ea typeface="+mn-ea"/>
                          <a:cs typeface="+mn-cs"/>
                        </a:rPr>
                        <a:t>APP</a:t>
                      </a:r>
                      <a:r>
                        <a:rPr lang="zh-CN" altLang="en-US" sz="1600" b="1" i="0" u="none" strike="noStrike" kern="1200" dirty="0">
                          <a:solidFill>
                            <a:srgbClr val="C00000"/>
                          </a:solidFill>
                          <a:effectLst/>
                          <a:latin typeface="+mn-ea"/>
                          <a:ea typeface="+mn-ea"/>
                          <a:cs typeface="+mn-cs"/>
                        </a:rPr>
                        <a:t>的信息反馈类功能满意度</a:t>
                      </a:r>
                    </a:p>
                    <a:p>
                      <a:pPr marL="0" marR="0" lvl="0" indent="0" algn="l" defTabSz="914400" rtl="0" eaLnBrk="1" fontAlgn="b"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srgbClr val="C00000"/>
                          </a:solidFill>
                          <a:effectLst/>
                          <a:uLnTx/>
                          <a:uFillTx/>
                          <a:latin typeface="+mn-ea"/>
                          <a:ea typeface="+mn-ea"/>
                          <a:cs typeface="+mn-cs"/>
                        </a:rPr>
                        <a:t>（特斯拉、蔚来、问界）</a:t>
                      </a:r>
                      <a:endParaRPr kumimoji="0" lang="en-US" altLang="zh-CN" sz="900" b="0" i="0" u="none" strike="noStrike" kern="1200" cap="none" spc="0" normalizeH="0" baseline="0" noProof="0" dirty="0">
                        <a:ln>
                          <a:noFill/>
                        </a:ln>
                        <a:solidFill>
                          <a:srgbClr val="C00000"/>
                        </a:solidFill>
                        <a:effectLst/>
                        <a:uLnTx/>
                        <a:uFillTx/>
                        <a:latin typeface="+mn-ea"/>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endParaRPr kumimoji="0" lang="en-US" altLang="zh-CN" sz="700" b="0" i="0" u="none" strike="noStrike" kern="1200" cap="none" spc="0" normalizeH="0" baseline="0" noProof="0" dirty="0">
                        <a:ln>
                          <a:noFill/>
                        </a:ln>
                        <a:solidFill>
                          <a:srgbClr val="C00000"/>
                        </a:solidFill>
                        <a:effectLst/>
                        <a:uLnTx/>
                        <a:uFillTx/>
                        <a:latin typeface="+mn-ea"/>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zh-CN" altLang="en-US" sz="1600" b="1" i="0" u="none" strike="noStrike" kern="1200" dirty="0">
                          <a:solidFill>
                            <a:srgbClr val="C00000"/>
                          </a:solidFill>
                          <a:effectLst/>
                          <a:latin typeface="+mn-ea"/>
                          <a:ea typeface="+mn-ea"/>
                          <a:cs typeface="+mn-cs"/>
                        </a:rPr>
                        <a:t>线上互动活动功能满意度</a:t>
                      </a:r>
                      <a:endParaRPr kumimoji="0" lang="en-US" altLang="zh-CN" sz="1600" b="1" i="0" u="none" strike="noStrike" kern="1200" cap="none" spc="0" normalizeH="0" baseline="0" noProof="0" dirty="0">
                        <a:ln>
                          <a:noFill/>
                        </a:ln>
                        <a:solidFill>
                          <a:srgbClr val="C00000"/>
                        </a:solidFill>
                        <a:effectLst/>
                        <a:uLnTx/>
                        <a:uFillTx/>
                        <a:latin typeface="+mn-ea"/>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srgbClr val="C00000"/>
                          </a:solidFill>
                          <a:effectLst/>
                          <a:uLnTx/>
                          <a:uFillTx/>
                          <a:latin typeface="+mn-ea"/>
                          <a:ea typeface="+mn-ea"/>
                          <a:cs typeface="+mn-cs"/>
                        </a:rPr>
                        <a:t>（极氪、蔚来、理想）</a:t>
                      </a:r>
                      <a:endParaRPr kumimoji="0" lang="en-US" altLang="zh-CN" sz="900" b="0" i="0" u="none" strike="noStrike" kern="1200" cap="none" spc="0" normalizeH="0" baseline="0" noProof="0" dirty="0">
                        <a:ln>
                          <a:noFill/>
                        </a:ln>
                        <a:solidFill>
                          <a:srgbClr val="C00000"/>
                        </a:solidFill>
                        <a:effectLst/>
                        <a:uLnTx/>
                        <a:uFillTx/>
                        <a:latin typeface="+mn-ea"/>
                        <a:ea typeface="+mn-ea"/>
                        <a:cs typeface="+mn-cs"/>
                      </a:endParaRPr>
                    </a:p>
                  </a:txBody>
                  <a:tcPr anchor="ctr">
                    <a:lnL w="12700" cap="flat" cmpd="sng" algn="ctr">
                      <a:solidFill>
                        <a:schemeClr val="tx1"/>
                      </a:solidFill>
                      <a:prstDash val="dot"/>
                      <a:round/>
                      <a:headEnd type="none" w="med" len="med"/>
                      <a:tailEnd type="none" w="med" len="med"/>
                    </a:lnL>
                    <a:lnR w="9525" cap="flat" cmpd="sng" algn="ctr">
                      <a:noFill/>
                      <a:prstDash val="lgDash"/>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3" name="文本框 2">
            <a:extLst>
              <a:ext uri="{FF2B5EF4-FFF2-40B4-BE49-F238E27FC236}">
                <a16:creationId xmlns:a16="http://schemas.microsoft.com/office/drawing/2014/main" id="{DB246AF4-568C-52A7-6E70-17AB4A8C6C3A}"/>
              </a:ext>
            </a:extLst>
          </p:cNvPr>
          <p:cNvSpPr txBox="1"/>
          <p:nvPr/>
        </p:nvSpPr>
        <p:spPr>
          <a:xfrm>
            <a:off x="302944" y="934135"/>
            <a:ext cx="10742592" cy="58477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181818"/>
                </a:solidFill>
                <a:effectLst/>
                <a:uLnTx/>
                <a:uFillTx/>
                <a:latin typeface="+mj-ea"/>
                <a:ea typeface="Alibaba PuHuiTi 2.0 55 Regular"/>
                <a:cs typeface="+mn-cs"/>
              </a:rPr>
              <a:t>会员商城的订单处理与发货体验、线上商城退货流程合理程度是本品和竞品普遍受到车主认可的服务项</a:t>
            </a:r>
            <a:endParaRPr kumimoji="1" lang="en-US" altLang="zh-CN" sz="1600" b="0" i="0" u="none" strike="noStrike" kern="1200" cap="none" spc="0" normalizeH="0" baseline="0" noProof="0" dirty="0">
              <a:ln>
                <a:noFill/>
              </a:ln>
              <a:solidFill>
                <a:srgbClr val="181818"/>
              </a:solidFill>
              <a:effectLst/>
              <a:uLnTx/>
              <a:uFillTx/>
              <a:latin typeface="+mj-ea"/>
              <a:ea typeface="Alibaba PuHuiTi 2.0 55 Regular"/>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zh-CN" altLang="en-US" sz="1600" b="0" i="0" u="none" strike="noStrike" kern="1200" cap="none" spc="0" normalizeH="0" baseline="0" noProof="0" dirty="0">
                <a:ln>
                  <a:noFill/>
                </a:ln>
                <a:solidFill>
                  <a:srgbClr val="181818"/>
                </a:solidFill>
                <a:effectLst/>
                <a:uLnTx/>
                <a:uFillTx/>
                <a:latin typeface="+mj-ea"/>
                <a:ea typeface="Alibaba PuHuiTi 2.0 55 Regular"/>
                <a:cs typeface="+mn-cs"/>
              </a:rPr>
              <a:t>官方</a:t>
            </a:r>
            <a:r>
              <a:rPr kumimoji="1" lang="en-US" altLang="zh-CN" sz="1600" b="0" i="0" u="none" strike="noStrike" kern="1200" cap="none" spc="0" normalizeH="0" baseline="0" noProof="0" dirty="0">
                <a:ln>
                  <a:noFill/>
                </a:ln>
                <a:solidFill>
                  <a:srgbClr val="181818"/>
                </a:solidFill>
                <a:effectLst/>
                <a:uLnTx/>
                <a:uFillTx/>
                <a:latin typeface="+mj-ea"/>
                <a:ea typeface="Alibaba PuHuiTi 2.0 55 Regular"/>
                <a:cs typeface="+mn-cs"/>
              </a:rPr>
              <a:t>APP</a:t>
            </a:r>
            <a:r>
              <a:rPr kumimoji="1" lang="zh-CN" altLang="en-US" sz="1600" b="0" i="0" u="none" strike="noStrike" kern="1200" cap="none" spc="0" normalizeH="0" baseline="0" noProof="0" dirty="0">
                <a:ln>
                  <a:noFill/>
                </a:ln>
                <a:solidFill>
                  <a:srgbClr val="181818"/>
                </a:solidFill>
                <a:effectLst/>
                <a:uLnTx/>
                <a:uFillTx/>
                <a:latin typeface="+mj-ea"/>
                <a:ea typeface="Alibaba PuHuiTi 2.0 55 Regular"/>
                <a:cs typeface="+mn-cs"/>
              </a:rPr>
              <a:t>信息反馈类功能、线上互动活动功能满意度未得到自身车主的认可</a:t>
            </a:r>
          </a:p>
        </p:txBody>
      </p:sp>
    </p:spTree>
    <p:extLst>
      <p:ext uri="{BB962C8B-B14F-4D97-AF65-F5344CB8AC3E}">
        <p14:creationId xmlns:p14="http://schemas.microsoft.com/office/powerpoint/2010/main" val="174369898"/>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72045" y="2199431"/>
            <a:ext cx="8504443" cy="41732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graphicFrame>
        <p:nvGraphicFramePr>
          <p:cNvPr id="3" name="图表 2"/>
          <p:cNvGraphicFramePr>
            <a:graphicFrameLocks noChangeAspect="1"/>
          </p:cNvGraphicFramePr>
          <p:nvPr/>
        </p:nvGraphicFramePr>
        <p:xfrm>
          <a:off x="253019" y="2199433"/>
          <a:ext cx="9050098" cy="4190289"/>
        </p:xfrm>
        <a:graphic>
          <a:graphicData uri="http://schemas.openxmlformats.org/drawingml/2006/chart">
            <c:chart xmlns:c="http://schemas.openxmlformats.org/drawingml/2006/chart" xmlns:r="http://schemas.openxmlformats.org/officeDocument/2006/relationships" r:id="rId4"/>
          </a:graphicData>
        </a:graphic>
      </p:graphicFrame>
      <p:sp>
        <p:nvSpPr>
          <p:cNvPr id="4" name="文本框 3"/>
          <p:cNvSpPr txBox="1"/>
          <p:nvPr/>
        </p:nvSpPr>
        <p:spPr>
          <a:xfrm>
            <a:off x="263525" y="1778511"/>
            <a:ext cx="8512963" cy="400110"/>
          </a:xfrm>
          <a:prstGeom prst="rect">
            <a:avLst/>
          </a:prstGeom>
          <a:solidFill>
            <a:srgbClr val="4B8D56"/>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某品牌</a:t>
            </a: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VS</a:t>
            </a: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竞品 </a:t>
            </a: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ISI 2023</a:t>
            </a: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年下半年要素得分情况</a:t>
            </a:r>
          </a:p>
        </p:txBody>
      </p:sp>
      <p:sp>
        <p:nvSpPr>
          <p:cNvPr id="12" name="文本占位符 11"/>
          <p:cNvSpPr>
            <a:spLocks noGrp="1"/>
          </p:cNvSpPr>
          <p:nvPr>
            <p:ph type="body" sz="quarter" idx="21"/>
          </p:nvPr>
        </p:nvSpPr>
        <p:spPr/>
        <p:txBody>
          <a:bodyPr/>
          <a:lstStyle/>
          <a:p>
            <a:r>
              <a:rPr kumimoji="1" lang="zh-CN" altLang="en-US" dirty="0">
                <a:sym typeface="+mn-ea"/>
              </a:rPr>
              <a:t>某品牌</a:t>
            </a:r>
            <a:r>
              <a:rPr kumimoji="1" lang="en-US" altLang="zh-CN" dirty="0">
                <a:sym typeface="+mn-ea"/>
              </a:rPr>
              <a:t>ISI</a:t>
            </a:r>
            <a:r>
              <a:rPr kumimoji="1" lang="zh-CN" dirty="0">
                <a:sym typeface="+mn-ea"/>
              </a:rPr>
              <a:t>的问题</a:t>
            </a:r>
            <a:r>
              <a:rPr kumimoji="1" dirty="0" err="1">
                <a:sym typeface="+mn-ea"/>
              </a:rPr>
              <a:t>主要是</a:t>
            </a:r>
            <a:r>
              <a:rPr kumimoji="1" dirty="0">
                <a:sym typeface="+mn-ea"/>
              </a:rPr>
              <a:t>：</a:t>
            </a:r>
            <a:r>
              <a:rPr kumimoji="1" lang="zh-CN" altLang="en-US" b="1" dirty="0">
                <a:solidFill>
                  <a:srgbClr val="C00000"/>
                </a:solidFill>
                <a:sym typeface="+mn-ea"/>
              </a:rPr>
              <a:t>官方</a:t>
            </a:r>
            <a:r>
              <a:rPr kumimoji="1" lang="en-US" altLang="zh-CN" b="1" dirty="0">
                <a:solidFill>
                  <a:srgbClr val="C00000"/>
                </a:solidFill>
                <a:sym typeface="+mn-ea"/>
              </a:rPr>
              <a:t>APP</a:t>
            </a:r>
            <a:r>
              <a:rPr kumimoji="1" lang="zh-CN" altLang="en-US" b="1" dirty="0">
                <a:solidFill>
                  <a:srgbClr val="C00000"/>
                </a:solidFill>
                <a:sym typeface="+mn-ea"/>
              </a:rPr>
              <a:t>信息反馈、商城购物等功能</a:t>
            </a:r>
            <a:endParaRPr kumimoji="1" lang="zh-CN" b="1" dirty="0">
              <a:solidFill>
                <a:srgbClr val="C00000"/>
              </a:solidFill>
              <a:sym typeface="+mn-ea"/>
            </a:endParaRPr>
          </a:p>
        </p:txBody>
      </p:sp>
      <p:sp>
        <p:nvSpPr>
          <p:cNvPr id="9" name="灯片编号占位符 1"/>
          <p:cNvSpPr>
            <a:spLocks noGrp="1"/>
          </p:cNvSpPr>
          <p:nvPr>
            <p:ph type="sldNum" sz="quarter" idx="4"/>
          </p:nvPr>
        </p:nvSpPr>
        <p:spPr>
          <a:xfrm>
            <a:off x="11523095" y="6472443"/>
            <a:ext cx="302305" cy="2407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D9BB5D0-35E4-459D-AEF3-FE4D7C45CC19}" type="slidenum">
              <a:rPr kumimoji="0" lang="zh-CN" altLang="en-US" sz="9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53</a:t>
            </a:fld>
            <a:endParaRPr kumimoji="0" lang="zh-CN" altLang="en-US" sz="900" b="0" i="0" u="none" strike="noStrike" kern="1200" cap="none" spc="0" normalizeH="0" baseline="0" noProof="0" dirty="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8" name="表格 17"/>
          <p:cNvGraphicFramePr>
            <a:graphicFrameLocks noGrp="1"/>
          </p:cNvGraphicFramePr>
          <p:nvPr/>
        </p:nvGraphicFramePr>
        <p:xfrm>
          <a:off x="8839774" y="1778512"/>
          <a:ext cx="3080181" cy="4597668"/>
        </p:xfrm>
        <a:graphic>
          <a:graphicData uri="http://schemas.openxmlformats.org/drawingml/2006/table">
            <a:tbl>
              <a:tblPr firstRow="1">
                <a:tableStyleId>{0E3FDE45-AF77-4B5C-9715-49D594BDF05E}</a:tableStyleId>
              </a:tblPr>
              <a:tblGrid>
                <a:gridCol w="3080181">
                  <a:extLst>
                    <a:ext uri="{9D8B030D-6E8A-4147-A177-3AD203B41FA5}">
                      <a16:colId xmlns:a16="http://schemas.microsoft.com/office/drawing/2014/main" val="20000"/>
                    </a:ext>
                  </a:extLst>
                </a:gridCol>
              </a:tblGrid>
              <a:tr h="383139">
                <a:tc>
                  <a:txBody>
                    <a:bodyPr/>
                    <a:lstStyle/>
                    <a:p>
                      <a:pPr marL="0" marR="0" lvl="0" indent="0" algn="l" defTabSz="914400" rtl="0" eaLnBrk="1" fontAlgn="ctr" latinLnBrk="0" hangingPunct="1">
                        <a:lnSpc>
                          <a:spcPct val="100000"/>
                        </a:lnSpc>
                        <a:spcBef>
                          <a:spcPts val="0"/>
                        </a:spcBef>
                        <a:spcAft>
                          <a:spcPts val="0"/>
                        </a:spcAft>
                        <a:buClrTx/>
                        <a:buSzTx/>
                        <a:buFont typeface="Arial" panose="020B0604020202020204" pitchFamily="34" charset="0"/>
                        <a:buNone/>
                        <a:defRPr/>
                      </a:pPr>
                      <a:r>
                        <a:rPr lang="zh-CN" altLang="en-US" sz="1800" b="1" i="0" u="none" strike="noStrike" kern="1200" dirty="0">
                          <a:solidFill>
                            <a:srgbClr val="4B8D56"/>
                          </a:solidFill>
                          <a:effectLst/>
                          <a:latin typeface="+mn-ea"/>
                          <a:ea typeface="+mn-ea"/>
                          <a:cs typeface="+mn-cs"/>
                        </a:rPr>
                        <a:t>认可服务</a:t>
                      </a:r>
                      <a:r>
                        <a:rPr lang="en-US" altLang="zh-CN" sz="1800" b="1" i="0" u="none" strike="noStrike" kern="1200" dirty="0">
                          <a:solidFill>
                            <a:srgbClr val="4B8D56"/>
                          </a:solidFill>
                          <a:effectLst/>
                          <a:latin typeface="+mn-ea"/>
                          <a:ea typeface="+mn-ea"/>
                          <a:cs typeface="+mn-cs"/>
                        </a:rPr>
                        <a:t>TOP5</a:t>
                      </a:r>
                      <a:endParaRPr lang="zh-CN" altLang="en-US" sz="1800" b="1" i="0" u="none" strike="noStrike" kern="1200" dirty="0">
                        <a:solidFill>
                          <a:srgbClr val="4B8D56"/>
                        </a:solidFill>
                        <a:effectLst/>
                        <a:latin typeface="+mn-ea"/>
                        <a:ea typeface="+mn-ea"/>
                        <a:cs typeface="+mn-cs"/>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915695">
                <a:tc>
                  <a:txBody>
                    <a:bodyPr/>
                    <a:lstStyle/>
                    <a:p>
                      <a:pPr marL="0" indent="0" algn="l" fontAlgn="b">
                        <a:lnSpc>
                          <a:spcPct val="150000"/>
                        </a:lnSpc>
                        <a:buFont typeface="+mj-lt"/>
                        <a:buNone/>
                      </a:pPr>
                      <a:r>
                        <a:rPr lang="en-US" altLang="zh-CN" sz="1400" b="0" i="0" u="none" strike="noStrike" dirty="0">
                          <a:solidFill>
                            <a:srgbClr val="4B8D56"/>
                          </a:solidFill>
                          <a:effectLst/>
                          <a:latin typeface="+mn-ea"/>
                          <a:ea typeface="+mn-ea"/>
                        </a:rPr>
                        <a:t>1. </a:t>
                      </a:r>
                      <a:r>
                        <a:rPr lang="zh-CN" altLang="en-US" sz="1400" b="0" i="0" u="none" strike="noStrike" dirty="0">
                          <a:solidFill>
                            <a:srgbClr val="4B8D56"/>
                          </a:solidFill>
                          <a:effectLst/>
                          <a:latin typeface="+mn-ea"/>
                          <a:ea typeface="+mn-ea"/>
                        </a:rPr>
                        <a:t>官方微信小程序的整体流畅度</a:t>
                      </a:r>
                    </a:p>
                    <a:p>
                      <a:pPr marL="0" indent="0" algn="l" fontAlgn="b">
                        <a:lnSpc>
                          <a:spcPct val="150000"/>
                        </a:lnSpc>
                        <a:buFont typeface="+mj-lt"/>
                        <a:buNone/>
                      </a:pPr>
                      <a:r>
                        <a:rPr lang="en-US" altLang="zh-CN" sz="1400" b="0" i="0" u="none" strike="noStrike" dirty="0">
                          <a:solidFill>
                            <a:srgbClr val="4B8D56"/>
                          </a:solidFill>
                          <a:effectLst/>
                          <a:latin typeface="+mn-ea"/>
                          <a:ea typeface="+mn-ea"/>
                        </a:rPr>
                        <a:t>2. </a:t>
                      </a:r>
                      <a:r>
                        <a:rPr lang="zh-CN" altLang="en-US" sz="1400" b="0" i="0" u="none" strike="noStrike" dirty="0">
                          <a:solidFill>
                            <a:srgbClr val="4B8D56"/>
                          </a:solidFill>
                          <a:effectLst/>
                          <a:latin typeface="+mn-ea"/>
                          <a:ea typeface="+mn-ea"/>
                        </a:rPr>
                        <a:t>购车辅助类功能满意度</a:t>
                      </a:r>
                    </a:p>
                    <a:p>
                      <a:pPr marL="0" indent="0" algn="l" fontAlgn="b">
                        <a:lnSpc>
                          <a:spcPct val="150000"/>
                        </a:lnSpc>
                        <a:buFont typeface="+mj-lt"/>
                        <a:buNone/>
                      </a:pPr>
                      <a:r>
                        <a:rPr lang="en-US" altLang="zh-CN" sz="1400" b="0" i="0" u="none" strike="noStrike" dirty="0">
                          <a:solidFill>
                            <a:srgbClr val="4B8D56"/>
                          </a:solidFill>
                          <a:effectLst/>
                          <a:latin typeface="+mn-ea"/>
                          <a:ea typeface="+mn-ea"/>
                        </a:rPr>
                        <a:t>3. </a:t>
                      </a:r>
                      <a:r>
                        <a:rPr lang="zh-CN" altLang="en-US" sz="1400" b="0" i="0" u="none" strike="noStrike" dirty="0">
                          <a:solidFill>
                            <a:srgbClr val="4B8D56"/>
                          </a:solidFill>
                          <a:effectLst/>
                          <a:latin typeface="+mn-ea"/>
                          <a:ea typeface="+mn-ea"/>
                        </a:rPr>
                        <a:t>官方微信小程序的内容丰富度</a:t>
                      </a:r>
                    </a:p>
                    <a:p>
                      <a:pPr marL="0" indent="0" algn="l" fontAlgn="b">
                        <a:lnSpc>
                          <a:spcPct val="150000"/>
                        </a:lnSpc>
                        <a:buFont typeface="+mj-lt"/>
                        <a:buNone/>
                      </a:pPr>
                      <a:r>
                        <a:rPr lang="en-US" altLang="zh-CN" sz="1400" b="0" i="0" u="none" strike="noStrike" dirty="0">
                          <a:solidFill>
                            <a:srgbClr val="4B8D56"/>
                          </a:solidFill>
                          <a:effectLst/>
                          <a:latin typeface="+mn-ea"/>
                          <a:ea typeface="+mn-ea"/>
                        </a:rPr>
                        <a:t>4. </a:t>
                      </a:r>
                      <a:r>
                        <a:rPr lang="zh-CN" altLang="en-US" sz="1400" b="0" i="0" u="none" strike="noStrike" dirty="0">
                          <a:solidFill>
                            <a:srgbClr val="4B8D56"/>
                          </a:solidFill>
                          <a:effectLst/>
                          <a:latin typeface="+mn-ea"/>
                          <a:ea typeface="+mn-ea"/>
                        </a:rPr>
                        <a:t>会员商城的订单处理及发货体验</a:t>
                      </a:r>
                    </a:p>
                    <a:p>
                      <a:pPr marL="0" indent="0" algn="l" fontAlgn="b">
                        <a:lnSpc>
                          <a:spcPct val="150000"/>
                        </a:lnSpc>
                        <a:buFont typeface="+mj-lt"/>
                        <a:buNone/>
                      </a:pPr>
                      <a:r>
                        <a:rPr lang="en-US" altLang="zh-CN" sz="1400" b="0" i="0" u="none" strike="noStrike" dirty="0">
                          <a:solidFill>
                            <a:srgbClr val="4B8D56"/>
                          </a:solidFill>
                          <a:effectLst/>
                          <a:latin typeface="+mn-ea"/>
                          <a:ea typeface="+mn-ea"/>
                        </a:rPr>
                        <a:t>5. </a:t>
                      </a:r>
                      <a:r>
                        <a:rPr lang="zh-CN" altLang="en-US" sz="1400" b="0" i="0" u="none" strike="noStrike" dirty="0">
                          <a:solidFill>
                            <a:srgbClr val="4B8D56"/>
                          </a:solidFill>
                          <a:effectLst/>
                          <a:latin typeface="+mn-ea"/>
                          <a:ea typeface="+mn-ea"/>
                        </a:rPr>
                        <a:t>线上商城的退货流程合理程度</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83139">
                <a:tc>
                  <a:txBody>
                    <a:bodyPr/>
                    <a:lstStyle/>
                    <a:p>
                      <a:pPr marL="0" indent="0" algn="l" rtl="0" fontAlgn="ctr">
                        <a:buFont typeface="Arial" panose="020B0604020202020204" pitchFamily="34" charset="0"/>
                        <a:buNone/>
                      </a:pPr>
                      <a:r>
                        <a:rPr lang="zh-CN" altLang="en-US" sz="1800" b="1" i="0" u="none" strike="noStrike" dirty="0">
                          <a:solidFill>
                            <a:srgbClr val="C00000"/>
                          </a:solidFill>
                          <a:effectLst/>
                          <a:latin typeface="+mn-ea"/>
                          <a:ea typeface="+mn-ea"/>
                        </a:rPr>
                        <a:t>不认可服务</a:t>
                      </a:r>
                      <a:r>
                        <a:rPr lang="en-US" altLang="zh-CN" sz="1800" b="1" i="0" u="none" strike="noStrike" dirty="0">
                          <a:solidFill>
                            <a:srgbClr val="C00000"/>
                          </a:solidFill>
                          <a:effectLst/>
                          <a:latin typeface="+mn-ea"/>
                          <a:ea typeface="+mn-ea"/>
                        </a:rPr>
                        <a:t>BOT5</a:t>
                      </a:r>
                      <a:endParaRPr lang="zh-CN" altLang="en-US" sz="1800" b="1" i="0" u="none" strike="noStrike" dirty="0">
                        <a:solidFill>
                          <a:srgbClr val="C00000"/>
                        </a:solidFill>
                        <a:effectLst/>
                        <a:latin typeface="+mn-ea"/>
                        <a:ea typeface="+mn-ea"/>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915695">
                <a:tc>
                  <a:txBody>
                    <a:bodyPr/>
                    <a:lstStyle/>
                    <a:p>
                      <a:pPr marL="0" indent="0" algn="l" fontAlgn="b">
                        <a:lnSpc>
                          <a:spcPct val="150000"/>
                        </a:lnSpc>
                        <a:buFont typeface="+mj-lt"/>
                        <a:buNone/>
                      </a:pPr>
                      <a:r>
                        <a:rPr lang="en-US" altLang="zh-CN" sz="1400" b="0" i="0" u="none" strike="noStrike" kern="1200" dirty="0">
                          <a:solidFill>
                            <a:srgbClr val="C00000"/>
                          </a:solidFill>
                          <a:effectLst/>
                          <a:latin typeface="+mn-ea"/>
                          <a:ea typeface="+mn-ea"/>
                          <a:cs typeface="+mn-cs"/>
                        </a:rPr>
                        <a:t>1. </a:t>
                      </a:r>
                      <a:r>
                        <a:rPr lang="zh-CN" altLang="en-US" sz="1400" b="0" i="0" u="none" strike="noStrike" kern="1200" dirty="0">
                          <a:solidFill>
                            <a:srgbClr val="C00000"/>
                          </a:solidFill>
                          <a:effectLst/>
                          <a:latin typeface="+mn-ea"/>
                          <a:ea typeface="+mn-ea"/>
                          <a:cs typeface="+mn-cs"/>
                        </a:rPr>
                        <a:t>官方</a:t>
                      </a:r>
                      <a:r>
                        <a:rPr lang="en-US" altLang="zh-CN" sz="1400" b="0" i="0" u="none" strike="noStrike" kern="1200" dirty="0">
                          <a:solidFill>
                            <a:srgbClr val="C00000"/>
                          </a:solidFill>
                          <a:effectLst/>
                          <a:latin typeface="+mn-ea"/>
                          <a:ea typeface="+mn-ea"/>
                          <a:cs typeface="+mn-cs"/>
                        </a:rPr>
                        <a:t>APP</a:t>
                      </a:r>
                      <a:r>
                        <a:rPr lang="zh-CN" altLang="en-US" sz="1400" b="0" i="0" u="none" strike="noStrike" kern="1200" dirty="0">
                          <a:solidFill>
                            <a:srgbClr val="C00000"/>
                          </a:solidFill>
                          <a:effectLst/>
                          <a:latin typeface="+mn-ea"/>
                          <a:ea typeface="+mn-ea"/>
                          <a:cs typeface="+mn-cs"/>
                        </a:rPr>
                        <a:t>的信息反馈类功能满意度</a:t>
                      </a:r>
                    </a:p>
                    <a:p>
                      <a:pPr marL="0" indent="0" algn="l" fontAlgn="b">
                        <a:lnSpc>
                          <a:spcPct val="150000"/>
                        </a:lnSpc>
                        <a:buFont typeface="+mj-lt"/>
                        <a:buNone/>
                      </a:pPr>
                      <a:r>
                        <a:rPr lang="en-US" altLang="zh-CN" sz="1400" b="0" i="0" u="none" strike="noStrike" kern="1200" dirty="0">
                          <a:solidFill>
                            <a:srgbClr val="C00000"/>
                          </a:solidFill>
                          <a:effectLst/>
                          <a:latin typeface="+mn-ea"/>
                          <a:ea typeface="+mn-ea"/>
                          <a:cs typeface="+mn-cs"/>
                        </a:rPr>
                        <a:t>2. </a:t>
                      </a:r>
                      <a:r>
                        <a:rPr lang="zh-CN" altLang="en-US" sz="1400" b="0" i="0" u="none" strike="noStrike" kern="1200" dirty="0">
                          <a:solidFill>
                            <a:srgbClr val="C00000"/>
                          </a:solidFill>
                          <a:effectLst/>
                          <a:latin typeface="+mn-ea"/>
                          <a:ea typeface="+mn-ea"/>
                          <a:cs typeface="+mn-cs"/>
                        </a:rPr>
                        <a:t>官方</a:t>
                      </a:r>
                      <a:r>
                        <a:rPr lang="en-US" altLang="zh-CN" sz="1400" b="0" i="0" u="none" strike="noStrike" kern="1200" dirty="0">
                          <a:solidFill>
                            <a:srgbClr val="C00000"/>
                          </a:solidFill>
                          <a:effectLst/>
                          <a:latin typeface="+mn-ea"/>
                          <a:ea typeface="+mn-ea"/>
                          <a:cs typeface="+mn-cs"/>
                        </a:rPr>
                        <a:t>APP</a:t>
                      </a:r>
                      <a:r>
                        <a:rPr lang="zh-CN" altLang="en-US" sz="1400" b="0" i="0" u="none" strike="noStrike" kern="1200" dirty="0">
                          <a:solidFill>
                            <a:srgbClr val="C00000"/>
                          </a:solidFill>
                          <a:effectLst/>
                          <a:latin typeface="+mn-ea"/>
                          <a:ea typeface="+mn-ea"/>
                          <a:cs typeface="+mn-cs"/>
                        </a:rPr>
                        <a:t>的商城购物类功能满意度</a:t>
                      </a:r>
                    </a:p>
                    <a:p>
                      <a:pPr marL="0" indent="0" algn="l" fontAlgn="b">
                        <a:lnSpc>
                          <a:spcPct val="150000"/>
                        </a:lnSpc>
                        <a:buFont typeface="+mj-lt"/>
                        <a:buNone/>
                      </a:pPr>
                      <a:r>
                        <a:rPr lang="en-US" altLang="zh-CN" sz="1400" b="0" i="0" u="none" strike="noStrike" kern="1200" dirty="0">
                          <a:solidFill>
                            <a:srgbClr val="C00000"/>
                          </a:solidFill>
                          <a:effectLst/>
                          <a:latin typeface="+mn-ea"/>
                          <a:ea typeface="+mn-ea"/>
                          <a:cs typeface="+mn-cs"/>
                        </a:rPr>
                        <a:t>3. </a:t>
                      </a:r>
                      <a:r>
                        <a:rPr lang="zh-CN" altLang="en-US" sz="1400" b="0" i="0" u="none" strike="noStrike" kern="1200" dirty="0">
                          <a:solidFill>
                            <a:srgbClr val="C00000"/>
                          </a:solidFill>
                          <a:effectLst/>
                          <a:latin typeface="+mn-ea"/>
                          <a:ea typeface="+mn-ea"/>
                          <a:cs typeface="+mn-cs"/>
                        </a:rPr>
                        <a:t>官方</a:t>
                      </a:r>
                      <a:r>
                        <a:rPr lang="en-US" altLang="zh-CN" sz="1400" b="0" i="0" u="none" strike="noStrike" kern="1200" dirty="0">
                          <a:solidFill>
                            <a:srgbClr val="C00000"/>
                          </a:solidFill>
                          <a:effectLst/>
                          <a:latin typeface="+mn-ea"/>
                          <a:ea typeface="+mn-ea"/>
                          <a:cs typeface="+mn-cs"/>
                        </a:rPr>
                        <a:t>APP</a:t>
                      </a:r>
                      <a:r>
                        <a:rPr lang="zh-CN" altLang="en-US" sz="1400" b="0" i="0" u="none" strike="noStrike" kern="1200" dirty="0">
                          <a:solidFill>
                            <a:srgbClr val="C00000"/>
                          </a:solidFill>
                          <a:effectLst/>
                          <a:latin typeface="+mn-ea"/>
                          <a:ea typeface="+mn-ea"/>
                          <a:cs typeface="+mn-cs"/>
                        </a:rPr>
                        <a:t>的资讯及信息内容质量</a:t>
                      </a:r>
                    </a:p>
                    <a:p>
                      <a:pPr marL="0" indent="0" algn="l" fontAlgn="b">
                        <a:lnSpc>
                          <a:spcPct val="150000"/>
                        </a:lnSpc>
                        <a:buFont typeface="+mj-lt"/>
                        <a:buNone/>
                      </a:pPr>
                      <a:r>
                        <a:rPr lang="en-US" altLang="zh-CN" sz="1400" b="0" i="0" u="none" strike="noStrike" kern="1200" dirty="0">
                          <a:solidFill>
                            <a:srgbClr val="C00000"/>
                          </a:solidFill>
                          <a:effectLst/>
                          <a:latin typeface="+mn-ea"/>
                          <a:ea typeface="+mn-ea"/>
                          <a:cs typeface="+mn-cs"/>
                        </a:rPr>
                        <a:t>4. </a:t>
                      </a:r>
                      <a:r>
                        <a:rPr lang="zh-CN" altLang="en-US" sz="1400" b="0" i="0" u="none" strike="noStrike" kern="1200" dirty="0">
                          <a:solidFill>
                            <a:srgbClr val="C00000"/>
                          </a:solidFill>
                          <a:effectLst/>
                          <a:latin typeface="+mn-ea"/>
                          <a:ea typeface="+mn-ea"/>
                          <a:cs typeface="+mn-cs"/>
                        </a:rPr>
                        <a:t>官方</a:t>
                      </a:r>
                      <a:r>
                        <a:rPr lang="en-US" altLang="zh-CN" sz="1400" b="0" i="0" u="none" strike="noStrike" kern="1200" dirty="0">
                          <a:solidFill>
                            <a:srgbClr val="C00000"/>
                          </a:solidFill>
                          <a:effectLst/>
                          <a:latin typeface="+mn-ea"/>
                          <a:ea typeface="+mn-ea"/>
                          <a:cs typeface="+mn-cs"/>
                        </a:rPr>
                        <a:t>APP</a:t>
                      </a:r>
                      <a:r>
                        <a:rPr lang="zh-CN" altLang="en-US" sz="1400" b="0" i="0" u="none" strike="noStrike" kern="1200" dirty="0">
                          <a:solidFill>
                            <a:srgbClr val="C00000"/>
                          </a:solidFill>
                          <a:effectLst/>
                          <a:latin typeface="+mn-ea"/>
                          <a:ea typeface="+mn-ea"/>
                          <a:cs typeface="+mn-cs"/>
                        </a:rPr>
                        <a:t>的功能丰富程度</a:t>
                      </a:r>
                    </a:p>
                    <a:p>
                      <a:pPr marL="0" indent="0" algn="l" fontAlgn="b">
                        <a:lnSpc>
                          <a:spcPct val="150000"/>
                        </a:lnSpc>
                        <a:buFont typeface="+mj-lt"/>
                        <a:buNone/>
                      </a:pPr>
                      <a:r>
                        <a:rPr lang="en-US" altLang="zh-CN" sz="1400" b="0" i="0" u="none" strike="noStrike" kern="1200" dirty="0">
                          <a:solidFill>
                            <a:srgbClr val="C00000"/>
                          </a:solidFill>
                          <a:effectLst/>
                          <a:latin typeface="+mn-ea"/>
                          <a:ea typeface="+mn-ea"/>
                          <a:cs typeface="+mn-cs"/>
                        </a:rPr>
                        <a:t>5. </a:t>
                      </a:r>
                      <a:r>
                        <a:rPr lang="zh-CN" altLang="en-US" sz="1400" b="0" i="0" u="none" strike="noStrike" kern="1200" dirty="0">
                          <a:solidFill>
                            <a:srgbClr val="C00000"/>
                          </a:solidFill>
                          <a:effectLst/>
                          <a:latin typeface="+mn-ea"/>
                          <a:ea typeface="+mn-ea"/>
                          <a:cs typeface="+mn-cs"/>
                        </a:rPr>
                        <a:t>线上互动活动功能满意度</a:t>
                      </a: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 name="文本框 1"/>
          <p:cNvSpPr txBox="1"/>
          <p:nvPr>
            <p:custDataLst>
              <p:tags r:id="rId1"/>
            </p:custDataLst>
          </p:nvPr>
        </p:nvSpPr>
        <p:spPr>
          <a:xfrm>
            <a:off x="2321164" y="6381757"/>
            <a:ext cx="9966325" cy="26161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300"/>
              </a:spcBef>
              <a:spcAft>
                <a:spcPts val="0"/>
              </a:spcAft>
              <a:buClrTx/>
              <a:buSzTx/>
              <a:buFont typeface="Wingdings" panose="05000000000000000000" charset="0"/>
              <a:buChar char="l"/>
              <a:tabLst/>
              <a:defRPr/>
            </a:pPr>
            <a:r>
              <a:rPr kumimoji="0" lang="zh-CN" altLang="en-US" sz="1100" b="1" i="0" u="none" strike="noStrike" kern="1200" cap="none" spc="0" normalizeH="0" baseline="0" noProof="0" dirty="0">
                <a:ln>
                  <a:noFill/>
                </a:ln>
                <a:solidFill>
                  <a:srgbClr val="181818"/>
                </a:solidFill>
                <a:effectLst/>
                <a:uLnTx/>
                <a:uFillTx/>
                <a:latin typeface="DIN Pro"/>
                <a:ea typeface="Alibaba PuHuiTi 2.0 55 Regular"/>
                <a:cs typeface="+mn-cs"/>
              </a:rPr>
              <a:t>抖音、小红书满意度的体验用户占比相对较少，样本量低</a:t>
            </a:r>
            <a:endParaRPr kumimoji="0" lang="en-US" altLang="zh-CN" sz="1100" b="1" i="0" u="none" strike="noStrike" kern="1200" cap="none" spc="0" normalizeH="0" baseline="0" noProof="0" dirty="0">
              <a:ln>
                <a:noFill/>
              </a:ln>
              <a:solidFill>
                <a:srgbClr val="181818"/>
              </a:solidFill>
              <a:effectLst/>
              <a:uLnTx/>
              <a:uFillTx/>
              <a:latin typeface="DIN Pro"/>
              <a:ea typeface="Alibaba PuHuiTi 2.0 55 Regular"/>
              <a:cs typeface="+mn-cs"/>
            </a:endParaRPr>
          </a:p>
        </p:txBody>
      </p:sp>
      <p:cxnSp>
        <p:nvCxnSpPr>
          <p:cNvPr id="7" name="直接连接符 6">
            <a:extLst>
              <a:ext uri="{FF2B5EF4-FFF2-40B4-BE49-F238E27FC236}">
                <a16:creationId xmlns:a16="http://schemas.microsoft.com/office/drawing/2014/main" id="{48A51256-1AFB-56F6-200B-C05CACFCF82E}"/>
              </a:ext>
            </a:extLst>
          </p:cNvPr>
          <p:cNvCxnSpPr>
            <a:cxnSpLocks/>
          </p:cNvCxnSpPr>
          <p:nvPr/>
        </p:nvCxnSpPr>
        <p:spPr>
          <a:xfrm>
            <a:off x="302944" y="2285717"/>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3E64A69C-8F4D-CD37-7473-EAC08EF70653}"/>
              </a:ext>
            </a:extLst>
          </p:cNvPr>
          <p:cNvCxnSpPr>
            <a:cxnSpLocks/>
          </p:cNvCxnSpPr>
          <p:nvPr/>
        </p:nvCxnSpPr>
        <p:spPr>
          <a:xfrm>
            <a:off x="5171660" y="2285716"/>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DEFD8905-46CF-1052-BFC0-863AE1F9C78D}"/>
              </a:ext>
            </a:extLst>
          </p:cNvPr>
          <p:cNvCxnSpPr>
            <a:cxnSpLocks/>
          </p:cNvCxnSpPr>
          <p:nvPr/>
        </p:nvCxnSpPr>
        <p:spPr>
          <a:xfrm>
            <a:off x="6736044" y="2272128"/>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80D2712D-D324-5288-C3C9-EA3067B1DF34}"/>
              </a:ext>
            </a:extLst>
          </p:cNvPr>
          <p:cNvCxnSpPr>
            <a:cxnSpLocks/>
          </p:cNvCxnSpPr>
          <p:nvPr/>
        </p:nvCxnSpPr>
        <p:spPr>
          <a:xfrm>
            <a:off x="4234217" y="2285716"/>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8441F87-4CFA-3CFF-F2CF-75D4F41E6AB9}"/>
              </a:ext>
            </a:extLst>
          </p:cNvPr>
          <p:cNvCxnSpPr>
            <a:cxnSpLocks/>
          </p:cNvCxnSpPr>
          <p:nvPr/>
        </p:nvCxnSpPr>
        <p:spPr>
          <a:xfrm>
            <a:off x="6086008" y="2272128"/>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C4EB7E53-A6F6-3EC0-CA4C-ECECD9ABE20C}"/>
              </a:ext>
            </a:extLst>
          </p:cNvPr>
          <p:cNvCxnSpPr>
            <a:cxnSpLocks/>
          </p:cNvCxnSpPr>
          <p:nvPr/>
        </p:nvCxnSpPr>
        <p:spPr>
          <a:xfrm>
            <a:off x="8769851" y="2272128"/>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7A678D99-B60F-9D5E-B65F-2084827F6BF7}"/>
              </a:ext>
            </a:extLst>
          </p:cNvPr>
          <p:cNvSpPr txBox="1"/>
          <p:nvPr/>
        </p:nvSpPr>
        <p:spPr>
          <a:xfrm>
            <a:off x="667247" y="2285717"/>
            <a:ext cx="3737695"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B5B5B6"/>
                </a:solidFill>
                <a:effectLst/>
                <a:uLnTx/>
                <a:uFillTx/>
                <a:latin typeface="DIN Pro"/>
                <a:ea typeface="Alibaba PuHuiTi 2.0 55 Regular"/>
                <a:cs typeface="+mn-cs"/>
              </a:rPr>
              <a:t> 官方</a:t>
            </a:r>
            <a:r>
              <a:rPr kumimoji="0" lang="en-US" altLang="zh-CN" sz="1000" b="0" i="0" u="none" strike="noStrike" kern="1200" cap="none" spc="0" normalizeH="0" baseline="0" noProof="0" dirty="0">
                <a:ln>
                  <a:noFill/>
                </a:ln>
                <a:solidFill>
                  <a:srgbClr val="B5B5B6"/>
                </a:solidFill>
                <a:effectLst/>
                <a:uLnTx/>
                <a:uFillTx/>
                <a:latin typeface="DIN Pro"/>
                <a:ea typeface="Alibaba PuHuiTi 2.0 55 Regular"/>
                <a:cs typeface="+mn-cs"/>
              </a:rPr>
              <a:t>APP</a:t>
            </a:r>
            <a:endParaRPr kumimoji="0" lang="zh-CN" altLang="en-US" sz="1000" b="0" i="0" u="none" strike="noStrike" kern="1200" cap="none" spc="0" normalizeH="0" baseline="0" noProof="0" dirty="0">
              <a:ln>
                <a:noFill/>
              </a:ln>
              <a:solidFill>
                <a:srgbClr val="B5B5B6"/>
              </a:solidFill>
              <a:effectLst/>
              <a:uLnTx/>
              <a:uFillTx/>
              <a:latin typeface="DIN Pro"/>
              <a:ea typeface="Alibaba PuHuiTi 2.0 55 Regular"/>
              <a:cs typeface="+mn-cs"/>
            </a:endParaRPr>
          </a:p>
        </p:txBody>
      </p:sp>
      <p:sp>
        <p:nvSpPr>
          <p:cNvPr id="20" name="文本框 19">
            <a:extLst>
              <a:ext uri="{FF2B5EF4-FFF2-40B4-BE49-F238E27FC236}">
                <a16:creationId xmlns:a16="http://schemas.microsoft.com/office/drawing/2014/main" id="{A4784B29-6211-CBE0-4247-954FD439B2FD}"/>
              </a:ext>
            </a:extLst>
          </p:cNvPr>
          <p:cNvSpPr txBox="1"/>
          <p:nvPr/>
        </p:nvSpPr>
        <p:spPr>
          <a:xfrm>
            <a:off x="6063623" y="2285717"/>
            <a:ext cx="694016"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B5B5B6"/>
                </a:solidFill>
                <a:effectLst/>
                <a:uLnTx/>
                <a:uFillTx/>
                <a:latin typeface="DIN Pro"/>
                <a:ea typeface="Alibaba PuHuiTi 2.0 55 Regular"/>
                <a:cs typeface="+mn-cs"/>
              </a:rPr>
              <a:t> 抖音</a:t>
            </a:r>
          </a:p>
        </p:txBody>
      </p:sp>
      <p:sp>
        <p:nvSpPr>
          <p:cNvPr id="21" name="文本框 20">
            <a:extLst>
              <a:ext uri="{FF2B5EF4-FFF2-40B4-BE49-F238E27FC236}">
                <a16:creationId xmlns:a16="http://schemas.microsoft.com/office/drawing/2014/main" id="{4BC003CB-E8B7-A139-807C-5D9ECA17E3FD}"/>
              </a:ext>
            </a:extLst>
          </p:cNvPr>
          <p:cNvSpPr txBox="1"/>
          <p:nvPr/>
        </p:nvSpPr>
        <p:spPr>
          <a:xfrm>
            <a:off x="4191834" y="2285717"/>
            <a:ext cx="958693"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B5B5B6"/>
                </a:solidFill>
                <a:effectLst/>
                <a:uLnTx/>
                <a:uFillTx/>
                <a:latin typeface="DIN Pro"/>
                <a:ea typeface="Alibaba PuHuiTi 2.0 55 Regular"/>
                <a:cs typeface="+mn-cs"/>
              </a:rPr>
              <a:t> 微信订阅号</a:t>
            </a:r>
          </a:p>
        </p:txBody>
      </p:sp>
      <p:sp>
        <p:nvSpPr>
          <p:cNvPr id="22" name="文本框 21">
            <a:extLst>
              <a:ext uri="{FF2B5EF4-FFF2-40B4-BE49-F238E27FC236}">
                <a16:creationId xmlns:a16="http://schemas.microsoft.com/office/drawing/2014/main" id="{E05EB30C-3497-3AB1-4959-F7CB61FCF7A7}"/>
              </a:ext>
            </a:extLst>
          </p:cNvPr>
          <p:cNvSpPr txBox="1"/>
          <p:nvPr/>
        </p:nvSpPr>
        <p:spPr>
          <a:xfrm>
            <a:off x="5151526" y="2285717"/>
            <a:ext cx="958706"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B5B5B6"/>
                </a:solidFill>
                <a:effectLst/>
                <a:uLnTx/>
                <a:uFillTx/>
                <a:latin typeface="DIN Pro"/>
                <a:ea typeface="Alibaba PuHuiTi 2.0 55 Regular"/>
                <a:cs typeface="+mn-cs"/>
              </a:rPr>
              <a:t> 微信小程序</a:t>
            </a:r>
          </a:p>
        </p:txBody>
      </p:sp>
      <p:graphicFrame>
        <p:nvGraphicFramePr>
          <p:cNvPr id="15" name="表格 24">
            <a:extLst>
              <a:ext uri="{FF2B5EF4-FFF2-40B4-BE49-F238E27FC236}">
                <a16:creationId xmlns:a16="http://schemas.microsoft.com/office/drawing/2014/main" id="{12963997-9FC2-F6EC-17C8-69BAC08E9B7B}"/>
              </a:ext>
            </a:extLst>
          </p:cNvPr>
          <p:cNvGraphicFramePr>
            <a:graphicFrameLocks noGrp="1"/>
          </p:cNvGraphicFramePr>
          <p:nvPr/>
        </p:nvGraphicFramePr>
        <p:xfrm>
          <a:off x="400659" y="4361212"/>
          <a:ext cx="8375838" cy="1766900"/>
        </p:xfrm>
        <a:graphic>
          <a:graphicData uri="http://schemas.openxmlformats.org/drawingml/2006/table">
            <a:tbl>
              <a:tblPr firstRow="1" bandRow="1">
                <a:tableStyleId>{5C22544A-7EE6-4342-B048-85BDC9FD1C3A}</a:tableStyleId>
              </a:tblPr>
              <a:tblGrid>
                <a:gridCol w="226374">
                  <a:extLst>
                    <a:ext uri="{9D8B030D-6E8A-4147-A177-3AD203B41FA5}">
                      <a16:colId xmlns:a16="http://schemas.microsoft.com/office/drawing/2014/main" val="1299002921"/>
                    </a:ext>
                  </a:extLst>
                </a:gridCol>
                <a:gridCol w="226374">
                  <a:extLst>
                    <a:ext uri="{9D8B030D-6E8A-4147-A177-3AD203B41FA5}">
                      <a16:colId xmlns:a16="http://schemas.microsoft.com/office/drawing/2014/main" val="773706502"/>
                    </a:ext>
                  </a:extLst>
                </a:gridCol>
                <a:gridCol w="226374">
                  <a:extLst>
                    <a:ext uri="{9D8B030D-6E8A-4147-A177-3AD203B41FA5}">
                      <a16:colId xmlns:a16="http://schemas.microsoft.com/office/drawing/2014/main" val="3714061587"/>
                    </a:ext>
                  </a:extLst>
                </a:gridCol>
                <a:gridCol w="226374">
                  <a:extLst>
                    <a:ext uri="{9D8B030D-6E8A-4147-A177-3AD203B41FA5}">
                      <a16:colId xmlns:a16="http://schemas.microsoft.com/office/drawing/2014/main" val="1871828135"/>
                    </a:ext>
                  </a:extLst>
                </a:gridCol>
                <a:gridCol w="226374">
                  <a:extLst>
                    <a:ext uri="{9D8B030D-6E8A-4147-A177-3AD203B41FA5}">
                      <a16:colId xmlns:a16="http://schemas.microsoft.com/office/drawing/2014/main" val="573552289"/>
                    </a:ext>
                  </a:extLst>
                </a:gridCol>
                <a:gridCol w="226374">
                  <a:extLst>
                    <a:ext uri="{9D8B030D-6E8A-4147-A177-3AD203B41FA5}">
                      <a16:colId xmlns:a16="http://schemas.microsoft.com/office/drawing/2014/main" val="3508107577"/>
                    </a:ext>
                  </a:extLst>
                </a:gridCol>
                <a:gridCol w="226374">
                  <a:extLst>
                    <a:ext uri="{9D8B030D-6E8A-4147-A177-3AD203B41FA5}">
                      <a16:colId xmlns:a16="http://schemas.microsoft.com/office/drawing/2014/main" val="503393093"/>
                    </a:ext>
                  </a:extLst>
                </a:gridCol>
                <a:gridCol w="226374">
                  <a:extLst>
                    <a:ext uri="{9D8B030D-6E8A-4147-A177-3AD203B41FA5}">
                      <a16:colId xmlns:a16="http://schemas.microsoft.com/office/drawing/2014/main" val="1652532482"/>
                    </a:ext>
                  </a:extLst>
                </a:gridCol>
                <a:gridCol w="226374">
                  <a:extLst>
                    <a:ext uri="{9D8B030D-6E8A-4147-A177-3AD203B41FA5}">
                      <a16:colId xmlns:a16="http://schemas.microsoft.com/office/drawing/2014/main" val="2849376128"/>
                    </a:ext>
                  </a:extLst>
                </a:gridCol>
                <a:gridCol w="226374">
                  <a:extLst>
                    <a:ext uri="{9D8B030D-6E8A-4147-A177-3AD203B41FA5}">
                      <a16:colId xmlns:a16="http://schemas.microsoft.com/office/drawing/2014/main" val="2831631325"/>
                    </a:ext>
                  </a:extLst>
                </a:gridCol>
                <a:gridCol w="226374">
                  <a:extLst>
                    <a:ext uri="{9D8B030D-6E8A-4147-A177-3AD203B41FA5}">
                      <a16:colId xmlns:a16="http://schemas.microsoft.com/office/drawing/2014/main" val="695196916"/>
                    </a:ext>
                  </a:extLst>
                </a:gridCol>
                <a:gridCol w="226374">
                  <a:extLst>
                    <a:ext uri="{9D8B030D-6E8A-4147-A177-3AD203B41FA5}">
                      <a16:colId xmlns:a16="http://schemas.microsoft.com/office/drawing/2014/main" val="926333055"/>
                    </a:ext>
                  </a:extLst>
                </a:gridCol>
                <a:gridCol w="226374">
                  <a:extLst>
                    <a:ext uri="{9D8B030D-6E8A-4147-A177-3AD203B41FA5}">
                      <a16:colId xmlns:a16="http://schemas.microsoft.com/office/drawing/2014/main" val="90560458"/>
                    </a:ext>
                  </a:extLst>
                </a:gridCol>
                <a:gridCol w="226374">
                  <a:extLst>
                    <a:ext uri="{9D8B030D-6E8A-4147-A177-3AD203B41FA5}">
                      <a16:colId xmlns:a16="http://schemas.microsoft.com/office/drawing/2014/main" val="1962672549"/>
                    </a:ext>
                  </a:extLst>
                </a:gridCol>
                <a:gridCol w="226374">
                  <a:extLst>
                    <a:ext uri="{9D8B030D-6E8A-4147-A177-3AD203B41FA5}">
                      <a16:colId xmlns:a16="http://schemas.microsoft.com/office/drawing/2014/main" val="1302685409"/>
                    </a:ext>
                  </a:extLst>
                </a:gridCol>
                <a:gridCol w="226374">
                  <a:extLst>
                    <a:ext uri="{9D8B030D-6E8A-4147-A177-3AD203B41FA5}">
                      <a16:colId xmlns:a16="http://schemas.microsoft.com/office/drawing/2014/main" val="1624575931"/>
                    </a:ext>
                  </a:extLst>
                </a:gridCol>
                <a:gridCol w="226374">
                  <a:extLst>
                    <a:ext uri="{9D8B030D-6E8A-4147-A177-3AD203B41FA5}">
                      <a16:colId xmlns:a16="http://schemas.microsoft.com/office/drawing/2014/main" val="3865203015"/>
                    </a:ext>
                  </a:extLst>
                </a:gridCol>
                <a:gridCol w="226374">
                  <a:extLst>
                    <a:ext uri="{9D8B030D-6E8A-4147-A177-3AD203B41FA5}">
                      <a16:colId xmlns:a16="http://schemas.microsoft.com/office/drawing/2014/main" val="3391241708"/>
                    </a:ext>
                  </a:extLst>
                </a:gridCol>
                <a:gridCol w="226374">
                  <a:extLst>
                    <a:ext uri="{9D8B030D-6E8A-4147-A177-3AD203B41FA5}">
                      <a16:colId xmlns:a16="http://schemas.microsoft.com/office/drawing/2014/main" val="3978795645"/>
                    </a:ext>
                  </a:extLst>
                </a:gridCol>
                <a:gridCol w="226374">
                  <a:extLst>
                    <a:ext uri="{9D8B030D-6E8A-4147-A177-3AD203B41FA5}">
                      <a16:colId xmlns:a16="http://schemas.microsoft.com/office/drawing/2014/main" val="1953615603"/>
                    </a:ext>
                  </a:extLst>
                </a:gridCol>
                <a:gridCol w="226374">
                  <a:extLst>
                    <a:ext uri="{9D8B030D-6E8A-4147-A177-3AD203B41FA5}">
                      <a16:colId xmlns:a16="http://schemas.microsoft.com/office/drawing/2014/main" val="3895983875"/>
                    </a:ext>
                  </a:extLst>
                </a:gridCol>
                <a:gridCol w="226374">
                  <a:extLst>
                    <a:ext uri="{9D8B030D-6E8A-4147-A177-3AD203B41FA5}">
                      <a16:colId xmlns:a16="http://schemas.microsoft.com/office/drawing/2014/main" val="3532344596"/>
                    </a:ext>
                  </a:extLst>
                </a:gridCol>
                <a:gridCol w="226374">
                  <a:extLst>
                    <a:ext uri="{9D8B030D-6E8A-4147-A177-3AD203B41FA5}">
                      <a16:colId xmlns:a16="http://schemas.microsoft.com/office/drawing/2014/main" val="3613306123"/>
                    </a:ext>
                  </a:extLst>
                </a:gridCol>
                <a:gridCol w="226374">
                  <a:extLst>
                    <a:ext uri="{9D8B030D-6E8A-4147-A177-3AD203B41FA5}">
                      <a16:colId xmlns:a16="http://schemas.microsoft.com/office/drawing/2014/main" val="68102991"/>
                    </a:ext>
                  </a:extLst>
                </a:gridCol>
                <a:gridCol w="226374">
                  <a:extLst>
                    <a:ext uri="{9D8B030D-6E8A-4147-A177-3AD203B41FA5}">
                      <a16:colId xmlns:a16="http://schemas.microsoft.com/office/drawing/2014/main" val="956229007"/>
                    </a:ext>
                  </a:extLst>
                </a:gridCol>
                <a:gridCol w="226374">
                  <a:extLst>
                    <a:ext uri="{9D8B030D-6E8A-4147-A177-3AD203B41FA5}">
                      <a16:colId xmlns:a16="http://schemas.microsoft.com/office/drawing/2014/main" val="4243204045"/>
                    </a:ext>
                  </a:extLst>
                </a:gridCol>
                <a:gridCol w="226374">
                  <a:extLst>
                    <a:ext uri="{9D8B030D-6E8A-4147-A177-3AD203B41FA5}">
                      <a16:colId xmlns:a16="http://schemas.microsoft.com/office/drawing/2014/main" val="3806298215"/>
                    </a:ext>
                  </a:extLst>
                </a:gridCol>
                <a:gridCol w="226374">
                  <a:extLst>
                    <a:ext uri="{9D8B030D-6E8A-4147-A177-3AD203B41FA5}">
                      <a16:colId xmlns:a16="http://schemas.microsoft.com/office/drawing/2014/main" val="840775031"/>
                    </a:ext>
                  </a:extLst>
                </a:gridCol>
                <a:gridCol w="226374">
                  <a:extLst>
                    <a:ext uri="{9D8B030D-6E8A-4147-A177-3AD203B41FA5}">
                      <a16:colId xmlns:a16="http://schemas.microsoft.com/office/drawing/2014/main" val="3529724185"/>
                    </a:ext>
                  </a:extLst>
                </a:gridCol>
                <a:gridCol w="226374">
                  <a:extLst>
                    <a:ext uri="{9D8B030D-6E8A-4147-A177-3AD203B41FA5}">
                      <a16:colId xmlns:a16="http://schemas.microsoft.com/office/drawing/2014/main" val="741419"/>
                    </a:ext>
                  </a:extLst>
                </a:gridCol>
                <a:gridCol w="226374">
                  <a:extLst>
                    <a:ext uri="{9D8B030D-6E8A-4147-A177-3AD203B41FA5}">
                      <a16:colId xmlns:a16="http://schemas.microsoft.com/office/drawing/2014/main" val="498871872"/>
                    </a:ext>
                  </a:extLst>
                </a:gridCol>
                <a:gridCol w="226374">
                  <a:extLst>
                    <a:ext uri="{9D8B030D-6E8A-4147-A177-3AD203B41FA5}">
                      <a16:colId xmlns:a16="http://schemas.microsoft.com/office/drawing/2014/main" val="364420253"/>
                    </a:ext>
                  </a:extLst>
                </a:gridCol>
                <a:gridCol w="226374">
                  <a:extLst>
                    <a:ext uri="{9D8B030D-6E8A-4147-A177-3AD203B41FA5}">
                      <a16:colId xmlns:a16="http://schemas.microsoft.com/office/drawing/2014/main" val="3737393382"/>
                    </a:ext>
                  </a:extLst>
                </a:gridCol>
                <a:gridCol w="226374">
                  <a:extLst>
                    <a:ext uri="{9D8B030D-6E8A-4147-A177-3AD203B41FA5}">
                      <a16:colId xmlns:a16="http://schemas.microsoft.com/office/drawing/2014/main" val="1026106690"/>
                    </a:ext>
                  </a:extLst>
                </a:gridCol>
                <a:gridCol w="226374">
                  <a:extLst>
                    <a:ext uri="{9D8B030D-6E8A-4147-A177-3AD203B41FA5}">
                      <a16:colId xmlns:a16="http://schemas.microsoft.com/office/drawing/2014/main" val="575919838"/>
                    </a:ext>
                  </a:extLst>
                </a:gridCol>
                <a:gridCol w="226374">
                  <a:extLst>
                    <a:ext uri="{9D8B030D-6E8A-4147-A177-3AD203B41FA5}">
                      <a16:colId xmlns:a16="http://schemas.microsoft.com/office/drawing/2014/main" val="1117979874"/>
                    </a:ext>
                  </a:extLst>
                </a:gridCol>
                <a:gridCol w="226374">
                  <a:extLst>
                    <a:ext uri="{9D8B030D-6E8A-4147-A177-3AD203B41FA5}">
                      <a16:colId xmlns:a16="http://schemas.microsoft.com/office/drawing/2014/main" val="3795959354"/>
                    </a:ext>
                  </a:extLst>
                </a:gridCol>
              </a:tblGrid>
              <a:tr h="1766900">
                <a:tc>
                  <a:txBody>
                    <a:bodyPr/>
                    <a:lstStyle/>
                    <a:p>
                      <a:pPr algn="l" fontAlgn="t"/>
                      <a:r>
                        <a:rPr lang="zh-CN" altLang="en-US" sz="800" b="0" i="0" u="none" strike="noStrike">
                          <a:solidFill>
                            <a:srgbClr val="000000"/>
                          </a:solidFill>
                          <a:effectLst/>
                          <a:latin typeface="+mn-ea"/>
                          <a:ea typeface="+mn-ea"/>
                        </a:rPr>
                        <a:t>官方平台客服沟通</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dirty="0">
                          <a:solidFill>
                            <a:srgbClr val="000000"/>
                          </a:solidFill>
                          <a:effectLst/>
                          <a:latin typeface="+mn-ea"/>
                          <a:ea typeface="+mn-ea"/>
                        </a:rPr>
                        <a:t>官方</a:t>
                      </a:r>
                      <a:r>
                        <a:rPr lang="en-US" altLang="zh-CN" sz="800" b="0" i="0" u="none" strike="noStrike" dirty="0">
                          <a:solidFill>
                            <a:srgbClr val="000000"/>
                          </a:solidFill>
                          <a:effectLst/>
                          <a:latin typeface="+mn-ea"/>
                          <a:ea typeface="+mn-ea"/>
                        </a:rPr>
                        <a:t>APP</a:t>
                      </a:r>
                      <a:r>
                        <a:rPr lang="zh-CN" altLang="en-US" sz="800" b="0" i="0" u="none" strike="noStrike" dirty="0">
                          <a:solidFill>
                            <a:srgbClr val="000000"/>
                          </a:solidFill>
                          <a:effectLst/>
                          <a:latin typeface="+mn-ea"/>
                          <a:ea typeface="+mn-ea"/>
                        </a:rPr>
                        <a:t>的整体流畅度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1" i="0" u="none" strike="noStrike" dirty="0">
                          <a:solidFill>
                            <a:srgbClr val="C00000"/>
                          </a:solidFill>
                          <a:effectLst/>
                          <a:latin typeface="+mn-ea"/>
                          <a:ea typeface="+mn-ea"/>
                        </a:rPr>
                        <a:t>官方</a:t>
                      </a:r>
                      <a:r>
                        <a:rPr lang="en-US" sz="800" b="1" i="0" u="none" strike="noStrike" dirty="0">
                          <a:solidFill>
                            <a:srgbClr val="C00000"/>
                          </a:solidFill>
                          <a:effectLst/>
                          <a:latin typeface="+mn-ea"/>
                          <a:ea typeface="+mn-ea"/>
                        </a:rPr>
                        <a:t>APP</a:t>
                      </a:r>
                      <a:r>
                        <a:rPr lang="zh-CN" altLang="en-US" sz="800" b="1" i="0" u="none" strike="noStrike" dirty="0">
                          <a:solidFill>
                            <a:srgbClr val="C00000"/>
                          </a:solidFill>
                          <a:effectLst/>
                          <a:latin typeface="+mn-ea"/>
                          <a:ea typeface="+mn-ea"/>
                        </a:rPr>
                        <a:t>的功能丰富程度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dirty="0">
                          <a:solidFill>
                            <a:srgbClr val="000000"/>
                          </a:solidFill>
                          <a:effectLst/>
                          <a:latin typeface="+mn-ea"/>
                          <a:ea typeface="+mn-ea"/>
                        </a:rPr>
                        <a:t>产品信息类功能满意度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1" i="0" u="none" strike="noStrike" dirty="0">
                          <a:solidFill>
                            <a:srgbClr val="4B8D56"/>
                          </a:solidFill>
                          <a:effectLst/>
                          <a:latin typeface="+mn-ea"/>
                          <a:ea typeface="+mn-ea"/>
                        </a:rPr>
                        <a:t>购车辅助类功能满意度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a:solidFill>
                            <a:srgbClr val="000000"/>
                          </a:solidFill>
                          <a:effectLst/>
                          <a:latin typeface="+mn-ea"/>
                          <a:ea typeface="+mn-ea"/>
                        </a:rPr>
                        <a:t>控车功能类功能满意度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a:solidFill>
                            <a:srgbClr val="000000"/>
                          </a:solidFill>
                          <a:effectLst/>
                          <a:latin typeface="+mn-ea"/>
                          <a:ea typeface="+mn-ea"/>
                        </a:rPr>
                        <a:t>用车辅助类功能满意度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1" i="0" u="none" strike="noStrike" dirty="0">
                          <a:solidFill>
                            <a:srgbClr val="C00000"/>
                          </a:solidFill>
                          <a:effectLst/>
                          <a:latin typeface="+mn-ea"/>
                          <a:ea typeface="+mn-ea"/>
                        </a:rPr>
                        <a:t>商城购物类功能满意度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a:solidFill>
                            <a:srgbClr val="000000"/>
                          </a:solidFill>
                          <a:effectLst/>
                          <a:latin typeface="+mn-ea"/>
                          <a:ea typeface="+mn-ea"/>
                        </a:rPr>
                        <a:t>社交社群类功能满意度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a:solidFill>
                            <a:srgbClr val="000000"/>
                          </a:solidFill>
                          <a:effectLst/>
                          <a:latin typeface="+mn-ea"/>
                          <a:ea typeface="+mn-ea"/>
                        </a:rPr>
                        <a:t>信息资讯类功能满意度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1" i="0" u="none" strike="noStrike">
                          <a:solidFill>
                            <a:srgbClr val="C00000"/>
                          </a:solidFill>
                          <a:effectLst/>
                          <a:latin typeface="+mn-ea"/>
                          <a:ea typeface="+mn-ea"/>
                        </a:rPr>
                        <a:t>线上互动活动功能满意度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1" i="0" u="none" strike="noStrike" dirty="0">
                          <a:solidFill>
                            <a:srgbClr val="C00000"/>
                          </a:solidFill>
                          <a:effectLst/>
                          <a:latin typeface="+mn-ea"/>
                          <a:ea typeface="+mn-ea"/>
                        </a:rPr>
                        <a:t>信息反馈类功能满意度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a:solidFill>
                            <a:srgbClr val="000000"/>
                          </a:solidFill>
                          <a:effectLst/>
                          <a:latin typeface="+mn-ea"/>
                          <a:ea typeface="+mn-ea"/>
                        </a:rPr>
                        <a:t>官方</a:t>
                      </a:r>
                      <a:r>
                        <a:rPr lang="en-US" altLang="zh-CN" sz="800" b="0" i="0" u="none" strike="noStrike">
                          <a:solidFill>
                            <a:srgbClr val="000000"/>
                          </a:solidFill>
                          <a:effectLst/>
                          <a:latin typeface="+mn-ea"/>
                          <a:ea typeface="+mn-ea"/>
                        </a:rPr>
                        <a:t>APP</a:t>
                      </a:r>
                      <a:r>
                        <a:rPr lang="zh-CN" altLang="en-US" sz="800" b="0" i="0" u="none" strike="noStrike">
                          <a:solidFill>
                            <a:srgbClr val="000000"/>
                          </a:solidFill>
                          <a:effectLst/>
                          <a:latin typeface="+mn-ea"/>
                          <a:ea typeface="+mn-ea"/>
                        </a:rPr>
                        <a:t>的设计美观程度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1" i="0" u="none" strike="noStrike" dirty="0">
                          <a:solidFill>
                            <a:srgbClr val="C00000"/>
                          </a:solidFill>
                          <a:effectLst/>
                          <a:latin typeface="+mn-ea"/>
                          <a:ea typeface="+mn-ea"/>
                        </a:rPr>
                        <a:t>官方</a:t>
                      </a:r>
                      <a:r>
                        <a:rPr lang="en-US" altLang="zh-CN" sz="800" b="1" i="0" u="none" strike="noStrike" dirty="0">
                          <a:solidFill>
                            <a:srgbClr val="C00000"/>
                          </a:solidFill>
                          <a:effectLst/>
                          <a:latin typeface="+mn-ea"/>
                          <a:ea typeface="+mn-ea"/>
                        </a:rPr>
                        <a:t>APP</a:t>
                      </a:r>
                      <a:r>
                        <a:rPr lang="zh-CN" altLang="en-US" sz="800" b="1" i="0" u="none" strike="noStrike" dirty="0">
                          <a:solidFill>
                            <a:srgbClr val="C00000"/>
                          </a:solidFill>
                          <a:effectLst/>
                          <a:latin typeface="+mn-ea"/>
                          <a:ea typeface="+mn-ea"/>
                        </a:rPr>
                        <a:t>的资讯及信息内容质量</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a:solidFill>
                            <a:srgbClr val="000000"/>
                          </a:solidFill>
                          <a:effectLst/>
                          <a:latin typeface="+mn-ea"/>
                          <a:ea typeface="+mn-ea"/>
                        </a:rPr>
                        <a:t>官方</a:t>
                      </a:r>
                      <a:r>
                        <a:rPr lang="en-US" altLang="zh-CN" sz="800" b="0" i="0" u="none" strike="noStrike">
                          <a:solidFill>
                            <a:srgbClr val="000000"/>
                          </a:solidFill>
                          <a:effectLst/>
                          <a:latin typeface="+mn-ea"/>
                          <a:ea typeface="+mn-ea"/>
                        </a:rPr>
                        <a:t>APP</a:t>
                      </a:r>
                      <a:r>
                        <a:rPr lang="zh-CN" altLang="en-US" sz="800" b="0" i="0" u="none" strike="noStrike">
                          <a:solidFill>
                            <a:srgbClr val="000000"/>
                          </a:solidFill>
                          <a:effectLst/>
                          <a:latin typeface="+mn-ea"/>
                          <a:ea typeface="+mn-ea"/>
                        </a:rPr>
                        <a:t>的车辆控制功能丰富程度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a:solidFill>
                            <a:srgbClr val="000000"/>
                          </a:solidFill>
                          <a:effectLst/>
                          <a:latin typeface="+mn-ea"/>
                          <a:ea typeface="+mn-ea"/>
                        </a:rPr>
                        <a:t>官方</a:t>
                      </a:r>
                      <a:r>
                        <a:rPr lang="en-US" altLang="zh-CN" sz="800" b="0" i="0" u="none" strike="noStrike">
                          <a:solidFill>
                            <a:srgbClr val="000000"/>
                          </a:solidFill>
                          <a:effectLst/>
                          <a:latin typeface="+mn-ea"/>
                          <a:ea typeface="+mn-ea"/>
                        </a:rPr>
                        <a:t>APP</a:t>
                      </a:r>
                      <a:r>
                        <a:rPr lang="zh-CN" altLang="en-US" sz="800" b="0" i="0" u="none" strike="noStrike">
                          <a:solidFill>
                            <a:srgbClr val="000000"/>
                          </a:solidFill>
                          <a:effectLst/>
                          <a:latin typeface="+mn-ea"/>
                          <a:ea typeface="+mn-ea"/>
                        </a:rPr>
                        <a:t>的车辆服务功能丰富程度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a:solidFill>
                            <a:srgbClr val="000000"/>
                          </a:solidFill>
                          <a:effectLst/>
                          <a:latin typeface="+mn-ea"/>
                          <a:ea typeface="+mn-ea"/>
                        </a:rPr>
                        <a:t>官方</a:t>
                      </a:r>
                      <a:r>
                        <a:rPr lang="en-US" altLang="zh-CN" sz="800" b="0" i="0" u="none" strike="noStrike">
                          <a:solidFill>
                            <a:srgbClr val="000000"/>
                          </a:solidFill>
                          <a:effectLst/>
                          <a:latin typeface="+mn-ea"/>
                          <a:ea typeface="+mn-ea"/>
                        </a:rPr>
                        <a:t>APP</a:t>
                      </a:r>
                      <a:r>
                        <a:rPr lang="zh-CN" altLang="en-US" sz="800" b="0" i="0" u="none" strike="noStrike">
                          <a:solidFill>
                            <a:srgbClr val="000000"/>
                          </a:solidFill>
                          <a:effectLst/>
                          <a:latin typeface="+mn-ea"/>
                          <a:ea typeface="+mn-ea"/>
                        </a:rPr>
                        <a:t>的互动体验</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dirty="0">
                          <a:solidFill>
                            <a:srgbClr val="000000"/>
                          </a:solidFill>
                          <a:effectLst/>
                          <a:latin typeface="+mn-ea"/>
                          <a:ea typeface="+mn-ea"/>
                        </a:rPr>
                        <a:t>官方微信订阅号等的使用流畅度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dirty="0">
                          <a:solidFill>
                            <a:srgbClr val="000000"/>
                          </a:solidFill>
                          <a:effectLst/>
                          <a:latin typeface="+mn-ea"/>
                          <a:ea typeface="+mn-ea"/>
                        </a:rPr>
                        <a:t>官方微信订阅号等的内容丰富度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dirty="0">
                          <a:solidFill>
                            <a:srgbClr val="000000"/>
                          </a:solidFill>
                          <a:effectLst/>
                          <a:latin typeface="+mn-ea"/>
                          <a:ea typeface="+mn-ea"/>
                        </a:rPr>
                        <a:t>官方微信订阅号等的设计美观度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a:solidFill>
                            <a:srgbClr val="000000"/>
                          </a:solidFill>
                          <a:effectLst/>
                          <a:latin typeface="+mn-ea"/>
                          <a:ea typeface="+mn-ea"/>
                        </a:rPr>
                        <a:t>官方微信订阅号等的整体内容质量</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1" i="0" u="none" strike="noStrike" dirty="0">
                          <a:solidFill>
                            <a:srgbClr val="4B8D56"/>
                          </a:solidFill>
                          <a:effectLst/>
                          <a:latin typeface="+mn-ea"/>
                          <a:ea typeface="+mn-ea"/>
                        </a:rPr>
                        <a:t>官方微信小程序的整体流畅度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1" i="0" u="none" strike="noStrike" dirty="0">
                          <a:solidFill>
                            <a:srgbClr val="4B8D56"/>
                          </a:solidFill>
                          <a:effectLst/>
                          <a:latin typeface="+mn-ea"/>
                          <a:ea typeface="+mn-ea"/>
                        </a:rPr>
                        <a:t>官方微信小程序的内容丰富度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dirty="0">
                          <a:solidFill>
                            <a:srgbClr val="000000"/>
                          </a:solidFill>
                          <a:effectLst/>
                          <a:latin typeface="+mn-ea"/>
                          <a:ea typeface="+mn-ea"/>
                        </a:rPr>
                        <a:t>官方微信小程序的页面设计美观程度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dirty="0">
                          <a:solidFill>
                            <a:srgbClr val="000000"/>
                          </a:solidFill>
                          <a:effectLst/>
                          <a:latin typeface="+mn-ea"/>
                          <a:ea typeface="+mn-ea"/>
                        </a:rPr>
                        <a:t>官方微信小程序的整体内容质量</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dirty="0">
                          <a:solidFill>
                            <a:srgbClr val="000000"/>
                          </a:solidFill>
                          <a:effectLst/>
                          <a:latin typeface="+mn-ea"/>
                          <a:ea typeface="+mn-ea"/>
                        </a:rPr>
                        <a:t>官方抖音作品的吸引力和印象深度程度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a:solidFill>
                            <a:srgbClr val="000000"/>
                          </a:solidFill>
                          <a:effectLst/>
                          <a:latin typeface="+mn-ea"/>
                          <a:ea typeface="+mn-ea"/>
                        </a:rPr>
                        <a:t>官方抖音作品的制作精良水平</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a:solidFill>
                            <a:srgbClr val="000000"/>
                          </a:solidFill>
                          <a:effectLst/>
                          <a:latin typeface="+mn-ea"/>
                          <a:ea typeface="+mn-ea"/>
                        </a:rPr>
                        <a:t>官方抖音账号的作品更新频率</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dirty="0">
                          <a:solidFill>
                            <a:srgbClr val="000000"/>
                          </a:solidFill>
                          <a:effectLst/>
                          <a:latin typeface="+mn-ea"/>
                          <a:ea typeface="+mn-ea"/>
                        </a:rPr>
                        <a:t>官方小红书作品吸引力和印象深度程度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dirty="0">
                          <a:solidFill>
                            <a:srgbClr val="000000"/>
                          </a:solidFill>
                          <a:effectLst/>
                          <a:latin typeface="+mn-ea"/>
                          <a:ea typeface="+mn-ea"/>
                        </a:rPr>
                        <a:t>官方小红书作品的制作精良水平</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dirty="0">
                          <a:solidFill>
                            <a:srgbClr val="000000"/>
                          </a:solidFill>
                          <a:effectLst/>
                          <a:latin typeface="+mn-ea"/>
                          <a:ea typeface="+mn-ea"/>
                        </a:rPr>
                        <a:t>官方小红书账号的作品更新频率</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dirty="0">
                          <a:solidFill>
                            <a:srgbClr val="000000"/>
                          </a:solidFill>
                          <a:effectLst/>
                          <a:latin typeface="+mn-ea"/>
                          <a:ea typeface="+mn-ea"/>
                        </a:rPr>
                        <a:t>会员商城的商品丰富性</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1" i="0" u="none" strike="noStrike" dirty="0">
                          <a:solidFill>
                            <a:srgbClr val="4B8D56"/>
                          </a:solidFill>
                          <a:effectLst/>
                          <a:latin typeface="+mn-ea"/>
                          <a:ea typeface="+mn-ea"/>
                        </a:rPr>
                        <a:t>会员商城的订单处理及发货体验</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1" i="0" u="none" strike="noStrike" dirty="0">
                          <a:solidFill>
                            <a:srgbClr val="4B8D56"/>
                          </a:solidFill>
                          <a:effectLst/>
                          <a:latin typeface="+mn-ea"/>
                          <a:ea typeface="+mn-ea"/>
                        </a:rPr>
                        <a:t>线上商城的退货流程合理程度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a:solidFill>
                            <a:srgbClr val="000000"/>
                          </a:solidFill>
                          <a:effectLst/>
                          <a:latin typeface="+mn-ea"/>
                          <a:ea typeface="+mn-ea"/>
                        </a:rPr>
                        <a:t>线上商城的总体评价如何</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dirty="0">
                          <a:solidFill>
                            <a:srgbClr val="000000"/>
                          </a:solidFill>
                          <a:effectLst/>
                          <a:latin typeface="+mn-ea"/>
                          <a:ea typeface="+mn-ea"/>
                        </a:rPr>
                        <a:t>会员积分使用渠道丰富性</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t"/>
                      <a:r>
                        <a:rPr lang="zh-CN" altLang="en-US" sz="800" b="0" i="0" u="none" strike="noStrike" dirty="0">
                          <a:solidFill>
                            <a:srgbClr val="000000"/>
                          </a:solidFill>
                          <a:effectLst/>
                          <a:latin typeface="+mn-ea"/>
                          <a:ea typeface="+mn-ea"/>
                        </a:rPr>
                        <a:t>会员积分的兑换快捷度</a:t>
                      </a:r>
                    </a:p>
                  </a:txBody>
                  <a:tcPr marL="7620" marR="7620" marT="7620" marB="0" vert="ea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645839816"/>
                  </a:ext>
                </a:extLst>
              </a:tr>
            </a:tbl>
          </a:graphicData>
        </a:graphic>
      </p:graphicFrame>
      <p:sp>
        <p:nvSpPr>
          <p:cNvPr id="25" name="文本框 24">
            <a:extLst>
              <a:ext uri="{FF2B5EF4-FFF2-40B4-BE49-F238E27FC236}">
                <a16:creationId xmlns:a16="http://schemas.microsoft.com/office/drawing/2014/main" id="{0F952179-A775-61CA-F02B-C01C25891323}"/>
              </a:ext>
            </a:extLst>
          </p:cNvPr>
          <p:cNvSpPr txBox="1"/>
          <p:nvPr/>
        </p:nvSpPr>
        <p:spPr>
          <a:xfrm>
            <a:off x="6737000" y="2285717"/>
            <a:ext cx="694016"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B5B5B6"/>
                </a:solidFill>
                <a:effectLst/>
                <a:uLnTx/>
                <a:uFillTx/>
                <a:latin typeface="DIN Pro"/>
                <a:ea typeface="Alibaba PuHuiTi 2.0 55 Regular"/>
                <a:cs typeface="+mn-cs"/>
              </a:rPr>
              <a:t>  小红书</a:t>
            </a:r>
          </a:p>
        </p:txBody>
      </p:sp>
      <p:cxnSp>
        <p:nvCxnSpPr>
          <p:cNvPr id="26" name="直接连接符 25">
            <a:extLst>
              <a:ext uri="{FF2B5EF4-FFF2-40B4-BE49-F238E27FC236}">
                <a16:creationId xmlns:a16="http://schemas.microsoft.com/office/drawing/2014/main" id="{A74354ED-98BE-211F-31B7-458772E74108}"/>
              </a:ext>
            </a:extLst>
          </p:cNvPr>
          <p:cNvCxnSpPr>
            <a:cxnSpLocks/>
          </p:cNvCxnSpPr>
          <p:nvPr/>
        </p:nvCxnSpPr>
        <p:spPr>
          <a:xfrm>
            <a:off x="7422765" y="2308900"/>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E7764E8C-D866-5933-CA66-C4A8F06DFE5C}"/>
              </a:ext>
            </a:extLst>
          </p:cNvPr>
          <p:cNvSpPr txBox="1"/>
          <p:nvPr/>
        </p:nvSpPr>
        <p:spPr>
          <a:xfrm>
            <a:off x="7354290" y="2285717"/>
            <a:ext cx="1488674" cy="2462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B5B5B6"/>
                </a:solidFill>
                <a:effectLst/>
                <a:uLnTx/>
                <a:uFillTx/>
                <a:latin typeface="DIN Pro"/>
                <a:ea typeface="Alibaba PuHuiTi 2.0 55 Regular"/>
                <a:cs typeface="+mn-cs"/>
              </a:rPr>
              <a:t>商城及积分</a:t>
            </a:r>
          </a:p>
        </p:txBody>
      </p:sp>
      <p:sp>
        <p:nvSpPr>
          <p:cNvPr id="23" name="文本占位符 22">
            <a:extLst>
              <a:ext uri="{FF2B5EF4-FFF2-40B4-BE49-F238E27FC236}">
                <a16:creationId xmlns:a16="http://schemas.microsoft.com/office/drawing/2014/main" id="{61B46428-1DCD-CA89-7250-3916E9CFDF32}"/>
              </a:ext>
            </a:extLst>
          </p:cNvPr>
          <p:cNvSpPr>
            <a:spLocks noGrp="1"/>
          </p:cNvSpPr>
          <p:nvPr>
            <p:ph type="body" sz="quarter" idx="22"/>
          </p:nvPr>
        </p:nvSpPr>
        <p:spPr/>
        <p:txBody>
          <a:bodyPr/>
          <a:lstStyle/>
          <a:p>
            <a:r>
              <a:rPr lang="zh-CN" altLang="en-US" dirty="0"/>
              <a:t>某品牌车主对微信小程序流畅度、官方</a:t>
            </a:r>
            <a:r>
              <a:rPr lang="en-US" altLang="zh-CN" dirty="0"/>
              <a:t>APP</a:t>
            </a:r>
            <a:r>
              <a:rPr lang="zh-CN" altLang="en-US" dirty="0"/>
              <a:t>购车辅助类功能等最满意，对</a:t>
            </a:r>
            <a:r>
              <a:rPr lang="en-US" altLang="zh-CN" dirty="0"/>
              <a:t>APP</a:t>
            </a:r>
            <a:r>
              <a:rPr lang="zh-CN" altLang="en-US" dirty="0"/>
              <a:t>的信息反馈类功能等满意度较低；</a:t>
            </a:r>
          </a:p>
        </p:txBody>
      </p:sp>
      <p:cxnSp>
        <p:nvCxnSpPr>
          <p:cNvPr id="24" name="直接连接符 23">
            <a:extLst>
              <a:ext uri="{FF2B5EF4-FFF2-40B4-BE49-F238E27FC236}">
                <a16:creationId xmlns:a16="http://schemas.microsoft.com/office/drawing/2014/main" id="{36A38EE1-6982-44AF-B7B4-C4932E54CA74}"/>
              </a:ext>
            </a:extLst>
          </p:cNvPr>
          <p:cNvCxnSpPr>
            <a:cxnSpLocks/>
          </p:cNvCxnSpPr>
          <p:nvPr/>
        </p:nvCxnSpPr>
        <p:spPr>
          <a:xfrm>
            <a:off x="667247" y="2272128"/>
            <a:ext cx="0" cy="4034663"/>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B4C2FADD-EE88-48C2-9D27-20F9AEF42974}"/>
              </a:ext>
            </a:extLst>
          </p:cNvPr>
          <p:cNvSpPr txBox="1"/>
          <p:nvPr/>
        </p:nvSpPr>
        <p:spPr>
          <a:xfrm>
            <a:off x="231009" y="2219809"/>
            <a:ext cx="509162" cy="5078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srgbClr val="B5B5B6"/>
                </a:solidFill>
                <a:effectLst/>
                <a:uLnTx/>
                <a:uFillTx/>
                <a:latin typeface="DIN Pro"/>
                <a:ea typeface="Alibaba PuHuiTi 2.0 55 Regular"/>
                <a:cs typeface="+mn-cs"/>
              </a:rPr>
              <a:t> 官方</a:t>
            </a:r>
            <a:r>
              <a:rPr lang="zh-CN" altLang="en-US" sz="900" dirty="0">
                <a:solidFill>
                  <a:srgbClr val="B5B5B6"/>
                </a:solidFill>
                <a:latin typeface="DIN Pro"/>
                <a:ea typeface="Alibaba PuHuiTi 2.0 55 Regular"/>
              </a:rPr>
              <a:t>平台沟通</a:t>
            </a:r>
            <a:endParaRPr kumimoji="0" lang="zh-CN" altLang="en-US" sz="900" b="0" i="0" u="none" strike="noStrike" kern="1200" cap="none" spc="0" normalizeH="0" baseline="0" noProof="0" dirty="0">
              <a:ln>
                <a:noFill/>
              </a:ln>
              <a:solidFill>
                <a:srgbClr val="B5B5B6"/>
              </a:solidFill>
              <a:effectLst/>
              <a:uLnTx/>
              <a:uFillTx/>
              <a:latin typeface="DIN Pro"/>
              <a:ea typeface="Alibaba PuHuiTi 2.0 55 Regular"/>
              <a:cs typeface="+mn-cs"/>
            </a:endParaRPr>
          </a:p>
        </p:txBody>
      </p:sp>
    </p:spTree>
    <p:extLst>
      <p:ext uri="{BB962C8B-B14F-4D97-AF65-F5344CB8AC3E}">
        <p14:creationId xmlns:p14="http://schemas.microsoft.com/office/powerpoint/2010/main" val="1522463281"/>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539B8395-7912-D988-BAA8-CA4FA273F79D}"/>
              </a:ext>
            </a:extLst>
          </p:cNvPr>
          <p:cNvSpPr>
            <a:spLocks noGrp="1"/>
          </p:cNvSpPr>
          <p:nvPr>
            <p:ph type="body" sz="quarter" idx="13"/>
          </p:nvPr>
        </p:nvSpPr>
        <p:spPr/>
        <p:txBody>
          <a:bodyPr/>
          <a:lstStyle/>
          <a:p>
            <a:r>
              <a:rPr lang="zh-CN" altLang="en-US" dirty="0"/>
              <a:t>行业洞见</a:t>
            </a:r>
          </a:p>
        </p:txBody>
      </p:sp>
      <p:sp>
        <p:nvSpPr>
          <p:cNvPr id="7" name="文本占位符 6">
            <a:extLst>
              <a:ext uri="{FF2B5EF4-FFF2-40B4-BE49-F238E27FC236}">
                <a16:creationId xmlns:a16="http://schemas.microsoft.com/office/drawing/2014/main" id="{45410047-E2DD-5521-39C0-1CC78BF52187}"/>
              </a:ext>
            </a:extLst>
          </p:cNvPr>
          <p:cNvSpPr>
            <a:spLocks noGrp="1"/>
          </p:cNvSpPr>
          <p:nvPr>
            <p:ph type="body" sz="quarter" idx="12"/>
          </p:nvPr>
        </p:nvSpPr>
        <p:spPr/>
        <p:txBody>
          <a:bodyPr/>
          <a:lstStyle/>
          <a:p>
            <a:r>
              <a:rPr lang="en-US" altLang="zh-CN" dirty="0"/>
              <a:t>6</a:t>
            </a:r>
            <a:endParaRPr lang="zh-CN" altLang="en-US" dirty="0"/>
          </a:p>
        </p:txBody>
      </p:sp>
      <p:sp>
        <p:nvSpPr>
          <p:cNvPr id="5" name="灯片编号占位符 4">
            <a:extLst>
              <a:ext uri="{FF2B5EF4-FFF2-40B4-BE49-F238E27FC236}">
                <a16:creationId xmlns:a16="http://schemas.microsoft.com/office/drawing/2014/main" id="{5ABB1340-0A6D-D0F9-5611-9B1B999658B6}"/>
              </a:ext>
            </a:extLst>
          </p:cNvPr>
          <p:cNvSpPr>
            <a:spLocks noGrp="1"/>
          </p:cNvSpPr>
          <p:nvPr>
            <p:ph type="sldNum" sz="quarter" idx="4"/>
          </p:nvPr>
        </p:nvSpPr>
        <p:spPr/>
        <p:txBody>
          <a:bodyPr/>
          <a:lstStyle/>
          <a:p>
            <a:fld id="{04824671-56D2-5D44-834F-250C3DA554E9}" type="slidenum">
              <a:rPr lang="zh-CN" altLang="en-US" smtClean="0"/>
              <a:t>54</a:t>
            </a:fld>
            <a:endParaRPr lang="zh-CN" altLang="en-US" dirty="0"/>
          </a:p>
        </p:txBody>
      </p:sp>
      <p:sp>
        <p:nvSpPr>
          <p:cNvPr id="3" name="文本占位符 2">
            <a:extLst>
              <a:ext uri="{FF2B5EF4-FFF2-40B4-BE49-F238E27FC236}">
                <a16:creationId xmlns:a16="http://schemas.microsoft.com/office/drawing/2014/main" id="{F81A3746-9D7E-756E-8121-AAF1F3E299C2}"/>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6765664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21"/>
          </p:nvPr>
        </p:nvSpPr>
        <p:spPr/>
        <p:txBody>
          <a:bodyPr/>
          <a:lstStyle/>
          <a:p>
            <a:r>
              <a:rPr kumimoji="1" lang="zh-CN" altLang="en-US" dirty="0">
                <a:latin typeface="微软雅黑" panose="020B0503020204020204" pitchFamily="34" charset="-122"/>
                <a:ea typeface="微软雅黑" panose="020B0503020204020204" pitchFamily="34" charset="-122"/>
              </a:rPr>
              <a:t>行业发展方向</a:t>
            </a:r>
            <a:r>
              <a:rPr kumimoji="1" lang="en-US" altLang="zh-CN" dirty="0">
                <a:latin typeface="微软雅黑" panose="020B0503020204020204" pitchFamily="34" charset="-122"/>
                <a:ea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rPr>
              <a:t>行业转变</a:t>
            </a:r>
          </a:p>
        </p:txBody>
      </p:sp>
      <p:sp>
        <p:nvSpPr>
          <p:cNvPr id="8" name="文本占位符 7"/>
          <p:cNvSpPr>
            <a:spLocks noGrp="1"/>
          </p:cNvSpPr>
          <p:nvPr>
            <p:ph type="body" sz="quarter" idx="22"/>
          </p:nvPr>
        </p:nvSpPr>
        <p:spPr/>
        <p:txBody>
          <a:bodyPr/>
          <a:lstStyle/>
          <a:p>
            <a:r>
              <a:rPr lang="zh-CN" altLang="en-US" sz="1800" dirty="0">
                <a:latin typeface="微软雅黑" panose="020B0503020204020204" pitchFamily="34" charset="-122"/>
                <a:ea typeface="微软雅黑" panose="020B0503020204020204" pitchFamily="34" charset="-122"/>
              </a:rPr>
              <a:t>汽车行业在从单纯买车向全场景服务体系转化</a:t>
            </a:r>
          </a:p>
        </p:txBody>
      </p:sp>
      <p:sp>
        <p:nvSpPr>
          <p:cNvPr id="5" name="灯片编号占位符 4"/>
          <p:cNvSpPr>
            <a:spLocks noGrp="1"/>
          </p:cNvSpPr>
          <p:nvPr>
            <p:ph type="sldNum" sz="quarter" idx="4"/>
          </p:nvPr>
        </p:nvSpPr>
        <p:spPr/>
        <p:txBody>
          <a:bodyPr/>
          <a:lstStyle/>
          <a:p>
            <a:fld id="{5BC33376-1D8B-E948-ACD6-AA21A3D30A8E}" type="slidenum">
              <a:rPr lang="zh-CN" altLang="en-US" smtClean="0">
                <a:latin typeface="微软雅黑" panose="020B0503020204020204" pitchFamily="34" charset="-122"/>
                <a:ea typeface="微软雅黑" panose="020B0503020204020204" pitchFamily="34" charset="-122"/>
              </a:rPr>
              <a:t>55</a:t>
            </a:fld>
            <a:endParaRPr lang="zh-CN" altLang="en-US" dirty="0">
              <a:latin typeface="微软雅黑" panose="020B0503020204020204" pitchFamily="34" charset="-122"/>
              <a:ea typeface="微软雅黑" panose="020B0503020204020204" pitchFamily="34" charset="-122"/>
            </a:endParaRPr>
          </a:p>
        </p:txBody>
      </p:sp>
      <p:grpSp>
        <p:nvGrpSpPr>
          <p:cNvPr id="56" name="组合 55">
            <a:extLst>
              <a:ext uri="{FF2B5EF4-FFF2-40B4-BE49-F238E27FC236}">
                <a16:creationId xmlns:a16="http://schemas.microsoft.com/office/drawing/2014/main" id="{536DC7AD-A054-0B63-1E1E-8ABFA7095420}"/>
              </a:ext>
            </a:extLst>
          </p:cNvPr>
          <p:cNvGrpSpPr/>
          <p:nvPr/>
        </p:nvGrpSpPr>
        <p:grpSpPr>
          <a:xfrm>
            <a:off x="302943" y="1213136"/>
            <a:ext cx="11625531" cy="5064737"/>
            <a:chOff x="302943" y="1213136"/>
            <a:chExt cx="11625531" cy="5064737"/>
          </a:xfrm>
        </p:grpSpPr>
        <p:sp>
          <p:nvSpPr>
            <p:cNvPr id="3" name="标题 1">
              <a:extLst>
                <a:ext uri="{FF2B5EF4-FFF2-40B4-BE49-F238E27FC236}">
                  <a16:creationId xmlns:a16="http://schemas.microsoft.com/office/drawing/2014/main" id="{8EFAF1B9-9B16-ABBC-1B05-EAD637642B00}"/>
                </a:ext>
              </a:extLst>
            </p:cNvPr>
            <p:cNvSpPr txBox="1">
              <a:spLocks/>
            </p:cNvSpPr>
            <p:nvPr/>
          </p:nvSpPr>
          <p:spPr>
            <a:xfrm>
              <a:off x="777631" y="1213136"/>
              <a:ext cx="10621108" cy="806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latin typeface="微软雅黑" panose="020B0503020204020204" pitchFamily="34" charset="-122"/>
                <a:ea typeface="微软雅黑" panose="020B0503020204020204" pitchFamily="34" charset="-122"/>
              </a:endParaRPr>
            </a:p>
          </p:txBody>
        </p:sp>
        <p:pic>
          <p:nvPicPr>
            <p:cNvPr id="4" name="picture 802">
              <a:extLst>
                <a:ext uri="{FF2B5EF4-FFF2-40B4-BE49-F238E27FC236}">
                  <a16:creationId xmlns:a16="http://schemas.microsoft.com/office/drawing/2014/main" id="{86FC547B-7EDE-F2C5-CCDE-3A5787A8B3C8}"/>
                </a:ext>
              </a:extLst>
            </p:cNvPr>
            <p:cNvPicPr>
              <a:picLocks noChangeAspect="1"/>
            </p:cNvPicPr>
            <p:nvPr/>
          </p:nvPicPr>
          <p:blipFill>
            <a:blip r:embed="rId3"/>
            <a:stretch>
              <a:fillRect/>
            </a:stretch>
          </p:blipFill>
          <p:spPr>
            <a:xfrm>
              <a:off x="3975018" y="3993885"/>
              <a:ext cx="215900" cy="360426"/>
            </a:xfrm>
            <a:prstGeom prst="rect">
              <a:avLst/>
            </a:prstGeom>
          </p:spPr>
        </p:pic>
        <p:sp>
          <p:nvSpPr>
            <p:cNvPr id="33" name="object 28">
              <a:extLst>
                <a:ext uri="{FF2B5EF4-FFF2-40B4-BE49-F238E27FC236}">
                  <a16:creationId xmlns:a16="http://schemas.microsoft.com/office/drawing/2014/main" id="{67265E83-7E42-E5F7-FD03-191D6E06D5EC}"/>
                </a:ext>
              </a:extLst>
            </p:cNvPr>
            <p:cNvSpPr txBox="1"/>
            <p:nvPr/>
          </p:nvSpPr>
          <p:spPr>
            <a:xfrm>
              <a:off x="5698954" y="1932769"/>
              <a:ext cx="690706" cy="19749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a:rPr>
                <a:t>NOW</a:t>
              </a:r>
              <a:endParaRPr kumimoji="0" sz="1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a:endParaRPr>
            </a:p>
          </p:txBody>
        </p:sp>
        <p:sp>
          <p:nvSpPr>
            <p:cNvPr id="37" name="文本框 36">
              <a:extLst>
                <a:ext uri="{FF2B5EF4-FFF2-40B4-BE49-F238E27FC236}">
                  <a16:creationId xmlns:a16="http://schemas.microsoft.com/office/drawing/2014/main" id="{62D9AD66-EB1C-0C59-65C7-D33219D23F49}"/>
                </a:ext>
              </a:extLst>
            </p:cNvPr>
            <p:cNvSpPr txBox="1"/>
            <p:nvPr/>
          </p:nvSpPr>
          <p:spPr>
            <a:xfrm>
              <a:off x="302944" y="1550595"/>
              <a:ext cx="1158089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服务的范围</a:t>
              </a:r>
            </a:p>
          </p:txBody>
        </p:sp>
        <p:grpSp>
          <p:nvGrpSpPr>
            <p:cNvPr id="42" name="组合 41">
              <a:extLst>
                <a:ext uri="{FF2B5EF4-FFF2-40B4-BE49-F238E27FC236}">
                  <a16:creationId xmlns:a16="http://schemas.microsoft.com/office/drawing/2014/main" id="{27FFCB63-ED4C-A84D-6379-0686067B18C3}"/>
                </a:ext>
              </a:extLst>
            </p:cNvPr>
            <p:cNvGrpSpPr/>
            <p:nvPr/>
          </p:nvGrpSpPr>
          <p:grpSpPr>
            <a:xfrm>
              <a:off x="4562868" y="3082727"/>
              <a:ext cx="2234922" cy="2443258"/>
              <a:chOff x="3563828" y="2647328"/>
              <a:chExt cx="2472400" cy="2702874"/>
            </a:xfrm>
          </p:grpSpPr>
          <p:sp>
            <p:nvSpPr>
              <p:cNvPr id="43" name="object 7">
                <a:extLst>
                  <a:ext uri="{FF2B5EF4-FFF2-40B4-BE49-F238E27FC236}">
                    <a16:creationId xmlns:a16="http://schemas.microsoft.com/office/drawing/2014/main" id="{D8BBC875-938B-1B17-3F91-CB02E96A103D}"/>
                  </a:ext>
                </a:extLst>
              </p:cNvPr>
              <p:cNvSpPr/>
              <p:nvPr/>
            </p:nvSpPr>
            <p:spPr>
              <a:xfrm>
                <a:off x="3853744" y="2928971"/>
                <a:ext cx="2159948" cy="2159947"/>
              </a:xfrm>
              <a:custGeom>
                <a:avLst/>
                <a:gdLst/>
                <a:ahLst/>
                <a:cxnLst/>
                <a:rect l="l" t="t" r="r" b="b"/>
                <a:pathLst>
                  <a:path w="2519679" h="2519679">
                    <a:moveTo>
                      <a:pt x="0" y="1259713"/>
                    </a:moveTo>
                    <a:lnTo>
                      <a:pt x="909" y="1211394"/>
                    </a:lnTo>
                    <a:lnTo>
                      <a:pt x="3616" y="1163535"/>
                    </a:lnTo>
                    <a:lnTo>
                      <a:pt x="8087" y="1116170"/>
                    </a:lnTo>
                    <a:lnTo>
                      <a:pt x="14290" y="1069329"/>
                    </a:lnTo>
                    <a:lnTo>
                      <a:pt x="22193" y="1023046"/>
                    </a:lnTo>
                    <a:lnTo>
                      <a:pt x="31762" y="977354"/>
                    </a:lnTo>
                    <a:lnTo>
                      <a:pt x="42965" y="932285"/>
                    </a:lnTo>
                    <a:lnTo>
                      <a:pt x="55770" y="887871"/>
                    </a:lnTo>
                    <a:lnTo>
                      <a:pt x="70144" y="844146"/>
                    </a:lnTo>
                    <a:lnTo>
                      <a:pt x="86055" y="801142"/>
                    </a:lnTo>
                    <a:lnTo>
                      <a:pt x="103469" y="758891"/>
                    </a:lnTo>
                    <a:lnTo>
                      <a:pt x="122354" y="717427"/>
                    </a:lnTo>
                    <a:lnTo>
                      <a:pt x="142678" y="676781"/>
                    </a:lnTo>
                    <a:lnTo>
                      <a:pt x="164407" y="636987"/>
                    </a:lnTo>
                    <a:lnTo>
                      <a:pt x="187510" y="598077"/>
                    </a:lnTo>
                    <a:lnTo>
                      <a:pt x="211954" y="560084"/>
                    </a:lnTo>
                    <a:lnTo>
                      <a:pt x="237706" y="523041"/>
                    </a:lnTo>
                    <a:lnTo>
                      <a:pt x="264733" y="486979"/>
                    </a:lnTo>
                    <a:lnTo>
                      <a:pt x="293004" y="451931"/>
                    </a:lnTo>
                    <a:lnTo>
                      <a:pt x="322484" y="417931"/>
                    </a:lnTo>
                    <a:lnTo>
                      <a:pt x="353142" y="385011"/>
                    </a:lnTo>
                    <a:lnTo>
                      <a:pt x="384945" y="353203"/>
                    </a:lnTo>
                    <a:lnTo>
                      <a:pt x="417861" y="322541"/>
                    </a:lnTo>
                    <a:lnTo>
                      <a:pt x="451857" y="293056"/>
                    </a:lnTo>
                    <a:lnTo>
                      <a:pt x="486900" y="264781"/>
                    </a:lnTo>
                    <a:lnTo>
                      <a:pt x="522957" y="237750"/>
                    </a:lnTo>
                    <a:lnTo>
                      <a:pt x="559997" y="211994"/>
                    </a:lnTo>
                    <a:lnTo>
                      <a:pt x="597986" y="187546"/>
                    </a:lnTo>
                    <a:lnTo>
                      <a:pt x="636892" y="164439"/>
                    </a:lnTo>
                    <a:lnTo>
                      <a:pt x="676682" y="142706"/>
                    </a:lnTo>
                    <a:lnTo>
                      <a:pt x="717324" y="122378"/>
                    </a:lnTo>
                    <a:lnTo>
                      <a:pt x="758785" y="103490"/>
                    </a:lnTo>
                    <a:lnTo>
                      <a:pt x="801032" y="86072"/>
                    </a:lnTo>
                    <a:lnTo>
                      <a:pt x="844033" y="70159"/>
                    </a:lnTo>
                    <a:lnTo>
                      <a:pt x="887756" y="55782"/>
                    </a:lnTo>
                    <a:lnTo>
                      <a:pt x="932167" y="42974"/>
                    </a:lnTo>
                    <a:lnTo>
                      <a:pt x="977233" y="31769"/>
                    </a:lnTo>
                    <a:lnTo>
                      <a:pt x="1022924" y="22197"/>
                    </a:lnTo>
                    <a:lnTo>
                      <a:pt x="1069205" y="14293"/>
                    </a:lnTo>
                    <a:lnTo>
                      <a:pt x="1116044" y="8089"/>
                    </a:lnTo>
                    <a:lnTo>
                      <a:pt x="1163409" y="3616"/>
                    </a:lnTo>
                    <a:lnTo>
                      <a:pt x="1211267" y="909"/>
                    </a:lnTo>
                    <a:lnTo>
                      <a:pt x="1259585" y="0"/>
                    </a:lnTo>
                    <a:lnTo>
                      <a:pt x="1307904" y="909"/>
                    </a:lnTo>
                    <a:lnTo>
                      <a:pt x="1355763" y="3616"/>
                    </a:lnTo>
                    <a:lnTo>
                      <a:pt x="1403128" y="8089"/>
                    </a:lnTo>
                    <a:lnTo>
                      <a:pt x="1449969" y="14293"/>
                    </a:lnTo>
                    <a:lnTo>
                      <a:pt x="1496252" y="22197"/>
                    </a:lnTo>
                    <a:lnTo>
                      <a:pt x="1541944" y="31769"/>
                    </a:lnTo>
                    <a:lnTo>
                      <a:pt x="1587013" y="42974"/>
                    </a:lnTo>
                    <a:lnTo>
                      <a:pt x="1631427" y="55782"/>
                    </a:lnTo>
                    <a:lnTo>
                      <a:pt x="1675152" y="70159"/>
                    </a:lnTo>
                    <a:lnTo>
                      <a:pt x="1718156" y="86072"/>
                    </a:lnTo>
                    <a:lnTo>
                      <a:pt x="1760407" y="103490"/>
                    </a:lnTo>
                    <a:lnTo>
                      <a:pt x="1801871" y="122378"/>
                    </a:lnTo>
                    <a:lnTo>
                      <a:pt x="1842517" y="142706"/>
                    </a:lnTo>
                    <a:lnTo>
                      <a:pt x="1882311" y="164439"/>
                    </a:lnTo>
                    <a:lnTo>
                      <a:pt x="1921221" y="187546"/>
                    </a:lnTo>
                    <a:lnTo>
                      <a:pt x="1959214" y="211994"/>
                    </a:lnTo>
                    <a:lnTo>
                      <a:pt x="1996257" y="237750"/>
                    </a:lnTo>
                    <a:lnTo>
                      <a:pt x="2032319" y="264781"/>
                    </a:lnTo>
                    <a:lnTo>
                      <a:pt x="2067367" y="293056"/>
                    </a:lnTo>
                    <a:lnTo>
                      <a:pt x="2101367" y="322541"/>
                    </a:lnTo>
                    <a:lnTo>
                      <a:pt x="2134287" y="353203"/>
                    </a:lnTo>
                    <a:lnTo>
                      <a:pt x="2166095" y="385011"/>
                    </a:lnTo>
                    <a:lnTo>
                      <a:pt x="2196757" y="417931"/>
                    </a:lnTo>
                    <a:lnTo>
                      <a:pt x="2226242" y="451931"/>
                    </a:lnTo>
                    <a:lnTo>
                      <a:pt x="2254517" y="486979"/>
                    </a:lnTo>
                    <a:lnTo>
                      <a:pt x="2281548" y="523041"/>
                    </a:lnTo>
                    <a:lnTo>
                      <a:pt x="2307304" y="560084"/>
                    </a:lnTo>
                    <a:lnTo>
                      <a:pt x="2331752" y="598077"/>
                    </a:lnTo>
                    <a:lnTo>
                      <a:pt x="2354859" y="636987"/>
                    </a:lnTo>
                    <a:lnTo>
                      <a:pt x="2376592" y="676781"/>
                    </a:lnTo>
                    <a:lnTo>
                      <a:pt x="2396920" y="717427"/>
                    </a:lnTo>
                    <a:lnTo>
                      <a:pt x="2415808" y="758891"/>
                    </a:lnTo>
                    <a:lnTo>
                      <a:pt x="2433226" y="801142"/>
                    </a:lnTo>
                    <a:lnTo>
                      <a:pt x="2449139" y="844146"/>
                    </a:lnTo>
                    <a:lnTo>
                      <a:pt x="2463516" y="887871"/>
                    </a:lnTo>
                    <a:lnTo>
                      <a:pt x="2476324" y="932285"/>
                    </a:lnTo>
                    <a:lnTo>
                      <a:pt x="2487529" y="977354"/>
                    </a:lnTo>
                    <a:lnTo>
                      <a:pt x="2497101" y="1023046"/>
                    </a:lnTo>
                    <a:lnTo>
                      <a:pt x="2505005" y="1069329"/>
                    </a:lnTo>
                    <a:lnTo>
                      <a:pt x="2511209" y="1116170"/>
                    </a:lnTo>
                    <a:lnTo>
                      <a:pt x="2515682" y="1163535"/>
                    </a:lnTo>
                    <a:lnTo>
                      <a:pt x="2518389" y="1211394"/>
                    </a:lnTo>
                    <a:lnTo>
                      <a:pt x="2519299" y="1259713"/>
                    </a:lnTo>
                    <a:lnTo>
                      <a:pt x="2518389" y="1308031"/>
                    </a:lnTo>
                    <a:lnTo>
                      <a:pt x="2515682" y="1355890"/>
                    </a:lnTo>
                    <a:lnTo>
                      <a:pt x="2511209" y="1403255"/>
                    </a:lnTo>
                    <a:lnTo>
                      <a:pt x="2505005" y="1450096"/>
                    </a:lnTo>
                    <a:lnTo>
                      <a:pt x="2497101" y="1496379"/>
                    </a:lnTo>
                    <a:lnTo>
                      <a:pt x="2487529" y="1542071"/>
                    </a:lnTo>
                    <a:lnTo>
                      <a:pt x="2476324" y="1587140"/>
                    </a:lnTo>
                    <a:lnTo>
                      <a:pt x="2463516" y="1631554"/>
                    </a:lnTo>
                    <a:lnTo>
                      <a:pt x="2449139" y="1675279"/>
                    </a:lnTo>
                    <a:lnTo>
                      <a:pt x="2433226" y="1718283"/>
                    </a:lnTo>
                    <a:lnTo>
                      <a:pt x="2415808" y="1760534"/>
                    </a:lnTo>
                    <a:lnTo>
                      <a:pt x="2396920" y="1801998"/>
                    </a:lnTo>
                    <a:lnTo>
                      <a:pt x="2376592" y="1842644"/>
                    </a:lnTo>
                    <a:lnTo>
                      <a:pt x="2354859" y="1882438"/>
                    </a:lnTo>
                    <a:lnTo>
                      <a:pt x="2331752" y="1921348"/>
                    </a:lnTo>
                    <a:lnTo>
                      <a:pt x="2307304" y="1959341"/>
                    </a:lnTo>
                    <a:lnTo>
                      <a:pt x="2281548" y="1996384"/>
                    </a:lnTo>
                    <a:lnTo>
                      <a:pt x="2254517" y="2032446"/>
                    </a:lnTo>
                    <a:lnTo>
                      <a:pt x="2226242" y="2067494"/>
                    </a:lnTo>
                    <a:lnTo>
                      <a:pt x="2196757" y="2101494"/>
                    </a:lnTo>
                    <a:lnTo>
                      <a:pt x="2166095" y="2134414"/>
                    </a:lnTo>
                    <a:lnTo>
                      <a:pt x="2134287" y="2166222"/>
                    </a:lnTo>
                    <a:lnTo>
                      <a:pt x="2101367" y="2196884"/>
                    </a:lnTo>
                    <a:lnTo>
                      <a:pt x="2067367" y="2226369"/>
                    </a:lnTo>
                    <a:lnTo>
                      <a:pt x="2032319" y="2254644"/>
                    </a:lnTo>
                    <a:lnTo>
                      <a:pt x="1996257" y="2281675"/>
                    </a:lnTo>
                    <a:lnTo>
                      <a:pt x="1959214" y="2307431"/>
                    </a:lnTo>
                    <a:lnTo>
                      <a:pt x="1921221" y="2331879"/>
                    </a:lnTo>
                    <a:lnTo>
                      <a:pt x="1882311" y="2354986"/>
                    </a:lnTo>
                    <a:lnTo>
                      <a:pt x="1842517" y="2376719"/>
                    </a:lnTo>
                    <a:lnTo>
                      <a:pt x="1801871" y="2397047"/>
                    </a:lnTo>
                    <a:lnTo>
                      <a:pt x="1760407" y="2415935"/>
                    </a:lnTo>
                    <a:lnTo>
                      <a:pt x="1718156" y="2433353"/>
                    </a:lnTo>
                    <a:lnTo>
                      <a:pt x="1675152" y="2449266"/>
                    </a:lnTo>
                    <a:lnTo>
                      <a:pt x="1631427" y="2463643"/>
                    </a:lnTo>
                    <a:lnTo>
                      <a:pt x="1587013" y="2476451"/>
                    </a:lnTo>
                    <a:lnTo>
                      <a:pt x="1541944" y="2487656"/>
                    </a:lnTo>
                    <a:lnTo>
                      <a:pt x="1496252" y="2497228"/>
                    </a:lnTo>
                    <a:lnTo>
                      <a:pt x="1449969" y="2505132"/>
                    </a:lnTo>
                    <a:lnTo>
                      <a:pt x="1403128" y="2511336"/>
                    </a:lnTo>
                    <a:lnTo>
                      <a:pt x="1355763" y="2515809"/>
                    </a:lnTo>
                    <a:lnTo>
                      <a:pt x="1307904" y="2518516"/>
                    </a:lnTo>
                    <a:lnTo>
                      <a:pt x="1259585" y="2519426"/>
                    </a:lnTo>
                    <a:lnTo>
                      <a:pt x="1211267" y="2518516"/>
                    </a:lnTo>
                    <a:lnTo>
                      <a:pt x="1163409" y="2515809"/>
                    </a:lnTo>
                    <a:lnTo>
                      <a:pt x="1116044" y="2511336"/>
                    </a:lnTo>
                    <a:lnTo>
                      <a:pt x="1069205" y="2505132"/>
                    </a:lnTo>
                    <a:lnTo>
                      <a:pt x="1022924" y="2497228"/>
                    </a:lnTo>
                    <a:lnTo>
                      <a:pt x="977233" y="2487656"/>
                    </a:lnTo>
                    <a:lnTo>
                      <a:pt x="932167" y="2476451"/>
                    </a:lnTo>
                    <a:lnTo>
                      <a:pt x="887756" y="2463643"/>
                    </a:lnTo>
                    <a:lnTo>
                      <a:pt x="844033" y="2449266"/>
                    </a:lnTo>
                    <a:lnTo>
                      <a:pt x="801032" y="2433353"/>
                    </a:lnTo>
                    <a:lnTo>
                      <a:pt x="758785" y="2415935"/>
                    </a:lnTo>
                    <a:lnTo>
                      <a:pt x="717324" y="2397047"/>
                    </a:lnTo>
                    <a:lnTo>
                      <a:pt x="676682" y="2376719"/>
                    </a:lnTo>
                    <a:lnTo>
                      <a:pt x="636892" y="2354986"/>
                    </a:lnTo>
                    <a:lnTo>
                      <a:pt x="597986" y="2331879"/>
                    </a:lnTo>
                    <a:lnTo>
                      <a:pt x="559997" y="2307431"/>
                    </a:lnTo>
                    <a:lnTo>
                      <a:pt x="522957" y="2281675"/>
                    </a:lnTo>
                    <a:lnTo>
                      <a:pt x="486900" y="2254644"/>
                    </a:lnTo>
                    <a:lnTo>
                      <a:pt x="451857" y="2226369"/>
                    </a:lnTo>
                    <a:lnTo>
                      <a:pt x="417861" y="2196884"/>
                    </a:lnTo>
                    <a:lnTo>
                      <a:pt x="384945" y="2166222"/>
                    </a:lnTo>
                    <a:lnTo>
                      <a:pt x="353142" y="2134414"/>
                    </a:lnTo>
                    <a:lnTo>
                      <a:pt x="322484" y="2101494"/>
                    </a:lnTo>
                    <a:lnTo>
                      <a:pt x="293004" y="2067494"/>
                    </a:lnTo>
                    <a:lnTo>
                      <a:pt x="264733" y="2032446"/>
                    </a:lnTo>
                    <a:lnTo>
                      <a:pt x="237706" y="1996384"/>
                    </a:lnTo>
                    <a:lnTo>
                      <a:pt x="211954" y="1959341"/>
                    </a:lnTo>
                    <a:lnTo>
                      <a:pt x="187510" y="1921348"/>
                    </a:lnTo>
                    <a:lnTo>
                      <a:pt x="164407" y="1882438"/>
                    </a:lnTo>
                    <a:lnTo>
                      <a:pt x="142678" y="1842644"/>
                    </a:lnTo>
                    <a:lnTo>
                      <a:pt x="122354" y="1801998"/>
                    </a:lnTo>
                    <a:lnTo>
                      <a:pt x="103469" y="1760534"/>
                    </a:lnTo>
                    <a:lnTo>
                      <a:pt x="86055" y="1718283"/>
                    </a:lnTo>
                    <a:lnTo>
                      <a:pt x="70144" y="1675279"/>
                    </a:lnTo>
                    <a:lnTo>
                      <a:pt x="55770" y="1631554"/>
                    </a:lnTo>
                    <a:lnTo>
                      <a:pt x="42965" y="1587140"/>
                    </a:lnTo>
                    <a:lnTo>
                      <a:pt x="31762" y="1542071"/>
                    </a:lnTo>
                    <a:lnTo>
                      <a:pt x="22193" y="1496379"/>
                    </a:lnTo>
                    <a:lnTo>
                      <a:pt x="14290" y="1450096"/>
                    </a:lnTo>
                    <a:lnTo>
                      <a:pt x="8087" y="1403255"/>
                    </a:lnTo>
                    <a:lnTo>
                      <a:pt x="3616" y="1355890"/>
                    </a:lnTo>
                    <a:lnTo>
                      <a:pt x="909" y="1308031"/>
                    </a:lnTo>
                    <a:lnTo>
                      <a:pt x="0" y="1259713"/>
                    </a:lnTo>
                    <a:close/>
                  </a:path>
                </a:pathLst>
              </a:custGeom>
              <a:ln w="9525">
                <a:solidFill>
                  <a:srgbClr val="00336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4" name="object 8">
                <a:extLst>
                  <a:ext uri="{FF2B5EF4-FFF2-40B4-BE49-F238E27FC236}">
                    <a16:creationId xmlns:a16="http://schemas.microsoft.com/office/drawing/2014/main" id="{96BB3463-593F-CF64-A7EF-86D3521831E9}"/>
                  </a:ext>
                </a:extLst>
              </p:cNvPr>
              <p:cNvSpPr/>
              <p:nvPr/>
            </p:nvSpPr>
            <p:spPr>
              <a:xfrm>
                <a:off x="3874103" y="2924942"/>
                <a:ext cx="616739" cy="616739"/>
              </a:xfrm>
              <a:custGeom>
                <a:avLst/>
                <a:gdLst/>
                <a:ahLst/>
                <a:cxnLst/>
                <a:rect l="l" t="t" r="r" b="b"/>
                <a:pathLst>
                  <a:path w="719454" h="719455">
                    <a:moveTo>
                      <a:pt x="359537" y="0"/>
                    </a:moveTo>
                    <a:lnTo>
                      <a:pt x="310763" y="3280"/>
                    </a:lnTo>
                    <a:lnTo>
                      <a:pt x="263980" y="12838"/>
                    </a:lnTo>
                    <a:lnTo>
                      <a:pt x="219616" y="28245"/>
                    </a:lnTo>
                    <a:lnTo>
                      <a:pt x="178101" y="49073"/>
                    </a:lnTo>
                    <a:lnTo>
                      <a:pt x="139862" y="74895"/>
                    </a:lnTo>
                    <a:lnTo>
                      <a:pt x="105330" y="105282"/>
                    </a:lnTo>
                    <a:lnTo>
                      <a:pt x="74934" y="139808"/>
                    </a:lnTo>
                    <a:lnTo>
                      <a:pt x="49101" y="178044"/>
                    </a:lnTo>
                    <a:lnTo>
                      <a:pt x="28263" y="219563"/>
                    </a:lnTo>
                    <a:lnTo>
                      <a:pt x="12847" y="263936"/>
                    </a:lnTo>
                    <a:lnTo>
                      <a:pt x="3283" y="310737"/>
                    </a:lnTo>
                    <a:lnTo>
                      <a:pt x="0" y="359537"/>
                    </a:lnTo>
                    <a:lnTo>
                      <a:pt x="3283" y="408310"/>
                    </a:lnTo>
                    <a:lnTo>
                      <a:pt x="12847" y="455093"/>
                    </a:lnTo>
                    <a:lnTo>
                      <a:pt x="28263" y="499457"/>
                    </a:lnTo>
                    <a:lnTo>
                      <a:pt x="49101" y="540972"/>
                    </a:lnTo>
                    <a:lnTo>
                      <a:pt x="74934" y="579211"/>
                    </a:lnTo>
                    <a:lnTo>
                      <a:pt x="105330" y="613743"/>
                    </a:lnTo>
                    <a:lnTo>
                      <a:pt x="139862" y="644139"/>
                    </a:lnTo>
                    <a:lnTo>
                      <a:pt x="178101" y="669972"/>
                    </a:lnTo>
                    <a:lnTo>
                      <a:pt x="219616" y="690810"/>
                    </a:lnTo>
                    <a:lnTo>
                      <a:pt x="263980" y="706226"/>
                    </a:lnTo>
                    <a:lnTo>
                      <a:pt x="310763" y="715790"/>
                    </a:lnTo>
                    <a:lnTo>
                      <a:pt x="359537" y="719074"/>
                    </a:lnTo>
                    <a:lnTo>
                      <a:pt x="408339" y="715790"/>
                    </a:lnTo>
                    <a:lnTo>
                      <a:pt x="455146" y="706226"/>
                    </a:lnTo>
                    <a:lnTo>
                      <a:pt x="499530" y="690810"/>
                    </a:lnTo>
                    <a:lnTo>
                      <a:pt x="541062" y="669972"/>
                    </a:lnTo>
                    <a:lnTo>
                      <a:pt x="579313" y="644139"/>
                    </a:lnTo>
                    <a:lnTo>
                      <a:pt x="613854" y="613743"/>
                    </a:lnTo>
                    <a:lnTo>
                      <a:pt x="644257" y="579211"/>
                    </a:lnTo>
                    <a:lnTo>
                      <a:pt x="670094" y="540972"/>
                    </a:lnTo>
                    <a:lnTo>
                      <a:pt x="690935" y="499457"/>
                    </a:lnTo>
                    <a:lnTo>
                      <a:pt x="706352" y="455093"/>
                    </a:lnTo>
                    <a:lnTo>
                      <a:pt x="715917" y="408310"/>
                    </a:lnTo>
                    <a:lnTo>
                      <a:pt x="719201" y="359537"/>
                    </a:lnTo>
                    <a:lnTo>
                      <a:pt x="715917" y="310737"/>
                    </a:lnTo>
                    <a:lnTo>
                      <a:pt x="706352" y="263936"/>
                    </a:lnTo>
                    <a:lnTo>
                      <a:pt x="690935" y="219563"/>
                    </a:lnTo>
                    <a:lnTo>
                      <a:pt x="670094" y="178044"/>
                    </a:lnTo>
                    <a:lnTo>
                      <a:pt x="644257" y="139808"/>
                    </a:lnTo>
                    <a:lnTo>
                      <a:pt x="613854" y="105283"/>
                    </a:lnTo>
                    <a:lnTo>
                      <a:pt x="579313" y="74895"/>
                    </a:lnTo>
                    <a:lnTo>
                      <a:pt x="541062" y="49073"/>
                    </a:lnTo>
                    <a:lnTo>
                      <a:pt x="499530" y="28245"/>
                    </a:lnTo>
                    <a:lnTo>
                      <a:pt x="455146" y="12838"/>
                    </a:lnTo>
                    <a:lnTo>
                      <a:pt x="408339" y="3280"/>
                    </a:lnTo>
                    <a:lnTo>
                      <a:pt x="359537" y="0"/>
                    </a:lnTo>
                    <a:close/>
                  </a:path>
                </a:pathLst>
              </a:custGeom>
              <a:solidFill>
                <a:srgbClr val="D9D9D9"/>
              </a:solid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移动端</a:t>
                </a:r>
                <a:endPar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体验</a:t>
                </a:r>
                <a:endParaRPr kumimoji="0"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5" name="object 10">
                <a:extLst>
                  <a:ext uri="{FF2B5EF4-FFF2-40B4-BE49-F238E27FC236}">
                    <a16:creationId xmlns:a16="http://schemas.microsoft.com/office/drawing/2014/main" id="{C36CEC93-6631-2630-3D18-D508A0DCBA0D}"/>
                  </a:ext>
                </a:extLst>
              </p:cNvPr>
              <p:cNvSpPr/>
              <p:nvPr/>
            </p:nvSpPr>
            <p:spPr>
              <a:xfrm>
                <a:off x="3563828" y="3697907"/>
                <a:ext cx="616739" cy="616739"/>
              </a:xfrm>
              <a:custGeom>
                <a:avLst/>
                <a:gdLst/>
                <a:ahLst/>
                <a:cxnLst/>
                <a:rect l="l" t="t" r="r" b="b"/>
                <a:pathLst>
                  <a:path w="719454" h="719454">
                    <a:moveTo>
                      <a:pt x="359537" y="0"/>
                    </a:moveTo>
                    <a:lnTo>
                      <a:pt x="310763" y="3280"/>
                    </a:lnTo>
                    <a:lnTo>
                      <a:pt x="263980" y="12838"/>
                    </a:lnTo>
                    <a:lnTo>
                      <a:pt x="219616" y="28245"/>
                    </a:lnTo>
                    <a:lnTo>
                      <a:pt x="178101" y="49073"/>
                    </a:lnTo>
                    <a:lnTo>
                      <a:pt x="139862" y="74895"/>
                    </a:lnTo>
                    <a:lnTo>
                      <a:pt x="105330" y="105282"/>
                    </a:lnTo>
                    <a:lnTo>
                      <a:pt x="74934" y="139808"/>
                    </a:lnTo>
                    <a:lnTo>
                      <a:pt x="49101" y="178044"/>
                    </a:lnTo>
                    <a:lnTo>
                      <a:pt x="28263" y="219563"/>
                    </a:lnTo>
                    <a:lnTo>
                      <a:pt x="12847" y="263936"/>
                    </a:lnTo>
                    <a:lnTo>
                      <a:pt x="3283" y="310737"/>
                    </a:lnTo>
                    <a:lnTo>
                      <a:pt x="0" y="359537"/>
                    </a:lnTo>
                    <a:lnTo>
                      <a:pt x="3283" y="408310"/>
                    </a:lnTo>
                    <a:lnTo>
                      <a:pt x="12847" y="455093"/>
                    </a:lnTo>
                    <a:lnTo>
                      <a:pt x="28263" y="499457"/>
                    </a:lnTo>
                    <a:lnTo>
                      <a:pt x="49101" y="540972"/>
                    </a:lnTo>
                    <a:lnTo>
                      <a:pt x="74934" y="579211"/>
                    </a:lnTo>
                    <a:lnTo>
                      <a:pt x="105330" y="613743"/>
                    </a:lnTo>
                    <a:lnTo>
                      <a:pt x="139862" y="644139"/>
                    </a:lnTo>
                    <a:lnTo>
                      <a:pt x="178101" y="669972"/>
                    </a:lnTo>
                    <a:lnTo>
                      <a:pt x="219616" y="690810"/>
                    </a:lnTo>
                    <a:lnTo>
                      <a:pt x="263980" y="706226"/>
                    </a:lnTo>
                    <a:lnTo>
                      <a:pt x="310763" y="715790"/>
                    </a:lnTo>
                    <a:lnTo>
                      <a:pt x="359537" y="719074"/>
                    </a:lnTo>
                    <a:lnTo>
                      <a:pt x="408339" y="715790"/>
                    </a:lnTo>
                    <a:lnTo>
                      <a:pt x="455146" y="706226"/>
                    </a:lnTo>
                    <a:lnTo>
                      <a:pt x="499530" y="690810"/>
                    </a:lnTo>
                    <a:lnTo>
                      <a:pt x="541062" y="669972"/>
                    </a:lnTo>
                    <a:lnTo>
                      <a:pt x="579313" y="644139"/>
                    </a:lnTo>
                    <a:lnTo>
                      <a:pt x="613854" y="613743"/>
                    </a:lnTo>
                    <a:lnTo>
                      <a:pt x="644257" y="579211"/>
                    </a:lnTo>
                    <a:lnTo>
                      <a:pt x="670094" y="540972"/>
                    </a:lnTo>
                    <a:lnTo>
                      <a:pt x="690935" y="499457"/>
                    </a:lnTo>
                    <a:lnTo>
                      <a:pt x="706352" y="455093"/>
                    </a:lnTo>
                    <a:lnTo>
                      <a:pt x="715917" y="408310"/>
                    </a:lnTo>
                    <a:lnTo>
                      <a:pt x="719201" y="359537"/>
                    </a:lnTo>
                    <a:lnTo>
                      <a:pt x="715917" y="310737"/>
                    </a:lnTo>
                    <a:lnTo>
                      <a:pt x="706352" y="263936"/>
                    </a:lnTo>
                    <a:lnTo>
                      <a:pt x="690935" y="219563"/>
                    </a:lnTo>
                    <a:lnTo>
                      <a:pt x="670094" y="178044"/>
                    </a:lnTo>
                    <a:lnTo>
                      <a:pt x="644257" y="139808"/>
                    </a:lnTo>
                    <a:lnTo>
                      <a:pt x="613854" y="105283"/>
                    </a:lnTo>
                    <a:lnTo>
                      <a:pt x="579313" y="74895"/>
                    </a:lnTo>
                    <a:lnTo>
                      <a:pt x="541062" y="49073"/>
                    </a:lnTo>
                    <a:lnTo>
                      <a:pt x="499530" y="28245"/>
                    </a:lnTo>
                    <a:lnTo>
                      <a:pt x="455146" y="12838"/>
                    </a:lnTo>
                    <a:lnTo>
                      <a:pt x="408339" y="3280"/>
                    </a:lnTo>
                    <a:lnTo>
                      <a:pt x="359537" y="0"/>
                    </a:lnTo>
                    <a:close/>
                  </a:path>
                </a:pathLst>
              </a:custGeom>
              <a:solidFill>
                <a:srgbClr val="D9D9D9"/>
              </a:solid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购买</a:t>
                </a:r>
                <a:endPar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体验</a:t>
                </a:r>
                <a:endParaRPr kumimoji="0"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6" name="object 12">
                <a:extLst>
                  <a:ext uri="{FF2B5EF4-FFF2-40B4-BE49-F238E27FC236}">
                    <a16:creationId xmlns:a16="http://schemas.microsoft.com/office/drawing/2014/main" id="{409FE59D-6399-CC7A-4916-928D64247D2A}"/>
                  </a:ext>
                </a:extLst>
              </p:cNvPr>
              <p:cNvSpPr/>
              <p:nvPr/>
            </p:nvSpPr>
            <p:spPr>
              <a:xfrm>
                <a:off x="3876824" y="4423188"/>
                <a:ext cx="617828" cy="617828"/>
              </a:xfrm>
              <a:custGeom>
                <a:avLst/>
                <a:gdLst/>
                <a:ahLst/>
                <a:cxnLst/>
                <a:rect l="l" t="t" r="r" b="b"/>
                <a:pathLst>
                  <a:path w="720725" h="720725">
                    <a:moveTo>
                      <a:pt x="360425" y="0"/>
                    </a:moveTo>
                    <a:lnTo>
                      <a:pt x="311501" y="3288"/>
                    </a:lnTo>
                    <a:lnTo>
                      <a:pt x="264583" y="12869"/>
                    </a:lnTo>
                    <a:lnTo>
                      <a:pt x="220098" y="28313"/>
                    </a:lnTo>
                    <a:lnTo>
                      <a:pt x="178477" y="49191"/>
                    </a:lnTo>
                    <a:lnTo>
                      <a:pt x="140147" y="75075"/>
                    </a:lnTo>
                    <a:lnTo>
                      <a:pt x="105537" y="105536"/>
                    </a:lnTo>
                    <a:lnTo>
                      <a:pt x="75075" y="140147"/>
                    </a:lnTo>
                    <a:lnTo>
                      <a:pt x="49191" y="178477"/>
                    </a:lnTo>
                    <a:lnTo>
                      <a:pt x="28313" y="220098"/>
                    </a:lnTo>
                    <a:lnTo>
                      <a:pt x="12869" y="264583"/>
                    </a:lnTo>
                    <a:lnTo>
                      <a:pt x="3288" y="311501"/>
                    </a:lnTo>
                    <a:lnTo>
                      <a:pt x="0" y="360425"/>
                    </a:lnTo>
                    <a:lnTo>
                      <a:pt x="3288" y="409320"/>
                    </a:lnTo>
                    <a:lnTo>
                      <a:pt x="12869" y="456215"/>
                    </a:lnTo>
                    <a:lnTo>
                      <a:pt x="28313" y="500679"/>
                    </a:lnTo>
                    <a:lnTo>
                      <a:pt x="49191" y="542285"/>
                    </a:lnTo>
                    <a:lnTo>
                      <a:pt x="75075" y="580603"/>
                    </a:lnTo>
                    <a:lnTo>
                      <a:pt x="105537" y="615203"/>
                    </a:lnTo>
                    <a:lnTo>
                      <a:pt x="140147" y="645658"/>
                    </a:lnTo>
                    <a:lnTo>
                      <a:pt x="178477" y="671538"/>
                    </a:lnTo>
                    <a:lnTo>
                      <a:pt x="220098" y="692413"/>
                    </a:lnTo>
                    <a:lnTo>
                      <a:pt x="264583" y="707856"/>
                    </a:lnTo>
                    <a:lnTo>
                      <a:pt x="311501" y="717436"/>
                    </a:lnTo>
                    <a:lnTo>
                      <a:pt x="360425" y="720725"/>
                    </a:lnTo>
                    <a:lnTo>
                      <a:pt x="409320" y="717436"/>
                    </a:lnTo>
                    <a:lnTo>
                      <a:pt x="456215" y="707856"/>
                    </a:lnTo>
                    <a:lnTo>
                      <a:pt x="500679" y="692413"/>
                    </a:lnTo>
                    <a:lnTo>
                      <a:pt x="542285" y="671538"/>
                    </a:lnTo>
                    <a:lnTo>
                      <a:pt x="580603" y="645658"/>
                    </a:lnTo>
                    <a:lnTo>
                      <a:pt x="615203" y="615203"/>
                    </a:lnTo>
                    <a:lnTo>
                      <a:pt x="645658" y="580603"/>
                    </a:lnTo>
                    <a:lnTo>
                      <a:pt x="671538" y="542285"/>
                    </a:lnTo>
                    <a:lnTo>
                      <a:pt x="692413" y="500679"/>
                    </a:lnTo>
                    <a:lnTo>
                      <a:pt x="707856" y="456215"/>
                    </a:lnTo>
                    <a:lnTo>
                      <a:pt x="717436" y="409320"/>
                    </a:lnTo>
                    <a:lnTo>
                      <a:pt x="720725" y="360425"/>
                    </a:lnTo>
                    <a:lnTo>
                      <a:pt x="717436" y="311501"/>
                    </a:lnTo>
                    <a:lnTo>
                      <a:pt x="707856" y="264583"/>
                    </a:lnTo>
                    <a:lnTo>
                      <a:pt x="692413" y="220098"/>
                    </a:lnTo>
                    <a:lnTo>
                      <a:pt x="671538" y="178477"/>
                    </a:lnTo>
                    <a:lnTo>
                      <a:pt x="645658" y="140147"/>
                    </a:lnTo>
                    <a:lnTo>
                      <a:pt x="615203" y="105537"/>
                    </a:lnTo>
                    <a:lnTo>
                      <a:pt x="580603" y="75075"/>
                    </a:lnTo>
                    <a:lnTo>
                      <a:pt x="542285" y="49191"/>
                    </a:lnTo>
                    <a:lnTo>
                      <a:pt x="500679" y="28313"/>
                    </a:lnTo>
                    <a:lnTo>
                      <a:pt x="456215" y="12869"/>
                    </a:lnTo>
                    <a:lnTo>
                      <a:pt x="409320" y="3288"/>
                    </a:lnTo>
                    <a:lnTo>
                      <a:pt x="360425" y="0"/>
                    </a:lnTo>
                    <a:close/>
                  </a:path>
                </a:pathLst>
              </a:custGeom>
              <a:solidFill>
                <a:srgbClr val="D9D9D9"/>
              </a:solid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金融</a:t>
                </a:r>
                <a:endParaRPr kumimoji="0"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7" name="object 14">
                <a:extLst>
                  <a:ext uri="{FF2B5EF4-FFF2-40B4-BE49-F238E27FC236}">
                    <a16:creationId xmlns:a16="http://schemas.microsoft.com/office/drawing/2014/main" id="{A9E29BFF-06BD-D58F-39E9-57DCBBB5456D}"/>
                  </a:ext>
                </a:extLst>
              </p:cNvPr>
              <p:cNvSpPr/>
              <p:nvPr/>
            </p:nvSpPr>
            <p:spPr>
              <a:xfrm>
                <a:off x="4623988" y="4733463"/>
                <a:ext cx="617828" cy="616739"/>
              </a:xfrm>
              <a:custGeom>
                <a:avLst/>
                <a:gdLst/>
                <a:ahLst/>
                <a:cxnLst/>
                <a:rect l="l" t="t" r="r" b="b"/>
                <a:pathLst>
                  <a:path w="720725" h="719454">
                    <a:moveTo>
                      <a:pt x="360299" y="0"/>
                    </a:moveTo>
                    <a:lnTo>
                      <a:pt x="311404" y="3283"/>
                    </a:lnTo>
                    <a:lnTo>
                      <a:pt x="264509" y="12847"/>
                    </a:lnTo>
                    <a:lnTo>
                      <a:pt x="220045" y="28263"/>
                    </a:lnTo>
                    <a:lnTo>
                      <a:pt x="178439" y="49101"/>
                    </a:lnTo>
                    <a:lnTo>
                      <a:pt x="140121" y="74934"/>
                    </a:lnTo>
                    <a:lnTo>
                      <a:pt x="105521" y="105330"/>
                    </a:lnTo>
                    <a:lnTo>
                      <a:pt x="75066" y="139862"/>
                    </a:lnTo>
                    <a:lnTo>
                      <a:pt x="49186" y="178101"/>
                    </a:lnTo>
                    <a:lnTo>
                      <a:pt x="28311" y="219616"/>
                    </a:lnTo>
                    <a:lnTo>
                      <a:pt x="12868" y="263980"/>
                    </a:lnTo>
                    <a:lnTo>
                      <a:pt x="3288" y="310763"/>
                    </a:lnTo>
                    <a:lnTo>
                      <a:pt x="0" y="359537"/>
                    </a:lnTo>
                    <a:lnTo>
                      <a:pt x="3288" y="408339"/>
                    </a:lnTo>
                    <a:lnTo>
                      <a:pt x="12868" y="455146"/>
                    </a:lnTo>
                    <a:lnTo>
                      <a:pt x="28311" y="499530"/>
                    </a:lnTo>
                    <a:lnTo>
                      <a:pt x="49186" y="541062"/>
                    </a:lnTo>
                    <a:lnTo>
                      <a:pt x="75066" y="579313"/>
                    </a:lnTo>
                    <a:lnTo>
                      <a:pt x="105521" y="613854"/>
                    </a:lnTo>
                    <a:lnTo>
                      <a:pt x="140121" y="644257"/>
                    </a:lnTo>
                    <a:lnTo>
                      <a:pt x="178439" y="670094"/>
                    </a:lnTo>
                    <a:lnTo>
                      <a:pt x="220045" y="690935"/>
                    </a:lnTo>
                    <a:lnTo>
                      <a:pt x="264509" y="706352"/>
                    </a:lnTo>
                    <a:lnTo>
                      <a:pt x="311404" y="715917"/>
                    </a:lnTo>
                    <a:lnTo>
                      <a:pt x="360299" y="719201"/>
                    </a:lnTo>
                    <a:lnTo>
                      <a:pt x="409196" y="715917"/>
                    </a:lnTo>
                    <a:lnTo>
                      <a:pt x="456097" y="706352"/>
                    </a:lnTo>
                    <a:lnTo>
                      <a:pt x="500572" y="690935"/>
                    </a:lnTo>
                    <a:lnTo>
                      <a:pt x="542191" y="670094"/>
                    </a:lnTo>
                    <a:lnTo>
                      <a:pt x="580523" y="644257"/>
                    </a:lnTo>
                    <a:lnTo>
                      <a:pt x="615140" y="613854"/>
                    </a:lnTo>
                    <a:lnTo>
                      <a:pt x="645610" y="579313"/>
                    </a:lnTo>
                    <a:lnTo>
                      <a:pt x="671505" y="541062"/>
                    </a:lnTo>
                    <a:lnTo>
                      <a:pt x="692394" y="499530"/>
                    </a:lnTo>
                    <a:lnTo>
                      <a:pt x="707846" y="455146"/>
                    </a:lnTo>
                    <a:lnTo>
                      <a:pt x="717433" y="408339"/>
                    </a:lnTo>
                    <a:lnTo>
                      <a:pt x="720725" y="359537"/>
                    </a:lnTo>
                    <a:lnTo>
                      <a:pt x="717433" y="310763"/>
                    </a:lnTo>
                    <a:lnTo>
                      <a:pt x="707846" y="263980"/>
                    </a:lnTo>
                    <a:lnTo>
                      <a:pt x="692394" y="219616"/>
                    </a:lnTo>
                    <a:lnTo>
                      <a:pt x="671505" y="178101"/>
                    </a:lnTo>
                    <a:lnTo>
                      <a:pt x="645610" y="139862"/>
                    </a:lnTo>
                    <a:lnTo>
                      <a:pt x="615140" y="105330"/>
                    </a:lnTo>
                    <a:lnTo>
                      <a:pt x="580523" y="74934"/>
                    </a:lnTo>
                    <a:lnTo>
                      <a:pt x="542191" y="49101"/>
                    </a:lnTo>
                    <a:lnTo>
                      <a:pt x="500572" y="28263"/>
                    </a:lnTo>
                    <a:lnTo>
                      <a:pt x="456097" y="12847"/>
                    </a:lnTo>
                    <a:lnTo>
                      <a:pt x="409196" y="3283"/>
                    </a:lnTo>
                    <a:lnTo>
                      <a:pt x="360299" y="0"/>
                    </a:lnTo>
                    <a:close/>
                  </a:path>
                </a:pathLst>
              </a:custGeom>
              <a:solidFill>
                <a:srgbClr val="D9D9D9"/>
              </a:solid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保险</a:t>
                </a:r>
                <a:endParaRPr kumimoji="0"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8" name="object 15">
                <a:extLst>
                  <a:ext uri="{FF2B5EF4-FFF2-40B4-BE49-F238E27FC236}">
                    <a16:creationId xmlns:a16="http://schemas.microsoft.com/office/drawing/2014/main" id="{3132CEC7-4F50-65E1-F98D-6876013BF6F1}"/>
                  </a:ext>
                </a:extLst>
              </p:cNvPr>
              <p:cNvSpPr/>
              <p:nvPr/>
            </p:nvSpPr>
            <p:spPr>
              <a:xfrm>
                <a:off x="5334244" y="4423188"/>
                <a:ext cx="618372" cy="617828"/>
              </a:xfrm>
              <a:custGeom>
                <a:avLst/>
                <a:gdLst/>
                <a:ahLst/>
                <a:cxnLst/>
                <a:rect l="l" t="t" r="r" b="b"/>
                <a:pathLst>
                  <a:path w="721359" h="720725">
                    <a:moveTo>
                      <a:pt x="360425" y="0"/>
                    </a:moveTo>
                    <a:lnTo>
                      <a:pt x="311528" y="3288"/>
                    </a:lnTo>
                    <a:lnTo>
                      <a:pt x="264627" y="12869"/>
                    </a:lnTo>
                    <a:lnTo>
                      <a:pt x="220152" y="28313"/>
                    </a:lnTo>
                    <a:lnTo>
                      <a:pt x="178533" y="49191"/>
                    </a:lnTo>
                    <a:lnTo>
                      <a:pt x="140201" y="75075"/>
                    </a:lnTo>
                    <a:lnTo>
                      <a:pt x="105584" y="105536"/>
                    </a:lnTo>
                    <a:lnTo>
                      <a:pt x="75114" y="140147"/>
                    </a:lnTo>
                    <a:lnTo>
                      <a:pt x="49219" y="178477"/>
                    </a:lnTo>
                    <a:lnTo>
                      <a:pt x="28330" y="220098"/>
                    </a:lnTo>
                    <a:lnTo>
                      <a:pt x="12878" y="264583"/>
                    </a:lnTo>
                    <a:lnTo>
                      <a:pt x="3291" y="311501"/>
                    </a:lnTo>
                    <a:lnTo>
                      <a:pt x="0" y="360425"/>
                    </a:lnTo>
                    <a:lnTo>
                      <a:pt x="3291" y="409320"/>
                    </a:lnTo>
                    <a:lnTo>
                      <a:pt x="12878" y="456215"/>
                    </a:lnTo>
                    <a:lnTo>
                      <a:pt x="28330" y="500679"/>
                    </a:lnTo>
                    <a:lnTo>
                      <a:pt x="49219" y="542285"/>
                    </a:lnTo>
                    <a:lnTo>
                      <a:pt x="75114" y="580603"/>
                    </a:lnTo>
                    <a:lnTo>
                      <a:pt x="105584" y="615203"/>
                    </a:lnTo>
                    <a:lnTo>
                      <a:pt x="140201" y="645658"/>
                    </a:lnTo>
                    <a:lnTo>
                      <a:pt x="178533" y="671538"/>
                    </a:lnTo>
                    <a:lnTo>
                      <a:pt x="220152" y="692413"/>
                    </a:lnTo>
                    <a:lnTo>
                      <a:pt x="264627" y="707856"/>
                    </a:lnTo>
                    <a:lnTo>
                      <a:pt x="311528" y="717436"/>
                    </a:lnTo>
                    <a:lnTo>
                      <a:pt x="360425" y="720725"/>
                    </a:lnTo>
                    <a:lnTo>
                      <a:pt x="409323" y="717436"/>
                    </a:lnTo>
                    <a:lnTo>
                      <a:pt x="456224" y="707856"/>
                    </a:lnTo>
                    <a:lnTo>
                      <a:pt x="500699" y="692413"/>
                    </a:lnTo>
                    <a:lnTo>
                      <a:pt x="542318" y="671538"/>
                    </a:lnTo>
                    <a:lnTo>
                      <a:pt x="580650" y="645658"/>
                    </a:lnTo>
                    <a:lnTo>
                      <a:pt x="615267" y="615203"/>
                    </a:lnTo>
                    <a:lnTo>
                      <a:pt x="645737" y="580603"/>
                    </a:lnTo>
                    <a:lnTo>
                      <a:pt x="671632" y="542285"/>
                    </a:lnTo>
                    <a:lnTo>
                      <a:pt x="692521" y="500679"/>
                    </a:lnTo>
                    <a:lnTo>
                      <a:pt x="707973" y="456215"/>
                    </a:lnTo>
                    <a:lnTo>
                      <a:pt x="717560" y="409320"/>
                    </a:lnTo>
                    <a:lnTo>
                      <a:pt x="720851" y="360425"/>
                    </a:lnTo>
                    <a:lnTo>
                      <a:pt x="717560" y="311501"/>
                    </a:lnTo>
                    <a:lnTo>
                      <a:pt x="707973" y="264583"/>
                    </a:lnTo>
                    <a:lnTo>
                      <a:pt x="692521" y="220098"/>
                    </a:lnTo>
                    <a:lnTo>
                      <a:pt x="671632" y="178477"/>
                    </a:lnTo>
                    <a:lnTo>
                      <a:pt x="645737" y="140147"/>
                    </a:lnTo>
                    <a:lnTo>
                      <a:pt x="615267" y="105537"/>
                    </a:lnTo>
                    <a:lnTo>
                      <a:pt x="580650" y="75075"/>
                    </a:lnTo>
                    <a:lnTo>
                      <a:pt x="542318" y="49191"/>
                    </a:lnTo>
                    <a:lnTo>
                      <a:pt x="500699" y="28313"/>
                    </a:lnTo>
                    <a:lnTo>
                      <a:pt x="456224" y="12869"/>
                    </a:lnTo>
                    <a:lnTo>
                      <a:pt x="409323" y="3288"/>
                    </a:lnTo>
                    <a:lnTo>
                      <a:pt x="360425" y="0"/>
                    </a:lnTo>
                    <a:close/>
                  </a:path>
                </a:pathLst>
              </a:custGeom>
              <a:solidFill>
                <a:srgbClr val="D9D9D9"/>
              </a:solid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CRM</a:t>
                </a:r>
                <a:endParaRPr kumimoji="0"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9" name="object 17">
                <a:extLst>
                  <a:ext uri="{FF2B5EF4-FFF2-40B4-BE49-F238E27FC236}">
                    <a16:creationId xmlns:a16="http://schemas.microsoft.com/office/drawing/2014/main" id="{9E98A90E-39AF-9102-E114-6DB4FAC76505}"/>
                  </a:ext>
                </a:extLst>
              </p:cNvPr>
              <p:cNvSpPr/>
              <p:nvPr/>
            </p:nvSpPr>
            <p:spPr>
              <a:xfrm>
                <a:off x="5418400" y="2879001"/>
                <a:ext cx="617828" cy="616739"/>
              </a:xfrm>
              <a:custGeom>
                <a:avLst/>
                <a:gdLst/>
                <a:ahLst/>
                <a:cxnLst/>
                <a:rect l="l" t="t" r="r" b="b"/>
                <a:pathLst>
                  <a:path w="720725" h="719455">
                    <a:moveTo>
                      <a:pt x="360425" y="0"/>
                    </a:moveTo>
                    <a:lnTo>
                      <a:pt x="311501" y="3283"/>
                    </a:lnTo>
                    <a:lnTo>
                      <a:pt x="264583" y="12847"/>
                    </a:lnTo>
                    <a:lnTo>
                      <a:pt x="220098" y="28263"/>
                    </a:lnTo>
                    <a:lnTo>
                      <a:pt x="178477" y="49101"/>
                    </a:lnTo>
                    <a:lnTo>
                      <a:pt x="140147" y="74934"/>
                    </a:lnTo>
                    <a:lnTo>
                      <a:pt x="105537" y="105330"/>
                    </a:lnTo>
                    <a:lnTo>
                      <a:pt x="75075" y="139862"/>
                    </a:lnTo>
                    <a:lnTo>
                      <a:pt x="49191" y="178101"/>
                    </a:lnTo>
                    <a:lnTo>
                      <a:pt x="28313" y="219616"/>
                    </a:lnTo>
                    <a:lnTo>
                      <a:pt x="12869" y="263980"/>
                    </a:lnTo>
                    <a:lnTo>
                      <a:pt x="3288" y="310763"/>
                    </a:lnTo>
                    <a:lnTo>
                      <a:pt x="0" y="359537"/>
                    </a:lnTo>
                    <a:lnTo>
                      <a:pt x="3288" y="408339"/>
                    </a:lnTo>
                    <a:lnTo>
                      <a:pt x="12869" y="455146"/>
                    </a:lnTo>
                    <a:lnTo>
                      <a:pt x="28313" y="499530"/>
                    </a:lnTo>
                    <a:lnTo>
                      <a:pt x="49191" y="541062"/>
                    </a:lnTo>
                    <a:lnTo>
                      <a:pt x="75075" y="579313"/>
                    </a:lnTo>
                    <a:lnTo>
                      <a:pt x="105536" y="613854"/>
                    </a:lnTo>
                    <a:lnTo>
                      <a:pt x="140147" y="644257"/>
                    </a:lnTo>
                    <a:lnTo>
                      <a:pt x="178477" y="670094"/>
                    </a:lnTo>
                    <a:lnTo>
                      <a:pt x="220098" y="690935"/>
                    </a:lnTo>
                    <a:lnTo>
                      <a:pt x="264583" y="706352"/>
                    </a:lnTo>
                    <a:lnTo>
                      <a:pt x="311501" y="715917"/>
                    </a:lnTo>
                    <a:lnTo>
                      <a:pt x="360425" y="719201"/>
                    </a:lnTo>
                    <a:lnTo>
                      <a:pt x="409320" y="715917"/>
                    </a:lnTo>
                    <a:lnTo>
                      <a:pt x="456215" y="706352"/>
                    </a:lnTo>
                    <a:lnTo>
                      <a:pt x="500679" y="690935"/>
                    </a:lnTo>
                    <a:lnTo>
                      <a:pt x="542285" y="670094"/>
                    </a:lnTo>
                    <a:lnTo>
                      <a:pt x="580603" y="644257"/>
                    </a:lnTo>
                    <a:lnTo>
                      <a:pt x="615203" y="613854"/>
                    </a:lnTo>
                    <a:lnTo>
                      <a:pt x="645658" y="579313"/>
                    </a:lnTo>
                    <a:lnTo>
                      <a:pt x="671538" y="541062"/>
                    </a:lnTo>
                    <a:lnTo>
                      <a:pt x="692413" y="499530"/>
                    </a:lnTo>
                    <a:lnTo>
                      <a:pt x="707856" y="455146"/>
                    </a:lnTo>
                    <a:lnTo>
                      <a:pt x="717436" y="408339"/>
                    </a:lnTo>
                    <a:lnTo>
                      <a:pt x="720725" y="359537"/>
                    </a:lnTo>
                    <a:lnTo>
                      <a:pt x="717436" y="310763"/>
                    </a:lnTo>
                    <a:lnTo>
                      <a:pt x="707856" y="263980"/>
                    </a:lnTo>
                    <a:lnTo>
                      <a:pt x="692413" y="219616"/>
                    </a:lnTo>
                    <a:lnTo>
                      <a:pt x="671538" y="178101"/>
                    </a:lnTo>
                    <a:lnTo>
                      <a:pt x="645658" y="139862"/>
                    </a:lnTo>
                    <a:lnTo>
                      <a:pt x="615203" y="105330"/>
                    </a:lnTo>
                    <a:lnTo>
                      <a:pt x="580603" y="74934"/>
                    </a:lnTo>
                    <a:lnTo>
                      <a:pt x="542285" y="49101"/>
                    </a:lnTo>
                    <a:lnTo>
                      <a:pt x="500679" y="28263"/>
                    </a:lnTo>
                    <a:lnTo>
                      <a:pt x="456215" y="12847"/>
                    </a:lnTo>
                    <a:lnTo>
                      <a:pt x="409320" y="3283"/>
                    </a:lnTo>
                    <a:lnTo>
                      <a:pt x="360425" y="0"/>
                    </a:lnTo>
                    <a:close/>
                  </a:path>
                </a:pathLst>
              </a:custGeom>
              <a:solidFill>
                <a:srgbClr val="D9D9D9"/>
              </a:solid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二手</a:t>
                </a:r>
                <a:endPar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置换</a:t>
                </a:r>
                <a:endParaRPr kumimoji="0"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0" name="object 21">
                <a:extLst>
                  <a:ext uri="{FF2B5EF4-FFF2-40B4-BE49-F238E27FC236}">
                    <a16:creationId xmlns:a16="http://schemas.microsoft.com/office/drawing/2014/main" id="{3E191AF1-F020-A97D-22A6-973AFE1003FE}"/>
                  </a:ext>
                </a:extLst>
              </p:cNvPr>
              <p:cNvSpPr/>
              <p:nvPr/>
            </p:nvSpPr>
            <p:spPr>
              <a:xfrm>
                <a:off x="4623988" y="2647328"/>
                <a:ext cx="617828" cy="617828"/>
              </a:xfrm>
              <a:custGeom>
                <a:avLst/>
                <a:gdLst/>
                <a:ahLst/>
                <a:cxnLst/>
                <a:rect l="l" t="t" r="r" b="b"/>
                <a:pathLst>
                  <a:path w="720725" h="720725">
                    <a:moveTo>
                      <a:pt x="360299" y="0"/>
                    </a:moveTo>
                    <a:lnTo>
                      <a:pt x="311404" y="3288"/>
                    </a:lnTo>
                    <a:lnTo>
                      <a:pt x="264509" y="12868"/>
                    </a:lnTo>
                    <a:lnTo>
                      <a:pt x="220045" y="28311"/>
                    </a:lnTo>
                    <a:lnTo>
                      <a:pt x="178439" y="49186"/>
                    </a:lnTo>
                    <a:lnTo>
                      <a:pt x="140121" y="75066"/>
                    </a:lnTo>
                    <a:lnTo>
                      <a:pt x="105521" y="105521"/>
                    </a:lnTo>
                    <a:lnTo>
                      <a:pt x="75066" y="140121"/>
                    </a:lnTo>
                    <a:lnTo>
                      <a:pt x="49186" y="178439"/>
                    </a:lnTo>
                    <a:lnTo>
                      <a:pt x="28311" y="220045"/>
                    </a:lnTo>
                    <a:lnTo>
                      <a:pt x="12868" y="264509"/>
                    </a:lnTo>
                    <a:lnTo>
                      <a:pt x="3288" y="311404"/>
                    </a:lnTo>
                    <a:lnTo>
                      <a:pt x="0" y="360299"/>
                    </a:lnTo>
                    <a:lnTo>
                      <a:pt x="3288" y="409196"/>
                    </a:lnTo>
                    <a:lnTo>
                      <a:pt x="12868" y="456097"/>
                    </a:lnTo>
                    <a:lnTo>
                      <a:pt x="28311" y="500572"/>
                    </a:lnTo>
                    <a:lnTo>
                      <a:pt x="49186" y="542191"/>
                    </a:lnTo>
                    <a:lnTo>
                      <a:pt x="75066" y="580523"/>
                    </a:lnTo>
                    <a:lnTo>
                      <a:pt x="105521" y="615140"/>
                    </a:lnTo>
                    <a:lnTo>
                      <a:pt x="140121" y="645610"/>
                    </a:lnTo>
                    <a:lnTo>
                      <a:pt x="178439" y="671505"/>
                    </a:lnTo>
                    <a:lnTo>
                      <a:pt x="220045" y="692394"/>
                    </a:lnTo>
                    <a:lnTo>
                      <a:pt x="264509" y="707846"/>
                    </a:lnTo>
                    <a:lnTo>
                      <a:pt x="311404" y="717433"/>
                    </a:lnTo>
                    <a:lnTo>
                      <a:pt x="360299" y="720725"/>
                    </a:lnTo>
                    <a:lnTo>
                      <a:pt x="409196" y="717433"/>
                    </a:lnTo>
                    <a:lnTo>
                      <a:pt x="456097" y="707846"/>
                    </a:lnTo>
                    <a:lnTo>
                      <a:pt x="500572" y="692394"/>
                    </a:lnTo>
                    <a:lnTo>
                      <a:pt x="542191" y="671505"/>
                    </a:lnTo>
                    <a:lnTo>
                      <a:pt x="580523" y="645610"/>
                    </a:lnTo>
                    <a:lnTo>
                      <a:pt x="615140" y="615140"/>
                    </a:lnTo>
                    <a:lnTo>
                      <a:pt x="645610" y="580523"/>
                    </a:lnTo>
                    <a:lnTo>
                      <a:pt x="671505" y="542191"/>
                    </a:lnTo>
                    <a:lnTo>
                      <a:pt x="692394" y="500572"/>
                    </a:lnTo>
                    <a:lnTo>
                      <a:pt x="707846" y="456097"/>
                    </a:lnTo>
                    <a:lnTo>
                      <a:pt x="717433" y="409196"/>
                    </a:lnTo>
                    <a:lnTo>
                      <a:pt x="720725" y="360299"/>
                    </a:lnTo>
                    <a:lnTo>
                      <a:pt x="717433" y="311404"/>
                    </a:lnTo>
                    <a:lnTo>
                      <a:pt x="707846" y="264509"/>
                    </a:lnTo>
                    <a:lnTo>
                      <a:pt x="692394" y="220045"/>
                    </a:lnTo>
                    <a:lnTo>
                      <a:pt x="671505" y="178439"/>
                    </a:lnTo>
                    <a:lnTo>
                      <a:pt x="645610" y="140121"/>
                    </a:lnTo>
                    <a:lnTo>
                      <a:pt x="615140" y="105521"/>
                    </a:lnTo>
                    <a:lnTo>
                      <a:pt x="580523" y="75066"/>
                    </a:lnTo>
                    <a:lnTo>
                      <a:pt x="542191" y="49186"/>
                    </a:lnTo>
                    <a:lnTo>
                      <a:pt x="500572" y="28311"/>
                    </a:lnTo>
                    <a:lnTo>
                      <a:pt x="456097" y="12868"/>
                    </a:lnTo>
                    <a:lnTo>
                      <a:pt x="409196" y="3288"/>
                    </a:lnTo>
                    <a:lnTo>
                      <a:pt x="360299" y="0"/>
                    </a:lnTo>
                    <a:close/>
                  </a:path>
                </a:pathLst>
              </a:custGeom>
              <a:solidFill>
                <a:srgbClr val="D9D9D9"/>
              </a:solid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整车产品</a:t>
                </a:r>
                <a:endParaRPr kumimoji="0"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51" name="object 5">
              <a:extLst>
                <a:ext uri="{FF2B5EF4-FFF2-40B4-BE49-F238E27FC236}">
                  <a16:creationId xmlns:a16="http://schemas.microsoft.com/office/drawing/2014/main" id="{422543EC-A7B6-B6C3-F48B-352587747AA1}"/>
                </a:ext>
              </a:extLst>
            </p:cNvPr>
            <p:cNvSpPr txBox="1"/>
            <p:nvPr/>
          </p:nvSpPr>
          <p:spPr>
            <a:xfrm>
              <a:off x="8840549" y="2806053"/>
              <a:ext cx="2643426" cy="354917"/>
            </a:xfrm>
            <a:prstGeom prst="rect">
              <a:avLst/>
            </a:prstGeom>
            <a:noFill/>
          </p:spPr>
          <p:txBody>
            <a:bodyPr vert="horz" wrap="square" lIns="0" tIns="0" rIns="0" bIns="0" rtlCol="0" anchor="ctr">
              <a:noAutofit/>
            </a:bodyPr>
            <a:lstStyle/>
            <a:p>
              <a:pPr marL="1270" marR="0" lvl="0" indent="0" algn="ctr" defTabSz="914400" rtl="0" eaLnBrk="1" fontAlgn="auto" latinLnBrk="0" hangingPunct="1">
                <a:lnSpc>
                  <a:spcPct val="100000"/>
                </a:lnSpc>
                <a:spcBef>
                  <a:spcPts val="100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a:rPr>
                <a:t>全场景服务提供者</a:t>
              </a:r>
              <a:endParaRPr kumimoji="0"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a:endParaRPr>
            </a:p>
          </p:txBody>
        </p:sp>
        <p:graphicFrame>
          <p:nvGraphicFramePr>
            <p:cNvPr id="52" name="图示 51">
              <a:extLst>
                <a:ext uri="{FF2B5EF4-FFF2-40B4-BE49-F238E27FC236}">
                  <a16:creationId xmlns:a16="http://schemas.microsoft.com/office/drawing/2014/main" id="{8348BF1F-7CD2-DA12-4A88-601657E5323D}"/>
                </a:ext>
              </a:extLst>
            </p:cNvPr>
            <p:cNvGraphicFramePr/>
            <p:nvPr/>
          </p:nvGraphicFramePr>
          <p:xfrm>
            <a:off x="8855273" y="3247379"/>
            <a:ext cx="2611413" cy="21599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3" name="矩形 52">
              <a:extLst>
                <a:ext uri="{FF2B5EF4-FFF2-40B4-BE49-F238E27FC236}">
                  <a16:creationId xmlns:a16="http://schemas.microsoft.com/office/drawing/2014/main" id="{7FD0CDE8-A124-A197-C209-7AC0026CC33E}"/>
                </a:ext>
              </a:extLst>
            </p:cNvPr>
            <p:cNvSpPr/>
            <p:nvPr/>
          </p:nvSpPr>
          <p:spPr>
            <a:xfrm>
              <a:off x="302943" y="5738690"/>
              <a:ext cx="11625531" cy="539183"/>
            </a:xfrm>
            <a:prstGeom prst="rect">
              <a:avLst/>
            </a:prstGeom>
            <a:solidFill>
              <a:srgbClr val="0033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服务品牌的构建将各项服务连结成一个整体，全场景地闭环服务客户</a:t>
              </a:r>
              <a:endParaRPr kumimoji="0" lang="en-US" altLang="zh-CN"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pic>
          <p:nvPicPr>
            <p:cNvPr id="54" name="picture 802">
              <a:extLst>
                <a:ext uri="{FF2B5EF4-FFF2-40B4-BE49-F238E27FC236}">
                  <a16:creationId xmlns:a16="http://schemas.microsoft.com/office/drawing/2014/main" id="{0AFEEDB1-944A-FBFA-1F05-986BE6D0C329}"/>
                </a:ext>
              </a:extLst>
            </p:cNvPr>
            <p:cNvPicPr>
              <a:picLocks noChangeAspect="1"/>
            </p:cNvPicPr>
            <p:nvPr/>
          </p:nvPicPr>
          <p:blipFill>
            <a:blip r:embed="rId3"/>
            <a:stretch>
              <a:fillRect/>
            </a:stretch>
          </p:blipFill>
          <p:spPr>
            <a:xfrm>
              <a:off x="7648363" y="3993885"/>
              <a:ext cx="215900" cy="360426"/>
            </a:xfrm>
            <a:prstGeom prst="rect">
              <a:avLst/>
            </a:prstGeom>
          </p:spPr>
        </p:pic>
        <p:sp>
          <p:nvSpPr>
            <p:cNvPr id="55" name="object 17">
              <a:extLst>
                <a:ext uri="{FF2B5EF4-FFF2-40B4-BE49-F238E27FC236}">
                  <a16:creationId xmlns:a16="http://schemas.microsoft.com/office/drawing/2014/main" id="{8D1DE43C-9385-FF23-27DD-9AE2C9E2BD99}"/>
                </a:ext>
              </a:extLst>
            </p:cNvPr>
            <p:cNvSpPr/>
            <p:nvPr/>
          </p:nvSpPr>
          <p:spPr>
            <a:xfrm>
              <a:off x="6498176" y="3967634"/>
              <a:ext cx="558485" cy="557500"/>
            </a:xfrm>
            <a:custGeom>
              <a:avLst/>
              <a:gdLst/>
              <a:ahLst/>
              <a:cxnLst/>
              <a:rect l="l" t="t" r="r" b="b"/>
              <a:pathLst>
                <a:path w="720725" h="719455">
                  <a:moveTo>
                    <a:pt x="360425" y="0"/>
                  </a:moveTo>
                  <a:lnTo>
                    <a:pt x="311501" y="3283"/>
                  </a:lnTo>
                  <a:lnTo>
                    <a:pt x="264583" y="12847"/>
                  </a:lnTo>
                  <a:lnTo>
                    <a:pt x="220098" y="28263"/>
                  </a:lnTo>
                  <a:lnTo>
                    <a:pt x="178477" y="49101"/>
                  </a:lnTo>
                  <a:lnTo>
                    <a:pt x="140147" y="74934"/>
                  </a:lnTo>
                  <a:lnTo>
                    <a:pt x="105537" y="105330"/>
                  </a:lnTo>
                  <a:lnTo>
                    <a:pt x="75075" y="139862"/>
                  </a:lnTo>
                  <a:lnTo>
                    <a:pt x="49191" y="178101"/>
                  </a:lnTo>
                  <a:lnTo>
                    <a:pt x="28313" y="219616"/>
                  </a:lnTo>
                  <a:lnTo>
                    <a:pt x="12869" y="263980"/>
                  </a:lnTo>
                  <a:lnTo>
                    <a:pt x="3288" y="310763"/>
                  </a:lnTo>
                  <a:lnTo>
                    <a:pt x="0" y="359537"/>
                  </a:lnTo>
                  <a:lnTo>
                    <a:pt x="3288" y="408339"/>
                  </a:lnTo>
                  <a:lnTo>
                    <a:pt x="12869" y="455146"/>
                  </a:lnTo>
                  <a:lnTo>
                    <a:pt x="28313" y="499530"/>
                  </a:lnTo>
                  <a:lnTo>
                    <a:pt x="49191" y="541062"/>
                  </a:lnTo>
                  <a:lnTo>
                    <a:pt x="75075" y="579313"/>
                  </a:lnTo>
                  <a:lnTo>
                    <a:pt x="105536" y="613854"/>
                  </a:lnTo>
                  <a:lnTo>
                    <a:pt x="140147" y="644257"/>
                  </a:lnTo>
                  <a:lnTo>
                    <a:pt x="178477" y="670094"/>
                  </a:lnTo>
                  <a:lnTo>
                    <a:pt x="220098" y="690935"/>
                  </a:lnTo>
                  <a:lnTo>
                    <a:pt x="264583" y="706352"/>
                  </a:lnTo>
                  <a:lnTo>
                    <a:pt x="311501" y="715917"/>
                  </a:lnTo>
                  <a:lnTo>
                    <a:pt x="360425" y="719201"/>
                  </a:lnTo>
                  <a:lnTo>
                    <a:pt x="409320" y="715917"/>
                  </a:lnTo>
                  <a:lnTo>
                    <a:pt x="456215" y="706352"/>
                  </a:lnTo>
                  <a:lnTo>
                    <a:pt x="500679" y="690935"/>
                  </a:lnTo>
                  <a:lnTo>
                    <a:pt x="542285" y="670094"/>
                  </a:lnTo>
                  <a:lnTo>
                    <a:pt x="580603" y="644257"/>
                  </a:lnTo>
                  <a:lnTo>
                    <a:pt x="615203" y="613854"/>
                  </a:lnTo>
                  <a:lnTo>
                    <a:pt x="645658" y="579313"/>
                  </a:lnTo>
                  <a:lnTo>
                    <a:pt x="671538" y="541062"/>
                  </a:lnTo>
                  <a:lnTo>
                    <a:pt x="692413" y="499530"/>
                  </a:lnTo>
                  <a:lnTo>
                    <a:pt x="707856" y="455146"/>
                  </a:lnTo>
                  <a:lnTo>
                    <a:pt x="717436" y="408339"/>
                  </a:lnTo>
                  <a:lnTo>
                    <a:pt x="720725" y="359537"/>
                  </a:lnTo>
                  <a:lnTo>
                    <a:pt x="717436" y="310763"/>
                  </a:lnTo>
                  <a:lnTo>
                    <a:pt x="707856" y="263980"/>
                  </a:lnTo>
                  <a:lnTo>
                    <a:pt x="692413" y="219616"/>
                  </a:lnTo>
                  <a:lnTo>
                    <a:pt x="671538" y="178101"/>
                  </a:lnTo>
                  <a:lnTo>
                    <a:pt x="645658" y="139862"/>
                  </a:lnTo>
                  <a:lnTo>
                    <a:pt x="615203" y="105330"/>
                  </a:lnTo>
                  <a:lnTo>
                    <a:pt x="580603" y="74934"/>
                  </a:lnTo>
                  <a:lnTo>
                    <a:pt x="542285" y="49101"/>
                  </a:lnTo>
                  <a:lnTo>
                    <a:pt x="500679" y="28263"/>
                  </a:lnTo>
                  <a:lnTo>
                    <a:pt x="456215" y="12847"/>
                  </a:lnTo>
                  <a:lnTo>
                    <a:pt x="409320" y="3283"/>
                  </a:lnTo>
                  <a:lnTo>
                    <a:pt x="360425" y="0"/>
                  </a:lnTo>
                  <a:close/>
                </a:path>
              </a:pathLst>
            </a:custGeom>
            <a:solidFill>
              <a:srgbClr val="D9D9D9"/>
            </a:solid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售后服务</a:t>
              </a:r>
              <a:endParaRPr kumimoji="0"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69" name="组合 68">
            <a:extLst>
              <a:ext uri="{FF2B5EF4-FFF2-40B4-BE49-F238E27FC236}">
                <a16:creationId xmlns:a16="http://schemas.microsoft.com/office/drawing/2014/main" id="{1EBFF6CB-42F8-420C-9F03-C06794336CAB}"/>
              </a:ext>
            </a:extLst>
          </p:cNvPr>
          <p:cNvGrpSpPr/>
          <p:nvPr/>
        </p:nvGrpSpPr>
        <p:grpSpPr>
          <a:xfrm>
            <a:off x="317745" y="1915044"/>
            <a:ext cx="11610730" cy="519050"/>
            <a:chOff x="659010" y="2045854"/>
            <a:chExt cx="8614470" cy="519050"/>
          </a:xfrm>
        </p:grpSpPr>
        <p:sp>
          <p:nvSpPr>
            <p:cNvPr id="70" name="object 5">
              <a:extLst>
                <a:ext uri="{FF2B5EF4-FFF2-40B4-BE49-F238E27FC236}">
                  <a16:creationId xmlns:a16="http://schemas.microsoft.com/office/drawing/2014/main" id="{EA6ABCE4-5B8D-9A73-1571-BBE9C8E3AD73}"/>
                </a:ext>
              </a:extLst>
            </p:cNvPr>
            <p:cNvSpPr/>
            <p:nvPr/>
          </p:nvSpPr>
          <p:spPr>
            <a:xfrm>
              <a:off x="659010" y="2055127"/>
              <a:ext cx="2945265" cy="504825"/>
            </a:xfrm>
            <a:custGeom>
              <a:avLst/>
              <a:gdLst/>
              <a:ahLst/>
              <a:cxnLst/>
              <a:rect l="l" t="t" r="r" b="b"/>
              <a:pathLst>
                <a:path w="4464685" h="504825">
                  <a:moveTo>
                    <a:pt x="4464113" y="0"/>
                  </a:moveTo>
                  <a:lnTo>
                    <a:pt x="126212" y="0"/>
                  </a:lnTo>
                  <a:lnTo>
                    <a:pt x="0" y="504825"/>
                  </a:lnTo>
                  <a:lnTo>
                    <a:pt x="4337875" y="504825"/>
                  </a:lnTo>
                  <a:lnTo>
                    <a:pt x="4464113" y="0"/>
                  </a:lnTo>
                  <a:close/>
                </a:path>
              </a:pathLst>
            </a:custGeom>
            <a:solidFill>
              <a:schemeClr val="bg1">
                <a:lumMod val="8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1" name="object 6">
              <a:extLst>
                <a:ext uri="{FF2B5EF4-FFF2-40B4-BE49-F238E27FC236}">
                  <a16:creationId xmlns:a16="http://schemas.microsoft.com/office/drawing/2014/main" id="{408FCBF1-5675-74D7-C8C8-3E25A5B22874}"/>
                </a:ext>
              </a:extLst>
            </p:cNvPr>
            <p:cNvSpPr/>
            <p:nvPr/>
          </p:nvSpPr>
          <p:spPr>
            <a:xfrm>
              <a:off x="3518024" y="2055127"/>
              <a:ext cx="2944846" cy="503555"/>
            </a:xfrm>
            <a:custGeom>
              <a:avLst/>
              <a:gdLst/>
              <a:ahLst/>
              <a:cxnLst/>
              <a:rect l="l" t="t" r="r" b="b"/>
              <a:pathLst>
                <a:path w="4464050" h="503555">
                  <a:moveTo>
                    <a:pt x="4464050" y="0"/>
                  </a:moveTo>
                  <a:lnTo>
                    <a:pt x="125983" y="0"/>
                  </a:lnTo>
                  <a:lnTo>
                    <a:pt x="0" y="503300"/>
                  </a:lnTo>
                  <a:lnTo>
                    <a:pt x="4337938" y="503300"/>
                  </a:lnTo>
                  <a:lnTo>
                    <a:pt x="4464050" y="0"/>
                  </a:lnTo>
                  <a:close/>
                </a:path>
              </a:pathLst>
            </a:custGeom>
            <a:solidFill>
              <a:schemeClr val="bg1">
                <a:lumMod val="6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235888"/>
                </a:solidFill>
                <a:effectLst/>
                <a:uLnTx/>
                <a:uFillTx/>
                <a:latin typeface="微软雅黑" panose="020B0503020204020204" pitchFamily="34" charset="-122"/>
                <a:ea typeface="微软雅黑" panose="020B0503020204020204" pitchFamily="34" charset="-122"/>
              </a:endParaRPr>
            </a:p>
          </p:txBody>
        </p:sp>
        <p:sp>
          <p:nvSpPr>
            <p:cNvPr id="72" name="object 6">
              <a:extLst>
                <a:ext uri="{FF2B5EF4-FFF2-40B4-BE49-F238E27FC236}">
                  <a16:creationId xmlns:a16="http://schemas.microsoft.com/office/drawing/2014/main" id="{7AFA6721-E474-2510-FBE8-C589D4F8AC66}"/>
                </a:ext>
              </a:extLst>
            </p:cNvPr>
            <p:cNvSpPr/>
            <p:nvPr/>
          </p:nvSpPr>
          <p:spPr>
            <a:xfrm>
              <a:off x="6328634" y="2055127"/>
              <a:ext cx="2944846" cy="503555"/>
            </a:xfrm>
            <a:custGeom>
              <a:avLst/>
              <a:gdLst/>
              <a:ahLst/>
              <a:cxnLst/>
              <a:rect l="l" t="t" r="r" b="b"/>
              <a:pathLst>
                <a:path w="4464050" h="503555">
                  <a:moveTo>
                    <a:pt x="4464050" y="0"/>
                  </a:moveTo>
                  <a:lnTo>
                    <a:pt x="125983" y="0"/>
                  </a:lnTo>
                  <a:lnTo>
                    <a:pt x="0" y="503300"/>
                  </a:lnTo>
                  <a:lnTo>
                    <a:pt x="4337938" y="503300"/>
                  </a:lnTo>
                  <a:lnTo>
                    <a:pt x="4464050" y="0"/>
                  </a:lnTo>
                  <a:close/>
                </a:path>
              </a:pathLst>
            </a:custGeom>
            <a:solidFill>
              <a:srgbClr val="0033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3" name="object 23">
              <a:extLst>
                <a:ext uri="{FF2B5EF4-FFF2-40B4-BE49-F238E27FC236}">
                  <a16:creationId xmlns:a16="http://schemas.microsoft.com/office/drawing/2014/main" id="{EFB79308-04F7-1BF9-139A-5C120A94B537}"/>
                </a:ext>
              </a:extLst>
            </p:cNvPr>
            <p:cNvSpPr/>
            <p:nvPr/>
          </p:nvSpPr>
          <p:spPr>
            <a:xfrm>
              <a:off x="1247890" y="2277280"/>
              <a:ext cx="7214273" cy="133350"/>
            </a:xfrm>
            <a:custGeom>
              <a:avLst/>
              <a:gdLst/>
              <a:ahLst/>
              <a:cxnLst/>
              <a:rect l="l" t="t" r="r" b="b"/>
              <a:pathLst>
                <a:path w="7367905" h="133350">
                  <a:moveTo>
                    <a:pt x="63449" y="6223"/>
                  </a:moveTo>
                  <a:lnTo>
                    <a:pt x="38733" y="11215"/>
                  </a:lnTo>
                  <a:lnTo>
                    <a:pt x="18561" y="24828"/>
                  </a:lnTo>
                  <a:lnTo>
                    <a:pt x="4970" y="45013"/>
                  </a:lnTo>
                  <a:lnTo>
                    <a:pt x="0" y="69723"/>
                  </a:lnTo>
                  <a:lnTo>
                    <a:pt x="5009" y="94486"/>
                  </a:lnTo>
                  <a:lnTo>
                    <a:pt x="18635" y="114665"/>
                  </a:lnTo>
                  <a:lnTo>
                    <a:pt x="38831" y="128248"/>
                  </a:lnTo>
                  <a:lnTo>
                    <a:pt x="63550" y="133223"/>
                  </a:lnTo>
                  <a:lnTo>
                    <a:pt x="88266" y="128230"/>
                  </a:lnTo>
                  <a:lnTo>
                    <a:pt x="108438" y="114617"/>
                  </a:lnTo>
                  <a:lnTo>
                    <a:pt x="122029" y="94432"/>
                  </a:lnTo>
                  <a:lnTo>
                    <a:pt x="124445" y="82423"/>
                  </a:lnTo>
                  <a:lnTo>
                    <a:pt x="63512" y="82423"/>
                  </a:lnTo>
                  <a:lnTo>
                    <a:pt x="63487" y="57023"/>
                  </a:lnTo>
                  <a:lnTo>
                    <a:pt x="124420" y="56970"/>
                  </a:lnTo>
                  <a:lnTo>
                    <a:pt x="121990" y="44959"/>
                  </a:lnTo>
                  <a:lnTo>
                    <a:pt x="108364" y="24780"/>
                  </a:lnTo>
                  <a:lnTo>
                    <a:pt x="88168" y="11197"/>
                  </a:lnTo>
                  <a:lnTo>
                    <a:pt x="63449" y="6223"/>
                  </a:lnTo>
                  <a:close/>
                </a:path>
                <a:path w="7367905" h="133350">
                  <a:moveTo>
                    <a:pt x="7342327" y="50800"/>
                  </a:moveTo>
                  <a:lnTo>
                    <a:pt x="7253351" y="50800"/>
                  </a:lnTo>
                  <a:lnTo>
                    <a:pt x="7253351" y="76200"/>
                  </a:lnTo>
                  <a:lnTo>
                    <a:pt x="7240600" y="76211"/>
                  </a:lnTo>
                  <a:lnTo>
                    <a:pt x="7240651" y="127000"/>
                  </a:lnTo>
                  <a:lnTo>
                    <a:pt x="7367524" y="63373"/>
                  </a:lnTo>
                  <a:lnTo>
                    <a:pt x="7342327" y="50800"/>
                  </a:lnTo>
                  <a:close/>
                </a:path>
                <a:path w="7367905" h="133350">
                  <a:moveTo>
                    <a:pt x="124420" y="56970"/>
                  </a:moveTo>
                  <a:lnTo>
                    <a:pt x="63487" y="57023"/>
                  </a:lnTo>
                  <a:lnTo>
                    <a:pt x="63512" y="82423"/>
                  </a:lnTo>
                  <a:lnTo>
                    <a:pt x="124455" y="82370"/>
                  </a:lnTo>
                  <a:lnTo>
                    <a:pt x="127000" y="69723"/>
                  </a:lnTo>
                  <a:lnTo>
                    <a:pt x="124420" y="56970"/>
                  </a:lnTo>
                  <a:close/>
                </a:path>
                <a:path w="7367905" h="133350">
                  <a:moveTo>
                    <a:pt x="124455" y="82370"/>
                  </a:moveTo>
                  <a:lnTo>
                    <a:pt x="63512" y="82423"/>
                  </a:lnTo>
                  <a:lnTo>
                    <a:pt x="124445" y="82423"/>
                  </a:lnTo>
                  <a:close/>
                </a:path>
                <a:path w="7367905" h="133350">
                  <a:moveTo>
                    <a:pt x="7240574" y="50811"/>
                  </a:moveTo>
                  <a:lnTo>
                    <a:pt x="124420" y="56970"/>
                  </a:lnTo>
                  <a:lnTo>
                    <a:pt x="127000" y="69723"/>
                  </a:lnTo>
                  <a:lnTo>
                    <a:pt x="124455" y="82370"/>
                  </a:lnTo>
                  <a:lnTo>
                    <a:pt x="7240600" y="76211"/>
                  </a:lnTo>
                  <a:lnTo>
                    <a:pt x="7240574" y="50811"/>
                  </a:lnTo>
                  <a:close/>
                </a:path>
                <a:path w="7367905" h="133350">
                  <a:moveTo>
                    <a:pt x="7253351" y="50800"/>
                  </a:moveTo>
                  <a:lnTo>
                    <a:pt x="7240574" y="50811"/>
                  </a:lnTo>
                  <a:lnTo>
                    <a:pt x="7240600" y="76211"/>
                  </a:lnTo>
                  <a:lnTo>
                    <a:pt x="7253351" y="76200"/>
                  </a:lnTo>
                  <a:lnTo>
                    <a:pt x="7253351" y="50800"/>
                  </a:lnTo>
                  <a:close/>
                </a:path>
                <a:path w="7367905" h="133350">
                  <a:moveTo>
                    <a:pt x="7240524" y="0"/>
                  </a:moveTo>
                  <a:lnTo>
                    <a:pt x="7240574" y="50811"/>
                  </a:lnTo>
                  <a:lnTo>
                    <a:pt x="7342327" y="50800"/>
                  </a:lnTo>
                  <a:lnTo>
                    <a:pt x="7240524"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4" name="object 24">
              <a:extLst>
                <a:ext uri="{FF2B5EF4-FFF2-40B4-BE49-F238E27FC236}">
                  <a16:creationId xmlns:a16="http://schemas.microsoft.com/office/drawing/2014/main" id="{BC51F8E4-1901-DDE0-66BE-8457B9E45056}"/>
                </a:ext>
              </a:extLst>
            </p:cNvPr>
            <p:cNvSpPr/>
            <p:nvPr/>
          </p:nvSpPr>
          <p:spPr>
            <a:xfrm>
              <a:off x="1671331" y="2118627"/>
              <a:ext cx="1140284" cy="368300"/>
            </a:xfrm>
            <a:custGeom>
              <a:avLst/>
              <a:gdLst/>
              <a:ahLst/>
              <a:cxnLst/>
              <a:rect l="l" t="t" r="r" b="b"/>
              <a:pathLst>
                <a:path w="2032000" h="368300">
                  <a:moveTo>
                    <a:pt x="2032000" y="0"/>
                  </a:moveTo>
                  <a:lnTo>
                    <a:pt x="0" y="0"/>
                  </a:lnTo>
                  <a:lnTo>
                    <a:pt x="0" y="368300"/>
                  </a:lnTo>
                  <a:lnTo>
                    <a:pt x="2032000" y="368300"/>
                  </a:lnTo>
                  <a:lnTo>
                    <a:pt x="2032000" y="0"/>
                  </a:lnTo>
                  <a:close/>
                </a:path>
              </a:pathLst>
            </a:custGeom>
            <a:solidFill>
              <a:schemeClr val="bg1">
                <a:lumMod val="8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5" name="object 25">
              <a:extLst>
                <a:ext uri="{FF2B5EF4-FFF2-40B4-BE49-F238E27FC236}">
                  <a16:creationId xmlns:a16="http://schemas.microsoft.com/office/drawing/2014/main" id="{6F71842C-A878-0494-CFD0-EB9EB3F52BDE}"/>
                </a:ext>
              </a:extLst>
            </p:cNvPr>
            <p:cNvSpPr/>
            <p:nvPr/>
          </p:nvSpPr>
          <p:spPr>
            <a:xfrm>
              <a:off x="3754372" y="2121802"/>
              <a:ext cx="2201309" cy="368300"/>
            </a:xfrm>
            <a:custGeom>
              <a:avLst/>
              <a:gdLst/>
              <a:ahLst/>
              <a:cxnLst/>
              <a:rect l="l" t="t" r="r" b="b"/>
              <a:pathLst>
                <a:path w="2262504" h="368300">
                  <a:moveTo>
                    <a:pt x="2262124" y="0"/>
                  </a:moveTo>
                  <a:lnTo>
                    <a:pt x="0" y="0"/>
                  </a:lnTo>
                  <a:lnTo>
                    <a:pt x="0" y="368300"/>
                  </a:lnTo>
                  <a:lnTo>
                    <a:pt x="2262124" y="368300"/>
                  </a:lnTo>
                  <a:lnTo>
                    <a:pt x="2262124" y="0"/>
                  </a:lnTo>
                  <a:close/>
                </a:path>
              </a:pathLst>
            </a:custGeom>
            <a:solidFill>
              <a:schemeClr val="bg1">
                <a:lumMod val="65000"/>
              </a:schemeClr>
            </a:solidFill>
          </p:spPr>
          <p:txBody>
            <a:bodyPr wrap="square" lIns="0" tIns="0" rIns="0" bIns="0"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6" name="object 26">
              <a:extLst>
                <a:ext uri="{FF2B5EF4-FFF2-40B4-BE49-F238E27FC236}">
                  <a16:creationId xmlns:a16="http://schemas.microsoft.com/office/drawing/2014/main" id="{8E7310A8-698A-8EAA-5887-2281BC5FCA88}"/>
                </a:ext>
              </a:extLst>
            </p:cNvPr>
            <p:cNvSpPr txBox="1"/>
            <p:nvPr/>
          </p:nvSpPr>
          <p:spPr>
            <a:xfrm>
              <a:off x="1570800" y="2266105"/>
              <a:ext cx="1288537" cy="259045"/>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tab pos="4072254" algn="l"/>
                </a:tabLst>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a:rPr>
                <a:t>单纯买车</a:t>
              </a:r>
              <a:endParaRPr kumimoji="0"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a:endParaRPr>
            </a:p>
          </p:txBody>
        </p:sp>
        <p:sp>
          <p:nvSpPr>
            <p:cNvPr id="77" name="object 27">
              <a:extLst>
                <a:ext uri="{FF2B5EF4-FFF2-40B4-BE49-F238E27FC236}">
                  <a16:creationId xmlns:a16="http://schemas.microsoft.com/office/drawing/2014/main" id="{9E9AAF02-D548-E25B-CCB8-8BB89D9F09A2}"/>
                </a:ext>
              </a:extLst>
            </p:cNvPr>
            <p:cNvSpPr txBox="1"/>
            <p:nvPr/>
          </p:nvSpPr>
          <p:spPr>
            <a:xfrm>
              <a:off x="850436" y="2082965"/>
              <a:ext cx="416559" cy="19749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1200" cap="none" spc="-85"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a:rPr>
                <a:t>P</a:t>
              </a:r>
              <a:r>
                <a:rPr kumimoji="0"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a:rPr>
                <a:t>A</a:t>
              </a:r>
              <a:r>
                <a:rPr kumimoji="0" sz="1200" b="1" i="0" u="none" strike="noStrike" kern="1200" cap="none" spc="-5"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a:rPr>
                <a:t>S</a:t>
              </a:r>
              <a:r>
                <a:rPr kumimoji="0"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a:rPr>
                <a:t>T</a:t>
              </a:r>
              <a:endParaRPr kumimoji="0"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a:endParaRPr>
            </a:p>
          </p:txBody>
        </p:sp>
        <p:sp>
          <p:nvSpPr>
            <p:cNvPr id="78" name="object 28">
              <a:extLst>
                <a:ext uri="{FF2B5EF4-FFF2-40B4-BE49-F238E27FC236}">
                  <a16:creationId xmlns:a16="http://schemas.microsoft.com/office/drawing/2014/main" id="{F54FD552-EE5D-F8B0-3E01-8CB6A7E8A5CB}"/>
                </a:ext>
              </a:extLst>
            </p:cNvPr>
            <p:cNvSpPr txBox="1"/>
            <p:nvPr/>
          </p:nvSpPr>
          <p:spPr>
            <a:xfrm>
              <a:off x="8619977" y="2082965"/>
              <a:ext cx="542484" cy="19749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a:rPr>
                <a:t>Future</a:t>
              </a:r>
              <a:endParaRPr kumimoji="0"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a:endParaRPr>
            </a:p>
          </p:txBody>
        </p:sp>
        <p:sp>
          <p:nvSpPr>
            <p:cNvPr id="79" name="object 28">
              <a:extLst>
                <a:ext uri="{FF2B5EF4-FFF2-40B4-BE49-F238E27FC236}">
                  <a16:creationId xmlns:a16="http://schemas.microsoft.com/office/drawing/2014/main" id="{91AD502E-D276-3E56-8619-85ACF56CCD3C}"/>
                </a:ext>
              </a:extLst>
            </p:cNvPr>
            <p:cNvSpPr txBox="1"/>
            <p:nvPr/>
          </p:nvSpPr>
          <p:spPr>
            <a:xfrm>
              <a:off x="4676877" y="2045854"/>
              <a:ext cx="444500" cy="19749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a:rPr>
                <a:t>NOW</a:t>
              </a:r>
              <a:endParaRPr kumimoji="0" sz="1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a:endParaRPr>
            </a:p>
          </p:txBody>
        </p:sp>
        <p:sp>
          <p:nvSpPr>
            <p:cNvPr id="80" name="矩形 79">
              <a:extLst>
                <a:ext uri="{FF2B5EF4-FFF2-40B4-BE49-F238E27FC236}">
                  <a16:creationId xmlns:a16="http://schemas.microsoft.com/office/drawing/2014/main" id="{6E57317B-FFC1-0D96-5601-1A24CE30B09A}"/>
                </a:ext>
              </a:extLst>
            </p:cNvPr>
            <p:cNvSpPr/>
            <p:nvPr/>
          </p:nvSpPr>
          <p:spPr>
            <a:xfrm>
              <a:off x="4270265" y="2226350"/>
              <a:ext cx="1281149" cy="3385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a:rPr>
                <a:t>销售</a:t>
              </a:r>
              <a:r>
                <a:rPr kumimoji="0" lang="en-US" altLang="zh-CN"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a:rPr>
                <a:t>+</a:t>
              </a:r>
              <a:r>
                <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a:rPr>
                <a:t>售后</a:t>
              </a:r>
              <a:r>
                <a:rPr kumimoji="0" lang="en-US" altLang="zh-CN"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a:rPr>
                <a:t>+</a:t>
              </a:r>
              <a:r>
                <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a:rPr>
                <a:t>增值</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81" name="object 25">
              <a:extLst>
                <a:ext uri="{FF2B5EF4-FFF2-40B4-BE49-F238E27FC236}">
                  <a16:creationId xmlns:a16="http://schemas.microsoft.com/office/drawing/2014/main" id="{035A515D-5302-526C-0B39-9E8EB52E5C07}"/>
                </a:ext>
              </a:extLst>
            </p:cNvPr>
            <p:cNvSpPr/>
            <p:nvPr/>
          </p:nvSpPr>
          <p:spPr>
            <a:xfrm>
              <a:off x="6682398" y="2121802"/>
              <a:ext cx="1551337" cy="368300"/>
            </a:xfrm>
            <a:custGeom>
              <a:avLst/>
              <a:gdLst/>
              <a:ahLst/>
              <a:cxnLst/>
              <a:rect l="l" t="t" r="r" b="b"/>
              <a:pathLst>
                <a:path w="2262504" h="368300">
                  <a:moveTo>
                    <a:pt x="2262124" y="0"/>
                  </a:moveTo>
                  <a:lnTo>
                    <a:pt x="0" y="0"/>
                  </a:lnTo>
                  <a:lnTo>
                    <a:pt x="0" y="368300"/>
                  </a:lnTo>
                  <a:lnTo>
                    <a:pt x="2262124" y="368300"/>
                  </a:lnTo>
                  <a:lnTo>
                    <a:pt x="2262124" y="0"/>
                  </a:lnTo>
                  <a:close/>
                </a:path>
              </a:pathLst>
            </a:custGeom>
            <a:solidFill>
              <a:srgbClr val="0033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2" name="矩形 81">
              <a:extLst>
                <a:ext uri="{FF2B5EF4-FFF2-40B4-BE49-F238E27FC236}">
                  <a16:creationId xmlns:a16="http://schemas.microsoft.com/office/drawing/2014/main" id="{BEBB7FBC-5B63-88C0-EED2-1A763575AD00}"/>
                </a:ext>
              </a:extLst>
            </p:cNvPr>
            <p:cNvSpPr/>
            <p:nvPr/>
          </p:nvSpPr>
          <p:spPr>
            <a:xfrm>
              <a:off x="6653946" y="2226350"/>
              <a:ext cx="160195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全场景服务体系</a:t>
              </a:r>
              <a:endParaRPr kumimoji="0" lang="zh-CN" altLang="en-US" sz="16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83" name="组合 82">
            <a:extLst>
              <a:ext uri="{FF2B5EF4-FFF2-40B4-BE49-F238E27FC236}">
                <a16:creationId xmlns:a16="http://schemas.microsoft.com/office/drawing/2014/main" id="{2FCA187E-58CF-2832-A117-38D45CAC7A72}"/>
              </a:ext>
            </a:extLst>
          </p:cNvPr>
          <p:cNvGrpSpPr/>
          <p:nvPr/>
        </p:nvGrpSpPr>
        <p:grpSpPr>
          <a:xfrm>
            <a:off x="1171555" y="3037631"/>
            <a:ext cx="2271789" cy="2272934"/>
            <a:chOff x="737198" y="2888627"/>
            <a:chExt cx="2519680" cy="2520950"/>
          </a:xfrm>
        </p:grpSpPr>
        <p:sp>
          <p:nvSpPr>
            <p:cNvPr id="84" name="object 4">
              <a:extLst>
                <a:ext uri="{FF2B5EF4-FFF2-40B4-BE49-F238E27FC236}">
                  <a16:creationId xmlns:a16="http://schemas.microsoft.com/office/drawing/2014/main" id="{5D518360-78DB-6CEF-5929-E2F652409667}"/>
                </a:ext>
              </a:extLst>
            </p:cNvPr>
            <p:cNvSpPr/>
            <p:nvPr/>
          </p:nvSpPr>
          <p:spPr>
            <a:xfrm>
              <a:off x="737198" y="2888627"/>
              <a:ext cx="2519680" cy="2520950"/>
            </a:xfrm>
            <a:custGeom>
              <a:avLst/>
              <a:gdLst/>
              <a:ahLst/>
              <a:cxnLst/>
              <a:rect l="l" t="t" r="r" b="b"/>
              <a:pathLst>
                <a:path w="2519679" h="2520950">
                  <a:moveTo>
                    <a:pt x="1259713" y="0"/>
                  </a:moveTo>
                  <a:lnTo>
                    <a:pt x="1211394" y="910"/>
                  </a:lnTo>
                  <a:lnTo>
                    <a:pt x="1163535" y="3618"/>
                  </a:lnTo>
                  <a:lnTo>
                    <a:pt x="1116170" y="8092"/>
                  </a:lnTo>
                  <a:lnTo>
                    <a:pt x="1069329" y="14300"/>
                  </a:lnTo>
                  <a:lnTo>
                    <a:pt x="1023046" y="22208"/>
                  </a:lnTo>
                  <a:lnTo>
                    <a:pt x="977354" y="31783"/>
                  </a:lnTo>
                  <a:lnTo>
                    <a:pt x="932285" y="42995"/>
                  </a:lnTo>
                  <a:lnTo>
                    <a:pt x="887871" y="55808"/>
                  </a:lnTo>
                  <a:lnTo>
                    <a:pt x="844146" y="70192"/>
                  </a:lnTo>
                  <a:lnTo>
                    <a:pt x="801142" y="86113"/>
                  </a:lnTo>
                  <a:lnTo>
                    <a:pt x="758891" y="103539"/>
                  </a:lnTo>
                  <a:lnTo>
                    <a:pt x="717427" y="122438"/>
                  </a:lnTo>
                  <a:lnTo>
                    <a:pt x="676781" y="142775"/>
                  </a:lnTo>
                  <a:lnTo>
                    <a:pt x="636987" y="164520"/>
                  </a:lnTo>
                  <a:lnTo>
                    <a:pt x="598077" y="187639"/>
                  </a:lnTo>
                  <a:lnTo>
                    <a:pt x="560084" y="212099"/>
                  </a:lnTo>
                  <a:lnTo>
                    <a:pt x="523041" y="237869"/>
                  </a:lnTo>
                  <a:lnTo>
                    <a:pt x="486979" y="264915"/>
                  </a:lnTo>
                  <a:lnTo>
                    <a:pt x="451931" y="293205"/>
                  </a:lnTo>
                  <a:lnTo>
                    <a:pt x="417931" y="322706"/>
                  </a:lnTo>
                  <a:lnTo>
                    <a:pt x="385011" y="353385"/>
                  </a:lnTo>
                  <a:lnTo>
                    <a:pt x="353203" y="385211"/>
                  </a:lnTo>
                  <a:lnTo>
                    <a:pt x="322541" y="418149"/>
                  </a:lnTo>
                  <a:lnTo>
                    <a:pt x="293056" y="452169"/>
                  </a:lnTo>
                  <a:lnTo>
                    <a:pt x="264781" y="487236"/>
                  </a:lnTo>
                  <a:lnTo>
                    <a:pt x="237750" y="523319"/>
                  </a:lnTo>
                  <a:lnTo>
                    <a:pt x="211994" y="560385"/>
                  </a:lnTo>
                  <a:lnTo>
                    <a:pt x="187546" y="598401"/>
                  </a:lnTo>
                  <a:lnTo>
                    <a:pt x="164439" y="637334"/>
                  </a:lnTo>
                  <a:lnTo>
                    <a:pt x="142706" y="677152"/>
                  </a:lnTo>
                  <a:lnTo>
                    <a:pt x="122378" y="717823"/>
                  </a:lnTo>
                  <a:lnTo>
                    <a:pt x="103490" y="759313"/>
                  </a:lnTo>
                  <a:lnTo>
                    <a:pt x="86072" y="801591"/>
                  </a:lnTo>
                  <a:lnTo>
                    <a:pt x="70159" y="844622"/>
                  </a:lnTo>
                  <a:lnTo>
                    <a:pt x="55782" y="888376"/>
                  </a:lnTo>
                  <a:lnTo>
                    <a:pt x="42974" y="932819"/>
                  </a:lnTo>
                  <a:lnTo>
                    <a:pt x="31769" y="977918"/>
                  </a:lnTo>
                  <a:lnTo>
                    <a:pt x="22197" y="1023641"/>
                  </a:lnTo>
                  <a:lnTo>
                    <a:pt x="14293" y="1069956"/>
                  </a:lnTo>
                  <a:lnTo>
                    <a:pt x="8089" y="1116829"/>
                  </a:lnTo>
                  <a:lnTo>
                    <a:pt x="3616" y="1164228"/>
                  </a:lnTo>
                  <a:lnTo>
                    <a:pt x="909" y="1212121"/>
                  </a:lnTo>
                  <a:lnTo>
                    <a:pt x="0" y="1260475"/>
                  </a:lnTo>
                  <a:lnTo>
                    <a:pt x="909" y="1308820"/>
                  </a:lnTo>
                  <a:lnTo>
                    <a:pt x="3616" y="1356705"/>
                  </a:lnTo>
                  <a:lnTo>
                    <a:pt x="8089" y="1404097"/>
                  </a:lnTo>
                  <a:lnTo>
                    <a:pt x="14293" y="1450964"/>
                  </a:lnTo>
                  <a:lnTo>
                    <a:pt x="22197" y="1497273"/>
                  </a:lnTo>
                  <a:lnTo>
                    <a:pt x="31769" y="1542992"/>
                  </a:lnTo>
                  <a:lnTo>
                    <a:pt x="42974" y="1588087"/>
                  </a:lnTo>
                  <a:lnTo>
                    <a:pt x="55782" y="1632526"/>
                  </a:lnTo>
                  <a:lnTo>
                    <a:pt x="70159" y="1676277"/>
                  </a:lnTo>
                  <a:lnTo>
                    <a:pt x="86072" y="1719306"/>
                  </a:lnTo>
                  <a:lnTo>
                    <a:pt x="103490" y="1761582"/>
                  </a:lnTo>
                  <a:lnTo>
                    <a:pt x="122378" y="1803071"/>
                  </a:lnTo>
                  <a:lnTo>
                    <a:pt x="142706" y="1843741"/>
                  </a:lnTo>
                  <a:lnTo>
                    <a:pt x="164439" y="1883559"/>
                  </a:lnTo>
                  <a:lnTo>
                    <a:pt x="187546" y="1922492"/>
                  </a:lnTo>
                  <a:lnTo>
                    <a:pt x="211994" y="1960508"/>
                  </a:lnTo>
                  <a:lnTo>
                    <a:pt x="237750" y="1997575"/>
                  </a:lnTo>
                  <a:lnTo>
                    <a:pt x="264781" y="2033659"/>
                  </a:lnTo>
                  <a:lnTo>
                    <a:pt x="293056" y="2068728"/>
                  </a:lnTo>
                  <a:lnTo>
                    <a:pt x="322541" y="2102749"/>
                  </a:lnTo>
                  <a:lnTo>
                    <a:pt x="353203" y="2135690"/>
                  </a:lnTo>
                  <a:lnTo>
                    <a:pt x="385011" y="2167517"/>
                  </a:lnTo>
                  <a:lnTo>
                    <a:pt x="417931" y="2198199"/>
                  </a:lnTo>
                  <a:lnTo>
                    <a:pt x="451931" y="2227703"/>
                  </a:lnTo>
                  <a:lnTo>
                    <a:pt x="486979" y="2255995"/>
                  </a:lnTo>
                  <a:lnTo>
                    <a:pt x="523041" y="2283044"/>
                  </a:lnTo>
                  <a:lnTo>
                    <a:pt x="560084" y="2308817"/>
                  </a:lnTo>
                  <a:lnTo>
                    <a:pt x="598077" y="2333280"/>
                  </a:lnTo>
                  <a:lnTo>
                    <a:pt x="636987" y="2356402"/>
                  </a:lnTo>
                  <a:lnTo>
                    <a:pt x="676781" y="2378149"/>
                  </a:lnTo>
                  <a:lnTo>
                    <a:pt x="717427" y="2398490"/>
                  </a:lnTo>
                  <a:lnTo>
                    <a:pt x="758891" y="2417391"/>
                  </a:lnTo>
                  <a:lnTo>
                    <a:pt x="801142" y="2434820"/>
                  </a:lnTo>
                  <a:lnTo>
                    <a:pt x="844146" y="2450744"/>
                  </a:lnTo>
                  <a:lnTo>
                    <a:pt x="887871" y="2465130"/>
                  </a:lnTo>
                  <a:lnTo>
                    <a:pt x="932285" y="2477946"/>
                  </a:lnTo>
                  <a:lnTo>
                    <a:pt x="977354" y="2489159"/>
                  </a:lnTo>
                  <a:lnTo>
                    <a:pt x="1023046" y="2498737"/>
                  </a:lnTo>
                  <a:lnTo>
                    <a:pt x="1069329" y="2506646"/>
                  </a:lnTo>
                  <a:lnTo>
                    <a:pt x="1116170" y="2512855"/>
                  </a:lnTo>
                  <a:lnTo>
                    <a:pt x="1163535" y="2517330"/>
                  </a:lnTo>
                  <a:lnTo>
                    <a:pt x="1211394" y="2520039"/>
                  </a:lnTo>
                  <a:lnTo>
                    <a:pt x="1259713" y="2520950"/>
                  </a:lnTo>
                  <a:lnTo>
                    <a:pt x="1308031" y="2520039"/>
                  </a:lnTo>
                  <a:lnTo>
                    <a:pt x="1355890" y="2517330"/>
                  </a:lnTo>
                  <a:lnTo>
                    <a:pt x="1403255" y="2512855"/>
                  </a:lnTo>
                  <a:lnTo>
                    <a:pt x="1450096" y="2506646"/>
                  </a:lnTo>
                  <a:lnTo>
                    <a:pt x="1496379" y="2498737"/>
                  </a:lnTo>
                  <a:lnTo>
                    <a:pt x="1542071" y="2489159"/>
                  </a:lnTo>
                  <a:lnTo>
                    <a:pt x="1587140" y="2477946"/>
                  </a:lnTo>
                  <a:lnTo>
                    <a:pt x="1631554" y="2465130"/>
                  </a:lnTo>
                  <a:lnTo>
                    <a:pt x="1675279" y="2450744"/>
                  </a:lnTo>
                  <a:lnTo>
                    <a:pt x="1718283" y="2434820"/>
                  </a:lnTo>
                  <a:lnTo>
                    <a:pt x="1760534" y="2417391"/>
                  </a:lnTo>
                  <a:lnTo>
                    <a:pt x="1801998" y="2398490"/>
                  </a:lnTo>
                  <a:lnTo>
                    <a:pt x="1842644" y="2378149"/>
                  </a:lnTo>
                  <a:lnTo>
                    <a:pt x="1882438" y="2356402"/>
                  </a:lnTo>
                  <a:lnTo>
                    <a:pt x="1921348" y="2333280"/>
                  </a:lnTo>
                  <a:lnTo>
                    <a:pt x="1959341" y="2308817"/>
                  </a:lnTo>
                  <a:lnTo>
                    <a:pt x="1996384" y="2283044"/>
                  </a:lnTo>
                  <a:lnTo>
                    <a:pt x="2032446" y="2255995"/>
                  </a:lnTo>
                  <a:lnTo>
                    <a:pt x="2067494" y="2227703"/>
                  </a:lnTo>
                  <a:lnTo>
                    <a:pt x="2101494" y="2198199"/>
                  </a:lnTo>
                  <a:lnTo>
                    <a:pt x="2134414" y="2167517"/>
                  </a:lnTo>
                  <a:lnTo>
                    <a:pt x="2166222" y="2135690"/>
                  </a:lnTo>
                  <a:lnTo>
                    <a:pt x="2196884" y="2102749"/>
                  </a:lnTo>
                  <a:lnTo>
                    <a:pt x="2226369" y="2068728"/>
                  </a:lnTo>
                  <a:lnTo>
                    <a:pt x="2254644" y="2033659"/>
                  </a:lnTo>
                  <a:lnTo>
                    <a:pt x="2281675" y="1997575"/>
                  </a:lnTo>
                  <a:lnTo>
                    <a:pt x="2307431" y="1960508"/>
                  </a:lnTo>
                  <a:lnTo>
                    <a:pt x="2331879" y="1922492"/>
                  </a:lnTo>
                  <a:lnTo>
                    <a:pt x="2354986" y="1883559"/>
                  </a:lnTo>
                  <a:lnTo>
                    <a:pt x="2376719" y="1843741"/>
                  </a:lnTo>
                  <a:lnTo>
                    <a:pt x="2397047" y="1803071"/>
                  </a:lnTo>
                  <a:lnTo>
                    <a:pt x="2415935" y="1761582"/>
                  </a:lnTo>
                  <a:lnTo>
                    <a:pt x="2433353" y="1719306"/>
                  </a:lnTo>
                  <a:lnTo>
                    <a:pt x="2449266" y="1676277"/>
                  </a:lnTo>
                  <a:lnTo>
                    <a:pt x="2463643" y="1632526"/>
                  </a:lnTo>
                  <a:lnTo>
                    <a:pt x="2476451" y="1588087"/>
                  </a:lnTo>
                  <a:lnTo>
                    <a:pt x="2487656" y="1542992"/>
                  </a:lnTo>
                  <a:lnTo>
                    <a:pt x="2497228" y="1497273"/>
                  </a:lnTo>
                  <a:lnTo>
                    <a:pt x="2505132" y="1450964"/>
                  </a:lnTo>
                  <a:lnTo>
                    <a:pt x="2511336" y="1404097"/>
                  </a:lnTo>
                  <a:lnTo>
                    <a:pt x="2515809" y="1356705"/>
                  </a:lnTo>
                  <a:lnTo>
                    <a:pt x="2518516" y="1308820"/>
                  </a:lnTo>
                  <a:lnTo>
                    <a:pt x="2519426" y="1260475"/>
                  </a:lnTo>
                  <a:lnTo>
                    <a:pt x="2518516" y="1212121"/>
                  </a:lnTo>
                  <a:lnTo>
                    <a:pt x="2515809" y="1164228"/>
                  </a:lnTo>
                  <a:lnTo>
                    <a:pt x="2511336" y="1116829"/>
                  </a:lnTo>
                  <a:lnTo>
                    <a:pt x="2505132" y="1069956"/>
                  </a:lnTo>
                  <a:lnTo>
                    <a:pt x="2497228" y="1023641"/>
                  </a:lnTo>
                  <a:lnTo>
                    <a:pt x="2487656" y="977918"/>
                  </a:lnTo>
                  <a:lnTo>
                    <a:pt x="2476451" y="932819"/>
                  </a:lnTo>
                  <a:lnTo>
                    <a:pt x="2463643" y="888376"/>
                  </a:lnTo>
                  <a:lnTo>
                    <a:pt x="2449266" y="844622"/>
                  </a:lnTo>
                  <a:lnTo>
                    <a:pt x="2433353" y="801591"/>
                  </a:lnTo>
                  <a:lnTo>
                    <a:pt x="2415935" y="759313"/>
                  </a:lnTo>
                  <a:lnTo>
                    <a:pt x="2397047" y="717823"/>
                  </a:lnTo>
                  <a:lnTo>
                    <a:pt x="2376719" y="677152"/>
                  </a:lnTo>
                  <a:lnTo>
                    <a:pt x="2354986" y="637334"/>
                  </a:lnTo>
                  <a:lnTo>
                    <a:pt x="2331879" y="598401"/>
                  </a:lnTo>
                  <a:lnTo>
                    <a:pt x="2307431" y="560385"/>
                  </a:lnTo>
                  <a:lnTo>
                    <a:pt x="2281675" y="523319"/>
                  </a:lnTo>
                  <a:lnTo>
                    <a:pt x="2254644" y="487236"/>
                  </a:lnTo>
                  <a:lnTo>
                    <a:pt x="2226369" y="452169"/>
                  </a:lnTo>
                  <a:lnTo>
                    <a:pt x="2196884" y="418149"/>
                  </a:lnTo>
                  <a:lnTo>
                    <a:pt x="2166222" y="385211"/>
                  </a:lnTo>
                  <a:lnTo>
                    <a:pt x="2134414" y="353385"/>
                  </a:lnTo>
                  <a:lnTo>
                    <a:pt x="2101494" y="322706"/>
                  </a:lnTo>
                  <a:lnTo>
                    <a:pt x="2067494" y="293205"/>
                  </a:lnTo>
                  <a:lnTo>
                    <a:pt x="2032446" y="264915"/>
                  </a:lnTo>
                  <a:lnTo>
                    <a:pt x="1996384" y="237869"/>
                  </a:lnTo>
                  <a:lnTo>
                    <a:pt x="1959341" y="212099"/>
                  </a:lnTo>
                  <a:lnTo>
                    <a:pt x="1921348" y="187639"/>
                  </a:lnTo>
                  <a:lnTo>
                    <a:pt x="1882438" y="164520"/>
                  </a:lnTo>
                  <a:lnTo>
                    <a:pt x="1842644" y="142775"/>
                  </a:lnTo>
                  <a:lnTo>
                    <a:pt x="1801998" y="122438"/>
                  </a:lnTo>
                  <a:lnTo>
                    <a:pt x="1760534" y="103539"/>
                  </a:lnTo>
                  <a:lnTo>
                    <a:pt x="1718283" y="86113"/>
                  </a:lnTo>
                  <a:lnTo>
                    <a:pt x="1675279" y="70192"/>
                  </a:lnTo>
                  <a:lnTo>
                    <a:pt x="1631554" y="55808"/>
                  </a:lnTo>
                  <a:lnTo>
                    <a:pt x="1587140" y="42995"/>
                  </a:lnTo>
                  <a:lnTo>
                    <a:pt x="1542071" y="31783"/>
                  </a:lnTo>
                  <a:lnTo>
                    <a:pt x="1496379" y="22208"/>
                  </a:lnTo>
                  <a:lnTo>
                    <a:pt x="1450096" y="14300"/>
                  </a:lnTo>
                  <a:lnTo>
                    <a:pt x="1403255" y="8092"/>
                  </a:lnTo>
                  <a:lnTo>
                    <a:pt x="1355890" y="3618"/>
                  </a:lnTo>
                  <a:lnTo>
                    <a:pt x="1308031" y="910"/>
                  </a:lnTo>
                  <a:lnTo>
                    <a:pt x="1259713" y="0"/>
                  </a:lnTo>
                  <a:close/>
                </a:path>
              </a:pathLst>
            </a:custGeom>
            <a:solidFill>
              <a:srgbClr val="BEBEB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5" name="object 30">
              <a:extLst>
                <a:ext uri="{FF2B5EF4-FFF2-40B4-BE49-F238E27FC236}">
                  <a16:creationId xmlns:a16="http://schemas.microsoft.com/office/drawing/2014/main" id="{AC1B56C4-669D-969A-2B3D-077D7B30B3EF}"/>
                </a:ext>
              </a:extLst>
            </p:cNvPr>
            <p:cNvSpPr/>
            <p:nvPr/>
          </p:nvSpPr>
          <p:spPr>
            <a:xfrm>
              <a:off x="770981" y="2923806"/>
              <a:ext cx="2447925" cy="2448560"/>
            </a:xfrm>
            <a:prstGeom prst="rect">
              <a:avLst/>
            </a:prstGeom>
            <a:blipFill>
              <a:blip r:embed="rId9"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6" name="object 31">
              <a:extLst>
                <a:ext uri="{FF2B5EF4-FFF2-40B4-BE49-F238E27FC236}">
                  <a16:creationId xmlns:a16="http://schemas.microsoft.com/office/drawing/2014/main" id="{902F0B22-7854-A9DB-68CE-18059B38A868}"/>
                </a:ext>
              </a:extLst>
            </p:cNvPr>
            <p:cNvSpPr/>
            <p:nvPr/>
          </p:nvSpPr>
          <p:spPr>
            <a:xfrm>
              <a:off x="2118324" y="3290202"/>
              <a:ext cx="898524" cy="898525"/>
            </a:xfrm>
            <a:prstGeom prst="rect">
              <a:avLst/>
            </a:prstGeom>
            <a:blipFill>
              <a:blip r:embed="rId10"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占位符 16">
            <a:extLst>
              <a:ext uri="{FF2B5EF4-FFF2-40B4-BE49-F238E27FC236}">
                <a16:creationId xmlns:a16="http://schemas.microsoft.com/office/drawing/2014/main" id="{BE3CF10A-2796-9B6F-F62C-80368A1C995B}"/>
              </a:ext>
            </a:extLst>
          </p:cNvPr>
          <p:cNvSpPr>
            <a:spLocks noGrp="1"/>
          </p:cNvSpPr>
          <p:nvPr>
            <p:ph type="body" sz="quarter" idx="22"/>
          </p:nvPr>
        </p:nvSpPr>
        <p:spPr/>
        <p:txBody>
          <a:bodyPr/>
          <a:lstStyle/>
          <a:p>
            <a:r>
              <a:rPr lang="zh-CN" altLang="en-US" sz="1800" b="1" dirty="0">
                <a:latin typeface="微软雅黑" panose="020B0503020204020204" pitchFamily="34" charset="-122"/>
                <a:ea typeface="微软雅黑" panose="020B0503020204020204" pitchFamily="34" charset="-122"/>
              </a:rPr>
              <a:t>在这个过程中，汽车行业整体收入将逐渐向价值链的下游转移，单一的产品销售收入比例将降低，而后端车</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出行相关的服务比例将持续上升</a:t>
            </a:r>
          </a:p>
          <a:p>
            <a:endParaRPr lang="zh-CN" altLang="en-US" sz="1800" dirty="0">
              <a:latin typeface="微软雅黑" panose="020B0503020204020204" pitchFamily="34" charset="-122"/>
              <a:ea typeface="微软雅黑" panose="020B0503020204020204" pitchFamily="34" charset="-122"/>
            </a:endParaRPr>
          </a:p>
        </p:txBody>
      </p:sp>
      <p:sp>
        <p:nvSpPr>
          <p:cNvPr id="5" name="灯片编号占位符 4">
            <a:extLst>
              <a:ext uri="{FF2B5EF4-FFF2-40B4-BE49-F238E27FC236}">
                <a16:creationId xmlns:a16="http://schemas.microsoft.com/office/drawing/2014/main" id="{6B7BAC62-83AA-E10A-A4DD-FF6EC21C61FE}"/>
              </a:ext>
            </a:extLst>
          </p:cNvPr>
          <p:cNvSpPr>
            <a:spLocks noGrp="1"/>
          </p:cNvSpPr>
          <p:nvPr>
            <p:ph type="sldNum" sz="quarter" idx="4"/>
          </p:nvPr>
        </p:nvSpPr>
        <p:spPr/>
        <p:txBody>
          <a:bodyPr/>
          <a:lstStyle/>
          <a:p>
            <a:fld id="{04824671-56D2-5D44-834F-250C3DA554E9}" type="slidenum">
              <a:rPr lang="zh-CN" altLang="en-US" smtClean="0">
                <a:latin typeface="微软雅黑" panose="020B0503020204020204" pitchFamily="34" charset="-122"/>
                <a:ea typeface="微软雅黑" panose="020B0503020204020204" pitchFamily="34" charset="-122"/>
              </a:rPr>
              <a:t>56</a:t>
            </a:fld>
            <a:endParaRPr lang="zh-CN" altLang="en-US"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92C03D6B-2335-1611-9945-B38A99BA8DCD}"/>
              </a:ext>
            </a:extLst>
          </p:cNvPr>
          <p:cNvSpPr/>
          <p:nvPr/>
        </p:nvSpPr>
        <p:spPr>
          <a:xfrm>
            <a:off x="7429076" y="2526148"/>
            <a:ext cx="4273178" cy="3493652"/>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spcBef>
                <a:spcPts val="600"/>
              </a:spcBef>
              <a:spcAft>
                <a:spcPts val="600"/>
              </a:spcAft>
              <a:buFont typeface="Wingdings" panose="05000000000000000000" pitchFamily="2" charset="2"/>
              <a:buChar char="p"/>
            </a:pPr>
            <a:r>
              <a:rPr lang="zh-CN" altLang="en-US" sz="1400" b="0" dirty="0">
                <a:solidFill>
                  <a:schemeClr val="tx1"/>
                </a:solidFill>
                <a:latin typeface="微软雅黑" panose="020B0503020204020204" pitchFamily="34" charset="-122"/>
                <a:ea typeface="微软雅黑" panose="020B0503020204020204" pitchFamily="34" charset="-122"/>
              </a:rPr>
              <a:t>总体而言，价值链后端的价值及重要性将</a:t>
            </a:r>
            <a:r>
              <a:rPr lang="zh-CN" altLang="en-US" sz="1400" b="1" dirty="0">
                <a:solidFill>
                  <a:schemeClr val="tx1"/>
                </a:solidFill>
                <a:latin typeface="微软雅黑" panose="020B0503020204020204" pitchFamily="34" charset="-122"/>
                <a:ea typeface="微软雅黑" panose="020B0503020204020204" pitchFamily="34" charset="-122"/>
              </a:rPr>
              <a:t>越来越高</a:t>
            </a:r>
            <a:r>
              <a:rPr lang="en-US" altLang="zh-CN" sz="1400" b="0" dirty="0">
                <a:solidFill>
                  <a:schemeClr val="tx1"/>
                </a:solidFill>
                <a:latin typeface="微软雅黑" panose="020B0503020204020204" pitchFamily="34" charset="-122"/>
                <a:ea typeface="微软雅黑" panose="020B0503020204020204" pitchFamily="34" charset="-122"/>
              </a:rPr>
              <a:t>(</a:t>
            </a:r>
            <a:r>
              <a:rPr lang="zh-CN" altLang="en-US" sz="1400" b="0" dirty="0">
                <a:solidFill>
                  <a:schemeClr val="tx1"/>
                </a:solidFill>
                <a:latin typeface="微软雅黑" panose="020B0503020204020204" pitchFamily="34" charset="-122"/>
                <a:ea typeface="微软雅黑" panose="020B0503020204020204" pitchFamily="34" charset="-122"/>
              </a:rPr>
              <a:t>包括后市场、能源服务、数据驱动型服务以及共享出行等</a:t>
            </a:r>
            <a:r>
              <a:rPr lang="en-US" altLang="zh-CN" sz="1400" b="0" dirty="0">
                <a:solidFill>
                  <a:schemeClr val="tx1"/>
                </a:solidFill>
                <a:latin typeface="微软雅黑" panose="020B0503020204020204" pitchFamily="34" charset="-122"/>
                <a:ea typeface="微软雅黑" panose="020B0503020204020204" pitchFamily="34" charset="-122"/>
              </a:rPr>
              <a:t>)</a:t>
            </a:r>
          </a:p>
          <a:p>
            <a:pPr marL="540000" indent="-285750">
              <a:spcBef>
                <a:spcPts val="300"/>
              </a:spcBef>
              <a:spcAft>
                <a:spcPts val="300"/>
              </a:spcAft>
              <a:buFont typeface="Arial" panose="020B060402020202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共享出行服务</a:t>
            </a:r>
            <a:r>
              <a:rPr lang="zh-CN" altLang="en-US" sz="1400" b="0" dirty="0">
                <a:solidFill>
                  <a:schemeClr val="tx1"/>
                </a:solidFill>
                <a:latin typeface="微软雅黑" panose="020B0503020204020204" pitchFamily="34" charset="-122"/>
                <a:ea typeface="微软雅黑" panose="020B0503020204020204" pitchFamily="34" charset="-122"/>
              </a:rPr>
              <a:t>已成为重要的出行商业模式。对未来</a:t>
            </a:r>
            <a:r>
              <a:rPr lang="zh-CN" altLang="en-US" sz="1400" b="1" dirty="0">
                <a:solidFill>
                  <a:schemeClr val="tx1"/>
                </a:solidFill>
                <a:latin typeface="微软雅黑" panose="020B0503020204020204" pitchFamily="34" charset="-122"/>
                <a:ea typeface="微软雅黑" panose="020B0503020204020204" pitchFamily="34" charset="-122"/>
              </a:rPr>
              <a:t>汽车业的发展至关重要</a:t>
            </a:r>
            <a:endParaRPr lang="en-US" altLang="zh-CN" sz="1400" b="1" dirty="0">
              <a:solidFill>
                <a:schemeClr val="tx1"/>
              </a:solidFill>
              <a:latin typeface="微软雅黑" panose="020B0503020204020204" pitchFamily="34" charset="-122"/>
              <a:ea typeface="微软雅黑" panose="020B0503020204020204" pitchFamily="34" charset="-122"/>
            </a:endParaRPr>
          </a:p>
          <a:p>
            <a:pPr marL="540000" indent="-285750">
              <a:spcBef>
                <a:spcPts val="300"/>
              </a:spcBef>
              <a:spcAft>
                <a:spcPts val="300"/>
              </a:spcAft>
              <a:buFont typeface="Arial" panose="020B0604020202020204" pitchFamily="34" charset="0"/>
              <a:buChar char="•"/>
            </a:pPr>
            <a:r>
              <a:rPr lang="zh-CN" altLang="en-US" sz="1400" b="0" dirty="0">
                <a:solidFill>
                  <a:schemeClr val="tx1"/>
                </a:solidFill>
                <a:latin typeface="微软雅黑" panose="020B0503020204020204" pitchFamily="34" charset="-122"/>
                <a:ea typeface="微软雅黑" panose="020B0503020204020204" pitchFamily="34" charset="-122"/>
              </a:rPr>
              <a:t>伴随新能源车的普及与三电系统的进一步发展</a:t>
            </a:r>
            <a:r>
              <a:rPr lang="zh-CN" altLang="en-US" sz="1400" dirty="0">
                <a:solidFill>
                  <a:schemeClr val="tx1"/>
                </a:solidFill>
                <a:latin typeface="微软雅黑" panose="020B0503020204020204" pitchFamily="34" charset="-122"/>
                <a:ea typeface="微软雅黑" panose="020B0503020204020204" pitchFamily="34" charset="-122"/>
              </a:rPr>
              <a:t>，</a:t>
            </a:r>
            <a:r>
              <a:rPr lang="zh-CN" altLang="en-US" sz="1400" b="1" dirty="0">
                <a:solidFill>
                  <a:schemeClr val="tx1"/>
                </a:solidFill>
                <a:latin typeface="微软雅黑" panose="020B0503020204020204" pitchFamily="34" charset="-122"/>
                <a:ea typeface="微软雅黑" panose="020B0503020204020204" pitchFamily="34" charset="-122"/>
              </a:rPr>
              <a:t>传统的后市场服务及补能服务收入将有所下降</a:t>
            </a:r>
            <a:endParaRPr lang="en-US" altLang="zh-CN" sz="1400" b="1" dirty="0">
              <a:solidFill>
                <a:schemeClr val="tx1"/>
              </a:solidFill>
              <a:latin typeface="微软雅黑" panose="020B0503020204020204" pitchFamily="34" charset="-122"/>
              <a:ea typeface="微软雅黑" panose="020B0503020204020204" pitchFamily="34" charset="-122"/>
            </a:endParaRPr>
          </a:p>
          <a:p>
            <a:pPr marL="285750" indent="-285750">
              <a:spcBef>
                <a:spcPts val="600"/>
              </a:spcBef>
              <a:spcAft>
                <a:spcPts val="600"/>
              </a:spcAft>
              <a:buFont typeface="Wingdings" panose="05000000000000000000" pitchFamily="2" charset="2"/>
              <a:buChar char="p"/>
            </a:pPr>
            <a:r>
              <a:rPr lang="zh-CN" altLang="en-US" sz="1400" b="0" dirty="0">
                <a:solidFill>
                  <a:schemeClr val="tx1"/>
                </a:solidFill>
                <a:latin typeface="微软雅黑" panose="020B0503020204020204" pitchFamily="34" charset="-122"/>
                <a:ea typeface="微软雅黑" panose="020B0503020204020204" pitchFamily="34" charset="-122"/>
              </a:rPr>
              <a:t>尽管价值链</a:t>
            </a:r>
            <a:r>
              <a:rPr lang="zh-CN" altLang="en-US" sz="1400" b="1" dirty="0">
                <a:solidFill>
                  <a:schemeClr val="tx1"/>
                </a:solidFill>
                <a:latin typeface="微软雅黑" panose="020B0503020204020204" pitchFamily="34" charset="-122"/>
                <a:ea typeface="微软雅黑" panose="020B0503020204020204" pitchFamily="34" charset="-122"/>
              </a:rPr>
              <a:t>上游</a:t>
            </a:r>
            <a:r>
              <a:rPr lang="zh-CN" altLang="en-US" sz="1400" dirty="0">
                <a:solidFill>
                  <a:schemeClr val="tx1"/>
                </a:solidFill>
                <a:latin typeface="微软雅黑" panose="020B0503020204020204" pitchFamily="34" charset="-122"/>
                <a:ea typeface="微软雅黑" panose="020B0503020204020204" pitchFamily="34" charset="-122"/>
              </a:rPr>
              <a:t>（</a:t>
            </a:r>
            <a:r>
              <a:rPr lang="zh-CN" altLang="en-US" sz="1400" b="0" dirty="0">
                <a:solidFill>
                  <a:schemeClr val="tx1"/>
                </a:solidFill>
                <a:latin typeface="微软雅黑" panose="020B0503020204020204" pitchFamily="34" charset="-122"/>
                <a:ea typeface="微软雅黑" panose="020B0503020204020204" pitchFamily="34" charset="-122"/>
              </a:rPr>
              <a:t>零部件到金融）价值占比有所</a:t>
            </a:r>
            <a:r>
              <a:rPr lang="zh-CN" altLang="en-US" sz="1400" b="1" dirty="0">
                <a:solidFill>
                  <a:schemeClr val="tx1"/>
                </a:solidFill>
                <a:latin typeface="微软雅黑" panose="020B0503020204020204" pitchFamily="34" charset="-122"/>
                <a:ea typeface="微软雅黑" panose="020B0503020204020204" pitchFamily="34" charset="-122"/>
              </a:rPr>
              <a:t>下降，</a:t>
            </a:r>
            <a:r>
              <a:rPr lang="zh-CN" altLang="en-US" sz="1400" b="0" dirty="0">
                <a:solidFill>
                  <a:schemeClr val="tx1"/>
                </a:solidFill>
                <a:latin typeface="微软雅黑" panose="020B0503020204020204" pitchFamily="34" charset="-122"/>
                <a:ea typeface="微软雅黑" panose="020B0503020204020204" pitchFamily="34" charset="-122"/>
              </a:rPr>
              <a:t>但</a:t>
            </a:r>
            <a:r>
              <a:rPr lang="zh-CN" altLang="en-US" sz="1400" b="1" dirty="0">
                <a:solidFill>
                  <a:schemeClr val="tx1"/>
                </a:solidFill>
                <a:latin typeface="微软雅黑" panose="020B0503020204020204" pitchFamily="34" charset="-122"/>
                <a:ea typeface="微软雅黑" panose="020B0503020204020204" pitchFamily="34" charset="-122"/>
              </a:rPr>
              <a:t>总体仍超过</a:t>
            </a:r>
            <a:r>
              <a:rPr lang="en-US" altLang="zh-CN" sz="1400" b="1" dirty="0">
                <a:solidFill>
                  <a:schemeClr val="tx1"/>
                </a:solidFill>
                <a:latin typeface="微软雅黑" panose="020B0503020204020204" pitchFamily="34" charset="-122"/>
                <a:ea typeface="微软雅黑" panose="020B0503020204020204" pitchFamily="34" charset="-122"/>
              </a:rPr>
              <a:t>50%</a:t>
            </a:r>
            <a:r>
              <a:rPr lang="zh-CN" altLang="en-US" sz="1400" b="1" dirty="0">
                <a:solidFill>
                  <a:schemeClr val="tx1"/>
                </a:solidFill>
                <a:latin typeface="微软雅黑" panose="020B0503020204020204" pitchFamily="34" charset="-122"/>
                <a:ea typeface="微软雅黑" panose="020B0503020204020204" pitchFamily="34" charset="-122"/>
              </a:rPr>
              <a:t>，且价值总量仍然呈增长趋势</a:t>
            </a:r>
            <a:r>
              <a:rPr lang="en-US" altLang="zh-CN" sz="1400" b="1" dirty="0">
                <a:solidFill>
                  <a:schemeClr val="tx1"/>
                </a:solidFill>
                <a:latin typeface="微软雅黑" panose="020B0503020204020204" pitchFamily="34" charset="-122"/>
                <a:ea typeface="微软雅黑" panose="020B0503020204020204" pitchFamily="34" charset="-122"/>
              </a:rPr>
              <a:t>-</a:t>
            </a:r>
            <a:r>
              <a:rPr lang="zh-CN" altLang="en-US" sz="1400" b="1" dirty="0">
                <a:solidFill>
                  <a:schemeClr val="tx1"/>
                </a:solidFill>
                <a:latin typeface="微软雅黑" panose="020B0503020204020204" pitchFamily="34" charset="-122"/>
                <a:ea typeface="微软雅黑" panose="020B0503020204020204" pitchFamily="34" charset="-122"/>
              </a:rPr>
              <a:t>其价值仍不可忽视</a:t>
            </a:r>
            <a:endParaRPr lang="en-US" altLang="zh-CN" sz="1400" b="1" dirty="0">
              <a:solidFill>
                <a:schemeClr val="tx1"/>
              </a:solidFill>
              <a:latin typeface="微软雅黑" panose="020B0503020204020204" pitchFamily="34" charset="-122"/>
              <a:ea typeface="微软雅黑" panose="020B0503020204020204" pitchFamily="34" charset="-122"/>
            </a:endParaRPr>
          </a:p>
          <a:p>
            <a:pPr marL="285750" indent="-285750">
              <a:spcBef>
                <a:spcPts val="600"/>
              </a:spcBef>
              <a:spcAft>
                <a:spcPts val="600"/>
              </a:spcAft>
              <a:buFont typeface="Wingdings" panose="05000000000000000000" pitchFamily="2" charset="2"/>
              <a:buChar char="p"/>
            </a:pPr>
            <a:r>
              <a:rPr lang="zh-CN" altLang="en-US" sz="1400" b="1" dirty="0">
                <a:solidFill>
                  <a:schemeClr val="tx1"/>
                </a:solidFill>
                <a:latin typeface="微软雅黑" panose="020B0503020204020204" pitchFamily="34" charset="-122"/>
                <a:ea typeface="微软雅黑" panose="020B0503020204020204" pitchFamily="34" charset="-122"/>
              </a:rPr>
              <a:t>新能源汽车基础设施和数据驱动服务</a:t>
            </a:r>
            <a:r>
              <a:rPr lang="zh-CN" altLang="en-US" sz="1400" b="0" dirty="0">
                <a:solidFill>
                  <a:schemeClr val="tx1"/>
                </a:solidFill>
                <a:latin typeface="微软雅黑" panose="020B0503020204020204" pitchFamily="34" charset="-122"/>
                <a:ea typeface="微软雅黑" panose="020B0503020204020204" pitchFamily="34" charset="-122"/>
              </a:rPr>
              <a:t>不仅具有快速发展的潜力，还可以成为</a:t>
            </a:r>
            <a:r>
              <a:rPr lang="zh-CN" altLang="en-US" sz="1400" b="1" dirty="0">
                <a:solidFill>
                  <a:schemeClr val="tx1"/>
                </a:solidFill>
                <a:latin typeface="微软雅黑" panose="020B0503020204020204" pitchFamily="34" charset="-122"/>
                <a:ea typeface="微软雅黑" panose="020B0503020204020204" pitchFamily="34" charset="-122"/>
              </a:rPr>
              <a:t>其他业务的推动因素</a:t>
            </a:r>
          </a:p>
        </p:txBody>
      </p:sp>
      <p:graphicFrame>
        <p:nvGraphicFramePr>
          <p:cNvPr id="9" name="图表 8">
            <a:extLst>
              <a:ext uri="{FF2B5EF4-FFF2-40B4-BE49-F238E27FC236}">
                <a16:creationId xmlns:a16="http://schemas.microsoft.com/office/drawing/2014/main" id="{403BE4C2-E15E-55FD-2F49-CE5F7F7B3C86}"/>
              </a:ext>
            </a:extLst>
          </p:cNvPr>
          <p:cNvGraphicFramePr/>
          <p:nvPr/>
        </p:nvGraphicFramePr>
        <p:xfrm>
          <a:off x="322456" y="2526148"/>
          <a:ext cx="5327227" cy="3757387"/>
        </p:xfrm>
        <a:graphic>
          <a:graphicData uri="http://schemas.openxmlformats.org/drawingml/2006/chart">
            <c:chart xmlns:c="http://schemas.openxmlformats.org/drawingml/2006/chart" xmlns:r="http://schemas.openxmlformats.org/officeDocument/2006/relationships" r:id="rId2"/>
          </a:graphicData>
        </a:graphic>
      </p:graphicFrame>
      <p:sp>
        <p:nvSpPr>
          <p:cNvPr id="10" name="文本框 9">
            <a:extLst>
              <a:ext uri="{FF2B5EF4-FFF2-40B4-BE49-F238E27FC236}">
                <a16:creationId xmlns:a16="http://schemas.microsoft.com/office/drawing/2014/main" id="{284D7A36-9599-255C-D82E-210A52042DF6}"/>
              </a:ext>
            </a:extLst>
          </p:cNvPr>
          <p:cNvSpPr txBox="1"/>
          <p:nvPr/>
        </p:nvSpPr>
        <p:spPr>
          <a:xfrm>
            <a:off x="5287345" y="2649480"/>
            <a:ext cx="1349829" cy="261610"/>
          </a:xfrm>
          <a:prstGeom prst="rect">
            <a:avLst/>
          </a:prstGeom>
          <a:noFill/>
        </p:spPr>
        <p:txBody>
          <a:bodyPr wrap="square" rtlCol="0">
            <a:spAutoFit/>
          </a:bodyPr>
          <a:lstStyle/>
          <a:p>
            <a:pPr>
              <a:spcBef>
                <a:spcPts val="600"/>
              </a:spcBef>
              <a:spcAft>
                <a:spcPts val="600"/>
              </a:spcAft>
            </a:pPr>
            <a:r>
              <a:rPr lang="zh-CN" altLang="en-US" sz="1100" b="1" dirty="0">
                <a:solidFill>
                  <a:srgbClr val="000000"/>
                </a:solidFill>
                <a:latin typeface="微软雅黑" panose="020B0503020204020204" pitchFamily="34" charset="-122"/>
                <a:ea typeface="微软雅黑" panose="020B0503020204020204" pitchFamily="34" charset="-122"/>
              </a:rPr>
              <a:t>零部件开发</a:t>
            </a:r>
            <a:r>
              <a:rPr lang="en-US" altLang="zh-CN" sz="1100" b="1" dirty="0">
                <a:solidFill>
                  <a:srgbClr val="000000"/>
                </a:solidFill>
                <a:latin typeface="微软雅黑" panose="020B0503020204020204" pitchFamily="34" charset="-122"/>
                <a:ea typeface="微软雅黑" panose="020B0503020204020204" pitchFamily="34" charset="-122"/>
              </a:rPr>
              <a:t>&amp;</a:t>
            </a:r>
            <a:r>
              <a:rPr lang="zh-CN" altLang="en-US" sz="1100" b="1" dirty="0">
                <a:solidFill>
                  <a:srgbClr val="000000"/>
                </a:solidFill>
                <a:latin typeface="微软雅黑" panose="020B0503020204020204" pitchFamily="34" charset="-122"/>
                <a:ea typeface="微软雅黑" panose="020B0503020204020204" pitchFamily="34" charset="-122"/>
              </a:rPr>
              <a:t>制造</a:t>
            </a:r>
          </a:p>
        </p:txBody>
      </p:sp>
      <p:sp>
        <p:nvSpPr>
          <p:cNvPr id="11" name="文本框 10">
            <a:extLst>
              <a:ext uri="{FF2B5EF4-FFF2-40B4-BE49-F238E27FC236}">
                <a16:creationId xmlns:a16="http://schemas.microsoft.com/office/drawing/2014/main" id="{E4F4DE26-B85F-3D0F-2520-A040CFD2A228}"/>
              </a:ext>
            </a:extLst>
          </p:cNvPr>
          <p:cNvSpPr txBox="1"/>
          <p:nvPr/>
        </p:nvSpPr>
        <p:spPr>
          <a:xfrm>
            <a:off x="5287344" y="3071476"/>
            <a:ext cx="1349829" cy="261610"/>
          </a:xfrm>
          <a:prstGeom prst="rect">
            <a:avLst/>
          </a:prstGeom>
          <a:noFill/>
        </p:spPr>
        <p:txBody>
          <a:bodyPr wrap="square" rtlCol="0">
            <a:spAutoFit/>
          </a:bodyPr>
          <a:lstStyle/>
          <a:p>
            <a:pPr>
              <a:spcBef>
                <a:spcPts val="600"/>
              </a:spcBef>
              <a:spcAft>
                <a:spcPts val="600"/>
              </a:spcAft>
            </a:pPr>
            <a:r>
              <a:rPr lang="zh-CN" altLang="en-US" sz="1100" b="1" dirty="0">
                <a:solidFill>
                  <a:srgbClr val="000000"/>
                </a:solidFill>
                <a:latin typeface="微软雅黑" panose="020B0503020204020204" pitchFamily="34" charset="-122"/>
                <a:ea typeface="微软雅黑" panose="020B0503020204020204" pitchFamily="34" charset="-122"/>
              </a:rPr>
              <a:t>主机厂</a:t>
            </a:r>
          </a:p>
        </p:txBody>
      </p:sp>
      <p:sp>
        <p:nvSpPr>
          <p:cNvPr id="12" name="文本框 11">
            <a:extLst>
              <a:ext uri="{FF2B5EF4-FFF2-40B4-BE49-F238E27FC236}">
                <a16:creationId xmlns:a16="http://schemas.microsoft.com/office/drawing/2014/main" id="{73B1EF3A-9166-1B75-5803-45CE6BC7619B}"/>
              </a:ext>
            </a:extLst>
          </p:cNvPr>
          <p:cNvSpPr txBox="1"/>
          <p:nvPr/>
        </p:nvSpPr>
        <p:spPr>
          <a:xfrm>
            <a:off x="5287343" y="3500294"/>
            <a:ext cx="1349829" cy="261610"/>
          </a:xfrm>
          <a:prstGeom prst="rect">
            <a:avLst/>
          </a:prstGeom>
          <a:noFill/>
        </p:spPr>
        <p:txBody>
          <a:bodyPr wrap="square" rtlCol="0">
            <a:spAutoFit/>
          </a:bodyPr>
          <a:lstStyle/>
          <a:p>
            <a:pPr>
              <a:spcBef>
                <a:spcPts val="600"/>
              </a:spcBef>
              <a:spcAft>
                <a:spcPts val="600"/>
              </a:spcAft>
            </a:pPr>
            <a:r>
              <a:rPr lang="zh-CN" altLang="en-US" sz="1100" b="1" dirty="0">
                <a:solidFill>
                  <a:srgbClr val="0070C0"/>
                </a:solidFill>
                <a:latin typeface="微软雅黑" panose="020B0503020204020204" pitchFamily="34" charset="-122"/>
                <a:ea typeface="微软雅黑" panose="020B0503020204020204" pitchFamily="34" charset="-122"/>
              </a:rPr>
              <a:t>销售</a:t>
            </a:r>
            <a:r>
              <a:rPr lang="en-US" altLang="zh-CN" sz="1100" b="1" dirty="0">
                <a:solidFill>
                  <a:srgbClr val="0070C0"/>
                </a:solidFill>
                <a:latin typeface="微软雅黑" panose="020B0503020204020204" pitchFamily="34" charset="-122"/>
                <a:ea typeface="微软雅黑" panose="020B0503020204020204" pitchFamily="34" charset="-122"/>
              </a:rPr>
              <a:t>&amp;</a:t>
            </a:r>
            <a:r>
              <a:rPr lang="zh-CN" altLang="en-US" sz="1100" b="1" dirty="0">
                <a:solidFill>
                  <a:srgbClr val="0070C0"/>
                </a:solidFill>
                <a:latin typeface="微软雅黑" panose="020B0503020204020204" pitchFamily="34" charset="-122"/>
                <a:ea typeface="微软雅黑" panose="020B0503020204020204" pitchFamily="34" charset="-122"/>
              </a:rPr>
              <a:t>服务</a:t>
            </a:r>
          </a:p>
        </p:txBody>
      </p:sp>
      <p:sp>
        <p:nvSpPr>
          <p:cNvPr id="13" name="文本框 12">
            <a:extLst>
              <a:ext uri="{FF2B5EF4-FFF2-40B4-BE49-F238E27FC236}">
                <a16:creationId xmlns:a16="http://schemas.microsoft.com/office/drawing/2014/main" id="{40B3553C-0EE2-DA5B-4DEF-BF942DD34741}"/>
              </a:ext>
            </a:extLst>
          </p:cNvPr>
          <p:cNvSpPr txBox="1"/>
          <p:nvPr/>
        </p:nvSpPr>
        <p:spPr>
          <a:xfrm>
            <a:off x="5287343" y="4022357"/>
            <a:ext cx="1349829" cy="261610"/>
          </a:xfrm>
          <a:prstGeom prst="rect">
            <a:avLst/>
          </a:prstGeom>
          <a:noFill/>
        </p:spPr>
        <p:txBody>
          <a:bodyPr wrap="square" rtlCol="0">
            <a:spAutoFit/>
          </a:bodyPr>
          <a:lstStyle/>
          <a:p>
            <a:pPr>
              <a:spcBef>
                <a:spcPts val="600"/>
              </a:spcBef>
              <a:spcAft>
                <a:spcPts val="600"/>
              </a:spcAft>
            </a:pPr>
            <a:r>
              <a:rPr lang="zh-CN" altLang="en-US" sz="1100" b="1" dirty="0">
                <a:solidFill>
                  <a:srgbClr val="000000"/>
                </a:solidFill>
                <a:latin typeface="微软雅黑" panose="020B0503020204020204" pitchFamily="34" charset="-122"/>
                <a:ea typeface="微软雅黑" panose="020B0503020204020204" pitchFamily="34" charset="-122"/>
              </a:rPr>
              <a:t>汽车金融</a:t>
            </a:r>
          </a:p>
        </p:txBody>
      </p:sp>
      <p:sp>
        <p:nvSpPr>
          <p:cNvPr id="15" name="文本框 14">
            <a:extLst>
              <a:ext uri="{FF2B5EF4-FFF2-40B4-BE49-F238E27FC236}">
                <a16:creationId xmlns:a16="http://schemas.microsoft.com/office/drawing/2014/main" id="{D3397766-E9B1-0473-4D1C-7C62BB8A051C}"/>
              </a:ext>
            </a:extLst>
          </p:cNvPr>
          <p:cNvSpPr txBox="1"/>
          <p:nvPr/>
        </p:nvSpPr>
        <p:spPr>
          <a:xfrm>
            <a:off x="5265298" y="4344988"/>
            <a:ext cx="1349829" cy="261610"/>
          </a:xfrm>
          <a:prstGeom prst="rect">
            <a:avLst/>
          </a:prstGeom>
          <a:noFill/>
        </p:spPr>
        <p:txBody>
          <a:bodyPr wrap="square" rtlCol="0">
            <a:spAutoFit/>
          </a:bodyPr>
          <a:lstStyle/>
          <a:p>
            <a:pPr>
              <a:spcBef>
                <a:spcPts val="600"/>
              </a:spcBef>
              <a:spcAft>
                <a:spcPts val="600"/>
              </a:spcAft>
            </a:pPr>
            <a:r>
              <a:rPr lang="zh-CN" altLang="en-US" sz="1100" b="1" dirty="0">
                <a:solidFill>
                  <a:srgbClr val="000000"/>
                </a:solidFill>
                <a:latin typeface="微软雅黑" panose="020B0503020204020204" pitchFamily="34" charset="-122"/>
                <a:ea typeface="微软雅黑" panose="020B0503020204020204" pitchFamily="34" charset="-122"/>
              </a:rPr>
              <a:t>汽车后市场</a:t>
            </a:r>
          </a:p>
        </p:txBody>
      </p:sp>
      <p:sp>
        <p:nvSpPr>
          <p:cNvPr id="16" name="文本框 15">
            <a:extLst>
              <a:ext uri="{FF2B5EF4-FFF2-40B4-BE49-F238E27FC236}">
                <a16:creationId xmlns:a16="http://schemas.microsoft.com/office/drawing/2014/main" id="{F431C39D-F542-E30B-DCE3-0F4543B0BDF8}"/>
              </a:ext>
            </a:extLst>
          </p:cNvPr>
          <p:cNvSpPr txBox="1"/>
          <p:nvPr/>
        </p:nvSpPr>
        <p:spPr>
          <a:xfrm>
            <a:off x="5287342" y="4520360"/>
            <a:ext cx="1349829" cy="261610"/>
          </a:xfrm>
          <a:prstGeom prst="rect">
            <a:avLst/>
          </a:prstGeom>
          <a:noFill/>
        </p:spPr>
        <p:txBody>
          <a:bodyPr wrap="square" rtlCol="0">
            <a:spAutoFit/>
          </a:bodyPr>
          <a:lstStyle/>
          <a:p>
            <a:pPr>
              <a:spcBef>
                <a:spcPts val="600"/>
              </a:spcBef>
              <a:spcAft>
                <a:spcPts val="600"/>
              </a:spcAft>
            </a:pPr>
            <a:r>
              <a:rPr lang="zh-CN" altLang="en-US" sz="1100" b="1" dirty="0">
                <a:solidFill>
                  <a:srgbClr val="000000"/>
                </a:solidFill>
                <a:latin typeface="微软雅黑" panose="020B0503020204020204" pitchFamily="34" charset="-122"/>
                <a:ea typeface="微软雅黑" panose="020B0503020204020204" pitchFamily="34" charset="-122"/>
              </a:rPr>
              <a:t>能源</a:t>
            </a:r>
          </a:p>
        </p:txBody>
      </p:sp>
      <p:sp>
        <p:nvSpPr>
          <p:cNvPr id="18" name="文本占位符 6">
            <a:extLst>
              <a:ext uri="{FF2B5EF4-FFF2-40B4-BE49-F238E27FC236}">
                <a16:creationId xmlns:a16="http://schemas.microsoft.com/office/drawing/2014/main" id="{AB8EC47E-B7C4-8ABE-2318-1D450E4592D1}"/>
              </a:ext>
            </a:extLst>
          </p:cNvPr>
          <p:cNvSpPr txBox="1">
            <a:spLocks/>
          </p:cNvSpPr>
          <p:nvPr/>
        </p:nvSpPr>
        <p:spPr>
          <a:xfrm>
            <a:off x="302944" y="339516"/>
            <a:ext cx="11547559" cy="499789"/>
          </a:xfrm>
          <a:prstGeom prst="rect">
            <a:avLst/>
          </a:prstGeom>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2400" b="0" i="0" kern="1200" baseline="0">
                <a:solidFill>
                  <a:schemeClr val="tx1"/>
                </a:solidFill>
                <a:latin typeface="DIN Pro Regular" panose="02000503040000020003" pitchFamily="50" charset="0"/>
                <a:ea typeface="Alibaba PuHuiTi 2.0 55 Regular" pitchFamily="18" charset="-122"/>
                <a:cs typeface="Alibaba PuHuiTi 2.0 55 Regular" pitchFamily="18" charset="-122"/>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latin typeface="微软雅黑" panose="020B0503020204020204" pitchFamily="34" charset="-122"/>
                <a:ea typeface="微软雅黑" panose="020B0503020204020204" pitchFamily="34" charset="-122"/>
              </a:rPr>
              <a:t>行业发展方向</a:t>
            </a:r>
            <a:r>
              <a:rPr kumimoji="1" lang="en-US" altLang="zh-CN" sz="2400" dirty="0">
                <a:latin typeface="微软雅黑" panose="020B0503020204020204" pitchFamily="34" charset="-122"/>
                <a:ea typeface="微软雅黑" panose="020B0503020204020204" pitchFamily="34" charset="-122"/>
              </a:rPr>
              <a:t>-</a:t>
            </a:r>
            <a:r>
              <a:rPr kumimoji="1" lang="zh-CN" altLang="en-US" sz="2400" dirty="0">
                <a:latin typeface="微软雅黑" panose="020B0503020204020204" pitchFamily="34" charset="-122"/>
                <a:ea typeface="微软雅黑" panose="020B0503020204020204" pitchFamily="34" charset="-122"/>
              </a:rPr>
              <a:t>价值链转移</a:t>
            </a:r>
          </a:p>
        </p:txBody>
      </p:sp>
      <p:sp>
        <p:nvSpPr>
          <p:cNvPr id="3" name="文本框 59">
            <a:extLst>
              <a:ext uri="{FF2B5EF4-FFF2-40B4-BE49-F238E27FC236}">
                <a16:creationId xmlns:a16="http://schemas.microsoft.com/office/drawing/2014/main" id="{F70F8322-4555-FBA0-B766-6D8D7FBC0064}"/>
              </a:ext>
            </a:extLst>
          </p:cNvPr>
          <p:cNvSpPr txBox="1"/>
          <p:nvPr/>
        </p:nvSpPr>
        <p:spPr>
          <a:xfrm>
            <a:off x="300038" y="1962147"/>
            <a:ext cx="2738796" cy="307778"/>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汽车价值链收入分布演化（亿元）</a:t>
            </a:r>
          </a:p>
        </p:txBody>
      </p:sp>
      <p:sp>
        <p:nvSpPr>
          <p:cNvPr id="4" name="文本框 55">
            <a:extLst>
              <a:ext uri="{FF2B5EF4-FFF2-40B4-BE49-F238E27FC236}">
                <a16:creationId xmlns:a16="http://schemas.microsoft.com/office/drawing/2014/main" id="{ACC7D354-A96B-6D93-039A-E6AFA901C21A}"/>
              </a:ext>
            </a:extLst>
          </p:cNvPr>
          <p:cNvSpPr txBox="1"/>
          <p:nvPr/>
        </p:nvSpPr>
        <p:spPr>
          <a:xfrm>
            <a:off x="489746" y="2375478"/>
            <a:ext cx="726937" cy="30777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微软雅黑" pitchFamily="34" charset="-122"/>
                <a:ea typeface="微软雅黑" pitchFamily="34" charset="-122"/>
              </a:rPr>
              <a:t>1,643</a:t>
            </a:r>
            <a:endParaRPr kumimoji="0" lang="zh-CN" altLang="en-US" sz="1400" b="1" i="0" u="none" strike="noStrike" kern="120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9" name="文本框 56">
            <a:extLst>
              <a:ext uri="{FF2B5EF4-FFF2-40B4-BE49-F238E27FC236}">
                <a16:creationId xmlns:a16="http://schemas.microsoft.com/office/drawing/2014/main" id="{32DDD768-A14E-6825-0F73-E82E179A038B}"/>
              </a:ext>
            </a:extLst>
          </p:cNvPr>
          <p:cNvSpPr txBox="1"/>
          <p:nvPr/>
        </p:nvSpPr>
        <p:spPr>
          <a:xfrm>
            <a:off x="1913331" y="2375478"/>
            <a:ext cx="726937" cy="30777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微软雅黑" pitchFamily="34" charset="-122"/>
                <a:ea typeface="微软雅黑" pitchFamily="34" charset="-122"/>
              </a:rPr>
              <a:t>2,145</a:t>
            </a:r>
            <a:endParaRPr kumimoji="0" lang="zh-CN" altLang="en-US" sz="1400" b="1" i="0" u="none" strike="noStrike" kern="120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0" name="文本框 57">
            <a:extLst>
              <a:ext uri="{FF2B5EF4-FFF2-40B4-BE49-F238E27FC236}">
                <a16:creationId xmlns:a16="http://schemas.microsoft.com/office/drawing/2014/main" id="{30C52A12-BF70-B2C5-3795-01F1FFF21699}"/>
              </a:ext>
            </a:extLst>
          </p:cNvPr>
          <p:cNvSpPr txBox="1"/>
          <p:nvPr/>
        </p:nvSpPr>
        <p:spPr>
          <a:xfrm>
            <a:off x="3448219" y="2346589"/>
            <a:ext cx="726937" cy="30777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微软雅黑" pitchFamily="34" charset="-122"/>
                <a:ea typeface="微软雅黑" pitchFamily="34" charset="-122"/>
              </a:rPr>
              <a:t>2,850</a:t>
            </a:r>
            <a:endParaRPr kumimoji="0" lang="zh-CN" altLang="en-US" sz="1400" b="1" i="0" u="none" strike="noStrike" kern="120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1" name="文本框 58">
            <a:extLst>
              <a:ext uri="{FF2B5EF4-FFF2-40B4-BE49-F238E27FC236}">
                <a16:creationId xmlns:a16="http://schemas.microsoft.com/office/drawing/2014/main" id="{73613738-4956-0AC8-77A0-3E67D49594C2}"/>
              </a:ext>
            </a:extLst>
          </p:cNvPr>
          <p:cNvSpPr txBox="1"/>
          <p:nvPr/>
        </p:nvSpPr>
        <p:spPr>
          <a:xfrm>
            <a:off x="4806032" y="2334881"/>
            <a:ext cx="726937" cy="30777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altLang="zh-CN" sz="1400" b="1" i="0" u="none" strike="noStrike" kern="1200" cap="none" spc="0" normalizeH="0" baseline="0" noProof="0" dirty="0">
                <a:ln>
                  <a:noFill/>
                </a:ln>
                <a:solidFill>
                  <a:srgbClr val="000000"/>
                </a:solidFill>
                <a:effectLst/>
                <a:uLnTx/>
                <a:uFillTx/>
                <a:latin typeface="微软雅黑" pitchFamily="34" charset="-122"/>
                <a:ea typeface="微软雅黑" pitchFamily="34" charset="-122"/>
              </a:rPr>
              <a:t>4,344</a:t>
            </a:r>
            <a:endParaRPr kumimoji="0" lang="zh-CN" altLang="en-US" sz="1400" b="1" i="0" u="none" strike="noStrike" kern="1200" cap="none" spc="0" normalizeH="0" baseline="0" noProof="0" dirty="0">
              <a:ln>
                <a:noFill/>
              </a:ln>
              <a:solidFill>
                <a:srgbClr val="000000"/>
              </a:solidFill>
              <a:effectLst/>
              <a:uLnTx/>
              <a:uFillTx/>
              <a:latin typeface="微软雅黑" pitchFamily="34" charset="-122"/>
              <a:ea typeface="微软雅黑" pitchFamily="34" charset="-122"/>
            </a:endParaRPr>
          </a:p>
        </p:txBody>
      </p:sp>
      <p:cxnSp>
        <p:nvCxnSpPr>
          <p:cNvPr id="22" name="直接连接符 21">
            <a:extLst>
              <a:ext uri="{FF2B5EF4-FFF2-40B4-BE49-F238E27FC236}">
                <a16:creationId xmlns:a16="http://schemas.microsoft.com/office/drawing/2014/main" id="{23C45437-779F-8148-7732-0E7722CABE6F}"/>
              </a:ext>
            </a:extLst>
          </p:cNvPr>
          <p:cNvCxnSpPr>
            <a:cxnSpLocks/>
          </p:cNvCxnSpPr>
          <p:nvPr/>
        </p:nvCxnSpPr>
        <p:spPr>
          <a:xfrm flipV="1">
            <a:off x="5220877" y="4481020"/>
            <a:ext cx="132931" cy="59170"/>
          </a:xfrm>
          <a:prstGeom prst="line">
            <a:avLst/>
          </a:prstGeom>
          <a:ln/>
        </p:spPr>
        <p:style>
          <a:lnRef idx="2">
            <a:schemeClr val="accent6"/>
          </a:lnRef>
          <a:fillRef idx="0">
            <a:schemeClr val="accent6"/>
          </a:fillRef>
          <a:effectRef idx="1">
            <a:schemeClr val="accent6"/>
          </a:effectRef>
          <a:fontRef idx="minor">
            <a:schemeClr val="tx1"/>
          </a:fontRef>
        </p:style>
      </p:cxnSp>
      <p:sp>
        <p:nvSpPr>
          <p:cNvPr id="23" name="文本框 22">
            <a:extLst>
              <a:ext uri="{FF2B5EF4-FFF2-40B4-BE49-F238E27FC236}">
                <a16:creationId xmlns:a16="http://schemas.microsoft.com/office/drawing/2014/main" id="{6172E43F-7661-4396-B42F-C31906F7A5B8}"/>
              </a:ext>
            </a:extLst>
          </p:cNvPr>
          <p:cNvSpPr txBox="1"/>
          <p:nvPr/>
        </p:nvSpPr>
        <p:spPr>
          <a:xfrm>
            <a:off x="5287343" y="4707349"/>
            <a:ext cx="1349829" cy="261610"/>
          </a:xfrm>
          <a:prstGeom prst="rect">
            <a:avLst/>
          </a:prstGeom>
          <a:noFill/>
        </p:spPr>
        <p:txBody>
          <a:bodyPr wrap="square" rtlCol="0">
            <a:spAutoFit/>
          </a:bodyPr>
          <a:lstStyle/>
          <a:p>
            <a:pPr>
              <a:spcBef>
                <a:spcPts val="600"/>
              </a:spcBef>
              <a:spcAft>
                <a:spcPts val="600"/>
              </a:spcAft>
            </a:pPr>
            <a:r>
              <a:rPr lang="zh-CN" altLang="en-US" sz="1100" b="1" dirty="0">
                <a:solidFill>
                  <a:srgbClr val="000000"/>
                </a:solidFill>
                <a:latin typeface="微软雅黑" panose="020B0503020204020204" pitchFamily="34" charset="-122"/>
                <a:ea typeface="微软雅黑" panose="020B0503020204020204" pitchFamily="34" charset="-122"/>
              </a:rPr>
              <a:t>数据服务</a:t>
            </a:r>
          </a:p>
        </p:txBody>
      </p:sp>
      <p:sp>
        <p:nvSpPr>
          <p:cNvPr id="24" name="文本框 23">
            <a:extLst>
              <a:ext uri="{FF2B5EF4-FFF2-40B4-BE49-F238E27FC236}">
                <a16:creationId xmlns:a16="http://schemas.microsoft.com/office/drawing/2014/main" id="{22454E42-013B-9065-52B9-A0DD0DDA6A37}"/>
              </a:ext>
            </a:extLst>
          </p:cNvPr>
          <p:cNvSpPr txBox="1"/>
          <p:nvPr/>
        </p:nvSpPr>
        <p:spPr>
          <a:xfrm>
            <a:off x="5287343" y="4937804"/>
            <a:ext cx="1349829" cy="261610"/>
          </a:xfrm>
          <a:prstGeom prst="rect">
            <a:avLst/>
          </a:prstGeom>
          <a:noFill/>
        </p:spPr>
        <p:txBody>
          <a:bodyPr wrap="square" rtlCol="0">
            <a:spAutoFit/>
          </a:bodyPr>
          <a:lstStyle/>
          <a:p>
            <a:pPr>
              <a:spcBef>
                <a:spcPts val="600"/>
              </a:spcBef>
              <a:spcAft>
                <a:spcPts val="600"/>
              </a:spcAft>
            </a:pPr>
            <a:r>
              <a:rPr lang="zh-CN" altLang="en-US" sz="1100" b="1" dirty="0">
                <a:solidFill>
                  <a:srgbClr val="0070C0"/>
                </a:solidFill>
                <a:latin typeface="微软雅黑" panose="020B0503020204020204" pitchFamily="34" charset="-122"/>
                <a:ea typeface="微软雅黑" panose="020B0503020204020204" pitchFamily="34" charset="-122"/>
              </a:rPr>
              <a:t>共享出行服务</a:t>
            </a:r>
          </a:p>
        </p:txBody>
      </p:sp>
      <p:sp>
        <p:nvSpPr>
          <p:cNvPr id="25" name="文本框 24">
            <a:extLst>
              <a:ext uri="{FF2B5EF4-FFF2-40B4-BE49-F238E27FC236}">
                <a16:creationId xmlns:a16="http://schemas.microsoft.com/office/drawing/2014/main" id="{83272DFF-51DE-6DD3-B146-B7DDFAC08B8C}"/>
              </a:ext>
            </a:extLst>
          </p:cNvPr>
          <p:cNvSpPr txBox="1"/>
          <p:nvPr/>
        </p:nvSpPr>
        <p:spPr>
          <a:xfrm>
            <a:off x="5287343" y="5658994"/>
            <a:ext cx="1349829" cy="261610"/>
          </a:xfrm>
          <a:prstGeom prst="rect">
            <a:avLst/>
          </a:prstGeom>
          <a:noFill/>
        </p:spPr>
        <p:txBody>
          <a:bodyPr wrap="square" rtlCol="0">
            <a:spAutoFit/>
          </a:bodyPr>
          <a:lstStyle/>
          <a:p>
            <a:pPr>
              <a:spcBef>
                <a:spcPts val="600"/>
              </a:spcBef>
              <a:spcAft>
                <a:spcPts val="600"/>
              </a:spcAft>
            </a:pPr>
            <a:r>
              <a:rPr lang="zh-CN" altLang="en-US" sz="1100" b="1" dirty="0">
                <a:solidFill>
                  <a:srgbClr val="0070C0"/>
                </a:solidFill>
                <a:latin typeface="微软雅黑" panose="020B0503020204020204" pitchFamily="34" charset="-122"/>
                <a:ea typeface="微软雅黑" panose="020B0503020204020204" pitchFamily="34" charset="-122"/>
              </a:rPr>
              <a:t>新能源基础设施</a:t>
            </a:r>
          </a:p>
        </p:txBody>
      </p:sp>
      <p:grpSp>
        <p:nvGrpSpPr>
          <p:cNvPr id="26" name="组合 25">
            <a:extLst>
              <a:ext uri="{FF2B5EF4-FFF2-40B4-BE49-F238E27FC236}">
                <a16:creationId xmlns:a16="http://schemas.microsoft.com/office/drawing/2014/main" id="{EE381264-8151-27AC-B9DB-93345C4E1B5F}"/>
              </a:ext>
            </a:extLst>
          </p:cNvPr>
          <p:cNvGrpSpPr/>
          <p:nvPr/>
        </p:nvGrpSpPr>
        <p:grpSpPr>
          <a:xfrm>
            <a:off x="6757114" y="2644865"/>
            <a:ext cx="194953" cy="194953"/>
            <a:chOff x="6897088" y="2876523"/>
            <a:chExt cx="194953" cy="194953"/>
          </a:xfrm>
        </p:grpSpPr>
        <p:sp>
          <p:nvSpPr>
            <p:cNvPr id="27" name="椭圆 26">
              <a:extLst>
                <a:ext uri="{FF2B5EF4-FFF2-40B4-BE49-F238E27FC236}">
                  <a16:creationId xmlns:a16="http://schemas.microsoft.com/office/drawing/2014/main" id="{AC4136F7-3D98-B845-66F3-8E2030836156}"/>
                </a:ext>
              </a:extLst>
            </p:cNvPr>
            <p:cNvSpPr/>
            <p:nvPr/>
          </p:nvSpPr>
          <p:spPr>
            <a:xfrm>
              <a:off x="6897088" y="2876523"/>
              <a:ext cx="194953" cy="194953"/>
            </a:xfrm>
            <a:prstGeom prst="ellipse">
              <a:avLst/>
            </a:prstGeom>
            <a:solidFill>
              <a:srgbClr val="0033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8" name="箭头: 下 27">
              <a:extLst>
                <a:ext uri="{FF2B5EF4-FFF2-40B4-BE49-F238E27FC236}">
                  <a16:creationId xmlns:a16="http://schemas.microsoft.com/office/drawing/2014/main" id="{113CF04E-A992-D4A0-47DC-644A8D841C96}"/>
                </a:ext>
              </a:extLst>
            </p:cNvPr>
            <p:cNvSpPr/>
            <p:nvPr/>
          </p:nvSpPr>
          <p:spPr>
            <a:xfrm>
              <a:off x="6941713" y="2892680"/>
              <a:ext cx="110374" cy="154589"/>
            </a:xfrm>
            <a:prstGeom prst="downArrow">
              <a:avLst>
                <a:gd name="adj1" fmla="val 50000"/>
                <a:gd name="adj2" fmla="val 5408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29" name="组合 28">
            <a:extLst>
              <a:ext uri="{FF2B5EF4-FFF2-40B4-BE49-F238E27FC236}">
                <a16:creationId xmlns:a16="http://schemas.microsoft.com/office/drawing/2014/main" id="{AEFBDAC5-08BF-B2A7-5126-BB9F7FA255AF}"/>
              </a:ext>
            </a:extLst>
          </p:cNvPr>
          <p:cNvGrpSpPr/>
          <p:nvPr/>
        </p:nvGrpSpPr>
        <p:grpSpPr>
          <a:xfrm>
            <a:off x="6757114" y="3036677"/>
            <a:ext cx="194953" cy="194953"/>
            <a:chOff x="6897088" y="2876523"/>
            <a:chExt cx="194953" cy="194953"/>
          </a:xfrm>
        </p:grpSpPr>
        <p:sp>
          <p:nvSpPr>
            <p:cNvPr id="30" name="椭圆 29">
              <a:extLst>
                <a:ext uri="{FF2B5EF4-FFF2-40B4-BE49-F238E27FC236}">
                  <a16:creationId xmlns:a16="http://schemas.microsoft.com/office/drawing/2014/main" id="{A03482AA-5735-DE73-7322-28BE31C2BDA5}"/>
                </a:ext>
              </a:extLst>
            </p:cNvPr>
            <p:cNvSpPr/>
            <p:nvPr/>
          </p:nvSpPr>
          <p:spPr>
            <a:xfrm>
              <a:off x="6897088" y="2876523"/>
              <a:ext cx="194953" cy="194953"/>
            </a:xfrm>
            <a:prstGeom prst="ellipse">
              <a:avLst/>
            </a:prstGeom>
            <a:solidFill>
              <a:srgbClr val="0033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31" name="箭头: 下 30">
              <a:extLst>
                <a:ext uri="{FF2B5EF4-FFF2-40B4-BE49-F238E27FC236}">
                  <a16:creationId xmlns:a16="http://schemas.microsoft.com/office/drawing/2014/main" id="{E2DE186E-E7C4-C7BF-7FB8-C3DB50391BD1}"/>
                </a:ext>
              </a:extLst>
            </p:cNvPr>
            <p:cNvSpPr/>
            <p:nvPr/>
          </p:nvSpPr>
          <p:spPr>
            <a:xfrm>
              <a:off x="6941713" y="2892680"/>
              <a:ext cx="110374" cy="154589"/>
            </a:xfrm>
            <a:prstGeom prst="downArrow">
              <a:avLst>
                <a:gd name="adj1" fmla="val 50000"/>
                <a:gd name="adj2" fmla="val 5408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32" name="组合 31">
            <a:extLst>
              <a:ext uri="{FF2B5EF4-FFF2-40B4-BE49-F238E27FC236}">
                <a16:creationId xmlns:a16="http://schemas.microsoft.com/office/drawing/2014/main" id="{8FD67D24-2AE9-7368-279A-D77C0281F726}"/>
              </a:ext>
            </a:extLst>
          </p:cNvPr>
          <p:cNvGrpSpPr/>
          <p:nvPr/>
        </p:nvGrpSpPr>
        <p:grpSpPr>
          <a:xfrm>
            <a:off x="6757114" y="3462085"/>
            <a:ext cx="194953" cy="194953"/>
            <a:chOff x="6897088" y="2876523"/>
            <a:chExt cx="194953" cy="194953"/>
          </a:xfrm>
        </p:grpSpPr>
        <p:sp>
          <p:nvSpPr>
            <p:cNvPr id="33" name="椭圆 32">
              <a:extLst>
                <a:ext uri="{FF2B5EF4-FFF2-40B4-BE49-F238E27FC236}">
                  <a16:creationId xmlns:a16="http://schemas.microsoft.com/office/drawing/2014/main" id="{AB25BE31-B070-7B3B-82C4-E4B0D4FD855D}"/>
                </a:ext>
              </a:extLst>
            </p:cNvPr>
            <p:cNvSpPr/>
            <p:nvPr/>
          </p:nvSpPr>
          <p:spPr>
            <a:xfrm>
              <a:off x="6897088" y="2876523"/>
              <a:ext cx="194953" cy="194953"/>
            </a:xfrm>
            <a:prstGeom prst="ellipse">
              <a:avLst/>
            </a:prstGeom>
            <a:solidFill>
              <a:srgbClr val="0033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34" name="箭头: 下 33">
              <a:extLst>
                <a:ext uri="{FF2B5EF4-FFF2-40B4-BE49-F238E27FC236}">
                  <a16:creationId xmlns:a16="http://schemas.microsoft.com/office/drawing/2014/main" id="{56154BEE-CAA7-D4C5-F710-4BE57D6A0454}"/>
                </a:ext>
              </a:extLst>
            </p:cNvPr>
            <p:cNvSpPr/>
            <p:nvPr/>
          </p:nvSpPr>
          <p:spPr>
            <a:xfrm>
              <a:off x="6941713" y="2892680"/>
              <a:ext cx="110374" cy="154589"/>
            </a:xfrm>
            <a:prstGeom prst="downArrow">
              <a:avLst>
                <a:gd name="adj1" fmla="val 50000"/>
                <a:gd name="adj2" fmla="val 5408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35" name="组合 34">
            <a:extLst>
              <a:ext uri="{FF2B5EF4-FFF2-40B4-BE49-F238E27FC236}">
                <a16:creationId xmlns:a16="http://schemas.microsoft.com/office/drawing/2014/main" id="{5F365BDB-879D-9750-B479-6F1CC0A4F2D1}"/>
              </a:ext>
            </a:extLst>
          </p:cNvPr>
          <p:cNvGrpSpPr/>
          <p:nvPr/>
        </p:nvGrpSpPr>
        <p:grpSpPr>
          <a:xfrm>
            <a:off x="6754489" y="4047514"/>
            <a:ext cx="194953" cy="194953"/>
            <a:chOff x="6897088" y="2876523"/>
            <a:chExt cx="194953" cy="194953"/>
          </a:xfrm>
        </p:grpSpPr>
        <p:sp>
          <p:nvSpPr>
            <p:cNvPr id="36" name="椭圆 35">
              <a:extLst>
                <a:ext uri="{FF2B5EF4-FFF2-40B4-BE49-F238E27FC236}">
                  <a16:creationId xmlns:a16="http://schemas.microsoft.com/office/drawing/2014/main" id="{00374EEC-0F8B-03EE-B6CE-3E33FED9FE08}"/>
                </a:ext>
              </a:extLst>
            </p:cNvPr>
            <p:cNvSpPr/>
            <p:nvPr/>
          </p:nvSpPr>
          <p:spPr>
            <a:xfrm>
              <a:off x="6897088" y="2876523"/>
              <a:ext cx="194953" cy="194953"/>
            </a:xfrm>
            <a:prstGeom prst="ellipse">
              <a:avLst/>
            </a:prstGeom>
            <a:solidFill>
              <a:srgbClr val="0033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37" name="箭头: 下 36">
              <a:extLst>
                <a:ext uri="{FF2B5EF4-FFF2-40B4-BE49-F238E27FC236}">
                  <a16:creationId xmlns:a16="http://schemas.microsoft.com/office/drawing/2014/main" id="{679E4F4C-E1FD-A0E1-5D5B-7D7182767F06}"/>
                </a:ext>
              </a:extLst>
            </p:cNvPr>
            <p:cNvSpPr/>
            <p:nvPr/>
          </p:nvSpPr>
          <p:spPr>
            <a:xfrm>
              <a:off x="6941713" y="2892680"/>
              <a:ext cx="110374" cy="154589"/>
            </a:xfrm>
            <a:prstGeom prst="downArrow">
              <a:avLst>
                <a:gd name="adj1" fmla="val 50000"/>
                <a:gd name="adj2" fmla="val 5408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38" name="组合 37">
            <a:extLst>
              <a:ext uri="{FF2B5EF4-FFF2-40B4-BE49-F238E27FC236}">
                <a16:creationId xmlns:a16="http://schemas.microsoft.com/office/drawing/2014/main" id="{1C795F89-B497-AC35-09D9-B6EECA5E7160}"/>
              </a:ext>
            </a:extLst>
          </p:cNvPr>
          <p:cNvGrpSpPr/>
          <p:nvPr/>
        </p:nvGrpSpPr>
        <p:grpSpPr>
          <a:xfrm>
            <a:off x="6754489" y="4351857"/>
            <a:ext cx="194953" cy="194953"/>
            <a:chOff x="6897088" y="2876523"/>
            <a:chExt cx="194953" cy="194953"/>
          </a:xfrm>
        </p:grpSpPr>
        <p:sp>
          <p:nvSpPr>
            <p:cNvPr id="39" name="椭圆 38">
              <a:extLst>
                <a:ext uri="{FF2B5EF4-FFF2-40B4-BE49-F238E27FC236}">
                  <a16:creationId xmlns:a16="http://schemas.microsoft.com/office/drawing/2014/main" id="{3F504739-B796-9093-9A11-D5765B557B4C}"/>
                </a:ext>
              </a:extLst>
            </p:cNvPr>
            <p:cNvSpPr/>
            <p:nvPr/>
          </p:nvSpPr>
          <p:spPr>
            <a:xfrm>
              <a:off x="6897088" y="2876523"/>
              <a:ext cx="194953" cy="194953"/>
            </a:xfrm>
            <a:prstGeom prst="ellipse">
              <a:avLst/>
            </a:prstGeom>
            <a:solidFill>
              <a:srgbClr val="0033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0" name="箭头: 下 39">
              <a:extLst>
                <a:ext uri="{FF2B5EF4-FFF2-40B4-BE49-F238E27FC236}">
                  <a16:creationId xmlns:a16="http://schemas.microsoft.com/office/drawing/2014/main" id="{797C8DD9-52E8-96D3-2435-33562EF239B6}"/>
                </a:ext>
              </a:extLst>
            </p:cNvPr>
            <p:cNvSpPr/>
            <p:nvPr/>
          </p:nvSpPr>
          <p:spPr>
            <a:xfrm>
              <a:off x="6941713" y="2892680"/>
              <a:ext cx="110374" cy="154589"/>
            </a:xfrm>
            <a:prstGeom prst="downArrow">
              <a:avLst>
                <a:gd name="adj1" fmla="val 50000"/>
                <a:gd name="adj2" fmla="val 5408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41" name="组合 40">
            <a:extLst>
              <a:ext uri="{FF2B5EF4-FFF2-40B4-BE49-F238E27FC236}">
                <a16:creationId xmlns:a16="http://schemas.microsoft.com/office/drawing/2014/main" id="{A6F86943-342E-A1C8-40C5-C13624D42CE8}"/>
              </a:ext>
            </a:extLst>
          </p:cNvPr>
          <p:cNvGrpSpPr/>
          <p:nvPr/>
        </p:nvGrpSpPr>
        <p:grpSpPr>
          <a:xfrm>
            <a:off x="6754489" y="4549504"/>
            <a:ext cx="194953" cy="194953"/>
            <a:chOff x="6897088" y="2876523"/>
            <a:chExt cx="194953" cy="194953"/>
          </a:xfrm>
        </p:grpSpPr>
        <p:sp>
          <p:nvSpPr>
            <p:cNvPr id="42" name="椭圆 41">
              <a:extLst>
                <a:ext uri="{FF2B5EF4-FFF2-40B4-BE49-F238E27FC236}">
                  <a16:creationId xmlns:a16="http://schemas.microsoft.com/office/drawing/2014/main" id="{F32FF99C-E74B-96FE-7758-CC4F5F7A8B15}"/>
                </a:ext>
              </a:extLst>
            </p:cNvPr>
            <p:cNvSpPr/>
            <p:nvPr/>
          </p:nvSpPr>
          <p:spPr>
            <a:xfrm>
              <a:off x="6897088" y="2876523"/>
              <a:ext cx="194953" cy="194953"/>
            </a:xfrm>
            <a:prstGeom prst="ellipse">
              <a:avLst/>
            </a:prstGeom>
            <a:solidFill>
              <a:srgbClr val="0033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3" name="箭头: 下 42">
              <a:extLst>
                <a:ext uri="{FF2B5EF4-FFF2-40B4-BE49-F238E27FC236}">
                  <a16:creationId xmlns:a16="http://schemas.microsoft.com/office/drawing/2014/main" id="{41347A4F-12CA-F1FC-0C8B-85C98A004CAA}"/>
                </a:ext>
              </a:extLst>
            </p:cNvPr>
            <p:cNvSpPr/>
            <p:nvPr/>
          </p:nvSpPr>
          <p:spPr>
            <a:xfrm>
              <a:off x="6941713" y="2892680"/>
              <a:ext cx="110374" cy="154589"/>
            </a:xfrm>
            <a:prstGeom prst="downArrow">
              <a:avLst>
                <a:gd name="adj1" fmla="val 50000"/>
                <a:gd name="adj2" fmla="val 5408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57" name="组合 56">
            <a:extLst>
              <a:ext uri="{FF2B5EF4-FFF2-40B4-BE49-F238E27FC236}">
                <a16:creationId xmlns:a16="http://schemas.microsoft.com/office/drawing/2014/main" id="{F6414C15-FF91-C6D9-D950-740585EBE6E3}"/>
              </a:ext>
            </a:extLst>
          </p:cNvPr>
          <p:cNvGrpSpPr/>
          <p:nvPr/>
        </p:nvGrpSpPr>
        <p:grpSpPr>
          <a:xfrm rot="10800000">
            <a:off x="6749815" y="5662087"/>
            <a:ext cx="194953" cy="194953"/>
            <a:chOff x="6897088" y="2876523"/>
            <a:chExt cx="194953" cy="194953"/>
          </a:xfrm>
        </p:grpSpPr>
        <p:sp>
          <p:nvSpPr>
            <p:cNvPr id="58" name="椭圆 57">
              <a:extLst>
                <a:ext uri="{FF2B5EF4-FFF2-40B4-BE49-F238E27FC236}">
                  <a16:creationId xmlns:a16="http://schemas.microsoft.com/office/drawing/2014/main" id="{D71CE99E-0DDD-6C17-876D-A94C03850363}"/>
                </a:ext>
              </a:extLst>
            </p:cNvPr>
            <p:cNvSpPr/>
            <p:nvPr/>
          </p:nvSpPr>
          <p:spPr>
            <a:xfrm>
              <a:off x="6897088" y="2876523"/>
              <a:ext cx="194953" cy="194953"/>
            </a:xfrm>
            <a:prstGeom prst="ellipse">
              <a:avLst/>
            </a:prstGeom>
            <a:solidFill>
              <a:srgbClr val="F0612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59" name="箭头: 下 58">
              <a:extLst>
                <a:ext uri="{FF2B5EF4-FFF2-40B4-BE49-F238E27FC236}">
                  <a16:creationId xmlns:a16="http://schemas.microsoft.com/office/drawing/2014/main" id="{1F001D33-6D69-7847-E3CC-6074B941B7BA}"/>
                </a:ext>
              </a:extLst>
            </p:cNvPr>
            <p:cNvSpPr/>
            <p:nvPr/>
          </p:nvSpPr>
          <p:spPr>
            <a:xfrm>
              <a:off x="6941713" y="2892680"/>
              <a:ext cx="110374" cy="154589"/>
            </a:xfrm>
            <a:prstGeom prst="downArrow">
              <a:avLst>
                <a:gd name="adj1" fmla="val 50000"/>
                <a:gd name="adj2" fmla="val 5408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60" name="组合 59">
            <a:extLst>
              <a:ext uri="{FF2B5EF4-FFF2-40B4-BE49-F238E27FC236}">
                <a16:creationId xmlns:a16="http://schemas.microsoft.com/office/drawing/2014/main" id="{273905C9-09D2-A0EE-A5B7-631C7B714C19}"/>
              </a:ext>
            </a:extLst>
          </p:cNvPr>
          <p:cNvGrpSpPr/>
          <p:nvPr/>
        </p:nvGrpSpPr>
        <p:grpSpPr>
          <a:xfrm rot="10800000">
            <a:off x="6752154" y="4989297"/>
            <a:ext cx="194953" cy="194953"/>
            <a:chOff x="6897088" y="2876523"/>
            <a:chExt cx="194953" cy="194953"/>
          </a:xfrm>
        </p:grpSpPr>
        <p:sp>
          <p:nvSpPr>
            <p:cNvPr id="61" name="椭圆 60">
              <a:extLst>
                <a:ext uri="{FF2B5EF4-FFF2-40B4-BE49-F238E27FC236}">
                  <a16:creationId xmlns:a16="http://schemas.microsoft.com/office/drawing/2014/main" id="{ABC35AC4-F856-D139-C2EB-3A4814E85C3D}"/>
                </a:ext>
              </a:extLst>
            </p:cNvPr>
            <p:cNvSpPr/>
            <p:nvPr/>
          </p:nvSpPr>
          <p:spPr>
            <a:xfrm>
              <a:off x="6897088" y="2876523"/>
              <a:ext cx="194953" cy="194953"/>
            </a:xfrm>
            <a:prstGeom prst="ellipse">
              <a:avLst/>
            </a:prstGeom>
            <a:solidFill>
              <a:srgbClr val="F0612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62" name="箭头: 下 61">
              <a:extLst>
                <a:ext uri="{FF2B5EF4-FFF2-40B4-BE49-F238E27FC236}">
                  <a16:creationId xmlns:a16="http://schemas.microsoft.com/office/drawing/2014/main" id="{2E475CB8-7A1E-855B-B612-7C53CF1A43A6}"/>
                </a:ext>
              </a:extLst>
            </p:cNvPr>
            <p:cNvSpPr/>
            <p:nvPr/>
          </p:nvSpPr>
          <p:spPr>
            <a:xfrm>
              <a:off x="6941713" y="2892680"/>
              <a:ext cx="110374" cy="154589"/>
            </a:xfrm>
            <a:prstGeom prst="downArrow">
              <a:avLst>
                <a:gd name="adj1" fmla="val 50000"/>
                <a:gd name="adj2" fmla="val 5408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grpSp>
        <p:nvGrpSpPr>
          <p:cNvPr id="63" name="组合 62">
            <a:extLst>
              <a:ext uri="{FF2B5EF4-FFF2-40B4-BE49-F238E27FC236}">
                <a16:creationId xmlns:a16="http://schemas.microsoft.com/office/drawing/2014/main" id="{730EDAD7-6545-62BA-9E8D-D277F7A41680}"/>
              </a:ext>
            </a:extLst>
          </p:cNvPr>
          <p:cNvGrpSpPr/>
          <p:nvPr/>
        </p:nvGrpSpPr>
        <p:grpSpPr>
          <a:xfrm rot="10800000">
            <a:off x="6752152" y="4769621"/>
            <a:ext cx="194953" cy="194953"/>
            <a:chOff x="6897088" y="2876523"/>
            <a:chExt cx="194953" cy="194953"/>
          </a:xfrm>
        </p:grpSpPr>
        <p:sp>
          <p:nvSpPr>
            <p:cNvPr id="64" name="椭圆 63">
              <a:extLst>
                <a:ext uri="{FF2B5EF4-FFF2-40B4-BE49-F238E27FC236}">
                  <a16:creationId xmlns:a16="http://schemas.microsoft.com/office/drawing/2014/main" id="{70700EE9-748D-9CB1-491E-91A3B8ABE432}"/>
                </a:ext>
              </a:extLst>
            </p:cNvPr>
            <p:cNvSpPr/>
            <p:nvPr/>
          </p:nvSpPr>
          <p:spPr>
            <a:xfrm>
              <a:off x="6897088" y="2876523"/>
              <a:ext cx="194953" cy="194953"/>
            </a:xfrm>
            <a:prstGeom prst="ellipse">
              <a:avLst/>
            </a:prstGeom>
            <a:solidFill>
              <a:srgbClr val="F0612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65" name="箭头: 下 64">
              <a:extLst>
                <a:ext uri="{FF2B5EF4-FFF2-40B4-BE49-F238E27FC236}">
                  <a16:creationId xmlns:a16="http://schemas.microsoft.com/office/drawing/2014/main" id="{5E0D9BFE-B6AA-5A5E-B6E3-4CD52928F7F2}"/>
                </a:ext>
              </a:extLst>
            </p:cNvPr>
            <p:cNvSpPr/>
            <p:nvPr/>
          </p:nvSpPr>
          <p:spPr>
            <a:xfrm>
              <a:off x="6941713" y="2892680"/>
              <a:ext cx="110374" cy="154589"/>
            </a:xfrm>
            <a:prstGeom prst="downArrow">
              <a:avLst>
                <a:gd name="adj1" fmla="val 50000"/>
                <a:gd name="adj2" fmla="val 54083"/>
              </a:avLst>
            </a:prstGeom>
            <a:solidFill>
              <a:srgbClr val="FFFFF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sp>
        <p:nvSpPr>
          <p:cNvPr id="66" name="文本框 65">
            <a:extLst>
              <a:ext uri="{FF2B5EF4-FFF2-40B4-BE49-F238E27FC236}">
                <a16:creationId xmlns:a16="http://schemas.microsoft.com/office/drawing/2014/main" id="{2CAC8CBC-8E51-3AD3-4714-01A51AF59636}"/>
              </a:ext>
            </a:extLst>
          </p:cNvPr>
          <p:cNvSpPr txBox="1"/>
          <p:nvPr/>
        </p:nvSpPr>
        <p:spPr>
          <a:xfrm>
            <a:off x="300039" y="1568047"/>
            <a:ext cx="1162843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汽车价值链转移</a:t>
            </a:r>
          </a:p>
        </p:txBody>
      </p:sp>
    </p:spTree>
    <p:extLst>
      <p:ext uri="{BB962C8B-B14F-4D97-AF65-F5344CB8AC3E}">
        <p14:creationId xmlns:p14="http://schemas.microsoft.com/office/powerpoint/2010/main" val="16773254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70F94B6E-FEFC-6F31-E0CE-7D0844A5DE7E}"/>
              </a:ext>
            </a:extLst>
          </p:cNvPr>
          <p:cNvSpPr>
            <a:spLocks noGrp="1"/>
          </p:cNvSpPr>
          <p:nvPr>
            <p:ph type="body" sz="quarter" idx="22"/>
          </p:nvPr>
        </p:nvSpPr>
        <p:spPr/>
        <p:txBody>
          <a:bodyPr/>
          <a:lstStyle/>
          <a:p>
            <a:r>
              <a:rPr lang="zh-CN" altLang="en-US" sz="1800" b="1" dirty="0">
                <a:latin typeface="微软雅黑" panose="020B0503020204020204" pitchFamily="34" charset="-122"/>
                <a:ea typeface="微软雅黑" panose="020B0503020204020204" pitchFamily="34" charset="-122"/>
              </a:rPr>
              <a:t>汽车产业各玩家已经纷纷开展行动，在不同的消费者与车相关的潜在场景中充分探索创新出新的商业模式</a:t>
            </a:r>
          </a:p>
          <a:p>
            <a:endParaRPr lang="zh-CN" altLang="en-US" sz="1800" dirty="0">
              <a:latin typeface="微软雅黑" panose="020B0503020204020204" pitchFamily="34" charset="-122"/>
              <a:ea typeface="微软雅黑" panose="020B0503020204020204" pitchFamily="34" charset="-122"/>
            </a:endParaRPr>
          </a:p>
        </p:txBody>
      </p:sp>
      <p:sp>
        <p:nvSpPr>
          <p:cNvPr id="5" name="灯片编号占位符 4">
            <a:extLst>
              <a:ext uri="{FF2B5EF4-FFF2-40B4-BE49-F238E27FC236}">
                <a16:creationId xmlns:a16="http://schemas.microsoft.com/office/drawing/2014/main" id="{6737A112-F1D0-F4F3-49B9-21AB57464EED}"/>
              </a:ext>
            </a:extLst>
          </p:cNvPr>
          <p:cNvSpPr>
            <a:spLocks noGrp="1"/>
          </p:cNvSpPr>
          <p:nvPr>
            <p:ph type="sldNum" sz="quarter" idx="4"/>
          </p:nvPr>
        </p:nvSpPr>
        <p:spPr/>
        <p:txBody>
          <a:bodyPr/>
          <a:lstStyle/>
          <a:p>
            <a:fld id="{04824671-56D2-5D44-834F-250C3DA554E9}" type="slidenum">
              <a:rPr lang="zh-CN" altLang="en-US" smtClean="0">
                <a:latin typeface="微软雅黑" panose="020B0503020204020204" pitchFamily="34" charset="-122"/>
                <a:ea typeface="微软雅黑" panose="020B0503020204020204" pitchFamily="34" charset="-122"/>
              </a:rPr>
              <a:t>57</a:t>
            </a:fld>
            <a:endParaRPr lang="zh-CN" altLang="en-US" dirty="0">
              <a:latin typeface="微软雅黑" panose="020B0503020204020204" pitchFamily="34" charset="-122"/>
              <a:ea typeface="微软雅黑" panose="020B0503020204020204" pitchFamily="34" charset="-122"/>
            </a:endParaRPr>
          </a:p>
        </p:txBody>
      </p:sp>
      <p:cxnSp>
        <p:nvCxnSpPr>
          <p:cNvPr id="6" name="直接箭头连接符 5">
            <a:extLst>
              <a:ext uri="{FF2B5EF4-FFF2-40B4-BE49-F238E27FC236}">
                <a16:creationId xmlns:a16="http://schemas.microsoft.com/office/drawing/2014/main" id="{1CD63222-729B-B938-C8E9-34E6F5380EDF}"/>
              </a:ext>
            </a:extLst>
          </p:cNvPr>
          <p:cNvCxnSpPr>
            <a:cxnSpLocks/>
          </p:cNvCxnSpPr>
          <p:nvPr/>
        </p:nvCxnSpPr>
        <p:spPr>
          <a:xfrm>
            <a:off x="1600945" y="6139543"/>
            <a:ext cx="9797794" cy="0"/>
          </a:xfrm>
          <a:prstGeom prst="straightConnector1">
            <a:avLst/>
          </a:prstGeom>
          <a:ln w="28575">
            <a:solidFill>
              <a:srgbClr val="003366"/>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CC9181B1-47E6-283F-5BAB-DF147A0E8882}"/>
              </a:ext>
            </a:extLst>
          </p:cNvPr>
          <p:cNvCxnSpPr>
            <a:cxnSpLocks/>
          </p:cNvCxnSpPr>
          <p:nvPr/>
        </p:nvCxnSpPr>
        <p:spPr>
          <a:xfrm flipV="1">
            <a:off x="1600945" y="2234496"/>
            <a:ext cx="0" cy="3905047"/>
          </a:xfrm>
          <a:prstGeom prst="straightConnector1">
            <a:avLst/>
          </a:prstGeom>
          <a:ln w="28575">
            <a:solidFill>
              <a:srgbClr val="003366"/>
            </a:solidFill>
            <a:tailEnd type="triangle"/>
          </a:ln>
        </p:spPr>
        <p:style>
          <a:lnRef idx="1">
            <a:schemeClr val="accent1"/>
          </a:lnRef>
          <a:fillRef idx="0">
            <a:schemeClr val="accent1"/>
          </a:fillRef>
          <a:effectRef idx="0">
            <a:schemeClr val="accent1"/>
          </a:effectRef>
          <a:fontRef idx="minor">
            <a:schemeClr val="tx1"/>
          </a:fontRef>
        </p:style>
      </p:cxnSp>
      <p:sp>
        <p:nvSpPr>
          <p:cNvPr id="8" name="椭圆 7">
            <a:extLst>
              <a:ext uri="{FF2B5EF4-FFF2-40B4-BE49-F238E27FC236}">
                <a16:creationId xmlns:a16="http://schemas.microsoft.com/office/drawing/2014/main" id="{FA4644FC-808A-15D4-79DB-5473DD74A520}"/>
              </a:ext>
            </a:extLst>
          </p:cNvPr>
          <p:cNvSpPr/>
          <p:nvPr/>
        </p:nvSpPr>
        <p:spPr>
          <a:xfrm>
            <a:off x="5648193" y="6079254"/>
            <a:ext cx="120578" cy="120578"/>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0" dirty="0">
              <a:solidFill>
                <a:schemeClr val="bg1"/>
              </a:solidFill>
              <a:latin typeface="微软雅黑" panose="020B0503020204020204" pitchFamily="34" charset="-122"/>
              <a:ea typeface="微软雅黑" panose="020B0503020204020204" pitchFamily="34" charset="-122"/>
            </a:endParaRPr>
          </a:p>
        </p:txBody>
      </p:sp>
      <p:sp>
        <p:nvSpPr>
          <p:cNvPr id="9" name="椭圆 8">
            <a:extLst>
              <a:ext uri="{FF2B5EF4-FFF2-40B4-BE49-F238E27FC236}">
                <a16:creationId xmlns:a16="http://schemas.microsoft.com/office/drawing/2014/main" id="{E16D6F78-2A95-3849-24B7-8DB8C0B96818}"/>
              </a:ext>
            </a:extLst>
          </p:cNvPr>
          <p:cNvSpPr/>
          <p:nvPr/>
        </p:nvSpPr>
        <p:spPr>
          <a:xfrm>
            <a:off x="7253663" y="6079254"/>
            <a:ext cx="120578" cy="120578"/>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0" dirty="0">
              <a:solidFill>
                <a:schemeClr val="bg1"/>
              </a:solidFill>
              <a:latin typeface="微软雅黑" panose="020B0503020204020204" pitchFamily="34" charset="-122"/>
              <a:ea typeface="微软雅黑" panose="020B0503020204020204" pitchFamily="34" charset="-122"/>
            </a:endParaRPr>
          </a:p>
        </p:txBody>
      </p:sp>
      <p:sp>
        <p:nvSpPr>
          <p:cNvPr id="10" name="椭圆 9">
            <a:extLst>
              <a:ext uri="{FF2B5EF4-FFF2-40B4-BE49-F238E27FC236}">
                <a16:creationId xmlns:a16="http://schemas.microsoft.com/office/drawing/2014/main" id="{EC1DFA24-7920-B645-DF2F-0C6CAC4331AF}"/>
              </a:ext>
            </a:extLst>
          </p:cNvPr>
          <p:cNvSpPr/>
          <p:nvPr/>
        </p:nvSpPr>
        <p:spPr>
          <a:xfrm>
            <a:off x="8859133" y="6079254"/>
            <a:ext cx="120578" cy="120578"/>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0" dirty="0">
              <a:solidFill>
                <a:schemeClr val="bg1"/>
              </a:solidFill>
              <a:latin typeface="微软雅黑" panose="020B0503020204020204" pitchFamily="34" charset="-122"/>
              <a:ea typeface="微软雅黑" panose="020B0503020204020204" pitchFamily="34" charset="-122"/>
            </a:endParaRPr>
          </a:p>
        </p:txBody>
      </p:sp>
      <p:sp>
        <p:nvSpPr>
          <p:cNvPr id="11" name="椭圆 10">
            <a:extLst>
              <a:ext uri="{FF2B5EF4-FFF2-40B4-BE49-F238E27FC236}">
                <a16:creationId xmlns:a16="http://schemas.microsoft.com/office/drawing/2014/main" id="{B524EC2F-4E01-4B66-132A-B0F0367E5E0E}"/>
              </a:ext>
            </a:extLst>
          </p:cNvPr>
          <p:cNvSpPr/>
          <p:nvPr/>
        </p:nvSpPr>
        <p:spPr>
          <a:xfrm>
            <a:off x="10461614" y="6089302"/>
            <a:ext cx="120578" cy="120578"/>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0" dirty="0">
              <a:solidFill>
                <a:schemeClr val="bg1"/>
              </a:solidFill>
              <a:latin typeface="微软雅黑" panose="020B0503020204020204" pitchFamily="34" charset="-122"/>
              <a:ea typeface="微软雅黑" panose="020B0503020204020204" pitchFamily="34" charset="-122"/>
            </a:endParaRPr>
          </a:p>
        </p:txBody>
      </p:sp>
      <p:sp>
        <p:nvSpPr>
          <p:cNvPr id="12" name="椭圆 11">
            <a:extLst>
              <a:ext uri="{FF2B5EF4-FFF2-40B4-BE49-F238E27FC236}">
                <a16:creationId xmlns:a16="http://schemas.microsoft.com/office/drawing/2014/main" id="{A7E6CA79-7A3D-7673-C4D5-0AECFC4A0E1C}"/>
              </a:ext>
            </a:extLst>
          </p:cNvPr>
          <p:cNvSpPr/>
          <p:nvPr/>
        </p:nvSpPr>
        <p:spPr>
          <a:xfrm>
            <a:off x="2437253" y="6089302"/>
            <a:ext cx="114596" cy="120578"/>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0" dirty="0">
              <a:solidFill>
                <a:schemeClr val="bg1"/>
              </a:solidFill>
              <a:latin typeface="微软雅黑" panose="020B0503020204020204" pitchFamily="34" charset="-122"/>
              <a:ea typeface="微软雅黑" panose="020B0503020204020204" pitchFamily="34" charset="-122"/>
            </a:endParaRPr>
          </a:p>
        </p:txBody>
      </p:sp>
      <p:sp>
        <p:nvSpPr>
          <p:cNvPr id="13" name="椭圆 12">
            <a:extLst>
              <a:ext uri="{FF2B5EF4-FFF2-40B4-BE49-F238E27FC236}">
                <a16:creationId xmlns:a16="http://schemas.microsoft.com/office/drawing/2014/main" id="{64E68D4A-569C-4984-AB3D-2029368036CC}"/>
              </a:ext>
            </a:extLst>
          </p:cNvPr>
          <p:cNvSpPr/>
          <p:nvPr/>
        </p:nvSpPr>
        <p:spPr>
          <a:xfrm>
            <a:off x="4042723" y="6089302"/>
            <a:ext cx="114596" cy="120578"/>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0" dirty="0">
              <a:solidFill>
                <a:schemeClr val="bg1"/>
              </a:solidFill>
              <a:latin typeface="微软雅黑" panose="020B0503020204020204" pitchFamily="34" charset="-122"/>
              <a:ea typeface="微软雅黑" panose="020B0503020204020204" pitchFamily="34" charset="-122"/>
            </a:endParaRPr>
          </a:p>
        </p:txBody>
      </p:sp>
      <p:sp>
        <p:nvSpPr>
          <p:cNvPr id="14" name="矩形: 圆角 13">
            <a:extLst>
              <a:ext uri="{FF2B5EF4-FFF2-40B4-BE49-F238E27FC236}">
                <a16:creationId xmlns:a16="http://schemas.microsoft.com/office/drawing/2014/main" id="{7E4AFAD0-E8C9-0980-20EF-D54DC8F4F441}"/>
              </a:ext>
            </a:extLst>
          </p:cNvPr>
          <p:cNvSpPr/>
          <p:nvPr/>
        </p:nvSpPr>
        <p:spPr>
          <a:xfrm>
            <a:off x="1774450" y="5760893"/>
            <a:ext cx="3046579" cy="292070"/>
          </a:xfrm>
          <a:prstGeom prst="roundRect">
            <a:avLst/>
          </a:prstGeom>
          <a:solidFill>
            <a:srgbClr val="0033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pitchFamily="34" charset="-122"/>
                <a:ea typeface="微软雅黑" panose="020B0503020204020204" pitchFamily="34" charset="-122"/>
              </a:rPr>
              <a:t>硬件订阅收费</a:t>
            </a:r>
          </a:p>
        </p:txBody>
      </p:sp>
      <p:sp>
        <p:nvSpPr>
          <p:cNvPr id="15" name="矩形: 圆角 14">
            <a:extLst>
              <a:ext uri="{FF2B5EF4-FFF2-40B4-BE49-F238E27FC236}">
                <a16:creationId xmlns:a16="http://schemas.microsoft.com/office/drawing/2014/main" id="{F1907F4D-0E9A-2229-3D32-DCCCDA29F9D9}"/>
              </a:ext>
            </a:extLst>
          </p:cNvPr>
          <p:cNvSpPr/>
          <p:nvPr/>
        </p:nvSpPr>
        <p:spPr>
          <a:xfrm>
            <a:off x="1774451" y="5398486"/>
            <a:ext cx="3046580" cy="292070"/>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新车销售和金融服务</a:t>
            </a:r>
          </a:p>
        </p:txBody>
      </p:sp>
      <p:sp>
        <p:nvSpPr>
          <p:cNvPr id="16" name="矩形: 圆角 15">
            <a:extLst>
              <a:ext uri="{FF2B5EF4-FFF2-40B4-BE49-F238E27FC236}">
                <a16:creationId xmlns:a16="http://schemas.microsoft.com/office/drawing/2014/main" id="{B31AC907-B0AC-7628-E99E-B10E4D1EC45C}"/>
              </a:ext>
            </a:extLst>
          </p:cNvPr>
          <p:cNvSpPr/>
          <p:nvPr/>
        </p:nvSpPr>
        <p:spPr>
          <a:xfrm>
            <a:off x="4984483" y="5392526"/>
            <a:ext cx="1442019" cy="660018"/>
          </a:xfrm>
          <a:prstGeom prst="roundRect">
            <a:avLst/>
          </a:prstGeom>
          <a:solidFill>
            <a:srgbClr val="0033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pitchFamily="34" charset="-122"/>
                <a:ea typeface="微软雅黑" panose="020B0503020204020204" pitchFamily="34" charset="-122"/>
              </a:rPr>
              <a:t>自动驾驶软件装机</a:t>
            </a:r>
            <a:r>
              <a:rPr lang="en-US" altLang="zh-CN" sz="1200" b="1" dirty="0">
                <a:solidFill>
                  <a:schemeClr val="bg1"/>
                </a:solidFill>
                <a:latin typeface="微软雅黑" panose="020B0503020204020204" pitchFamily="34" charset="-122"/>
                <a:ea typeface="微软雅黑" panose="020B0503020204020204" pitchFamily="34" charset="-122"/>
              </a:rPr>
              <a:t>/</a:t>
            </a:r>
            <a:r>
              <a:rPr lang="zh-CN" altLang="en-US" sz="1200" b="1" dirty="0">
                <a:solidFill>
                  <a:schemeClr val="bg1"/>
                </a:solidFill>
                <a:latin typeface="微软雅黑" panose="020B0503020204020204" pitchFamily="34" charset="-122"/>
                <a:ea typeface="微软雅黑" panose="020B0503020204020204" pitchFamily="34" charset="-122"/>
              </a:rPr>
              <a:t>订阅收费</a:t>
            </a:r>
          </a:p>
        </p:txBody>
      </p:sp>
      <p:sp>
        <p:nvSpPr>
          <p:cNvPr id="17" name="矩形: 圆角 16">
            <a:extLst>
              <a:ext uri="{FF2B5EF4-FFF2-40B4-BE49-F238E27FC236}">
                <a16:creationId xmlns:a16="http://schemas.microsoft.com/office/drawing/2014/main" id="{25C17CE7-2D23-87B0-B2FB-4223BC3979B6}"/>
              </a:ext>
            </a:extLst>
          </p:cNvPr>
          <p:cNvSpPr/>
          <p:nvPr/>
        </p:nvSpPr>
        <p:spPr>
          <a:xfrm>
            <a:off x="6589954" y="5392526"/>
            <a:ext cx="1442019" cy="660018"/>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车联网服务订阅</a:t>
            </a:r>
          </a:p>
        </p:txBody>
      </p:sp>
      <p:sp>
        <p:nvSpPr>
          <p:cNvPr id="18" name="矩形: 圆角 17">
            <a:extLst>
              <a:ext uri="{FF2B5EF4-FFF2-40B4-BE49-F238E27FC236}">
                <a16:creationId xmlns:a16="http://schemas.microsoft.com/office/drawing/2014/main" id="{D2B24B4D-7EE4-87BC-5C23-0E47ACDEFA58}"/>
              </a:ext>
            </a:extLst>
          </p:cNvPr>
          <p:cNvSpPr/>
          <p:nvPr/>
        </p:nvSpPr>
        <p:spPr>
          <a:xfrm>
            <a:off x="1773541" y="4693044"/>
            <a:ext cx="1442019" cy="622336"/>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自动驾驶汽车套件销售</a:t>
            </a:r>
          </a:p>
        </p:txBody>
      </p:sp>
      <p:sp>
        <p:nvSpPr>
          <p:cNvPr id="19" name="矩形: 圆角 18">
            <a:extLst>
              <a:ext uri="{FF2B5EF4-FFF2-40B4-BE49-F238E27FC236}">
                <a16:creationId xmlns:a16="http://schemas.microsoft.com/office/drawing/2014/main" id="{05A2324F-6498-AC72-C456-2200AD090106}"/>
              </a:ext>
            </a:extLst>
          </p:cNvPr>
          <p:cNvSpPr/>
          <p:nvPr/>
        </p:nvSpPr>
        <p:spPr>
          <a:xfrm>
            <a:off x="3379012" y="4685515"/>
            <a:ext cx="1442019" cy="622336"/>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智能化交通引导服务收费</a:t>
            </a:r>
          </a:p>
        </p:txBody>
      </p:sp>
      <p:sp>
        <p:nvSpPr>
          <p:cNvPr id="20" name="矩形: 圆角 19">
            <a:extLst>
              <a:ext uri="{FF2B5EF4-FFF2-40B4-BE49-F238E27FC236}">
                <a16:creationId xmlns:a16="http://schemas.microsoft.com/office/drawing/2014/main" id="{392FB67D-D0CA-A257-4DD7-145DDA026541}"/>
              </a:ext>
            </a:extLst>
          </p:cNvPr>
          <p:cNvSpPr/>
          <p:nvPr/>
        </p:nvSpPr>
        <p:spPr>
          <a:xfrm>
            <a:off x="4984483" y="4668981"/>
            <a:ext cx="1442019" cy="660018"/>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0" dirty="0">
                <a:solidFill>
                  <a:schemeClr val="tx1"/>
                </a:solidFill>
                <a:latin typeface="微软雅黑" panose="020B0503020204020204" pitchFamily="34" charset="-122"/>
                <a:ea typeface="微软雅黑" panose="020B0503020204020204" pitchFamily="34" charset="-122"/>
              </a:rPr>
              <a:t>V2X</a:t>
            </a:r>
            <a:r>
              <a:rPr lang="zh-CN" altLang="en-US" sz="1200" b="0" dirty="0">
                <a:solidFill>
                  <a:schemeClr val="tx1"/>
                </a:solidFill>
                <a:latin typeface="微软雅黑" panose="020B0503020204020204" pitchFamily="34" charset="-122"/>
                <a:ea typeface="微软雅黑" panose="020B0503020204020204" pitchFamily="34" charset="-122"/>
              </a:rPr>
              <a:t>使用费用</a:t>
            </a:r>
          </a:p>
        </p:txBody>
      </p:sp>
      <p:sp>
        <p:nvSpPr>
          <p:cNvPr id="21" name="矩形: 圆角 20">
            <a:extLst>
              <a:ext uri="{FF2B5EF4-FFF2-40B4-BE49-F238E27FC236}">
                <a16:creationId xmlns:a16="http://schemas.microsoft.com/office/drawing/2014/main" id="{F305415E-98B9-97DF-7F3C-A2AEA23BD6DB}"/>
              </a:ext>
            </a:extLst>
          </p:cNvPr>
          <p:cNvSpPr/>
          <p:nvPr/>
        </p:nvSpPr>
        <p:spPr>
          <a:xfrm>
            <a:off x="6589954" y="4668981"/>
            <a:ext cx="1442019" cy="660018"/>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智慧交通信息收费</a:t>
            </a:r>
          </a:p>
        </p:txBody>
      </p:sp>
      <p:sp>
        <p:nvSpPr>
          <p:cNvPr id="22" name="矩形: 圆角 21">
            <a:extLst>
              <a:ext uri="{FF2B5EF4-FFF2-40B4-BE49-F238E27FC236}">
                <a16:creationId xmlns:a16="http://schemas.microsoft.com/office/drawing/2014/main" id="{99072EE4-DDA1-F8A7-0D14-4C2290675564}"/>
              </a:ext>
            </a:extLst>
          </p:cNvPr>
          <p:cNvSpPr/>
          <p:nvPr/>
        </p:nvSpPr>
        <p:spPr>
          <a:xfrm>
            <a:off x="3379012" y="3949425"/>
            <a:ext cx="1442019" cy="647136"/>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汽车租赁</a:t>
            </a:r>
          </a:p>
        </p:txBody>
      </p:sp>
      <p:sp>
        <p:nvSpPr>
          <p:cNvPr id="23" name="矩形: 圆角 22">
            <a:extLst>
              <a:ext uri="{FF2B5EF4-FFF2-40B4-BE49-F238E27FC236}">
                <a16:creationId xmlns:a16="http://schemas.microsoft.com/office/drawing/2014/main" id="{2CD42F24-DB19-CB82-CC82-DFEDFD7895B3}"/>
              </a:ext>
            </a:extLst>
          </p:cNvPr>
          <p:cNvSpPr/>
          <p:nvPr/>
        </p:nvSpPr>
        <p:spPr>
          <a:xfrm>
            <a:off x="6589954" y="3931389"/>
            <a:ext cx="1442019" cy="686320"/>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出行平台收费及平台数据销售（用于出行路线优化）</a:t>
            </a:r>
          </a:p>
        </p:txBody>
      </p:sp>
      <p:sp>
        <p:nvSpPr>
          <p:cNvPr id="24" name="矩形: 圆角 23">
            <a:extLst>
              <a:ext uri="{FF2B5EF4-FFF2-40B4-BE49-F238E27FC236}">
                <a16:creationId xmlns:a16="http://schemas.microsoft.com/office/drawing/2014/main" id="{F7CA291D-A228-420B-0231-E1896BD90CD9}"/>
              </a:ext>
            </a:extLst>
          </p:cNvPr>
          <p:cNvSpPr/>
          <p:nvPr/>
        </p:nvSpPr>
        <p:spPr>
          <a:xfrm>
            <a:off x="8195425" y="3931389"/>
            <a:ext cx="1442019" cy="686320"/>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外部平台接入费用</a:t>
            </a:r>
          </a:p>
        </p:txBody>
      </p:sp>
      <p:sp>
        <p:nvSpPr>
          <p:cNvPr id="25" name="矩形: 圆角 24">
            <a:extLst>
              <a:ext uri="{FF2B5EF4-FFF2-40B4-BE49-F238E27FC236}">
                <a16:creationId xmlns:a16="http://schemas.microsoft.com/office/drawing/2014/main" id="{F5BB49DB-FF2B-FDF8-65D2-E753F0F02B12}"/>
              </a:ext>
            </a:extLst>
          </p:cNvPr>
          <p:cNvSpPr/>
          <p:nvPr/>
        </p:nvSpPr>
        <p:spPr>
          <a:xfrm>
            <a:off x="9800894" y="3936611"/>
            <a:ext cx="1442019" cy="686320"/>
          </a:xfrm>
          <a:prstGeom prst="roundRect">
            <a:avLst/>
          </a:prstGeom>
          <a:solidFill>
            <a:srgbClr val="0033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pitchFamily="34" charset="-122"/>
                <a:ea typeface="微软雅黑" panose="020B0503020204020204" pitchFamily="34" charset="-122"/>
              </a:rPr>
              <a:t>车辆订阅会员费</a:t>
            </a:r>
          </a:p>
        </p:txBody>
      </p:sp>
      <p:sp>
        <p:nvSpPr>
          <p:cNvPr id="26" name="矩形: 圆角 25">
            <a:extLst>
              <a:ext uri="{FF2B5EF4-FFF2-40B4-BE49-F238E27FC236}">
                <a16:creationId xmlns:a16="http://schemas.microsoft.com/office/drawing/2014/main" id="{CD67BB9E-2BE7-E990-DEE5-0A0C90B8C010}"/>
              </a:ext>
            </a:extLst>
          </p:cNvPr>
          <p:cNvSpPr/>
          <p:nvPr/>
        </p:nvSpPr>
        <p:spPr>
          <a:xfrm>
            <a:off x="1773541" y="2958109"/>
            <a:ext cx="1442019" cy="908210"/>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零配件后市场</a:t>
            </a:r>
          </a:p>
        </p:txBody>
      </p:sp>
      <p:sp>
        <p:nvSpPr>
          <p:cNvPr id="27" name="矩形: 圆角 26">
            <a:extLst>
              <a:ext uri="{FF2B5EF4-FFF2-40B4-BE49-F238E27FC236}">
                <a16:creationId xmlns:a16="http://schemas.microsoft.com/office/drawing/2014/main" id="{609C8368-3437-6FC2-999D-9FFF57A1D483}"/>
              </a:ext>
            </a:extLst>
          </p:cNvPr>
          <p:cNvSpPr/>
          <p:nvPr/>
        </p:nvSpPr>
        <p:spPr>
          <a:xfrm>
            <a:off x="3379012" y="2950580"/>
            <a:ext cx="1442019" cy="908210"/>
          </a:xfrm>
          <a:prstGeom prst="roundRect">
            <a:avLst/>
          </a:prstGeom>
          <a:solidFill>
            <a:srgbClr val="0033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pitchFamily="34" charset="-122"/>
                <a:ea typeface="微软雅黑" panose="020B0503020204020204" pitchFamily="34" charset="-122"/>
              </a:rPr>
              <a:t>订阅式维保服务</a:t>
            </a:r>
          </a:p>
        </p:txBody>
      </p:sp>
      <p:sp>
        <p:nvSpPr>
          <p:cNvPr id="28" name="矩形: 圆角 27">
            <a:extLst>
              <a:ext uri="{FF2B5EF4-FFF2-40B4-BE49-F238E27FC236}">
                <a16:creationId xmlns:a16="http://schemas.microsoft.com/office/drawing/2014/main" id="{87DDD6C0-6E73-BC61-AE44-3B0D84CBB368}"/>
              </a:ext>
            </a:extLst>
          </p:cNvPr>
          <p:cNvSpPr/>
          <p:nvPr/>
        </p:nvSpPr>
        <p:spPr>
          <a:xfrm>
            <a:off x="4984481" y="2951498"/>
            <a:ext cx="1442019" cy="428576"/>
          </a:xfrm>
          <a:prstGeom prst="roundRect">
            <a:avLst/>
          </a:prstGeom>
          <a:solidFill>
            <a:srgbClr val="0033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pitchFamily="34" charset="-122"/>
                <a:ea typeface="微软雅黑" panose="020B0503020204020204" pitchFamily="34" charset="-122"/>
              </a:rPr>
              <a:t>车载娱乐系统软件订阅</a:t>
            </a:r>
          </a:p>
        </p:txBody>
      </p:sp>
      <p:sp>
        <p:nvSpPr>
          <p:cNvPr id="29" name="矩形: 圆角 28">
            <a:extLst>
              <a:ext uri="{FF2B5EF4-FFF2-40B4-BE49-F238E27FC236}">
                <a16:creationId xmlns:a16="http://schemas.microsoft.com/office/drawing/2014/main" id="{C7C28ECB-D1A8-DB54-F7CD-143E9CF6C764}"/>
              </a:ext>
            </a:extLst>
          </p:cNvPr>
          <p:cNvSpPr/>
          <p:nvPr/>
        </p:nvSpPr>
        <p:spPr>
          <a:xfrm>
            <a:off x="6589954" y="2893464"/>
            <a:ext cx="1442019" cy="963201"/>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流媒体</a:t>
            </a:r>
            <a:r>
              <a:rPr lang="en-US" altLang="zh-CN" sz="1200" b="0" dirty="0">
                <a:solidFill>
                  <a:schemeClr val="tx1"/>
                </a:solidFill>
                <a:latin typeface="微软雅黑" panose="020B0503020204020204" pitchFamily="34" charset="-122"/>
                <a:ea typeface="微软雅黑" panose="020B0503020204020204" pitchFamily="34" charset="-122"/>
              </a:rPr>
              <a:t>/</a:t>
            </a:r>
            <a:r>
              <a:rPr lang="zh-CN" altLang="en-US" sz="1200" b="0" dirty="0">
                <a:solidFill>
                  <a:schemeClr val="tx1"/>
                </a:solidFill>
                <a:latin typeface="微软雅黑" panose="020B0503020204020204" pitchFamily="34" charset="-122"/>
                <a:ea typeface="微软雅黑" panose="020B0503020204020204" pitchFamily="34" charset="-122"/>
              </a:rPr>
              <a:t>移动数据使用收费</a:t>
            </a:r>
          </a:p>
        </p:txBody>
      </p:sp>
      <p:sp>
        <p:nvSpPr>
          <p:cNvPr id="30" name="矩形: 圆角 29">
            <a:extLst>
              <a:ext uri="{FF2B5EF4-FFF2-40B4-BE49-F238E27FC236}">
                <a16:creationId xmlns:a16="http://schemas.microsoft.com/office/drawing/2014/main" id="{28236A7C-AC47-05EB-D441-3A3B781E71DB}"/>
              </a:ext>
            </a:extLst>
          </p:cNvPr>
          <p:cNvSpPr/>
          <p:nvPr/>
        </p:nvSpPr>
        <p:spPr>
          <a:xfrm>
            <a:off x="8195425" y="2934047"/>
            <a:ext cx="1442019" cy="918984"/>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商务广告费用</a:t>
            </a:r>
          </a:p>
        </p:txBody>
      </p:sp>
      <p:sp>
        <p:nvSpPr>
          <p:cNvPr id="31" name="矩形: 圆角 30">
            <a:extLst>
              <a:ext uri="{FF2B5EF4-FFF2-40B4-BE49-F238E27FC236}">
                <a16:creationId xmlns:a16="http://schemas.microsoft.com/office/drawing/2014/main" id="{E9C23A73-352E-F0D0-66C9-B02A44D9BDD6}"/>
              </a:ext>
            </a:extLst>
          </p:cNvPr>
          <p:cNvSpPr/>
          <p:nvPr/>
        </p:nvSpPr>
        <p:spPr>
          <a:xfrm>
            <a:off x="9800894" y="2939269"/>
            <a:ext cx="1442019" cy="918984"/>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高级车辆功能年费</a:t>
            </a:r>
          </a:p>
        </p:txBody>
      </p:sp>
      <p:sp>
        <p:nvSpPr>
          <p:cNvPr id="32" name="矩形: 圆角 31">
            <a:extLst>
              <a:ext uri="{FF2B5EF4-FFF2-40B4-BE49-F238E27FC236}">
                <a16:creationId xmlns:a16="http://schemas.microsoft.com/office/drawing/2014/main" id="{B9CE8F43-D836-4AB5-F760-884B6345083E}"/>
              </a:ext>
            </a:extLst>
          </p:cNvPr>
          <p:cNvSpPr/>
          <p:nvPr/>
        </p:nvSpPr>
        <p:spPr>
          <a:xfrm>
            <a:off x="1773541" y="2234496"/>
            <a:ext cx="1442019" cy="622336"/>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精品文化产品销售</a:t>
            </a:r>
          </a:p>
        </p:txBody>
      </p:sp>
      <p:sp>
        <p:nvSpPr>
          <p:cNvPr id="33" name="矩形: 圆角 32">
            <a:extLst>
              <a:ext uri="{FF2B5EF4-FFF2-40B4-BE49-F238E27FC236}">
                <a16:creationId xmlns:a16="http://schemas.microsoft.com/office/drawing/2014/main" id="{34376720-2700-1FE0-5E3E-F07AE1F60097}"/>
              </a:ext>
            </a:extLst>
          </p:cNvPr>
          <p:cNvSpPr/>
          <p:nvPr/>
        </p:nvSpPr>
        <p:spPr>
          <a:xfrm>
            <a:off x="3379012" y="2226967"/>
            <a:ext cx="1442019" cy="622336"/>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生活服务收费</a:t>
            </a:r>
          </a:p>
        </p:txBody>
      </p:sp>
      <p:sp>
        <p:nvSpPr>
          <p:cNvPr id="34" name="矩形: 圆角 33">
            <a:extLst>
              <a:ext uri="{FF2B5EF4-FFF2-40B4-BE49-F238E27FC236}">
                <a16:creationId xmlns:a16="http://schemas.microsoft.com/office/drawing/2014/main" id="{E73BAD75-17E1-CEAB-F12D-6AF79DB3A38B}"/>
              </a:ext>
            </a:extLst>
          </p:cNvPr>
          <p:cNvSpPr/>
          <p:nvPr/>
        </p:nvSpPr>
        <p:spPr>
          <a:xfrm>
            <a:off x="4984483" y="2210433"/>
            <a:ext cx="1442019" cy="660018"/>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定制化手游</a:t>
            </a:r>
            <a:r>
              <a:rPr lang="en-US" altLang="zh-CN" sz="1200" b="0" dirty="0">
                <a:solidFill>
                  <a:schemeClr val="tx1"/>
                </a:solidFill>
                <a:latin typeface="微软雅黑" panose="020B0503020204020204" pitchFamily="34" charset="-122"/>
                <a:ea typeface="微软雅黑" panose="020B0503020204020204" pitchFamily="34" charset="-122"/>
              </a:rPr>
              <a:t>/VR</a:t>
            </a:r>
            <a:r>
              <a:rPr lang="zh-CN" altLang="en-US" sz="1200" b="0" dirty="0">
                <a:solidFill>
                  <a:schemeClr val="tx1"/>
                </a:solidFill>
                <a:latin typeface="微软雅黑" panose="020B0503020204020204" pitchFamily="34" charset="-122"/>
                <a:ea typeface="微软雅黑" panose="020B0503020204020204" pitchFamily="34" charset="-122"/>
              </a:rPr>
              <a:t>游戏收费</a:t>
            </a:r>
          </a:p>
        </p:txBody>
      </p:sp>
      <p:sp>
        <p:nvSpPr>
          <p:cNvPr id="35" name="矩形: 圆角 34">
            <a:extLst>
              <a:ext uri="{FF2B5EF4-FFF2-40B4-BE49-F238E27FC236}">
                <a16:creationId xmlns:a16="http://schemas.microsoft.com/office/drawing/2014/main" id="{479D03AC-6313-4F3B-E2AD-484382151F60}"/>
              </a:ext>
            </a:extLst>
          </p:cNvPr>
          <p:cNvSpPr/>
          <p:nvPr/>
        </p:nvSpPr>
        <p:spPr>
          <a:xfrm>
            <a:off x="9800894" y="2215655"/>
            <a:ext cx="1442019" cy="660018"/>
          </a:xfrm>
          <a:prstGeom prst="round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0" dirty="0">
                <a:solidFill>
                  <a:schemeClr val="tx1"/>
                </a:solidFill>
                <a:latin typeface="微软雅黑" panose="020B0503020204020204" pitchFamily="34" charset="-122"/>
                <a:ea typeface="微软雅黑" panose="020B0503020204020204" pitchFamily="34" charset="-122"/>
              </a:rPr>
              <a:t>高端活动会员费</a:t>
            </a:r>
          </a:p>
        </p:txBody>
      </p:sp>
      <p:sp>
        <p:nvSpPr>
          <p:cNvPr id="36" name="矩形: 圆角 35">
            <a:extLst>
              <a:ext uri="{FF2B5EF4-FFF2-40B4-BE49-F238E27FC236}">
                <a16:creationId xmlns:a16="http://schemas.microsoft.com/office/drawing/2014/main" id="{583F1E0E-FC86-4F46-4B0A-D71F1E23CA5D}"/>
              </a:ext>
            </a:extLst>
          </p:cNvPr>
          <p:cNvSpPr/>
          <p:nvPr/>
        </p:nvSpPr>
        <p:spPr>
          <a:xfrm>
            <a:off x="4984481" y="3440364"/>
            <a:ext cx="1442019" cy="412666"/>
          </a:xfrm>
          <a:prstGeom prst="roundRect">
            <a:avLst/>
          </a:prstGeom>
          <a:solidFill>
            <a:srgbClr val="00336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pitchFamily="34" charset="-122"/>
                <a:ea typeface="微软雅黑" panose="020B0503020204020204" pitchFamily="34" charset="-122"/>
              </a:rPr>
              <a:t>车载娱乐系统皮肤 订阅</a:t>
            </a:r>
          </a:p>
        </p:txBody>
      </p:sp>
      <p:sp>
        <p:nvSpPr>
          <p:cNvPr id="37" name="文本框 36">
            <a:extLst>
              <a:ext uri="{FF2B5EF4-FFF2-40B4-BE49-F238E27FC236}">
                <a16:creationId xmlns:a16="http://schemas.microsoft.com/office/drawing/2014/main" id="{A020DC63-D0D8-6C84-A38D-E28B027C3E13}"/>
              </a:ext>
            </a:extLst>
          </p:cNvPr>
          <p:cNvSpPr txBox="1"/>
          <p:nvPr/>
        </p:nvSpPr>
        <p:spPr>
          <a:xfrm>
            <a:off x="1842550" y="4097869"/>
            <a:ext cx="1303999" cy="307777"/>
          </a:xfrm>
          <a:prstGeom prst="rect">
            <a:avLst/>
          </a:prstGeom>
          <a:noFill/>
        </p:spPr>
        <p:txBody>
          <a:bodyPr wrap="square" rtlCol="0">
            <a:spAutoFit/>
          </a:bodyPr>
          <a:lstStyle/>
          <a:p>
            <a:pPr algn="ctr">
              <a:spcBef>
                <a:spcPts val="600"/>
              </a:spcBef>
              <a:spcAft>
                <a:spcPts val="600"/>
              </a:spcAft>
            </a:pPr>
            <a:r>
              <a:rPr lang="en-US" altLang="zh-CN" sz="1400" dirty="0">
                <a:solidFill>
                  <a:srgbClr val="000000"/>
                </a:solidFill>
                <a:latin typeface="微软雅黑" panose="020B0503020204020204" pitchFamily="34" charset="-122"/>
                <a:ea typeface="微软雅黑" panose="020B0503020204020204" pitchFamily="34" charset="-122"/>
              </a:rPr>
              <a:t>…</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894A488B-C4C5-6F91-19E7-0DBEA059D83E}"/>
              </a:ext>
            </a:extLst>
          </p:cNvPr>
          <p:cNvSpPr txBox="1"/>
          <p:nvPr/>
        </p:nvSpPr>
        <p:spPr>
          <a:xfrm>
            <a:off x="5053490" y="4097869"/>
            <a:ext cx="1303999" cy="307777"/>
          </a:xfrm>
          <a:prstGeom prst="rect">
            <a:avLst/>
          </a:prstGeom>
          <a:noFill/>
        </p:spPr>
        <p:txBody>
          <a:bodyPr wrap="square" rtlCol="0">
            <a:spAutoFit/>
          </a:bodyPr>
          <a:lstStyle/>
          <a:p>
            <a:pPr algn="ctr">
              <a:spcBef>
                <a:spcPts val="600"/>
              </a:spcBef>
              <a:spcAft>
                <a:spcPts val="600"/>
              </a:spcAft>
            </a:pPr>
            <a:r>
              <a:rPr lang="en-US" altLang="zh-CN" sz="1400" dirty="0">
                <a:solidFill>
                  <a:srgbClr val="000000"/>
                </a:solidFill>
                <a:latin typeface="微软雅黑" panose="020B0503020204020204" pitchFamily="34" charset="-122"/>
                <a:ea typeface="微软雅黑" panose="020B0503020204020204" pitchFamily="34" charset="-122"/>
              </a:rPr>
              <a:t>…</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153D63B2-E65A-8CA7-B028-9C71432FCD37}"/>
              </a:ext>
            </a:extLst>
          </p:cNvPr>
          <p:cNvSpPr txBox="1"/>
          <p:nvPr/>
        </p:nvSpPr>
        <p:spPr>
          <a:xfrm>
            <a:off x="6658963" y="2326304"/>
            <a:ext cx="1303999" cy="307777"/>
          </a:xfrm>
          <a:prstGeom prst="rect">
            <a:avLst/>
          </a:prstGeom>
          <a:noFill/>
        </p:spPr>
        <p:txBody>
          <a:bodyPr wrap="square" rtlCol="0">
            <a:spAutoFit/>
          </a:bodyPr>
          <a:lstStyle/>
          <a:p>
            <a:pPr algn="ctr">
              <a:spcBef>
                <a:spcPts val="600"/>
              </a:spcBef>
              <a:spcAft>
                <a:spcPts val="600"/>
              </a:spcAft>
            </a:pPr>
            <a:r>
              <a:rPr lang="en-US" altLang="zh-CN" sz="1400" dirty="0">
                <a:solidFill>
                  <a:srgbClr val="000000"/>
                </a:solidFill>
                <a:latin typeface="微软雅黑" panose="020B0503020204020204" pitchFamily="34" charset="-122"/>
                <a:ea typeface="微软雅黑" panose="020B0503020204020204" pitchFamily="34" charset="-122"/>
              </a:rPr>
              <a:t>…</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40" name="文本框 39">
            <a:extLst>
              <a:ext uri="{FF2B5EF4-FFF2-40B4-BE49-F238E27FC236}">
                <a16:creationId xmlns:a16="http://schemas.microsoft.com/office/drawing/2014/main" id="{DE34836E-A1DC-0C74-C228-9AB6A4AF93FA}"/>
              </a:ext>
            </a:extLst>
          </p:cNvPr>
          <p:cNvSpPr txBox="1"/>
          <p:nvPr/>
        </p:nvSpPr>
        <p:spPr>
          <a:xfrm>
            <a:off x="8229928" y="2326304"/>
            <a:ext cx="1303999" cy="307777"/>
          </a:xfrm>
          <a:prstGeom prst="rect">
            <a:avLst/>
          </a:prstGeom>
          <a:noFill/>
        </p:spPr>
        <p:txBody>
          <a:bodyPr wrap="square" rtlCol="0">
            <a:spAutoFit/>
          </a:bodyPr>
          <a:lstStyle/>
          <a:p>
            <a:pPr algn="ctr">
              <a:spcBef>
                <a:spcPts val="600"/>
              </a:spcBef>
              <a:spcAft>
                <a:spcPts val="600"/>
              </a:spcAft>
            </a:pPr>
            <a:r>
              <a:rPr lang="en-US" altLang="zh-CN" sz="1400" dirty="0">
                <a:solidFill>
                  <a:srgbClr val="000000"/>
                </a:solidFill>
                <a:latin typeface="微软雅黑" panose="020B0503020204020204" pitchFamily="34" charset="-122"/>
                <a:ea typeface="微软雅黑" panose="020B0503020204020204" pitchFamily="34" charset="-122"/>
              </a:rPr>
              <a:t>…</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4087D7B2-9E35-C745-BC6E-967209FC78B0}"/>
              </a:ext>
            </a:extLst>
          </p:cNvPr>
          <p:cNvSpPr txBox="1"/>
          <p:nvPr/>
        </p:nvSpPr>
        <p:spPr>
          <a:xfrm>
            <a:off x="8264434" y="4798421"/>
            <a:ext cx="1303999" cy="307777"/>
          </a:xfrm>
          <a:prstGeom prst="rect">
            <a:avLst/>
          </a:prstGeom>
          <a:noFill/>
        </p:spPr>
        <p:txBody>
          <a:bodyPr wrap="square" rtlCol="0">
            <a:spAutoFit/>
          </a:bodyPr>
          <a:lstStyle/>
          <a:p>
            <a:pPr algn="ctr">
              <a:spcBef>
                <a:spcPts val="600"/>
              </a:spcBef>
              <a:spcAft>
                <a:spcPts val="600"/>
              </a:spcAft>
            </a:pPr>
            <a:r>
              <a:rPr lang="en-US" altLang="zh-CN" sz="1400" dirty="0">
                <a:solidFill>
                  <a:srgbClr val="000000"/>
                </a:solidFill>
                <a:latin typeface="微软雅黑" panose="020B0503020204020204" pitchFamily="34" charset="-122"/>
                <a:ea typeface="微软雅黑" panose="020B0503020204020204" pitchFamily="34" charset="-122"/>
              </a:rPr>
              <a:t>…</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A4EF51DA-8AB3-7457-1784-D2145A918F1A}"/>
              </a:ext>
            </a:extLst>
          </p:cNvPr>
          <p:cNvSpPr txBox="1"/>
          <p:nvPr/>
        </p:nvSpPr>
        <p:spPr>
          <a:xfrm>
            <a:off x="9869903" y="4792485"/>
            <a:ext cx="1303999" cy="307777"/>
          </a:xfrm>
          <a:prstGeom prst="rect">
            <a:avLst/>
          </a:prstGeom>
          <a:noFill/>
        </p:spPr>
        <p:txBody>
          <a:bodyPr wrap="square" rtlCol="0">
            <a:spAutoFit/>
          </a:bodyPr>
          <a:lstStyle/>
          <a:p>
            <a:pPr algn="ctr">
              <a:spcBef>
                <a:spcPts val="600"/>
              </a:spcBef>
              <a:spcAft>
                <a:spcPts val="600"/>
              </a:spcAft>
            </a:pPr>
            <a:r>
              <a:rPr lang="en-US" altLang="zh-CN" sz="1400" dirty="0">
                <a:solidFill>
                  <a:srgbClr val="000000"/>
                </a:solidFill>
                <a:latin typeface="微软雅黑" panose="020B0503020204020204" pitchFamily="34" charset="-122"/>
                <a:ea typeface="微软雅黑" panose="020B0503020204020204" pitchFamily="34" charset="-122"/>
              </a:rPr>
              <a:t>…</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8C4B0972-7A29-8E66-9033-87162E15D2E8}"/>
              </a:ext>
            </a:extLst>
          </p:cNvPr>
          <p:cNvSpPr txBox="1"/>
          <p:nvPr/>
        </p:nvSpPr>
        <p:spPr>
          <a:xfrm>
            <a:off x="8264434" y="5508419"/>
            <a:ext cx="1303999" cy="307777"/>
          </a:xfrm>
          <a:prstGeom prst="rect">
            <a:avLst/>
          </a:prstGeom>
          <a:noFill/>
        </p:spPr>
        <p:txBody>
          <a:bodyPr wrap="square" rtlCol="0">
            <a:spAutoFit/>
          </a:bodyPr>
          <a:lstStyle/>
          <a:p>
            <a:pPr algn="ctr">
              <a:spcBef>
                <a:spcPts val="600"/>
              </a:spcBef>
              <a:spcAft>
                <a:spcPts val="600"/>
              </a:spcAft>
            </a:pPr>
            <a:r>
              <a:rPr lang="en-US" altLang="zh-CN" sz="1400" dirty="0">
                <a:solidFill>
                  <a:srgbClr val="000000"/>
                </a:solidFill>
                <a:latin typeface="微软雅黑" panose="020B0503020204020204" pitchFamily="34" charset="-122"/>
                <a:ea typeface="微软雅黑" panose="020B0503020204020204" pitchFamily="34" charset="-122"/>
              </a:rPr>
              <a:t>…</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44" name="文本框 43">
            <a:extLst>
              <a:ext uri="{FF2B5EF4-FFF2-40B4-BE49-F238E27FC236}">
                <a16:creationId xmlns:a16="http://schemas.microsoft.com/office/drawing/2014/main" id="{F9F6F751-F20D-B703-8BF1-4AF5DB2C2F7E}"/>
              </a:ext>
            </a:extLst>
          </p:cNvPr>
          <p:cNvSpPr txBox="1"/>
          <p:nvPr/>
        </p:nvSpPr>
        <p:spPr>
          <a:xfrm>
            <a:off x="9869903" y="5503594"/>
            <a:ext cx="1303999" cy="307777"/>
          </a:xfrm>
          <a:prstGeom prst="rect">
            <a:avLst/>
          </a:prstGeom>
          <a:noFill/>
        </p:spPr>
        <p:txBody>
          <a:bodyPr wrap="square" rtlCol="0">
            <a:spAutoFit/>
          </a:bodyPr>
          <a:lstStyle/>
          <a:p>
            <a:pPr algn="ctr">
              <a:spcBef>
                <a:spcPts val="600"/>
              </a:spcBef>
              <a:spcAft>
                <a:spcPts val="600"/>
              </a:spcAft>
            </a:pPr>
            <a:r>
              <a:rPr lang="en-US" altLang="zh-CN" sz="1400" dirty="0">
                <a:solidFill>
                  <a:srgbClr val="000000"/>
                </a:solidFill>
                <a:latin typeface="微软雅黑" panose="020B0503020204020204" pitchFamily="34" charset="-122"/>
                <a:ea typeface="微软雅黑" panose="020B0503020204020204" pitchFamily="34" charset="-122"/>
              </a:rPr>
              <a:t>…</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55E883FD-4454-B663-BDA8-E962B64B7C6B}"/>
              </a:ext>
            </a:extLst>
          </p:cNvPr>
          <p:cNvSpPr txBox="1"/>
          <p:nvPr/>
        </p:nvSpPr>
        <p:spPr>
          <a:xfrm>
            <a:off x="1727200" y="6168842"/>
            <a:ext cx="1512484" cy="276999"/>
          </a:xfrm>
          <a:prstGeom prst="rect">
            <a:avLst/>
          </a:prstGeom>
          <a:noFill/>
        </p:spPr>
        <p:txBody>
          <a:bodyPr wrap="square" rtlCol="0">
            <a:spAutoFit/>
          </a:bodyPr>
          <a:lstStyle/>
          <a:p>
            <a:pPr algn="ctr">
              <a:spcBef>
                <a:spcPts val="600"/>
              </a:spcBef>
              <a:spcAft>
                <a:spcPts val="600"/>
              </a:spcAft>
            </a:pPr>
            <a:r>
              <a:rPr lang="zh-CN" altLang="en-US" sz="1200" b="1" i="1" dirty="0">
                <a:solidFill>
                  <a:srgbClr val="000000"/>
                </a:solidFill>
                <a:latin typeface="微软雅黑" panose="020B0503020204020204" pitchFamily="34" charset="-122"/>
                <a:ea typeface="微软雅黑" panose="020B0503020204020204" pitchFamily="34" charset="-122"/>
              </a:rPr>
              <a:t>产品销售</a:t>
            </a:r>
          </a:p>
        </p:txBody>
      </p:sp>
      <p:sp>
        <p:nvSpPr>
          <p:cNvPr id="46" name="文本框 45">
            <a:extLst>
              <a:ext uri="{FF2B5EF4-FFF2-40B4-BE49-F238E27FC236}">
                <a16:creationId xmlns:a16="http://schemas.microsoft.com/office/drawing/2014/main" id="{2E0DF79A-C92D-3A74-111C-923C3F9F615F}"/>
              </a:ext>
            </a:extLst>
          </p:cNvPr>
          <p:cNvSpPr txBox="1"/>
          <p:nvPr/>
        </p:nvSpPr>
        <p:spPr>
          <a:xfrm>
            <a:off x="3332868" y="6162570"/>
            <a:ext cx="1512484" cy="276999"/>
          </a:xfrm>
          <a:prstGeom prst="rect">
            <a:avLst/>
          </a:prstGeom>
          <a:noFill/>
        </p:spPr>
        <p:txBody>
          <a:bodyPr wrap="square" rtlCol="0">
            <a:spAutoFit/>
          </a:bodyPr>
          <a:lstStyle/>
          <a:p>
            <a:pPr algn="ctr">
              <a:spcBef>
                <a:spcPts val="600"/>
              </a:spcBef>
              <a:spcAft>
                <a:spcPts val="600"/>
              </a:spcAft>
            </a:pPr>
            <a:r>
              <a:rPr lang="zh-CN" altLang="en-US" sz="1200" b="1" i="1" dirty="0">
                <a:solidFill>
                  <a:srgbClr val="000000"/>
                </a:solidFill>
                <a:latin typeface="微软雅黑" panose="020B0503020204020204" pitchFamily="34" charset="-122"/>
                <a:ea typeface="微软雅黑" panose="020B0503020204020204" pitchFamily="34" charset="-122"/>
              </a:rPr>
              <a:t>服务付费</a:t>
            </a:r>
          </a:p>
        </p:txBody>
      </p:sp>
      <p:sp>
        <p:nvSpPr>
          <p:cNvPr id="47" name="文本框 46">
            <a:extLst>
              <a:ext uri="{FF2B5EF4-FFF2-40B4-BE49-F238E27FC236}">
                <a16:creationId xmlns:a16="http://schemas.microsoft.com/office/drawing/2014/main" id="{7E7767FC-1BAC-9FFE-8D3D-F03B51FD45DF}"/>
              </a:ext>
            </a:extLst>
          </p:cNvPr>
          <p:cNvSpPr txBox="1"/>
          <p:nvPr/>
        </p:nvSpPr>
        <p:spPr>
          <a:xfrm>
            <a:off x="4949247" y="6168842"/>
            <a:ext cx="1512484" cy="276999"/>
          </a:xfrm>
          <a:prstGeom prst="rect">
            <a:avLst/>
          </a:prstGeom>
          <a:noFill/>
        </p:spPr>
        <p:txBody>
          <a:bodyPr wrap="square" rtlCol="0">
            <a:spAutoFit/>
          </a:bodyPr>
          <a:lstStyle/>
          <a:p>
            <a:pPr algn="ctr">
              <a:spcBef>
                <a:spcPts val="600"/>
              </a:spcBef>
              <a:spcAft>
                <a:spcPts val="600"/>
              </a:spcAft>
            </a:pPr>
            <a:r>
              <a:rPr lang="zh-CN" altLang="en-US" sz="1200" b="1" i="1" dirty="0">
                <a:solidFill>
                  <a:srgbClr val="000000"/>
                </a:solidFill>
                <a:latin typeface="微软雅黑" panose="020B0503020204020204" pitchFamily="34" charset="-122"/>
                <a:ea typeface="微软雅黑" panose="020B0503020204020204" pitchFamily="34" charset="-122"/>
              </a:rPr>
              <a:t>软件销售</a:t>
            </a:r>
          </a:p>
        </p:txBody>
      </p:sp>
      <p:sp>
        <p:nvSpPr>
          <p:cNvPr id="48" name="文本框 47">
            <a:extLst>
              <a:ext uri="{FF2B5EF4-FFF2-40B4-BE49-F238E27FC236}">
                <a16:creationId xmlns:a16="http://schemas.microsoft.com/office/drawing/2014/main" id="{71F6DC23-FD88-6CC2-4024-BD5DD98BDA1D}"/>
              </a:ext>
            </a:extLst>
          </p:cNvPr>
          <p:cNvSpPr txBox="1"/>
          <p:nvPr/>
        </p:nvSpPr>
        <p:spPr>
          <a:xfrm>
            <a:off x="6559205" y="6168842"/>
            <a:ext cx="1512484" cy="276999"/>
          </a:xfrm>
          <a:prstGeom prst="rect">
            <a:avLst/>
          </a:prstGeom>
          <a:noFill/>
        </p:spPr>
        <p:txBody>
          <a:bodyPr wrap="square" rtlCol="0">
            <a:spAutoFit/>
          </a:bodyPr>
          <a:lstStyle/>
          <a:p>
            <a:pPr algn="ctr">
              <a:spcBef>
                <a:spcPts val="600"/>
              </a:spcBef>
              <a:spcAft>
                <a:spcPts val="600"/>
              </a:spcAft>
            </a:pPr>
            <a:r>
              <a:rPr lang="zh-CN" altLang="en-US" sz="1200" b="1" i="1" dirty="0">
                <a:solidFill>
                  <a:srgbClr val="000000"/>
                </a:solidFill>
                <a:latin typeface="微软雅黑" panose="020B0503020204020204" pitchFamily="34" charset="-122"/>
                <a:ea typeface="微软雅黑" panose="020B0503020204020204" pitchFamily="34" charset="-122"/>
              </a:rPr>
              <a:t>流量及数据收费</a:t>
            </a:r>
          </a:p>
        </p:txBody>
      </p:sp>
      <p:sp>
        <p:nvSpPr>
          <p:cNvPr id="49" name="文本框 48">
            <a:extLst>
              <a:ext uri="{FF2B5EF4-FFF2-40B4-BE49-F238E27FC236}">
                <a16:creationId xmlns:a16="http://schemas.microsoft.com/office/drawing/2014/main" id="{3F293CBF-9D75-11A4-7555-3F4E22829DAE}"/>
              </a:ext>
            </a:extLst>
          </p:cNvPr>
          <p:cNvSpPr txBox="1"/>
          <p:nvPr/>
        </p:nvSpPr>
        <p:spPr>
          <a:xfrm>
            <a:off x="7856082" y="6162570"/>
            <a:ext cx="2363188" cy="276999"/>
          </a:xfrm>
          <a:prstGeom prst="rect">
            <a:avLst/>
          </a:prstGeom>
          <a:noFill/>
        </p:spPr>
        <p:txBody>
          <a:bodyPr wrap="square" rtlCol="0">
            <a:spAutoFit/>
          </a:bodyPr>
          <a:lstStyle/>
          <a:p>
            <a:pPr algn="ctr">
              <a:spcBef>
                <a:spcPts val="600"/>
              </a:spcBef>
              <a:spcAft>
                <a:spcPts val="600"/>
              </a:spcAft>
            </a:pPr>
            <a:r>
              <a:rPr lang="zh-CN" altLang="en-US" sz="1200" b="1" i="1" dirty="0">
                <a:solidFill>
                  <a:srgbClr val="000000"/>
                </a:solidFill>
                <a:latin typeface="微软雅黑" panose="020B0503020204020204" pitchFamily="34" charset="-122"/>
                <a:ea typeface="微软雅黑" panose="020B0503020204020204" pitchFamily="34" charset="-122"/>
              </a:rPr>
              <a:t>商务合作</a:t>
            </a:r>
            <a:r>
              <a:rPr lang="en-US" altLang="zh-CN" sz="1200" b="1" i="1" dirty="0">
                <a:solidFill>
                  <a:srgbClr val="000000"/>
                </a:solidFill>
                <a:latin typeface="微软雅黑" panose="020B0503020204020204" pitchFamily="34" charset="-122"/>
                <a:ea typeface="微软雅黑" panose="020B0503020204020204" pitchFamily="34" charset="-122"/>
              </a:rPr>
              <a:t>/</a:t>
            </a:r>
            <a:r>
              <a:rPr lang="zh-CN" altLang="en-US" sz="1200" b="1" i="1" dirty="0">
                <a:solidFill>
                  <a:srgbClr val="000000"/>
                </a:solidFill>
                <a:latin typeface="微软雅黑" panose="020B0503020204020204" pitchFamily="34" charset="-122"/>
                <a:ea typeface="微软雅黑" panose="020B0503020204020204" pitchFamily="34" charset="-122"/>
              </a:rPr>
              <a:t>广告费</a:t>
            </a:r>
            <a:r>
              <a:rPr lang="en-US" altLang="zh-CN" sz="1200" b="1" i="1" dirty="0">
                <a:solidFill>
                  <a:srgbClr val="000000"/>
                </a:solidFill>
                <a:latin typeface="微软雅黑" panose="020B0503020204020204" pitchFamily="34" charset="-122"/>
                <a:ea typeface="微软雅黑" panose="020B0503020204020204" pitchFamily="34" charset="-122"/>
              </a:rPr>
              <a:t>/</a:t>
            </a:r>
            <a:r>
              <a:rPr lang="zh-CN" altLang="en-US" sz="1200" b="1" i="1" dirty="0">
                <a:solidFill>
                  <a:srgbClr val="000000"/>
                </a:solidFill>
                <a:latin typeface="微软雅黑" panose="020B0503020204020204" pitchFamily="34" charset="-122"/>
                <a:ea typeface="微软雅黑" panose="020B0503020204020204" pitchFamily="34" charset="-122"/>
              </a:rPr>
              <a:t>平台费</a:t>
            </a:r>
          </a:p>
        </p:txBody>
      </p:sp>
      <p:sp>
        <p:nvSpPr>
          <p:cNvPr id="50" name="文本框 49">
            <a:extLst>
              <a:ext uri="{FF2B5EF4-FFF2-40B4-BE49-F238E27FC236}">
                <a16:creationId xmlns:a16="http://schemas.microsoft.com/office/drawing/2014/main" id="{9E2A134D-3753-F6E0-6216-8F6AB6819AC4}"/>
              </a:ext>
            </a:extLst>
          </p:cNvPr>
          <p:cNvSpPr txBox="1"/>
          <p:nvPr/>
        </p:nvSpPr>
        <p:spPr>
          <a:xfrm>
            <a:off x="9767155" y="6156298"/>
            <a:ext cx="1512484" cy="276999"/>
          </a:xfrm>
          <a:prstGeom prst="rect">
            <a:avLst/>
          </a:prstGeom>
          <a:noFill/>
        </p:spPr>
        <p:txBody>
          <a:bodyPr wrap="square" rtlCol="0">
            <a:spAutoFit/>
          </a:bodyPr>
          <a:lstStyle/>
          <a:p>
            <a:pPr algn="ctr">
              <a:spcBef>
                <a:spcPts val="600"/>
              </a:spcBef>
              <a:spcAft>
                <a:spcPts val="600"/>
              </a:spcAft>
            </a:pPr>
            <a:r>
              <a:rPr lang="zh-CN" altLang="en-US" sz="1200" b="1" i="1" dirty="0">
                <a:solidFill>
                  <a:srgbClr val="000000"/>
                </a:solidFill>
                <a:latin typeface="微软雅黑" panose="020B0503020204020204" pitchFamily="34" charset="-122"/>
                <a:ea typeface="微软雅黑" panose="020B0503020204020204" pitchFamily="34" charset="-122"/>
              </a:rPr>
              <a:t>会员费</a:t>
            </a:r>
          </a:p>
        </p:txBody>
      </p:sp>
      <p:sp>
        <p:nvSpPr>
          <p:cNvPr id="51" name="椭圆 50">
            <a:extLst>
              <a:ext uri="{FF2B5EF4-FFF2-40B4-BE49-F238E27FC236}">
                <a16:creationId xmlns:a16="http://schemas.microsoft.com/office/drawing/2014/main" id="{5EDBD057-4D23-3FFC-7097-02ED555E4A8A}"/>
              </a:ext>
            </a:extLst>
          </p:cNvPr>
          <p:cNvSpPr/>
          <p:nvPr/>
        </p:nvSpPr>
        <p:spPr>
          <a:xfrm>
            <a:off x="1543647" y="5699259"/>
            <a:ext cx="114596" cy="120578"/>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0" dirty="0">
              <a:solidFill>
                <a:schemeClr val="bg1"/>
              </a:solidFill>
              <a:latin typeface="微软雅黑" panose="020B0503020204020204" pitchFamily="34" charset="-122"/>
              <a:ea typeface="微软雅黑" panose="020B0503020204020204" pitchFamily="34" charset="-122"/>
            </a:endParaRPr>
          </a:p>
        </p:txBody>
      </p:sp>
      <p:sp>
        <p:nvSpPr>
          <p:cNvPr id="52" name="椭圆 51">
            <a:extLst>
              <a:ext uri="{FF2B5EF4-FFF2-40B4-BE49-F238E27FC236}">
                <a16:creationId xmlns:a16="http://schemas.microsoft.com/office/drawing/2014/main" id="{EE34DF59-3836-EA9C-0D57-D1452AF4A0EB}"/>
              </a:ext>
            </a:extLst>
          </p:cNvPr>
          <p:cNvSpPr/>
          <p:nvPr/>
        </p:nvSpPr>
        <p:spPr>
          <a:xfrm>
            <a:off x="1543647" y="4954839"/>
            <a:ext cx="114596" cy="120578"/>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0" dirty="0">
              <a:solidFill>
                <a:schemeClr val="bg1"/>
              </a:solidFill>
              <a:latin typeface="微软雅黑" panose="020B0503020204020204" pitchFamily="34" charset="-122"/>
              <a:ea typeface="微软雅黑" panose="020B0503020204020204" pitchFamily="34" charset="-122"/>
            </a:endParaRPr>
          </a:p>
        </p:txBody>
      </p:sp>
      <p:sp>
        <p:nvSpPr>
          <p:cNvPr id="53" name="椭圆 52">
            <a:extLst>
              <a:ext uri="{FF2B5EF4-FFF2-40B4-BE49-F238E27FC236}">
                <a16:creationId xmlns:a16="http://schemas.microsoft.com/office/drawing/2014/main" id="{F4107160-8B90-61D5-8114-E5ED6E306F1E}"/>
              </a:ext>
            </a:extLst>
          </p:cNvPr>
          <p:cNvSpPr/>
          <p:nvPr/>
        </p:nvSpPr>
        <p:spPr>
          <a:xfrm>
            <a:off x="1543647" y="4221170"/>
            <a:ext cx="114596" cy="120578"/>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0" dirty="0">
              <a:solidFill>
                <a:schemeClr val="bg1"/>
              </a:solidFill>
              <a:latin typeface="微软雅黑" panose="020B0503020204020204" pitchFamily="34" charset="-122"/>
              <a:ea typeface="微软雅黑" panose="020B0503020204020204" pitchFamily="34" charset="-122"/>
            </a:endParaRPr>
          </a:p>
        </p:txBody>
      </p:sp>
      <p:sp>
        <p:nvSpPr>
          <p:cNvPr id="54" name="椭圆 53">
            <a:extLst>
              <a:ext uri="{FF2B5EF4-FFF2-40B4-BE49-F238E27FC236}">
                <a16:creationId xmlns:a16="http://schemas.microsoft.com/office/drawing/2014/main" id="{A6F68C17-22E8-0807-4CF0-4AD4DB2AA413}"/>
              </a:ext>
            </a:extLst>
          </p:cNvPr>
          <p:cNvSpPr/>
          <p:nvPr/>
        </p:nvSpPr>
        <p:spPr>
          <a:xfrm>
            <a:off x="1543647" y="3380554"/>
            <a:ext cx="114596" cy="120578"/>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0" dirty="0">
              <a:solidFill>
                <a:schemeClr val="bg1"/>
              </a:solidFill>
              <a:latin typeface="微软雅黑" panose="020B0503020204020204" pitchFamily="34" charset="-122"/>
              <a:ea typeface="微软雅黑" panose="020B0503020204020204" pitchFamily="34" charset="-122"/>
            </a:endParaRPr>
          </a:p>
        </p:txBody>
      </p:sp>
      <p:sp>
        <p:nvSpPr>
          <p:cNvPr id="55" name="椭圆 54">
            <a:extLst>
              <a:ext uri="{FF2B5EF4-FFF2-40B4-BE49-F238E27FC236}">
                <a16:creationId xmlns:a16="http://schemas.microsoft.com/office/drawing/2014/main" id="{A09A2C5E-5D06-C33F-BAF7-1542D65F190F}"/>
              </a:ext>
            </a:extLst>
          </p:cNvPr>
          <p:cNvSpPr/>
          <p:nvPr/>
        </p:nvSpPr>
        <p:spPr>
          <a:xfrm>
            <a:off x="1543647" y="2423367"/>
            <a:ext cx="114596" cy="120578"/>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0" dirty="0">
              <a:solidFill>
                <a:schemeClr val="bg1"/>
              </a:solidFill>
              <a:latin typeface="微软雅黑" panose="020B0503020204020204" pitchFamily="34" charset="-122"/>
              <a:ea typeface="微软雅黑" panose="020B0503020204020204" pitchFamily="34" charset="-122"/>
            </a:endParaRPr>
          </a:p>
        </p:txBody>
      </p:sp>
      <p:sp>
        <p:nvSpPr>
          <p:cNvPr id="56" name="文本框 55">
            <a:extLst>
              <a:ext uri="{FF2B5EF4-FFF2-40B4-BE49-F238E27FC236}">
                <a16:creationId xmlns:a16="http://schemas.microsoft.com/office/drawing/2014/main" id="{83C180E9-F86F-CE01-6391-F5FD0145F5FF}"/>
              </a:ext>
            </a:extLst>
          </p:cNvPr>
          <p:cNvSpPr txBox="1"/>
          <p:nvPr/>
        </p:nvSpPr>
        <p:spPr>
          <a:xfrm>
            <a:off x="501870" y="5617444"/>
            <a:ext cx="1512484" cy="276999"/>
          </a:xfrm>
          <a:prstGeom prst="rect">
            <a:avLst/>
          </a:prstGeom>
          <a:noFill/>
        </p:spPr>
        <p:txBody>
          <a:bodyPr wrap="square" rtlCol="0">
            <a:spAutoFit/>
          </a:bodyPr>
          <a:lstStyle/>
          <a:p>
            <a:pPr algn="ctr">
              <a:spcBef>
                <a:spcPts val="600"/>
              </a:spcBef>
              <a:spcAft>
                <a:spcPts val="600"/>
              </a:spcAft>
            </a:pPr>
            <a:r>
              <a:rPr lang="zh-CN" altLang="en-US" sz="1200" b="1" i="1" dirty="0">
                <a:solidFill>
                  <a:srgbClr val="000000"/>
                </a:solidFill>
                <a:latin typeface="微软雅黑" panose="020B0503020204020204" pitchFamily="34" charset="-122"/>
                <a:ea typeface="微软雅黑" panose="020B0503020204020204" pitchFamily="34" charset="-122"/>
              </a:rPr>
              <a:t>车辆</a:t>
            </a:r>
          </a:p>
        </p:txBody>
      </p:sp>
      <p:sp>
        <p:nvSpPr>
          <p:cNvPr id="57" name="文本框 56">
            <a:extLst>
              <a:ext uri="{FF2B5EF4-FFF2-40B4-BE49-F238E27FC236}">
                <a16:creationId xmlns:a16="http://schemas.microsoft.com/office/drawing/2014/main" id="{81DCE761-9623-111B-7EE0-A7AB3CE720DF}"/>
              </a:ext>
            </a:extLst>
          </p:cNvPr>
          <p:cNvSpPr txBox="1"/>
          <p:nvPr/>
        </p:nvSpPr>
        <p:spPr>
          <a:xfrm>
            <a:off x="376757" y="4855838"/>
            <a:ext cx="1512484" cy="276999"/>
          </a:xfrm>
          <a:prstGeom prst="rect">
            <a:avLst/>
          </a:prstGeom>
          <a:noFill/>
        </p:spPr>
        <p:txBody>
          <a:bodyPr wrap="square" rtlCol="0">
            <a:spAutoFit/>
          </a:bodyPr>
          <a:lstStyle/>
          <a:p>
            <a:pPr algn="ctr">
              <a:spcBef>
                <a:spcPts val="600"/>
              </a:spcBef>
              <a:spcAft>
                <a:spcPts val="600"/>
              </a:spcAft>
            </a:pPr>
            <a:r>
              <a:rPr lang="zh-CN" altLang="en-US" sz="1200" b="1" i="1" dirty="0">
                <a:solidFill>
                  <a:srgbClr val="000000"/>
                </a:solidFill>
                <a:latin typeface="微软雅黑" panose="020B0503020204020204" pitchFamily="34" charset="-122"/>
                <a:ea typeface="微软雅黑" panose="020B0503020204020204" pitchFamily="34" charset="-122"/>
              </a:rPr>
              <a:t>智慧交通</a:t>
            </a:r>
          </a:p>
        </p:txBody>
      </p:sp>
      <p:sp>
        <p:nvSpPr>
          <p:cNvPr id="58" name="文本框 57">
            <a:extLst>
              <a:ext uri="{FF2B5EF4-FFF2-40B4-BE49-F238E27FC236}">
                <a16:creationId xmlns:a16="http://schemas.microsoft.com/office/drawing/2014/main" id="{327BBDBE-2BE1-CB4F-9711-CE15F279ADD9}"/>
              </a:ext>
            </a:extLst>
          </p:cNvPr>
          <p:cNvSpPr txBox="1"/>
          <p:nvPr/>
        </p:nvSpPr>
        <p:spPr>
          <a:xfrm>
            <a:off x="540605" y="4134711"/>
            <a:ext cx="1512484" cy="276999"/>
          </a:xfrm>
          <a:prstGeom prst="rect">
            <a:avLst/>
          </a:prstGeom>
          <a:noFill/>
        </p:spPr>
        <p:txBody>
          <a:bodyPr wrap="square" rtlCol="0">
            <a:spAutoFit/>
          </a:bodyPr>
          <a:lstStyle/>
          <a:p>
            <a:pPr algn="ctr">
              <a:spcBef>
                <a:spcPts val="600"/>
              </a:spcBef>
              <a:spcAft>
                <a:spcPts val="600"/>
              </a:spcAft>
            </a:pPr>
            <a:r>
              <a:rPr lang="zh-CN" altLang="en-US" sz="1200" b="1" i="1" dirty="0">
                <a:solidFill>
                  <a:srgbClr val="000000"/>
                </a:solidFill>
                <a:latin typeface="微软雅黑" panose="020B0503020204020204" pitchFamily="34" charset="-122"/>
                <a:ea typeface="微软雅黑" panose="020B0503020204020204" pitchFamily="34" charset="-122"/>
              </a:rPr>
              <a:t>出行</a:t>
            </a:r>
          </a:p>
        </p:txBody>
      </p:sp>
      <p:sp>
        <p:nvSpPr>
          <p:cNvPr id="59" name="文本框 58">
            <a:extLst>
              <a:ext uri="{FF2B5EF4-FFF2-40B4-BE49-F238E27FC236}">
                <a16:creationId xmlns:a16="http://schemas.microsoft.com/office/drawing/2014/main" id="{3466BF69-3F5B-CAEF-5361-9A38A7BE63BE}"/>
              </a:ext>
            </a:extLst>
          </p:cNvPr>
          <p:cNvSpPr txBox="1"/>
          <p:nvPr/>
        </p:nvSpPr>
        <p:spPr>
          <a:xfrm>
            <a:off x="448746" y="3327677"/>
            <a:ext cx="1512484" cy="276999"/>
          </a:xfrm>
          <a:prstGeom prst="rect">
            <a:avLst/>
          </a:prstGeom>
          <a:noFill/>
        </p:spPr>
        <p:txBody>
          <a:bodyPr wrap="square" rtlCol="0">
            <a:spAutoFit/>
          </a:bodyPr>
          <a:lstStyle/>
          <a:p>
            <a:pPr algn="ctr">
              <a:spcBef>
                <a:spcPts val="600"/>
              </a:spcBef>
              <a:spcAft>
                <a:spcPts val="600"/>
              </a:spcAft>
            </a:pPr>
            <a:r>
              <a:rPr lang="zh-CN" altLang="en-US" sz="1200" b="1" i="1" dirty="0">
                <a:solidFill>
                  <a:srgbClr val="000000"/>
                </a:solidFill>
                <a:latin typeface="微软雅黑" panose="020B0503020204020204" pitchFamily="34" charset="-122"/>
                <a:ea typeface="微软雅黑" panose="020B0503020204020204" pitchFamily="34" charset="-122"/>
              </a:rPr>
              <a:t>车生活</a:t>
            </a:r>
          </a:p>
        </p:txBody>
      </p:sp>
      <p:sp>
        <p:nvSpPr>
          <p:cNvPr id="60" name="文本框 59">
            <a:extLst>
              <a:ext uri="{FF2B5EF4-FFF2-40B4-BE49-F238E27FC236}">
                <a16:creationId xmlns:a16="http://schemas.microsoft.com/office/drawing/2014/main" id="{FBA24C9D-B3CA-17D5-235D-9D792C582797}"/>
              </a:ext>
            </a:extLst>
          </p:cNvPr>
          <p:cNvSpPr txBox="1"/>
          <p:nvPr/>
        </p:nvSpPr>
        <p:spPr>
          <a:xfrm>
            <a:off x="402158" y="2333081"/>
            <a:ext cx="1512484" cy="276999"/>
          </a:xfrm>
          <a:prstGeom prst="rect">
            <a:avLst/>
          </a:prstGeom>
          <a:noFill/>
        </p:spPr>
        <p:txBody>
          <a:bodyPr wrap="square" rtlCol="0">
            <a:spAutoFit/>
          </a:bodyPr>
          <a:lstStyle/>
          <a:p>
            <a:pPr algn="ctr">
              <a:spcBef>
                <a:spcPts val="600"/>
              </a:spcBef>
              <a:spcAft>
                <a:spcPts val="600"/>
              </a:spcAft>
            </a:pPr>
            <a:r>
              <a:rPr lang="zh-CN" altLang="en-US" sz="1200" b="1" i="1" dirty="0">
                <a:solidFill>
                  <a:srgbClr val="000000"/>
                </a:solidFill>
                <a:latin typeface="微软雅黑" panose="020B0503020204020204" pitchFamily="34" charset="-122"/>
                <a:ea typeface="微软雅黑" panose="020B0503020204020204" pitchFamily="34" charset="-122"/>
              </a:rPr>
              <a:t>日常生活</a:t>
            </a:r>
          </a:p>
        </p:txBody>
      </p:sp>
      <p:sp>
        <p:nvSpPr>
          <p:cNvPr id="61" name="文本框 60">
            <a:extLst>
              <a:ext uri="{FF2B5EF4-FFF2-40B4-BE49-F238E27FC236}">
                <a16:creationId xmlns:a16="http://schemas.microsoft.com/office/drawing/2014/main" id="{F4602D87-6C9B-00DB-93F5-5C0A16A5EED5}"/>
              </a:ext>
            </a:extLst>
          </p:cNvPr>
          <p:cNvSpPr txBox="1"/>
          <p:nvPr/>
        </p:nvSpPr>
        <p:spPr>
          <a:xfrm>
            <a:off x="1016001" y="1998130"/>
            <a:ext cx="1628981" cy="276999"/>
          </a:xfrm>
          <a:prstGeom prst="rect">
            <a:avLst/>
          </a:prstGeom>
          <a:noFill/>
        </p:spPr>
        <p:txBody>
          <a:bodyPr wrap="square" rtlCol="0">
            <a:spAutoFit/>
          </a:bodyPr>
          <a:lstStyle/>
          <a:p>
            <a:pPr>
              <a:spcBef>
                <a:spcPts val="600"/>
              </a:spcBef>
              <a:spcAft>
                <a:spcPts val="600"/>
              </a:spcAft>
            </a:pPr>
            <a:r>
              <a:rPr lang="zh-CN" altLang="en-US" sz="1200" b="1" dirty="0">
                <a:solidFill>
                  <a:srgbClr val="003366"/>
                </a:solidFill>
                <a:latin typeface="微软雅黑" panose="020B0503020204020204" pitchFamily="34" charset="-122"/>
                <a:ea typeface="微软雅黑" panose="020B0503020204020204" pitchFamily="34" charset="-122"/>
              </a:rPr>
              <a:t>消费者使用场景</a:t>
            </a:r>
          </a:p>
        </p:txBody>
      </p:sp>
      <p:sp>
        <p:nvSpPr>
          <p:cNvPr id="62" name="椭圆 61">
            <a:extLst>
              <a:ext uri="{FF2B5EF4-FFF2-40B4-BE49-F238E27FC236}">
                <a16:creationId xmlns:a16="http://schemas.microsoft.com/office/drawing/2014/main" id="{6E9CC611-C753-D760-8E5F-5AEDECC22A14}"/>
              </a:ext>
            </a:extLst>
          </p:cNvPr>
          <p:cNvSpPr/>
          <p:nvPr/>
        </p:nvSpPr>
        <p:spPr>
          <a:xfrm>
            <a:off x="9800894" y="3932959"/>
            <a:ext cx="213684" cy="213684"/>
          </a:xfrm>
          <a:prstGeom prst="ellipse">
            <a:avLst/>
          </a:prstGeom>
          <a:solidFill>
            <a:schemeClr val="bg1">
              <a:lumMod val="6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1</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63" name="椭圆 62">
            <a:extLst>
              <a:ext uri="{FF2B5EF4-FFF2-40B4-BE49-F238E27FC236}">
                <a16:creationId xmlns:a16="http://schemas.microsoft.com/office/drawing/2014/main" id="{361D4CE2-8690-8DD8-CAAB-0BF3E1510C82}"/>
              </a:ext>
            </a:extLst>
          </p:cNvPr>
          <p:cNvSpPr/>
          <p:nvPr/>
        </p:nvSpPr>
        <p:spPr>
          <a:xfrm>
            <a:off x="3379010" y="2952102"/>
            <a:ext cx="213684" cy="213684"/>
          </a:xfrm>
          <a:prstGeom prst="ellipse">
            <a:avLst/>
          </a:prstGeom>
          <a:solidFill>
            <a:schemeClr val="bg1">
              <a:lumMod val="6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5</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64" name="椭圆 63">
            <a:extLst>
              <a:ext uri="{FF2B5EF4-FFF2-40B4-BE49-F238E27FC236}">
                <a16:creationId xmlns:a16="http://schemas.microsoft.com/office/drawing/2014/main" id="{60111859-8B88-277B-3F36-C96E182B368D}"/>
              </a:ext>
            </a:extLst>
          </p:cNvPr>
          <p:cNvSpPr/>
          <p:nvPr/>
        </p:nvSpPr>
        <p:spPr>
          <a:xfrm>
            <a:off x="4984481" y="3286697"/>
            <a:ext cx="213684" cy="213684"/>
          </a:xfrm>
          <a:prstGeom prst="ellipse">
            <a:avLst/>
          </a:prstGeom>
          <a:solidFill>
            <a:schemeClr val="bg1">
              <a:lumMod val="6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4</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65" name="椭圆 64">
            <a:extLst>
              <a:ext uri="{FF2B5EF4-FFF2-40B4-BE49-F238E27FC236}">
                <a16:creationId xmlns:a16="http://schemas.microsoft.com/office/drawing/2014/main" id="{039A461C-5DB8-1B7E-FA80-3F2125F44A20}"/>
              </a:ext>
            </a:extLst>
          </p:cNvPr>
          <p:cNvSpPr/>
          <p:nvPr/>
        </p:nvSpPr>
        <p:spPr>
          <a:xfrm>
            <a:off x="4994536" y="5394208"/>
            <a:ext cx="213684" cy="213684"/>
          </a:xfrm>
          <a:prstGeom prst="ellipse">
            <a:avLst/>
          </a:prstGeom>
          <a:solidFill>
            <a:schemeClr val="bg1">
              <a:lumMod val="6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2</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66" name="椭圆 65">
            <a:extLst>
              <a:ext uri="{FF2B5EF4-FFF2-40B4-BE49-F238E27FC236}">
                <a16:creationId xmlns:a16="http://schemas.microsoft.com/office/drawing/2014/main" id="{CE983F7E-ADA6-BA93-DCB9-859C20B4DB9A}"/>
              </a:ext>
            </a:extLst>
          </p:cNvPr>
          <p:cNvSpPr/>
          <p:nvPr/>
        </p:nvSpPr>
        <p:spPr>
          <a:xfrm>
            <a:off x="1785757" y="5792249"/>
            <a:ext cx="213684" cy="213684"/>
          </a:xfrm>
          <a:prstGeom prst="ellipse">
            <a:avLst/>
          </a:prstGeom>
          <a:solidFill>
            <a:schemeClr val="bg1">
              <a:lumMod val="6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3</a:t>
            </a:r>
            <a:endPar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67" name="文本占位符 6">
            <a:extLst>
              <a:ext uri="{FF2B5EF4-FFF2-40B4-BE49-F238E27FC236}">
                <a16:creationId xmlns:a16="http://schemas.microsoft.com/office/drawing/2014/main" id="{6A71C24D-9183-6157-B0BE-1B9B7F5D550A}"/>
              </a:ext>
            </a:extLst>
          </p:cNvPr>
          <p:cNvSpPr txBox="1">
            <a:spLocks/>
          </p:cNvSpPr>
          <p:nvPr/>
        </p:nvSpPr>
        <p:spPr>
          <a:xfrm>
            <a:off x="302944" y="339516"/>
            <a:ext cx="11547559" cy="499789"/>
          </a:xfrm>
          <a:prstGeom prst="rect">
            <a:avLst/>
          </a:prstGeom>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2400" b="0" i="0" kern="1200" baseline="0">
                <a:solidFill>
                  <a:schemeClr val="tx1"/>
                </a:solidFill>
                <a:latin typeface="DIN Pro Regular" panose="02000503040000020003" pitchFamily="50" charset="0"/>
                <a:ea typeface="Alibaba PuHuiTi 2.0 55 Regular" pitchFamily="18" charset="-122"/>
                <a:cs typeface="Alibaba PuHuiTi 2.0 55 Regular" pitchFamily="18" charset="-122"/>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latin typeface="微软雅黑" panose="020B0503020204020204" pitchFamily="34" charset="-122"/>
                <a:ea typeface="微软雅黑" panose="020B0503020204020204" pitchFamily="34" charset="-122"/>
              </a:rPr>
              <a:t>行业发展方向</a:t>
            </a:r>
            <a:r>
              <a:rPr kumimoji="1" lang="en-US" altLang="zh-CN" sz="2400" dirty="0">
                <a:latin typeface="微软雅黑" panose="020B0503020204020204" pitchFamily="34" charset="-122"/>
                <a:ea typeface="微软雅黑" panose="020B0503020204020204" pitchFamily="34" charset="-122"/>
              </a:rPr>
              <a:t>-</a:t>
            </a:r>
            <a:r>
              <a:rPr kumimoji="1" lang="zh-CN" altLang="en-US" sz="2400" dirty="0">
                <a:latin typeface="微软雅黑" panose="020B0503020204020204" pitchFamily="34" charset="-122"/>
                <a:ea typeface="微软雅黑" panose="020B0503020204020204" pitchFamily="34" charset="-122"/>
              </a:rPr>
              <a:t>全服务场景</a:t>
            </a:r>
          </a:p>
        </p:txBody>
      </p:sp>
    </p:spTree>
    <p:extLst>
      <p:ext uri="{BB962C8B-B14F-4D97-AF65-F5344CB8AC3E}">
        <p14:creationId xmlns:p14="http://schemas.microsoft.com/office/powerpoint/2010/main" val="13912400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00C629F-D6EE-07CB-9CDD-79406CA5BE10}"/>
              </a:ext>
            </a:extLst>
          </p:cNvPr>
          <p:cNvSpPr>
            <a:spLocks noGrp="1"/>
          </p:cNvSpPr>
          <p:nvPr>
            <p:ph type="body" sz="quarter" idx="21"/>
          </p:nvPr>
        </p:nvSpPr>
        <p:spPr/>
        <p:txBody>
          <a:bodyPr/>
          <a:lstStyle/>
          <a:p>
            <a:r>
              <a:rPr kumimoji="1" lang="zh-CN" altLang="en-US" sz="2400" dirty="0">
                <a:latin typeface="微软雅黑" panose="020B0503020204020204" pitchFamily="34" charset="-122"/>
                <a:ea typeface="微软雅黑" panose="020B0503020204020204" pitchFamily="34" charset="-122"/>
              </a:rPr>
              <a:t>客户全生命周期运营</a:t>
            </a:r>
          </a:p>
        </p:txBody>
      </p:sp>
      <p:sp>
        <p:nvSpPr>
          <p:cNvPr id="4" name="文本占位符 3">
            <a:extLst>
              <a:ext uri="{FF2B5EF4-FFF2-40B4-BE49-F238E27FC236}">
                <a16:creationId xmlns:a16="http://schemas.microsoft.com/office/drawing/2014/main" id="{D990C29A-B85E-0A43-B18B-6ECEB4CB3CB7}"/>
              </a:ext>
            </a:extLst>
          </p:cNvPr>
          <p:cNvSpPr>
            <a:spLocks noGrp="1"/>
          </p:cNvSpPr>
          <p:nvPr>
            <p:ph type="body" sz="quarter" idx="22"/>
          </p:nvPr>
        </p:nvSpPr>
        <p:spPr/>
        <p:txBody>
          <a:bodyPr/>
          <a:lstStyle/>
          <a:p>
            <a:r>
              <a:rPr lang="zh-CN" altLang="en-US" sz="1800" dirty="0">
                <a:latin typeface="微软雅黑" panose="020B0503020204020204" pitchFamily="34" charset="-122"/>
                <a:ea typeface="微软雅黑" panose="020B0503020204020204" pitchFamily="34" charset="-122"/>
              </a:rPr>
              <a:t>用户运营已成为主机厂探索长期价值增量的关键抓手，正推动增长模式由单一车辆销售为导向转向用户全生命周期价值挖掘转变</a:t>
            </a:r>
          </a:p>
        </p:txBody>
      </p:sp>
      <p:sp>
        <p:nvSpPr>
          <p:cNvPr id="5" name="灯片编号占位符 4">
            <a:extLst>
              <a:ext uri="{FF2B5EF4-FFF2-40B4-BE49-F238E27FC236}">
                <a16:creationId xmlns:a16="http://schemas.microsoft.com/office/drawing/2014/main" id="{1FB6D5E4-4D61-25F5-520C-15982B06DFF4}"/>
              </a:ext>
            </a:extLst>
          </p:cNvPr>
          <p:cNvSpPr>
            <a:spLocks noGrp="1"/>
          </p:cNvSpPr>
          <p:nvPr>
            <p:ph type="sldNum" sz="quarter" idx="4"/>
          </p:nvPr>
        </p:nvSpPr>
        <p:spPr/>
        <p:txBody>
          <a:bodyPr/>
          <a:lstStyle/>
          <a:p>
            <a:fld id="{04824671-56D2-5D44-834F-250C3DA554E9}" type="slidenum">
              <a:rPr lang="zh-CN" altLang="en-US" smtClean="0">
                <a:latin typeface="微软雅黑" panose="020B0503020204020204" pitchFamily="34" charset="-122"/>
                <a:ea typeface="微软雅黑" panose="020B0503020204020204" pitchFamily="34" charset="-122"/>
              </a:rPr>
              <a:t>58</a:t>
            </a:fld>
            <a:endParaRPr lang="zh-CN" altLang="en-US" dirty="0">
              <a:latin typeface="微软雅黑" panose="020B0503020204020204" pitchFamily="34" charset="-122"/>
              <a:ea typeface="微软雅黑" panose="020B0503020204020204" pitchFamily="34" charset="-122"/>
            </a:endParaRPr>
          </a:p>
        </p:txBody>
      </p:sp>
      <p:sp>
        <p:nvSpPr>
          <p:cNvPr id="73" name="箭头: 上 85">
            <a:extLst>
              <a:ext uri="{FF2B5EF4-FFF2-40B4-BE49-F238E27FC236}">
                <a16:creationId xmlns:a16="http://schemas.microsoft.com/office/drawing/2014/main" id="{F7E4AA47-3549-69FA-43A6-B3EC170A2B96}"/>
              </a:ext>
            </a:extLst>
          </p:cNvPr>
          <p:cNvSpPr/>
          <p:nvPr/>
        </p:nvSpPr>
        <p:spPr>
          <a:xfrm>
            <a:off x="4913366" y="2879866"/>
            <a:ext cx="557130" cy="428533"/>
          </a:xfrm>
          <a:custGeom>
            <a:avLst/>
            <a:gdLst>
              <a:gd name="connsiteX0" fmla="*/ 0 w 476310"/>
              <a:gd name="connsiteY0" fmla="*/ 203634 h 407268"/>
              <a:gd name="connsiteX1" fmla="*/ 238155 w 476310"/>
              <a:gd name="connsiteY1" fmla="*/ 0 h 407268"/>
              <a:gd name="connsiteX2" fmla="*/ 476310 w 476310"/>
              <a:gd name="connsiteY2" fmla="*/ 203634 h 407268"/>
              <a:gd name="connsiteX3" fmla="*/ 367864 w 476310"/>
              <a:gd name="connsiteY3" fmla="*/ 203634 h 407268"/>
              <a:gd name="connsiteX4" fmla="*/ 367864 w 476310"/>
              <a:gd name="connsiteY4" fmla="*/ 407268 h 407268"/>
              <a:gd name="connsiteX5" fmla="*/ 108446 w 476310"/>
              <a:gd name="connsiteY5" fmla="*/ 407268 h 407268"/>
              <a:gd name="connsiteX6" fmla="*/ 108446 w 476310"/>
              <a:gd name="connsiteY6" fmla="*/ 203634 h 407268"/>
              <a:gd name="connsiteX7" fmla="*/ 0 w 476310"/>
              <a:gd name="connsiteY7" fmla="*/ 203634 h 407268"/>
              <a:gd name="connsiteX0" fmla="*/ 51043 w 527353"/>
              <a:gd name="connsiteY0" fmla="*/ 203634 h 428533"/>
              <a:gd name="connsiteX1" fmla="*/ 289198 w 527353"/>
              <a:gd name="connsiteY1" fmla="*/ 0 h 428533"/>
              <a:gd name="connsiteX2" fmla="*/ 527353 w 527353"/>
              <a:gd name="connsiteY2" fmla="*/ 203634 h 428533"/>
              <a:gd name="connsiteX3" fmla="*/ 418907 w 527353"/>
              <a:gd name="connsiteY3" fmla="*/ 203634 h 428533"/>
              <a:gd name="connsiteX4" fmla="*/ 418907 w 527353"/>
              <a:gd name="connsiteY4" fmla="*/ 407268 h 428533"/>
              <a:gd name="connsiteX5" fmla="*/ 0 w 527353"/>
              <a:gd name="connsiteY5" fmla="*/ 428533 h 428533"/>
              <a:gd name="connsiteX6" fmla="*/ 159489 w 527353"/>
              <a:gd name="connsiteY6" fmla="*/ 203634 h 428533"/>
              <a:gd name="connsiteX7" fmla="*/ 51043 w 527353"/>
              <a:gd name="connsiteY7" fmla="*/ 203634 h 428533"/>
              <a:gd name="connsiteX0" fmla="*/ 51043 w 557130"/>
              <a:gd name="connsiteY0" fmla="*/ 203634 h 428533"/>
              <a:gd name="connsiteX1" fmla="*/ 289198 w 557130"/>
              <a:gd name="connsiteY1" fmla="*/ 0 h 428533"/>
              <a:gd name="connsiteX2" fmla="*/ 527353 w 557130"/>
              <a:gd name="connsiteY2" fmla="*/ 203634 h 428533"/>
              <a:gd name="connsiteX3" fmla="*/ 418907 w 557130"/>
              <a:gd name="connsiteY3" fmla="*/ 203634 h 428533"/>
              <a:gd name="connsiteX4" fmla="*/ 557130 w 557130"/>
              <a:gd name="connsiteY4" fmla="*/ 428533 h 428533"/>
              <a:gd name="connsiteX5" fmla="*/ 0 w 557130"/>
              <a:gd name="connsiteY5" fmla="*/ 428533 h 428533"/>
              <a:gd name="connsiteX6" fmla="*/ 159489 w 557130"/>
              <a:gd name="connsiteY6" fmla="*/ 203634 h 428533"/>
              <a:gd name="connsiteX7" fmla="*/ 51043 w 557130"/>
              <a:gd name="connsiteY7" fmla="*/ 203634 h 42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7130" h="428533">
                <a:moveTo>
                  <a:pt x="51043" y="203634"/>
                </a:moveTo>
                <a:lnTo>
                  <a:pt x="289198" y="0"/>
                </a:lnTo>
                <a:lnTo>
                  <a:pt x="527353" y="203634"/>
                </a:lnTo>
                <a:lnTo>
                  <a:pt x="418907" y="203634"/>
                </a:lnTo>
                <a:lnTo>
                  <a:pt x="557130" y="428533"/>
                </a:lnTo>
                <a:lnTo>
                  <a:pt x="0" y="428533"/>
                </a:lnTo>
                <a:lnTo>
                  <a:pt x="159489" y="203634"/>
                </a:lnTo>
                <a:lnTo>
                  <a:pt x="51043" y="203634"/>
                </a:lnTo>
                <a:close/>
              </a:path>
            </a:pathLst>
          </a:custGeom>
          <a:gradFill flip="none" rotWithShape="1">
            <a:gsLst>
              <a:gs pos="100000">
                <a:schemeClr val="accent5">
                  <a:lumMod val="0"/>
                  <a:lumOff val="100000"/>
                </a:schemeClr>
              </a:gs>
              <a:gs pos="6000">
                <a:srgbClr val="ADD6FF"/>
              </a:gs>
              <a:gs pos="100000">
                <a:schemeClr val="accent5">
                  <a:lumMod val="0"/>
                  <a:lumOff val="100000"/>
                </a:schemeClr>
              </a:gs>
            </a:gsLst>
            <a:lin ang="5400000" scaled="0"/>
            <a:tileRect/>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74" name="箭头: 上 85">
            <a:extLst>
              <a:ext uri="{FF2B5EF4-FFF2-40B4-BE49-F238E27FC236}">
                <a16:creationId xmlns:a16="http://schemas.microsoft.com/office/drawing/2014/main" id="{FBD5ED4B-E4BD-35DA-5520-705842F3B09F}"/>
              </a:ext>
            </a:extLst>
          </p:cNvPr>
          <p:cNvSpPr/>
          <p:nvPr/>
        </p:nvSpPr>
        <p:spPr>
          <a:xfrm>
            <a:off x="4212737" y="3083707"/>
            <a:ext cx="557130" cy="428533"/>
          </a:xfrm>
          <a:custGeom>
            <a:avLst/>
            <a:gdLst>
              <a:gd name="connsiteX0" fmla="*/ 0 w 476310"/>
              <a:gd name="connsiteY0" fmla="*/ 203634 h 407268"/>
              <a:gd name="connsiteX1" fmla="*/ 238155 w 476310"/>
              <a:gd name="connsiteY1" fmla="*/ 0 h 407268"/>
              <a:gd name="connsiteX2" fmla="*/ 476310 w 476310"/>
              <a:gd name="connsiteY2" fmla="*/ 203634 h 407268"/>
              <a:gd name="connsiteX3" fmla="*/ 367864 w 476310"/>
              <a:gd name="connsiteY3" fmla="*/ 203634 h 407268"/>
              <a:gd name="connsiteX4" fmla="*/ 367864 w 476310"/>
              <a:gd name="connsiteY4" fmla="*/ 407268 h 407268"/>
              <a:gd name="connsiteX5" fmla="*/ 108446 w 476310"/>
              <a:gd name="connsiteY5" fmla="*/ 407268 h 407268"/>
              <a:gd name="connsiteX6" fmla="*/ 108446 w 476310"/>
              <a:gd name="connsiteY6" fmla="*/ 203634 h 407268"/>
              <a:gd name="connsiteX7" fmla="*/ 0 w 476310"/>
              <a:gd name="connsiteY7" fmla="*/ 203634 h 407268"/>
              <a:gd name="connsiteX0" fmla="*/ 51043 w 527353"/>
              <a:gd name="connsiteY0" fmla="*/ 203634 h 428533"/>
              <a:gd name="connsiteX1" fmla="*/ 289198 w 527353"/>
              <a:gd name="connsiteY1" fmla="*/ 0 h 428533"/>
              <a:gd name="connsiteX2" fmla="*/ 527353 w 527353"/>
              <a:gd name="connsiteY2" fmla="*/ 203634 h 428533"/>
              <a:gd name="connsiteX3" fmla="*/ 418907 w 527353"/>
              <a:gd name="connsiteY3" fmla="*/ 203634 h 428533"/>
              <a:gd name="connsiteX4" fmla="*/ 418907 w 527353"/>
              <a:gd name="connsiteY4" fmla="*/ 407268 h 428533"/>
              <a:gd name="connsiteX5" fmla="*/ 0 w 527353"/>
              <a:gd name="connsiteY5" fmla="*/ 428533 h 428533"/>
              <a:gd name="connsiteX6" fmla="*/ 159489 w 527353"/>
              <a:gd name="connsiteY6" fmla="*/ 203634 h 428533"/>
              <a:gd name="connsiteX7" fmla="*/ 51043 w 527353"/>
              <a:gd name="connsiteY7" fmla="*/ 203634 h 428533"/>
              <a:gd name="connsiteX0" fmla="*/ 51043 w 557130"/>
              <a:gd name="connsiteY0" fmla="*/ 203634 h 428533"/>
              <a:gd name="connsiteX1" fmla="*/ 289198 w 557130"/>
              <a:gd name="connsiteY1" fmla="*/ 0 h 428533"/>
              <a:gd name="connsiteX2" fmla="*/ 527353 w 557130"/>
              <a:gd name="connsiteY2" fmla="*/ 203634 h 428533"/>
              <a:gd name="connsiteX3" fmla="*/ 418907 w 557130"/>
              <a:gd name="connsiteY3" fmla="*/ 203634 h 428533"/>
              <a:gd name="connsiteX4" fmla="*/ 557130 w 557130"/>
              <a:gd name="connsiteY4" fmla="*/ 428533 h 428533"/>
              <a:gd name="connsiteX5" fmla="*/ 0 w 557130"/>
              <a:gd name="connsiteY5" fmla="*/ 428533 h 428533"/>
              <a:gd name="connsiteX6" fmla="*/ 159489 w 557130"/>
              <a:gd name="connsiteY6" fmla="*/ 203634 h 428533"/>
              <a:gd name="connsiteX7" fmla="*/ 51043 w 557130"/>
              <a:gd name="connsiteY7" fmla="*/ 203634 h 42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7130" h="428533">
                <a:moveTo>
                  <a:pt x="51043" y="203634"/>
                </a:moveTo>
                <a:lnTo>
                  <a:pt x="289198" y="0"/>
                </a:lnTo>
                <a:lnTo>
                  <a:pt x="527353" y="203634"/>
                </a:lnTo>
                <a:lnTo>
                  <a:pt x="418907" y="203634"/>
                </a:lnTo>
                <a:lnTo>
                  <a:pt x="557130" y="428533"/>
                </a:lnTo>
                <a:lnTo>
                  <a:pt x="0" y="428533"/>
                </a:lnTo>
                <a:lnTo>
                  <a:pt x="159489" y="203634"/>
                </a:lnTo>
                <a:lnTo>
                  <a:pt x="51043" y="203634"/>
                </a:lnTo>
                <a:close/>
              </a:path>
            </a:pathLst>
          </a:custGeom>
          <a:gradFill flip="none" rotWithShape="1">
            <a:gsLst>
              <a:gs pos="100000">
                <a:schemeClr val="accent5">
                  <a:lumMod val="0"/>
                  <a:lumOff val="100000"/>
                </a:schemeClr>
              </a:gs>
              <a:gs pos="6000">
                <a:srgbClr val="ADD6FF"/>
              </a:gs>
              <a:gs pos="100000">
                <a:schemeClr val="accent5">
                  <a:lumMod val="0"/>
                  <a:lumOff val="100000"/>
                </a:schemeClr>
              </a:gs>
            </a:gsLst>
            <a:lin ang="5400000" scaled="0"/>
            <a:tileRect/>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75" name="箭头: 上 85">
            <a:extLst>
              <a:ext uri="{FF2B5EF4-FFF2-40B4-BE49-F238E27FC236}">
                <a16:creationId xmlns:a16="http://schemas.microsoft.com/office/drawing/2014/main" id="{3C129383-C051-3D6A-AA39-2AD939AAF9C8}"/>
              </a:ext>
            </a:extLst>
          </p:cNvPr>
          <p:cNvSpPr/>
          <p:nvPr/>
        </p:nvSpPr>
        <p:spPr>
          <a:xfrm>
            <a:off x="3541663" y="3215522"/>
            <a:ext cx="557130" cy="428533"/>
          </a:xfrm>
          <a:custGeom>
            <a:avLst/>
            <a:gdLst>
              <a:gd name="connsiteX0" fmla="*/ 0 w 476310"/>
              <a:gd name="connsiteY0" fmla="*/ 203634 h 407268"/>
              <a:gd name="connsiteX1" fmla="*/ 238155 w 476310"/>
              <a:gd name="connsiteY1" fmla="*/ 0 h 407268"/>
              <a:gd name="connsiteX2" fmla="*/ 476310 w 476310"/>
              <a:gd name="connsiteY2" fmla="*/ 203634 h 407268"/>
              <a:gd name="connsiteX3" fmla="*/ 367864 w 476310"/>
              <a:gd name="connsiteY3" fmla="*/ 203634 h 407268"/>
              <a:gd name="connsiteX4" fmla="*/ 367864 w 476310"/>
              <a:gd name="connsiteY4" fmla="*/ 407268 h 407268"/>
              <a:gd name="connsiteX5" fmla="*/ 108446 w 476310"/>
              <a:gd name="connsiteY5" fmla="*/ 407268 h 407268"/>
              <a:gd name="connsiteX6" fmla="*/ 108446 w 476310"/>
              <a:gd name="connsiteY6" fmla="*/ 203634 h 407268"/>
              <a:gd name="connsiteX7" fmla="*/ 0 w 476310"/>
              <a:gd name="connsiteY7" fmla="*/ 203634 h 407268"/>
              <a:gd name="connsiteX0" fmla="*/ 51043 w 527353"/>
              <a:gd name="connsiteY0" fmla="*/ 203634 h 428533"/>
              <a:gd name="connsiteX1" fmla="*/ 289198 w 527353"/>
              <a:gd name="connsiteY1" fmla="*/ 0 h 428533"/>
              <a:gd name="connsiteX2" fmla="*/ 527353 w 527353"/>
              <a:gd name="connsiteY2" fmla="*/ 203634 h 428533"/>
              <a:gd name="connsiteX3" fmla="*/ 418907 w 527353"/>
              <a:gd name="connsiteY3" fmla="*/ 203634 h 428533"/>
              <a:gd name="connsiteX4" fmla="*/ 418907 w 527353"/>
              <a:gd name="connsiteY4" fmla="*/ 407268 h 428533"/>
              <a:gd name="connsiteX5" fmla="*/ 0 w 527353"/>
              <a:gd name="connsiteY5" fmla="*/ 428533 h 428533"/>
              <a:gd name="connsiteX6" fmla="*/ 159489 w 527353"/>
              <a:gd name="connsiteY6" fmla="*/ 203634 h 428533"/>
              <a:gd name="connsiteX7" fmla="*/ 51043 w 527353"/>
              <a:gd name="connsiteY7" fmla="*/ 203634 h 428533"/>
              <a:gd name="connsiteX0" fmla="*/ 51043 w 557130"/>
              <a:gd name="connsiteY0" fmla="*/ 203634 h 428533"/>
              <a:gd name="connsiteX1" fmla="*/ 289198 w 557130"/>
              <a:gd name="connsiteY1" fmla="*/ 0 h 428533"/>
              <a:gd name="connsiteX2" fmla="*/ 527353 w 557130"/>
              <a:gd name="connsiteY2" fmla="*/ 203634 h 428533"/>
              <a:gd name="connsiteX3" fmla="*/ 418907 w 557130"/>
              <a:gd name="connsiteY3" fmla="*/ 203634 h 428533"/>
              <a:gd name="connsiteX4" fmla="*/ 557130 w 557130"/>
              <a:gd name="connsiteY4" fmla="*/ 428533 h 428533"/>
              <a:gd name="connsiteX5" fmla="*/ 0 w 557130"/>
              <a:gd name="connsiteY5" fmla="*/ 428533 h 428533"/>
              <a:gd name="connsiteX6" fmla="*/ 159489 w 557130"/>
              <a:gd name="connsiteY6" fmla="*/ 203634 h 428533"/>
              <a:gd name="connsiteX7" fmla="*/ 51043 w 557130"/>
              <a:gd name="connsiteY7" fmla="*/ 203634 h 42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7130" h="428533">
                <a:moveTo>
                  <a:pt x="51043" y="203634"/>
                </a:moveTo>
                <a:lnTo>
                  <a:pt x="289198" y="0"/>
                </a:lnTo>
                <a:lnTo>
                  <a:pt x="527353" y="203634"/>
                </a:lnTo>
                <a:lnTo>
                  <a:pt x="418907" y="203634"/>
                </a:lnTo>
                <a:lnTo>
                  <a:pt x="557130" y="428533"/>
                </a:lnTo>
                <a:lnTo>
                  <a:pt x="0" y="428533"/>
                </a:lnTo>
                <a:lnTo>
                  <a:pt x="159489" y="203634"/>
                </a:lnTo>
                <a:lnTo>
                  <a:pt x="51043" y="203634"/>
                </a:lnTo>
                <a:close/>
              </a:path>
            </a:pathLst>
          </a:custGeom>
          <a:gradFill flip="none" rotWithShape="1">
            <a:gsLst>
              <a:gs pos="100000">
                <a:schemeClr val="accent5">
                  <a:lumMod val="0"/>
                  <a:lumOff val="100000"/>
                </a:schemeClr>
              </a:gs>
              <a:gs pos="6000">
                <a:srgbClr val="ADD6FF"/>
              </a:gs>
              <a:gs pos="100000">
                <a:schemeClr val="accent5">
                  <a:lumMod val="0"/>
                  <a:lumOff val="100000"/>
                </a:schemeClr>
              </a:gs>
            </a:gsLst>
            <a:lin ang="5400000" scaled="0"/>
            <a:tileRect/>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76" name="箭头: 上 85">
            <a:extLst>
              <a:ext uri="{FF2B5EF4-FFF2-40B4-BE49-F238E27FC236}">
                <a16:creationId xmlns:a16="http://schemas.microsoft.com/office/drawing/2014/main" id="{B9185719-0008-EDA6-E764-EB93F798D668}"/>
              </a:ext>
            </a:extLst>
          </p:cNvPr>
          <p:cNvSpPr/>
          <p:nvPr/>
        </p:nvSpPr>
        <p:spPr>
          <a:xfrm>
            <a:off x="2905507" y="3203441"/>
            <a:ext cx="557130" cy="428533"/>
          </a:xfrm>
          <a:custGeom>
            <a:avLst/>
            <a:gdLst>
              <a:gd name="connsiteX0" fmla="*/ 0 w 476310"/>
              <a:gd name="connsiteY0" fmla="*/ 203634 h 407268"/>
              <a:gd name="connsiteX1" fmla="*/ 238155 w 476310"/>
              <a:gd name="connsiteY1" fmla="*/ 0 h 407268"/>
              <a:gd name="connsiteX2" fmla="*/ 476310 w 476310"/>
              <a:gd name="connsiteY2" fmla="*/ 203634 h 407268"/>
              <a:gd name="connsiteX3" fmla="*/ 367864 w 476310"/>
              <a:gd name="connsiteY3" fmla="*/ 203634 h 407268"/>
              <a:gd name="connsiteX4" fmla="*/ 367864 w 476310"/>
              <a:gd name="connsiteY4" fmla="*/ 407268 h 407268"/>
              <a:gd name="connsiteX5" fmla="*/ 108446 w 476310"/>
              <a:gd name="connsiteY5" fmla="*/ 407268 h 407268"/>
              <a:gd name="connsiteX6" fmla="*/ 108446 w 476310"/>
              <a:gd name="connsiteY6" fmla="*/ 203634 h 407268"/>
              <a:gd name="connsiteX7" fmla="*/ 0 w 476310"/>
              <a:gd name="connsiteY7" fmla="*/ 203634 h 407268"/>
              <a:gd name="connsiteX0" fmla="*/ 51043 w 527353"/>
              <a:gd name="connsiteY0" fmla="*/ 203634 h 428533"/>
              <a:gd name="connsiteX1" fmla="*/ 289198 w 527353"/>
              <a:gd name="connsiteY1" fmla="*/ 0 h 428533"/>
              <a:gd name="connsiteX2" fmla="*/ 527353 w 527353"/>
              <a:gd name="connsiteY2" fmla="*/ 203634 h 428533"/>
              <a:gd name="connsiteX3" fmla="*/ 418907 w 527353"/>
              <a:gd name="connsiteY3" fmla="*/ 203634 h 428533"/>
              <a:gd name="connsiteX4" fmla="*/ 418907 w 527353"/>
              <a:gd name="connsiteY4" fmla="*/ 407268 h 428533"/>
              <a:gd name="connsiteX5" fmla="*/ 0 w 527353"/>
              <a:gd name="connsiteY5" fmla="*/ 428533 h 428533"/>
              <a:gd name="connsiteX6" fmla="*/ 159489 w 527353"/>
              <a:gd name="connsiteY6" fmla="*/ 203634 h 428533"/>
              <a:gd name="connsiteX7" fmla="*/ 51043 w 527353"/>
              <a:gd name="connsiteY7" fmla="*/ 203634 h 428533"/>
              <a:gd name="connsiteX0" fmla="*/ 51043 w 557130"/>
              <a:gd name="connsiteY0" fmla="*/ 203634 h 428533"/>
              <a:gd name="connsiteX1" fmla="*/ 289198 w 557130"/>
              <a:gd name="connsiteY1" fmla="*/ 0 h 428533"/>
              <a:gd name="connsiteX2" fmla="*/ 527353 w 557130"/>
              <a:gd name="connsiteY2" fmla="*/ 203634 h 428533"/>
              <a:gd name="connsiteX3" fmla="*/ 418907 w 557130"/>
              <a:gd name="connsiteY3" fmla="*/ 203634 h 428533"/>
              <a:gd name="connsiteX4" fmla="*/ 557130 w 557130"/>
              <a:gd name="connsiteY4" fmla="*/ 428533 h 428533"/>
              <a:gd name="connsiteX5" fmla="*/ 0 w 557130"/>
              <a:gd name="connsiteY5" fmla="*/ 428533 h 428533"/>
              <a:gd name="connsiteX6" fmla="*/ 159489 w 557130"/>
              <a:gd name="connsiteY6" fmla="*/ 203634 h 428533"/>
              <a:gd name="connsiteX7" fmla="*/ 51043 w 557130"/>
              <a:gd name="connsiteY7" fmla="*/ 203634 h 42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7130" h="428533">
                <a:moveTo>
                  <a:pt x="51043" y="203634"/>
                </a:moveTo>
                <a:lnTo>
                  <a:pt x="289198" y="0"/>
                </a:lnTo>
                <a:lnTo>
                  <a:pt x="527353" y="203634"/>
                </a:lnTo>
                <a:lnTo>
                  <a:pt x="418907" y="203634"/>
                </a:lnTo>
                <a:lnTo>
                  <a:pt x="557130" y="428533"/>
                </a:lnTo>
                <a:lnTo>
                  <a:pt x="0" y="428533"/>
                </a:lnTo>
                <a:lnTo>
                  <a:pt x="159489" y="203634"/>
                </a:lnTo>
                <a:lnTo>
                  <a:pt x="51043" y="203634"/>
                </a:lnTo>
                <a:close/>
              </a:path>
            </a:pathLst>
          </a:custGeom>
          <a:gradFill flip="none" rotWithShape="1">
            <a:gsLst>
              <a:gs pos="100000">
                <a:schemeClr val="accent5">
                  <a:lumMod val="0"/>
                  <a:lumOff val="100000"/>
                </a:schemeClr>
              </a:gs>
              <a:gs pos="6000">
                <a:srgbClr val="ADD6FF"/>
              </a:gs>
              <a:gs pos="100000">
                <a:schemeClr val="accent5">
                  <a:lumMod val="0"/>
                  <a:lumOff val="100000"/>
                </a:schemeClr>
              </a:gs>
            </a:gsLst>
            <a:lin ang="5400000" scaled="0"/>
            <a:tileRect/>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C259CE07-B408-69B0-25E5-EEA2F3E20DF0}"/>
              </a:ext>
            </a:extLst>
          </p:cNvPr>
          <p:cNvSpPr/>
          <p:nvPr/>
        </p:nvSpPr>
        <p:spPr>
          <a:xfrm>
            <a:off x="6239516" y="4607467"/>
            <a:ext cx="2469602" cy="1651000"/>
          </a:xfrm>
          <a:prstGeom prst="roundRect">
            <a:avLst/>
          </a:prstGeom>
          <a:solidFill>
            <a:srgbClr val="FFFFFF"/>
          </a:solidFill>
          <a:ln w="3175">
            <a:solidFill>
              <a:schemeClr val="tx1"/>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274AC"/>
                </a:solidFill>
                <a:effectLst/>
                <a:uLnTx/>
                <a:uFillTx/>
                <a:latin typeface="微软雅黑" panose="020B0503020204020204" pitchFamily="34" charset="-122"/>
                <a:ea typeface="微软雅黑" panose="020B0503020204020204" pitchFamily="34" charset="-122"/>
              </a:rPr>
              <a:t>纵向业务</a:t>
            </a:r>
            <a:r>
              <a:rPr kumimoji="0" lang="en-US" altLang="zh-CN" sz="1400" b="1" i="0" u="none" strike="noStrike" kern="1200" cap="none" spc="0" normalizeH="0" baseline="0" noProof="0" dirty="0">
                <a:ln>
                  <a:noFill/>
                </a:ln>
                <a:solidFill>
                  <a:srgbClr val="2274AC"/>
                </a:solidFill>
                <a:effectLst/>
                <a:uLnTx/>
                <a:uFillTx/>
                <a:latin typeface="微软雅黑" panose="020B0503020204020204" pitchFamily="34" charset="-122"/>
                <a:ea typeface="微软雅黑" panose="020B0503020204020204" pitchFamily="34" charset="-122"/>
              </a:rPr>
              <a:t>———                   </a:t>
            </a:r>
            <a:r>
              <a:rPr kumimoji="0" lang="zh-CN" altLang="en-US" sz="1400" b="1" i="0" u="none" strike="noStrike" kern="1200" cap="none" spc="0" normalizeH="0" baseline="0" noProof="0" dirty="0">
                <a:ln>
                  <a:noFill/>
                </a:ln>
                <a:solidFill>
                  <a:srgbClr val="2274AC"/>
                </a:solidFill>
                <a:effectLst/>
                <a:uLnTx/>
                <a:uFillTx/>
                <a:latin typeface="微软雅黑" panose="020B0503020204020204" pitchFamily="34" charset="-122"/>
                <a:ea typeface="微软雅黑" panose="020B0503020204020204" pitchFamily="34" charset="-122"/>
              </a:rPr>
              <a:t>即期价值产出</a:t>
            </a:r>
            <a:endParaRPr kumimoji="0" lang="en-US" altLang="zh-CN" sz="1400" b="1" i="0" u="none" strike="noStrike" kern="1200" cap="none" spc="0" normalizeH="0" baseline="0" noProof="0" dirty="0">
              <a:ln>
                <a:noFill/>
              </a:ln>
              <a:solidFill>
                <a:srgbClr val="2274AC"/>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dirty="0">
              <a:ln>
                <a:noFill/>
              </a:ln>
              <a:solidFill>
                <a:srgbClr val="2274AC"/>
              </a:solidFill>
              <a:effectLst/>
              <a:uLnTx/>
              <a:uFillTx/>
              <a:latin typeface="微软雅黑" panose="020B0503020204020204" pitchFamily="34" charset="-122"/>
              <a:ea typeface="微软雅黑" panose="020B0503020204020204" pitchFamily="3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自身业务价值链为核心抓手，实现产品或服务的即期销售变现</a:t>
            </a:r>
            <a:endParaRPr kumimoji="0" lang="zh-CN" altLang="en-US" sz="1200" b="1" i="0" u="none" strike="noStrike" kern="1200" cap="none" spc="0" normalizeH="0" baseline="0" noProof="0" dirty="0">
              <a:ln>
                <a:noFill/>
              </a:ln>
              <a:solidFill>
                <a:srgbClr val="2274AC"/>
              </a:solidFill>
              <a:effectLst/>
              <a:uLnTx/>
              <a:uFillTx/>
              <a:latin typeface="微软雅黑" panose="020B0503020204020204" pitchFamily="34" charset="-122"/>
              <a:ea typeface="微软雅黑" panose="020B0503020204020204" pitchFamily="34" charset="-122"/>
            </a:endParaRPr>
          </a:p>
        </p:txBody>
      </p:sp>
      <p:sp>
        <p:nvSpPr>
          <p:cNvPr id="78" name="椭圆 77">
            <a:extLst>
              <a:ext uri="{FF2B5EF4-FFF2-40B4-BE49-F238E27FC236}">
                <a16:creationId xmlns:a16="http://schemas.microsoft.com/office/drawing/2014/main" id="{595C7867-4AD3-41E7-5489-7CC5D4A72AC1}"/>
              </a:ext>
            </a:extLst>
          </p:cNvPr>
          <p:cNvSpPr/>
          <p:nvPr/>
        </p:nvSpPr>
        <p:spPr>
          <a:xfrm>
            <a:off x="6317091" y="3609758"/>
            <a:ext cx="874353" cy="874353"/>
          </a:xfrm>
          <a:prstGeom prst="ellipse">
            <a:avLst/>
          </a:prstGeom>
          <a:solidFill>
            <a:srgbClr val="ADD6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79" name="箭头: 上 85">
            <a:extLst>
              <a:ext uri="{FF2B5EF4-FFF2-40B4-BE49-F238E27FC236}">
                <a16:creationId xmlns:a16="http://schemas.microsoft.com/office/drawing/2014/main" id="{82166FAE-FB50-607B-8B16-E41653324CED}"/>
              </a:ext>
            </a:extLst>
          </p:cNvPr>
          <p:cNvSpPr/>
          <p:nvPr/>
        </p:nvSpPr>
        <p:spPr>
          <a:xfrm>
            <a:off x="2396239" y="2852306"/>
            <a:ext cx="557130" cy="428533"/>
          </a:xfrm>
          <a:custGeom>
            <a:avLst/>
            <a:gdLst>
              <a:gd name="connsiteX0" fmla="*/ 0 w 476310"/>
              <a:gd name="connsiteY0" fmla="*/ 203634 h 407268"/>
              <a:gd name="connsiteX1" fmla="*/ 238155 w 476310"/>
              <a:gd name="connsiteY1" fmla="*/ 0 h 407268"/>
              <a:gd name="connsiteX2" fmla="*/ 476310 w 476310"/>
              <a:gd name="connsiteY2" fmla="*/ 203634 h 407268"/>
              <a:gd name="connsiteX3" fmla="*/ 367864 w 476310"/>
              <a:gd name="connsiteY3" fmla="*/ 203634 h 407268"/>
              <a:gd name="connsiteX4" fmla="*/ 367864 w 476310"/>
              <a:gd name="connsiteY4" fmla="*/ 407268 h 407268"/>
              <a:gd name="connsiteX5" fmla="*/ 108446 w 476310"/>
              <a:gd name="connsiteY5" fmla="*/ 407268 h 407268"/>
              <a:gd name="connsiteX6" fmla="*/ 108446 w 476310"/>
              <a:gd name="connsiteY6" fmla="*/ 203634 h 407268"/>
              <a:gd name="connsiteX7" fmla="*/ 0 w 476310"/>
              <a:gd name="connsiteY7" fmla="*/ 203634 h 407268"/>
              <a:gd name="connsiteX0" fmla="*/ 51043 w 527353"/>
              <a:gd name="connsiteY0" fmla="*/ 203634 h 428533"/>
              <a:gd name="connsiteX1" fmla="*/ 289198 w 527353"/>
              <a:gd name="connsiteY1" fmla="*/ 0 h 428533"/>
              <a:gd name="connsiteX2" fmla="*/ 527353 w 527353"/>
              <a:gd name="connsiteY2" fmla="*/ 203634 h 428533"/>
              <a:gd name="connsiteX3" fmla="*/ 418907 w 527353"/>
              <a:gd name="connsiteY3" fmla="*/ 203634 h 428533"/>
              <a:gd name="connsiteX4" fmla="*/ 418907 w 527353"/>
              <a:gd name="connsiteY4" fmla="*/ 407268 h 428533"/>
              <a:gd name="connsiteX5" fmla="*/ 0 w 527353"/>
              <a:gd name="connsiteY5" fmla="*/ 428533 h 428533"/>
              <a:gd name="connsiteX6" fmla="*/ 159489 w 527353"/>
              <a:gd name="connsiteY6" fmla="*/ 203634 h 428533"/>
              <a:gd name="connsiteX7" fmla="*/ 51043 w 527353"/>
              <a:gd name="connsiteY7" fmla="*/ 203634 h 428533"/>
              <a:gd name="connsiteX0" fmla="*/ 51043 w 557130"/>
              <a:gd name="connsiteY0" fmla="*/ 203634 h 428533"/>
              <a:gd name="connsiteX1" fmla="*/ 289198 w 557130"/>
              <a:gd name="connsiteY1" fmla="*/ 0 h 428533"/>
              <a:gd name="connsiteX2" fmla="*/ 527353 w 557130"/>
              <a:gd name="connsiteY2" fmla="*/ 203634 h 428533"/>
              <a:gd name="connsiteX3" fmla="*/ 418907 w 557130"/>
              <a:gd name="connsiteY3" fmla="*/ 203634 h 428533"/>
              <a:gd name="connsiteX4" fmla="*/ 557130 w 557130"/>
              <a:gd name="connsiteY4" fmla="*/ 428533 h 428533"/>
              <a:gd name="connsiteX5" fmla="*/ 0 w 557130"/>
              <a:gd name="connsiteY5" fmla="*/ 428533 h 428533"/>
              <a:gd name="connsiteX6" fmla="*/ 159489 w 557130"/>
              <a:gd name="connsiteY6" fmla="*/ 203634 h 428533"/>
              <a:gd name="connsiteX7" fmla="*/ 51043 w 557130"/>
              <a:gd name="connsiteY7" fmla="*/ 203634 h 42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7130" h="428533">
                <a:moveTo>
                  <a:pt x="51043" y="203634"/>
                </a:moveTo>
                <a:lnTo>
                  <a:pt x="289198" y="0"/>
                </a:lnTo>
                <a:lnTo>
                  <a:pt x="527353" y="203634"/>
                </a:lnTo>
                <a:lnTo>
                  <a:pt x="418907" y="203634"/>
                </a:lnTo>
                <a:lnTo>
                  <a:pt x="557130" y="428533"/>
                </a:lnTo>
                <a:lnTo>
                  <a:pt x="0" y="428533"/>
                </a:lnTo>
                <a:lnTo>
                  <a:pt x="159489" y="203634"/>
                </a:lnTo>
                <a:lnTo>
                  <a:pt x="51043" y="203634"/>
                </a:lnTo>
                <a:close/>
              </a:path>
            </a:pathLst>
          </a:custGeom>
          <a:gradFill flip="none" rotWithShape="1">
            <a:gsLst>
              <a:gs pos="100000">
                <a:schemeClr val="accent5">
                  <a:lumMod val="0"/>
                  <a:lumOff val="100000"/>
                </a:schemeClr>
              </a:gs>
              <a:gs pos="6000">
                <a:srgbClr val="ADD6FF"/>
              </a:gs>
              <a:gs pos="100000">
                <a:schemeClr val="accent5">
                  <a:lumMod val="0"/>
                  <a:lumOff val="100000"/>
                </a:schemeClr>
              </a:gs>
            </a:gsLst>
            <a:lin ang="5400000" scaled="0"/>
            <a:tileRect/>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80" name="箭头: 上 85">
            <a:extLst>
              <a:ext uri="{FF2B5EF4-FFF2-40B4-BE49-F238E27FC236}">
                <a16:creationId xmlns:a16="http://schemas.microsoft.com/office/drawing/2014/main" id="{FBC10097-8D3F-0D47-FDB4-CA139111316C}"/>
              </a:ext>
            </a:extLst>
          </p:cNvPr>
          <p:cNvSpPr/>
          <p:nvPr/>
        </p:nvSpPr>
        <p:spPr>
          <a:xfrm>
            <a:off x="823720" y="3152756"/>
            <a:ext cx="557130" cy="428533"/>
          </a:xfrm>
          <a:custGeom>
            <a:avLst/>
            <a:gdLst>
              <a:gd name="connsiteX0" fmla="*/ 0 w 476310"/>
              <a:gd name="connsiteY0" fmla="*/ 203634 h 407268"/>
              <a:gd name="connsiteX1" fmla="*/ 238155 w 476310"/>
              <a:gd name="connsiteY1" fmla="*/ 0 h 407268"/>
              <a:gd name="connsiteX2" fmla="*/ 476310 w 476310"/>
              <a:gd name="connsiteY2" fmla="*/ 203634 h 407268"/>
              <a:gd name="connsiteX3" fmla="*/ 367864 w 476310"/>
              <a:gd name="connsiteY3" fmla="*/ 203634 h 407268"/>
              <a:gd name="connsiteX4" fmla="*/ 367864 w 476310"/>
              <a:gd name="connsiteY4" fmla="*/ 407268 h 407268"/>
              <a:gd name="connsiteX5" fmla="*/ 108446 w 476310"/>
              <a:gd name="connsiteY5" fmla="*/ 407268 h 407268"/>
              <a:gd name="connsiteX6" fmla="*/ 108446 w 476310"/>
              <a:gd name="connsiteY6" fmla="*/ 203634 h 407268"/>
              <a:gd name="connsiteX7" fmla="*/ 0 w 476310"/>
              <a:gd name="connsiteY7" fmla="*/ 203634 h 407268"/>
              <a:gd name="connsiteX0" fmla="*/ 51043 w 527353"/>
              <a:gd name="connsiteY0" fmla="*/ 203634 h 428533"/>
              <a:gd name="connsiteX1" fmla="*/ 289198 w 527353"/>
              <a:gd name="connsiteY1" fmla="*/ 0 h 428533"/>
              <a:gd name="connsiteX2" fmla="*/ 527353 w 527353"/>
              <a:gd name="connsiteY2" fmla="*/ 203634 h 428533"/>
              <a:gd name="connsiteX3" fmla="*/ 418907 w 527353"/>
              <a:gd name="connsiteY3" fmla="*/ 203634 h 428533"/>
              <a:gd name="connsiteX4" fmla="*/ 418907 w 527353"/>
              <a:gd name="connsiteY4" fmla="*/ 407268 h 428533"/>
              <a:gd name="connsiteX5" fmla="*/ 0 w 527353"/>
              <a:gd name="connsiteY5" fmla="*/ 428533 h 428533"/>
              <a:gd name="connsiteX6" fmla="*/ 159489 w 527353"/>
              <a:gd name="connsiteY6" fmla="*/ 203634 h 428533"/>
              <a:gd name="connsiteX7" fmla="*/ 51043 w 527353"/>
              <a:gd name="connsiteY7" fmla="*/ 203634 h 428533"/>
              <a:gd name="connsiteX0" fmla="*/ 51043 w 557130"/>
              <a:gd name="connsiteY0" fmla="*/ 203634 h 428533"/>
              <a:gd name="connsiteX1" fmla="*/ 289198 w 557130"/>
              <a:gd name="connsiteY1" fmla="*/ 0 h 428533"/>
              <a:gd name="connsiteX2" fmla="*/ 527353 w 557130"/>
              <a:gd name="connsiteY2" fmla="*/ 203634 h 428533"/>
              <a:gd name="connsiteX3" fmla="*/ 418907 w 557130"/>
              <a:gd name="connsiteY3" fmla="*/ 203634 h 428533"/>
              <a:gd name="connsiteX4" fmla="*/ 557130 w 557130"/>
              <a:gd name="connsiteY4" fmla="*/ 428533 h 428533"/>
              <a:gd name="connsiteX5" fmla="*/ 0 w 557130"/>
              <a:gd name="connsiteY5" fmla="*/ 428533 h 428533"/>
              <a:gd name="connsiteX6" fmla="*/ 159489 w 557130"/>
              <a:gd name="connsiteY6" fmla="*/ 203634 h 428533"/>
              <a:gd name="connsiteX7" fmla="*/ 51043 w 557130"/>
              <a:gd name="connsiteY7" fmla="*/ 203634 h 42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7130" h="428533">
                <a:moveTo>
                  <a:pt x="51043" y="203634"/>
                </a:moveTo>
                <a:lnTo>
                  <a:pt x="289198" y="0"/>
                </a:lnTo>
                <a:lnTo>
                  <a:pt x="527353" y="203634"/>
                </a:lnTo>
                <a:lnTo>
                  <a:pt x="418907" y="203634"/>
                </a:lnTo>
                <a:lnTo>
                  <a:pt x="557130" y="428533"/>
                </a:lnTo>
                <a:lnTo>
                  <a:pt x="0" y="428533"/>
                </a:lnTo>
                <a:lnTo>
                  <a:pt x="159489" y="203634"/>
                </a:lnTo>
                <a:lnTo>
                  <a:pt x="51043" y="203634"/>
                </a:lnTo>
                <a:close/>
              </a:path>
            </a:pathLst>
          </a:custGeom>
          <a:gradFill flip="none" rotWithShape="1">
            <a:gsLst>
              <a:gs pos="90000">
                <a:schemeClr val="accent5">
                  <a:lumMod val="0"/>
                  <a:lumOff val="100000"/>
                </a:schemeClr>
              </a:gs>
              <a:gs pos="6000">
                <a:srgbClr val="ADD6FF"/>
              </a:gs>
              <a:gs pos="100000">
                <a:schemeClr val="accent5">
                  <a:lumMod val="0"/>
                  <a:lumOff val="100000"/>
                </a:schemeClr>
              </a:gs>
            </a:gsLst>
            <a:lin ang="5400000" scaled="0"/>
            <a:tileRect/>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pic>
        <p:nvPicPr>
          <p:cNvPr id="81" name="内容占位符 52">
            <a:extLst>
              <a:ext uri="{FF2B5EF4-FFF2-40B4-BE49-F238E27FC236}">
                <a16:creationId xmlns:a16="http://schemas.microsoft.com/office/drawing/2014/main" id="{6499F33C-6623-DAEF-9EB0-0DFDD96E15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9897" y="1959389"/>
            <a:ext cx="257762" cy="257762"/>
          </a:xfrm>
          <a:prstGeom prst="rect">
            <a:avLst/>
          </a:prstGeom>
          <a:effectLst/>
        </p:spPr>
      </p:pic>
      <p:sp>
        <p:nvSpPr>
          <p:cNvPr id="82" name="矩形: 圆角 81">
            <a:extLst>
              <a:ext uri="{FF2B5EF4-FFF2-40B4-BE49-F238E27FC236}">
                <a16:creationId xmlns:a16="http://schemas.microsoft.com/office/drawing/2014/main" id="{23E09D3B-64D9-5D7E-FEDA-0A129A72538C}"/>
              </a:ext>
            </a:extLst>
          </p:cNvPr>
          <p:cNvSpPr/>
          <p:nvPr/>
        </p:nvSpPr>
        <p:spPr>
          <a:xfrm>
            <a:off x="700675" y="1941227"/>
            <a:ext cx="4470238" cy="275924"/>
          </a:xfrm>
          <a:prstGeom prst="roundRect">
            <a:avLst/>
          </a:prstGeom>
          <a:solidFill>
            <a:srgbClr val="002060"/>
          </a:solidFill>
          <a:ln w="9525">
            <a:solidFill>
              <a:srgbClr val="ADD6F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用户运营是横向价值</a:t>
            </a:r>
          </a:p>
        </p:txBody>
      </p:sp>
      <p:sp>
        <p:nvSpPr>
          <p:cNvPr id="83" name="文本框 82">
            <a:extLst>
              <a:ext uri="{FF2B5EF4-FFF2-40B4-BE49-F238E27FC236}">
                <a16:creationId xmlns:a16="http://schemas.microsoft.com/office/drawing/2014/main" id="{C83F49E3-82C7-A570-54D6-BD724875DBC3}"/>
              </a:ext>
            </a:extLst>
          </p:cNvPr>
          <p:cNvSpPr txBox="1"/>
          <p:nvPr/>
        </p:nvSpPr>
        <p:spPr>
          <a:xfrm>
            <a:off x="307772" y="2437435"/>
            <a:ext cx="369332" cy="1311274"/>
          </a:xfrm>
          <a:prstGeom prst="rect">
            <a:avLst/>
          </a:prstGeom>
          <a:noFill/>
          <a:effectLst/>
        </p:spPr>
        <p:txBody>
          <a:bodyPr vert="eaVert"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客户价值示意</a:t>
            </a:r>
          </a:p>
        </p:txBody>
      </p:sp>
      <p:sp>
        <p:nvSpPr>
          <p:cNvPr id="84" name="文本框 83">
            <a:extLst>
              <a:ext uri="{FF2B5EF4-FFF2-40B4-BE49-F238E27FC236}">
                <a16:creationId xmlns:a16="http://schemas.microsoft.com/office/drawing/2014/main" id="{98B955AE-DF7B-3FD2-13D2-1B5C8DFB0448}"/>
              </a:ext>
            </a:extLst>
          </p:cNvPr>
          <p:cNvSpPr txBox="1"/>
          <p:nvPr/>
        </p:nvSpPr>
        <p:spPr>
          <a:xfrm>
            <a:off x="3118302" y="6193972"/>
            <a:ext cx="3189767" cy="276999"/>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车企</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C</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端客户全生命周期价值旅程</a:t>
            </a:r>
          </a:p>
        </p:txBody>
      </p:sp>
      <p:sp>
        <p:nvSpPr>
          <p:cNvPr id="85" name="矩形 84">
            <a:extLst>
              <a:ext uri="{FF2B5EF4-FFF2-40B4-BE49-F238E27FC236}">
                <a16:creationId xmlns:a16="http://schemas.microsoft.com/office/drawing/2014/main" id="{5AE7AB83-DC86-8BD4-10E9-CB7EC84C2B4E}"/>
              </a:ext>
            </a:extLst>
          </p:cNvPr>
          <p:cNvSpPr/>
          <p:nvPr/>
        </p:nvSpPr>
        <p:spPr>
          <a:xfrm>
            <a:off x="754609" y="4963113"/>
            <a:ext cx="563103" cy="1211263"/>
          </a:xfrm>
          <a:prstGeom prst="rect">
            <a:avLst/>
          </a:prstGeom>
          <a:solidFill>
            <a:srgbClr val="ADD6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6" name="文本框 85">
            <a:extLst>
              <a:ext uri="{FF2B5EF4-FFF2-40B4-BE49-F238E27FC236}">
                <a16:creationId xmlns:a16="http://schemas.microsoft.com/office/drawing/2014/main" id="{907FB8BE-6637-B121-C564-2FBC75BD3639}"/>
              </a:ext>
            </a:extLst>
          </p:cNvPr>
          <p:cNvSpPr txBox="1"/>
          <p:nvPr/>
        </p:nvSpPr>
        <p:spPr>
          <a:xfrm>
            <a:off x="560281" y="5959777"/>
            <a:ext cx="918702" cy="253916"/>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zh-CN" altLang="en-US" sz="1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关注体验</a:t>
            </a:r>
          </a:p>
        </p:txBody>
      </p:sp>
      <p:sp>
        <p:nvSpPr>
          <p:cNvPr id="87" name="矩形 86">
            <a:extLst>
              <a:ext uri="{FF2B5EF4-FFF2-40B4-BE49-F238E27FC236}">
                <a16:creationId xmlns:a16="http://schemas.microsoft.com/office/drawing/2014/main" id="{C8B5C6B0-6DC5-659F-77D2-8D4DAC645877}"/>
              </a:ext>
            </a:extLst>
          </p:cNvPr>
          <p:cNvSpPr/>
          <p:nvPr/>
        </p:nvSpPr>
        <p:spPr>
          <a:xfrm>
            <a:off x="1416828" y="4432740"/>
            <a:ext cx="601577" cy="1764967"/>
          </a:xfrm>
          <a:prstGeom prst="rect">
            <a:avLst/>
          </a:prstGeom>
          <a:solidFill>
            <a:srgbClr val="ADD6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8" name="文本框 87">
            <a:extLst>
              <a:ext uri="{FF2B5EF4-FFF2-40B4-BE49-F238E27FC236}">
                <a16:creationId xmlns:a16="http://schemas.microsoft.com/office/drawing/2014/main" id="{BC198348-460B-40A2-D314-6D89A657EE11}"/>
              </a:ext>
            </a:extLst>
          </p:cNvPr>
          <p:cNvSpPr txBox="1"/>
          <p:nvPr/>
        </p:nvSpPr>
        <p:spPr>
          <a:xfrm>
            <a:off x="1239397" y="5972424"/>
            <a:ext cx="918702" cy="246221"/>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zh-CN" altLang="en-US" sz="1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新车销量</a:t>
            </a:r>
          </a:p>
        </p:txBody>
      </p:sp>
      <p:sp>
        <p:nvSpPr>
          <p:cNvPr id="89" name="矩形 88">
            <a:extLst>
              <a:ext uri="{FF2B5EF4-FFF2-40B4-BE49-F238E27FC236}">
                <a16:creationId xmlns:a16="http://schemas.microsoft.com/office/drawing/2014/main" id="{7B9249B8-0683-F676-8ECE-0A9DBA635972}"/>
              </a:ext>
            </a:extLst>
          </p:cNvPr>
          <p:cNvSpPr/>
          <p:nvPr/>
        </p:nvSpPr>
        <p:spPr>
          <a:xfrm>
            <a:off x="2174594" y="4521365"/>
            <a:ext cx="595236" cy="1676401"/>
          </a:xfrm>
          <a:prstGeom prst="rect">
            <a:avLst/>
          </a:prstGeom>
          <a:solidFill>
            <a:srgbClr val="ADD6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90" name="文本框 89">
            <a:extLst>
              <a:ext uri="{FF2B5EF4-FFF2-40B4-BE49-F238E27FC236}">
                <a16:creationId xmlns:a16="http://schemas.microsoft.com/office/drawing/2014/main" id="{4E28D14E-08C5-A6B4-77FF-6E436630B21E}"/>
              </a:ext>
            </a:extLst>
          </p:cNvPr>
          <p:cNvSpPr txBox="1"/>
          <p:nvPr/>
        </p:nvSpPr>
        <p:spPr>
          <a:xfrm>
            <a:off x="2112473" y="5667117"/>
            <a:ext cx="717268" cy="553998"/>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zh-CN" altLang="en-US" sz="1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售后维保及附件精品</a:t>
            </a:r>
          </a:p>
        </p:txBody>
      </p:sp>
      <p:sp>
        <p:nvSpPr>
          <p:cNvPr id="91" name="矩形 90">
            <a:extLst>
              <a:ext uri="{FF2B5EF4-FFF2-40B4-BE49-F238E27FC236}">
                <a16:creationId xmlns:a16="http://schemas.microsoft.com/office/drawing/2014/main" id="{3CA60896-0DD7-24C3-671A-12D086496B79}"/>
              </a:ext>
            </a:extLst>
          </p:cNvPr>
          <p:cNvSpPr/>
          <p:nvPr/>
        </p:nvSpPr>
        <p:spPr>
          <a:xfrm>
            <a:off x="2886464" y="4501577"/>
            <a:ext cx="595236" cy="1676401"/>
          </a:xfrm>
          <a:prstGeom prst="rect">
            <a:avLst/>
          </a:prstGeom>
          <a:solidFill>
            <a:srgbClr val="ADD6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92" name="文本框 91">
            <a:extLst>
              <a:ext uri="{FF2B5EF4-FFF2-40B4-BE49-F238E27FC236}">
                <a16:creationId xmlns:a16="http://schemas.microsoft.com/office/drawing/2014/main" id="{AB984F27-0027-553E-5904-5713EEE9DC3D}"/>
              </a:ext>
            </a:extLst>
          </p:cNvPr>
          <p:cNvSpPr txBox="1"/>
          <p:nvPr/>
        </p:nvSpPr>
        <p:spPr>
          <a:xfrm>
            <a:off x="2718695" y="5925441"/>
            <a:ext cx="918702" cy="246221"/>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zh-CN" altLang="en-US" sz="1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汽车金融</a:t>
            </a:r>
          </a:p>
        </p:txBody>
      </p:sp>
      <p:sp>
        <p:nvSpPr>
          <p:cNvPr id="93" name="矩形 92">
            <a:extLst>
              <a:ext uri="{FF2B5EF4-FFF2-40B4-BE49-F238E27FC236}">
                <a16:creationId xmlns:a16="http://schemas.microsoft.com/office/drawing/2014/main" id="{FAB2EEF7-71BE-B38A-F019-8093748F5989}"/>
              </a:ext>
            </a:extLst>
          </p:cNvPr>
          <p:cNvSpPr/>
          <p:nvPr/>
        </p:nvSpPr>
        <p:spPr>
          <a:xfrm>
            <a:off x="3629461" y="4602017"/>
            <a:ext cx="583276" cy="1577717"/>
          </a:xfrm>
          <a:prstGeom prst="rect">
            <a:avLst/>
          </a:prstGeom>
          <a:solidFill>
            <a:srgbClr val="ADD6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94" name="文本框 93">
            <a:extLst>
              <a:ext uri="{FF2B5EF4-FFF2-40B4-BE49-F238E27FC236}">
                <a16:creationId xmlns:a16="http://schemas.microsoft.com/office/drawing/2014/main" id="{9040701F-B9CE-F132-9DA9-78B8A66DF992}"/>
              </a:ext>
            </a:extLst>
          </p:cNvPr>
          <p:cNvSpPr txBox="1"/>
          <p:nvPr/>
        </p:nvSpPr>
        <p:spPr>
          <a:xfrm>
            <a:off x="3540068" y="5813583"/>
            <a:ext cx="799724" cy="400110"/>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zh-CN" altLang="en-US" sz="1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数字消费业务</a:t>
            </a:r>
          </a:p>
        </p:txBody>
      </p:sp>
      <p:sp>
        <p:nvSpPr>
          <p:cNvPr id="95" name="矩形 94">
            <a:extLst>
              <a:ext uri="{FF2B5EF4-FFF2-40B4-BE49-F238E27FC236}">
                <a16:creationId xmlns:a16="http://schemas.microsoft.com/office/drawing/2014/main" id="{99135DD7-BFE7-B64A-3A92-A4FC572DB753}"/>
              </a:ext>
            </a:extLst>
          </p:cNvPr>
          <p:cNvSpPr/>
          <p:nvPr/>
        </p:nvSpPr>
        <p:spPr>
          <a:xfrm>
            <a:off x="4402685" y="4514586"/>
            <a:ext cx="583276" cy="1676401"/>
          </a:xfrm>
          <a:prstGeom prst="rect">
            <a:avLst/>
          </a:prstGeom>
          <a:solidFill>
            <a:srgbClr val="ADD6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96" name="文本框 95">
            <a:extLst>
              <a:ext uri="{FF2B5EF4-FFF2-40B4-BE49-F238E27FC236}">
                <a16:creationId xmlns:a16="http://schemas.microsoft.com/office/drawing/2014/main" id="{E464E616-23E0-5A15-7619-16F703EFEB71}"/>
              </a:ext>
            </a:extLst>
          </p:cNvPr>
          <p:cNvSpPr txBox="1"/>
          <p:nvPr/>
        </p:nvSpPr>
        <p:spPr>
          <a:xfrm>
            <a:off x="4284550" y="5674462"/>
            <a:ext cx="815737" cy="553998"/>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zh-CN" altLang="en-US" sz="1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移动出行及衍生业务</a:t>
            </a:r>
          </a:p>
        </p:txBody>
      </p:sp>
      <p:sp>
        <p:nvSpPr>
          <p:cNvPr id="97" name="椭圆 96">
            <a:extLst>
              <a:ext uri="{FF2B5EF4-FFF2-40B4-BE49-F238E27FC236}">
                <a16:creationId xmlns:a16="http://schemas.microsoft.com/office/drawing/2014/main" id="{DC5C430C-76E8-9605-428A-750A48DEA1F0}"/>
              </a:ext>
            </a:extLst>
          </p:cNvPr>
          <p:cNvSpPr/>
          <p:nvPr/>
        </p:nvSpPr>
        <p:spPr>
          <a:xfrm>
            <a:off x="5167756" y="5345437"/>
            <a:ext cx="101536" cy="101536"/>
          </a:xfrm>
          <a:prstGeom prst="ellipse">
            <a:avLst/>
          </a:prstGeom>
          <a:solidFill>
            <a:srgbClr val="2274AC"/>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98" name="椭圆 97">
            <a:extLst>
              <a:ext uri="{FF2B5EF4-FFF2-40B4-BE49-F238E27FC236}">
                <a16:creationId xmlns:a16="http://schemas.microsoft.com/office/drawing/2014/main" id="{D6D77496-EA80-E26C-DED3-FEB1F60404D9}"/>
              </a:ext>
            </a:extLst>
          </p:cNvPr>
          <p:cNvSpPr/>
          <p:nvPr/>
        </p:nvSpPr>
        <p:spPr>
          <a:xfrm>
            <a:off x="5166277" y="5568983"/>
            <a:ext cx="101536" cy="101536"/>
          </a:xfrm>
          <a:prstGeom prst="ellipse">
            <a:avLst/>
          </a:prstGeom>
          <a:solidFill>
            <a:srgbClr val="0070C0"/>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99" name="椭圆 98">
            <a:extLst>
              <a:ext uri="{FF2B5EF4-FFF2-40B4-BE49-F238E27FC236}">
                <a16:creationId xmlns:a16="http://schemas.microsoft.com/office/drawing/2014/main" id="{CCCAE076-C179-5753-A791-9C08BFF97DB9}"/>
              </a:ext>
            </a:extLst>
          </p:cNvPr>
          <p:cNvSpPr/>
          <p:nvPr/>
        </p:nvSpPr>
        <p:spPr>
          <a:xfrm>
            <a:off x="5164837" y="5795820"/>
            <a:ext cx="101536" cy="101536"/>
          </a:xfrm>
          <a:prstGeom prst="ellipse">
            <a:avLst/>
          </a:prstGeom>
          <a:solidFill>
            <a:srgbClr val="0070C0"/>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00" name="任意多边形: 形状 99">
            <a:extLst>
              <a:ext uri="{FF2B5EF4-FFF2-40B4-BE49-F238E27FC236}">
                <a16:creationId xmlns:a16="http://schemas.microsoft.com/office/drawing/2014/main" id="{41F14507-D4DD-E965-AA43-A3CBEE409F2C}"/>
              </a:ext>
            </a:extLst>
          </p:cNvPr>
          <p:cNvSpPr/>
          <p:nvPr/>
        </p:nvSpPr>
        <p:spPr>
          <a:xfrm>
            <a:off x="740385" y="2707388"/>
            <a:ext cx="4518837" cy="922165"/>
          </a:xfrm>
          <a:custGeom>
            <a:avLst/>
            <a:gdLst>
              <a:gd name="connsiteX0" fmla="*/ 0 w 4518837"/>
              <a:gd name="connsiteY0" fmla="*/ 580813 h 922165"/>
              <a:gd name="connsiteX1" fmla="*/ 1244010 w 4518837"/>
              <a:gd name="connsiteY1" fmla="*/ 6655 h 922165"/>
              <a:gd name="connsiteX2" fmla="*/ 2498651 w 4518837"/>
              <a:gd name="connsiteY2" fmla="*/ 921055 h 922165"/>
              <a:gd name="connsiteX3" fmla="*/ 4518837 w 4518837"/>
              <a:gd name="connsiteY3" fmla="*/ 155511 h 922165"/>
            </a:gdLst>
            <a:ahLst/>
            <a:cxnLst>
              <a:cxn ang="0">
                <a:pos x="connsiteX0" y="connsiteY0"/>
              </a:cxn>
              <a:cxn ang="0">
                <a:pos x="connsiteX1" y="connsiteY1"/>
              </a:cxn>
              <a:cxn ang="0">
                <a:pos x="connsiteX2" y="connsiteY2"/>
              </a:cxn>
              <a:cxn ang="0">
                <a:pos x="connsiteX3" y="connsiteY3"/>
              </a:cxn>
            </a:cxnLst>
            <a:rect l="l" t="t" r="r" b="b"/>
            <a:pathLst>
              <a:path w="4518837" h="922165">
                <a:moveTo>
                  <a:pt x="0" y="580813"/>
                </a:moveTo>
                <a:cubicBezTo>
                  <a:pt x="413784" y="265380"/>
                  <a:pt x="827568" y="-50052"/>
                  <a:pt x="1244010" y="6655"/>
                </a:cubicBezTo>
                <a:cubicBezTo>
                  <a:pt x="1660452" y="63362"/>
                  <a:pt x="1952847" y="896246"/>
                  <a:pt x="2498651" y="921055"/>
                </a:cubicBezTo>
                <a:cubicBezTo>
                  <a:pt x="3044455" y="945864"/>
                  <a:pt x="3781646" y="550687"/>
                  <a:pt x="4518837" y="155511"/>
                </a:cubicBezTo>
              </a:path>
            </a:pathLst>
          </a:custGeom>
          <a:no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01" name="任意多边形: 形状 100">
            <a:extLst>
              <a:ext uri="{FF2B5EF4-FFF2-40B4-BE49-F238E27FC236}">
                <a16:creationId xmlns:a16="http://schemas.microsoft.com/office/drawing/2014/main" id="{18A54956-BCD9-E25C-F819-50053E5E0A4A}"/>
              </a:ext>
            </a:extLst>
          </p:cNvPr>
          <p:cNvSpPr/>
          <p:nvPr/>
        </p:nvSpPr>
        <p:spPr>
          <a:xfrm>
            <a:off x="844174" y="2611582"/>
            <a:ext cx="4784684" cy="699952"/>
          </a:xfrm>
          <a:custGeom>
            <a:avLst/>
            <a:gdLst>
              <a:gd name="connsiteX0" fmla="*/ 0 w 5029200"/>
              <a:gd name="connsiteY0" fmla="*/ 861237 h 861237"/>
              <a:gd name="connsiteX1" fmla="*/ 1467293 w 5029200"/>
              <a:gd name="connsiteY1" fmla="*/ 74428 h 861237"/>
              <a:gd name="connsiteX2" fmla="*/ 2849526 w 5029200"/>
              <a:gd name="connsiteY2" fmla="*/ 765544 h 861237"/>
              <a:gd name="connsiteX3" fmla="*/ 5029200 w 5029200"/>
              <a:gd name="connsiteY3" fmla="*/ 0 h 861237"/>
            </a:gdLst>
            <a:ahLst/>
            <a:cxnLst>
              <a:cxn ang="0">
                <a:pos x="connsiteX0" y="connsiteY0"/>
              </a:cxn>
              <a:cxn ang="0">
                <a:pos x="connsiteX1" y="connsiteY1"/>
              </a:cxn>
              <a:cxn ang="0">
                <a:pos x="connsiteX2" y="connsiteY2"/>
              </a:cxn>
              <a:cxn ang="0">
                <a:pos x="connsiteX3" y="connsiteY3"/>
              </a:cxn>
            </a:cxnLst>
            <a:rect l="l" t="t" r="r" b="b"/>
            <a:pathLst>
              <a:path w="5029200" h="861237">
                <a:moveTo>
                  <a:pt x="0" y="861237"/>
                </a:moveTo>
                <a:cubicBezTo>
                  <a:pt x="496186" y="475807"/>
                  <a:pt x="992372" y="90377"/>
                  <a:pt x="1467293" y="74428"/>
                </a:cubicBezTo>
                <a:cubicBezTo>
                  <a:pt x="1942214" y="58479"/>
                  <a:pt x="2255875" y="777949"/>
                  <a:pt x="2849526" y="765544"/>
                </a:cubicBezTo>
                <a:cubicBezTo>
                  <a:pt x="3443177" y="753139"/>
                  <a:pt x="4236188" y="376569"/>
                  <a:pt x="5029200" y="0"/>
                </a:cubicBezTo>
              </a:path>
            </a:pathLst>
          </a:custGeom>
          <a:ln/>
          <a:effectLst/>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02" name="任意多边形: 形状 101">
            <a:extLst>
              <a:ext uri="{FF2B5EF4-FFF2-40B4-BE49-F238E27FC236}">
                <a16:creationId xmlns:a16="http://schemas.microsoft.com/office/drawing/2014/main" id="{D26A3D9A-0335-E452-3C1C-ABBDD5AC4FA7}"/>
              </a:ext>
            </a:extLst>
          </p:cNvPr>
          <p:cNvSpPr/>
          <p:nvPr/>
        </p:nvSpPr>
        <p:spPr>
          <a:xfrm>
            <a:off x="874480" y="3301530"/>
            <a:ext cx="4760162" cy="671170"/>
          </a:xfrm>
          <a:custGeom>
            <a:avLst/>
            <a:gdLst>
              <a:gd name="connsiteX0" fmla="*/ 0 w 5029200"/>
              <a:gd name="connsiteY0" fmla="*/ 861237 h 861237"/>
              <a:gd name="connsiteX1" fmla="*/ 1467293 w 5029200"/>
              <a:gd name="connsiteY1" fmla="*/ 74428 h 861237"/>
              <a:gd name="connsiteX2" fmla="*/ 2849526 w 5029200"/>
              <a:gd name="connsiteY2" fmla="*/ 765544 h 861237"/>
              <a:gd name="connsiteX3" fmla="*/ 5029200 w 5029200"/>
              <a:gd name="connsiteY3" fmla="*/ 0 h 861237"/>
            </a:gdLst>
            <a:ahLst/>
            <a:cxnLst>
              <a:cxn ang="0">
                <a:pos x="connsiteX0" y="connsiteY0"/>
              </a:cxn>
              <a:cxn ang="0">
                <a:pos x="connsiteX1" y="connsiteY1"/>
              </a:cxn>
              <a:cxn ang="0">
                <a:pos x="connsiteX2" y="connsiteY2"/>
              </a:cxn>
              <a:cxn ang="0">
                <a:pos x="connsiteX3" y="connsiteY3"/>
              </a:cxn>
            </a:cxnLst>
            <a:rect l="l" t="t" r="r" b="b"/>
            <a:pathLst>
              <a:path w="5029200" h="861237">
                <a:moveTo>
                  <a:pt x="0" y="861237"/>
                </a:moveTo>
                <a:cubicBezTo>
                  <a:pt x="496186" y="475807"/>
                  <a:pt x="992372" y="90377"/>
                  <a:pt x="1467293" y="74428"/>
                </a:cubicBezTo>
                <a:cubicBezTo>
                  <a:pt x="1942214" y="58479"/>
                  <a:pt x="2255875" y="777949"/>
                  <a:pt x="2849526" y="765544"/>
                </a:cubicBezTo>
                <a:cubicBezTo>
                  <a:pt x="3443177" y="753139"/>
                  <a:pt x="4236188" y="376569"/>
                  <a:pt x="5029200" y="0"/>
                </a:cubicBezTo>
              </a:path>
            </a:pathLst>
          </a:custGeom>
          <a:ln/>
          <a:effectLst/>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03" name="箭头: 左右 102">
            <a:extLst>
              <a:ext uri="{FF2B5EF4-FFF2-40B4-BE49-F238E27FC236}">
                <a16:creationId xmlns:a16="http://schemas.microsoft.com/office/drawing/2014/main" id="{97D5E9BE-FCA7-3C85-F49F-0CDDB7700821}"/>
              </a:ext>
            </a:extLst>
          </p:cNvPr>
          <p:cNvSpPr/>
          <p:nvPr/>
        </p:nvSpPr>
        <p:spPr>
          <a:xfrm>
            <a:off x="689716" y="3311534"/>
            <a:ext cx="4998352" cy="505220"/>
          </a:xfrm>
          <a:prstGeom prst="leftRightArrow">
            <a:avLst/>
          </a:prstGeom>
          <a:solidFill>
            <a:srgbClr val="002060"/>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1"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用户运营是横向协同业务</a:t>
            </a:r>
          </a:p>
        </p:txBody>
      </p:sp>
      <p:sp>
        <p:nvSpPr>
          <p:cNvPr id="104" name="箭头: 上 85">
            <a:extLst>
              <a:ext uri="{FF2B5EF4-FFF2-40B4-BE49-F238E27FC236}">
                <a16:creationId xmlns:a16="http://schemas.microsoft.com/office/drawing/2014/main" id="{B4DFCC09-CBF1-58D5-4677-EA2DD0C9B86D}"/>
              </a:ext>
            </a:extLst>
          </p:cNvPr>
          <p:cNvSpPr/>
          <p:nvPr/>
        </p:nvSpPr>
        <p:spPr>
          <a:xfrm>
            <a:off x="1415135" y="2898275"/>
            <a:ext cx="557130" cy="428533"/>
          </a:xfrm>
          <a:custGeom>
            <a:avLst/>
            <a:gdLst>
              <a:gd name="connsiteX0" fmla="*/ 0 w 476310"/>
              <a:gd name="connsiteY0" fmla="*/ 203634 h 407268"/>
              <a:gd name="connsiteX1" fmla="*/ 238155 w 476310"/>
              <a:gd name="connsiteY1" fmla="*/ 0 h 407268"/>
              <a:gd name="connsiteX2" fmla="*/ 476310 w 476310"/>
              <a:gd name="connsiteY2" fmla="*/ 203634 h 407268"/>
              <a:gd name="connsiteX3" fmla="*/ 367864 w 476310"/>
              <a:gd name="connsiteY3" fmla="*/ 203634 h 407268"/>
              <a:gd name="connsiteX4" fmla="*/ 367864 w 476310"/>
              <a:gd name="connsiteY4" fmla="*/ 407268 h 407268"/>
              <a:gd name="connsiteX5" fmla="*/ 108446 w 476310"/>
              <a:gd name="connsiteY5" fmla="*/ 407268 h 407268"/>
              <a:gd name="connsiteX6" fmla="*/ 108446 w 476310"/>
              <a:gd name="connsiteY6" fmla="*/ 203634 h 407268"/>
              <a:gd name="connsiteX7" fmla="*/ 0 w 476310"/>
              <a:gd name="connsiteY7" fmla="*/ 203634 h 407268"/>
              <a:gd name="connsiteX0" fmla="*/ 51043 w 527353"/>
              <a:gd name="connsiteY0" fmla="*/ 203634 h 428533"/>
              <a:gd name="connsiteX1" fmla="*/ 289198 w 527353"/>
              <a:gd name="connsiteY1" fmla="*/ 0 h 428533"/>
              <a:gd name="connsiteX2" fmla="*/ 527353 w 527353"/>
              <a:gd name="connsiteY2" fmla="*/ 203634 h 428533"/>
              <a:gd name="connsiteX3" fmla="*/ 418907 w 527353"/>
              <a:gd name="connsiteY3" fmla="*/ 203634 h 428533"/>
              <a:gd name="connsiteX4" fmla="*/ 418907 w 527353"/>
              <a:gd name="connsiteY4" fmla="*/ 407268 h 428533"/>
              <a:gd name="connsiteX5" fmla="*/ 0 w 527353"/>
              <a:gd name="connsiteY5" fmla="*/ 428533 h 428533"/>
              <a:gd name="connsiteX6" fmla="*/ 159489 w 527353"/>
              <a:gd name="connsiteY6" fmla="*/ 203634 h 428533"/>
              <a:gd name="connsiteX7" fmla="*/ 51043 w 527353"/>
              <a:gd name="connsiteY7" fmla="*/ 203634 h 428533"/>
              <a:gd name="connsiteX0" fmla="*/ 51043 w 557130"/>
              <a:gd name="connsiteY0" fmla="*/ 203634 h 428533"/>
              <a:gd name="connsiteX1" fmla="*/ 289198 w 557130"/>
              <a:gd name="connsiteY1" fmla="*/ 0 h 428533"/>
              <a:gd name="connsiteX2" fmla="*/ 527353 w 557130"/>
              <a:gd name="connsiteY2" fmla="*/ 203634 h 428533"/>
              <a:gd name="connsiteX3" fmla="*/ 418907 w 557130"/>
              <a:gd name="connsiteY3" fmla="*/ 203634 h 428533"/>
              <a:gd name="connsiteX4" fmla="*/ 557130 w 557130"/>
              <a:gd name="connsiteY4" fmla="*/ 428533 h 428533"/>
              <a:gd name="connsiteX5" fmla="*/ 0 w 557130"/>
              <a:gd name="connsiteY5" fmla="*/ 428533 h 428533"/>
              <a:gd name="connsiteX6" fmla="*/ 159489 w 557130"/>
              <a:gd name="connsiteY6" fmla="*/ 203634 h 428533"/>
              <a:gd name="connsiteX7" fmla="*/ 51043 w 557130"/>
              <a:gd name="connsiteY7" fmla="*/ 203634 h 42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7130" h="428533">
                <a:moveTo>
                  <a:pt x="51043" y="203634"/>
                </a:moveTo>
                <a:lnTo>
                  <a:pt x="289198" y="0"/>
                </a:lnTo>
                <a:lnTo>
                  <a:pt x="527353" y="203634"/>
                </a:lnTo>
                <a:lnTo>
                  <a:pt x="418907" y="203634"/>
                </a:lnTo>
                <a:lnTo>
                  <a:pt x="557130" y="428533"/>
                </a:lnTo>
                <a:lnTo>
                  <a:pt x="0" y="428533"/>
                </a:lnTo>
                <a:lnTo>
                  <a:pt x="159489" y="203634"/>
                </a:lnTo>
                <a:lnTo>
                  <a:pt x="51043" y="203634"/>
                </a:lnTo>
                <a:close/>
              </a:path>
            </a:pathLst>
          </a:custGeom>
          <a:gradFill flip="none" rotWithShape="1">
            <a:gsLst>
              <a:gs pos="100000">
                <a:schemeClr val="accent5">
                  <a:lumMod val="0"/>
                  <a:lumOff val="100000"/>
                </a:schemeClr>
              </a:gs>
              <a:gs pos="6000">
                <a:srgbClr val="ADD6FF"/>
              </a:gs>
              <a:gs pos="100000">
                <a:schemeClr val="accent5">
                  <a:lumMod val="0"/>
                  <a:lumOff val="100000"/>
                </a:schemeClr>
              </a:gs>
            </a:gsLst>
            <a:lin ang="5400000" scaled="0"/>
            <a:tileRect/>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05" name="文本框 104">
            <a:extLst>
              <a:ext uri="{FF2B5EF4-FFF2-40B4-BE49-F238E27FC236}">
                <a16:creationId xmlns:a16="http://schemas.microsoft.com/office/drawing/2014/main" id="{7225250E-5483-322D-3FB3-8BD38CD6B326}"/>
              </a:ext>
            </a:extLst>
          </p:cNvPr>
          <p:cNvSpPr txBox="1"/>
          <p:nvPr/>
        </p:nvSpPr>
        <p:spPr>
          <a:xfrm>
            <a:off x="597960" y="3691897"/>
            <a:ext cx="1668275" cy="461665"/>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zh-CN" altLang="en-US" sz="12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车企单项业务         （即期）价值产出</a:t>
            </a:r>
          </a:p>
        </p:txBody>
      </p:sp>
      <p:sp>
        <p:nvSpPr>
          <p:cNvPr id="106" name="椭圆 105">
            <a:extLst>
              <a:ext uri="{FF2B5EF4-FFF2-40B4-BE49-F238E27FC236}">
                <a16:creationId xmlns:a16="http://schemas.microsoft.com/office/drawing/2014/main" id="{220351A4-1012-907A-A0EE-5FA92781A842}"/>
              </a:ext>
            </a:extLst>
          </p:cNvPr>
          <p:cNvSpPr/>
          <p:nvPr/>
        </p:nvSpPr>
        <p:spPr>
          <a:xfrm>
            <a:off x="2861786" y="2914675"/>
            <a:ext cx="101536" cy="101536"/>
          </a:xfrm>
          <a:prstGeom prst="ellipse">
            <a:avLst/>
          </a:prstGeom>
          <a:solidFill>
            <a:srgbClr val="2274AC"/>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107" name="连接符: 肘形 106">
            <a:extLst>
              <a:ext uri="{FF2B5EF4-FFF2-40B4-BE49-F238E27FC236}">
                <a16:creationId xmlns:a16="http://schemas.microsoft.com/office/drawing/2014/main" id="{08E6874B-EB68-344F-A9A8-EC1A9A9AD728}"/>
              </a:ext>
            </a:extLst>
          </p:cNvPr>
          <p:cNvCxnSpPr>
            <a:cxnSpLocks/>
            <a:endCxn id="109" idx="2"/>
          </p:cNvCxnSpPr>
          <p:nvPr/>
        </p:nvCxnSpPr>
        <p:spPr>
          <a:xfrm flipV="1">
            <a:off x="2903419" y="2686375"/>
            <a:ext cx="3361605" cy="230727"/>
          </a:xfrm>
          <a:prstGeom prst="bentConnector3">
            <a:avLst>
              <a:gd name="adj1" fmla="val 250"/>
            </a:avLst>
          </a:prstGeom>
          <a:ln w="9525" cap="flat" cmpd="sng" algn="ctr">
            <a:solidFill>
              <a:schemeClr val="dk1"/>
            </a:solidFill>
            <a:prstDash val="dash"/>
            <a:round/>
            <a:headEnd type="none" w="med" len="med"/>
            <a:tailEnd type="none" w="med" len="med"/>
          </a:ln>
          <a:effectLst/>
        </p:spPr>
        <p:style>
          <a:lnRef idx="0">
            <a:scrgbClr r="0" g="0" b="0"/>
          </a:lnRef>
          <a:fillRef idx="0">
            <a:scrgbClr r="0" g="0" b="0"/>
          </a:fillRef>
          <a:effectRef idx="0">
            <a:scrgbClr r="0" g="0" b="0"/>
          </a:effectRef>
          <a:fontRef idx="minor">
            <a:schemeClr val="tx1"/>
          </a:fontRef>
        </p:style>
      </p:cxnSp>
      <p:sp>
        <p:nvSpPr>
          <p:cNvPr id="108" name="矩形: 圆角 107">
            <a:extLst>
              <a:ext uri="{FF2B5EF4-FFF2-40B4-BE49-F238E27FC236}">
                <a16:creationId xmlns:a16="http://schemas.microsoft.com/office/drawing/2014/main" id="{C3161223-1CB8-273B-31B7-280156FF8E8A}"/>
              </a:ext>
            </a:extLst>
          </p:cNvPr>
          <p:cNvSpPr/>
          <p:nvPr/>
        </p:nvSpPr>
        <p:spPr>
          <a:xfrm>
            <a:off x="6359050" y="1904486"/>
            <a:ext cx="2378590" cy="1651000"/>
          </a:xfrm>
          <a:prstGeom prst="roundRect">
            <a:avLst/>
          </a:prstGeom>
          <a:solidFill>
            <a:srgbClr val="FFFFFF"/>
          </a:solidFill>
          <a:ln w="6350">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274AC"/>
                </a:solidFill>
                <a:effectLst/>
                <a:uLnTx/>
                <a:uFillTx/>
                <a:latin typeface="微软雅黑" panose="020B0503020204020204" pitchFamily="34" charset="-122"/>
                <a:ea typeface="微软雅黑" panose="020B0503020204020204" pitchFamily="34" charset="-122"/>
              </a:rPr>
              <a:t>横向业务</a:t>
            </a:r>
            <a:r>
              <a:rPr kumimoji="0" lang="en-US" altLang="zh-CN" sz="1400" b="1" i="0" u="none" strike="noStrike" kern="1200" cap="none" spc="0" normalizeH="0" baseline="0" noProof="0" dirty="0">
                <a:ln>
                  <a:noFill/>
                </a:ln>
                <a:solidFill>
                  <a:srgbClr val="2274AC"/>
                </a:solidFill>
                <a:effectLst/>
                <a:uLnTx/>
                <a:uFillTx/>
                <a:latin typeface="微软雅黑" panose="020B0503020204020204" pitchFamily="34" charset="-122"/>
                <a:ea typeface="微软雅黑" panose="020B0503020204020204" pitchFamily="34" charset="-122"/>
              </a:rPr>
              <a:t>———                  </a:t>
            </a:r>
            <a:r>
              <a:rPr kumimoji="0" lang="zh-CN" altLang="en-US" sz="1400" b="1" i="0" u="none" strike="noStrike" kern="1200" cap="none" spc="0" normalizeH="0" baseline="0" noProof="0" dirty="0">
                <a:ln>
                  <a:noFill/>
                </a:ln>
                <a:solidFill>
                  <a:srgbClr val="2274AC"/>
                </a:solidFill>
                <a:effectLst/>
                <a:uLnTx/>
                <a:uFillTx/>
                <a:latin typeface="微软雅黑" panose="020B0503020204020204" pitchFamily="34" charset="-122"/>
                <a:ea typeface="微软雅黑" panose="020B0503020204020204" pitchFamily="34" charset="-122"/>
              </a:rPr>
              <a:t>长期价值的增量</a:t>
            </a:r>
            <a:endParaRPr kumimoji="0" lang="en-US" altLang="zh-CN" sz="1400" b="1" i="0" u="none" strike="noStrike" kern="1200" cap="none" spc="0" normalizeH="0" baseline="0" noProof="0" dirty="0">
              <a:ln>
                <a:noFill/>
              </a:ln>
              <a:solidFill>
                <a:srgbClr val="2274AC"/>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dirty="0">
              <a:ln>
                <a:noFill/>
              </a:ln>
              <a:solidFill>
                <a:srgbClr val="2274AC"/>
              </a:solidFill>
              <a:effectLst/>
              <a:uLnTx/>
              <a:uFillTx/>
              <a:latin typeface="微软雅黑" panose="020B0503020204020204" pitchFamily="34" charset="-122"/>
              <a:ea typeface="微软雅黑" panose="020B0503020204020204" pitchFamily="3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站在品牌视角，</a:t>
            </a:r>
            <a:r>
              <a:rPr kumimoji="0" lang="zh-CN" altLang="en-US" sz="1200" b="1" i="0" u="none" strike="noStrike" kern="1200" cap="none" spc="0" normalizeH="0" baseline="0" noProof="0" dirty="0">
                <a:ln>
                  <a:noFill/>
                </a:ln>
                <a:solidFill>
                  <a:srgbClr val="2274AC"/>
                </a:solidFill>
                <a:effectLst/>
                <a:uLnTx/>
                <a:uFillTx/>
                <a:latin typeface="微软雅黑" panose="020B0503020204020204" pitchFamily="34" charset="-122"/>
                <a:ea typeface="微软雅黑" panose="020B0503020204020204" pitchFamily="34" charset="-122"/>
              </a:rPr>
              <a:t>跨部门赋能协同和整体赋能</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，助力品牌各业务部门价值</a:t>
            </a:r>
            <a:r>
              <a:rPr kumimoji="0" lang="zh-CN" altLang="en-US" sz="1200" b="1" i="0" u="none" strike="noStrike" kern="1200" cap="none" spc="0" normalizeH="0" baseline="0" noProof="0" dirty="0">
                <a:ln>
                  <a:noFill/>
                </a:ln>
                <a:solidFill>
                  <a:srgbClr val="2274AC"/>
                </a:solidFill>
                <a:effectLst/>
                <a:uLnTx/>
                <a:uFillTx/>
                <a:latin typeface="微软雅黑" panose="020B0503020204020204" pitchFamily="34" charset="-122"/>
                <a:ea typeface="微软雅黑" panose="020B0503020204020204" pitchFamily="34" charset="-122"/>
              </a:rPr>
              <a:t>长期增量提升</a:t>
            </a:r>
          </a:p>
        </p:txBody>
      </p:sp>
      <p:sp>
        <p:nvSpPr>
          <p:cNvPr id="109" name="椭圆 108">
            <a:extLst>
              <a:ext uri="{FF2B5EF4-FFF2-40B4-BE49-F238E27FC236}">
                <a16:creationId xmlns:a16="http://schemas.microsoft.com/office/drawing/2014/main" id="{D1D6D0EB-A55A-A59F-CE32-3E06FA9C0778}"/>
              </a:ext>
            </a:extLst>
          </p:cNvPr>
          <p:cNvSpPr/>
          <p:nvPr/>
        </p:nvSpPr>
        <p:spPr>
          <a:xfrm>
            <a:off x="6265024" y="2635607"/>
            <a:ext cx="101536" cy="101536"/>
          </a:xfrm>
          <a:prstGeom prst="ellipse">
            <a:avLst/>
          </a:prstGeom>
          <a:solidFill>
            <a:srgbClr val="2274AC"/>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10" name="椭圆 109">
            <a:extLst>
              <a:ext uri="{FF2B5EF4-FFF2-40B4-BE49-F238E27FC236}">
                <a16:creationId xmlns:a16="http://schemas.microsoft.com/office/drawing/2014/main" id="{03B6653F-CB34-FF47-21DD-17A7483015B5}"/>
              </a:ext>
            </a:extLst>
          </p:cNvPr>
          <p:cNvSpPr/>
          <p:nvPr/>
        </p:nvSpPr>
        <p:spPr>
          <a:xfrm>
            <a:off x="6417476" y="3715304"/>
            <a:ext cx="668493" cy="668493"/>
          </a:xfrm>
          <a:prstGeom prst="ellipse">
            <a:avLst/>
          </a:prstGeom>
          <a:solidFill>
            <a:srgbClr val="0070C0"/>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11" name="箭头: 上 112">
            <a:extLst>
              <a:ext uri="{FF2B5EF4-FFF2-40B4-BE49-F238E27FC236}">
                <a16:creationId xmlns:a16="http://schemas.microsoft.com/office/drawing/2014/main" id="{0636BFDE-2B0A-046C-1DF1-2806B4CA2ADC}"/>
              </a:ext>
            </a:extLst>
          </p:cNvPr>
          <p:cNvSpPr/>
          <p:nvPr/>
        </p:nvSpPr>
        <p:spPr>
          <a:xfrm>
            <a:off x="6674693" y="3748177"/>
            <a:ext cx="263725" cy="305710"/>
          </a:xfrm>
          <a:custGeom>
            <a:avLst/>
            <a:gdLst>
              <a:gd name="connsiteX0" fmla="*/ 0 w 2107272"/>
              <a:gd name="connsiteY0" fmla="*/ 1076500 h 2299016"/>
              <a:gd name="connsiteX1" fmla="*/ 1053636 w 2107272"/>
              <a:gd name="connsiteY1" fmla="*/ 0 h 2299016"/>
              <a:gd name="connsiteX2" fmla="*/ 2107272 w 2107272"/>
              <a:gd name="connsiteY2" fmla="*/ 1076500 h 2299016"/>
              <a:gd name="connsiteX3" fmla="*/ 1580454 w 2107272"/>
              <a:gd name="connsiteY3" fmla="*/ 1076500 h 2299016"/>
              <a:gd name="connsiteX4" fmla="*/ 1580454 w 2107272"/>
              <a:gd name="connsiteY4" fmla="*/ 2299016 h 2299016"/>
              <a:gd name="connsiteX5" fmla="*/ 526818 w 2107272"/>
              <a:gd name="connsiteY5" fmla="*/ 2299016 h 2299016"/>
              <a:gd name="connsiteX6" fmla="*/ 526818 w 2107272"/>
              <a:gd name="connsiteY6" fmla="*/ 107650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569024 w 2107272"/>
              <a:gd name="connsiteY3" fmla="*/ 756460 h 2299016"/>
              <a:gd name="connsiteX4" fmla="*/ 1580454 w 2107272"/>
              <a:gd name="connsiteY4" fmla="*/ 2299016 h 2299016"/>
              <a:gd name="connsiteX5" fmla="*/ 526818 w 2107272"/>
              <a:gd name="connsiteY5" fmla="*/ 2299016 h 2299016"/>
              <a:gd name="connsiteX6" fmla="*/ 526818 w 2107272"/>
              <a:gd name="connsiteY6" fmla="*/ 107650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569024 w 2107272"/>
              <a:gd name="connsiteY3" fmla="*/ 756460 h 2299016"/>
              <a:gd name="connsiteX4" fmla="*/ 1580454 w 2107272"/>
              <a:gd name="connsiteY4" fmla="*/ 2299016 h 2299016"/>
              <a:gd name="connsiteX5" fmla="*/ 526818 w 2107272"/>
              <a:gd name="connsiteY5" fmla="*/ 2299016 h 2299016"/>
              <a:gd name="connsiteX6" fmla="*/ 561108 w 2107272"/>
              <a:gd name="connsiteY6" fmla="*/ 75646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569024 w 2107272"/>
              <a:gd name="connsiteY3" fmla="*/ 756460 h 2299016"/>
              <a:gd name="connsiteX4" fmla="*/ 1580454 w 2107272"/>
              <a:gd name="connsiteY4" fmla="*/ 2299016 h 2299016"/>
              <a:gd name="connsiteX5" fmla="*/ 526818 w 2107272"/>
              <a:gd name="connsiteY5" fmla="*/ 2299016 h 2299016"/>
              <a:gd name="connsiteX6" fmla="*/ 789708 w 2107272"/>
              <a:gd name="connsiteY6" fmla="*/ 80218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351854 w 2107272"/>
              <a:gd name="connsiteY3" fmla="*/ 779320 h 2299016"/>
              <a:gd name="connsiteX4" fmla="*/ 1580454 w 2107272"/>
              <a:gd name="connsiteY4" fmla="*/ 2299016 h 2299016"/>
              <a:gd name="connsiteX5" fmla="*/ 526818 w 2107272"/>
              <a:gd name="connsiteY5" fmla="*/ 2299016 h 2299016"/>
              <a:gd name="connsiteX6" fmla="*/ 789708 w 2107272"/>
              <a:gd name="connsiteY6" fmla="*/ 80218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351854 w 2107272"/>
              <a:gd name="connsiteY3" fmla="*/ 779320 h 2299016"/>
              <a:gd name="connsiteX4" fmla="*/ 1580454 w 2107272"/>
              <a:gd name="connsiteY4" fmla="*/ 2299016 h 2299016"/>
              <a:gd name="connsiteX5" fmla="*/ 526818 w 2107272"/>
              <a:gd name="connsiteY5" fmla="*/ 2299016 h 2299016"/>
              <a:gd name="connsiteX6" fmla="*/ 789708 w 2107272"/>
              <a:gd name="connsiteY6" fmla="*/ 72217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351854 w 2107272"/>
              <a:gd name="connsiteY3" fmla="*/ 779320 h 2299016"/>
              <a:gd name="connsiteX4" fmla="*/ 1580454 w 2107272"/>
              <a:gd name="connsiteY4" fmla="*/ 2299016 h 2299016"/>
              <a:gd name="connsiteX5" fmla="*/ 526818 w 2107272"/>
              <a:gd name="connsiteY5" fmla="*/ 2299016 h 2299016"/>
              <a:gd name="connsiteX6" fmla="*/ 789708 w 2107272"/>
              <a:gd name="connsiteY6" fmla="*/ 80218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351854 w 2107272"/>
              <a:gd name="connsiteY3" fmla="*/ 779320 h 2299016"/>
              <a:gd name="connsiteX4" fmla="*/ 1580454 w 2107272"/>
              <a:gd name="connsiteY4" fmla="*/ 2299016 h 2299016"/>
              <a:gd name="connsiteX5" fmla="*/ 526818 w 2107272"/>
              <a:gd name="connsiteY5" fmla="*/ 2299016 h 2299016"/>
              <a:gd name="connsiteX6" fmla="*/ 778278 w 2107272"/>
              <a:gd name="connsiteY6" fmla="*/ 75646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351854 w 2107272"/>
              <a:gd name="connsiteY3" fmla="*/ 779320 h 2299016"/>
              <a:gd name="connsiteX4" fmla="*/ 1580454 w 2107272"/>
              <a:gd name="connsiteY4" fmla="*/ 2299016 h 2299016"/>
              <a:gd name="connsiteX5" fmla="*/ 732558 w 2107272"/>
              <a:gd name="connsiteY5" fmla="*/ 2276156 h 2299016"/>
              <a:gd name="connsiteX6" fmla="*/ 778278 w 2107272"/>
              <a:gd name="connsiteY6" fmla="*/ 756460 h 2299016"/>
              <a:gd name="connsiteX7" fmla="*/ 0 w 2107272"/>
              <a:gd name="connsiteY7" fmla="*/ 1076500 h 2299016"/>
              <a:gd name="connsiteX0" fmla="*/ 0 w 2107272"/>
              <a:gd name="connsiteY0" fmla="*/ 1076500 h 2276156"/>
              <a:gd name="connsiteX1" fmla="*/ 1053636 w 2107272"/>
              <a:gd name="connsiteY1" fmla="*/ 0 h 2276156"/>
              <a:gd name="connsiteX2" fmla="*/ 2107272 w 2107272"/>
              <a:gd name="connsiteY2" fmla="*/ 1076500 h 2276156"/>
              <a:gd name="connsiteX3" fmla="*/ 1351854 w 2107272"/>
              <a:gd name="connsiteY3" fmla="*/ 779320 h 2276156"/>
              <a:gd name="connsiteX4" fmla="*/ 1386144 w 2107272"/>
              <a:gd name="connsiteY4" fmla="*/ 2276156 h 2276156"/>
              <a:gd name="connsiteX5" fmla="*/ 732558 w 2107272"/>
              <a:gd name="connsiteY5" fmla="*/ 2276156 h 2276156"/>
              <a:gd name="connsiteX6" fmla="*/ 778278 w 2107272"/>
              <a:gd name="connsiteY6" fmla="*/ 756460 h 2276156"/>
              <a:gd name="connsiteX7" fmla="*/ 0 w 2107272"/>
              <a:gd name="connsiteY7" fmla="*/ 1076500 h 2276156"/>
              <a:gd name="connsiteX0" fmla="*/ 0 w 2107272"/>
              <a:gd name="connsiteY0" fmla="*/ 1076500 h 2276156"/>
              <a:gd name="connsiteX1" fmla="*/ 1053636 w 2107272"/>
              <a:gd name="connsiteY1" fmla="*/ 0 h 2276156"/>
              <a:gd name="connsiteX2" fmla="*/ 2107272 w 2107272"/>
              <a:gd name="connsiteY2" fmla="*/ 1076500 h 2276156"/>
              <a:gd name="connsiteX3" fmla="*/ 1351854 w 2107272"/>
              <a:gd name="connsiteY3" fmla="*/ 779320 h 2276156"/>
              <a:gd name="connsiteX4" fmla="*/ 1386144 w 2107272"/>
              <a:gd name="connsiteY4" fmla="*/ 2276156 h 2276156"/>
              <a:gd name="connsiteX5" fmla="*/ 732558 w 2107272"/>
              <a:gd name="connsiteY5" fmla="*/ 2276156 h 2276156"/>
              <a:gd name="connsiteX6" fmla="*/ 778278 w 2107272"/>
              <a:gd name="connsiteY6" fmla="*/ 699310 h 2276156"/>
              <a:gd name="connsiteX7" fmla="*/ 0 w 2107272"/>
              <a:gd name="connsiteY7" fmla="*/ 1076500 h 2276156"/>
              <a:gd name="connsiteX0" fmla="*/ 0 w 2107272"/>
              <a:gd name="connsiteY0" fmla="*/ 1076500 h 2276156"/>
              <a:gd name="connsiteX1" fmla="*/ 1053636 w 2107272"/>
              <a:gd name="connsiteY1" fmla="*/ 0 h 2276156"/>
              <a:gd name="connsiteX2" fmla="*/ 2107272 w 2107272"/>
              <a:gd name="connsiteY2" fmla="*/ 1076500 h 2276156"/>
              <a:gd name="connsiteX3" fmla="*/ 1351854 w 2107272"/>
              <a:gd name="connsiteY3" fmla="*/ 779320 h 2276156"/>
              <a:gd name="connsiteX4" fmla="*/ 1386144 w 2107272"/>
              <a:gd name="connsiteY4" fmla="*/ 2276156 h 2276156"/>
              <a:gd name="connsiteX5" fmla="*/ 732558 w 2107272"/>
              <a:gd name="connsiteY5" fmla="*/ 2276156 h 2276156"/>
              <a:gd name="connsiteX6" fmla="*/ 789708 w 2107272"/>
              <a:gd name="connsiteY6" fmla="*/ 733600 h 2276156"/>
              <a:gd name="connsiteX7" fmla="*/ 0 w 2107272"/>
              <a:gd name="connsiteY7" fmla="*/ 1076500 h 2276156"/>
              <a:gd name="connsiteX0" fmla="*/ 0 w 2107272"/>
              <a:gd name="connsiteY0" fmla="*/ 1076500 h 2276156"/>
              <a:gd name="connsiteX1" fmla="*/ 1053636 w 2107272"/>
              <a:gd name="connsiteY1" fmla="*/ 0 h 2276156"/>
              <a:gd name="connsiteX2" fmla="*/ 2107272 w 2107272"/>
              <a:gd name="connsiteY2" fmla="*/ 1076500 h 2276156"/>
              <a:gd name="connsiteX3" fmla="*/ 1351854 w 2107272"/>
              <a:gd name="connsiteY3" fmla="*/ 779320 h 2276156"/>
              <a:gd name="connsiteX4" fmla="*/ 1386144 w 2107272"/>
              <a:gd name="connsiteY4" fmla="*/ 2276156 h 2276156"/>
              <a:gd name="connsiteX5" fmla="*/ 732558 w 2107272"/>
              <a:gd name="connsiteY5" fmla="*/ 2276156 h 2276156"/>
              <a:gd name="connsiteX6" fmla="*/ 778278 w 2107272"/>
              <a:gd name="connsiteY6" fmla="*/ 767890 h 2276156"/>
              <a:gd name="connsiteX7" fmla="*/ 0 w 2107272"/>
              <a:gd name="connsiteY7" fmla="*/ 1076500 h 2276156"/>
              <a:gd name="connsiteX0" fmla="*/ 0 w 2107272"/>
              <a:gd name="connsiteY0" fmla="*/ 1076500 h 2276156"/>
              <a:gd name="connsiteX1" fmla="*/ 1053636 w 2107272"/>
              <a:gd name="connsiteY1" fmla="*/ 0 h 2276156"/>
              <a:gd name="connsiteX2" fmla="*/ 2107272 w 2107272"/>
              <a:gd name="connsiteY2" fmla="*/ 1076500 h 2276156"/>
              <a:gd name="connsiteX3" fmla="*/ 1316494 w 2107272"/>
              <a:gd name="connsiteY3" fmla="*/ 729687 h 2276156"/>
              <a:gd name="connsiteX4" fmla="*/ 1386144 w 2107272"/>
              <a:gd name="connsiteY4" fmla="*/ 2276156 h 2276156"/>
              <a:gd name="connsiteX5" fmla="*/ 732558 w 2107272"/>
              <a:gd name="connsiteY5" fmla="*/ 2276156 h 2276156"/>
              <a:gd name="connsiteX6" fmla="*/ 778278 w 2107272"/>
              <a:gd name="connsiteY6" fmla="*/ 767890 h 2276156"/>
              <a:gd name="connsiteX7" fmla="*/ 0 w 2107272"/>
              <a:gd name="connsiteY7" fmla="*/ 1076500 h 2276156"/>
              <a:gd name="connsiteX0" fmla="*/ 0 w 2107272"/>
              <a:gd name="connsiteY0" fmla="*/ 1076500 h 2276156"/>
              <a:gd name="connsiteX1" fmla="*/ 1053636 w 2107272"/>
              <a:gd name="connsiteY1" fmla="*/ 0 h 2276156"/>
              <a:gd name="connsiteX2" fmla="*/ 2107272 w 2107272"/>
              <a:gd name="connsiteY2" fmla="*/ 1076500 h 2276156"/>
              <a:gd name="connsiteX3" fmla="*/ 1316494 w 2107272"/>
              <a:gd name="connsiteY3" fmla="*/ 779320 h 2276156"/>
              <a:gd name="connsiteX4" fmla="*/ 1386144 w 2107272"/>
              <a:gd name="connsiteY4" fmla="*/ 2276156 h 2276156"/>
              <a:gd name="connsiteX5" fmla="*/ 732558 w 2107272"/>
              <a:gd name="connsiteY5" fmla="*/ 2276156 h 2276156"/>
              <a:gd name="connsiteX6" fmla="*/ 778278 w 2107272"/>
              <a:gd name="connsiteY6" fmla="*/ 767890 h 2276156"/>
              <a:gd name="connsiteX7" fmla="*/ 0 w 2107272"/>
              <a:gd name="connsiteY7" fmla="*/ 1076500 h 2276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07272" h="2276156">
                <a:moveTo>
                  <a:pt x="0" y="1076500"/>
                </a:moveTo>
                <a:lnTo>
                  <a:pt x="1053636" y="0"/>
                </a:lnTo>
                <a:lnTo>
                  <a:pt x="2107272" y="1076500"/>
                </a:lnTo>
                <a:lnTo>
                  <a:pt x="1316494" y="779320"/>
                </a:lnTo>
                <a:lnTo>
                  <a:pt x="1386144" y="2276156"/>
                </a:lnTo>
                <a:lnTo>
                  <a:pt x="732558" y="2276156"/>
                </a:lnTo>
                <a:lnTo>
                  <a:pt x="778278" y="767890"/>
                </a:lnTo>
                <a:lnTo>
                  <a:pt x="0" y="1076500"/>
                </a:lnTo>
                <a:close/>
              </a:path>
            </a:pathLst>
          </a:custGeom>
          <a:solidFill>
            <a:srgbClr val="002060"/>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12" name="箭头: 上 112">
            <a:extLst>
              <a:ext uri="{FF2B5EF4-FFF2-40B4-BE49-F238E27FC236}">
                <a16:creationId xmlns:a16="http://schemas.microsoft.com/office/drawing/2014/main" id="{65349C6F-35EE-21AA-1D09-6AD76554D85B}"/>
              </a:ext>
            </a:extLst>
          </p:cNvPr>
          <p:cNvSpPr/>
          <p:nvPr/>
        </p:nvSpPr>
        <p:spPr>
          <a:xfrm rot="10800000">
            <a:off x="6546085" y="3967391"/>
            <a:ext cx="263725" cy="305710"/>
          </a:xfrm>
          <a:custGeom>
            <a:avLst/>
            <a:gdLst>
              <a:gd name="connsiteX0" fmla="*/ 0 w 2107272"/>
              <a:gd name="connsiteY0" fmla="*/ 1076500 h 2299016"/>
              <a:gd name="connsiteX1" fmla="*/ 1053636 w 2107272"/>
              <a:gd name="connsiteY1" fmla="*/ 0 h 2299016"/>
              <a:gd name="connsiteX2" fmla="*/ 2107272 w 2107272"/>
              <a:gd name="connsiteY2" fmla="*/ 1076500 h 2299016"/>
              <a:gd name="connsiteX3" fmla="*/ 1580454 w 2107272"/>
              <a:gd name="connsiteY3" fmla="*/ 1076500 h 2299016"/>
              <a:gd name="connsiteX4" fmla="*/ 1580454 w 2107272"/>
              <a:gd name="connsiteY4" fmla="*/ 2299016 h 2299016"/>
              <a:gd name="connsiteX5" fmla="*/ 526818 w 2107272"/>
              <a:gd name="connsiteY5" fmla="*/ 2299016 h 2299016"/>
              <a:gd name="connsiteX6" fmla="*/ 526818 w 2107272"/>
              <a:gd name="connsiteY6" fmla="*/ 107650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569024 w 2107272"/>
              <a:gd name="connsiteY3" fmla="*/ 756460 h 2299016"/>
              <a:gd name="connsiteX4" fmla="*/ 1580454 w 2107272"/>
              <a:gd name="connsiteY4" fmla="*/ 2299016 h 2299016"/>
              <a:gd name="connsiteX5" fmla="*/ 526818 w 2107272"/>
              <a:gd name="connsiteY5" fmla="*/ 2299016 h 2299016"/>
              <a:gd name="connsiteX6" fmla="*/ 526818 w 2107272"/>
              <a:gd name="connsiteY6" fmla="*/ 107650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569024 w 2107272"/>
              <a:gd name="connsiteY3" fmla="*/ 756460 h 2299016"/>
              <a:gd name="connsiteX4" fmla="*/ 1580454 w 2107272"/>
              <a:gd name="connsiteY4" fmla="*/ 2299016 h 2299016"/>
              <a:gd name="connsiteX5" fmla="*/ 526818 w 2107272"/>
              <a:gd name="connsiteY5" fmla="*/ 2299016 h 2299016"/>
              <a:gd name="connsiteX6" fmla="*/ 561108 w 2107272"/>
              <a:gd name="connsiteY6" fmla="*/ 75646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569024 w 2107272"/>
              <a:gd name="connsiteY3" fmla="*/ 756460 h 2299016"/>
              <a:gd name="connsiteX4" fmla="*/ 1580454 w 2107272"/>
              <a:gd name="connsiteY4" fmla="*/ 2299016 h 2299016"/>
              <a:gd name="connsiteX5" fmla="*/ 526818 w 2107272"/>
              <a:gd name="connsiteY5" fmla="*/ 2299016 h 2299016"/>
              <a:gd name="connsiteX6" fmla="*/ 789708 w 2107272"/>
              <a:gd name="connsiteY6" fmla="*/ 80218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351854 w 2107272"/>
              <a:gd name="connsiteY3" fmla="*/ 779320 h 2299016"/>
              <a:gd name="connsiteX4" fmla="*/ 1580454 w 2107272"/>
              <a:gd name="connsiteY4" fmla="*/ 2299016 h 2299016"/>
              <a:gd name="connsiteX5" fmla="*/ 526818 w 2107272"/>
              <a:gd name="connsiteY5" fmla="*/ 2299016 h 2299016"/>
              <a:gd name="connsiteX6" fmla="*/ 789708 w 2107272"/>
              <a:gd name="connsiteY6" fmla="*/ 80218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351854 w 2107272"/>
              <a:gd name="connsiteY3" fmla="*/ 779320 h 2299016"/>
              <a:gd name="connsiteX4" fmla="*/ 1580454 w 2107272"/>
              <a:gd name="connsiteY4" fmla="*/ 2299016 h 2299016"/>
              <a:gd name="connsiteX5" fmla="*/ 526818 w 2107272"/>
              <a:gd name="connsiteY5" fmla="*/ 2299016 h 2299016"/>
              <a:gd name="connsiteX6" fmla="*/ 789708 w 2107272"/>
              <a:gd name="connsiteY6" fmla="*/ 72217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351854 w 2107272"/>
              <a:gd name="connsiteY3" fmla="*/ 779320 h 2299016"/>
              <a:gd name="connsiteX4" fmla="*/ 1580454 w 2107272"/>
              <a:gd name="connsiteY4" fmla="*/ 2299016 h 2299016"/>
              <a:gd name="connsiteX5" fmla="*/ 526818 w 2107272"/>
              <a:gd name="connsiteY5" fmla="*/ 2299016 h 2299016"/>
              <a:gd name="connsiteX6" fmla="*/ 789708 w 2107272"/>
              <a:gd name="connsiteY6" fmla="*/ 80218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351854 w 2107272"/>
              <a:gd name="connsiteY3" fmla="*/ 779320 h 2299016"/>
              <a:gd name="connsiteX4" fmla="*/ 1580454 w 2107272"/>
              <a:gd name="connsiteY4" fmla="*/ 2299016 h 2299016"/>
              <a:gd name="connsiteX5" fmla="*/ 526818 w 2107272"/>
              <a:gd name="connsiteY5" fmla="*/ 2299016 h 2299016"/>
              <a:gd name="connsiteX6" fmla="*/ 778278 w 2107272"/>
              <a:gd name="connsiteY6" fmla="*/ 756460 h 2299016"/>
              <a:gd name="connsiteX7" fmla="*/ 0 w 2107272"/>
              <a:gd name="connsiteY7" fmla="*/ 1076500 h 2299016"/>
              <a:gd name="connsiteX0" fmla="*/ 0 w 2107272"/>
              <a:gd name="connsiteY0" fmla="*/ 1076500 h 2299016"/>
              <a:gd name="connsiteX1" fmla="*/ 1053636 w 2107272"/>
              <a:gd name="connsiteY1" fmla="*/ 0 h 2299016"/>
              <a:gd name="connsiteX2" fmla="*/ 2107272 w 2107272"/>
              <a:gd name="connsiteY2" fmla="*/ 1076500 h 2299016"/>
              <a:gd name="connsiteX3" fmla="*/ 1351854 w 2107272"/>
              <a:gd name="connsiteY3" fmla="*/ 779320 h 2299016"/>
              <a:gd name="connsiteX4" fmla="*/ 1580454 w 2107272"/>
              <a:gd name="connsiteY4" fmla="*/ 2299016 h 2299016"/>
              <a:gd name="connsiteX5" fmla="*/ 732558 w 2107272"/>
              <a:gd name="connsiteY5" fmla="*/ 2276156 h 2299016"/>
              <a:gd name="connsiteX6" fmla="*/ 778278 w 2107272"/>
              <a:gd name="connsiteY6" fmla="*/ 756460 h 2299016"/>
              <a:gd name="connsiteX7" fmla="*/ 0 w 2107272"/>
              <a:gd name="connsiteY7" fmla="*/ 1076500 h 2299016"/>
              <a:gd name="connsiteX0" fmla="*/ 0 w 2107272"/>
              <a:gd name="connsiteY0" fmla="*/ 1076500 h 2276156"/>
              <a:gd name="connsiteX1" fmla="*/ 1053636 w 2107272"/>
              <a:gd name="connsiteY1" fmla="*/ 0 h 2276156"/>
              <a:gd name="connsiteX2" fmla="*/ 2107272 w 2107272"/>
              <a:gd name="connsiteY2" fmla="*/ 1076500 h 2276156"/>
              <a:gd name="connsiteX3" fmla="*/ 1351854 w 2107272"/>
              <a:gd name="connsiteY3" fmla="*/ 779320 h 2276156"/>
              <a:gd name="connsiteX4" fmla="*/ 1386144 w 2107272"/>
              <a:gd name="connsiteY4" fmla="*/ 2276156 h 2276156"/>
              <a:gd name="connsiteX5" fmla="*/ 732558 w 2107272"/>
              <a:gd name="connsiteY5" fmla="*/ 2276156 h 2276156"/>
              <a:gd name="connsiteX6" fmla="*/ 778278 w 2107272"/>
              <a:gd name="connsiteY6" fmla="*/ 756460 h 2276156"/>
              <a:gd name="connsiteX7" fmla="*/ 0 w 2107272"/>
              <a:gd name="connsiteY7" fmla="*/ 1076500 h 2276156"/>
              <a:gd name="connsiteX0" fmla="*/ 0 w 2107272"/>
              <a:gd name="connsiteY0" fmla="*/ 1076500 h 2276156"/>
              <a:gd name="connsiteX1" fmla="*/ 1053636 w 2107272"/>
              <a:gd name="connsiteY1" fmla="*/ 0 h 2276156"/>
              <a:gd name="connsiteX2" fmla="*/ 2107272 w 2107272"/>
              <a:gd name="connsiteY2" fmla="*/ 1076500 h 2276156"/>
              <a:gd name="connsiteX3" fmla="*/ 1351854 w 2107272"/>
              <a:gd name="connsiteY3" fmla="*/ 779320 h 2276156"/>
              <a:gd name="connsiteX4" fmla="*/ 1386144 w 2107272"/>
              <a:gd name="connsiteY4" fmla="*/ 2276156 h 2276156"/>
              <a:gd name="connsiteX5" fmla="*/ 732558 w 2107272"/>
              <a:gd name="connsiteY5" fmla="*/ 2276156 h 2276156"/>
              <a:gd name="connsiteX6" fmla="*/ 778278 w 2107272"/>
              <a:gd name="connsiteY6" fmla="*/ 699310 h 2276156"/>
              <a:gd name="connsiteX7" fmla="*/ 0 w 2107272"/>
              <a:gd name="connsiteY7" fmla="*/ 1076500 h 2276156"/>
              <a:gd name="connsiteX0" fmla="*/ 0 w 2107272"/>
              <a:gd name="connsiteY0" fmla="*/ 1076500 h 2276156"/>
              <a:gd name="connsiteX1" fmla="*/ 1053636 w 2107272"/>
              <a:gd name="connsiteY1" fmla="*/ 0 h 2276156"/>
              <a:gd name="connsiteX2" fmla="*/ 2107272 w 2107272"/>
              <a:gd name="connsiteY2" fmla="*/ 1076500 h 2276156"/>
              <a:gd name="connsiteX3" fmla="*/ 1351854 w 2107272"/>
              <a:gd name="connsiteY3" fmla="*/ 779320 h 2276156"/>
              <a:gd name="connsiteX4" fmla="*/ 1386144 w 2107272"/>
              <a:gd name="connsiteY4" fmla="*/ 2276156 h 2276156"/>
              <a:gd name="connsiteX5" fmla="*/ 732558 w 2107272"/>
              <a:gd name="connsiteY5" fmla="*/ 2276156 h 2276156"/>
              <a:gd name="connsiteX6" fmla="*/ 789708 w 2107272"/>
              <a:gd name="connsiteY6" fmla="*/ 733600 h 2276156"/>
              <a:gd name="connsiteX7" fmla="*/ 0 w 2107272"/>
              <a:gd name="connsiteY7" fmla="*/ 1076500 h 2276156"/>
              <a:gd name="connsiteX0" fmla="*/ 0 w 2107272"/>
              <a:gd name="connsiteY0" fmla="*/ 1076500 h 2276156"/>
              <a:gd name="connsiteX1" fmla="*/ 1053636 w 2107272"/>
              <a:gd name="connsiteY1" fmla="*/ 0 h 2276156"/>
              <a:gd name="connsiteX2" fmla="*/ 2107272 w 2107272"/>
              <a:gd name="connsiteY2" fmla="*/ 1076500 h 2276156"/>
              <a:gd name="connsiteX3" fmla="*/ 1351854 w 2107272"/>
              <a:gd name="connsiteY3" fmla="*/ 779320 h 2276156"/>
              <a:gd name="connsiteX4" fmla="*/ 1386144 w 2107272"/>
              <a:gd name="connsiteY4" fmla="*/ 2276156 h 2276156"/>
              <a:gd name="connsiteX5" fmla="*/ 732558 w 2107272"/>
              <a:gd name="connsiteY5" fmla="*/ 2276156 h 2276156"/>
              <a:gd name="connsiteX6" fmla="*/ 778278 w 2107272"/>
              <a:gd name="connsiteY6" fmla="*/ 767890 h 2276156"/>
              <a:gd name="connsiteX7" fmla="*/ 0 w 2107272"/>
              <a:gd name="connsiteY7" fmla="*/ 1076500 h 2276156"/>
              <a:gd name="connsiteX0" fmla="*/ 0 w 2107272"/>
              <a:gd name="connsiteY0" fmla="*/ 1076500 h 2276156"/>
              <a:gd name="connsiteX1" fmla="*/ 1053636 w 2107272"/>
              <a:gd name="connsiteY1" fmla="*/ 0 h 2276156"/>
              <a:gd name="connsiteX2" fmla="*/ 2107272 w 2107272"/>
              <a:gd name="connsiteY2" fmla="*/ 1076500 h 2276156"/>
              <a:gd name="connsiteX3" fmla="*/ 1316494 w 2107272"/>
              <a:gd name="connsiteY3" fmla="*/ 729687 h 2276156"/>
              <a:gd name="connsiteX4" fmla="*/ 1386144 w 2107272"/>
              <a:gd name="connsiteY4" fmla="*/ 2276156 h 2276156"/>
              <a:gd name="connsiteX5" fmla="*/ 732558 w 2107272"/>
              <a:gd name="connsiteY5" fmla="*/ 2276156 h 2276156"/>
              <a:gd name="connsiteX6" fmla="*/ 778278 w 2107272"/>
              <a:gd name="connsiteY6" fmla="*/ 767890 h 2276156"/>
              <a:gd name="connsiteX7" fmla="*/ 0 w 2107272"/>
              <a:gd name="connsiteY7" fmla="*/ 1076500 h 2276156"/>
              <a:gd name="connsiteX0" fmla="*/ 0 w 2107272"/>
              <a:gd name="connsiteY0" fmla="*/ 1076500 h 2276156"/>
              <a:gd name="connsiteX1" fmla="*/ 1053636 w 2107272"/>
              <a:gd name="connsiteY1" fmla="*/ 0 h 2276156"/>
              <a:gd name="connsiteX2" fmla="*/ 2107272 w 2107272"/>
              <a:gd name="connsiteY2" fmla="*/ 1076500 h 2276156"/>
              <a:gd name="connsiteX3" fmla="*/ 1316494 w 2107272"/>
              <a:gd name="connsiteY3" fmla="*/ 779320 h 2276156"/>
              <a:gd name="connsiteX4" fmla="*/ 1386144 w 2107272"/>
              <a:gd name="connsiteY4" fmla="*/ 2276156 h 2276156"/>
              <a:gd name="connsiteX5" fmla="*/ 732558 w 2107272"/>
              <a:gd name="connsiteY5" fmla="*/ 2276156 h 2276156"/>
              <a:gd name="connsiteX6" fmla="*/ 778278 w 2107272"/>
              <a:gd name="connsiteY6" fmla="*/ 767890 h 2276156"/>
              <a:gd name="connsiteX7" fmla="*/ 0 w 2107272"/>
              <a:gd name="connsiteY7" fmla="*/ 1076500 h 2276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07272" h="2276156">
                <a:moveTo>
                  <a:pt x="0" y="1076500"/>
                </a:moveTo>
                <a:lnTo>
                  <a:pt x="1053636" y="0"/>
                </a:lnTo>
                <a:lnTo>
                  <a:pt x="2107272" y="1076500"/>
                </a:lnTo>
                <a:lnTo>
                  <a:pt x="1316494" y="779320"/>
                </a:lnTo>
                <a:lnTo>
                  <a:pt x="1386144" y="2276156"/>
                </a:lnTo>
                <a:lnTo>
                  <a:pt x="732558" y="2276156"/>
                </a:lnTo>
                <a:lnTo>
                  <a:pt x="778278" y="767890"/>
                </a:lnTo>
                <a:lnTo>
                  <a:pt x="0" y="1076500"/>
                </a:lnTo>
                <a:close/>
              </a:path>
            </a:pathLst>
          </a:custGeom>
          <a:solidFill>
            <a:srgbClr val="002060"/>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13" name="文本框 112">
            <a:extLst>
              <a:ext uri="{FF2B5EF4-FFF2-40B4-BE49-F238E27FC236}">
                <a16:creationId xmlns:a16="http://schemas.microsoft.com/office/drawing/2014/main" id="{0FCB6B60-F2D8-0024-634C-DCF9B04F756D}"/>
              </a:ext>
            </a:extLst>
          </p:cNvPr>
          <p:cNvSpPr txBox="1"/>
          <p:nvPr/>
        </p:nvSpPr>
        <p:spPr>
          <a:xfrm>
            <a:off x="7183712" y="3834469"/>
            <a:ext cx="1684331" cy="461665"/>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zh-CN" altLang="en-US" sz="1200" b="1"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横向与纵向部门相互配合，相辅相成</a:t>
            </a:r>
          </a:p>
        </p:txBody>
      </p:sp>
      <p:sp>
        <p:nvSpPr>
          <p:cNvPr id="114" name="椭圆 113">
            <a:extLst>
              <a:ext uri="{FF2B5EF4-FFF2-40B4-BE49-F238E27FC236}">
                <a16:creationId xmlns:a16="http://schemas.microsoft.com/office/drawing/2014/main" id="{C8C8B2E4-6820-3CC5-F2B6-F844D8B948C7}"/>
              </a:ext>
            </a:extLst>
          </p:cNvPr>
          <p:cNvSpPr/>
          <p:nvPr/>
        </p:nvSpPr>
        <p:spPr>
          <a:xfrm>
            <a:off x="2999803" y="3768407"/>
            <a:ext cx="101536" cy="101536"/>
          </a:xfrm>
          <a:prstGeom prst="ellipse">
            <a:avLst/>
          </a:prstGeom>
          <a:solidFill>
            <a:srgbClr val="2274AC"/>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15" name="椭圆 114">
            <a:extLst>
              <a:ext uri="{FF2B5EF4-FFF2-40B4-BE49-F238E27FC236}">
                <a16:creationId xmlns:a16="http://schemas.microsoft.com/office/drawing/2014/main" id="{83CB52A2-F87D-D77A-B2C8-2FDEBB4FE9B3}"/>
              </a:ext>
            </a:extLst>
          </p:cNvPr>
          <p:cNvSpPr/>
          <p:nvPr/>
        </p:nvSpPr>
        <p:spPr>
          <a:xfrm>
            <a:off x="6192309" y="5139789"/>
            <a:ext cx="101536" cy="101536"/>
          </a:xfrm>
          <a:prstGeom prst="ellipse">
            <a:avLst/>
          </a:prstGeom>
          <a:solidFill>
            <a:srgbClr val="0070C0"/>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116" name="连接符: 肘形 115">
            <a:extLst>
              <a:ext uri="{FF2B5EF4-FFF2-40B4-BE49-F238E27FC236}">
                <a16:creationId xmlns:a16="http://schemas.microsoft.com/office/drawing/2014/main" id="{2F7BF53B-7999-F698-B409-6F252ED91518}"/>
              </a:ext>
            </a:extLst>
          </p:cNvPr>
          <p:cNvCxnSpPr>
            <a:cxnSpLocks/>
            <a:endCxn id="115" idx="1"/>
          </p:cNvCxnSpPr>
          <p:nvPr/>
        </p:nvCxnSpPr>
        <p:spPr>
          <a:xfrm>
            <a:off x="3019894" y="3800001"/>
            <a:ext cx="3187285" cy="1354658"/>
          </a:xfrm>
          <a:prstGeom prst="bentConnector2">
            <a:avLst/>
          </a:prstGeom>
          <a:ln w="9525" cap="flat" cmpd="sng" algn="ctr">
            <a:solidFill>
              <a:srgbClr val="003366"/>
            </a:solidFill>
            <a:prstDash val="dash"/>
            <a:round/>
            <a:headEnd type="none" w="med" len="med"/>
            <a:tailEnd type="none" w="med" len="med"/>
          </a:ln>
          <a:effectLst/>
        </p:spPr>
        <p:style>
          <a:lnRef idx="0">
            <a:scrgbClr r="0" g="0" b="0"/>
          </a:lnRef>
          <a:fillRef idx="0">
            <a:scrgbClr r="0" g="0" b="0"/>
          </a:fillRef>
          <a:effectRef idx="0">
            <a:scrgbClr r="0" g="0" b="0"/>
          </a:effectRef>
          <a:fontRef idx="minor">
            <a:schemeClr val="tx1"/>
          </a:fontRef>
        </p:style>
      </p:cxnSp>
      <p:sp>
        <p:nvSpPr>
          <p:cNvPr id="117" name="矩形: 剪去单角 116">
            <a:extLst>
              <a:ext uri="{FF2B5EF4-FFF2-40B4-BE49-F238E27FC236}">
                <a16:creationId xmlns:a16="http://schemas.microsoft.com/office/drawing/2014/main" id="{3EFA73FA-15E5-C29E-B30E-E5147927A4E1}"/>
              </a:ext>
            </a:extLst>
          </p:cNvPr>
          <p:cNvSpPr/>
          <p:nvPr/>
        </p:nvSpPr>
        <p:spPr>
          <a:xfrm rot="10800000">
            <a:off x="9392988" y="1933400"/>
            <a:ext cx="2318696" cy="4325067"/>
          </a:xfrm>
          <a:prstGeom prst="snip1Rect">
            <a:avLst/>
          </a:prstGeom>
          <a:solidFill>
            <a:srgbClr val="FFFFFF"/>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pic>
        <p:nvPicPr>
          <p:cNvPr id="118" name="图片 117">
            <a:extLst>
              <a:ext uri="{FF2B5EF4-FFF2-40B4-BE49-F238E27FC236}">
                <a16:creationId xmlns:a16="http://schemas.microsoft.com/office/drawing/2014/main" id="{30F29744-3B7F-8AB3-9D41-D4C01B42AA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07899" y="1817380"/>
            <a:ext cx="323951" cy="323951"/>
          </a:xfrm>
          <a:prstGeom prst="rect">
            <a:avLst/>
          </a:prstGeom>
          <a:effectLst/>
        </p:spPr>
      </p:pic>
      <p:sp>
        <p:nvSpPr>
          <p:cNvPr id="119" name="矩形: 圆角 118">
            <a:extLst>
              <a:ext uri="{FF2B5EF4-FFF2-40B4-BE49-F238E27FC236}">
                <a16:creationId xmlns:a16="http://schemas.microsoft.com/office/drawing/2014/main" id="{36787C03-6D61-D670-4684-32B36D9EAB27}"/>
              </a:ext>
            </a:extLst>
          </p:cNvPr>
          <p:cNvSpPr/>
          <p:nvPr/>
        </p:nvSpPr>
        <p:spPr>
          <a:xfrm>
            <a:off x="9640359" y="2256104"/>
            <a:ext cx="1707467" cy="972230"/>
          </a:xfrm>
          <a:prstGeom prst="roundRect">
            <a:avLst/>
          </a:prstGeom>
          <a:solidFill>
            <a:schemeClr val="bg2">
              <a:lumMod val="9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20" name="文本框 119">
            <a:extLst>
              <a:ext uri="{FF2B5EF4-FFF2-40B4-BE49-F238E27FC236}">
                <a16:creationId xmlns:a16="http://schemas.microsoft.com/office/drawing/2014/main" id="{8F0D6F3B-11AD-A796-0DAA-82F8E3B42765}"/>
              </a:ext>
            </a:extLst>
          </p:cNvPr>
          <p:cNvSpPr txBox="1"/>
          <p:nvPr/>
        </p:nvSpPr>
        <p:spPr>
          <a:xfrm>
            <a:off x="9696627" y="2314471"/>
            <a:ext cx="1267156" cy="276999"/>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用户共创</a:t>
            </a:r>
          </a:p>
        </p:txBody>
      </p:sp>
      <p:pic>
        <p:nvPicPr>
          <p:cNvPr id="121" name="图片 120">
            <a:extLst>
              <a:ext uri="{FF2B5EF4-FFF2-40B4-BE49-F238E27FC236}">
                <a16:creationId xmlns:a16="http://schemas.microsoft.com/office/drawing/2014/main" id="{F36FA6D6-FD11-65F9-3CB1-A1CA8612D1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49380" y="2160125"/>
            <a:ext cx="402636" cy="402636"/>
          </a:xfrm>
          <a:prstGeom prst="rect">
            <a:avLst/>
          </a:prstGeom>
          <a:solidFill>
            <a:schemeClr val="bg1"/>
          </a:solidFill>
          <a:effectLst/>
        </p:spPr>
      </p:pic>
      <p:sp>
        <p:nvSpPr>
          <p:cNvPr id="122" name="文本框 121">
            <a:extLst>
              <a:ext uri="{FF2B5EF4-FFF2-40B4-BE49-F238E27FC236}">
                <a16:creationId xmlns:a16="http://schemas.microsoft.com/office/drawing/2014/main" id="{D61A823F-93AA-5240-3C0B-C0C299110715}"/>
              </a:ext>
            </a:extLst>
          </p:cNvPr>
          <p:cNvSpPr txBox="1"/>
          <p:nvPr/>
        </p:nvSpPr>
        <p:spPr>
          <a:xfrm>
            <a:off x="9729623" y="2611960"/>
            <a:ext cx="1559199" cy="400110"/>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zh-CN" altLang="en-US" sz="1000" b="0"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同用户进行内容、产品活动及价值的共创</a:t>
            </a:r>
          </a:p>
        </p:txBody>
      </p:sp>
      <p:sp>
        <p:nvSpPr>
          <p:cNvPr id="123" name="矩形: 圆角 122">
            <a:extLst>
              <a:ext uri="{FF2B5EF4-FFF2-40B4-BE49-F238E27FC236}">
                <a16:creationId xmlns:a16="http://schemas.microsoft.com/office/drawing/2014/main" id="{A968A5DC-AC67-BEAF-7EAC-2056A3BBBE9C}"/>
              </a:ext>
            </a:extLst>
          </p:cNvPr>
          <p:cNvSpPr/>
          <p:nvPr/>
        </p:nvSpPr>
        <p:spPr>
          <a:xfrm>
            <a:off x="9702548" y="3644609"/>
            <a:ext cx="1707467" cy="1026342"/>
          </a:xfrm>
          <a:prstGeom prst="roundRect">
            <a:avLst/>
          </a:prstGeom>
          <a:solidFill>
            <a:schemeClr val="bg2">
              <a:lumMod val="9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24" name="矩形: 圆角 123">
            <a:extLst>
              <a:ext uri="{FF2B5EF4-FFF2-40B4-BE49-F238E27FC236}">
                <a16:creationId xmlns:a16="http://schemas.microsoft.com/office/drawing/2014/main" id="{2AA11CFE-47F8-8430-61F6-190437E16AA4}"/>
              </a:ext>
            </a:extLst>
          </p:cNvPr>
          <p:cNvSpPr/>
          <p:nvPr/>
        </p:nvSpPr>
        <p:spPr>
          <a:xfrm>
            <a:off x="9742478" y="5003386"/>
            <a:ext cx="1707467" cy="982378"/>
          </a:xfrm>
          <a:prstGeom prst="roundRect">
            <a:avLst/>
          </a:prstGeom>
          <a:solidFill>
            <a:schemeClr val="bg2">
              <a:lumMod val="9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pic>
        <p:nvPicPr>
          <p:cNvPr id="125" name="图片 124">
            <a:extLst>
              <a:ext uri="{FF2B5EF4-FFF2-40B4-BE49-F238E27FC236}">
                <a16:creationId xmlns:a16="http://schemas.microsoft.com/office/drawing/2014/main" id="{05979497-3502-EBAC-8138-72ED57C7D9B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481370" y="3501341"/>
            <a:ext cx="501061" cy="501061"/>
          </a:xfrm>
          <a:prstGeom prst="rect">
            <a:avLst/>
          </a:prstGeom>
          <a:solidFill>
            <a:schemeClr val="bg1"/>
          </a:solidFill>
          <a:effectLst/>
        </p:spPr>
      </p:pic>
      <p:sp>
        <p:nvSpPr>
          <p:cNvPr id="126" name="文本框 125">
            <a:extLst>
              <a:ext uri="{FF2B5EF4-FFF2-40B4-BE49-F238E27FC236}">
                <a16:creationId xmlns:a16="http://schemas.microsoft.com/office/drawing/2014/main" id="{6601182C-1050-2F9A-95C9-FBBC21D7B254}"/>
              </a:ext>
            </a:extLst>
          </p:cNvPr>
          <p:cNvSpPr txBox="1"/>
          <p:nvPr/>
        </p:nvSpPr>
        <p:spPr>
          <a:xfrm>
            <a:off x="9794395" y="3719063"/>
            <a:ext cx="1267156" cy="276999"/>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用户生态</a:t>
            </a:r>
          </a:p>
        </p:txBody>
      </p:sp>
      <p:sp>
        <p:nvSpPr>
          <p:cNvPr id="127" name="文本框 126">
            <a:extLst>
              <a:ext uri="{FF2B5EF4-FFF2-40B4-BE49-F238E27FC236}">
                <a16:creationId xmlns:a16="http://schemas.microsoft.com/office/drawing/2014/main" id="{ECC57019-0EE1-A2D1-0484-0F7298FE9C1B}"/>
              </a:ext>
            </a:extLst>
          </p:cNvPr>
          <p:cNvSpPr txBox="1"/>
          <p:nvPr/>
        </p:nvSpPr>
        <p:spPr>
          <a:xfrm>
            <a:off x="9748077" y="4004381"/>
            <a:ext cx="1559199" cy="400110"/>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zh-CN" altLang="en-US" sz="1000" b="0"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活用品牌用户生态资源，丰富车主权益用车体验</a:t>
            </a:r>
          </a:p>
        </p:txBody>
      </p:sp>
      <p:sp>
        <p:nvSpPr>
          <p:cNvPr id="128" name="文本框 127">
            <a:extLst>
              <a:ext uri="{FF2B5EF4-FFF2-40B4-BE49-F238E27FC236}">
                <a16:creationId xmlns:a16="http://schemas.microsoft.com/office/drawing/2014/main" id="{876C3927-B651-4021-4D21-F1B8FB5F704C}"/>
              </a:ext>
            </a:extLst>
          </p:cNvPr>
          <p:cNvSpPr txBox="1"/>
          <p:nvPr/>
        </p:nvSpPr>
        <p:spPr>
          <a:xfrm>
            <a:off x="9838881" y="5087231"/>
            <a:ext cx="1267156" cy="276999"/>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数字触点</a:t>
            </a:r>
          </a:p>
        </p:txBody>
      </p:sp>
      <p:pic>
        <p:nvPicPr>
          <p:cNvPr id="129" name="图片 128">
            <a:extLst>
              <a:ext uri="{FF2B5EF4-FFF2-40B4-BE49-F238E27FC236}">
                <a16:creationId xmlns:a16="http://schemas.microsoft.com/office/drawing/2014/main" id="{6F60972F-B6F6-F189-1E31-97A0F1059BE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52001" y="4946750"/>
            <a:ext cx="412056" cy="412056"/>
          </a:xfrm>
          <a:prstGeom prst="rect">
            <a:avLst/>
          </a:prstGeom>
          <a:solidFill>
            <a:schemeClr val="bg1"/>
          </a:solidFill>
          <a:effectLst/>
        </p:spPr>
      </p:pic>
      <p:sp>
        <p:nvSpPr>
          <p:cNvPr id="130" name="文本框 129">
            <a:extLst>
              <a:ext uri="{FF2B5EF4-FFF2-40B4-BE49-F238E27FC236}">
                <a16:creationId xmlns:a16="http://schemas.microsoft.com/office/drawing/2014/main" id="{BF783FB5-5DE4-EB43-FDF9-12DA62D6D8FE}"/>
              </a:ext>
            </a:extLst>
          </p:cNvPr>
          <p:cNvSpPr txBox="1"/>
          <p:nvPr/>
        </p:nvSpPr>
        <p:spPr>
          <a:xfrm>
            <a:off x="9797041" y="5351107"/>
            <a:ext cx="1559199" cy="553998"/>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zh-CN" altLang="en-US" sz="1000" b="0" i="1"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利用数字化手段融合业务与用户旅程触点，支撑业务转型</a:t>
            </a:r>
          </a:p>
        </p:txBody>
      </p:sp>
      <p:cxnSp>
        <p:nvCxnSpPr>
          <p:cNvPr id="131" name="直接箭头连接符 130">
            <a:extLst>
              <a:ext uri="{FF2B5EF4-FFF2-40B4-BE49-F238E27FC236}">
                <a16:creationId xmlns:a16="http://schemas.microsoft.com/office/drawing/2014/main" id="{B63F880F-AC89-D87B-FB15-8CB12EE2D66D}"/>
              </a:ext>
            </a:extLst>
          </p:cNvPr>
          <p:cNvCxnSpPr>
            <a:cxnSpLocks/>
          </p:cNvCxnSpPr>
          <p:nvPr/>
        </p:nvCxnSpPr>
        <p:spPr>
          <a:xfrm flipH="1" flipV="1">
            <a:off x="674521" y="2302389"/>
            <a:ext cx="26154" cy="3898900"/>
          </a:xfrm>
          <a:prstGeom prst="straightConnector1">
            <a:avLst/>
          </a:prstGeom>
          <a:ln w="28575">
            <a:solidFill>
              <a:srgbClr val="003366"/>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32" name="直接箭头连接符 131">
            <a:extLst>
              <a:ext uri="{FF2B5EF4-FFF2-40B4-BE49-F238E27FC236}">
                <a16:creationId xmlns:a16="http://schemas.microsoft.com/office/drawing/2014/main" id="{D504010D-12E5-18A2-0374-65C51B8FB9C6}"/>
              </a:ext>
            </a:extLst>
          </p:cNvPr>
          <p:cNvCxnSpPr>
            <a:cxnSpLocks/>
          </p:cNvCxnSpPr>
          <p:nvPr/>
        </p:nvCxnSpPr>
        <p:spPr>
          <a:xfrm>
            <a:off x="689716" y="6185798"/>
            <a:ext cx="4763776" cy="0"/>
          </a:xfrm>
          <a:prstGeom prst="straightConnector1">
            <a:avLst/>
          </a:prstGeom>
          <a:ln w="28575">
            <a:solidFill>
              <a:srgbClr val="003366"/>
            </a:solidFill>
            <a:tailEnd type="triangle"/>
          </a:ln>
          <a:effectLst/>
        </p:spPr>
        <p:style>
          <a:lnRef idx="1">
            <a:schemeClr val="accent1"/>
          </a:lnRef>
          <a:fillRef idx="0">
            <a:schemeClr val="accent1"/>
          </a:fillRef>
          <a:effectRef idx="0">
            <a:schemeClr val="accent1"/>
          </a:effectRef>
          <a:fontRef idx="minor">
            <a:schemeClr val="tx1"/>
          </a:fontRef>
        </p:style>
      </p:cxnSp>
      <p:sp>
        <p:nvSpPr>
          <p:cNvPr id="133" name="箭头: 上 85">
            <a:extLst>
              <a:ext uri="{FF2B5EF4-FFF2-40B4-BE49-F238E27FC236}">
                <a16:creationId xmlns:a16="http://schemas.microsoft.com/office/drawing/2014/main" id="{742EA5F3-8E97-0FEB-3922-322B7B83C967}"/>
              </a:ext>
            </a:extLst>
          </p:cNvPr>
          <p:cNvSpPr/>
          <p:nvPr/>
        </p:nvSpPr>
        <p:spPr>
          <a:xfrm>
            <a:off x="1913644" y="2691367"/>
            <a:ext cx="557130" cy="428533"/>
          </a:xfrm>
          <a:custGeom>
            <a:avLst/>
            <a:gdLst>
              <a:gd name="connsiteX0" fmla="*/ 0 w 476310"/>
              <a:gd name="connsiteY0" fmla="*/ 203634 h 407268"/>
              <a:gd name="connsiteX1" fmla="*/ 238155 w 476310"/>
              <a:gd name="connsiteY1" fmla="*/ 0 h 407268"/>
              <a:gd name="connsiteX2" fmla="*/ 476310 w 476310"/>
              <a:gd name="connsiteY2" fmla="*/ 203634 h 407268"/>
              <a:gd name="connsiteX3" fmla="*/ 367864 w 476310"/>
              <a:gd name="connsiteY3" fmla="*/ 203634 h 407268"/>
              <a:gd name="connsiteX4" fmla="*/ 367864 w 476310"/>
              <a:gd name="connsiteY4" fmla="*/ 407268 h 407268"/>
              <a:gd name="connsiteX5" fmla="*/ 108446 w 476310"/>
              <a:gd name="connsiteY5" fmla="*/ 407268 h 407268"/>
              <a:gd name="connsiteX6" fmla="*/ 108446 w 476310"/>
              <a:gd name="connsiteY6" fmla="*/ 203634 h 407268"/>
              <a:gd name="connsiteX7" fmla="*/ 0 w 476310"/>
              <a:gd name="connsiteY7" fmla="*/ 203634 h 407268"/>
              <a:gd name="connsiteX0" fmla="*/ 51043 w 527353"/>
              <a:gd name="connsiteY0" fmla="*/ 203634 h 428533"/>
              <a:gd name="connsiteX1" fmla="*/ 289198 w 527353"/>
              <a:gd name="connsiteY1" fmla="*/ 0 h 428533"/>
              <a:gd name="connsiteX2" fmla="*/ 527353 w 527353"/>
              <a:gd name="connsiteY2" fmla="*/ 203634 h 428533"/>
              <a:gd name="connsiteX3" fmla="*/ 418907 w 527353"/>
              <a:gd name="connsiteY3" fmla="*/ 203634 h 428533"/>
              <a:gd name="connsiteX4" fmla="*/ 418907 w 527353"/>
              <a:gd name="connsiteY4" fmla="*/ 407268 h 428533"/>
              <a:gd name="connsiteX5" fmla="*/ 0 w 527353"/>
              <a:gd name="connsiteY5" fmla="*/ 428533 h 428533"/>
              <a:gd name="connsiteX6" fmla="*/ 159489 w 527353"/>
              <a:gd name="connsiteY6" fmla="*/ 203634 h 428533"/>
              <a:gd name="connsiteX7" fmla="*/ 51043 w 527353"/>
              <a:gd name="connsiteY7" fmla="*/ 203634 h 428533"/>
              <a:gd name="connsiteX0" fmla="*/ 51043 w 557130"/>
              <a:gd name="connsiteY0" fmla="*/ 203634 h 428533"/>
              <a:gd name="connsiteX1" fmla="*/ 289198 w 557130"/>
              <a:gd name="connsiteY1" fmla="*/ 0 h 428533"/>
              <a:gd name="connsiteX2" fmla="*/ 527353 w 557130"/>
              <a:gd name="connsiteY2" fmla="*/ 203634 h 428533"/>
              <a:gd name="connsiteX3" fmla="*/ 418907 w 557130"/>
              <a:gd name="connsiteY3" fmla="*/ 203634 h 428533"/>
              <a:gd name="connsiteX4" fmla="*/ 557130 w 557130"/>
              <a:gd name="connsiteY4" fmla="*/ 428533 h 428533"/>
              <a:gd name="connsiteX5" fmla="*/ 0 w 557130"/>
              <a:gd name="connsiteY5" fmla="*/ 428533 h 428533"/>
              <a:gd name="connsiteX6" fmla="*/ 159489 w 557130"/>
              <a:gd name="connsiteY6" fmla="*/ 203634 h 428533"/>
              <a:gd name="connsiteX7" fmla="*/ 51043 w 557130"/>
              <a:gd name="connsiteY7" fmla="*/ 203634 h 42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7130" h="428533">
                <a:moveTo>
                  <a:pt x="51043" y="203634"/>
                </a:moveTo>
                <a:lnTo>
                  <a:pt x="289198" y="0"/>
                </a:lnTo>
                <a:lnTo>
                  <a:pt x="527353" y="203634"/>
                </a:lnTo>
                <a:lnTo>
                  <a:pt x="418907" y="203634"/>
                </a:lnTo>
                <a:lnTo>
                  <a:pt x="557130" y="428533"/>
                </a:lnTo>
                <a:lnTo>
                  <a:pt x="0" y="428533"/>
                </a:lnTo>
                <a:lnTo>
                  <a:pt x="159489" y="203634"/>
                </a:lnTo>
                <a:lnTo>
                  <a:pt x="51043" y="203634"/>
                </a:lnTo>
                <a:close/>
              </a:path>
            </a:pathLst>
          </a:custGeom>
          <a:gradFill flip="none" rotWithShape="1">
            <a:gsLst>
              <a:gs pos="100000">
                <a:schemeClr val="accent5">
                  <a:lumMod val="0"/>
                  <a:lumOff val="100000"/>
                </a:schemeClr>
              </a:gs>
              <a:gs pos="6000">
                <a:srgbClr val="ADD6FF"/>
              </a:gs>
              <a:gs pos="100000">
                <a:schemeClr val="accent5">
                  <a:lumMod val="0"/>
                  <a:lumOff val="100000"/>
                </a:schemeClr>
              </a:gs>
            </a:gsLst>
            <a:lin ang="5400000" scaled="0"/>
            <a:tileRect/>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34" name="箭头: V 形 133">
            <a:extLst>
              <a:ext uri="{FF2B5EF4-FFF2-40B4-BE49-F238E27FC236}">
                <a16:creationId xmlns:a16="http://schemas.microsoft.com/office/drawing/2014/main" id="{45A0CB4B-1537-7B13-8ABC-6C7747EB6E9F}"/>
              </a:ext>
            </a:extLst>
          </p:cNvPr>
          <p:cNvSpPr/>
          <p:nvPr/>
        </p:nvSpPr>
        <p:spPr>
          <a:xfrm>
            <a:off x="8899364" y="2770974"/>
            <a:ext cx="198523" cy="384957"/>
          </a:xfrm>
          <a:prstGeom prst="chevron">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35" name="箭头: V 形 134">
            <a:extLst>
              <a:ext uri="{FF2B5EF4-FFF2-40B4-BE49-F238E27FC236}">
                <a16:creationId xmlns:a16="http://schemas.microsoft.com/office/drawing/2014/main" id="{277ACAA1-7C6C-977F-A9C0-D51790E0B52F}"/>
              </a:ext>
            </a:extLst>
          </p:cNvPr>
          <p:cNvSpPr/>
          <p:nvPr/>
        </p:nvSpPr>
        <p:spPr>
          <a:xfrm>
            <a:off x="8750181" y="2780692"/>
            <a:ext cx="198523" cy="384957"/>
          </a:xfrm>
          <a:prstGeom prst="chevron">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36" name="椭圆 135">
            <a:extLst>
              <a:ext uri="{FF2B5EF4-FFF2-40B4-BE49-F238E27FC236}">
                <a16:creationId xmlns:a16="http://schemas.microsoft.com/office/drawing/2014/main" id="{1C65F7F3-CE49-8E0B-CDA6-AE2225CB1CAE}"/>
              </a:ext>
            </a:extLst>
          </p:cNvPr>
          <p:cNvSpPr/>
          <p:nvPr/>
        </p:nvSpPr>
        <p:spPr>
          <a:xfrm>
            <a:off x="9488622" y="2062550"/>
            <a:ext cx="359742" cy="361209"/>
          </a:xfrm>
          <a:prstGeom prst="ellipse">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1</a:t>
            </a: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37" name="椭圆 136">
            <a:extLst>
              <a:ext uri="{FF2B5EF4-FFF2-40B4-BE49-F238E27FC236}">
                <a16:creationId xmlns:a16="http://schemas.microsoft.com/office/drawing/2014/main" id="{07E522B0-32DE-28EF-60EF-91ABD7F12040}"/>
              </a:ext>
            </a:extLst>
          </p:cNvPr>
          <p:cNvSpPr/>
          <p:nvPr/>
        </p:nvSpPr>
        <p:spPr>
          <a:xfrm>
            <a:off x="9565221" y="3401451"/>
            <a:ext cx="359742" cy="361209"/>
          </a:xfrm>
          <a:prstGeom prst="ellipse">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2</a:t>
            </a: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38" name="椭圆 137">
            <a:extLst>
              <a:ext uri="{FF2B5EF4-FFF2-40B4-BE49-F238E27FC236}">
                <a16:creationId xmlns:a16="http://schemas.microsoft.com/office/drawing/2014/main" id="{64D0F845-EEA5-610A-6C7A-38D63343D46C}"/>
              </a:ext>
            </a:extLst>
          </p:cNvPr>
          <p:cNvSpPr/>
          <p:nvPr/>
        </p:nvSpPr>
        <p:spPr>
          <a:xfrm>
            <a:off x="9587201" y="4782404"/>
            <a:ext cx="359742" cy="361209"/>
          </a:xfrm>
          <a:prstGeom prst="ellipse">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3</a:t>
            </a:r>
            <a:endPar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744889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061D982F-6DA1-1F6F-EA11-151E136E0CD3}"/>
              </a:ext>
            </a:extLst>
          </p:cNvPr>
          <p:cNvSpPr>
            <a:spLocks noGrp="1"/>
          </p:cNvSpPr>
          <p:nvPr>
            <p:ph type="body" sz="quarter" idx="22"/>
          </p:nvPr>
        </p:nvSpPr>
        <p:spPr/>
        <p:txBody>
          <a:bodyPr/>
          <a:lstStyle/>
          <a:p>
            <a:r>
              <a:rPr lang="zh-CN" altLang="en-US" sz="1800" b="1" dirty="0">
                <a:latin typeface="微软雅黑" panose="020B0503020204020204" pitchFamily="34" charset="-122"/>
                <a:ea typeface="微软雅黑" panose="020B0503020204020204" pitchFamily="34" charset="-122"/>
              </a:rPr>
              <a:t>用户运营的核心是以客户为中心，充分培育品牌拥护者</a:t>
            </a:r>
            <a:r>
              <a:rPr lang="en-US" altLang="zh-CN" sz="1800" b="1" dirty="0">
                <a:latin typeface="微软雅黑" panose="020B0503020204020204" pitchFamily="34" charset="-122"/>
                <a:ea typeface="微软雅黑" panose="020B0503020204020204" pitchFamily="34" charset="-122"/>
              </a:rPr>
              <a:t>…</a:t>
            </a:r>
            <a:endParaRPr lang="zh-CN" altLang="en-US" sz="1800" b="1" dirty="0">
              <a:latin typeface="微软雅黑" panose="020B0503020204020204" pitchFamily="34" charset="-122"/>
              <a:ea typeface="微软雅黑" panose="020B0503020204020204" pitchFamily="34" charset="-122"/>
            </a:endParaRPr>
          </a:p>
          <a:p>
            <a:endParaRPr lang="zh-CN" altLang="en-US" sz="1800" dirty="0">
              <a:latin typeface="微软雅黑" panose="020B0503020204020204" pitchFamily="34" charset="-122"/>
              <a:ea typeface="微软雅黑" panose="020B0503020204020204" pitchFamily="34" charset="-122"/>
            </a:endParaRPr>
          </a:p>
        </p:txBody>
      </p:sp>
      <p:sp>
        <p:nvSpPr>
          <p:cNvPr id="5" name="灯片编号占位符 4">
            <a:extLst>
              <a:ext uri="{FF2B5EF4-FFF2-40B4-BE49-F238E27FC236}">
                <a16:creationId xmlns:a16="http://schemas.microsoft.com/office/drawing/2014/main" id="{8B297A90-B623-316F-9F21-47AE63552873}"/>
              </a:ext>
            </a:extLst>
          </p:cNvPr>
          <p:cNvSpPr>
            <a:spLocks noGrp="1"/>
          </p:cNvSpPr>
          <p:nvPr>
            <p:ph type="sldNum" sz="quarter" idx="4"/>
          </p:nvPr>
        </p:nvSpPr>
        <p:spPr/>
        <p:txBody>
          <a:bodyPr/>
          <a:lstStyle/>
          <a:p>
            <a:fld id="{04824671-56D2-5D44-834F-250C3DA554E9}" type="slidenum">
              <a:rPr lang="zh-CN" altLang="en-US" smtClean="0">
                <a:latin typeface="微软雅黑" panose="020B0503020204020204" pitchFamily="34" charset="-122"/>
                <a:ea typeface="微软雅黑" panose="020B0503020204020204" pitchFamily="34" charset="-122"/>
              </a:rPr>
              <a:t>59</a:t>
            </a:fld>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EB20AFC2-3DF3-7897-01B7-B9C789D3211C}"/>
              </a:ext>
            </a:extLst>
          </p:cNvPr>
          <p:cNvSpPr/>
          <p:nvPr/>
        </p:nvSpPr>
        <p:spPr>
          <a:xfrm>
            <a:off x="300038" y="2019694"/>
            <a:ext cx="11628437" cy="132838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marL="171450" indent="-171450" latinLnBrk="0">
              <a:lnSpc>
                <a:spcPct val="150000"/>
              </a:lnSpc>
              <a:spcBef>
                <a:spcPts val="300"/>
              </a:spcBef>
              <a:spcAft>
                <a:spcPts val="300"/>
              </a:spcAft>
              <a:buFont typeface="Wingdings" panose="05000000000000000000" pitchFamily="2" charset="2"/>
              <a:buChar char="p"/>
            </a:pPr>
            <a:r>
              <a:rPr lang="zh-CN" altLang="en-US" sz="1200" dirty="0">
                <a:solidFill>
                  <a:schemeClr val="tx1"/>
                </a:solidFill>
                <a:latin typeface="微软雅黑" panose="020B0503020204020204" pitchFamily="34" charset="-122"/>
                <a:ea typeface="微软雅黑" panose="020B0503020204020204" pitchFamily="34" charset="-122"/>
              </a:rPr>
              <a:t>在蔚来的涟漪模型中，居于最中间的是</a:t>
            </a:r>
            <a:r>
              <a:rPr lang="zh-CN" altLang="en-US" sz="1200" dirty="0">
                <a:solidFill>
                  <a:srgbClr val="F06124"/>
                </a:solidFill>
                <a:latin typeface="微软雅黑" panose="020B0503020204020204" pitchFamily="34" charset="-122"/>
                <a:ea typeface="微软雅黑" panose="020B0503020204020204" pitchFamily="34" charset="-122"/>
              </a:rPr>
              <a:t>核心车主</a:t>
            </a:r>
            <a:r>
              <a:rPr lang="zh-CN" altLang="en-US" sz="1200" dirty="0">
                <a:solidFill>
                  <a:schemeClr val="tx1"/>
                </a:solidFill>
                <a:latin typeface="微软雅黑" panose="020B0503020204020204" pitchFamily="34" charset="-122"/>
                <a:ea typeface="微软雅黑" panose="020B0503020204020204" pitchFamily="34" charset="-122"/>
              </a:rPr>
              <a:t>，占到车主总群体的</a:t>
            </a:r>
            <a:r>
              <a:rPr lang="en-US" altLang="zh-CN" sz="1200" dirty="0">
                <a:solidFill>
                  <a:schemeClr val="tx1"/>
                </a:solidFill>
                <a:latin typeface="微软雅黑" panose="020B0503020204020204" pitchFamily="34" charset="-122"/>
                <a:ea typeface="微软雅黑" panose="020B0503020204020204" pitchFamily="34" charset="-122"/>
              </a:rPr>
              <a:t>10%</a:t>
            </a:r>
            <a:r>
              <a:rPr lang="zh-CN" altLang="en-US" sz="1200" dirty="0">
                <a:solidFill>
                  <a:schemeClr val="tx1"/>
                </a:solidFill>
                <a:latin typeface="微软雅黑" panose="020B0503020204020204" pitchFamily="34" charset="-122"/>
                <a:ea typeface="微软雅黑" panose="020B0503020204020204" pitchFamily="34" charset="-122"/>
              </a:rPr>
              <a:t>左右。再向外分别是其他车主用户、粉丝（意向）用户与知晓用户。蔚来涟漪模式的关键在于</a:t>
            </a:r>
            <a:r>
              <a:rPr lang="zh-CN" altLang="en-US" sz="1200" dirty="0">
                <a:solidFill>
                  <a:srgbClr val="F06124"/>
                </a:solidFill>
                <a:latin typeface="微软雅黑" panose="020B0503020204020204" pitchFamily="34" charset="-122"/>
                <a:ea typeface="微软雅黑" panose="020B0503020204020204" pitchFamily="34" charset="-122"/>
              </a:rPr>
              <a:t>识别核心车主</a:t>
            </a:r>
            <a:r>
              <a:rPr lang="zh-CN" altLang="en-US" sz="1200" dirty="0">
                <a:solidFill>
                  <a:schemeClr val="tx1"/>
                </a:solidFill>
                <a:latin typeface="微软雅黑" panose="020B0503020204020204" pitchFamily="34" charset="-122"/>
                <a:ea typeface="微软雅黑" panose="020B0503020204020204" pitchFamily="34" charset="-122"/>
              </a:rPr>
              <a:t>以及</a:t>
            </a:r>
            <a:r>
              <a:rPr lang="zh-CN" altLang="en-US" sz="1200" dirty="0">
                <a:solidFill>
                  <a:srgbClr val="F06124"/>
                </a:solidFill>
                <a:latin typeface="微软雅黑" panose="020B0503020204020204" pitchFamily="34" charset="-122"/>
                <a:ea typeface="微软雅黑" panose="020B0503020204020204" pitchFamily="34" charset="-122"/>
              </a:rPr>
              <a:t>提升老客户满意度</a:t>
            </a:r>
            <a:r>
              <a:rPr lang="zh-CN" altLang="en-US" sz="1200" dirty="0">
                <a:solidFill>
                  <a:schemeClr val="tx1"/>
                </a:solidFill>
                <a:latin typeface="微软雅黑" panose="020B0503020204020204" pitchFamily="34" charset="-122"/>
                <a:ea typeface="微软雅黑" panose="020B0503020204020204" pitchFamily="34" charset="-122"/>
              </a:rPr>
              <a:t>，并激发老客户的</a:t>
            </a:r>
            <a:r>
              <a:rPr lang="zh-CN" altLang="en-US" sz="1200" dirty="0">
                <a:solidFill>
                  <a:srgbClr val="F06124"/>
                </a:solidFill>
                <a:latin typeface="微软雅黑" panose="020B0503020204020204" pitchFamily="34" charset="-122"/>
                <a:ea typeface="微软雅黑" panose="020B0503020204020204" pitchFamily="34" charset="-122"/>
              </a:rPr>
              <a:t>推荐和裂变能力</a:t>
            </a:r>
          </a:p>
          <a:p>
            <a:pPr marL="171450" indent="-171450" latinLnBrk="0">
              <a:lnSpc>
                <a:spcPct val="150000"/>
              </a:lnSpc>
              <a:spcBef>
                <a:spcPts val="300"/>
              </a:spcBef>
              <a:spcAft>
                <a:spcPts val="300"/>
              </a:spcAft>
              <a:buFont typeface="Wingdings" panose="05000000000000000000" pitchFamily="2" charset="2"/>
              <a:buChar char="p"/>
            </a:pPr>
            <a:r>
              <a:rPr lang="zh-CN" altLang="en-US" sz="1200" dirty="0">
                <a:solidFill>
                  <a:schemeClr val="tx1"/>
                </a:solidFill>
                <a:latin typeface="微软雅黑" panose="020B0503020204020204" pitchFamily="34" charset="-122"/>
                <a:ea typeface="微软雅黑" panose="020B0503020204020204" pitchFamily="34" charset="-122"/>
              </a:rPr>
              <a:t>蔚来的核心车主与普通车主的区别在于在与蔚来互动的过程中形成了强烈的</a:t>
            </a:r>
            <a:r>
              <a:rPr lang="zh-CN" altLang="en-US" sz="1200" dirty="0">
                <a:solidFill>
                  <a:srgbClr val="F06124"/>
                </a:solidFill>
                <a:latin typeface="微软雅黑" panose="020B0503020204020204" pitchFamily="34" charset="-122"/>
                <a:ea typeface="微软雅黑" panose="020B0503020204020204" pitchFamily="34" charset="-122"/>
              </a:rPr>
              <a:t>成就感与认同感</a:t>
            </a:r>
            <a:r>
              <a:rPr lang="zh-CN" altLang="en-US" sz="1200" dirty="0">
                <a:solidFill>
                  <a:schemeClr val="tx1"/>
                </a:solidFill>
                <a:latin typeface="微软雅黑" panose="020B0503020204020204" pitchFamily="34" charset="-122"/>
                <a:ea typeface="微软雅黑" panose="020B0503020204020204" pitchFamily="34" charset="-122"/>
              </a:rPr>
              <a:t>，在帮助蔚来提升销量与品牌形象时有很强的“战斗力”；在热爱蔚来的核心用户的推荐下，让越来越多的人完成从了解、好感、喜爱，到购买、满意的螺旋式渐进过程</a:t>
            </a:r>
          </a:p>
        </p:txBody>
      </p:sp>
      <p:grpSp>
        <p:nvGrpSpPr>
          <p:cNvPr id="7" name="组合 6">
            <a:extLst>
              <a:ext uri="{FF2B5EF4-FFF2-40B4-BE49-F238E27FC236}">
                <a16:creationId xmlns:a16="http://schemas.microsoft.com/office/drawing/2014/main" id="{4B9019BB-E640-8CB0-5486-23F74D44A00C}"/>
              </a:ext>
            </a:extLst>
          </p:cNvPr>
          <p:cNvGrpSpPr/>
          <p:nvPr/>
        </p:nvGrpSpPr>
        <p:grpSpPr>
          <a:xfrm>
            <a:off x="5627306" y="4667720"/>
            <a:ext cx="3331551" cy="1345110"/>
            <a:chOff x="6765" y="6761"/>
            <a:chExt cx="4217" cy="1686"/>
          </a:xfrm>
        </p:grpSpPr>
        <p:sp>
          <p:nvSpPr>
            <p:cNvPr id="8" name="椭圆 7">
              <a:extLst>
                <a:ext uri="{FF2B5EF4-FFF2-40B4-BE49-F238E27FC236}">
                  <a16:creationId xmlns:a16="http://schemas.microsoft.com/office/drawing/2014/main" id="{8446F808-CD6D-438F-598C-8905E5A0C192}"/>
                </a:ext>
              </a:extLst>
            </p:cNvPr>
            <p:cNvSpPr>
              <a:spLocks noChangeAspect="1"/>
            </p:cNvSpPr>
            <p:nvPr/>
          </p:nvSpPr>
          <p:spPr>
            <a:xfrm>
              <a:off x="6765" y="6761"/>
              <a:ext cx="4217" cy="1687"/>
            </a:xfrm>
            <a:prstGeom prst="ellipse">
              <a:avLst/>
            </a:prstGeom>
            <a:solidFill>
              <a:srgbClr val="FFFFFF"/>
            </a:solidFill>
            <a:ln w="12700" cap="flat" cmpd="sng" algn="ctr">
              <a:solidFill>
                <a:schemeClr val="tx1">
                  <a:alpha val="41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050" dirty="0">
                <a:latin typeface="微软雅黑" panose="020B0503020204020204" pitchFamily="34" charset="-122"/>
                <a:ea typeface="微软雅黑" panose="020B0503020204020204" pitchFamily="34" charset="-122"/>
              </a:endParaRPr>
            </a:p>
          </p:txBody>
        </p:sp>
        <p:sp>
          <p:nvSpPr>
            <p:cNvPr id="9" name="椭圆 8">
              <a:extLst>
                <a:ext uri="{FF2B5EF4-FFF2-40B4-BE49-F238E27FC236}">
                  <a16:creationId xmlns:a16="http://schemas.microsoft.com/office/drawing/2014/main" id="{6653CDF4-F14D-B8F9-BFBB-FBC6312F1BA2}"/>
                </a:ext>
              </a:extLst>
            </p:cNvPr>
            <p:cNvSpPr>
              <a:spLocks noChangeAspect="1"/>
            </p:cNvSpPr>
            <p:nvPr/>
          </p:nvSpPr>
          <p:spPr>
            <a:xfrm>
              <a:off x="7281" y="6962"/>
              <a:ext cx="3186" cy="1275"/>
            </a:xfrm>
            <a:prstGeom prst="ellipse">
              <a:avLst/>
            </a:prstGeom>
            <a:solidFill>
              <a:srgbClr val="FFFFFF"/>
            </a:solidFill>
            <a:ln w="12700" cap="flat" cmpd="sng" algn="ctr">
              <a:solidFill>
                <a:schemeClr val="tx1">
                  <a:alpha val="41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050" dirty="0">
                <a:latin typeface="微软雅黑" panose="020B0503020204020204" pitchFamily="34" charset="-122"/>
                <a:ea typeface="微软雅黑" panose="020B0503020204020204" pitchFamily="34" charset="-122"/>
              </a:endParaRPr>
            </a:p>
          </p:txBody>
        </p:sp>
        <p:sp>
          <p:nvSpPr>
            <p:cNvPr id="10" name="椭圆 9">
              <a:extLst>
                <a:ext uri="{FF2B5EF4-FFF2-40B4-BE49-F238E27FC236}">
                  <a16:creationId xmlns:a16="http://schemas.microsoft.com/office/drawing/2014/main" id="{F183E662-8D08-A8C4-64BF-548DCCC1C0AF}"/>
                </a:ext>
              </a:extLst>
            </p:cNvPr>
            <p:cNvSpPr>
              <a:spLocks noChangeAspect="1"/>
            </p:cNvSpPr>
            <p:nvPr/>
          </p:nvSpPr>
          <p:spPr>
            <a:xfrm>
              <a:off x="7644" y="7107"/>
              <a:ext cx="2460" cy="984"/>
            </a:xfrm>
            <a:prstGeom prst="ellipse">
              <a:avLst/>
            </a:prstGeom>
            <a:solidFill>
              <a:srgbClr val="FFFFFF"/>
            </a:solidFill>
            <a:ln w="12700" cap="flat" cmpd="sng" algn="ctr">
              <a:solidFill>
                <a:schemeClr val="tx1">
                  <a:alpha val="41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050" dirty="0">
                <a:latin typeface="微软雅黑" panose="020B0503020204020204" pitchFamily="34" charset="-122"/>
                <a:ea typeface="微软雅黑" panose="020B0503020204020204" pitchFamily="34" charset="-122"/>
              </a:endParaRPr>
            </a:p>
          </p:txBody>
        </p:sp>
        <p:sp>
          <p:nvSpPr>
            <p:cNvPr id="11" name="椭圆 10">
              <a:extLst>
                <a:ext uri="{FF2B5EF4-FFF2-40B4-BE49-F238E27FC236}">
                  <a16:creationId xmlns:a16="http://schemas.microsoft.com/office/drawing/2014/main" id="{0BD166AD-DE13-6000-6007-3BB1BEAE7DE0}"/>
                </a:ext>
              </a:extLst>
            </p:cNvPr>
            <p:cNvSpPr>
              <a:spLocks noChangeAspect="1"/>
            </p:cNvSpPr>
            <p:nvPr/>
          </p:nvSpPr>
          <p:spPr>
            <a:xfrm>
              <a:off x="8060" y="7273"/>
              <a:ext cx="1628" cy="651"/>
            </a:xfrm>
            <a:prstGeom prst="ellipse">
              <a:avLst/>
            </a:prstGeom>
            <a:solidFill>
              <a:srgbClr val="FFFFFF"/>
            </a:solidFill>
            <a:ln w="12700" cap="flat" cmpd="sng" algn="ctr">
              <a:solidFill>
                <a:schemeClr val="tx1">
                  <a:alpha val="41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050" dirty="0">
                <a:latin typeface="微软雅黑" panose="020B0503020204020204" pitchFamily="34" charset="-122"/>
                <a:ea typeface="微软雅黑" panose="020B0503020204020204" pitchFamily="34" charset="-122"/>
              </a:endParaRPr>
            </a:p>
          </p:txBody>
        </p:sp>
        <p:sp>
          <p:nvSpPr>
            <p:cNvPr id="12" name="椭圆 11">
              <a:extLst>
                <a:ext uri="{FF2B5EF4-FFF2-40B4-BE49-F238E27FC236}">
                  <a16:creationId xmlns:a16="http://schemas.microsoft.com/office/drawing/2014/main" id="{C5888474-DD55-4AE7-C238-4B0F1609A0CF}"/>
                </a:ext>
              </a:extLst>
            </p:cNvPr>
            <p:cNvSpPr/>
            <p:nvPr/>
          </p:nvSpPr>
          <p:spPr>
            <a:xfrm>
              <a:off x="8733" y="7453"/>
              <a:ext cx="281" cy="281"/>
            </a:xfrm>
            <a:prstGeom prst="ellipse">
              <a:avLst/>
            </a:prstGeom>
            <a:solidFill>
              <a:srgbClr val="FFFFFF"/>
            </a:solidFill>
            <a:ln w="12700" cap="flat" cmpd="sng" algn="ctr">
              <a:solidFill>
                <a:schemeClr val="tx1">
                  <a:alpha val="41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050" dirty="0">
                <a:latin typeface="微软雅黑" panose="020B0503020204020204" pitchFamily="34" charset="-122"/>
                <a:ea typeface="微软雅黑" panose="020B0503020204020204" pitchFamily="34" charset="-122"/>
              </a:endParaRPr>
            </a:p>
          </p:txBody>
        </p:sp>
        <p:cxnSp>
          <p:nvCxnSpPr>
            <p:cNvPr id="13" name="直接箭头连接符 12">
              <a:extLst>
                <a:ext uri="{FF2B5EF4-FFF2-40B4-BE49-F238E27FC236}">
                  <a16:creationId xmlns:a16="http://schemas.microsoft.com/office/drawing/2014/main" id="{FAC0D3E7-28FA-6125-EC4C-9E45B1CCE00D}"/>
                </a:ext>
              </a:extLst>
            </p:cNvPr>
            <p:cNvCxnSpPr>
              <a:stCxn id="9" idx="2"/>
            </p:cNvCxnSpPr>
            <p:nvPr/>
          </p:nvCxnSpPr>
          <p:spPr>
            <a:xfrm>
              <a:off x="7281" y="7599"/>
              <a:ext cx="1453" cy="5"/>
            </a:xfrm>
            <a:prstGeom prst="straightConnector1">
              <a:avLst/>
            </a:prstGeom>
            <a:noFill/>
            <a:ln w="9525" cap="flat" cmpd="sng" algn="ctr">
              <a:solidFill>
                <a:schemeClr val="tx1">
                  <a:alpha val="41000"/>
                </a:schemeClr>
              </a:solidFill>
              <a:prstDash val="solid"/>
              <a:tailEnd type="triangle"/>
            </a:ln>
            <a:effectLst/>
          </p:spPr>
        </p:cxnSp>
        <p:cxnSp>
          <p:nvCxnSpPr>
            <p:cNvPr id="14" name="直接箭头连接符 13">
              <a:extLst>
                <a:ext uri="{FF2B5EF4-FFF2-40B4-BE49-F238E27FC236}">
                  <a16:creationId xmlns:a16="http://schemas.microsoft.com/office/drawing/2014/main" id="{101804E8-3370-6984-39C3-4E70D98D5B9E}"/>
                </a:ext>
              </a:extLst>
            </p:cNvPr>
            <p:cNvCxnSpPr>
              <a:stCxn id="12" idx="6"/>
              <a:endCxn id="8" idx="6"/>
            </p:cNvCxnSpPr>
            <p:nvPr/>
          </p:nvCxnSpPr>
          <p:spPr>
            <a:xfrm>
              <a:off x="9014" y="7594"/>
              <a:ext cx="1968" cy="10"/>
            </a:xfrm>
            <a:prstGeom prst="straightConnector1">
              <a:avLst/>
            </a:prstGeom>
            <a:noFill/>
            <a:ln w="9525" cap="flat" cmpd="sng" algn="ctr">
              <a:solidFill>
                <a:schemeClr val="tx1">
                  <a:alpha val="41000"/>
                </a:schemeClr>
              </a:solidFill>
              <a:prstDash val="solid"/>
              <a:tailEnd type="triangle"/>
            </a:ln>
            <a:effectLst/>
          </p:spPr>
        </p:cxnSp>
        <p:sp>
          <p:nvSpPr>
            <p:cNvPr id="15" name="文本框 14">
              <a:extLst>
                <a:ext uri="{FF2B5EF4-FFF2-40B4-BE49-F238E27FC236}">
                  <a16:creationId xmlns:a16="http://schemas.microsoft.com/office/drawing/2014/main" id="{88353C51-1074-6E95-6406-47B797D39167}"/>
                </a:ext>
              </a:extLst>
            </p:cNvPr>
            <p:cNvSpPr txBox="1"/>
            <p:nvPr/>
          </p:nvSpPr>
          <p:spPr>
            <a:xfrm>
              <a:off x="7714" y="7604"/>
              <a:ext cx="691" cy="423"/>
            </a:xfrm>
            <a:prstGeom prst="rect">
              <a:avLst/>
            </a:prstGeom>
            <a:ln>
              <a:noFill/>
            </a:ln>
          </p:spPr>
          <p:txBody>
            <a:bodyPr vert="horz" wrap="square" lIns="91440" tIns="45720" rIns="91440" bIns="45720" rtlCol="0" anchor="ctr">
              <a:noAutofit/>
            </a:bodyPr>
            <a:lstStyle/>
            <a:p>
              <a:r>
                <a:rPr lang="zh-CN" altLang="en-US" sz="1000">
                  <a:solidFill>
                    <a:srgbClr val="000000"/>
                  </a:solidFill>
                  <a:latin typeface="微软雅黑" panose="020B0503020204020204" pitchFamily="34" charset="-122"/>
                  <a:ea typeface="微软雅黑" panose="020B0503020204020204" pitchFamily="34" charset="-122"/>
                </a:rPr>
                <a:t>凝聚</a:t>
              </a:r>
              <a:endParaRPr lang="zh-CN" altLang="en-US" sz="1000" dirty="0">
                <a:solidFill>
                  <a:srgbClr val="00000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1E5B65D4-32D9-50CC-8238-12BF65AC5EC8}"/>
                </a:ext>
              </a:extLst>
            </p:cNvPr>
            <p:cNvSpPr txBox="1"/>
            <p:nvPr/>
          </p:nvSpPr>
          <p:spPr>
            <a:xfrm>
              <a:off x="9722" y="7607"/>
              <a:ext cx="798" cy="372"/>
            </a:xfrm>
            <a:prstGeom prst="rect">
              <a:avLst/>
            </a:prstGeom>
            <a:ln>
              <a:noFill/>
            </a:ln>
          </p:spPr>
          <p:txBody>
            <a:bodyPr vert="horz" wrap="square" lIns="91440" tIns="45720" rIns="91440" bIns="45720" rtlCol="0" anchor="ctr">
              <a:noAutofit/>
            </a:bodyPr>
            <a:lstStyle/>
            <a:p>
              <a:r>
                <a:rPr lang="zh-CN" altLang="en-US" sz="1000" dirty="0">
                  <a:solidFill>
                    <a:srgbClr val="000000"/>
                  </a:solidFill>
                  <a:latin typeface="微软雅黑" panose="020B0503020204020204" pitchFamily="34" charset="-122"/>
                  <a:ea typeface="微软雅黑" panose="020B0503020204020204" pitchFamily="34" charset="-122"/>
                </a:rPr>
                <a:t>影响</a:t>
              </a:r>
            </a:p>
          </p:txBody>
        </p:sp>
      </p:grpSp>
      <p:grpSp>
        <p:nvGrpSpPr>
          <p:cNvPr id="2" name="组合 1">
            <a:extLst>
              <a:ext uri="{FF2B5EF4-FFF2-40B4-BE49-F238E27FC236}">
                <a16:creationId xmlns:a16="http://schemas.microsoft.com/office/drawing/2014/main" id="{FEEDB2A4-70C8-4F9C-0F14-E0A0D0881497}"/>
              </a:ext>
            </a:extLst>
          </p:cNvPr>
          <p:cNvGrpSpPr/>
          <p:nvPr/>
        </p:nvGrpSpPr>
        <p:grpSpPr>
          <a:xfrm>
            <a:off x="9703395" y="3872361"/>
            <a:ext cx="2280382" cy="2078750"/>
            <a:chOff x="9703395" y="3872361"/>
            <a:chExt cx="2118895" cy="1827406"/>
          </a:xfrm>
        </p:grpSpPr>
        <p:sp>
          <p:nvSpPr>
            <p:cNvPr id="17" name="矩形: 圆角 32">
              <a:extLst>
                <a:ext uri="{FF2B5EF4-FFF2-40B4-BE49-F238E27FC236}">
                  <a16:creationId xmlns:a16="http://schemas.microsoft.com/office/drawing/2014/main" id="{883D9D44-09A7-9047-9B73-0ACE8AFEAAAE}"/>
                </a:ext>
              </a:extLst>
            </p:cNvPr>
            <p:cNvSpPr/>
            <p:nvPr/>
          </p:nvSpPr>
          <p:spPr>
            <a:xfrm>
              <a:off x="9703395" y="3872361"/>
              <a:ext cx="1930503" cy="394846"/>
            </a:xfrm>
            <a:prstGeom prst="roundRect">
              <a:avLst/>
            </a:prstGeom>
            <a:solidFill>
              <a:schemeClr val="accent3">
                <a:lumMod val="20000"/>
                <a:lumOff val="80000"/>
              </a:schemeClr>
            </a:solidFill>
            <a:ln w="12700" cap="flat" cmpd="sng" algn="ctr">
              <a:solidFill>
                <a:srgbClr val="C6C6C6"/>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400" dirty="0">
                <a:latin typeface="微软雅黑" panose="020B0503020204020204" pitchFamily="34" charset="-122"/>
                <a:ea typeface="微软雅黑" panose="020B0503020204020204" pitchFamily="34" charset="-122"/>
              </a:endParaRPr>
            </a:p>
          </p:txBody>
        </p:sp>
        <p:sp>
          <p:nvSpPr>
            <p:cNvPr id="18" name="矩形: 圆角 33">
              <a:extLst>
                <a:ext uri="{FF2B5EF4-FFF2-40B4-BE49-F238E27FC236}">
                  <a16:creationId xmlns:a16="http://schemas.microsoft.com/office/drawing/2014/main" id="{1A1D59C8-8595-6349-3000-F0A1102F1A0F}"/>
                </a:ext>
              </a:extLst>
            </p:cNvPr>
            <p:cNvSpPr/>
            <p:nvPr/>
          </p:nvSpPr>
          <p:spPr>
            <a:xfrm>
              <a:off x="9703395" y="4349881"/>
              <a:ext cx="1930503" cy="394846"/>
            </a:xfrm>
            <a:prstGeom prst="roundRect">
              <a:avLst/>
            </a:prstGeom>
            <a:solidFill>
              <a:schemeClr val="accent3">
                <a:lumMod val="20000"/>
                <a:lumOff val="80000"/>
              </a:schemeClr>
            </a:solidFill>
            <a:ln w="12700" cap="flat" cmpd="sng" algn="ctr">
              <a:solidFill>
                <a:srgbClr val="FFFFFF">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400" dirty="0">
                <a:latin typeface="微软雅黑" panose="020B0503020204020204" pitchFamily="34" charset="-122"/>
                <a:ea typeface="微软雅黑" panose="020B0503020204020204" pitchFamily="34" charset="-122"/>
              </a:endParaRPr>
            </a:p>
          </p:txBody>
        </p:sp>
        <p:sp>
          <p:nvSpPr>
            <p:cNvPr id="19" name="矩形: 圆角 34">
              <a:extLst>
                <a:ext uri="{FF2B5EF4-FFF2-40B4-BE49-F238E27FC236}">
                  <a16:creationId xmlns:a16="http://schemas.microsoft.com/office/drawing/2014/main" id="{9BC55586-6A5D-F1AF-7F6C-7A23ABBBEFD7}"/>
                </a:ext>
              </a:extLst>
            </p:cNvPr>
            <p:cNvSpPr/>
            <p:nvPr/>
          </p:nvSpPr>
          <p:spPr>
            <a:xfrm>
              <a:off x="9703395" y="4827401"/>
              <a:ext cx="1930503" cy="394846"/>
            </a:xfrm>
            <a:prstGeom prst="roundRect">
              <a:avLst/>
            </a:prstGeom>
            <a:solidFill>
              <a:schemeClr val="accent3">
                <a:lumMod val="20000"/>
                <a:lumOff val="80000"/>
              </a:schemeClr>
            </a:solidFill>
            <a:ln w="12700" cap="flat" cmpd="sng" algn="ctr">
              <a:solidFill>
                <a:srgbClr val="FFFFFF">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400" dirty="0">
                <a:latin typeface="微软雅黑" panose="020B0503020204020204" pitchFamily="34" charset="-122"/>
                <a:ea typeface="微软雅黑" panose="020B0503020204020204" pitchFamily="34" charset="-122"/>
              </a:endParaRPr>
            </a:p>
          </p:txBody>
        </p:sp>
        <p:sp>
          <p:nvSpPr>
            <p:cNvPr id="20" name="矩形: 圆角 37">
              <a:extLst>
                <a:ext uri="{FF2B5EF4-FFF2-40B4-BE49-F238E27FC236}">
                  <a16:creationId xmlns:a16="http://schemas.microsoft.com/office/drawing/2014/main" id="{C2D5C3AA-83B6-D576-A139-AE6B3A5164A0}"/>
                </a:ext>
              </a:extLst>
            </p:cNvPr>
            <p:cNvSpPr/>
            <p:nvPr/>
          </p:nvSpPr>
          <p:spPr>
            <a:xfrm>
              <a:off x="9703395" y="5304921"/>
              <a:ext cx="1930503" cy="394846"/>
            </a:xfrm>
            <a:prstGeom prst="roundRect">
              <a:avLst/>
            </a:prstGeom>
            <a:solidFill>
              <a:schemeClr val="accent3">
                <a:lumMod val="20000"/>
                <a:lumOff val="80000"/>
              </a:schemeClr>
            </a:solidFill>
            <a:ln w="12700" cap="flat" cmpd="sng" algn="ctr">
              <a:solidFill>
                <a:srgbClr val="FFFFFF">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400"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CF73BF32-8174-1E5F-8753-43D33C5B45C0}"/>
                </a:ext>
              </a:extLst>
            </p:cNvPr>
            <p:cNvSpPr txBox="1"/>
            <p:nvPr/>
          </p:nvSpPr>
          <p:spPr>
            <a:xfrm>
              <a:off x="10612715" y="3903100"/>
              <a:ext cx="1209575" cy="325371"/>
            </a:xfrm>
            <a:prstGeom prst="rect">
              <a:avLst/>
            </a:prstGeom>
          </p:spPr>
          <p:txBody>
            <a:bodyPr vert="horz" wrap="square" lIns="91440" tIns="45720" rIns="91440" bIns="45720" rtlCol="0" anchor="ctr">
              <a:noAutofit/>
            </a:bodyPr>
            <a:lstStyle/>
            <a:p>
              <a:r>
                <a:rPr lang="zh-CN" altLang="en-US" sz="1000" dirty="0">
                  <a:solidFill>
                    <a:srgbClr val="000000"/>
                  </a:solidFill>
                  <a:latin typeface="微软雅黑" panose="020B0503020204020204" pitchFamily="34" charset="-122"/>
                  <a:ea typeface="微软雅黑" panose="020B0503020204020204" pitchFamily="34" charset="-122"/>
                </a:rPr>
                <a:t>塑造成就感</a:t>
              </a:r>
              <a:endParaRPr lang="en-US" altLang="zh-CN" sz="1000" dirty="0">
                <a:solidFill>
                  <a:srgbClr val="000000"/>
                </a:solidFill>
                <a:latin typeface="微软雅黑" panose="020B0503020204020204" pitchFamily="34" charset="-122"/>
                <a:ea typeface="微软雅黑" panose="020B0503020204020204" pitchFamily="34" charset="-122"/>
              </a:endParaRPr>
            </a:p>
            <a:p>
              <a:r>
                <a:rPr lang="zh-CN" altLang="en-US" sz="1000" dirty="0">
                  <a:solidFill>
                    <a:srgbClr val="000000"/>
                  </a:solidFill>
                  <a:latin typeface="微软雅黑" panose="020B0503020204020204" pitchFamily="34" charset="-122"/>
                  <a:ea typeface="微软雅黑" panose="020B0503020204020204" pitchFamily="34" charset="-122"/>
                </a:rPr>
                <a:t>形成价值共同体</a:t>
              </a:r>
            </a:p>
          </p:txBody>
        </p:sp>
        <p:sp>
          <p:nvSpPr>
            <p:cNvPr id="22" name="文本框 21">
              <a:extLst>
                <a:ext uri="{FF2B5EF4-FFF2-40B4-BE49-F238E27FC236}">
                  <a16:creationId xmlns:a16="http://schemas.microsoft.com/office/drawing/2014/main" id="{4794F7A3-DE2D-97AE-0773-4CBEB4B1E615}"/>
                </a:ext>
              </a:extLst>
            </p:cNvPr>
            <p:cNvSpPr txBox="1"/>
            <p:nvPr/>
          </p:nvSpPr>
          <p:spPr>
            <a:xfrm>
              <a:off x="10612715" y="4389510"/>
              <a:ext cx="1209575" cy="325371"/>
            </a:xfrm>
            <a:prstGeom prst="rect">
              <a:avLst/>
            </a:prstGeom>
          </p:spPr>
          <p:txBody>
            <a:bodyPr vert="horz" wrap="square" lIns="91440" tIns="45720" rIns="91440" bIns="45720" rtlCol="0" anchor="ctr">
              <a:noAutofit/>
            </a:bodyPr>
            <a:lstStyle/>
            <a:p>
              <a:r>
                <a:rPr lang="zh-CN" altLang="en-US" sz="1000" dirty="0">
                  <a:solidFill>
                    <a:srgbClr val="000000"/>
                  </a:solidFill>
                  <a:latin typeface="微软雅黑" panose="020B0503020204020204" pitchFamily="34" charset="-122"/>
                  <a:ea typeface="微软雅黑" panose="020B0503020204020204" pitchFamily="34" charset="-122"/>
                </a:rPr>
                <a:t>打造归属感</a:t>
              </a:r>
              <a:endParaRPr lang="en-US" altLang="zh-CN" sz="1000" dirty="0">
                <a:solidFill>
                  <a:srgbClr val="000000"/>
                </a:solidFill>
                <a:latin typeface="微软雅黑" panose="020B0503020204020204" pitchFamily="34" charset="-122"/>
                <a:ea typeface="微软雅黑" panose="020B0503020204020204" pitchFamily="34" charset="-122"/>
              </a:endParaRPr>
            </a:p>
            <a:p>
              <a:r>
                <a:rPr lang="zh-CN" altLang="en-US" sz="1000" dirty="0">
                  <a:solidFill>
                    <a:srgbClr val="000000"/>
                  </a:solidFill>
                  <a:latin typeface="微软雅黑" panose="020B0503020204020204" pitchFamily="34" charset="-122"/>
                  <a:ea typeface="微软雅黑" panose="020B0503020204020204" pitchFamily="34" charset="-122"/>
                </a:rPr>
                <a:t>提高社群凝聚力</a:t>
              </a:r>
            </a:p>
          </p:txBody>
        </p:sp>
        <p:sp>
          <p:nvSpPr>
            <p:cNvPr id="23" name="文本框 22">
              <a:extLst>
                <a:ext uri="{FF2B5EF4-FFF2-40B4-BE49-F238E27FC236}">
                  <a16:creationId xmlns:a16="http://schemas.microsoft.com/office/drawing/2014/main" id="{10BB9E36-F5BF-4562-CD6A-1ACD67C6F5DE}"/>
                </a:ext>
              </a:extLst>
            </p:cNvPr>
            <p:cNvSpPr txBox="1"/>
            <p:nvPr/>
          </p:nvSpPr>
          <p:spPr>
            <a:xfrm>
              <a:off x="10612715" y="4884175"/>
              <a:ext cx="1209575" cy="325371"/>
            </a:xfrm>
            <a:prstGeom prst="rect">
              <a:avLst/>
            </a:prstGeom>
          </p:spPr>
          <p:txBody>
            <a:bodyPr vert="horz" wrap="square" lIns="91440" tIns="45720" rIns="91440" bIns="45720" rtlCol="0" anchor="ctr">
              <a:noAutofit/>
            </a:bodyPr>
            <a:lstStyle/>
            <a:p>
              <a:r>
                <a:rPr lang="zh-CN" altLang="en-US" sz="1000" dirty="0">
                  <a:solidFill>
                    <a:srgbClr val="000000"/>
                  </a:solidFill>
                  <a:latin typeface="微软雅黑" panose="020B0503020204020204" pitchFamily="34" charset="-122"/>
                  <a:ea typeface="微软雅黑" panose="020B0503020204020204" pitchFamily="34" charset="-122"/>
                </a:rPr>
                <a:t>营造愉悦感</a:t>
              </a:r>
              <a:endParaRPr lang="en-US" altLang="zh-CN" sz="1000" dirty="0">
                <a:solidFill>
                  <a:srgbClr val="000000"/>
                </a:solidFill>
                <a:latin typeface="微软雅黑" panose="020B0503020204020204" pitchFamily="34" charset="-122"/>
                <a:ea typeface="微软雅黑" panose="020B0503020204020204" pitchFamily="34" charset="-122"/>
              </a:endParaRPr>
            </a:p>
            <a:p>
              <a:r>
                <a:rPr lang="zh-CN" altLang="en-US" sz="1000" dirty="0">
                  <a:solidFill>
                    <a:srgbClr val="000000"/>
                  </a:solidFill>
                  <a:latin typeface="微软雅黑" panose="020B0503020204020204" pitchFamily="34" charset="-122"/>
                  <a:ea typeface="微软雅黑" panose="020B0503020204020204" pitchFamily="34" charset="-122"/>
                </a:rPr>
                <a:t>打造品牌差异性</a:t>
              </a:r>
            </a:p>
          </p:txBody>
        </p:sp>
        <p:sp>
          <p:nvSpPr>
            <p:cNvPr id="24" name="文本框 23">
              <a:extLst>
                <a:ext uri="{FF2B5EF4-FFF2-40B4-BE49-F238E27FC236}">
                  <a16:creationId xmlns:a16="http://schemas.microsoft.com/office/drawing/2014/main" id="{CB68A2EF-B76F-DF9B-5595-F89B7AF1A5F7}"/>
                </a:ext>
              </a:extLst>
            </p:cNvPr>
            <p:cNvSpPr txBox="1"/>
            <p:nvPr/>
          </p:nvSpPr>
          <p:spPr>
            <a:xfrm>
              <a:off x="10612715" y="5361695"/>
              <a:ext cx="1209575" cy="325371"/>
            </a:xfrm>
            <a:prstGeom prst="rect">
              <a:avLst/>
            </a:prstGeom>
          </p:spPr>
          <p:txBody>
            <a:bodyPr vert="horz" wrap="square" lIns="91440" tIns="45720" rIns="91440" bIns="45720" rtlCol="0" anchor="ctr">
              <a:noAutofit/>
            </a:bodyPr>
            <a:lstStyle/>
            <a:p>
              <a:r>
                <a:rPr lang="zh-CN" altLang="en-US" sz="1000" dirty="0">
                  <a:solidFill>
                    <a:srgbClr val="000000"/>
                  </a:solidFill>
                  <a:latin typeface="微软雅黑" panose="020B0503020204020204" pitchFamily="34" charset="-122"/>
                  <a:ea typeface="微软雅黑" panose="020B0503020204020204" pitchFamily="34" charset="-122"/>
                </a:rPr>
                <a:t>建立向往感</a:t>
              </a:r>
              <a:endParaRPr lang="en-US" altLang="zh-CN" sz="1000" dirty="0">
                <a:solidFill>
                  <a:srgbClr val="000000"/>
                </a:solidFill>
                <a:latin typeface="微软雅黑" panose="020B0503020204020204" pitchFamily="34" charset="-122"/>
                <a:ea typeface="微软雅黑" panose="020B0503020204020204" pitchFamily="34" charset="-122"/>
              </a:endParaRPr>
            </a:p>
            <a:p>
              <a:r>
                <a:rPr lang="zh-CN" altLang="en-US" sz="1000" dirty="0">
                  <a:solidFill>
                    <a:srgbClr val="000000"/>
                  </a:solidFill>
                  <a:latin typeface="微软雅黑" panose="020B0503020204020204" pitchFamily="34" charset="-122"/>
                  <a:ea typeface="微软雅黑" panose="020B0503020204020204" pitchFamily="34" charset="-122"/>
                </a:rPr>
                <a:t>打造产品吸引力</a:t>
              </a:r>
            </a:p>
          </p:txBody>
        </p:sp>
        <p:sp>
          <p:nvSpPr>
            <p:cNvPr id="25" name="矩形: 圆角 45">
              <a:extLst>
                <a:ext uri="{FF2B5EF4-FFF2-40B4-BE49-F238E27FC236}">
                  <a16:creationId xmlns:a16="http://schemas.microsoft.com/office/drawing/2014/main" id="{A3A54FDC-1BF0-D97E-E5F7-291AE679EC5A}"/>
                </a:ext>
              </a:extLst>
            </p:cNvPr>
            <p:cNvSpPr/>
            <p:nvPr/>
          </p:nvSpPr>
          <p:spPr>
            <a:xfrm>
              <a:off x="9703395" y="3952310"/>
              <a:ext cx="874475" cy="217107"/>
            </a:xfrm>
            <a:prstGeom prst="roundRect">
              <a:avLst/>
            </a:prstGeom>
            <a:solidFill>
              <a:srgbClr val="003366"/>
            </a:solidFill>
            <a:ln w="12700" cap="flat" cmpd="sng" algn="ctr">
              <a:solidFill>
                <a:srgbClr val="FFFFFF">
                  <a:lumMod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200" dirty="0">
                  <a:solidFill>
                    <a:srgbClr val="FFFFFF"/>
                  </a:solidFill>
                  <a:latin typeface="微软雅黑" panose="020B0503020204020204" pitchFamily="34" charset="-122"/>
                  <a:ea typeface="微软雅黑" panose="020B0503020204020204" pitchFamily="34" charset="-122"/>
                </a:rPr>
                <a:t>核心车主</a:t>
              </a:r>
            </a:p>
          </p:txBody>
        </p:sp>
        <p:sp>
          <p:nvSpPr>
            <p:cNvPr id="26" name="矩形: 圆角 46">
              <a:extLst>
                <a:ext uri="{FF2B5EF4-FFF2-40B4-BE49-F238E27FC236}">
                  <a16:creationId xmlns:a16="http://schemas.microsoft.com/office/drawing/2014/main" id="{1DE5C8B6-97FF-2AD7-E035-22A00F52C6F1}"/>
                </a:ext>
              </a:extLst>
            </p:cNvPr>
            <p:cNvSpPr/>
            <p:nvPr/>
          </p:nvSpPr>
          <p:spPr>
            <a:xfrm>
              <a:off x="9703395" y="4429830"/>
              <a:ext cx="874475" cy="217107"/>
            </a:xfrm>
            <a:prstGeom prst="roundRect">
              <a:avLst/>
            </a:prstGeom>
            <a:solidFill>
              <a:srgbClr val="003366"/>
            </a:solidFill>
            <a:ln w="12700" cap="flat" cmpd="sng" algn="ctr">
              <a:solidFill>
                <a:srgbClr val="FFFFFF">
                  <a:lumMod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200" dirty="0">
                  <a:solidFill>
                    <a:srgbClr val="FFFFFF"/>
                  </a:solidFill>
                  <a:latin typeface="微软雅黑" panose="020B0503020204020204" pitchFamily="34" charset="-122"/>
                  <a:ea typeface="微软雅黑" panose="020B0503020204020204" pitchFamily="34" charset="-122"/>
                </a:rPr>
                <a:t>车主圈层</a:t>
              </a:r>
            </a:p>
          </p:txBody>
        </p:sp>
        <p:sp>
          <p:nvSpPr>
            <p:cNvPr id="27" name="矩形: 圆角 47">
              <a:extLst>
                <a:ext uri="{FF2B5EF4-FFF2-40B4-BE49-F238E27FC236}">
                  <a16:creationId xmlns:a16="http://schemas.microsoft.com/office/drawing/2014/main" id="{A3E4B759-BF3E-C4FF-CFCD-679574CADB5A}"/>
                </a:ext>
              </a:extLst>
            </p:cNvPr>
            <p:cNvSpPr/>
            <p:nvPr/>
          </p:nvSpPr>
          <p:spPr>
            <a:xfrm>
              <a:off x="9703395" y="4907350"/>
              <a:ext cx="874475" cy="217107"/>
            </a:xfrm>
            <a:prstGeom prst="roundRect">
              <a:avLst/>
            </a:prstGeom>
            <a:solidFill>
              <a:srgbClr val="003366"/>
            </a:solidFill>
            <a:ln w="12700" cap="flat" cmpd="sng" algn="ctr">
              <a:solidFill>
                <a:srgbClr val="FFFFFF">
                  <a:lumMod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200" dirty="0">
                  <a:solidFill>
                    <a:srgbClr val="FFFFFF"/>
                  </a:solidFill>
                  <a:latin typeface="微软雅黑" panose="020B0503020204020204" pitchFamily="34" charset="-122"/>
                  <a:ea typeface="微软雅黑" panose="020B0503020204020204" pitchFamily="34" charset="-122"/>
                </a:rPr>
                <a:t>粉丝圈层</a:t>
              </a:r>
            </a:p>
          </p:txBody>
        </p:sp>
        <p:sp>
          <p:nvSpPr>
            <p:cNvPr id="28" name="矩形: 圆角 48">
              <a:extLst>
                <a:ext uri="{FF2B5EF4-FFF2-40B4-BE49-F238E27FC236}">
                  <a16:creationId xmlns:a16="http://schemas.microsoft.com/office/drawing/2014/main" id="{AD8E0CDF-5EE2-B233-BCDD-DDDBABA83F24}"/>
                </a:ext>
              </a:extLst>
            </p:cNvPr>
            <p:cNvSpPr/>
            <p:nvPr/>
          </p:nvSpPr>
          <p:spPr>
            <a:xfrm>
              <a:off x="9703395" y="5384870"/>
              <a:ext cx="874475" cy="217107"/>
            </a:xfrm>
            <a:prstGeom prst="roundRect">
              <a:avLst/>
            </a:prstGeom>
            <a:solidFill>
              <a:srgbClr val="003366"/>
            </a:solidFill>
            <a:ln w="12700" cap="flat" cmpd="sng" algn="ctr">
              <a:solidFill>
                <a:srgbClr val="FFFFFF">
                  <a:lumMod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200" dirty="0">
                  <a:solidFill>
                    <a:srgbClr val="FFFFFF"/>
                  </a:solidFill>
                  <a:latin typeface="微软雅黑" panose="020B0503020204020204" pitchFamily="34" charset="-122"/>
                  <a:ea typeface="微软雅黑" panose="020B0503020204020204" pitchFamily="34" charset="-122"/>
                </a:rPr>
                <a:t>知晓圈层</a:t>
              </a:r>
            </a:p>
          </p:txBody>
        </p:sp>
      </p:grpSp>
      <p:cxnSp>
        <p:nvCxnSpPr>
          <p:cNvPr id="29" name="直接连接符 28">
            <a:extLst>
              <a:ext uri="{FF2B5EF4-FFF2-40B4-BE49-F238E27FC236}">
                <a16:creationId xmlns:a16="http://schemas.microsoft.com/office/drawing/2014/main" id="{AD42399A-8623-8139-12FD-6C67DD4F4671}"/>
              </a:ext>
            </a:extLst>
          </p:cNvPr>
          <p:cNvCxnSpPr>
            <a:cxnSpLocks/>
            <a:stCxn id="25" idx="1"/>
          </p:cNvCxnSpPr>
          <p:nvPr/>
        </p:nvCxnSpPr>
        <p:spPr>
          <a:xfrm flipH="1">
            <a:off x="8401635" y="4086790"/>
            <a:ext cx="1301760" cy="887299"/>
          </a:xfrm>
          <a:prstGeom prst="line">
            <a:avLst/>
          </a:prstGeom>
          <a:noFill/>
          <a:ln w="9525" cap="flat" cmpd="sng" algn="ctr">
            <a:solidFill>
              <a:srgbClr val="C6C6C6"/>
            </a:solidFill>
            <a:prstDash val="solid"/>
          </a:ln>
          <a:effectLst/>
        </p:spPr>
      </p:cxnSp>
      <p:cxnSp>
        <p:nvCxnSpPr>
          <p:cNvPr id="30" name="直接连接符 29">
            <a:extLst>
              <a:ext uri="{FF2B5EF4-FFF2-40B4-BE49-F238E27FC236}">
                <a16:creationId xmlns:a16="http://schemas.microsoft.com/office/drawing/2014/main" id="{689D63F0-CC47-00F3-0E8F-04D4A2D76B78}"/>
              </a:ext>
            </a:extLst>
          </p:cNvPr>
          <p:cNvCxnSpPr>
            <a:cxnSpLocks/>
            <a:stCxn id="26" idx="1"/>
          </p:cNvCxnSpPr>
          <p:nvPr/>
        </p:nvCxnSpPr>
        <p:spPr>
          <a:xfrm flipH="1">
            <a:off x="8589493" y="4629989"/>
            <a:ext cx="1113902" cy="467584"/>
          </a:xfrm>
          <a:prstGeom prst="line">
            <a:avLst/>
          </a:prstGeom>
          <a:noFill/>
          <a:ln w="9525" cap="flat" cmpd="sng" algn="ctr">
            <a:solidFill>
              <a:srgbClr val="C6C6C6"/>
            </a:solidFill>
            <a:prstDash val="solid"/>
          </a:ln>
          <a:effectLst/>
        </p:spPr>
      </p:cxnSp>
      <p:cxnSp>
        <p:nvCxnSpPr>
          <p:cNvPr id="31" name="直接连接符 30">
            <a:extLst>
              <a:ext uri="{FF2B5EF4-FFF2-40B4-BE49-F238E27FC236}">
                <a16:creationId xmlns:a16="http://schemas.microsoft.com/office/drawing/2014/main" id="{82A1F721-CE59-B483-EF16-16A2CF009A39}"/>
              </a:ext>
            </a:extLst>
          </p:cNvPr>
          <p:cNvCxnSpPr>
            <a:cxnSpLocks/>
            <a:stCxn id="27" idx="1"/>
          </p:cNvCxnSpPr>
          <p:nvPr/>
        </p:nvCxnSpPr>
        <p:spPr>
          <a:xfrm flipH="1">
            <a:off x="8729642" y="5173188"/>
            <a:ext cx="973753" cy="18288"/>
          </a:xfrm>
          <a:prstGeom prst="line">
            <a:avLst/>
          </a:prstGeom>
          <a:noFill/>
          <a:ln w="9525" cap="flat" cmpd="sng" algn="ctr">
            <a:solidFill>
              <a:srgbClr val="C6C6C6"/>
            </a:solidFill>
            <a:prstDash val="solid"/>
          </a:ln>
          <a:effectLst/>
        </p:spPr>
      </p:cxnSp>
      <p:cxnSp>
        <p:nvCxnSpPr>
          <p:cNvPr id="32" name="直接连接符 31">
            <a:extLst>
              <a:ext uri="{FF2B5EF4-FFF2-40B4-BE49-F238E27FC236}">
                <a16:creationId xmlns:a16="http://schemas.microsoft.com/office/drawing/2014/main" id="{0FBACEB3-60A4-8D0B-F180-47B350EB61D9}"/>
              </a:ext>
            </a:extLst>
          </p:cNvPr>
          <p:cNvCxnSpPr>
            <a:cxnSpLocks/>
            <a:stCxn id="28" idx="1"/>
          </p:cNvCxnSpPr>
          <p:nvPr/>
        </p:nvCxnSpPr>
        <p:spPr>
          <a:xfrm flipH="1" flipV="1">
            <a:off x="8915182" y="5536716"/>
            <a:ext cx="788213" cy="179671"/>
          </a:xfrm>
          <a:prstGeom prst="line">
            <a:avLst/>
          </a:prstGeom>
          <a:noFill/>
          <a:ln w="9525" cap="flat" cmpd="sng" algn="ctr">
            <a:solidFill>
              <a:srgbClr val="C6C6C6"/>
            </a:solidFill>
            <a:prstDash val="solid"/>
          </a:ln>
          <a:effectLst/>
        </p:spPr>
      </p:cxnSp>
      <p:sp>
        <p:nvSpPr>
          <p:cNvPr id="33" name="文本框 32">
            <a:extLst>
              <a:ext uri="{FF2B5EF4-FFF2-40B4-BE49-F238E27FC236}">
                <a16:creationId xmlns:a16="http://schemas.microsoft.com/office/drawing/2014/main" id="{26723D0D-279C-FE98-5C21-AC27AA7D879F}"/>
              </a:ext>
            </a:extLst>
          </p:cNvPr>
          <p:cNvSpPr txBox="1"/>
          <p:nvPr/>
        </p:nvSpPr>
        <p:spPr>
          <a:xfrm>
            <a:off x="6787775" y="3522430"/>
            <a:ext cx="3331552" cy="302553"/>
          </a:xfrm>
          <a:prstGeom prst="rect">
            <a:avLst/>
          </a:prstGeom>
        </p:spPr>
        <p:txBody>
          <a:bodyPr vert="horz" wrap="square" lIns="91440" tIns="45720" rIns="91440" bIns="45720" rtlCol="0" anchor="ctr">
            <a:normAutofit lnSpcReduction="10000"/>
          </a:bodyPr>
          <a:lstStyle/>
          <a:p>
            <a:pPr algn="ctr"/>
            <a:r>
              <a:rPr lang="zh-CN" altLang="en-US" sz="1400" b="1" dirty="0">
                <a:solidFill>
                  <a:srgbClr val="000000"/>
                </a:solidFill>
                <a:latin typeface="微软雅黑" panose="020B0503020204020204" pitchFamily="34" charset="-122"/>
                <a:ea typeface="微软雅黑" panose="020B0503020204020204" pitchFamily="34" charset="-122"/>
              </a:rPr>
              <a:t>蔚来涟漪型销售模型</a:t>
            </a:r>
          </a:p>
        </p:txBody>
      </p:sp>
      <p:grpSp>
        <p:nvGrpSpPr>
          <p:cNvPr id="34" name="组合 33">
            <a:extLst>
              <a:ext uri="{FF2B5EF4-FFF2-40B4-BE49-F238E27FC236}">
                <a16:creationId xmlns:a16="http://schemas.microsoft.com/office/drawing/2014/main" id="{6EF0C4B5-2EBF-813A-0C57-CF5C142E4845}"/>
              </a:ext>
            </a:extLst>
          </p:cNvPr>
          <p:cNvGrpSpPr/>
          <p:nvPr/>
        </p:nvGrpSpPr>
        <p:grpSpPr>
          <a:xfrm>
            <a:off x="881762" y="4050020"/>
            <a:ext cx="2304069" cy="1922089"/>
            <a:chOff x="2293" y="5775"/>
            <a:chExt cx="3062" cy="2554"/>
          </a:xfrm>
        </p:grpSpPr>
        <p:sp>
          <p:nvSpPr>
            <p:cNvPr id="35" name="矩形 34">
              <a:extLst>
                <a:ext uri="{FF2B5EF4-FFF2-40B4-BE49-F238E27FC236}">
                  <a16:creationId xmlns:a16="http://schemas.microsoft.com/office/drawing/2014/main" id="{1F28FBCF-AA47-038D-1D8B-586443EAF939}"/>
                </a:ext>
              </a:extLst>
            </p:cNvPr>
            <p:cNvSpPr/>
            <p:nvPr/>
          </p:nvSpPr>
          <p:spPr>
            <a:xfrm>
              <a:off x="2293" y="5775"/>
              <a:ext cx="3062" cy="511"/>
            </a:xfrm>
            <a:prstGeom prst="rect">
              <a:avLst/>
            </a:prstGeom>
            <a:solidFill>
              <a:srgbClr val="C9DEF1"/>
            </a:solidFill>
            <a:ln>
              <a:noFill/>
            </a:ln>
          </p:spPr>
          <p:txBody>
            <a:bodyPr wrap="square" lIns="0" tIns="0" rIns="0" bIns="0" rtlCol="0" anchor="ctr"/>
            <a:lstStyle/>
            <a:p>
              <a:pPr algn="ctr"/>
              <a:r>
                <a:rPr lang="zh-CN" altLang="en-US" sz="1100" dirty="0">
                  <a:latin typeface="微软雅黑" panose="020B0503020204020204" pitchFamily="34" charset="-122"/>
                  <a:ea typeface="微软雅黑" panose="020B0503020204020204" pitchFamily="34" charset="-122"/>
                </a:rPr>
                <a:t>销售线索</a:t>
              </a:r>
            </a:p>
          </p:txBody>
        </p:sp>
        <p:sp>
          <p:nvSpPr>
            <p:cNvPr id="36" name="矩形 35">
              <a:extLst>
                <a:ext uri="{FF2B5EF4-FFF2-40B4-BE49-F238E27FC236}">
                  <a16:creationId xmlns:a16="http://schemas.microsoft.com/office/drawing/2014/main" id="{434825BE-69F6-404C-7B4A-3AE324A6A26B}"/>
                </a:ext>
              </a:extLst>
            </p:cNvPr>
            <p:cNvSpPr/>
            <p:nvPr/>
          </p:nvSpPr>
          <p:spPr>
            <a:xfrm>
              <a:off x="2559" y="6291"/>
              <a:ext cx="2530" cy="511"/>
            </a:xfrm>
            <a:prstGeom prst="rect">
              <a:avLst/>
            </a:prstGeom>
            <a:solidFill>
              <a:srgbClr val="ADD6FF"/>
            </a:solidFill>
            <a:ln>
              <a:noFill/>
            </a:ln>
          </p:spPr>
          <p:txBody>
            <a:bodyPr wrap="square" lIns="0" tIns="0" rIns="0" bIns="0" rtlCol="0" anchor="ctr"/>
            <a:lstStyle/>
            <a:p>
              <a:pPr algn="ctr"/>
              <a:r>
                <a:rPr lang="zh-CN" altLang="en-US" sz="1100" dirty="0">
                  <a:latin typeface="微软雅黑" panose="020B0503020204020204" pitchFamily="34" charset="-122"/>
                  <a:ea typeface="微软雅黑" panose="020B0503020204020204" pitchFamily="34" charset="-122"/>
                </a:rPr>
                <a:t>高意向线索</a:t>
              </a:r>
            </a:p>
          </p:txBody>
        </p:sp>
        <p:sp>
          <p:nvSpPr>
            <p:cNvPr id="37" name="矩形 36">
              <a:extLst>
                <a:ext uri="{FF2B5EF4-FFF2-40B4-BE49-F238E27FC236}">
                  <a16:creationId xmlns:a16="http://schemas.microsoft.com/office/drawing/2014/main" id="{01267089-481C-B362-F049-E569660DF71C}"/>
                </a:ext>
              </a:extLst>
            </p:cNvPr>
            <p:cNvSpPr/>
            <p:nvPr/>
          </p:nvSpPr>
          <p:spPr>
            <a:xfrm>
              <a:off x="2873" y="6798"/>
              <a:ext cx="1901" cy="511"/>
            </a:xfrm>
            <a:prstGeom prst="rect">
              <a:avLst/>
            </a:prstGeom>
            <a:solidFill>
              <a:srgbClr val="5D9CD5"/>
            </a:solidFill>
            <a:ln>
              <a:noFill/>
            </a:ln>
          </p:spPr>
          <p:txBody>
            <a:bodyPr wrap="square" lIns="0" tIns="0" rIns="0" bIns="0" rtlCol="0" anchor="ctr"/>
            <a:lstStyle/>
            <a:p>
              <a:pPr algn="ctr"/>
              <a:r>
                <a:rPr lang="zh-CN" altLang="en-US" sz="1100" dirty="0">
                  <a:solidFill>
                    <a:srgbClr val="FFFFFF"/>
                  </a:solidFill>
                  <a:latin typeface="微软雅黑" panose="020B0503020204020204" pitchFamily="34" charset="-122"/>
                  <a:ea typeface="微软雅黑" panose="020B0503020204020204" pitchFamily="34" charset="-122"/>
                </a:rPr>
                <a:t>试驾</a:t>
              </a:r>
            </a:p>
          </p:txBody>
        </p:sp>
        <p:sp>
          <p:nvSpPr>
            <p:cNvPr id="38" name="矩形 37">
              <a:extLst>
                <a:ext uri="{FF2B5EF4-FFF2-40B4-BE49-F238E27FC236}">
                  <a16:creationId xmlns:a16="http://schemas.microsoft.com/office/drawing/2014/main" id="{F1F9A999-3204-6E14-321F-E431C02CB054}"/>
                </a:ext>
              </a:extLst>
            </p:cNvPr>
            <p:cNvSpPr/>
            <p:nvPr/>
          </p:nvSpPr>
          <p:spPr>
            <a:xfrm>
              <a:off x="3110" y="7305"/>
              <a:ext cx="1428" cy="511"/>
            </a:xfrm>
            <a:prstGeom prst="rect">
              <a:avLst/>
            </a:prstGeom>
            <a:solidFill>
              <a:srgbClr val="0070C0"/>
            </a:solidFill>
            <a:ln>
              <a:noFill/>
            </a:ln>
          </p:spPr>
          <p:txBody>
            <a:bodyPr wrap="square" lIns="0" tIns="0" rIns="0" bIns="0" rtlCol="0" anchor="ctr"/>
            <a:lstStyle/>
            <a:p>
              <a:pPr algn="ctr"/>
              <a:r>
                <a:rPr lang="zh-CN" altLang="en-US" sz="1100" dirty="0">
                  <a:solidFill>
                    <a:srgbClr val="FFFFFF"/>
                  </a:solidFill>
                  <a:latin typeface="微软雅黑" panose="020B0503020204020204" pitchFamily="34" charset="-122"/>
                  <a:ea typeface="微软雅黑" panose="020B0503020204020204" pitchFamily="34" charset="-122"/>
                </a:rPr>
                <a:t>车主</a:t>
              </a:r>
            </a:p>
          </p:txBody>
        </p:sp>
        <p:sp>
          <p:nvSpPr>
            <p:cNvPr id="39" name="矩形 38">
              <a:extLst>
                <a:ext uri="{FF2B5EF4-FFF2-40B4-BE49-F238E27FC236}">
                  <a16:creationId xmlns:a16="http://schemas.microsoft.com/office/drawing/2014/main" id="{8B3171A5-9A69-19F0-BE5A-2120EAFCA023}"/>
                </a:ext>
              </a:extLst>
            </p:cNvPr>
            <p:cNvSpPr/>
            <p:nvPr/>
          </p:nvSpPr>
          <p:spPr>
            <a:xfrm>
              <a:off x="3336" y="7819"/>
              <a:ext cx="976" cy="511"/>
            </a:xfrm>
            <a:prstGeom prst="rect">
              <a:avLst/>
            </a:prstGeom>
            <a:solidFill>
              <a:srgbClr val="003366"/>
            </a:solidFill>
            <a:ln>
              <a:noFill/>
            </a:ln>
          </p:spPr>
          <p:txBody>
            <a:bodyPr wrap="square" lIns="0" tIns="0" rIns="0" bIns="0" rtlCol="0" anchor="ctr"/>
            <a:lstStyle/>
            <a:p>
              <a:pPr algn="ctr"/>
              <a:r>
                <a:rPr lang="zh-CN" altLang="en-US" sz="1100" dirty="0">
                  <a:solidFill>
                    <a:srgbClr val="FFFFFF"/>
                  </a:solidFill>
                  <a:latin typeface="微软雅黑" panose="020B0503020204020204" pitchFamily="34" charset="-122"/>
                  <a:ea typeface="微软雅黑" panose="020B0503020204020204" pitchFamily="34" charset="-122"/>
                </a:rPr>
                <a:t>忠诚用户</a:t>
              </a:r>
            </a:p>
          </p:txBody>
        </p:sp>
      </p:grpSp>
      <p:sp>
        <p:nvSpPr>
          <p:cNvPr id="40" name="文本框 39">
            <a:extLst>
              <a:ext uri="{FF2B5EF4-FFF2-40B4-BE49-F238E27FC236}">
                <a16:creationId xmlns:a16="http://schemas.microsoft.com/office/drawing/2014/main" id="{7D2CEFAB-FF2A-BEA0-D514-C2102345FA76}"/>
              </a:ext>
            </a:extLst>
          </p:cNvPr>
          <p:cNvSpPr txBox="1"/>
          <p:nvPr/>
        </p:nvSpPr>
        <p:spPr>
          <a:xfrm>
            <a:off x="387406" y="3673706"/>
            <a:ext cx="3370534" cy="303371"/>
          </a:xfrm>
          <a:prstGeom prst="rect">
            <a:avLst/>
          </a:prstGeom>
        </p:spPr>
        <p:txBody>
          <a:bodyPr vert="horz" wrap="square" lIns="91440" tIns="45720" rIns="91440" bIns="45720" rtlCol="0" anchor="ctr">
            <a:normAutofit lnSpcReduction="10000"/>
          </a:bodyPr>
          <a:lstStyle/>
          <a:p>
            <a:pPr algn="ctr"/>
            <a:r>
              <a:rPr lang="zh-CN" altLang="en-US" sz="1400" b="1" dirty="0">
                <a:solidFill>
                  <a:srgbClr val="000000"/>
                </a:solidFill>
                <a:latin typeface="微软雅黑" panose="020B0503020204020204" pitchFamily="34" charset="-122"/>
                <a:ea typeface="微软雅黑" panose="020B0503020204020204" pitchFamily="34" charset="-122"/>
              </a:rPr>
              <a:t>传统车企漏斗销售模型</a:t>
            </a:r>
          </a:p>
        </p:txBody>
      </p:sp>
      <p:sp>
        <p:nvSpPr>
          <p:cNvPr id="41" name="矩形 40">
            <a:extLst>
              <a:ext uri="{FF2B5EF4-FFF2-40B4-BE49-F238E27FC236}">
                <a16:creationId xmlns:a16="http://schemas.microsoft.com/office/drawing/2014/main" id="{7D414059-683A-200F-329B-354C524324A8}"/>
              </a:ext>
            </a:extLst>
          </p:cNvPr>
          <p:cNvSpPr/>
          <p:nvPr/>
        </p:nvSpPr>
        <p:spPr>
          <a:xfrm>
            <a:off x="300106" y="3421022"/>
            <a:ext cx="3575667" cy="2852778"/>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2" name="矩形 41">
            <a:extLst>
              <a:ext uri="{FF2B5EF4-FFF2-40B4-BE49-F238E27FC236}">
                <a16:creationId xmlns:a16="http://schemas.microsoft.com/office/drawing/2014/main" id="{4061B66B-C778-A61D-A6D4-C8F34C90712D}"/>
              </a:ext>
            </a:extLst>
          </p:cNvPr>
          <p:cNvSpPr/>
          <p:nvPr/>
        </p:nvSpPr>
        <p:spPr>
          <a:xfrm>
            <a:off x="5422542" y="3429000"/>
            <a:ext cx="6505933" cy="2852778"/>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3" name="箭头: 右 6">
            <a:extLst>
              <a:ext uri="{FF2B5EF4-FFF2-40B4-BE49-F238E27FC236}">
                <a16:creationId xmlns:a16="http://schemas.microsoft.com/office/drawing/2014/main" id="{75C969C7-66AB-4B56-AEBF-9F494718DA86}"/>
              </a:ext>
            </a:extLst>
          </p:cNvPr>
          <p:cNvSpPr/>
          <p:nvPr/>
        </p:nvSpPr>
        <p:spPr>
          <a:xfrm>
            <a:off x="4411701" y="4667720"/>
            <a:ext cx="538009" cy="383498"/>
          </a:xfrm>
          <a:prstGeom prst="rightArrow">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50000"/>
              </a:lnSpc>
            </a:pPr>
            <a:endParaRPr lang="zh-CN" altLang="en-US" sz="1400" dirty="0">
              <a:latin typeface="微软雅黑" panose="020B0503020204020204" pitchFamily="34" charset="-122"/>
              <a:ea typeface="微软雅黑" panose="020B0503020204020204" pitchFamily="34" charset="-122"/>
            </a:endParaRPr>
          </a:p>
        </p:txBody>
      </p:sp>
      <p:sp>
        <p:nvSpPr>
          <p:cNvPr id="44" name="文本占位符 2">
            <a:extLst>
              <a:ext uri="{FF2B5EF4-FFF2-40B4-BE49-F238E27FC236}">
                <a16:creationId xmlns:a16="http://schemas.microsoft.com/office/drawing/2014/main" id="{82F97654-024F-FCBF-54E7-FDAADBCD9615}"/>
              </a:ext>
            </a:extLst>
          </p:cNvPr>
          <p:cNvSpPr txBox="1">
            <a:spLocks/>
          </p:cNvSpPr>
          <p:nvPr/>
        </p:nvSpPr>
        <p:spPr>
          <a:xfrm>
            <a:off x="302944" y="339516"/>
            <a:ext cx="11547559" cy="499789"/>
          </a:xfrm>
          <a:prstGeom prst="rect">
            <a:avLst/>
          </a:prstGeom>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2400" b="0" i="0" kern="1200" baseline="0">
                <a:solidFill>
                  <a:schemeClr val="tx1"/>
                </a:solidFill>
                <a:latin typeface="DIN Pro Regular" panose="02000503040000020003" pitchFamily="50" charset="0"/>
                <a:ea typeface="Alibaba PuHuiTi 2.0 55 Regular" pitchFamily="18" charset="-122"/>
                <a:cs typeface="Alibaba PuHuiTi 2.0 55 Regular" pitchFamily="18" charset="-122"/>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latin typeface="微软雅黑" panose="020B0503020204020204" pitchFamily="34" charset="-122"/>
                <a:ea typeface="微软雅黑" panose="020B0503020204020204" pitchFamily="34" charset="-122"/>
              </a:rPr>
              <a:t>客户全生命周期运营</a:t>
            </a:r>
            <a:r>
              <a:rPr kumimoji="1" lang="en-US" altLang="zh-CN" sz="2400" dirty="0">
                <a:latin typeface="微软雅黑" panose="020B0503020204020204" pitchFamily="34" charset="-122"/>
                <a:ea typeface="微软雅黑" panose="020B0503020204020204" pitchFamily="34" charset="-122"/>
              </a:rPr>
              <a:t>-</a:t>
            </a:r>
            <a:r>
              <a:rPr kumimoji="1" lang="zh-CN" altLang="en-US" sz="2400" dirty="0">
                <a:latin typeface="微软雅黑" panose="020B0503020204020204" pitchFamily="34" charset="-122"/>
                <a:ea typeface="微软雅黑" panose="020B0503020204020204" pitchFamily="34" charset="-122"/>
              </a:rPr>
              <a:t>用户共创（</a:t>
            </a:r>
            <a:r>
              <a:rPr kumimoji="1" lang="en-US" altLang="zh-CN" sz="2400" dirty="0">
                <a:latin typeface="微软雅黑" panose="020B0503020204020204" pitchFamily="34" charset="-122"/>
                <a:ea typeface="微软雅黑" panose="020B0503020204020204" pitchFamily="34" charset="-122"/>
              </a:rPr>
              <a:t>1/2</a:t>
            </a:r>
            <a:r>
              <a:rPr kumimoji="1" lang="zh-CN" altLang="en-US" sz="24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7896472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E2840C4B-893C-B37A-30C2-5A3596C87739}"/>
              </a:ext>
            </a:extLst>
          </p:cNvPr>
          <p:cNvSpPr>
            <a:spLocks noGrp="1"/>
          </p:cNvSpPr>
          <p:nvPr>
            <p:ph type="body" sz="quarter" idx="22"/>
          </p:nvPr>
        </p:nvSpPr>
        <p:spPr/>
        <p:txBody>
          <a:bodyPr/>
          <a:lstStyle/>
          <a:p>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形成良好的粉丝经济和品牌口碑</a:t>
            </a:r>
          </a:p>
          <a:p>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F2FC228-3CC5-E5DE-03B9-F88310763B68}"/>
              </a:ext>
            </a:extLst>
          </p:cNvPr>
          <p:cNvSpPr/>
          <p:nvPr>
            <p:custDataLst>
              <p:tags r:id="rId1"/>
            </p:custDataLst>
          </p:nvPr>
        </p:nvSpPr>
        <p:spPr>
          <a:xfrm>
            <a:off x="311065" y="1732547"/>
            <a:ext cx="11617410" cy="4541252"/>
          </a:xfrm>
          <a:prstGeom prst="rect">
            <a:avLst/>
          </a:prstGeom>
          <a:noFill/>
          <a:ln>
            <a:solidFill>
              <a:schemeClr val="accent1"/>
            </a:solidFill>
          </a:ln>
          <a:effectLst/>
        </p:spPr>
        <p:style>
          <a:lnRef idx="2">
            <a:srgbClr val="DDDDDD">
              <a:shade val="50000"/>
            </a:srgbClr>
          </a:lnRef>
          <a:fillRef idx="1">
            <a:srgbClr val="DDDDDD"/>
          </a:fillRef>
          <a:effectRef idx="0">
            <a:srgbClr val="DDDDDD"/>
          </a:effectRef>
          <a:fontRef idx="minor">
            <a:sysClr val="window" lastClr="FFFFFF"/>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7" name="组合 6">
            <a:extLst>
              <a:ext uri="{FF2B5EF4-FFF2-40B4-BE49-F238E27FC236}">
                <a16:creationId xmlns:a16="http://schemas.microsoft.com/office/drawing/2014/main" id="{63F50104-4ED8-F4D8-AF0E-2C4797597175}"/>
              </a:ext>
            </a:extLst>
          </p:cNvPr>
          <p:cNvGrpSpPr/>
          <p:nvPr/>
        </p:nvGrpSpPr>
        <p:grpSpPr>
          <a:xfrm>
            <a:off x="846690" y="2312238"/>
            <a:ext cx="10460066" cy="3819222"/>
            <a:chOff x="62839" y="1831618"/>
            <a:chExt cx="11918796" cy="4133008"/>
          </a:xfrm>
        </p:grpSpPr>
        <p:sp>
          <p:nvSpPr>
            <p:cNvPr id="8" name="文本框 64">
              <a:extLst>
                <a:ext uri="{FF2B5EF4-FFF2-40B4-BE49-F238E27FC236}">
                  <a16:creationId xmlns:a16="http://schemas.microsoft.com/office/drawing/2014/main" id="{71F7B527-D862-AF81-3025-7664C0E64E3E}"/>
                </a:ext>
              </a:extLst>
            </p:cNvPr>
            <p:cNvSpPr txBox="1"/>
            <p:nvPr>
              <p:custDataLst>
                <p:tags r:id="rId2"/>
              </p:custDataLst>
            </p:nvPr>
          </p:nvSpPr>
          <p:spPr>
            <a:xfrm>
              <a:off x="64252" y="1831618"/>
              <a:ext cx="3623808" cy="1313588"/>
            </a:xfrm>
            <a:prstGeom prst="rect">
              <a:avLst/>
            </a:prstGeom>
            <a:noFill/>
          </p:spPr>
          <p:txBody>
            <a:bodyPr wrap="square">
              <a:spAutoFit/>
            </a:bodyPr>
            <a:lstStyle/>
            <a:p>
              <a:pPr eaLnBrk="0" fontAlgn="base" hangingPunct="0">
                <a:lnSpc>
                  <a:spcPct val="150000"/>
                </a:lnSpc>
                <a:spcBef>
                  <a:spcPct val="0"/>
                </a:spcBef>
                <a:spcAft>
                  <a:spcPct val="0"/>
                </a:spcAft>
                <a:defRPr/>
              </a:pPr>
              <a:r>
                <a:rPr lang="zh-CN" altLang="en-US" sz="1400" b="1" dirty="0">
                  <a:latin typeface="微软雅黑" panose="020B0503020204020204" pitchFamily="34" charset="-122"/>
                  <a:ea typeface="微软雅黑" panose="020B0503020204020204" pitchFamily="34" charset="-122"/>
                  <a:cs typeface="+mn-ea"/>
                </a:rPr>
                <a:t>品牌引领 车主共创</a:t>
              </a:r>
              <a:endParaRPr lang="en-US" altLang="zh-CN" sz="1400" b="1" dirty="0">
                <a:latin typeface="微软雅黑" panose="020B0503020204020204" pitchFamily="34" charset="-122"/>
                <a:ea typeface="微软雅黑" panose="020B0503020204020204" pitchFamily="34" charset="-122"/>
                <a:cs typeface="+mn-ea"/>
              </a:endParaRPr>
            </a:p>
            <a:p>
              <a:pPr eaLnBrk="0" fontAlgn="base" hangingPunct="0">
                <a:lnSpc>
                  <a:spcPct val="150000"/>
                </a:lnSpc>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mn-ea"/>
                </a:rPr>
                <a:t>蔚来粉丝效应，让蔚来车主愿意自发投入到品牌建设中。车主将品牌作为与自己共成长的载体去经营与维护，品牌与车主共创。</a:t>
              </a:r>
              <a:endParaRPr lang="en-US" altLang="zh-CN" sz="1200" dirty="0">
                <a:latin typeface="微软雅黑" panose="020B0503020204020204" pitchFamily="34" charset="-122"/>
                <a:ea typeface="微软雅黑" panose="020B0503020204020204" pitchFamily="34" charset="-122"/>
                <a:cs typeface="+mn-ea"/>
              </a:endParaRPr>
            </a:p>
          </p:txBody>
        </p:sp>
        <p:sp>
          <p:nvSpPr>
            <p:cNvPr id="9" name="文本框 68">
              <a:extLst>
                <a:ext uri="{FF2B5EF4-FFF2-40B4-BE49-F238E27FC236}">
                  <a16:creationId xmlns:a16="http://schemas.microsoft.com/office/drawing/2014/main" id="{3AC37DCD-939C-2AD1-A5A9-229ACC55E614}"/>
                </a:ext>
              </a:extLst>
            </p:cNvPr>
            <p:cNvSpPr txBox="1"/>
            <p:nvPr>
              <p:custDataLst>
                <p:tags r:id="rId3"/>
              </p:custDataLst>
            </p:nvPr>
          </p:nvSpPr>
          <p:spPr>
            <a:xfrm>
              <a:off x="8266573" y="1831627"/>
              <a:ext cx="3715062" cy="1613345"/>
            </a:xfrm>
            <a:prstGeom prst="rect">
              <a:avLst/>
            </a:prstGeom>
            <a:noFill/>
          </p:spPr>
          <p:txBody>
            <a:bodyPr wrap="square">
              <a:spAutoFit/>
            </a:bodyPr>
            <a:lstStyle/>
            <a:p>
              <a:pPr lvl="0" eaLnBrk="0" fontAlgn="base" hangingPunct="0">
                <a:lnSpc>
                  <a:spcPct val="150000"/>
                </a:lnSpc>
                <a:spcBef>
                  <a:spcPct val="0"/>
                </a:spcBef>
                <a:spcAft>
                  <a:spcPct val="0"/>
                </a:spcAft>
                <a:defRPr/>
              </a:pPr>
              <a:r>
                <a:rPr lang="zh-CN" altLang="en-US" sz="1400" b="1" dirty="0">
                  <a:latin typeface="微软雅黑" panose="020B0503020204020204" pitchFamily="34" charset="-122"/>
                  <a:ea typeface="微软雅黑" panose="020B0503020204020204" pitchFamily="34" charset="-122"/>
                  <a:cs typeface="+mn-ea"/>
                </a:rPr>
                <a:t>是车主，也是</a:t>
              </a:r>
              <a:r>
                <a:rPr lang="en-US" altLang="zh-CN" sz="1400" b="1" dirty="0">
                  <a:latin typeface="微软雅黑" panose="020B0503020204020204" pitchFamily="34" charset="-122"/>
                  <a:ea typeface="微软雅黑" panose="020B0503020204020204" pitchFamily="34" charset="-122"/>
                  <a:cs typeface="+mn-ea"/>
                </a:rPr>
                <a:t>KOC</a:t>
              </a:r>
            </a:p>
            <a:p>
              <a:pPr lvl="0" eaLnBrk="0" fontAlgn="base" hangingPunct="0">
                <a:lnSpc>
                  <a:spcPct val="150000"/>
                </a:lnSpc>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mn-ea"/>
                </a:rPr>
                <a:t>蔚来用户偏高端且年轻化，参与规划年会活动的车主有乐队主创、电视节目的导演，以及摄影爱好者跟运动迷等，他们是车主也是</a:t>
              </a:r>
              <a:r>
                <a:rPr lang="en-US" altLang="zh-CN" sz="1200" dirty="0">
                  <a:latin typeface="微软雅黑" panose="020B0503020204020204" pitchFamily="34" charset="-122"/>
                  <a:ea typeface="微软雅黑" panose="020B0503020204020204" pitchFamily="34" charset="-122"/>
                  <a:cs typeface="+mn-ea"/>
                </a:rPr>
                <a:t>KOC</a:t>
              </a:r>
              <a:r>
                <a:rPr lang="zh-CN" altLang="en-US" sz="1200" dirty="0">
                  <a:latin typeface="微软雅黑" panose="020B0503020204020204" pitchFamily="34" charset="-122"/>
                  <a:ea typeface="微软雅黑" panose="020B0503020204020204" pitchFamily="34" charset="-122"/>
                  <a:cs typeface="+mn-ea"/>
                </a:rPr>
                <a:t>，能够更有效地帮助品牌活动声量传播。</a:t>
              </a:r>
            </a:p>
          </p:txBody>
        </p:sp>
        <p:sp>
          <p:nvSpPr>
            <p:cNvPr id="10" name="文本框 69">
              <a:extLst>
                <a:ext uri="{FF2B5EF4-FFF2-40B4-BE49-F238E27FC236}">
                  <a16:creationId xmlns:a16="http://schemas.microsoft.com/office/drawing/2014/main" id="{B83D61AE-F1D6-6938-B81A-238F90A580B1}"/>
                </a:ext>
              </a:extLst>
            </p:cNvPr>
            <p:cNvSpPr txBox="1"/>
            <p:nvPr>
              <p:custDataLst>
                <p:tags r:id="rId4"/>
              </p:custDataLst>
            </p:nvPr>
          </p:nvSpPr>
          <p:spPr>
            <a:xfrm>
              <a:off x="4257640" y="1831627"/>
              <a:ext cx="3513715" cy="1613345"/>
            </a:xfrm>
            <a:prstGeom prst="rect">
              <a:avLst/>
            </a:prstGeom>
            <a:noFill/>
          </p:spPr>
          <p:txBody>
            <a:bodyPr wrap="square">
              <a:spAutoFit/>
            </a:bodyPr>
            <a:lstStyle/>
            <a:p>
              <a:pPr eaLnBrk="0" fontAlgn="base" hangingPunct="0">
                <a:lnSpc>
                  <a:spcPct val="150000"/>
                </a:lnSpc>
                <a:spcBef>
                  <a:spcPct val="0"/>
                </a:spcBef>
                <a:spcAft>
                  <a:spcPct val="0"/>
                </a:spcAft>
                <a:defRPr/>
              </a:pPr>
              <a:r>
                <a:rPr lang="zh-CN" altLang="en-US" sz="1400" b="1" dirty="0">
                  <a:latin typeface="微软雅黑" panose="020B0503020204020204" pitchFamily="34" charset="-122"/>
                  <a:ea typeface="微软雅黑" panose="020B0503020204020204" pitchFamily="34" charset="-122"/>
                  <a:cs typeface="+mn-ea"/>
                </a:rPr>
                <a:t>是车主，也是工作人员</a:t>
              </a:r>
              <a:endParaRPr lang="en-US" altLang="zh-CN" sz="1400" b="1" dirty="0">
                <a:latin typeface="微软雅黑" panose="020B0503020204020204" pitchFamily="34" charset="-122"/>
                <a:ea typeface="微软雅黑" panose="020B0503020204020204" pitchFamily="34" charset="-122"/>
                <a:cs typeface="+mn-ea"/>
              </a:endParaRPr>
            </a:p>
            <a:p>
              <a:pPr eaLnBrk="0" fontAlgn="base" hangingPunct="0">
                <a:lnSpc>
                  <a:spcPct val="150000"/>
                </a:lnSpc>
                <a:spcBef>
                  <a:spcPct val="0"/>
                </a:spcBef>
                <a:spcAft>
                  <a:spcPct val="0"/>
                </a:spcAft>
                <a:defRPr/>
              </a:pPr>
              <a:r>
                <a:rPr lang="zh-CN" altLang="en-US" sz="1200" dirty="0">
                  <a:latin typeface="微软雅黑" panose="020B0503020204020204" pitchFamily="34" charset="-122"/>
                  <a:ea typeface="微软雅黑" panose="020B0503020204020204" pitchFamily="34" charset="-122"/>
                  <a:cs typeface="+mn-ea"/>
                </a:rPr>
                <a:t>蔚来通过用户社区票选年会举办城市，在</a:t>
              </a:r>
              <a:r>
                <a:rPr lang="en-US" altLang="zh-CN" sz="1200" dirty="0">
                  <a:latin typeface="微软雅黑" panose="020B0503020204020204" pitchFamily="34" charset="-122"/>
                  <a:ea typeface="微软雅黑" panose="020B0503020204020204" pitchFamily="34" charset="-122"/>
                  <a:cs typeface="+mn-ea"/>
                </a:rPr>
                <a:t>300</a:t>
              </a:r>
              <a:r>
                <a:rPr lang="zh-CN" altLang="en-US" sz="1200" dirty="0">
                  <a:latin typeface="微软雅黑" panose="020B0503020204020204" pitchFamily="34" charset="-122"/>
                  <a:ea typeface="微软雅黑" panose="020B0503020204020204" pitchFamily="34" charset="-122"/>
                  <a:cs typeface="+mn-ea"/>
                </a:rPr>
                <a:t>多名报名者中选举出</a:t>
              </a:r>
              <a:r>
                <a:rPr lang="en-US" altLang="zh-CN" sz="1200" dirty="0">
                  <a:latin typeface="微软雅黑" panose="020B0503020204020204" pitchFamily="34" charset="-122"/>
                  <a:ea typeface="微软雅黑" panose="020B0503020204020204" pitchFamily="34" charset="-122"/>
                  <a:cs typeface="+mn-ea"/>
                </a:rPr>
                <a:t>5</a:t>
              </a:r>
              <a:r>
                <a:rPr lang="zh-CN" altLang="en-US" sz="1200" dirty="0">
                  <a:latin typeface="微软雅黑" panose="020B0503020204020204" pitchFamily="34" charset="-122"/>
                  <a:ea typeface="微软雅黑" panose="020B0503020204020204" pitchFamily="34" charset="-122"/>
                  <a:cs typeface="+mn-ea"/>
                </a:rPr>
                <a:t>位用户顾问，参与年会的规划和执行，组织</a:t>
              </a:r>
              <a:r>
                <a:rPr lang="en-US" altLang="zh-CN" sz="1200" dirty="0">
                  <a:latin typeface="微软雅黑" panose="020B0503020204020204" pitchFamily="34" charset="-122"/>
                  <a:ea typeface="微软雅黑" panose="020B0503020204020204" pitchFamily="34" charset="-122"/>
                  <a:cs typeface="+mn-ea"/>
                </a:rPr>
                <a:t>166</a:t>
              </a:r>
              <a:r>
                <a:rPr lang="zh-CN" altLang="en-US" sz="1200" dirty="0">
                  <a:latin typeface="微软雅黑" panose="020B0503020204020204" pitchFamily="34" charset="-122"/>
                  <a:ea typeface="微软雅黑" panose="020B0503020204020204" pitchFamily="34" charset="-122"/>
                  <a:cs typeface="+mn-ea"/>
                </a:rPr>
                <a:t>人的车主志愿者团队，与品牌共同完成一场年会。</a:t>
              </a:r>
            </a:p>
          </p:txBody>
        </p:sp>
        <p:sp>
          <p:nvSpPr>
            <p:cNvPr id="11" name="箭头: 虚尾 70">
              <a:extLst>
                <a:ext uri="{FF2B5EF4-FFF2-40B4-BE49-F238E27FC236}">
                  <a16:creationId xmlns:a16="http://schemas.microsoft.com/office/drawing/2014/main" id="{181BEEC9-BC6F-EE1F-F445-949DC9DA399C}"/>
                </a:ext>
              </a:extLst>
            </p:cNvPr>
            <p:cNvSpPr/>
            <p:nvPr>
              <p:custDataLst>
                <p:tags r:id="rId5"/>
              </p:custDataLst>
            </p:nvPr>
          </p:nvSpPr>
          <p:spPr>
            <a:xfrm>
              <a:off x="3734777" y="2548284"/>
              <a:ext cx="478811" cy="441322"/>
            </a:xfrm>
            <a:prstGeom prst="stripedRightArrow">
              <a:avLst>
                <a:gd name="adj1" fmla="val 50000"/>
                <a:gd name="adj2" fmla="val 59805"/>
              </a:avLst>
            </a:prstGeom>
            <a:solidFill>
              <a:srgbClr val="7F7F7F"/>
            </a:solidFill>
            <a:ln w="12700" cap="flat" cmpd="sng" algn="ctr">
              <a:noFill/>
              <a:prstDash val="solid"/>
              <a:miter lim="800000"/>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endParaRPr>
            </a:p>
          </p:txBody>
        </p:sp>
        <p:sp>
          <p:nvSpPr>
            <p:cNvPr id="12" name="箭头: 虚尾 71">
              <a:extLst>
                <a:ext uri="{FF2B5EF4-FFF2-40B4-BE49-F238E27FC236}">
                  <a16:creationId xmlns:a16="http://schemas.microsoft.com/office/drawing/2014/main" id="{243F11A0-4BCA-CA06-5761-3FC634422963}"/>
                </a:ext>
              </a:extLst>
            </p:cNvPr>
            <p:cNvSpPr/>
            <p:nvPr>
              <p:custDataLst>
                <p:tags r:id="rId6"/>
              </p:custDataLst>
            </p:nvPr>
          </p:nvSpPr>
          <p:spPr>
            <a:xfrm rot="10800000" flipH="1">
              <a:off x="7764574" y="2548284"/>
              <a:ext cx="498293" cy="441322"/>
            </a:xfrm>
            <a:prstGeom prst="stripedRightArrow">
              <a:avLst>
                <a:gd name="adj1" fmla="val 50000"/>
                <a:gd name="adj2" fmla="val 59805"/>
              </a:avLst>
            </a:prstGeom>
            <a:solidFill>
              <a:srgbClr val="7F7F7F"/>
            </a:solidFill>
            <a:ln w="12700" cap="flat" cmpd="sng" algn="ctr">
              <a:noFill/>
              <a:prstDash val="solid"/>
              <a:miter lim="800000"/>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endParaRPr>
            </a:p>
          </p:txBody>
        </p:sp>
        <p:pic>
          <p:nvPicPr>
            <p:cNvPr id="13" name="Picture 2">
              <a:extLst>
                <a:ext uri="{FF2B5EF4-FFF2-40B4-BE49-F238E27FC236}">
                  <a16:creationId xmlns:a16="http://schemas.microsoft.com/office/drawing/2014/main" id="{3F35747D-83EF-8FDB-F06C-8192E31AFAA2}"/>
                </a:ext>
              </a:extLst>
            </p:cNvPr>
            <p:cNvPicPr>
              <a:picLocks noChangeAspect="1" noChangeArrowheads="1"/>
            </p:cNvPicPr>
            <p:nvPr>
              <p:custDataLst>
                <p:tags r:id="rId7"/>
              </p:custDataLst>
            </p:nvPr>
          </p:nvPicPr>
          <p:blipFill rotWithShape="1">
            <a:blip r:embed="rId14" cstate="email"/>
            <a:srcRect/>
            <a:stretch>
              <a:fillRect/>
            </a:stretch>
          </p:blipFill>
          <p:spPr bwMode="auto">
            <a:xfrm>
              <a:off x="62839" y="3413404"/>
              <a:ext cx="3597072" cy="2109902"/>
            </a:xfrm>
            <a:prstGeom prst="rect">
              <a:avLst/>
            </a:prstGeom>
            <a:noFill/>
            <a:ln>
              <a:noFill/>
            </a:ln>
            <a:effectLst/>
            <a:extLst>
              <a:ext uri="{909E8E84-426E-40DD-AFC4-6F175D3DCCD1}">
                <a14:hiddenFill xmlns:a14="http://schemas.microsoft.com/office/drawing/2010/main">
                  <a:solidFill>
                    <a:srgbClr val="00A0E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FFFFFF"/>
                    </a:outerShdw>
                  </a:effectLst>
                </a14:hiddenEffects>
              </a:ext>
            </a:extLst>
          </p:spPr>
        </p:pic>
        <p:pic>
          <p:nvPicPr>
            <p:cNvPr id="14" name="Picture 3">
              <a:extLst>
                <a:ext uri="{FF2B5EF4-FFF2-40B4-BE49-F238E27FC236}">
                  <a16:creationId xmlns:a16="http://schemas.microsoft.com/office/drawing/2014/main" id="{E50B6FFC-58AC-47DF-C9AA-C9FE27416D34}"/>
                </a:ext>
              </a:extLst>
            </p:cNvPr>
            <p:cNvPicPr>
              <a:picLocks noChangeAspect="1" noChangeArrowheads="1"/>
            </p:cNvPicPr>
            <p:nvPr>
              <p:custDataLst>
                <p:tags r:id="rId8"/>
              </p:custDataLst>
            </p:nvPr>
          </p:nvPicPr>
          <p:blipFill rotWithShape="1">
            <a:blip r:embed="rId15" cstate="email"/>
            <a:srcRect/>
            <a:stretch>
              <a:fillRect/>
            </a:stretch>
          </p:blipFill>
          <p:spPr bwMode="auto">
            <a:xfrm>
              <a:off x="4294873" y="3429363"/>
              <a:ext cx="3469701" cy="2077982"/>
            </a:xfrm>
            <a:prstGeom prst="rect">
              <a:avLst/>
            </a:prstGeom>
            <a:noFill/>
            <a:ln>
              <a:noFill/>
            </a:ln>
            <a:effectLst/>
            <a:extLst>
              <a:ext uri="{909E8E84-426E-40DD-AFC4-6F175D3DCCD1}">
                <a14:hiddenFill xmlns:a14="http://schemas.microsoft.com/office/drawing/2010/main">
                  <a:solidFill>
                    <a:srgbClr val="00A0E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FFFFFF"/>
                    </a:outerShdw>
                  </a:effectLst>
                </a14:hiddenEffects>
              </a:ext>
            </a:extLst>
          </p:spPr>
        </p:pic>
        <p:pic>
          <p:nvPicPr>
            <p:cNvPr id="15" name="Picture 4">
              <a:extLst>
                <a:ext uri="{FF2B5EF4-FFF2-40B4-BE49-F238E27FC236}">
                  <a16:creationId xmlns:a16="http://schemas.microsoft.com/office/drawing/2014/main" id="{3F930B56-06CB-46CE-158C-66F805DE54C0}"/>
                </a:ext>
              </a:extLst>
            </p:cNvPr>
            <p:cNvPicPr>
              <a:picLocks noChangeAspect="1" noChangeArrowheads="1"/>
            </p:cNvPicPr>
            <p:nvPr>
              <p:custDataLst>
                <p:tags r:id="rId9"/>
              </p:custDataLst>
            </p:nvPr>
          </p:nvPicPr>
          <p:blipFill rotWithShape="1">
            <a:blip r:embed="rId16" cstate="email"/>
            <a:srcRect/>
            <a:stretch>
              <a:fillRect/>
            </a:stretch>
          </p:blipFill>
          <p:spPr bwMode="auto">
            <a:xfrm>
              <a:off x="8266573" y="3429363"/>
              <a:ext cx="3530579" cy="2077982"/>
            </a:xfrm>
            <a:prstGeom prst="rect">
              <a:avLst/>
            </a:prstGeom>
            <a:noFill/>
            <a:ln>
              <a:noFill/>
            </a:ln>
            <a:effectLst/>
            <a:extLst>
              <a:ext uri="{909E8E84-426E-40DD-AFC4-6F175D3DCCD1}">
                <a14:hiddenFill xmlns:a14="http://schemas.microsoft.com/office/drawing/2010/main">
                  <a:solidFill>
                    <a:srgbClr val="00A0E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FFFFFF"/>
                    </a:outerShdw>
                  </a:effectLst>
                </a14:hiddenEffects>
              </a:ext>
            </a:extLst>
          </p:spPr>
        </p:pic>
        <p:sp>
          <p:nvSpPr>
            <p:cNvPr id="16" name="文本框 35">
              <a:extLst>
                <a:ext uri="{FF2B5EF4-FFF2-40B4-BE49-F238E27FC236}">
                  <a16:creationId xmlns:a16="http://schemas.microsoft.com/office/drawing/2014/main" id="{B0CEF1A3-2B1D-85B0-BCB4-A95613129586}"/>
                </a:ext>
              </a:extLst>
            </p:cNvPr>
            <p:cNvSpPr txBox="1"/>
            <p:nvPr>
              <p:custDataLst>
                <p:tags r:id="rId10"/>
              </p:custDataLst>
            </p:nvPr>
          </p:nvSpPr>
          <p:spPr>
            <a:xfrm>
              <a:off x="212575" y="5631562"/>
              <a:ext cx="3447335" cy="333064"/>
            </a:xfrm>
            <a:prstGeom prst="rect">
              <a:avLst/>
            </a:prstGeom>
            <a:solidFill>
              <a:srgbClr val="FFFFFF"/>
            </a:solid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400" b="1" dirty="0">
                  <a:solidFill>
                    <a:schemeClr val="tx1"/>
                  </a:solidFill>
                  <a:latin typeface="微软雅黑" panose="020B0503020204020204" pitchFamily="34" charset="-122"/>
                  <a:ea typeface="微软雅黑" panose="020B0503020204020204" pitchFamily="34" charset="-122"/>
                </a:rPr>
                <a:t>品牌与车主共同策划</a:t>
              </a:r>
              <a:endPar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endParaRPr>
            </a:p>
          </p:txBody>
        </p:sp>
        <p:sp>
          <p:nvSpPr>
            <p:cNvPr id="17" name="文本框 36">
              <a:extLst>
                <a:ext uri="{FF2B5EF4-FFF2-40B4-BE49-F238E27FC236}">
                  <a16:creationId xmlns:a16="http://schemas.microsoft.com/office/drawing/2014/main" id="{72AA7C3B-4092-30B0-540D-A5B6CB6B35ED}"/>
                </a:ext>
              </a:extLst>
            </p:cNvPr>
            <p:cNvSpPr txBox="1"/>
            <p:nvPr>
              <p:custDataLst>
                <p:tags r:id="rId11"/>
              </p:custDataLst>
            </p:nvPr>
          </p:nvSpPr>
          <p:spPr>
            <a:xfrm>
              <a:off x="8559757" y="5631557"/>
              <a:ext cx="3146597" cy="333064"/>
            </a:xfrm>
            <a:prstGeom prst="rect">
              <a:avLst/>
            </a:prstGeom>
            <a:solidFill>
              <a:schemeClr val="bg1"/>
            </a:solid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400" b="1" noProof="0" dirty="0">
                  <a:solidFill>
                    <a:schemeClr val="tx1"/>
                  </a:solidFill>
                  <a:latin typeface="微软雅黑" panose="020B0503020204020204" pitchFamily="34" charset="-122"/>
                  <a:ea typeface="微软雅黑" panose="020B0503020204020204" pitchFamily="34" charset="-122"/>
                </a:rPr>
                <a:t>车主达人</a:t>
              </a:r>
              <a:r>
                <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传播</a:t>
              </a:r>
            </a:p>
          </p:txBody>
        </p:sp>
        <p:sp>
          <p:nvSpPr>
            <p:cNvPr id="18" name="文本框 35">
              <a:extLst>
                <a:ext uri="{FF2B5EF4-FFF2-40B4-BE49-F238E27FC236}">
                  <a16:creationId xmlns:a16="http://schemas.microsoft.com/office/drawing/2014/main" id="{D8EB7AC9-7A8E-4478-5454-CC7792ADC311}"/>
                </a:ext>
              </a:extLst>
            </p:cNvPr>
            <p:cNvSpPr txBox="1"/>
            <p:nvPr>
              <p:custDataLst>
                <p:tags r:id="rId12"/>
              </p:custDataLst>
            </p:nvPr>
          </p:nvSpPr>
          <p:spPr>
            <a:xfrm>
              <a:off x="4448310" y="5631560"/>
              <a:ext cx="3323046" cy="333064"/>
            </a:xfrm>
            <a:prstGeom prst="rect">
              <a:avLst/>
            </a:prstGeom>
            <a:solidFill>
              <a:schemeClr val="bg1"/>
            </a:solid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400" b="1" dirty="0">
                  <a:solidFill>
                    <a:schemeClr val="tx1"/>
                  </a:solidFill>
                  <a:latin typeface="微软雅黑" panose="020B0503020204020204" pitchFamily="34" charset="-122"/>
                  <a:ea typeface="微软雅黑" panose="020B0503020204020204" pitchFamily="34" charset="-122"/>
                </a:rPr>
                <a:t>车友会车主参与年会</a:t>
              </a:r>
              <a:endPar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grpSp>
      <p:sp>
        <p:nvSpPr>
          <p:cNvPr id="19" name="矩形 18">
            <a:extLst>
              <a:ext uri="{FF2B5EF4-FFF2-40B4-BE49-F238E27FC236}">
                <a16:creationId xmlns:a16="http://schemas.microsoft.com/office/drawing/2014/main" id="{72EF83DA-0907-A8B7-0562-8156BEFA5369}"/>
              </a:ext>
            </a:extLst>
          </p:cNvPr>
          <p:cNvSpPr/>
          <p:nvPr/>
        </p:nvSpPr>
        <p:spPr>
          <a:xfrm>
            <a:off x="402803" y="1916113"/>
            <a:ext cx="11453461" cy="446364"/>
          </a:xfrm>
          <a:prstGeom prst="rect">
            <a:avLst/>
          </a:prstGeom>
          <a:solidFill>
            <a:srgbClr val="003366"/>
          </a:solidFill>
          <a:ln w="9525" cap="sq" cmpd="sng" algn="ctr">
            <a:noFill/>
            <a:prstDash val="solid"/>
            <a:miter lim="800000"/>
          </a:ln>
          <a:effectLst/>
        </p:spPr>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ctr">
              <a:spcBef>
                <a:spcPts val="800"/>
              </a:spcBef>
              <a:spcAft>
                <a:spcPts val="600"/>
              </a:spcAft>
            </a:pPr>
            <a:r>
              <a:rPr lang="zh-CN" altLang="en-US" b="1" dirty="0">
                <a:solidFill>
                  <a:schemeClr val="bg1"/>
                </a:solidFill>
                <a:latin typeface="微软雅黑" panose="020B0503020204020204" pitchFamily="34" charset="-122"/>
                <a:ea typeface="微软雅黑" panose="020B0503020204020204" pitchFamily="34" charset="-122"/>
              </a:rPr>
              <a:t>车主转介绍率 </a:t>
            </a:r>
            <a:r>
              <a:rPr lang="en-US" altLang="zh-CN" b="1" dirty="0">
                <a:solidFill>
                  <a:schemeClr val="bg1"/>
                </a:solidFill>
                <a:latin typeface="微软雅黑" panose="020B0503020204020204" pitchFamily="34" charset="-122"/>
                <a:ea typeface="微软雅黑" panose="020B0503020204020204" pitchFamily="34" charset="-122"/>
              </a:rPr>
              <a:t>&gt; 50%</a:t>
            </a:r>
          </a:p>
          <a:p>
            <a:pPr algn="ctr">
              <a:spcBef>
                <a:spcPts val="800"/>
              </a:spcBef>
              <a:spcAft>
                <a:spcPts val="600"/>
              </a:spcAft>
            </a:pPr>
            <a:r>
              <a:rPr lang="zh-CN" altLang="en-US" b="1" dirty="0">
                <a:solidFill>
                  <a:schemeClr val="bg1"/>
                </a:solidFill>
                <a:latin typeface="微软雅黑" panose="020B0503020204020204" pitchFamily="34" charset="-122"/>
                <a:ea typeface="微软雅黑" panose="020B0503020204020204" pitchFamily="34" charset="-122"/>
              </a:rPr>
              <a:t> </a:t>
            </a:r>
          </a:p>
        </p:txBody>
      </p:sp>
      <p:sp>
        <p:nvSpPr>
          <p:cNvPr id="20" name="文本占位符 2">
            <a:extLst>
              <a:ext uri="{FF2B5EF4-FFF2-40B4-BE49-F238E27FC236}">
                <a16:creationId xmlns:a16="http://schemas.microsoft.com/office/drawing/2014/main" id="{9B416E8B-504A-91CE-4731-90B6A75D636A}"/>
              </a:ext>
            </a:extLst>
          </p:cNvPr>
          <p:cNvSpPr txBox="1">
            <a:spLocks/>
          </p:cNvSpPr>
          <p:nvPr/>
        </p:nvSpPr>
        <p:spPr>
          <a:xfrm>
            <a:off x="302944" y="339516"/>
            <a:ext cx="11547559" cy="499789"/>
          </a:xfrm>
          <a:prstGeom prst="rect">
            <a:avLst/>
          </a:prstGeom>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2400" b="0" i="0" kern="1200" baseline="0">
                <a:solidFill>
                  <a:schemeClr val="tx1"/>
                </a:solidFill>
                <a:latin typeface="DIN Pro Regular" panose="02000503040000020003" pitchFamily="50" charset="0"/>
                <a:ea typeface="Alibaba PuHuiTi 2.0 55 Regular" pitchFamily="18" charset="-122"/>
                <a:cs typeface="Alibaba PuHuiTi 2.0 55 Regular" pitchFamily="18" charset="-122"/>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dirty="0">
                <a:latin typeface="微软雅黑" panose="020B0503020204020204" pitchFamily="34" charset="-122"/>
                <a:ea typeface="微软雅黑" panose="020B0503020204020204" pitchFamily="34" charset="-122"/>
              </a:rPr>
              <a:t>客户全生命周期运营</a:t>
            </a:r>
            <a:r>
              <a:rPr kumimoji="1" lang="en-US" altLang="zh-CN" sz="2400" dirty="0">
                <a:latin typeface="微软雅黑" panose="020B0503020204020204" pitchFamily="34" charset="-122"/>
                <a:ea typeface="微软雅黑" panose="020B0503020204020204" pitchFamily="34" charset="-122"/>
              </a:rPr>
              <a:t>-</a:t>
            </a:r>
            <a:r>
              <a:rPr kumimoji="1" lang="zh-CN" altLang="en-US" sz="2400" dirty="0">
                <a:latin typeface="微软雅黑" panose="020B0503020204020204" pitchFamily="34" charset="-122"/>
                <a:ea typeface="微软雅黑" panose="020B0503020204020204" pitchFamily="34" charset="-122"/>
              </a:rPr>
              <a:t>用户共创（</a:t>
            </a:r>
            <a:r>
              <a:rPr kumimoji="1" lang="en-US" altLang="zh-CN" sz="2400" dirty="0">
                <a:latin typeface="微软雅黑" panose="020B0503020204020204" pitchFamily="34" charset="-122"/>
                <a:ea typeface="微软雅黑" panose="020B0503020204020204" pitchFamily="34" charset="-122"/>
              </a:rPr>
              <a:t>2/2</a:t>
            </a:r>
            <a:r>
              <a:rPr kumimoji="1" lang="zh-CN" altLang="en-US" sz="2400" dirty="0">
                <a:latin typeface="微软雅黑" panose="020B0503020204020204" pitchFamily="34" charset="-122"/>
                <a:ea typeface="微软雅黑" panose="020B0503020204020204" pitchFamily="34" charset="-122"/>
              </a:rPr>
              <a:t>）</a:t>
            </a:r>
          </a:p>
        </p:txBody>
      </p:sp>
      <p:sp>
        <p:nvSpPr>
          <p:cNvPr id="2" name="灯片编号占位符 4">
            <a:extLst>
              <a:ext uri="{FF2B5EF4-FFF2-40B4-BE49-F238E27FC236}">
                <a16:creationId xmlns:a16="http://schemas.microsoft.com/office/drawing/2014/main" id="{01440A34-5A4B-6798-E23F-08A547FB2D1F}"/>
              </a:ext>
            </a:extLst>
          </p:cNvPr>
          <p:cNvSpPr>
            <a:spLocks noGrp="1"/>
          </p:cNvSpPr>
          <p:nvPr>
            <p:ph type="sldNum" sz="quarter" idx="4"/>
          </p:nvPr>
        </p:nvSpPr>
        <p:spPr>
          <a:xfrm>
            <a:off x="11523095" y="6472443"/>
            <a:ext cx="368141" cy="240700"/>
          </a:xfrm>
        </p:spPr>
        <p:txBody>
          <a:bodyPr/>
          <a:lstStyle/>
          <a:p>
            <a:fld id="{04824671-56D2-5D44-834F-250C3DA554E9}" type="slidenum">
              <a:rPr lang="zh-CN" altLang="en-US" smtClean="0">
                <a:latin typeface="微软雅黑" panose="020B0503020204020204" pitchFamily="34" charset="-122"/>
                <a:ea typeface="微软雅黑" panose="020B0503020204020204" pitchFamily="34" charset="-122"/>
              </a:rPr>
              <a:t>60</a:t>
            </a:fld>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293637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WE2NDI5YzExMzViMDQyZmY4ZGYzZmQ4ZWExYzU1MWQifQ=="/>
  <p:tag name="KSO_WPP_MARK_KEY" val="2d5565ac-3cc4-4716-8db5-8fb6ad269f8f"/>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2e693a1f-6fe5-4d61-abef-996912b54c32}"/>
  <p:tag name="TABLE_ENDDRAG_ORIGIN_RECT" val="885*165"/>
  <p:tag name="TABLE_ENDDRAG_RECT" val="32*144*885*165"/>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UNIT_TABLE_BEAUTIFY" val="smartTable{5143ab5f-86e1-4f4d-8738-7bc64a386724}"/>
  <p:tag name="TABLE_ENDDRAG_ORIGIN_RECT" val="831*52"/>
  <p:tag name="TABLE_ENDDRAG_RECT" val="62*258*831*52"/>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UNIT_TABLE_BEAUTIFY" val="smartTable{369bc559-7e40-4926-af69-e65e398a162d}"/>
  <p:tag name="TABLE_ENDDRAG_ORIGIN_RECT" val="831*52"/>
  <p:tag name="TABLE_ENDDRAG_RECT" val="62*258*831*52"/>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UNIT_TABLE_BEAUTIFY" val="smartTable{b0c9e03c-dabd-4053-85c2-a8a8022d92ca}"/>
  <p:tag name="TABLE_ENDDRAG_ORIGIN_RECT" val="831*52"/>
  <p:tag name="TABLE_ENDDRAG_RECT" val="62*258*831*52"/>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UNIT_TABLE_BEAUTIFY" val="smartTable{c2908da1-c3d2-4cf3-8b01-203f5b3b2288}"/>
  <p:tag name="TABLE_ENDDRAG_ORIGIN_RECT" val="839*51"/>
  <p:tag name="TABLE_ENDDRAG_RECT" val="53*231*839*51"/>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封面">
  <a:themeElements>
    <a:clrScheme name="AVATR">
      <a:dk1>
        <a:srgbClr val="181818"/>
      </a:dk1>
      <a:lt1>
        <a:srgbClr val="FBFBFB"/>
      </a:lt1>
      <a:dk2>
        <a:srgbClr val="181818"/>
      </a:dk2>
      <a:lt2>
        <a:srgbClr val="FBFBFB"/>
      </a:lt2>
      <a:accent1>
        <a:srgbClr val="3E3E38"/>
      </a:accent1>
      <a:accent2>
        <a:srgbClr val="595757"/>
      </a:accent2>
      <a:accent3>
        <a:srgbClr val="717171"/>
      </a:accent3>
      <a:accent4>
        <a:srgbClr val="898989"/>
      </a:accent4>
      <a:accent5>
        <a:srgbClr val="9FA0A0"/>
      </a:accent5>
      <a:accent6>
        <a:srgbClr val="B5B5B6"/>
      </a:accent6>
      <a:hlink>
        <a:srgbClr val="C9CACA"/>
      </a:hlink>
      <a:folHlink>
        <a:srgbClr val="DCDDDD"/>
      </a:folHlink>
    </a:clrScheme>
    <a:fontScheme name="阿维塔字体规范模板">
      <a:majorFont>
        <a:latin typeface="DIN Pro"/>
        <a:ea typeface="Alibaba PuHuiTi 2.0 55 Regular"/>
        <a:cs typeface=""/>
      </a:majorFont>
      <a:minorFont>
        <a:latin typeface="DIN Pro"/>
        <a:ea typeface="Alibaba PuHuiTi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页">
  <a:themeElements>
    <a:clrScheme name="Custom 1">
      <a:dk1>
        <a:srgbClr val="181818"/>
      </a:dk1>
      <a:lt1>
        <a:srgbClr val="FBFBFB"/>
      </a:lt1>
      <a:dk2>
        <a:srgbClr val="181818"/>
      </a:dk2>
      <a:lt2>
        <a:srgbClr val="FBFBFB"/>
      </a:lt2>
      <a:accent1>
        <a:srgbClr val="3E3E38"/>
      </a:accent1>
      <a:accent2>
        <a:srgbClr val="595757"/>
      </a:accent2>
      <a:accent3>
        <a:srgbClr val="717171"/>
      </a:accent3>
      <a:accent4>
        <a:srgbClr val="898989"/>
      </a:accent4>
      <a:accent5>
        <a:srgbClr val="9FA0A0"/>
      </a:accent5>
      <a:accent6>
        <a:srgbClr val="B5B5B6"/>
      </a:accent6>
      <a:hlink>
        <a:srgbClr val="C9CACA"/>
      </a:hlink>
      <a:folHlink>
        <a:srgbClr val="DCDDDD"/>
      </a:folHlink>
    </a:clrScheme>
    <a:fontScheme name="阿维塔字体规范模板">
      <a:majorFont>
        <a:latin typeface="DIN Pro"/>
        <a:ea typeface="Alibaba PuHuiTi 2.0 55 Regular"/>
        <a:cs typeface=""/>
      </a:majorFont>
      <a:minorFont>
        <a:latin typeface="DIN Pro"/>
        <a:ea typeface="Alibaba PuHuiTi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文字内容页">
  <a:themeElements>
    <a:clrScheme name="Custom 1">
      <a:dk1>
        <a:srgbClr val="181818"/>
      </a:dk1>
      <a:lt1>
        <a:srgbClr val="FBFBFB"/>
      </a:lt1>
      <a:dk2>
        <a:srgbClr val="181818"/>
      </a:dk2>
      <a:lt2>
        <a:srgbClr val="FBFBFB"/>
      </a:lt2>
      <a:accent1>
        <a:srgbClr val="3E3E38"/>
      </a:accent1>
      <a:accent2>
        <a:srgbClr val="595757"/>
      </a:accent2>
      <a:accent3>
        <a:srgbClr val="717171"/>
      </a:accent3>
      <a:accent4>
        <a:srgbClr val="898989"/>
      </a:accent4>
      <a:accent5>
        <a:srgbClr val="9FA0A0"/>
      </a:accent5>
      <a:accent6>
        <a:srgbClr val="B5B5B6"/>
      </a:accent6>
      <a:hlink>
        <a:srgbClr val="C9CACA"/>
      </a:hlink>
      <a:folHlink>
        <a:srgbClr val="DCDDDD"/>
      </a:folHlink>
    </a:clrScheme>
    <a:fontScheme name="阿维塔字体规范模板">
      <a:majorFont>
        <a:latin typeface="DIN Pro"/>
        <a:ea typeface="Alibaba PuHuiTi 2.0 55 Regular"/>
        <a:cs typeface=""/>
      </a:majorFont>
      <a:minorFont>
        <a:latin typeface="DIN Pro"/>
        <a:ea typeface="Alibaba PuHuiTi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结束页">
  <a:themeElements>
    <a:clrScheme name="Custom 1">
      <a:dk1>
        <a:srgbClr val="181818"/>
      </a:dk1>
      <a:lt1>
        <a:srgbClr val="FBFBFB"/>
      </a:lt1>
      <a:dk2>
        <a:srgbClr val="181818"/>
      </a:dk2>
      <a:lt2>
        <a:srgbClr val="FBFBFB"/>
      </a:lt2>
      <a:accent1>
        <a:srgbClr val="3E3E38"/>
      </a:accent1>
      <a:accent2>
        <a:srgbClr val="595757"/>
      </a:accent2>
      <a:accent3>
        <a:srgbClr val="717171"/>
      </a:accent3>
      <a:accent4>
        <a:srgbClr val="898989"/>
      </a:accent4>
      <a:accent5>
        <a:srgbClr val="9FA0A0"/>
      </a:accent5>
      <a:accent6>
        <a:srgbClr val="B5B5B6"/>
      </a:accent6>
      <a:hlink>
        <a:srgbClr val="C9CACA"/>
      </a:hlink>
      <a:folHlink>
        <a:srgbClr val="DCDDDD"/>
      </a:folHlink>
    </a:clrScheme>
    <a:fontScheme name="阿维塔字体规范模板">
      <a:majorFont>
        <a:latin typeface="DIN Pro"/>
        <a:ea typeface="Alibaba PuHuiTi 2.0 55 Regular"/>
        <a:cs typeface=""/>
      </a:majorFont>
      <a:minorFont>
        <a:latin typeface="DIN Pro"/>
        <a:ea typeface="Alibaba PuHuiTi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分隔页">
  <a:themeElements>
    <a:clrScheme name="Custom 1">
      <a:dk1>
        <a:srgbClr val="181818"/>
      </a:dk1>
      <a:lt1>
        <a:srgbClr val="FBFBFB"/>
      </a:lt1>
      <a:dk2>
        <a:srgbClr val="181818"/>
      </a:dk2>
      <a:lt2>
        <a:srgbClr val="FBFBFB"/>
      </a:lt2>
      <a:accent1>
        <a:srgbClr val="3E3E38"/>
      </a:accent1>
      <a:accent2>
        <a:srgbClr val="595757"/>
      </a:accent2>
      <a:accent3>
        <a:srgbClr val="717171"/>
      </a:accent3>
      <a:accent4>
        <a:srgbClr val="898989"/>
      </a:accent4>
      <a:accent5>
        <a:srgbClr val="9FA0A0"/>
      </a:accent5>
      <a:accent6>
        <a:srgbClr val="B5B5B6"/>
      </a:accent6>
      <a:hlink>
        <a:srgbClr val="C9CACA"/>
      </a:hlink>
      <a:folHlink>
        <a:srgbClr val="DCDDDD"/>
      </a:folHlink>
    </a:clrScheme>
    <a:fontScheme name="阿维塔字体规范模板">
      <a:majorFont>
        <a:latin typeface="DIN Pro"/>
        <a:ea typeface="Alibaba PuHuiTi 2.0 55 Regular"/>
        <a:cs typeface=""/>
      </a:majorFont>
      <a:minorFont>
        <a:latin typeface="DIN Pro"/>
        <a:ea typeface="Alibaba PuHuiTi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目录页">
  <a:themeElements>
    <a:clrScheme name="Custom 1">
      <a:dk1>
        <a:srgbClr val="181818"/>
      </a:dk1>
      <a:lt1>
        <a:srgbClr val="FBFBFB"/>
      </a:lt1>
      <a:dk2>
        <a:srgbClr val="181818"/>
      </a:dk2>
      <a:lt2>
        <a:srgbClr val="FBFBFB"/>
      </a:lt2>
      <a:accent1>
        <a:srgbClr val="3E3E38"/>
      </a:accent1>
      <a:accent2>
        <a:srgbClr val="595757"/>
      </a:accent2>
      <a:accent3>
        <a:srgbClr val="717171"/>
      </a:accent3>
      <a:accent4>
        <a:srgbClr val="898989"/>
      </a:accent4>
      <a:accent5>
        <a:srgbClr val="9FA0A0"/>
      </a:accent5>
      <a:accent6>
        <a:srgbClr val="B5B5B6"/>
      </a:accent6>
      <a:hlink>
        <a:srgbClr val="C9CACA"/>
      </a:hlink>
      <a:folHlink>
        <a:srgbClr val="DCDDDD"/>
      </a:folHlink>
    </a:clrScheme>
    <a:fontScheme name="阿维塔字体规范模板">
      <a:majorFont>
        <a:latin typeface="DIN Pro"/>
        <a:ea typeface="Alibaba PuHuiTi 2.0 55 Regular"/>
        <a:cs typeface=""/>
      </a:majorFont>
      <a:minorFont>
        <a:latin typeface="DIN Pro"/>
        <a:ea typeface="Alibaba PuHuiTi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文字内容页">
  <a:themeElements>
    <a:clrScheme name="Custom 1">
      <a:dk1>
        <a:srgbClr val="181818"/>
      </a:dk1>
      <a:lt1>
        <a:srgbClr val="FBFBFB"/>
      </a:lt1>
      <a:dk2>
        <a:srgbClr val="181818"/>
      </a:dk2>
      <a:lt2>
        <a:srgbClr val="FBFBFB"/>
      </a:lt2>
      <a:accent1>
        <a:srgbClr val="3E3E38"/>
      </a:accent1>
      <a:accent2>
        <a:srgbClr val="595757"/>
      </a:accent2>
      <a:accent3>
        <a:srgbClr val="717171"/>
      </a:accent3>
      <a:accent4>
        <a:srgbClr val="898989"/>
      </a:accent4>
      <a:accent5>
        <a:srgbClr val="9FA0A0"/>
      </a:accent5>
      <a:accent6>
        <a:srgbClr val="B5B5B6"/>
      </a:accent6>
      <a:hlink>
        <a:srgbClr val="C9CACA"/>
      </a:hlink>
      <a:folHlink>
        <a:srgbClr val="DCDDDD"/>
      </a:folHlink>
    </a:clrScheme>
    <a:fontScheme name="阿维塔字体规范模板">
      <a:majorFont>
        <a:latin typeface="DIN Pro"/>
        <a:ea typeface="Alibaba PuHuiTi 2.0 55 Regular"/>
        <a:cs typeface=""/>
      </a:majorFont>
      <a:minorFont>
        <a:latin typeface="DIN Pro"/>
        <a:ea typeface="Alibaba PuHuiTi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2_目录页">
  <a:themeElements>
    <a:clrScheme name="Custom 1">
      <a:dk1>
        <a:srgbClr val="181818"/>
      </a:dk1>
      <a:lt1>
        <a:srgbClr val="FBFBFB"/>
      </a:lt1>
      <a:dk2>
        <a:srgbClr val="181818"/>
      </a:dk2>
      <a:lt2>
        <a:srgbClr val="FBFBFB"/>
      </a:lt2>
      <a:accent1>
        <a:srgbClr val="3E3E38"/>
      </a:accent1>
      <a:accent2>
        <a:srgbClr val="595757"/>
      </a:accent2>
      <a:accent3>
        <a:srgbClr val="717171"/>
      </a:accent3>
      <a:accent4>
        <a:srgbClr val="898989"/>
      </a:accent4>
      <a:accent5>
        <a:srgbClr val="9FA0A0"/>
      </a:accent5>
      <a:accent6>
        <a:srgbClr val="B5B5B6"/>
      </a:accent6>
      <a:hlink>
        <a:srgbClr val="C9CACA"/>
      </a:hlink>
      <a:folHlink>
        <a:srgbClr val="DCDDDD"/>
      </a:folHlink>
    </a:clrScheme>
    <a:fontScheme name="阿维塔字体规范模板">
      <a:majorFont>
        <a:latin typeface="DIN Pro"/>
        <a:ea typeface="Alibaba PuHuiTi 2.0 55 Regular"/>
        <a:cs typeface=""/>
      </a:majorFont>
      <a:minorFont>
        <a:latin typeface="DIN Pro"/>
        <a:ea typeface="Alibaba PuHuiTi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2_文字内容页">
  <a:themeElements>
    <a:clrScheme name="Custom 1">
      <a:dk1>
        <a:srgbClr val="181818"/>
      </a:dk1>
      <a:lt1>
        <a:srgbClr val="FBFBFB"/>
      </a:lt1>
      <a:dk2>
        <a:srgbClr val="181818"/>
      </a:dk2>
      <a:lt2>
        <a:srgbClr val="FBFBFB"/>
      </a:lt2>
      <a:accent1>
        <a:srgbClr val="3E3E38"/>
      </a:accent1>
      <a:accent2>
        <a:srgbClr val="595757"/>
      </a:accent2>
      <a:accent3>
        <a:srgbClr val="717171"/>
      </a:accent3>
      <a:accent4>
        <a:srgbClr val="898989"/>
      </a:accent4>
      <a:accent5>
        <a:srgbClr val="9FA0A0"/>
      </a:accent5>
      <a:accent6>
        <a:srgbClr val="B5B5B6"/>
      </a:accent6>
      <a:hlink>
        <a:srgbClr val="C9CACA"/>
      </a:hlink>
      <a:folHlink>
        <a:srgbClr val="DCDDDD"/>
      </a:folHlink>
    </a:clrScheme>
    <a:fontScheme name="阿维塔字体规范模板">
      <a:majorFont>
        <a:latin typeface="DIN Pro"/>
        <a:ea typeface="Alibaba PuHuiTi 2.0 55 Regular"/>
        <a:cs typeface=""/>
      </a:majorFont>
      <a:minorFont>
        <a:latin typeface="DIN Pro"/>
        <a:ea typeface="Alibaba PuHuiTi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分隔页">
  <a:themeElements>
    <a:clrScheme name="Custom 1">
      <a:dk1>
        <a:srgbClr val="181818"/>
      </a:dk1>
      <a:lt1>
        <a:srgbClr val="FBFBFB"/>
      </a:lt1>
      <a:dk2>
        <a:srgbClr val="181818"/>
      </a:dk2>
      <a:lt2>
        <a:srgbClr val="FBFBFB"/>
      </a:lt2>
      <a:accent1>
        <a:srgbClr val="3E3E38"/>
      </a:accent1>
      <a:accent2>
        <a:srgbClr val="595757"/>
      </a:accent2>
      <a:accent3>
        <a:srgbClr val="717171"/>
      </a:accent3>
      <a:accent4>
        <a:srgbClr val="898989"/>
      </a:accent4>
      <a:accent5>
        <a:srgbClr val="9FA0A0"/>
      </a:accent5>
      <a:accent6>
        <a:srgbClr val="B5B5B6"/>
      </a:accent6>
      <a:hlink>
        <a:srgbClr val="C9CACA"/>
      </a:hlink>
      <a:folHlink>
        <a:srgbClr val="DCDDDD"/>
      </a:folHlink>
    </a:clrScheme>
    <a:fontScheme name="阿维塔字体规范模板">
      <a:majorFont>
        <a:latin typeface="DIN Pro"/>
        <a:ea typeface="Alibaba PuHuiTi 2.0 55 Regular"/>
        <a:cs typeface=""/>
      </a:majorFont>
      <a:minorFont>
        <a:latin typeface="DIN Pro"/>
        <a:ea typeface="Alibaba PuHuiTi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3_Office 主题">
  <a:themeElements>
    <a:clrScheme name="Ⅴ深蓝灰Ⅲ">
      <a:dk1>
        <a:srgbClr val="000000"/>
      </a:dk1>
      <a:lt1>
        <a:srgbClr val="FFFFFF"/>
      </a:lt1>
      <a:dk2>
        <a:srgbClr val="F06124"/>
      </a:dk2>
      <a:lt2>
        <a:srgbClr val="FF0000"/>
      </a:lt2>
      <a:accent1>
        <a:srgbClr val="003366"/>
      </a:accent1>
      <a:accent2>
        <a:srgbClr val="8994A0"/>
      </a:accent2>
      <a:accent3>
        <a:srgbClr val="235888"/>
      </a:accent3>
      <a:accent4>
        <a:srgbClr val="ADB9CA"/>
      </a:accent4>
      <a:accent5>
        <a:srgbClr val="00B0F0"/>
      </a:accent5>
      <a:accent6>
        <a:srgbClr val="7A8C8E"/>
      </a:accent6>
      <a:hlink>
        <a:srgbClr val="00B050"/>
      </a:hlink>
      <a:folHlink>
        <a:srgbClr val="7F7F7F"/>
      </a:folHlink>
    </a:clrScheme>
    <a:fontScheme name="安点公司字体">
      <a:majorFont>
        <a:latin typeface="Arial"/>
        <a:ea typeface="微软雅黑"/>
        <a:cs typeface=""/>
      </a:majorFont>
      <a:minorFont>
        <a:latin typeface="Arial"/>
        <a:ea typeface="微软雅黑"/>
        <a:cs typeface=""/>
      </a:minorFont>
    </a:fontScheme>
    <a:fmtScheme name="凤舞九天">
      <a:fillStyleLst>
        <a:solidFill>
          <a:schemeClr val="phClr">
            <a:tint val="100000"/>
            <a:shade val="100000"/>
            <a:hueMod val="100000"/>
            <a:satMod val="100000"/>
          </a:schemeClr>
        </a:solidFill>
        <a:gradFill rotWithShape="1">
          <a:gsLst>
            <a:gs pos="0">
              <a:schemeClr val="phClr">
                <a:tint val="65000"/>
                <a:satMod val="180000"/>
              </a:schemeClr>
            </a:gs>
            <a:gs pos="50000">
              <a:schemeClr val="phClr">
                <a:tint val="40000"/>
                <a:satMod val="175000"/>
              </a:schemeClr>
            </a:gs>
            <a:gs pos="100000">
              <a:schemeClr val="phClr">
                <a:tint val="65000"/>
                <a:satMod val="180000"/>
              </a:schemeClr>
            </a:gs>
          </a:gsLst>
          <a:lin ang="0" scaled="1"/>
        </a:gradFill>
        <a:gradFill rotWithShape="1">
          <a:gsLst>
            <a:gs pos="0">
              <a:schemeClr val="phClr">
                <a:shade val="38000"/>
                <a:satMod val="150000"/>
              </a:schemeClr>
            </a:gs>
            <a:gs pos="50000">
              <a:schemeClr val="phClr">
                <a:shade val="100000"/>
                <a:satMod val="100000"/>
              </a:schemeClr>
            </a:gs>
            <a:gs pos="100000">
              <a:schemeClr val="phClr">
                <a:shade val="38000"/>
                <a:satMod val="150000"/>
              </a:schemeClr>
            </a:gs>
          </a:gsLst>
          <a:lin ang="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outerShdw blurRad="190500" dist="78600" dir="2700000" rotWithShape="0">
              <a:srgbClr val="000000">
                <a:alpha val="35500"/>
              </a:srgbClr>
            </a:outerShdw>
          </a:effectLst>
        </a:effectStyle>
        <a:effectStyle>
          <a:effectLst>
            <a:outerShdw blurRad="190500" dist="78600" dir="2700000" rotWithShape="0">
              <a:srgbClr val="000000">
                <a:alpha val="35500"/>
              </a:srgbClr>
            </a:outerShdw>
          </a:effectLst>
        </a:effectStyle>
        <a:effectStyle>
          <a:effectLst>
            <a:outerShdw blurRad="190500" dist="78600" dir="2700000" rotWithShape="0">
              <a:srgbClr val="000000">
                <a:alpha val="3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noFill/>
        </a:ln>
      </a:spPr>
      <a:bodyPr rtlCol="0" anchor="ctr"/>
      <a:lstStyle>
        <a:defPPr algn="ctr">
          <a:defRPr sz="1400" b="0" dirty="0" smtClean="0">
            <a:solidFill>
              <a:schemeClr val="bg1"/>
            </a:solidFill>
            <a:latin typeface="+mn-ea"/>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marL="182880" indent="-182880">
          <a:spcBef>
            <a:spcPts val="600"/>
          </a:spcBef>
          <a:spcAft>
            <a:spcPts val="600"/>
          </a:spcAft>
          <a:buFont typeface="Arial" panose="020B0604020202020204" pitchFamily="34" charset="0"/>
          <a:buChar char="•"/>
          <a:defRPr sz="1400"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raClrScheme>
      <a:clrScheme name="Office 主题 1">
        <a:dk1>
          <a:srgbClr val="000000"/>
        </a:dk1>
        <a:lt1>
          <a:srgbClr val="FFFFFF"/>
        </a:lt1>
        <a:dk2>
          <a:srgbClr val="04617B"/>
        </a:dk2>
        <a:lt2>
          <a:srgbClr val="DBF5F9"/>
        </a:lt2>
        <a:accent1>
          <a:srgbClr val="0F6FC6"/>
        </a:accent1>
        <a:accent2>
          <a:srgbClr val="009DD9"/>
        </a:accent2>
        <a:accent3>
          <a:srgbClr val="FFFFFF"/>
        </a:accent3>
        <a:accent4>
          <a:srgbClr val="000000"/>
        </a:accent4>
        <a:accent5>
          <a:srgbClr val="AABBDF"/>
        </a:accent5>
        <a:accent6>
          <a:srgbClr val="008EC4"/>
        </a:accent6>
        <a:hlink>
          <a:srgbClr val="000066"/>
        </a:hlink>
        <a:folHlink>
          <a:srgbClr val="85DFD0"/>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00"/>
        </a:dk2>
        <a:lt2>
          <a:srgbClr val="F8F8F8"/>
        </a:lt2>
        <a:accent1>
          <a:srgbClr val="DDDDDD"/>
        </a:accent1>
        <a:accent2>
          <a:srgbClr val="B2B2B2"/>
        </a:accent2>
        <a:accent3>
          <a:srgbClr val="FFFFFF"/>
        </a:accent3>
        <a:accent4>
          <a:srgbClr val="000000"/>
        </a:accent4>
        <a:accent5>
          <a:srgbClr val="EBEBEB"/>
        </a:accent5>
        <a:accent6>
          <a:srgbClr val="A1A1A1"/>
        </a:accent6>
        <a:hlink>
          <a:srgbClr val="5F5F5F"/>
        </a:hlink>
        <a:folHlink>
          <a:srgbClr val="919191"/>
        </a:folHlink>
      </a:clrScheme>
      <a:clrMap bg1="lt1" tx1="dk1" bg2="lt2" tx2="dk2" accent1="accent1" accent2="accent2" accent3="accent3" accent4="accent4" accent5="accent5" accent6="accent6" hlink="hlink" folHlink="folHlink"/>
    </a:extraClrScheme>
    <a:extraClrScheme>
      <a:clrScheme name="Office 主题 3">
        <a:dk1>
          <a:srgbClr val="000000"/>
        </a:dk1>
        <a:lt1>
          <a:srgbClr val="FFFFFF"/>
        </a:lt1>
        <a:dk2>
          <a:srgbClr val="04617B"/>
        </a:dk2>
        <a:lt2>
          <a:srgbClr val="DBF5F9"/>
        </a:lt2>
        <a:accent1>
          <a:srgbClr val="E5F492"/>
        </a:accent1>
        <a:accent2>
          <a:srgbClr val="00843C"/>
        </a:accent2>
        <a:accent3>
          <a:srgbClr val="FFFFFF"/>
        </a:accent3>
        <a:accent4>
          <a:srgbClr val="000000"/>
        </a:accent4>
        <a:accent5>
          <a:srgbClr val="F0F8C7"/>
        </a:accent5>
        <a:accent6>
          <a:srgbClr val="007735"/>
        </a:accent6>
        <a:hlink>
          <a:srgbClr val="E2D700"/>
        </a:hlink>
        <a:folHlink>
          <a:srgbClr val="85DFD0"/>
        </a:folHlink>
      </a:clrScheme>
      <a:clrMap bg1="lt1" tx1="dk1" bg2="lt2" tx2="dk2" accent1="accent1" accent2="accent2" accent3="accent3" accent4="accent4" accent5="accent5" accent6="accent6" hlink="hlink" folHlink="folHlink"/>
    </a:extraClrScheme>
    <a:extraClrScheme>
      <a:clrScheme name="1_Office 主题 1">
        <a:dk1>
          <a:srgbClr val="000000"/>
        </a:dk1>
        <a:lt1>
          <a:srgbClr val="FFFFFF"/>
        </a:lt1>
        <a:dk2>
          <a:srgbClr val="000000"/>
        </a:dk2>
        <a:lt2>
          <a:srgbClr val="F8F8F8"/>
        </a:lt2>
        <a:accent1>
          <a:srgbClr val="DDDDDD"/>
        </a:accent1>
        <a:accent2>
          <a:srgbClr val="B2B2B2"/>
        </a:accent2>
        <a:accent3>
          <a:srgbClr val="FFFFFF"/>
        </a:accent3>
        <a:accent4>
          <a:srgbClr val="000000"/>
        </a:accent4>
        <a:accent5>
          <a:srgbClr val="EBEBEB"/>
        </a:accent5>
        <a:accent6>
          <a:srgbClr val="A1A1A1"/>
        </a:accent6>
        <a:hlink>
          <a:srgbClr val="5F5F5F"/>
        </a:hlink>
        <a:folHlink>
          <a:srgbClr val="919191"/>
        </a:folHlink>
      </a:clrScheme>
      <a:clrMap bg1="lt1" tx1="dk1" bg2="lt2" tx2="dk2" accent1="accent1" accent2="accent2" accent3="accent3" accent4="accent4" accent5="accent5" accent6="accent6" hlink="hlink" folHlink="folHlink"/>
    </a:extraClrScheme>
    <a:extraClrScheme>
      <a:clrScheme name="1_Office 主题 2">
        <a:dk1>
          <a:srgbClr val="000000"/>
        </a:dk1>
        <a:lt1>
          <a:srgbClr val="FFFFFF"/>
        </a:lt1>
        <a:dk2>
          <a:srgbClr val="04617B"/>
        </a:dk2>
        <a:lt2>
          <a:srgbClr val="DBF5F9"/>
        </a:lt2>
        <a:accent1>
          <a:srgbClr val="E5F492"/>
        </a:accent1>
        <a:accent2>
          <a:srgbClr val="00843C"/>
        </a:accent2>
        <a:accent3>
          <a:srgbClr val="FFFFFF"/>
        </a:accent3>
        <a:accent4>
          <a:srgbClr val="000000"/>
        </a:accent4>
        <a:accent5>
          <a:srgbClr val="F0F8C7"/>
        </a:accent5>
        <a:accent6>
          <a:srgbClr val="007735"/>
        </a:accent6>
        <a:hlink>
          <a:srgbClr val="E2D700"/>
        </a:hlink>
        <a:folHlink>
          <a:srgbClr val="85DFD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22761</TotalTime>
  <Words>13474</Words>
  <Application>Microsoft Office PowerPoint</Application>
  <PresentationFormat>宽屏</PresentationFormat>
  <Paragraphs>2487</Paragraphs>
  <Slides>60</Slides>
  <Notes>12</Notes>
  <HiddenSlides>1</HiddenSlides>
  <MMClips>0</MMClips>
  <ScaleCrop>false</ScaleCrop>
  <HeadingPairs>
    <vt:vector size="6" baseType="variant">
      <vt:variant>
        <vt:lpstr>已用的字体</vt:lpstr>
      </vt:variant>
      <vt:variant>
        <vt:i4>15</vt:i4>
      </vt:variant>
      <vt:variant>
        <vt:lpstr>主题</vt:lpstr>
      </vt:variant>
      <vt:variant>
        <vt:i4>11</vt:i4>
      </vt:variant>
      <vt:variant>
        <vt:lpstr>幻灯片标题</vt:lpstr>
      </vt:variant>
      <vt:variant>
        <vt:i4>60</vt:i4>
      </vt:variant>
    </vt:vector>
  </HeadingPairs>
  <TitlesOfParts>
    <vt:vector size="86" baseType="lpstr">
      <vt:lpstr>Alibaba PuHuiTi 2.0 55 Regular</vt:lpstr>
      <vt:lpstr>Audi Type</vt:lpstr>
      <vt:lpstr>Audi Type Extended</vt:lpstr>
      <vt:lpstr>DIN Pro</vt:lpstr>
      <vt:lpstr>DIN Pro Regular</vt:lpstr>
      <vt:lpstr>MicrosoftYaHei-Bold</vt:lpstr>
      <vt:lpstr>等线</vt:lpstr>
      <vt:lpstr>微软雅黑</vt:lpstr>
      <vt:lpstr>长安引力体</vt:lpstr>
      <vt:lpstr>Abadi</vt:lpstr>
      <vt:lpstr>Arial</vt:lpstr>
      <vt:lpstr>Calibri</vt:lpstr>
      <vt:lpstr>Cambria Math</vt:lpstr>
      <vt:lpstr>Courier New</vt:lpstr>
      <vt:lpstr>Wingdings</vt:lpstr>
      <vt:lpstr>封面</vt:lpstr>
      <vt:lpstr>目录页</vt:lpstr>
      <vt:lpstr>文字内容页</vt:lpstr>
      <vt:lpstr>结束页</vt:lpstr>
      <vt:lpstr>分隔页</vt:lpstr>
      <vt:lpstr>1_目录页</vt:lpstr>
      <vt:lpstr>1_文字内容页</vt:lpstr>
      <vt:lpstr>2_目录页</vt:lpstr>
      <vt:lpstr>2_文字内容页</vt:lpstr>
      <vt:lpstr>1_分隔页</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EDY</dc:creator>
  <cp:lastModifiedBy>tao</cp:lastModifiedBy>
  <cp:revision>1846</cp:revision>
  <dcterms:created xsi:type="dcterms:W3CDTF">2023-07-20T10:29:38Z</dcterms:created>
  <dcterms:modified xsi:type="dcterms:W3CDTF">2026-07-26T06:35:03Z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2052-5.5.1.7991</vt:lpwstr>
  </property>
  <property fmtid="{D5CDD505-2E9C-101B-9397-08002B2CF9AE}" pid="3" name="ICV">
    <vt:lpwstr>49D95F3B82C94C98BA172E664379DFF0_13</vt:lpwstr>
  </property>
</Properties>
</file>